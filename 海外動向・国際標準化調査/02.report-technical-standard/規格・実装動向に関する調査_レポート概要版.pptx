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emovePersonalInfoOnSave="1" saveSubsetFonts="1">
  <p:sldMasterIdLst>
    <p:sldMasterId id="2147483648" r:id="rId4"/>
  </p:sldMasterIdLst>
  <p:notesMasterIdLst>
    <p:notesMasterId r:id="rId63"/>
  </p:notesMasterIdLst>
  <p:handoutMasterIdLst>
    <p:handoutMasterId r:id="rId64"/>
  </p:handoutMasterIdLst>
  <p:sldIdLst>
    <p:sldId id="628" r:id="rId5"/>
    <p:sldId id="2147378776" r:id="rId6"/>
    <p:sldId id="2147379248" r:id="rId7"/>
    <p:sldId id="2147379247" r:id="rId8"/>
    <p:sldId id="2147379110" r:id="rId9"/>
    <p:sldId id="2147379250" r:id="rId10"/>
    <p:sldId id="2147472520" r:id="rId11"/>
    <p:sldId id="2147379252" r:id="rId12"/>
    <p:sldId id="2147379253" r:id="rId13"/>
    <p:sldId id="2147379259" r:id="rId14"/>
    <p:sldId id="2147379254" r:id="rId15"/>
    <p:sldId id="2147379255" r:id="rId16"/>
    <p:sldId id="2147379256" r:id="rId17"/>
    <p:sldId id="2147379257" r:id="rId18"/>
    <p:sldId id="2147379258" r:id="rId19"/>
    <p:sldId id="2147379260" r:id="rId20"/>
    <p:sldId id="2147379251" r:id="rId21"/>
    <p:sldId id="2147379261" r:id="rId22"/>
    <p:sldId id="2147472521" r:id="rId23"/>
    <p:sldId id="2147379264" r:id="rId24"/>
    <p:sldId id="2147379262" r:id="rId25"/>
    <p:sldId id="2147379263" r:id="rId26"/>
    <p:sldId id="2147472480" r:id="rId27"/>
    <p:sldId id="2147472481" r:id="rId28"/>
    <p:sldId id="2147472482" r:id="rId29"/>
    <p:sldId id="2147472483" r:id="rId30"/>
    <p:sldId id="2147472485" r:id="rId31"/>
    <p:sldId id="2147472484" r:id="rId32"/>
    <p:sldId id="2147472519" r:id="rId33"/>
    <p:sldId id="2147472486" r:id="rId34"/>
    <p:sldId id="2147472498" r:id="rId35"/>
    <p:sldId id="2147472487" r:id="rId36"/>
    <p:sldId id="2147472479" r:id="rId37"/>
    <p:sldId id="2147472492" r:id="rId38"/>
    <p:sldId id="2147472493" r:id="rId39"/>
    <p:sldId id="2147472494" r:id="rId40"/>
    <p:sldId id="2147472496" r:id="rId41"/>
    <p:sldId id="2147472507" r:id="rId42"/>
    <p:sldId id="2147472503" r:id="rId43"/>
    <p:sldId id="2147472500" r:id="rId44"/>
    <p:sldId id="2147472504" r:id="rId45"/>
    <p:sldId id="2147472506" r:id="rId46"/>
    <p:sldId id="2147472505" r:id="rId47"/>
    <p:sldId id="2147472495" r:id="rId48"/>
    <p:sldId id="2147472523" r:id="rId49"/>
    <p:sldId id="2147472509" r:id="rId50"/>
    <p:sldId id="2147472510" r:id="rId51"/>
    <p:sldId id="2147472511" r:id="rId52"/>
    <p:sldId id="2147472512" r:id="rId53"/>
    <p:sldId id="2147472499" r:id="rId54"/>
    <p:sldId id="2147472513" r:id="rId55"/>
    <p:sldId id="2147472524" r:id="rId56"/>
    <p:sldId id="2147472514" r:id="rId57"/>
    <p:sldId id="2147472515" r:id="rId58"/>
    <p:sldId id="2147472518" r:id="rId59"/>
    <p:sldId id="2147472516" r:id="rId60"/>
    <p:sldId id="2147472517" r:id="rId61"/>
    <p:sldId id="2147378641" r:id="rId62"/>
  </p:sldIdLst>
  <p:sldSz cx="9906000" cy="6858000" type="A4"/>
  <p:notesSz cx="6735763" cy="9866313"/>
  <p:custDataLst>
    <p:tags r:id="rId65"/>
  </p:custDataLst>
  <p:defaultTextStyle>
    <a:defPPr>
      <a:defRPr lang="ja-JP"/>
    </a:defPPr>
    <a:lvl1pPr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1pPr>
    <a:lvl2pPr marL="457200"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9pPr>
  </p:defaultTextStyle>
  <p:extLst>
    <p:ext uri="{521415D9-36F7-43E2-AB2F-B90AF26B5E84}">
      <p14:sectionLst xmlns:p14="http://schemas.microsoft.com/office/powerpoint/2010/main">
        <p14:section name="既定のセクション" id="{84697123-1A73-43D2-920B-9895EB8A1C52}">
          <p14:sldIdLst>
            <p14:sldId id="628"/>
            <p14:sldId id="2147378776"/>
            <p14:sldId id="2147379248"/>
            <p14:sldId id="2147379247"/>
            <p14:sldId id="2147379110"/>
            <p14:sldId id="2147379250"/>
            <p14:sldId id="2147472520"/>
            <p14:sldId id="2147379252"/>
            <p14:sldId id="2147379253"/>
            <p14:sldId id="2147379259"/>
            <p14:sldId id="2147379254"/>
            <p14:sldId id="2147379255"/>
            <p14:sldId id="2147379256"/>
            <p14:sldId id="2147379257"/>
            <p14:sldId id="2147379258"/>
            <p14:sldId id="2147379260"/>
            <p14:sldId id="2147379251"/>
            <p14:sldId id="2147379261"/>
            <p14:sldId id="2147472521"/>
            <p14:sldId id="2147379264"/>
            <p14:sldId id="2147379262"/>
            <p14:sldId id="2147379263"/>
            <p14:sldId id="2147472480"/>
            <p14:sldId id="2147472481"/>
            <p14:sldId id="2147472482"/>
            <p14:sldId id="2147472483"/>
            <p14:sldId id="2147472485"/>
            <p14:sldId id="2147472484"/>
            <p14:sldId id="2147472519"/>
            <p14:sldId id="2147472486"/>
            <p14:sldId id="2147472498"/>
            <p14:sldId id="2147472487"/>
            <p14:sldId id="2147472479"/>
            <p14:sldId id="2147472492"/>
            <p14:sldId id="2147472493"/>
            <p14:sldId id="2147472494"/>
            <p14:sldId id="2147472496"/>
            <p14:sldId id="2147472507"/>
            <p14:sldId id="2147472503"/>
            <p14:sldId id="2147472500"/>
            <p14:sldId id="2147472504"/>
            <p14:sldId id="2147472506"/>
            <p14:sldId id="2147472505"/>
            <p14:sldId id="2147472495"/>
            <p14:sldId id="2147472523"/>
            <p14:sldId id="2147472509"/>
            <p14:sldId id="2147472510"/>
            <p14:sldId id="2147472511"/>
            <p14:sldId id="2147472512"/>
            <p14:sldId id="2147472499"/>
            <p14:sldId id="2147472513"/>
            <p14:sldId id="2147472524"/>
            <p14:sldId id="2147472514"/>
            <p14:sldId id="2147472515"/>
            <p14:sldId id="2147472518"/>
            <p14:sldId id="2147472516"/>
            <p14:sldId id="2147472517"/>
            <p14:sldId id="2147378641"/>
          </p14:sldIdLst>
        </p14:section>
      </p14:sectionLst>
    </p:ext>
    <p:ext uri="{EFAFB233-063F-42B5-8137-9DF3F51BA10A}">
      <p15:sldGuideLst xmlns:p15="http://schemas.microsoft.com/office/powerpoint/2012/main">
        <p15:guide id="13" pos="3120" userDrawn="1">
          <p15:clr>
            <a:srgbClr val="A4A3A4"/>
          </p15:clr>
        </p15:guide>
        <p15:guide id="14" pos="1306" userDrawn="1">
          <p15:clr>
            <a:srgbClr val="A4A3A4"/>
          </p15:clr>
        </p15:guide>
        <p15:guide id="15" orient="horz" pos="2341" userDrawn="1">
          <p15:clr>
            <a:srgbClr val="A4A3A4"/>
          </p15:clr>
        </p15:guide>
        <p15:guide id="16" pos="314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7942"/>
    <a:srgbClr val="26890D"/>
    <a:srgbClr val="0267B7"/>
    <a:srgbClr val="007CB0"/>
    <a:srgbClr val="D9D9D9"/>
    <a:srgbClr val="61A344"/>
    <a:srgbClr val="A54C78"/>
    <a:srgbClr val="4780DA"/>
    <a:srgbClr val="C9F8BD"/>
    <a:srgbClr val="D6F3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淡色スタイル 3 - アクセント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18" autoAdjust="0"/>
    <p:restoredTop sz="96124"/>
  </p:normalViewPr>
  <p:slideViewPr>
    <p:cSldViewPr snapToGrid="0" showGuides="1">
      <p:cViewPr>
        <p:scale>
          <a:sx n="80" d="100"/>
          <a:sy n="80" d="100"/>
        </p:scale>
        <p:origin x="2538" y="942"/>
      </p:cViewPr>
      <p:guideLst>
        <p:guide pos="3120"/>
        <p:guide pos="1306"/>
        <p:guide orient="horz" pos="2341"/>
        <p:guide pos="3143"/>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eaLnBrk="1" hangingPunct="1">
              <a:defRPr sz="1200"/>
            </a:lvl1pPr>
          </a:lstStyle>
          <a:p>
            <a:pPr>
              <a:defRPr/>
            </a:pPr>
            <a:endParaRPr lang="en-US" altLang="ja-JP"/>
          </a:p>
        </p:txBody>
      </p:sp>
      <p:sp>
        <p:nvSpPr>
          <p:cNvPr id="6147" name="Rectangle 3"/>
          <p:cNvSpPr>
            <a:spLocks noGrp="1" noChangeArrowheads="1"/>
          </p:cNvSpPr>
          <p:nvPr>
            <p:ph type="dt" sz="quarter" idx="1"/>
          </p:nvPr>
        </p:nvSpPr>
        <p:spPr bwMode="auto">
          <a:xfrm>
            <a:off x="3816933"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algn="r" eaLnBrk="1" hangingPunct="1">
              <a:defRPr sz="1200"/>
            </a:lvl1pPr>
          </a:lstStyle>
          <a:p>
            <a:pPr>
              <a:defRPr/>
            </a:pPr>
            <a:endParaRPr lang="en-US" altLang="ja-JP"/>
          </a:p>
        </p:txBody>
      </p:sp>
      <p:sp>
        <p:nvSpPr>
          <p:cNvPr id="6148" name="Rectangle 4"/>
          <p:cNvSpPr>
            <a:spLocks noGrp="1" noChangeArrowheads="1"/>
          </p:cNvSpPr>
          <p:nvPr>
            <p:ph type="ftr" sz="quarter" idx="2"/>
          </p:nvPr>
        </p:nvSpPr>
        <p:spPr bwMode="auto">
          <a:xfrm>
            <a:off x="0"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eaLnBrk="1" hangingPunct="1">
              <a:defRPr sz="1200"/>
            </a:lvl1pPr>
          </a:lstStyle>
          <a:p>
            <a:pPr>
              <a:defRPr/>
            </a:pPr>
            <a:endParaRPr lang="en-US" altLang="ja-JP"/>
          </a:p>
        </p:txBody>
      </p:sp>
      <p:sp>
        <p:nvSpPr>
          <p:cNvPr id="6149" name="Rectangle 5"/>
          <p:cNvSpPr>
            <a:spLocks noGrp="1" noChangeArrowheads="1"/>
          </p:cNvSpPr>
          <p:nvPr>
            <p:ph type="sldNum" sz="quarter" idx="3"/>
          </p:nvPr>
        </p:nvSpPr>
        <p:spPr bwMode="auto">
          <a:xfrm>
            <a:off x="3816933"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algn="r" eaLnBrk="1" hangingPunct="1">
              <a:defRPr sz="1200"/>
            </a:lvl1pPr>
          </a:lstStyle>
          <a:p>
            <a:pPr>
              <a:defRPr/>
            </a:pPr>
            <a:fld id="{C879E05C-2A8C-4D6C-A6FB-EA7121ED9A88}" type="slidenum">
              <a:rPr lang="en-US" altLang="ja-JP"/>
              <a:pPr>
                <a:defRPr/>
              </a:pPr>
              <a:t>‹#›</a:t>
            </a:fld>
            <a:endParaRPr lang="en-US" altLang="ja-JP"/>
          </a:p>
        </p:txBody>
      </p:sp>
    </p:spTree>
    <p:extLst>
      <p:ext uri="{BB962C8B-B14F-4D97-AF65-F5344CB8AC3E}">
        <p14:creationId xmlns:p14="http://schemas.microsoft.com/office/powerpoint/2010/main" val="1394763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eaLnBrk="1" hangingPunct="1">
              <a:defRPr sz="1200"/>
            </a:lvl1pPr>
          </a:lstStyle>
          <a:p>
            <a:pPr>
              <a:defRPr/>
            </a:pPr>
            <a:endParaRPr lang="en-US" altLang="ja-JP"/>
          </a:p>
        </p:txBody>
      </p:sp>
      <p:sp>
        <p:nvSpPr>
          <p:cNvPr id="4099" name="Rectangle 3"/>
          <p:cNvSpPr>
            <a:spLocks noGrp="1" noChangeArrowheads="1"/>
          </p:cNvSpPr>
          <p:nvPr>
            <p:ph type="dt" idx="1"/>
          </p:nvPr>
        </p:nvSpPr>
        <p:spPr bwMode="auto">
          <a:xfrm>
            <a:off x="3816933"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algn="r" eaLnBrk="1" hangingPunct="1">
              <a:defRPr sz="1200"/>
            </a:lvl1pPr>
          </a:lstStyle>
          <a:p>
            <a:pPr>
              <a:defRPr/>
            </a:pPr>
            <a:endParaRPr lang="en-US" altLang="ja-JP"/>
          </a:p>
        </p:txBody>
      </p:sp>
      <p:sp>
        <p:nvSpPr>
          <p:cNvPr id="6148" name="Rectangle 4"/>
          <p:cNvSpPr>
            <a:spLocks noGrp="1" noRot="1" noChangeAspect="1" noChangeArrowheads="1" noTextEdit="1"/>
          </p:cNvSpPr>
          <p:nvPr>
            <p:ph type="sldImg" idx="2"/>
          </p:nvPr>
        </p:nvSpPr>
        <p:spPr bwMode="auto">
          <a:xfrm>
            <a:off x="695325" y="739775"/>
            <a:ext cx="5345113" cy="37004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898103" y="4686499"/>
            <a:ext cx="4939560" cy="4439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4102" name="Rectangle 6"/>
          <p:cNvSpPr>
            <a:spLocks noGrp="1" noChangeArrowheads="1"/>
          </p:cNvSpPr>
          <p:nvPr>
            <p:ph type="ftr" sz="quarter" idx="4"/>
          </p:nvPr>
        </p:nvSpPr>
        <p:spPr bwMode="auto">
          <a:xfrm>
            <a:off x="0"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eaLnBrk="1" hangingPunct="1">
              <a:defRPr sz="1200"/>
            </a:lvl1pPr>
          </a:lstStyle>
          <a:p>
            <a:pPr>
              <a:defRPr/>
            </a:pPr>
            <a:endParaRPr lang="en-US" altLang="ja-JP"/>
          </a:p>
        </p:txBody>
      </p:sp>
      <p:sp>
        <p:nvSpPr>
          <p:cNvPr id="4103" name="Rectangle 7"/>
          <p:cNvSpPr>
            <a:spLocks noGrp="1" noChangeArrowheads="1"/>
          </p:cNvSpPr>
          <p:nvPr>
            <p:ph type="sldNum" sz="quarter" idx="5"/>
          </p:nvPr>
        </p:nvSpPr>
        <p:spPr bwMode="auto">
          <a:xfrm>
            <a:off x="3816933"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algn="r" eaLnBrk="1" hangingPunct="1">
              <a:defRPr sz="1200"/>
            </a:lvl1pPr>
          </a:lstStyle>
          <a:p>
            <a:pPr>
              <a:defRPr/>
            </a:pPr>
            <a:fld id="{A353078C-3FB4-451F-8C3D-7F4520F57147}" type="slidenum">
              <a:rPr lang="en-US" altLang="ja-JP"/>
              <a:pPr>
                <a:defRPr/>
              </a:pPr>
              <a:t>‹#›</a:t>
            </a:fld>
            <a:endParaRPr lang="en-US" altLang="ja-JP"/>
          </a:p>
        </p:txBody>
      </p:sp>
    </p:spTree>
    <p:extLst>
      <p:ext uri="{BB962C8B-B14F-4D97-AF65-F5344CB8AC3E}">
        <p14:creationId xmlns:p14="http://schemas.microsoft.com/office/powerpoint/2010/main" val="26936085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1pPr>
    <a:lvl2pPr marL="457200"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A353078C-3FB4-451F-8C3D-7F4520F57147}" type="slidenum">
              <a:rPr lang="en-US" altLang="ja-JP" smtClean="0"/>
              <a:pPr>
                <a:defRPr/>
              </a:pPr>
              <a:t>1</a:t>
            </a:fld>
            <a:endParaRPr lang="en-US" altLang="ja-JP"/>
          </a:p>
        </p:txBody>
      </p:sp>
    </p:spTree>
    <p:extLst>
      <p:ext uri="{BB962C8B-B14F-4D97-AF65-F5344CB8AC3E}">
        <p14:creationId xmlns:p14="http://schemas.microsoft.com/office/powerpoint/2010/main" val="3617468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A353078C-3FB4-451F-8C3D-7F4520F57147}" type="slidenum">
              <a:rPr lang="en-US" altLang="ja-JP" smtClean="0"/>
              <a:pPr>
                <a:defRPr/>
              </a:pPr>
              <a:t>4</a:t>
            </a:fld>
            <a:endParaRPr lang="en-US" altLang="ja-JP"/>
          </a:p>
        </p:txBody>
      </p:sp>
    </p:spTree>
    <p:extLst>
      <p:ext uri="{BB962C8B-B14F-4D97-AF65-F5344CB8AC3E}">
        <p14:creationId xmlns:p14="http://schemas.microsoft.com/office/powerpoint/2010/main" val="1851159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A353078C-3FB4-451F-8C3D-7F4520F57147}" type="slidenum">
              <a:rPr lang="en-US" altLang="ja-JP" smtClean="0"/>
              <a:pPr>
                <a:defRPr/>
              </a:pPr>
              <a:t>5</a:t>
            </a:fld>
            <a:endParaRPr lang="en-US" altLang="ja-JP"/>
          </a:p>
        </p:txBody>
      </p:sp>
    </p:spTree>
    <p:extLst>
      <p:ext uri="{BB962C8B-B14F-4D97-AF65-F5344CB8AC3E}">
        <p14:creationId xmlns:p14="http://schemas.microsoft.com/office/powerpoint/2010/main" val="2419924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A353078C-3FB4-451F-8C3D-7F4520F57147}" type="slidenum">
              <a:rPr lang="en-US" altLang="ja-JP" smtClean="0"/>
              <a:pPr>
                <a:defRPr/>
              </a:pPr>
              <a:t>18</a:t>
            </a:fld>
            <a:endParaRPr lang="en-US" altLang="ja-JP"/>
          </a:p>
        </p:txBody>
      </p:sp>
    </p:spTree>
    <p:extLst>
      <p:ext uri="{BB962C8B-B14F-4D97-AF65-F5344CB8AC3E}">
        <p14:creationId xmlns:p14="http://schemas.microsoft.com/office/powerpoint/2010/main" val="3988263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A353078C-3FB4-451F-8C3D-7F4520F57147}" type="slidenum">
              <a:rPr lang="en-US" altLang="ja-JP" smtClean="0"/>
              <a:pPr>
                <a:defRPr/>
              </a:pPr>
              <a:t>20</a:t>
            </a:fld>
            <a:endParaRPr lang="en-US" altLang="ja-JP"/>
          </a:p>
        </p:txBody>
      </p:sp>
    </p:spTree>
    <p:extLst>
      <p:ext uri="{BB962C8B-B14F-4D97-AF65-F5344CB8AC3E}">
        <p14:creationId xmlns:p14="http://schemas.microsoft.com/office/powerpoint/2010/main" val="1783924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353078C-3FB4-451F-8C3D-7F4520F57147}" type="slidenum">
              <a:rPr kumimoji="1" lang="en-US" altLang="ja-JP" sz="1200" b="0" i="0" u="none" strike="noStrike" kern="1200" cap="none" spc="0" normalizeH="0" baseline="0" noProof="0" smtClean="0">
                <a:ln>
                  <a:noFill/>
                </a:ln>
                <a:solidFill>
                  <a:srgbClr val="000000"/>
                </a:solidFill>
                <a:effectLst/>
                <a:uLnTx/>
                <a:uFillTx/>
                <a:latin typeface="ＭＳ Ｐゴシック" panose="020B0600070205080204" pitchFamily="50" charset="-128"/>
                <a:ea typeface="ＭＳ Ｐゴシック" panose="020B060007020508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1" lang="en-US" altLang="ja-JP" sz="1200" b="0" i="0" u="none" strike="noStrike" kern="1200" cap="none" spc="0" normalizeH="0" baseline="0" noProof="0">
              <a:ln>
                <a:noFill/>
              </a:ln>
              <a:solidFill>
                <a:srgbClr val="000000"/>
              </a:solidFill>
              <a:effectLst/>
              <a:uLnTx/>
              <a:uFillTx/>
              <a:latin typeface="ＭＳ Ｐゴシック" panose="020B0600070205080204" pitchFamily="50" charset="-128"/>
              <a:ea typeface="ＭＳ Ｐゴシック" panose="020B0600070205080204" pitchFamily="50" charset="-128"/>
              <a:cs typeface="+mn-cs"/>
            </a:endParaRPr>
          </a:p>
        </p:txBody>
      </p:sp>
    </p:spTree>
    <p:extLst>
      <p:ext uri="{BB962C8B-B14F-4D97-AF65-F5344CB8AC3E}">
        <p14:creationId xmlns:p14="http://schemas.microsoft.com/office/powerpoint/2010/main" val="951755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sp>
        <p:nvSpPr>
          <p:cNvPr id="4" name="Rectangle 16"/>
          <p:cNvSpPr>
            <a:spLocks noGrp="1" noChangeArrowheads="1"/>
          </p:cNvSpPr>
          <p:nvPr>
            <p:ph type="title"/>
          </p:nvPr>
        </p:nvSpPr>
        <p:spPr bwMode="auto">
          <a:xfrm>
            <a:off x="631130" y="2914492"/>
            <a:ext cx="86423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normAutofit/>
          </a:bodyPr>
          <a:lstStyle>
            <a:lvl1pPr algn="ctr">
              <a:defRPr sz="2800"/>
            </a:lvl1pPr>
          </a:lstStyle>
          <a:p>
            <a:pPr lvl="0"/>
            <a:r>
              <a:rPr lang="ja-JP" altLang="en-US"/>
              <a:t>マスタ タイトルの書式設定</a:t>
            </a:r>
          </a:p>
        </p:txBody>
      </p:sp>
      <p:grpSp>
        <p:nvGrpSpPr>
          <p:cNvPr id="3" name="グループ化 2"/>
          <p:cNvGrpSpPr/>
          <p:nvPr userDrawn="1"/>
        </p:nvGrpSpPr>
        <p:grpSpPr>
          <a:xfrm>
            <a:off x="0" y="0"/>
            <a:ext cx="9906000" cy="486788"/>
            <a:chOff x="0" y="0"/>
            <a:chExt cx="9906000" cy="486788"/>
          </a:xfrm>
        </p:grpSpPr>
        <p:pic>
          <p:nvPicPr>
            <p:cNvPr id="5" name="図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52282" y="0"/>
              <a:ext cx="8453718" cy="486788"/>
            </a:xfrm>
            <a:prstGeom prst="rect">
              <a:avLst/>
            </a:prstGeom>
          </p:spPr>
        </p:pic>
        <p:sp>
          <p:nvSpPr>
            <p:cNvPr id="6" name="正方形/長方形 5"/>
            <p:cNvSpPr/>
            <p:nvPr userDrawn="1"/>
          </p:nvSpPr>
          <p:spPr>
            <a:xfrm>
              <a:off x="0" y="0"/>
              <a:ext cx="8229600" cy="121920"/>
            </a:xfrm>
            <a:prstGeom prst="rect">
              <a:avLst/>
            </a:prstGeom>
            <a:solidFill>
              <a:srgbClr val="026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latin typeface="游ゴシック Medium" panose="020B0500000000000000" pitchFamily="50" charset="-128"/>
              </a:endParaRPr>
            </a:p>
          </p:txBody>
        </p:sp>
      </p:grpSp>
      <p:cxnSp>
        <p:nvCxnSpPr>
          <p:cNvPr id="7" name="直線コネクタ 6"/>
          <p:cNvCxnSpPr/>
          <p:nvPr userDrawn="1"/>
        </p:nvCxnSpPr>
        <p:spPr>
          <a:xfrm>
            <a:off x="612723" y="3452712"/>
            <a:ext cx="8680552" cy="0"/>
          </a:xfrm>
          <a:prstGeom prst="line">
            <a:avLst/>
          </a:prstGeom>
          <a:ln w="19050">
            <a:solidFill>
              <a:srgbClr val="0168B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6654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lang="ja-JP" altLang="en-US"/>
              <a:t>マスター タイトルの書式設定</a:t>
            </a:r>
          </a:p>
        </p:txBody>
      </p:sp>
      <p:sp>
        <p:nvSpPr>
          <p:cNvPr id="3" name="テキスト プレースホルダー 4"/>
          <p:cNvSpPr>
            <a:spLocks noGrp="1"/>
          </p:cNvSpPr>
          <p:nvPr>
            <p:ph type="body" sz="quarter" idx="10"/>
          </p:nvPr>
        </p:nvSpPr>
        <p:spPr>
          <a:xfrm>
            <a:off x="273050" y="188913"/>
            <a:ext cx="7848600" cy="161583"/>
          </a:xfrm>
        </p:spPr>
        <p:txBody>
          <a:bodyPr/>
          <a:lstStyle>
            <a:lvl1pPr marL="0" indent="0">
              <a:buNone/>
              <a:defRPr sz="1050"/>
            </a:lvl1pPr>
            <a:lvl2pPr marL="269875" inden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kumimoji="1" lang="ja-JP" altLang="en-US"/>
              <a:t>マスター テキストの書式設定</a:t>
            </a:r>
          </a:p>
        </p:txBody>
      </p:sp>
    </p:spTree>
    <p:extLst>
      <p:ext uri="{BB962C8B-B14F-4D97-AF65-F5344CB8AC3E}">
        <p14:creationId xmlns:p14="http://schemas.microsoft.com/office/powerpoint/2010/main" val="2013877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lang="ja-JP" altLang="en-US"/>
              <a:t>マスター タイトルの書式設定</a:t>
            </a:r>
          </a:p>
        </p:txBody>
      </p:sp>
      <p:sp>
        <p:nvSpPr>
          <p:cNvPr id="3" name="コンテンツ プレースホルダー 2"/>
          <p:cNvSpPr>
            <a:spLocks noGrp="1"/>
          </p:cNvSpPr>
          <p:nvPr>
            <p:ph idx="1"/>
          </p:nvPr>
        </p:nvSpPr>
        <p:spPr>
          <a:xfrm>
            <a:off x="273050" y="908050"/>
            <a:ext cx="9359900" cy="1138773"/>
          </a:xfrm>
        </p:spPr>
        <p:txBody>
          <a:bodyPr wrap="square"/>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10"/>
          </p:nvPr>
        </p:nvSpPr>
        <p:spPr>
          <a:xfrm>
            <a:off x="273050" y="188913"/>
            <a:ext cx="7848600" cy="161583"/>
          </a:xfrm>
        </p:spPr>
        <p:txBody>
          <a:bodyPr/>
          <a:lstStyle>
            <a:lvl1pPr marL="0" indent="0">
              <a:buNone/>
              <a:defRPr sz="1050"/>
            </a:lvl1pPr>
            <a:lvl2pPr marL="269875" inden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kumimoji="1" lang="ja-JP" altLang="en-US"/>
              <a:t>マスター テキストの書式設定</a:t>
            </a:r>
          </a:p>
        </p:txBody>
      </p:sp>
    </p:spTree>
    <p:extLst>
      <p:ext uri="{BB962C8B-B14F-4D97-AF65-F5344CB8AC3E}">
        <p14:creationId xmlns:p14="http://schemas.microsoft.com/office/powerpoint/2010/main" val="1329972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273050" y="3126928"/>
            <a:ext cx="9001126" cy="307777"/>
          </a:xfrm>
        </p:spPr>
        <p:txBody>
          <a:bodyPr anchor="ctr"/>
          <a:lstStyle>
            <a:lvl1pPr marL="0" indent="0">
              <a:buNone/>
              <a:defRPr sz="20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ja-JP" altLang="en-US"/>
              <a:t>マスター テキストの書式設定</a:t>
            </a:r>
          </a:p>
        </p:txBody>
      </p:sp>
    </p:spTree>
    <p:extLst>
      <p:ext uri="{BB962C8B-B14F-4D97-AF65-F5344CB8AC3E}">
        <p14:creationId xmlns:p14="http://schemas.microsoft.com/office/powerpoint/2010/main" val="2692177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セクション見出し">
    <p:bg>
      <p:bgPr>
        <a:solidFill>
          <a:schemeClr val="accent1"/>
        </a:solidFill>
        <a:effectLst/>
      </p:bgPr>
    </p:bg>
    <p:spTree>
      <p:nvGrpSpPr>
        <p:cNvPr id="1" name=""/>
        <p:cNvGrpSpPr/>
        <p:nvPr/>
      </p:nvGrpSpPr>
      <p:grpSpPr>
        <a:xfrm>
          <a:off x="0" y="0"/>
          <a:ext cx="0" cy="0"/>
          <a:chOff x="0" y="0"/>
          <a:chExt cx="0" cy="0"/>
        </a:xfrm>
      </p:grpSpPr>
      <p:sp>
        <p:nvSpPr>
          <p:cNvPr id="4" name="Rectangle 10"/>
          <p:cNvSpPr txBox="1">
            <a:spLocks noChangeArrowheads="1"/>
          </p:cNvSpPr>
          <p:nvPr userDrawn="1"/>
        </p:nvSpPr>
        <p:spPr bwMode="auto">
          <a:xfrm>
            <a:off x="9417496" y="6597352"/>
            <a:ext cx="2180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ja-JP"/>
            </a:defPPr>
            <a:lvl1pPr algn="ctr" rtl="0" fontAlgn="base">
              <a:spcBef>
                <a:spcPct val="0"/>
              </a:spcBef>
              <a:spcAft>
                <a:spcPct val="0"/>
              </a:spcAft>
              <a:defRPr kumimoji="1" sz="700" kern="1200">
                <a:solidFill>
                  <a:srgbClr val="5F5F5F"/>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9pPr>
          </a:lstStyle>
          <a:p>
            <a:pPr algn="r" eaLnBrk="1" hangingPunct="1">
              <a:defRPr/>
            </a:pPr>
            <a:fld id="{4A2DA23E-ECE5-4573-9E35-541116622C71}" type="slidenum">
              <a:rPr lang="en-US" altLang="ja-JP" sz="1400" b="0" smtClean="0">
                <a:solidFill>
                  <a:schemeClr val="bg1"/>
                </a:solidFill>
              </a:rPr>
              <a:pPr algn="r" eaLnBrk="1" hangingPunct="1">
                <a:defRPr/>
              </a:pPr>
              <a:t>‹#›</a:t>
            </a:fld>
            <a:endParaRPr lang="en-US" altLang="ja-JP" sz="1400" b="0">
              <a:solidFill>
                <a:schemeClr val="bg1"/>
              </a:solidFill>
            </a:endParaRPr>
          </a:p>
        </p:txBody>
      </p:sp>
      <p:pic>
        <p:nvPicPr>
          <p:cNvPr id="9" name="図 8"/>
          <p:cNvPicPr>
            <a:picLocks noChangeAspect="1"/>
          </p:cNvPicPr>
          <p:nvPr userDrawn="1"/>
        </p:nvPicPr>
        <p:blipFill rotWithShape="1">
          <a:blip r:embed="rId2" cstate="print">
            <a:extLst>
              <a:ext uri="{28A0092B-C50C-407E-A947-70E740481C1C}">
                <a14:useLocalDpi xmlns:a14="http://schemas.microsoft.com/office/drawing/2010/main" val="0"/>
              </a:ext>
            </a:extLst>
          </a:blip>
          <a:srcRect l="17089" t="37187" r="17089" b="37187"/>
          <a:stretch/>
        </p:blipFill>
        <p:spPr>
          <a:xfrm>
            <a:off x="8608996" y="149161"/>
            <a:ext cx="1036562" cy="188466"/>
          </a:xfrm>
          <a:prstGeom prst="rect">
            <a:avLst/>
          </a:prstGeom>
        </p:spPr>
      </p:pic>
      <p:sp>
        <p:nvSpPr>
          <p:cNvPr id="5" name="Rectangle 1"/>
          <p:cNvSpPr>
            <a:spLocks noChangeArrowheads="1"/>
          </p:cNvSpPr>
          <p:nvPr userDrawn="1"/>
        </p:nvSpPr>
        <p:spPr bwMode="auto">
          <a:xfrm>
            <a:off x="272480" y="6635824"/>
            <a:ext cx="147155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0" i="0" u="none" strike="noStrike" cap="none" normalizeH="0" baseline="0">
                <a:ln>
                  <a:noFill/>
                </a:ln>
                <a:solidFill>
                  <a:schemeClr val="bg1"/>
                </a:solidFill>
                <a:effectLst/>
                <a:latin typeface="Calibri" panose="020F0502020204030204" pitchFamily="34" charset="0"/>
                <a:cs typeface="Calibri" panose="020F0502020204030204" pitchFamily="34" charset="0"/>
              </a:rPr>
              <a:t>Copyright © 202</a:t>
            </a:r>
            <a:r>
              <a:rPr kumimoji="0" lang="en-US" altLang="ja-JP" sz="900" b="0" i="0" u="none" strike="noStrike" cap="none" normalizeH="0" baseline="0">
                <a:ln>
                  <a:noFill/>
                </a:ln>
                <a:solidFill>
                  <a:schemeClr val="bg1"/>
                </a:solidFill>
                <a:effectLst/>
                <a:latin typeface="Calibri" panose="020F0502020204030204" pitchFamily="34" charset="0"/>
                <a:cs typeface="Calibri" panose="020F0502020204030204" pitchFamily="34" charset="0"/>
              </a:rPr>
              <a:t>3</a:t>
            </a:r>
            <a:r>
              <a:rPr kumimoji="0" lang="ja-JP" altLang="ja-JP" sz="900" b="0" i="0" u="none" strike="noStrike" cap="none" normalizeH="0" baseline="0">
                <a:ln>
                  <a:noFill/>
                </a:ln>
                <a:solidFill>
                  <a:schemeClr val="bg1"/>
                </a:solidFill>
                <a:effectLst/>
                <a:latin typeface="Calibri" panose="020F0502020204030204" pitchFamily="34" charset="0"/>
                <a:cs typeface="Calibri" panose="020F0502020204030204" pitchFamily="34" charset="0"/>
              </a:rPr>
              <a:t> TOPPAN </a:t>
            </a:r>
            <a:r>
              <a:rPr kumimoji="0" lang="en-US" altLang="ja-JP" sz="900" b="0" i="0" u="none" strike="noStrike" cap="none" normalizeH="0" baseline="0">
                <a:ln>
                  <a:noFill/>
                </a:ln>
                <a:solidFill>
                  <a:schemeClr val="bg1"/>
                </a:solidFill>
                <a:effectLst/>
                <a:latin typeface="Calibri" panose="020F0502020204030204" pitchFamily="34" charset="0"/>
                <a:cs typeface="Calibri" panose="020F0502020204030204" pitchFamily="34" charset="0"/>
              </a:rPr>
              <a:t>INC.</a:t>
            </a:r>
            <a:endParaRPr kumimoji="0" lang="ja-JP" altLang="ja-JP" sz="900" b="0" i="0" u="none" strike="noStrike" cap="none" normalizeH="0" baseline="0">
              <a:ln>
                <a:noFill/>
              </a:ln>
              <a:solidFill>
                <a:schemeClr val="bg1"/>
              </a:solidFill>
              <a:effectLst/>
              <a:latin typeface="Calibri" panose="020F0502020204030204" pitchFamily="34" charset="0"/>
              <a:cs typeface="Calibri" panose="020F0502020204030204" pitchFamily="34" charset="0"/>
            </a:endParaRPr>
          </a:p>
        </p:txBody>
      </p:sp>
      <p:sp>
        <p:nvSpPr>
          <p:cNvPr id="2" name="タイトル 1"/>
          <p:cNvSpPr>
            <a:spLocks noGrp="1"/>
          </p:cNvSpPr>
          <p:nvPr>
            <p:ph type="title"/>
          </p:nvPr>
        </p:nvSpPr>
        <p:spPr>
          <a:xfrm>
            <a:off x="273049" y="3121223"/>
            <a:ext cx="9072563" cy="307777"/>
          </a:xfrm>
        </p:spPr>
        <p:txBody>
          <a:bodyPr/>
          <a:lstStyle>
            <a:lvl1pPr>
              <a:defRPr>
                <a:solidFill>
                  <a:schemeClr val="bg1"/>
                </a:solidFill>
              </a:defRPr>
            </a:lvl1pPr>
          </a:lstStyle>
          <a:p>
            <a:r>
              <a:rPr kumimoji="1" lang="ja-JP" altLang="en-US"/>
              <a:t>マスター タイトルの書式設定</a:t>
            </a:r>
          </a:p>
        </p:txBody>
      </p:sp>
    </p:spTree>
    <p:extLst>
      <p:ext uri="{BB962C8B-B14F-4D97-AF65-F5344CB8AC3E}">
        <p14:creationId xmlns:p14="http://schemas.microsoft.com/office/powerpoint/2010/main" val="1742616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993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jpe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0C37E358-AC16-41DA-807D-228D90720739}"/>
              </a:ext>
            </a:extLst>
          </p:cNvPr>
          <p:cNvGraphicFramePr>
            <a:graphicFrameLocks noChangeAspect="1"/>
          </p:cNvGraphicFramePr>
          <p:nvPr userDrawn="1">
            <p:custDataLst>
              <p:tags r:id="rId8"/>
            </p:custDataLst>
            <p:extLst>
              <p:ext uri="{D42A27DB-BD31-4B8C-83A1-F6EECF244321}">
                <p14:modId xmlns:p14="http://schemas.microsoft.com/office/powerpoint/2010/main" val="2431132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9" imgW="622" imgH="623" progId="TCLayout.ActiveDocument.1">
                  <p:embed/>
                </p:oleObj>
              </mc:Choice>
              <mc:Fallback>
                <p:oleObj name="think-cell スライド" r:id="rId9" imgW="622" imgH="623" progId="TCLayout.ActiveDocument.1">
                  <p:embed/>
                  <p:pic>
                    <p:nvPicPr>
                      <p:cNvPr id="4" name="オブジェクト 3" hidden="1">
                        <a:extLst>
                          <a:ext uri="{FF2B5EF4-FFF2-40B4-BE49-F238E27FC236}">
                            <a16:creationId xmlns:a16="http://schemas.microsoft.com/office/drawing/2014/main" id="{0C37E358-AC16-41DA-807D-228D9072073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 10"/>
          <p:cNvSpPr txBox="1">
            <a:spLocks noChangeArrowheads="1"/>
          </p:cNvSpPr>
          <p:nvPr userDrawn="1"/>
        </p:nvSpPr>
        <p:spPr bwMode="auto">
          <a:xfrm>
            <a:off x="9417496" y="6597352"/>
            <a:ext cx="2180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ja-JP"/>
            </a:defPPr>
            <a:lvl1pPr algn="ctr" rtl="0" fontAlgn="base">
              <a:spcBef>
                <a:spcPct val="0"/>
              </a:spcBef>
              <a:spcAft>
                <a:spcPct val="0"/>
              </a:spcAft>
              <a:defRPr kumimoji="1" sz="700" kern="1200">
                <a:solidFill>
                  <a:srgbClr val="5F5F5F"/>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9pPr>
          </a:lstStyle>
          <a:p>
            <a:pPr algn="r" eaLnBrk="1" hangingPunct="1">
              <a:defRPr/>
            </a:pPr>
            <a:fld id="{4A2DA23E-ECE5-4573-9E35-541116622C71}" type="slidenum">
              <a:rPr lang="en-US" altLang="ja-JP" sz="1400" b="0" smtClean="0">
                <a:solidFill>
                  <a:schemeClr val="tx1"/>
                </a:solidFill>
              </a:rPr>
              <a:pPr algn="r" eaLnBrk="1" hangingPunct="1">
                <a:defRPr/>
              </a:pPr>
              <a:t>‹#›</a:t>
            </a:fld>
            <a:endParaRPr lang="en-US" altLang="ja-JP" sz="1400" b="0">
              <a:solidFill>
                <a:schemeClr val="tx1"/>
              </a:solidFill>
            </a:endParaRPr>
          </a:p>
        </p:txBody>
      </p:sp>
      <p:sp>
        <p:nvSpPr>
          <p:cNvPr id="3" name="テキスト ボックス 2"/>
          <p:cNvSpPr txBox="1"/>
          <p:nvPr userDrawn="1"/>
        </p:nvSpPr>
        <p:spPr>
          <a:xfrm>
            <a:off x="273050" y="6741368"/>
            <a:ext cx="65" cy="369332"/>
          </a:xfrm>
          <a:prstGeom prst="rect">
            <a:avLst/>
          </a:prstGeom>
          <a:noFill/>
        </p:spPr>
        <p:txBody>
          <a:bodyPr wrap="none" lIns="0" tIns="0" rIns="0" bIns="0" rtlCol="0">
            <a:spAutoFit/>
          </a:bodyPr>
          <a:lstStyle/>
          <a:p>
            <a:endParaRPr kumimoji="1" lang="ja-JP" altLang="en-US" b="1">
              <a:latin typeface="游ゴシック" panose="020B0400000000000000" pitchFamily="50" charset="-128"/>
              <a:ea typeface="游ゴシック" panose="020B0400000000000000" pitchFamily="50" charset="-128"/>
            </a:endParaRPr>
          </a:p>
        </p:txBody>
      </p:sp>
      <p:sp>
        <p:nvSpPr>
          <p:cNvPr id="10" name="Rectangle 1"/>
          <p:cNvSpPr>
            <a:spLocks noChangeArrowheads="1"/>
          </p:cNvSpPr>
          <p:nvPr userDrawn="1"/>
        </p:nvSpPr>
        <p:spPr bwMode="auto">
          <a:xfrm>
            <a:off x="272480" y="6635824"/>
            <a:ext cx="147155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0" i="0" u="none" strike="noStrike" cap="none" normalizeH="0" baseline="0">
                <a:ln>
                  <a:noFill/>
                </a:ln>
                <a:solidFill>
                  <a:schemeClr val="tx1"/>
                </a:solidFill>
                <a:effectLst/>
                <a:latin typeface="Calibri" panose="020F0502020204030204" pitchFamily="34" charset="0"/>
                <a:cs typeface="Calibri" panose="020F0502020204030204" pitchFamily="34" charset="0"/>
              </a:rPr>
              <a:t>Copyright © 202</a:t>
            </a:r>
            <a:r>
              <a:rPr kumimoji="0" lang="en-US" altLang="ja-JP" sz="900" b="0" i="0" u="none" strike="noStrike" cap="none" normalizeH="0" baseline="0">
                <a:ln>
                  <a:noFill/>
                </a:ln>
                <a:solidFill>
                  <a:schemeClr val="tx1"/>
                </a:solidFill>
                <a:effectLst/>
                <a:latin typeface="Calibri" panose="020F0502020204030204" pitchFamily="34" charset="0"/>
                <a:cs typeface="Calibri" panose="020F0502020204030204" pitchFamily="34" charset="0"/>
              </a:rPr>
              <a:t>3</a:t>
            </a:r>
            <a:r>
              <a:rPr kumimoji="0" lang="ja-JP" altLang="ja-JP" sz="900" b="0" i="0" u="none" strike="noStrike" cap="none" normalizeH="0" baseline="0">
                <a:ln>
                  <a:noFill/>
                </a:ln>
                <a:solidFill>
                  <a:schemeClr val="tx1"/>
                </a:solidFill>
                <a:effectLst/>
                <a:latin typeface="Calibri" panose="020F0502020204030204" pitchFamily="34" charset="0"/>
                <a:cs typeface="Calibri" panose="020F0502020204030204" pitchFamily="34" charset="0"/>
              </a:rPr>
              <a:t> TOPPAN </a:t>
            </a:r>
            <a:r>
              <a:rPr kumimoji="0" lang="en-US" altLang="ja-JP" sz="900" b="0" i="0" u="none" strike="noStrike" cap="none" normalizeH="0" baseline="0">
                <a:ln>
                  <a:noFill/>
                </a:ln>
                <a:solidFill>
                  <a:schemeClr val="tx1"/>
                </a:solidFill>
                <a:effectLst/>
                <a:latin typeface="Calibri" panose="020F0502020204030204" pitchFamily="34" charset="0"/>
                <a:cs typeface="Calibri" panose="020F0502020204030204" pitchFamily="34" charset="0"/>
              </a:rPr>
              <a:t>INC.</a:t>
            </a:r>
            <a:endParaRPr kumimoji="0" lang="ja-JP" altLang="ja-JP" sz="9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p:txBody>
      </p:sp>
      <p:grpSp>
        <p:nvGrpSpPr>
          <p:cNvPr id="12" name="グループ化 11"/>
          <p:cNvGrpSpPr/>
          <p:nvPr userDrawn="1"/>
        </p:nvGrpSpPr>
        <p:grpSpPr>
          <a:xfrm>
            <a:off x="0" y="0"/>
            <a:ext cx="9906000" cy="486788"/>
            <a:chOff x="0" y="0"/>
            <a:chExt cx="9906000" cy="486788"/>
          </a:xfrm>
        </p:grpSpPr>
        <p:pic>
          <p:nvPicPr>
            <p:cNvPr id="13" name="図 12"/>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452282" y="0"/>
              <a:ext cx="8453718" cy="486788"/>
            </a:xfrm>
            <a:prstGeom prst="rect">
              <a:avLst/>
            </a:prstGeom>
          </p:spPr>
        </p:pic>
        <p:sp>
          <p:nvSpPr>
            <p:cNvPr id="14" name="正方形/長方形 13"/>
            <p:cNvSpPr/>
            <p:nvPr userDrawn="1"/>
          </p:nvSpPr>
          <p:spPr>
            <a:xfrm>
              <a:off x="0" y="0"/>
              <a:ext cx="8229600" cy="121920"/>
            </a:xfrm>
            <a:prstGeom prst="rect">
              <a:avLst/>
            </a:prstGeom>
            <a:solidFill>
              <a:srgbClr val="026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latin typeface="游ゴシック Medium" panose="020B0500000000000000" pitchFamily="50" charset="-128"/>
              </a:endParaRPr>
            </a:p>
          </p:txBody>
        </p:sp>
      </p:grpSp>
      <p:sp>
        <p:nvSpPr>
          <p:cNvPr id="1026" name="Rectangle 17"/>
          <p:cNvSpPr>
            <a:spLocks noGrp="1" noChangeArrowheads="1"/>
          </p:cNvSpPr>
          <p:nvPr>
            <p:ph type="body" idx="1"/>
          </p:nvPr>
        </p:nvSpPr>
        <p:spPr bwMode="auto">
          <a:xfrm>
            <a:off x="273050" y="916046"/>
            <a:ext cx="9359900" cy="47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ja-JP" altLang="en-US"/>
              <a:t>マスタ テキストの書式設定</a:t>
            </a:r>
          </a:p>
          <a:p>
            <a:pPr lvl="1"/>
            <a:r>
              <a:rPr lang="ja-JP" altLang="en-US"/>
              <a:t>第 </a:t>
            </a:r>
            <a:r>
              <a:rPr lang="en-US" altLang="ja-JP"/>
              <a:t>2 </a:t>
            </a:r>
            <a:r>
              <a:rPr lang="ja-JP" altLang="en-US"/>
              <a:t>レベル</a:t>
            </a:r>
          </a:p>
        </p:txBody>
      </p:sp>
      <p:sp>
        <p:nvSpPr>
          <p:cNvPr id="1029" name="Rectangle 16"/>
          <p:cNvSpPr>
            <a:spLocks noGrp="1" noChangeArrowheads="1"/>
          </p:cNvSpPr>
          <p:nvPr>
            <p:ph type="title"/>
          </p:nvPr>
        </p:nvSpPr>
        <p:spPr bwMode="auto">
          <a:xfrm>
            <a:off x="273050" y="439237"/>
            <a:ext cx="78483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ja-JP" altLang="en-US" dirty="0"/>
              <a:t>マスタ タイトルの書式設定</a:t>
            </a:r>
          </a:p>
        </p:txBody>
      </p:sp>
      <p:cxnSp>
        <p:nvCxnSpPr>
          <p:cNvPr id="11" name="直線コネクタ 10"/>
          <p:cNvCxnSpPr/>
          <p:nvPr userDrawn="1"/>
        </p:nvCxnSpPr>
        <p:spPr>
          <a:xfrm flipH="1">
            <a:off x="-301451" y="864158"/>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userDrawn="1"/>
        </p:nvCxnSpPr>
        <p:spPr>
          <a:xfrm flipH="1">
            <a:off x="9969680" y="865837"/>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userDrawn="1"/>
        </p:nvCxnSpPr>
        <p:spPr>
          <a:xfrm flipV="1">
            <a:off x="239695" y="-180869"/>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userDrawn="1"/>
        </p:nvCxnSpPr>
        <p:spPr>
          <a:xfrm flipV="1">
            <a:off x="9656026" y="-179192"/>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userDrawn="1"/>
        </p:nvCxnSpPr>
        <p:spPr>
          <a:xfrm flipV="1">
            <a:off x="241370" y="6904915"/>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userDrawn="1"/>
        </p:nvCxnSpPr>
        <p:spPr>
          <a:xfrm flipV="1">
            <a:off x="9657701" y="6906592"/>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userDrawn="1"/>
        </p:nvCxnSpPr>
        <p:spPr>
          <a:xfrm flipH="1">
            <a:off x="-308076" y="6572518"/>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userDrawn="1"/>
        </p:nvCxnSpPr>
        <p:spPr>
          <a:xfrm flipH="1">
            <a:off x="9963055" y="6574197"/>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75" r:id="rId2"/>
    <p:sldLayoutId id="2147483671" r:id="rId3"/>
    <p:sldLayoutId id="2147483672" r:id="rId4"/>
    <p:sldLayoutId id="2147483681" r:id="rId5"/>
    <p:sldLayoutId id="2147483673" r:id="rId6"/>
  </p:sldLayoutIdLst>
  <p:hf hdr="0" ftr="0" dt="0"/>
  <p:txStyles>
    <p:titleStyle>
      <a:lvl1pPr algn="l" rtl="0" eaLnBrk="0" fontAlgn="base" hangingPunct="0">
        <a:spcBef>
          <a:spcPct val="0"/>
        </a:spcBef>
        <a:spcAft>
          <a:spcPct val="0"/>
        </a:spcAft>
        <a:defRPr sz="1600" b="1" kern="1200">
          <a:solidFill>
            <a:schemeClr val="tx1"/>
          </a:solidFill>
          <a:latin typeface="+mj-ea"/>
          <a:ea typeface="+mj-ea"/>
          <a:cs typeface="+mj-cs"/>
        </a:defRPr>
      </a:lvl1pPr>
      <a:lvl2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2pPr>
      <a:lvl3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3pPr>
      <a:lvl4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4pPr>
      <a:lvl5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5pPr>
      <a:lvl6pPr marL="4572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6pPr>
      <a:lvl7pPr marL="9144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7pPr>
      <a:lvl8pPr marL="13716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8pPr>
      <a:lvl9pPr marL="18288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9pPr>
    </p:titleStyle>
    <p:body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4110" userDrawn="1">
          <p15:clr>
            <a:srgbClr val="F26B43"/>
          </p15:clr>
        </p15:guide>
        <p15:guide id="3" orient="horz" pos="572" userDrawn="1">
          <p15:clr>
            <a:srgbClr val="F26B43"/>
          </p15:clr>
        </p15:guide>
        <p15:guide id="5" pos="172" userDrawn="1">
          <p15:clr>
            <a:srgbClr val="F26B43"/>
          </p15:clr>
        </p15:guide>
        <p15:guide id="6" pos="3120" userDrawn="1">
          <p15:clr>
            <a:srgbClr val="F26B43"/>
          </p15:clr>
        </p15:guide>
        <p15:guide id="7" pos="6068" userDrawn="1">
          <p15:clr>
            <a:srgbClr val="F26B43"/>
          </p15:clr>
        </p15:guide>
        <p15:guide id="8" pos="353" userDrawn="1">
          <p15:clr>
            <a:srgbClr val="F26B43"/>
          </p15:clr>
        </p15:guide>
        <p15:guide id="9" pos="5887" userDrawn="1">
          <p15:clr>
            <a:srgbClr val="F26B43"/>
          </p15:clr>
        </p15:guide>
        <p15:guide id="10" orient="horz" pos="4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4.e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decentralized-identity/interoperability/blob/master/assets/interoperability-mapping-exercise-10-12-20.pdf"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decentralized-identity/did-jwt-vc#verifying-a-verifiable-credential" TargetMode="External"/><Relationship Id="rId13" Type="http://schemas.openxmlformats.org/officeDocument/2006/relationships/hyperlink" Target="https://w3c-ccg.github.io/vp-request-spec/" TargetMode="External"/><Relationship Id="rId18" Type="http://schemas.openxmlformats.org/officeDocument/2006/relationships/hyperlink" Target="https://openid.net/developers/how-connect-works/" TargetMode="External"/><Relationship Id="rId3" Type="http://schemas.openxmlformats.org/officeDocument/2006/relationships/hyperlink" Target="https://www.w3.org/TR/vc-data-model-2.0/" TargetMode="External"/><Relationship Id="rId7" Type="http://schemas.openxmlformats.org/officeDocument/2006/relationships/hyperlink" Target="https://w3c.github.io/vc-data-integrity/#data-model" TargetMode="External"/><Relationship Id="rId12" Type="http://schemas.openxmlformats.org/officeDocument/2006/relationships/hyperlink" Target="https://hyperledger.github.io/anoncreds-revocation/" TargetMode="External"/><Relationship Id="rId17" Type="http://schemas.openxmlformats.org/officeDocument/2006/relationships/hyperlink" Target="https://www.w3.org/TR/did-core/" TargetMode="External"/><Relationship Id="rId2" Type="http://schemas.openxmlformats.org/officeDocument/2006/relationships/hyperlink" Target="https://www.w3.org/TR/vc-data-model/" TargetMode="External"/><Relationship Id="rId16" Type="http://schemas.openxmlformats.org/officeDocument/2006/relationships/hyperlink" Target="https://github.com/hyperledger/aries-rfcs/blob/main/features/0454-present-proof-v2/README.md" TargetMode="External"/><Relationship Id="rId1" Type="http://schemas.openxmlformats.org/officeDocument/2006/relationships/slideLayout" Target="../slideLayouts/slideLayout3.xml"/><Relationship Id="rId6" Type="http://schemas.openxmlformats.org/officeDocument/2006/relationships/hyperlink" Target="https://identity.foundation/jwt-vc-presentation-profile/" TargetMode="External"/><Relationship Id="rId11" Type="http://schemas.openxmlformats.org/officeDocument/2006/relationships/hyperlink" Target="https://www.w3.org/community/reports/credentials/CG-FINAL-vc-status-list-2021-20230102/" TargetMode="External"/><Relationship Id="rId5" Type="http://schemas.openxmlformats.org/officeDocument/2006/relationships/hyperlink" Target="https://openid.net/specs/openid-4-verifiable-presentations-1_0.html" TargetMode="External"/><Relationship Id="rId15" Type="http://schemas.openxmlformats.org/officeDocument/2006/relationships/hyperlink" Target="https://mattrglobal.github.io/oidc-client-bound-assertions-spec/" TargetMode="External"/><Relationship Id="rId10" Type="http://schemas.openxmlformats.org/officeDocument/2006/relationships/hyperlink" Target="https://datatracker.ietf.org/doc/html/rfc5280" TargetMode="External"/><Relationship Id="rId19" Type="http://schemas.openxmlformats.org/officeDocument/2006/relationships/hyperlink" Target="https://www.evernym.com/blog/how-does-a-verifier-know-the-credential-is-yours/#:~:text=A%20link%20secret%20is%20a%20blinded%20cryptographic%20commitment,prove%20knowledge%20of%20their%20secret%20without%20revealing%20it" TargetMode="External"/><Relationship Id="rId4" Type="http://schemas.openxmlformats.org/officeDocument/2006/relationships/hyperlink" Target="https://openid.net/specs/openid-4-verifiable-credential-issuance-1_0.html" TargetMode="External"/><Relationship Id="rId9" Type="http://schemas.openxmlformats.org/officeDocument/2006/relationships/hyperlink" Target="https://hyperledger.github.io/anoncreds-spec/" TargetMode="External"/><Relationship Id="rId14" Type="http://schemas.openxmlformats.org/officeDocument/2006/relationships/hyperlink" Target="https://identity.foundation/presentation-exchang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3c-ccg.github.io/vc-examples/" TargetMode="External"/><Relationship Id="rId2" Type="http://schemas.openxmlformats.org/officeDocument/2006/relationships/hyperlink" Target="https://www.w3.org/TR/vc-use-cases/"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hyperlink" Target="https://fidoalliance.org/specs/fido-v2.2-rd-20230321/fido-client-to-authenticator-protocol-v2.2-rd-20230321.html" TargetMode="External"/><Relationship Id="rId13" Type="http://schemas.openxmlformats.org/officeDocument/2006/relationships/hyperlink" Target="https://cloud.google.com/kms/docs/hsm?hl=ja" TargetMode="External"/><Relationship Id="rId3" Type="http://schemas.openxmlformats.org/officeDocument/2006/relationships/hyperlink" Target="https://identity.foundation/did-siop/" TargetMode="External"/><Relationship Id="rId7" Type="http://schemas.openxmlformats.org/officeDocument/2006/relationships/hyperlink" Target="https://openid.net/specs/openid-connect-self-issued-v2-1_0-ID1.html#name-cross-device-self-issued-op" TargetMode="External"/><Relationship Id="rId12" Type="http://schemas.openxmlformats.org/officeDocument/2006/relationships/hyperlink" Target="https://w3c-ccg.github.io/universal-wallet-interop-spec/" TargetMode="External"/><Relationship Id="rId2" Type="http://schemas.openxmlformats.org/officeDocument/2006/relationships/hyperlink" Target="https://identity.foundation/didcomm-messaging/spec/v2.0/" TargetMode="External"/><Relationship Id="rId16" Type="http://schemas.openxmlformats.org/officeDocument/2006/relationships/hyperlink" Target="https://www.securetechalliance.org/smart-cards-intro-standards/" TargetMode="External"/><Relationship Id="rId1" Type="http://schemas.openxmlformats.org/officeDocument/2006/relationships/slideLayout" Target="../slideLayouts/slideLayout3.xml"/><Relationship Id="rId6" Type="http://schemas.openxmlformats.org/officeDocument/2006/relationships/hyperlink" Target="https://openid.net/specs/openid-4-verifiable-presentations-1_0.html#name-overview" TargetMode="External"/><Relationship Id="rId11" Type="http://schemas.openxmlformats.org/officeDocument/2006/relationships/hyperlink" Target="https://github.com/johncallahan/activestorage-horcrux" TargetMode="External"/><Relationship Id="rId5" Type="http://schemas.openxmlformats.org/officeDocument/2006/relationships/hyperlink" Target="https://openid.net/specs/openid-client-initiated-backchannel-authentication-core-1_0.html" TargetMode="External"/><Relationship Id="rId15" Type="http://schemas.openxmlformats.org/officeDocument/2006/relationships/hyperlink" Target="https://en.wikipedia.org/wiki/Trusted_execution_environment" TargetMode="External"/><Relationship Id="rId10" Type="http://schemas.openxmlformats.org/officeDocument/2006/relationships/hyperlink" Target="https://github.com/hyperledger/aries-rfcs/blob/main/concepts/0051-dkms/dkms-v4.md" TargetMode="External"/><Relationship Id="rId4" Type="http://schemas.openxmlformats.org/officeDocument/2006/relationships/hyperlink" Target="https://datatracker.ietf.org/doc/html/rfc8628" TargetMode="External"/><Relationship Id="rId9" Type="http://schemas.openxmlformats.org/officeDocument/2006/relationships/hyperlink" Target="https://trezor.io/learn/a/what-are-bips-slips#BIP39_-_Mnemonic_code_for_generating_deterministic_keys" TargetMode="External"/><Relationship Id="rId14" Type="http://schemas.openxmlformats.org/officeDocument/2006/relationships/hyperlink" Target="https://globalplatform.org/technical-committees/secure-element-se-committe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hyperlink" Target="https://identity.foundation/ion/" TargetMode="External"/><Relationship Id="rId13" Type="http://schemas.openxmlformats.org/officeDocument/2006/relationships/hyperlink" Target="https://digitalbazaar.github.io/encrypted-data-vaults/" TargetMode="External"/><Relationship Id="rId3" Type="http://schemas.openxmlformats.org/officeDocument/2006/relationships/hyperlink" Target="https://identity.foundation/sidetree/spec/" TargetMode="External"/><Relationship Id="rId7" Type="http://schemas.openxmlformats.org/officeDocument/2006/relationships/hyperlink" Target="https://sovrin.org/overview/" TargetMode="External"/><Relationship Id="rId12" Type="http://schemas.openxmlformats.org/officeDocument/2006/relationships/hyperlink" Target="https://didproject.azurewebsites.net/docs/hub-overview.html" TargetMode="External"/><Relationship Id="rId2" Type="http://schemas.openxmlformats.org/officeDocument/2006/relationships/hyperlink" Target="https://www.w3.org/TR/did-core/" TargetMode="External"/><Relationship Id="rId1" Type="http://schemas.openxmlformats.org/officeDocument/2006/relationships/slideLayout" Target="../slideLayouts/slideLayout3.xml"/><Relationship Id="rId6" Type="http://schemas.openxmlformats.org/officeDocument/2006/relationships/hyperlink" Target="https://indy.readthedocs.io/en/latest/" TargetMode="External"/><Relationship Id="rId11" Type="http://schemas.openxmlformats.org/officeDocument/2006/relationships/hyperlink" Target="https://github.com/decentralized-identity/universal-resolver" TargetMode="External"/><Relationship Id="rId5" Type="http://schemas.openxmlformats.org/officeDocument/2006/relationships/hyperlink" Target="https://www.w3.org/TR/did-spec-registries/" TargetMode="External"/><Relationship Id="rId10" Type="http://schemas.openxmlformats.org/officeDocument/2006/relationships/hyperlink" Target="https://w3c-ccg.github.io/did-resolution/" TargetMode="External"/><Relationship Id="rId4" Type="http://schemas.openxmlformats.org/officeDocument/2006/relationships/hyperlink" Target="https://github.com/decentralized-identity/keri" TargetMode="External"/><Relationship Id="rId9" Type="http://schemas.openxmlformats.org/officeDocument/2006/relationships/hyperlink" Target="https://transmute.industries/technology/element/" TargetMode="External"/><Relationship Id="rId14" Type="http://schemas.openxmlformats.org/officeDocument/2006/relationships/hyperlink" Target="https://identity.foundation/decentralized-web-node/spec/"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commission.europa.eu/law/law-topic/data-protection/data-protection-eu_en" TargetMode="External"/><Relationship Id="rId3" Type="http://schemas.openxmlformats.org/officeDocument/2006/relationships/hyperlink" Target="https://docs.kantarainitiative.org/uma/wg/rec-oauth-uma-grant-2.0.html" TargetMode="External"/><Relationship Id="rId7" Type="http://schemas.openxmlformats.org/officeDocument/2006/relationships/hyperlink" Target="https://joinup.ec.europa.eu/sites/default/files/document/2020-04/SSI_eIDAS_legal_report_final_0.pdf" TargetMode="External"/><Relationship Id="rId12" Type="http://schemas.openxmlformats.org/officeDocument/2006/relationships/hyperlink" Target="https://datatracker.ietf.org/doc/html/rfc8949" TargetMode="External"/><Relationship Id="rId2" Type="http://schemas.openxmlformats.org/officeDocument/2006/relationships/hyperlink" Target="https://www.w3.org/TR/webauthn/" TargetMode="External"/><Relationship Id="rId1" Type="http://schemas.openxmlformats.org/officeDocument/2006/relationships/slideLayout" Target="../slideLayouts/slideLayout3.xml"/><Relationship Id="rId6" Type="http://schemas.openxmlformats.org/officeDocument/2006/relationships/hyperlink" Target="https://w3c.github.io/vc-di-bbs/" TargetMode="External"/><Relationship Id="rId11" Type="http://schemas.openxmlformats.org/officeDocument/2006/relationships/hyperlink" Target="https://datatracker.ietf.org/doc/html/rfc8259" TargetMode="External"/><Relationship Id="rId5" Type="http://schemas.openxmlformats.org/officeDocument/2006/relationships/hyperlink" Target="https://github.com/hyperledger/anoncreds-spec/blob/main/README.md" TargetMode="External"/><Relationship Id="rId10" Type="http://schemas.openxmlformats.org/officeDocument/2006/relationships/hyperlink" Target="https://github.com/ipfs/specs" TargetMode="External"/><Relationship Id="rId4" Type="http://schemas.openxmlformats.org/officeDocument/2006/relationships/hyperlink" Target="https://identity.foundation/did-siop/" TargetMode="External"/><Relationship Id="rId9" Type="http://schemas.openxmlformats.org/officeDocument/2006/relationships/hyperlink" Target="https://identity.foundation/confidential-storage/"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www.iso.org/standard/82772.html" TargetMode="External"/><Relationship Id="rId13" Type="http://schemas.openxmlformats.org/officeDocument/2006/relationships/hyperlink" Target="https://www.iso.org/standard/86786.html" TargetMode="External"/><Relationship Id="rId3" Type="http://schemas.openxmlformats.org/officeDocument/2006/relationships/hyperlink" Target="https://www.iso.org/standard/70486.html" TargetMode="External"/><Relationship Id="rId7" Type="http://schemas.openxmlformats.org/officeDocument/2006/relationships/hyperlink" Target="https://www.iso.org/standard/79805.html" TargetMode="External"/><Relationship Id="rId12" Type="http://schemas.openxmlformats.org/officeDocument/2006/relationships/hyperlink" Target="https://www.iso.org/standard/86785.html" TargetMode="External"/><Relationship Id="rId2" Type="http://schemas.openxmlformats.org/officeDocument/2006/relationships/hyperlink" Target="https://www.iso.org/standard/63798.html" TargetMode="External"/><Relationship Id="rId1" Type="http://schemas.openxmlformats.org/officeDocument/2006/relationships/slideLayout" Target="../slideLayouts/slideLayout3.xml"/><Relationship Id="rId6" Type="http://schemas.openxmlformats.org/officeDocument/2006/relationships/hyperlink" Target="https://www.iso.org/standard/69084.html" TargetMode="External"/><Relationship Id="rId11" Type="http://schemas.openxmlformats.org/officeDocument/2006/relationships/hyperlink" Target="https://www.iso.org/standard/86783.html" TargetMode="External"/><Relationship Id="rId5" Type="http://schemas.openxmlformats.org/officeDocument/2006/relationships/hyperlink" Target="https://www.iso.org/standard/74961.html" TargetMode="External"/><Relationship Id="rId10" Type="http://schemas.openxmlformats.org/officeDocument/2006/relationships/hyperlink" Target="https://www.iso.org/standard/86782.html" TargetMode="External"/><Relationship Id="rId4" Type="http://schemas.openxmlformats.org/officeDocument/2006/relationships/hyperlink" Target="https://www.iso.org/standard/72366.html" TargetMode="External"/><Relationship Id="rId9" Type="http://schemas.openxmlformats.org/officeDocument/2006/relationships/hyperlink" Target="https://www.iso.org/standard/74910.html" TargetMode="External"/><Relationship Id="rId14" Type="http://schemas.openxmlformats.org/officeDocument/2006/relationships/hyperlink" Target="https://www.iso.org/standard/86787.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www.w3.org/TR/json-ld/" TargetMode="External"/><Relationship Id="rId3" Type="http://schemas.openxmlformats.org/officeDocument/2006/relationships/oleObject" Target="../embeddings/oleObject4.bin"/><Relationship Id="rId7" Type="http://schemas.openxmlformats.org/officeDocument/2006/relationships/hyperlink" Target="https://datatracker.ietf.org/doc/html/rfc8259" TargetMode="Externa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hyperlink" Target="https://www.w3.org/XML/" TargetMode="External"/><Relationship Id="rId5" Type="http://schemas.openxmlformats.org/officeDocument/2006/relationships/hyperlink" Target="https://www.itu.int/rec/T-REC-X.680" TargetMode="External"/><Relationship Id="rId4" Type="http://schemas.openxmlformats.org/officeDocument/2006/relationships/image" Target="../media/image5.emf"/><Relationship Id="rId9" Type="http://schemas.openxmlformats.org/officeDocument/2006/relationships/hyperlink" Target="https://tex2e.github.io/rfc-translater/html/rfc8949.html"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www.w3.org/TR/vc-data-model/" TargetMode="External"/><Relationship Id="rId3" Type="http://schemas.openxmlformats.org/officeDocument/2006/relationships/notesSlide" Target="../notesSlides/notesSlide4.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5.bin"/><Relationship Id="rId9" Type="http://schemas.openxmlformats.org/officeDocument/2006/relationships/hyperlink" Target="https://openid.net/sg/openid4vc/" TargetMode="Externa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5.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hyperlink" Target="https://cyber.ee/uploads/Zero_Knowledge_Proofs_report_89d6bc5438.pdf" TargetMode="Externa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hyperlink" Target="https://github.com/vcstuff/credential-profile-comparison?tab=readme-ov-file" TargetMode="External"/><Relationship Id="rId5" Type="http://schemas.openxmlformats.org/officeDocument/2006/relationships/image" Target="../media/image5.e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5.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5.emf"/></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ethereum" TargetMode="External"/><Relationship Id="rId2" Type="http://schemas.openxmlformats.org/officeDocument/2006/relationships/hyperlink" Target="https://ethereum.org/" TargetMode="External"/><Relationship Id="rId1" Type="http://schemas.openxmlformats.org/officeDocument/2006/relationships/slideLayout" Target="../slideLayouts/slideLayout2.xml"/><Relationship Id="rId5" Type="http://schemas.openxmlformats.org/officeDocument/2006/relationships/hyperlink" Target="https://www.hyperledger.org/projects/fabric" TargetMode="External"/><Relationship Id="rId4" Type="http://schemas.openxmlformats.org/officeDocument/2006/relationships/hyperlink" Target="https://www.hyperledger.org/projects/hyperledger-indy" TargetMode="External"/></Relationships>
</file>

<file path=ppt/slides/_rels/slide29.xml.rels><?xml version="1.0" encoding="UTF-8" standalone="yes"?>
<Relationships xmlns="http://schemas.openxmlformats.org/package/2006/relationships"><Relationship Id="rId2" Type="http://schemas.openxmlformats.org/officeDocument/2006/relationships/hyperlink" Target="https://www.boj.or.jp/paym/fintech/rel200212a.ht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decentralized-identity/universal-resolver"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hyperlink" Target="https://identity.foundation/edv-spec/" TargetMode="External"/><Relationship Id="rId4" Type="http://schemas.openxmlformats.org/officeDocument/2006/relationships/image" Target="../media/image5.emf"/></Relationships>
</file>

<file path=ppt/slides/_rels/slide32.xml.rels><?xml version="1.0" encoding="UTF-8" standalone="yes"?>
<Relationships xmlns="http://schemas.openxmlformats.org/package/2006/relationships"><Relationship Id="rId2" Type="http://schemas.openxmlformats.org/officeDocument/2006/relationships/hyperlink" Target="https://www.iso.org/standard/69084.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iso.org/standard/72018.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docs.google.com/spreadsheets/d/1X93ptJcmfX1NZEo5E7ElnqJ-knDS4Dj6JOYSJ_2PsUw/edit#gid=1590639334"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hyperledger.github.io/anoncreds-methods-registry/" TargetMode="External"/><Relationship Id="rId2" Type="http://schemas.openxmlformats.org/officeDocument/2006/relationships/hyperlink" Target="https://github.com/hyperledger/aries-askar" TargetMode="External"/><Relationship Id="rId1" Type="http://schemas.openxmlformats.org/officeDocument/2006/relationships/slideLayout" Target="../slideLayouts/slideLayout2.xml"/><Relationship Id="rId4" Type="http://schemas.openxmlformats.org/officeDocument/2006/relationships/hyperlink" Target="https://github.com/hyperledger/anoncreds-v2-rs" TargetMode="External"/></Relationships>
</file>

<file path=ppt/slides/_rels/slide36.xml.rels><?xml version="1.0" encoding="UTF-8" standalone="yes"?>
<Relationships xmlns="http://schemas.openxmlformats.org/package/2006/relationships"><Relationship Id="rId2" Type="http://schemas.openxmlformats.org/officeDocument/2006/relationships/hyperlink" Target="https://www.iso.org/standard/69084.html"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digital-strategy.ec.europa.eu/en/library/european-digital-identity-wallet-architecture-and-reference-framework"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idunion.org/wp-content/uploads/2023/07/2023_06_05_TDI_Framework_for_Walletsecurity.pdf" TargetMode="External"/><Relationship Id="rId2" Type="http://schemas.openxmlformats.org/officeDocument/2006/relationships/hyperlink" Target="https://www.lissi.id/eidas-2-0"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microsoft.com/ja-jp/security/business/identity-access/microsoft-entra-verified-id"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hyperledger.org/projects/anoncreds"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hyperledger.org/blog/bc-digital-trust-leveraging-hyperledger-tools-for-digital-trust" TargetMode="External"/><Relationship Id="rId2" Type="http://schemas.openxmlformats.org/officeDocument/2006/relationships/hyperlink" Target="https://digital.gov.bc.ca/digital-trust/about/about-bc-wallet/"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northernblock.io/blog/interoperability-update-addition-of-openid4vc-to-northern-block-products/" TargetMode="External"/><Relationship Id="rId2" Type="http://schemas.openxmlformats.org/officeDocument/2006/relationships/hyperlink" Target="https://northernblock.io/orbit-enterprise/"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dock.io/"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blockcerts.org/"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hyperlink" Target="https://www.blockcerts.org/guide/" TargetMode="External"/><Relationship Id="rId3" Type="http://schemas.openxmlformats.org/officeDocument/2006/relationships/hyperlink" Target="https://github.com/blockchain-certificates/cert-schema" TargetMode="External"/><Relationship Id="rId7" Type="http://schemas.openxmlformats.org/officeDocument/2006/relationships/hyperlink" Target="https://github.com/blockchain-certificates/wallet-android"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hyperlink" Target="https://github.com/blockchain-certificates/wallet-iOS" TargetMode="External"/><Relationship Id="rId5" Type="http://schemas.openxmlformats.org/officeDocument/2006/relationships/hyperlink" Target="https://github.com/blockchain-certificates/cert-verifier-js" TargetMode="External"/><Relationship Id="rId4" Type="http://schemas.openxmlformats.org/officeDocument/2006/relationships/hyperlink" Target="https://github.com/blockchain-certificates/cert-issuer"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github.com/hyperledger/anoncreds-rs" TargetMode="Externa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hyperlink" Target="https://hyperledger.github.io/anoncreds-spec/"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github.com/hyperledger/indy-vdr"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hyperlink" Target="https://hyperledger.github.io/indy-did-method/" TargetMode="External"/><Relationship Id="rId5" Type="http://schemas.openxmlformats.org/officeDocument/2006/relationships/hyperlink" Target="https://github.com/hyperledger/indy-cli-rs" TargetMode="External"/><Relationship Id="rId4" Type="http://schemas.openxmlformats.org/officeDocument/2006/relationships/hyperlink" Target="https://github.com/hyperledger/aries-askar"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github.com/hyperledger/aries-cloudagent-python"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hyperlink" Target="https://hyperledger.github.io/indy-did-method/" TargetMode="External"/><Relationship Id="rId5" Type="http://schemas.openxmlformats.org/officeDocument/2006/relationships/hyperlink" Target="https://github.com/hyperledger/aries-staticagent-python" TargetMode="External"/><Relationship Id="rId4" Type="http://schemas.openxmlformats.org/officeDocument/2006/relationships/hyperlink" Target="https://github.com/hyperledger/aries-framework-go"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github.com/decentralized-identity/veramo" TargetMode="Externa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hyperlink" Target="https://veramo.io/docs/basics/introduction"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github.com/Sphereon-Opensource/PEX" TargetMode="External"/><Relationship Id="rId3" Type="http://schemas.openxmlformats.org/officeDocument/2006/relationships/hyperlink" Target="https://github.com/Sphereon-Opensource/SSI-SDK" TargetMode="External"/><Relationship Id="rId7" Type="http://schemas.openxmlformats.org/officeDocument/2006/relationships/hyperlink" Target="https://github.com/Sphereon-Opensource/eidas-signature-client"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hyperlink" Target="https://github.com/Sphereon-Opensource/ssi-mobile-wallet" TargetMode="External"/><Relationship Id="rId5" Type="http://schemas.openxmlformats.org/officeDocument/2006/relationships/hyperlink" Target="https://github.com/Sphereon-Opensource/SIOP-OID4VP" TargetMode="External"/><Relationship Id="rId4" Type="http://schemas.openxmlformats.org/officeDocument/2006/relationships/hyperlink" Target="https://github.com/Sphereon-Opensource/OID4VCI" TargetMode="External"/></Relationships>
</file>

<file path=ppt/slides/_rels/slide52.xml.rels><?xml version="1.0" encoding="UTF-8" standalone="yes"?>
<Relationships xmlns="http://schemas.openxmlformats.org/package/2006/relationships"><Relationship Id="rId8" Type="http://schemas.openxmlformats.org/officeDocument/2006/relationships/hyperlink" Target="https://github.com/OWND-Project/OWND-Messenger-React-SDK" TargetMode="External"/><Relationship Id="rId3" Type="http://schemas.openxmlformats.org/officeDocument/2006/relationships/hyperlink" Target="https://github.com/OWND-Project/OWND-Wallet-iOS" TargetMode="External"/><Relationship Id="rId7" Type="http://schemas.openxmlformats.org/officeDocument/2006/relationships/hyperlink" Target="https://github.com/OWND-Project/OWND-Messenger-Client"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hyperlink" Target="https://github.com/OWND-Project/OWND-Messenger-Server" TargetMode="External"/><Relationship Id="rId5" Type="http://schemas.openxmlformats.org/officeDocument/2006/relationships/hyperlink" Target="https://github.com/OWND-Project/OWND-Project-VCI" TargetMode="External"/><Relationship Id="rId4" Type="http://schemas.openxmlformats.org/officeDocument/2006/relationships/hyperlink" Target="https://github.com/OWND-Project/OWND-Wallet-Android" TargetMode="External"/><Relationship Id="rId9" Type="http://schemas.openxmlformats.org/officeDocument/2006/relationships/hyperlink" Target="https://github.com/OWND-Project/whitepaper"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github.com/spruceid/didkit" TargetMode="Externa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hyperlink" Target="https://www.spruceid.dev/didkit/didkit"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learn.mattr.global/docs/vii-platform/overview"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hyperlink" Target="https://learn.mattr.global/docs/" TargetMode="External"/><Relationship Id="rId5" Type="http://schemas.openxmlformats.org/officeDocument/2006/relationships/hyperlink" Target="https://learn.mattr.global/docs/go-platform/overview" TargetMode="External"/><Relationship Id="rId4" Type="http://schemas.openxmlformats.org/officeDocument/2006/relationships/hyperlink" Target="https://learn.mattr.global/docs/pi-platform/overview" TargetMode="External"/></Relationships>
</file>

<file path=ppt/slides/_rels/slide55.xml.rels><?xml version="1.0" encoding="UTF-8" standalone="yes"?>
<Relationships xmlns="http://schemas.openxmlformats.org/package/2006/relationships"><Relationship Id="rId8" Type="http://schemas.openxmlformats.org/officeDocument/2006/relationships/hyperlink" Target="https://aries-cloud-agent-python.readthedocs.io/en/latest/" TargetMode="External"/><Relationship Id="rId3" Type="http://schemas.openxmlformats.org/officeDocument/2006/relationships/image" Target="../media/image12.png"/><Relationship Id="rId7" Type="http://schemas.openxmlformats.org/officeDocument/2006/relationships/hyperlink" Target="https://github.com/openwallet-foundation/agent-framework-javascript" TargetMode="Externa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hyperlink" Target="https://github.com/openwallet-foundation-labs/wallet-framework-dotnet" TargetMode="External"/><Relationship Id="rId5" Type="http://schemas.openxmlformats.org/officeDocument/2006/relationships/image" Target="../media/image13.emf"/><Relationship Id="rId4" Type="http://schemas.openxmlformats.org/officeDocument/2006/relationships/oleObject" Target="../embeddings/oleObject12.bin"/></Relationships>
</file>

<file path=ppt/slides/_rels/slide56.xml.rels><?xml version="1.0" encoding="UTF-8" standalone="yes"?>
<Relationships xmlns="http://schemas.openxmlformats.org/package/2006/relationships"><Relationship Id="rId8" Type="http://schemas.openxmlformats.org/officeDocument/2006/relationships/hyperlink" Target="https://github.com/openwallet-foundation-labs" TargetMode="External"/><Relationship Id="rId3" Type="http://schemas.openxmlformats.org/officeDocument/2006/relationships/hyperlink" Target="https://github.com/openwallet-foundation-labs/sd-jwt-python" TargetMode="External"/><Relationship Id="rId7" Type="http://schemas.openxmlformats.org/officeDocument/2006/relationships/hyperlink" Target="https://github.com/openwallet-foundation-labs/sd-jwt-kotlin" TargetMode="Externa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hyperlink" Target="https://github.com/openwallet-foundation-labs/sd-jwt-dotnet" TargetMode="External"/><Relationship Id="rId5" Type="http://schemas.openxmlformats.org/officeDocument/2006/relationships/hyperlink" Target="https://github.com/openwallet-foundation-labs/sd-jwt-js" TargetMode="External"/><Relationship Id="rId4" Type="http://schemas.openxmlformats.org/officeDocument/2006/relationships/hyperlink" Target="https://github.com/openwallet-foundation-labs/sd-jwt-rust" TargetMode="External"/></Relationships>
</file>

<file path=ppt/slides/_rels/slide57.xml.rels><?xml version="1.0" encoding="UTF-8" standalone="yes"?>
<Relationships xmlns="http://schemas.openxmlformats.org/package/2006/relationships"><Relationship Id="rId3" Type="http://schemas.openxmlformats.org/officeDocument/2006/relationships/hyperlink" Target="https://github.com/FIWARE/keycloak-vc-issuer" TargetMode="Externa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hyperlink" Target="https://www.keycloak.org/guides"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AFFFDB44-8E64-4317-AB00-1B255720E887}"/>
              </a:ext>
            </a:extLst>
          </p:cNvPr>
          <p:cNvGraphicFramePr>
            <a:graphicFrameLocks noChangeAspect="1"/>
          </p:cNvGraphicFramePr>
          <p:nvPr>
            <p:custDataLst>
              <p:tags r:id="rId1"/>
            </p:custDataLst>
            <p:extLst>
              <p:ext uri="{D42A27DB-BD31-4B8C-83A1-F6EECF244321}">
                <p14:modId xmlns:p14="http://schemas.microsoft.com/office/powerpoint/2010/main" val="7168482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2" imgH="623" progId="TCLayout.ActiveDocument.1">
                  <p:embed/>
                </p:oleObj>
              </mc:Choice>
              <mc:Fallback>
                <p:oleObj name="think-cell スライド" r:id="rId3" imgW="622" imgH="623" progId="TCLayout.ActiveDocument.1">
                  <p:embed/>
                  <p:pic>
                    <p:nvPicPr>
                      <p:cNvPr id="8" name="オブジェクト 7" hidden="1">
                        <a:extLst>
                          <a:ext uri="{FF2B5EF4-FFF2-40B4-BE49-F238E27FC236}">
                            <a16:creationId xmlns:a16="http://schemas.microsoft.com/office/drawing/2014/main" id="{AFFFDB44-8E64-4317-AB00-1B255720E88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p:cNvSpPr>
            <a:spLocks noGrp="1"/>
          </p:cNvSpPr>
          <p:nvPr>
            <p:ph type="title"/>
          </p:nvPr>
        </p:nvSpPr>
        <p:spPr>
          <a:xfrm>
            <a:off x="560388" y="2483606"/>
            <a:ext cx="8783834" cy="861774"/>
          </a:xfrm>
        </p:spPr>
        <p:txBody>
          <a:bodyPr vert="horz">
            <a:normAutofit fontScale="90000"/>
          </a:bodyPr>
          <a:lstStyle/>
          <a:p>
            <a:r>
              <a:rPr lang="ja-JP" altLang="en-US" sz="2400" dirty="0"/>
              <a:t>令和</a:t>
            </a:r>
            <a:r>
              <a:rPr lang="en-US" altLang="ja-JP" sz="2400" dirty="0"/>
              <a:t>4</a:t>
            </a:r>
            <a:r>
              <a:rPr lang="ja-JP" altLang="en-US" sz="2400" dirty="0"/>
              <a:t>年度補正</a:t>
            </a:r>
            <a:br>
              <a:rPr lang="en-US" altLang="ja-JP" sz="2400" dirty="0"/>
            </a:br>
            <a:r>
              <a:rPr lang="en-US" altLang="ja-JP" sz="2400" dirty="0"/>
              <a:t>Trusted Web </a:t>
            </a:r>
            <a:r>
              <a:rPr lang="ja-JP" altLang="en-US" sz="2400" dirty="0"/>
              <a:t>開発等推進事業に係る調査研究</a:t>
            </a:r>
            <a:br>
              <a:rPr lang="en-US" altLang="ja-JP" sz="2400" dirty="0"/>
            </a:br>
            <a:r>
              <a:rPr lang="ja-JP" altLang="en-US" sz="2400" dirty="0"/>
              <a:t>（規格・実装動向調査）</a:t>
            </a:r>
          </a:p>
        </p:txBody>
      </p:sp>
      <p:sp>
        <p:nvSpPr>
          <p:cNvPr id="4" name="テキスト ボックス 3"/>
          <p:cNvSpPr txBox="1"/>
          <p:nvPr/>
        </p:nvSpPr>
        <p:spPr>
          <a:xfrm>
            <a:off x="4039016" y="5949280"/>
            <a:ext cx="1825820" cy="553998"/>
          </a:xfrm>
          <a:prstGeom prst="rect">
            <a:avLst/>
          </a:prstGeom>
          <a:noFill/>
        </p:spPr>
        <p:txBody>
          <a:bodyPr wrap="none" lIns="0" tIns="0" rIns="0" bIns="0" rtlCol="0">
            <a:spAutoFit/>
          </a:bodyPr>
          <a:lstStyle/>
          <a:p>
            <a:pPr algn="ctr"/>
            <a:r>
              <a:rPr lang="ja-JP" altLang="en-US" sz="1800" b="1" dirty="0">
                <a:latin typeface="+mn-ea"/>
                <a:ea typeface="+mn-ea"/>
              </a:rPr>
              <a:t>令和</a:t>
            </a:r>
            <a:r>
              <a:rPr lang="en-US" altLang="ja-JP" sz="1800" b="1" dirty="0">
                <a:latin typeface="+mn-ea"/>
                <a:ea typeface="+mn-ea"/>
              </a:rPr>
              <a:t>6</a:t>
            </a:r>
            <a:r>
              <a:rPr kumimoji="1" lang="ja-JP" altLang="en-US" sz="1800" b="1" dirty="0">
                <a:latin typeface="+mn-ea"/>
                <a:ea typeface="+mn-ea"/>
              </a:rPr>
              <a:t>年</a:t>
            </a:r>
            <a:r>
              <a:rPr kumimoji="1" lang="en-US" altLang="ja-JP" sz="1800" b="1" dirty="0">
                <a:latin typeface="+mn-ea"/>
                <a:ea typeface="+mn-ea"/>
              </a:rPr>
              <a:t>3</a:t>
            </a:r>
            <a:r>
              <a:rPr kumimoji="1" lang="ja-JP" altLang="en-US" sz="1800" b="1" dirty="0">
                <a:latin typeface="+mn-ea"/>
                <a:ea typeface="+mn-ea"/>
              </a:rPr>
              <a:t>月</a:t>
            </a:r>
            <a:endParaRPr lang="en-US" altLang="ja-JP" sz="1800" b="1" dirty="0">
              <a:latin typeface="+mn-ea"/>
              <a:ea typeface="+mn-ea"/>
            </a:endParaRPr>
          </a:p>
          <a:p>
            <a:pPr algn="ctr"/>
            <a:r>
              <a:rPr kumimoji="1" lang="en-US" altLang="ja-JP" sz="1800" b="1" dirty="0">
                <a:latin typeface="+mn-ea"/>
                <a:ea typeface="+mn-ea"/>
              </a:rPr>
              <a:t>TOPPAN</a:t>
            </a:r>
            <a:r>
              <a:rPr kumimoji="1" lang="ja-JP" altLang="en-US" sz="1800" b="1" dirty="0">
                <a:latin typeface="+mn-ea"/>
                <a:ea typeface="+mn-ea"/>
              </a:rPr>
              <a:t>株式会社</a:t>
            </a:r>
          </a:p>
        </p:txBody>
      </p:sp>
      <p:sp>
        <p:nvSpPr>
          <p:cNvPr id="5" name="テキスト ボックス 4"/>
          <p:cNvSpPr txBox="1"/>
          <p:nvPr/>
        </p:nvSpPr>
        <p:spPr>
          <a:xfrm>
            <a:off x="273050" y="692696"/>
            <a:ext cx="1282402" cy="246221"/>
          </a:xfrm>
          <a:prstGeom prst="rect">
            <a:avLst/>
          </a:prstGeom>
          <a:noFill/>
        </p:spPr>
        <p:txBody>
          <a:bodyPr wrap="none" lIns="0" tIns="0" rIns="0" bIns="0" rtlCol="0">
            <a:spAutoFit/>
          </a:bodyPr>
          <a:lstStyle/>
          <a:p>
            <a:r>
              <a:rPr lang="ja-JP" altLang="en-US" sz="1600" b="1">
                <a:latin typeface="+mn-ea"/>
                <a:ea typeface="+mn-ea"/>
              </a:rPr>
              <a:t>デジタル庁御中</a:t>
            </a:r>
            <a:endParaRPr kumimoji="1" lang="ja-JP" altLang="en-US" sz="1600" b="1">
              <a:latin typeface="+mn-ea"/>
              <a:ea typeface="+mn-ea"/>
            </a:endParaRPr>
          </a:p>
        </p:txBody>
      </p:sp>
    </p:spTree>
    <p:extLst>
      <p:ext uri="{BB962C8B-B14F-4D97-AF65-F5344CB8AC3E}">
        <p14:creationId xmlns:p14="http://schemas.microsoft.com/office/powerpoint/2010/main" val="237074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A21EEB-0985-4D9D-B405-1A8657160782}"/>
              </a:ext>
            </a:extLst>
          </p:cNvPr>
          <p:cNvSpPr>
            <a:spLocks noGrp="1"/>
          </p:cNvSpPr>
          <p:nvPr>
            <p:ph type="title"/>
          </p:nvPr>
        </p:nvSpPr>
        <p:spPr/>
        <p:txBody>
          <a:bodyPr/>
          <a:lstStyle/>
          <a:p>
            <a:r>
              <a:rPr kumimoji="1" lang="ja-JP" altLang="en-US" dirty="0"/>
              <a:t>本書の位置づけ</a:t>
            </a:r>
          </a:p>
        </p:txBody>
      </p:sp>
      <p:sp>
        <p:nvSpPr>
          <p:cNvPr id="3" name="コンテンツ プレースホルダー 2">
            <a:extLst>
              <a:ext uri="{FF2B5EF4-FFF2-40B4-BE49-F238E27FC236}">
                <a16:creationId xmlns:a16="http://schemas.microsoft.com/office/drawing/2014/main" id="{D18F57D5-4DD6-4F4B-A907-090919B1F6C5}"/>
              </a:ext>
            </a:extLst>
          </p:cNvPr>
          <p:cNvSpPr>
            <a:spLocks noGrp="1"/>
          </p:cNvSpPr>
          <p:nvPr>
            <p:ph idx="1"/>
          </p:nvPr>
        </p:nvSpPr>
        <p:spPr>
          <a:xfrm>
            <a:off x="273050" y="908050"/>
            <a:ext cx="9359900" cy="2197525"/>
          </a:xfrm>
        </p:spPr>
        <p:txBody>
          <a:bodyPr/>
          <a:lstStyle/>
          <a:p>
            <a:r>
              <a:rPr lang="ja-JP" altLang="en-US" b="0" dirty="0"/>
              <a:t>本事業は、昨年度事業である</a:t>
            </a:r>
            <a:r>
              <a:rPr lang="en-US" altLang="ja-JP" b="0" dirty="0"/>
              <a:t>13 </a:t>
            </a:r>
            <a:r>
              <a:rPr lang="ja-JP" altLang="en-US" b="0" dirty="0"/>
              <a:t>件のユースケースの開発実証等や、内閣官房デジタル市場競争本部事務局において活動を進めている「</a:t>
            </a:r>
            <a:r>
              <a:rPr lang="en-US" altLang="ja-JP" b="0" dirty="0"/>
              <a:t>Trusted Web </a:t>
            </a:r>
            <a:r>
              <a:rPr lang="ja-JP" altLang="en-US" b="0" dirty="0"/>
              <a:t>推進協議会」における</a:t>
            </a:r>
            <a:r>
              <a:rPr lang="en-US" altLang="ja-JP" b="0" dirty="0"/>
              <a:t>Trusted Web </a:t>
            </a:r>
            <a:r>
              <a:rPr lang="ja-JP" altLang="en-US" b="0" dirty="0"/>
              <a:t>ホワイトペーパー策定等の活動、他検討結果を踏まえて、デジタル庁の委託のもと以下の業務を実施</a:t>
            </a:r>
            <a:endParaRPr lang="en-US" altLang="ja-JP" b="0" dirty="0"/>
          </a:p>
          <a:p>
            <a:pPr marL="612775" lvl="1" indent="-342900">
              <a:buFont typeface="+mj-ea"/>
              <a:buAutoNum type="circleNumDbPlain"/>
            </a:pPr>
            <a:r>
              <a:rPr lang="en-US" altLang="ja-JP" b="0" dirty="0"/>
              <a:t>Trusted Web </a:t>
            </a:r>
            <a:r>
              <a:rPr lang="ja-JP" altLang="en-US" b="0" dirty="0"/>
              <a:t>ユースケース開発実証に係る調査研究</a:t>
            </a:r>
            <a:endParaRPr lang="en-US" altLang="ja-JP" b="0" dirty="0"/>
          </a:p>
          <a:p>
            <a:pPr marL="612775" lvl="1" indent="-342900">
              <a:buFont typeface="+mj-lt"/>
              <a:buAutoNum type="circleNumDbPlain"/>
            </a:pPr>
            <a:r>
              <a:rPr lang="ja-JP" altLang="en-US" sz="1400" b="0" dirty="0"/>
              <a:t>官民コンソーシアム検討・組成</a:t>
            </a:r>
            <a:endParaRPr lang="en-US" altLang="ja-JP" b="0" dirty="0"/>
          </a:p>
          <a:p>
            <a:pPr marL="612775" lvl="1" indent="-342900">
              <a:buFont typeface="+mj-lt"/>
              <a:buAutoNum type="circleNumDbPlain"/>
            </a:pPr>
            <a:r>
              <a:rPr lang="ja-JP" altLang="en-US" sz="1400" b="0" dirty="0"/>
              <a:t>調査・普及啓発</a:t>
            </a:r>
            <a:endParaRPr lang="en-US" altLang="ja-JP" b="0" dirty="0"/>
          </a:p>
          <a:p>
            <a:pPr marL="268288" indent="-268288"/>
            <a:r>
              <a:rPr lang="ja-JP" altLang="en-US" b="0" dirty="0"/>
              <a:t>本報告書は、③調査・普及啓発の中で、規格・実装にかかる動向調査をとりまとめたものである</a:t>
            </a:r>
            <a:endParaRPr lang="en-US" altLang="ja-JP" b="0" dirty="0"/>
          </a:p>
          <a:p>
            <a:endParaRPr lang="ja-JP" altLang="en-US" dirty="0"/>
          </a:p>
          <a:p>
            <a:endParaRPr lang="en-US" altLang="ja-JP" dirty="0"/>
          </a:p>
        </p:txBody>
      </p:sp>
      <p:sp>
        <p:nvSpPr>
          <p:cNvPr id="4" name="テキスト プレースホルダー 3">
            <a:extLst>
              <a:ext uri="{FF2B5EF4-FFF2-40B4-BE49-F238E27FC236}">
                <a16:creationId xmlns:a16="http://schemas.microsoft.com/office/drawing/2014/main" id="{7288D04A-A9EC-49AC-9087-167452483CE0}"/>
              </a:ext>
            </a:extLst>
          </p:cNvPr>
          <p:cNvSpPr>
            <a:spLocks noGrp="1"/>
          </p:cNvSpPr>
          <p:nvPr>
            <p:ph type="body" sz="quarter" idx="10"/>
          </p:nvPr>
        </p:nvSpPr>
        <p:spPr>
          <a:xfrm>
            <a:off x="273050" y="188913"/>
            <a:ext cx="7848600" cy="161583"/>
          </a:xfrm>
        </p:spPr>
        <p:txBody>
          <a:bodyPr/>
          <a:lstStyle/>
          <a:p>
            <a:r>
              <a:rPr lang="ja-JP" altLang="en-US" sz="1050" dirty="0"/>
              <a:t>規格・実装動向調査</a:t>
            </a:r>
            <a:endParaRPr kumimoji="1" lang="ja-JP" altLang="en-US" dirty="0"/>
          </a:p>
        </p:txBody>
      </p:sp>
      <p:sp>
        <p:nvSpPr>
          <p:cNvPr id="6" name="正方形/長方形 5">
            <a:extLst>
              <a:ext uri="{FF2B5EF4-FFF2-40B4-BE49-F238E27FC236}">
                <a16:creationId xmlns:a16="http://schemas.microsoft.com/office/drawing/2014/main" id="{4AB4D0AA-CB8B-14DE-2055-EAC774F9AFB1}"/>
              </a:ext>
            </a:extLst>
          </p:cNvPr>
          <p:cNvSpPr/>
          <p:nvPr/>
        </p:nvSpPr>
        <p:spPr bwMode="gray">
          <a:xfrm>
            <a:off x="1521093" y="5576434"/>
            <a:ext cx="6913551" cy="806112"/>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90564" eaLnBrk="1" fontAlgn="auto" hangingPunct="1">
              <a:spcBef>
                <a:spcPts val="0"/>
              </a:spcBef>
              <a:spcAft>
                <a:spcPts val="0"/>
              </a:spcAft>
              <a:buSzPct val="100000"/>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調査、普及啓発</a:t>
            </a:r>
            <a:endParaRPr kumimoji="1" lang="en-US" altLang="ja-JP" sz="1400" b="0" i="0" u="none" strike="noStrike" kern="1200" cap="none" spc="0" normalizeH="0" baseline="0" noProof="0" dirty="0">
              <a:ln>
                <a:noFill/>
              </a:ln>
              <a:solidFill>
                <a:prstClr val="black"/>
              </a:solidFill>
              <a:effectLst/>
              <a:uLnTx/>
              <a:uFillTx/>
              <a:latin typeface="+mn-lt"/>
              <a:ea typeface="+mn-ea"/>
              <a:cs typeface="+mn-cs"/>
            </a:endParaRPr>
          </a:p>
          <a:p>
            <a:pPr algn="ctr" defTabSz="990564" eaLnBrk="1" fontAlgn="auto" hangingPunct="1">
              <a:spcBef>
                <a:spcPts val="0"/>
              </a:spcBef>
              <a:spcAft>
                <a:spcPts val="0"/>
              </a:spcAft>
              <a:buSzPct val="100000"/>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　</a:t>
            </a:r>
            <a:endParaRPr kumimoji="1" lang="ja-JP" altLang="en-US" sz="1400" b="1" i="0" u="sng" strike="noStrike" kern="1200" cap="none" spc="0" normalizeH="0" baseline="0" noProof="0" dirty="0">
              <a:ln>
                <a:noFill/>
              </a:ln>
              <a:solidFill>
                <a:prstClr val="black"/>
              </a:solidFill>
              <a:effectLst/>
              <a:uLnTx/>
              <a:uFillTx/>
              <a:latin typeface="+mn-lt"/>
              <a:ea typeface="+mn-ea"/>
              <a:cs typeface="+mn-cs"/>
            </a:endParaRPr>
          </a:p>
        </p:txBody>
      </p:sp>
      <p:sp>
        <p:nvSpPr>
          <p:cNvPr id="9" name="正方形/長方形 8">
            <a:extLst>
              <a:ext uri="{FF2B5EF4-FFF2-40B4-BE49-F238E27FC236}">
                <a16:creationId xmlns:a16="http://schemas.microsoft.com/office/drawing/2014/main" id="{6D80FCA5-65DD-AA81-DC06-A68AFE4D9CA3}"/>
              </a:ext>
            </a:extLst>
          </p:cNvPr>
          <p:cNvSpPr/>
          <p:nvPr/>
        </p:nvSpPr>
        <p:spPr bwMode="gray">
          <a:xfrm>
            <a:off x="506070" y="3250482"/>
            <a:ext cx="8911314" cy="3222599"/>
          </a:xfrm>
          <a:prstGeom prst="rect">
            <a:avLst/>
          </a:prstGeom>
          <a:noFill/>
          <a:ln w="12700" algn="ctr">
            <a:solidFill>
              <a:schemeClr val="tx1"/>
            </a:solidFill>
            <a:prstDash val="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400" b="0" i="0" u="none" strike="noStrike" kern="1200" cap="none" spc="0" normalizeH="0" baseline="0" noProof="0">
              <a:ln>
                <a:noFill/>
              </a:ln>
              <a:solidFill>
                <a:prstClr val="black"/>
              </a:solidFill>
              <a:effectLst/>
              <a:uLnTx/>
              <a:uFillTx/>
              <a:latin typeface="+mn-lt"/>
              <a:ea typeface="+mn-ea"/>
              <a:cs typeface="+mn-cs"/>
            </a:endParaRPr>
          </a:p>
        </p:txBody>
      </p:sp>
      <p:grpSp>
        <p:nvGrpSpPr>
          <p:cNvPr id="10" name="グループ化 9">
            <a:extLst>
              <a:ext uri="{FF2B5EF4-FFF2-40B4-BE49-F238E27FC236}">
                <a16:creationId xmlns:a16="http://schemas.microsoft.com/office/drawing/2014/main" id="{B0B86CA0-D628-DF82-50A1-8AFDCE6A425F}"/>
              </a:ext>
            </a:extLst>
          </p:cNvPr>
          <p:cNvGrpSpPr/>
          <p:nvPr/>
        </p:nvGrpSpPr>
        <p:grpSpPr>
          <a:xfrm>
            <a:off x="642796" y="3276454"/>
            <a:ext cx="8645147" cy="1702805"/>
            <a:chOff x="1387240" y="2253559"/>
            <a:chExt cx="7900701" cy="1702805"/>
          </a:xfrm>
        </p:grpSpPr>
        <p:sp>
          <p:nvSpPr>
            <p:cNvPr id="11" name="正方形/長方形 10">
              <a:extLst>
                <a:ext uri="{FF2B5EF4-FFF2-40B4-BE49-F238E27FC236}">
                  <a16:creationId xmlns:a16="http://schemas.microsoft.com/office/drawing/2014/main" id="{56234EE5-25D5-411F-6C5C-A970BD15A276}"/>
                </a:ext>
              </a:extLst>
            </p:cNvPr>
            <p:cNvSpPr/>
            <p:nvPr/>
          </p:nvSpPr>
          <p:spPr bwMode="gray">
            <a:xfrm>
              <a:off x="1387240" y="2676572"/>
              <a:ext cx="1944000" cy="1279792"/>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400" b="0" i="0" u="none" strike="noStrike" kern="1200" cap="none" spc="0" normalizeH="0" baseline="0" noProof="0" dirty="0">
                  <a:ln>
                    <a:noFill/>
                  </a:ln>
                  <a:solidFill>
                    <a:prstClr val="black"/>
                  </a:solidFill>
                  <a:effectLst/>
                  <a:uLnTx/>
                  <a:uFillTx/>
                  <a:latin typeface="+mn-lt"/>
                  <a:ea typeface="+mn-ea"/>
                  <a:cs typeface="+mn-cs"/>
                </a:rPr>
                <a:t>Trusted Web</a:t>
              </a: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推進協議会</a:t>
              </a:r>
              <a:endParaRPr kumimoji="1" lang="en-US" altLang="ja-JP" sz="1400" b="0" i="0" u="none" strike="noStrike" kern="1200" cap="none" spc="0" normalizeH="0" baseline="0" noProof="0" dirty="0">
                <a:ln>
                  <a:noFill/>
                </a:ln>
                <a:solidFill>
                  <a:prstClr val="black"/>
                </a:solidFill>
                <a:effectLst/>
                <a:uLnTx/>
                <a:uFillTx/>
                <a:latin typeface="+mn-lt"/>
                <a:ea typeface="+mn-ea"/>
                <a:cs typeface="+mn-cs"/>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lang="en-US" altLang="ja-JP" sz="1400" dirty="0">
                <a:solidFill>
                  <a:prstClr val="black"/>
                </a:solidFill>
                <a:latin typeface="+mn-lt"/>
                <a:ea typeface="+mn-ea"/>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12" name="正方形/長方形 11">
              <a:extLst>
                <a:ext uri="{FF2B5EF4-FFF2-40B4-BE49-F238E27FC236}">
                  <a16:creationId xmlns:a16="http://schemas.microsoft.com/office/drawing/2014/main" id="{02C3EE5B-17A0-F238-5820-67BFED32F8EF}"/>
                </a:ext>
              </a:extLst>
            </p:cNvPr>
            <p:cNvSpPr/>
            <p:nvPr/>
          </p:nvSpPr>
          <p:spPr bwMode="gray">
            <a:xfrm>
              <a:off x="4348483" y="2676572"/>
              <a:ext cx="1944000" cy="1279792"/>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en-US" altLang="ja-JP" sz="1400" dirty="0">
                  <a:latin typeface="+mn-ea"/>
                  <a:ea typeface="+mn-ea"/>
                </a:rPr>
                <a:t>Trusted Web </a:t>
              </a:r>
              <a:r>
                <a:rPr lang="ja-JP" altLang="en-US" sz="1400" dirty="0">
                  <a:latin typeface="+mn-ea"/>
                  <a:ea typeface="+mn-ea"/>
                </a:rPr>
                <a:t>ユースケース</a:t>
              </a:r>
              <a:endParaRPr lang="en-US" altLang="ja-JP" sz="1400" dirty="0">
                <a:latin typeface="+mn-ea"/>
                <a:ea typeface="+mn-ea"/>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latin typeface="+mn-ea"/>
                  <a:ea typeface="+mn-ea"/>
                </a:rPr>
                <a:t>開発実証に係る調査研究</a:t>
              </a:r>
              <a:endParaRPr lang="en-US" altLang="ja-JP" sz="1400" dirty="0">
                <a:latin typeface="+mn-ea"/>
                <a:ea typeface="+mn-ea"/>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en-US" altLang="ja-JP" sz="1400" b="1" i="0" u="sng" strike="noStrike" kern="1200" cap="none" spc="0" normalizeH="0" baseline="0" noProof="0" dirty="0">
                <a:ln>
                  <a:noFill/>
                </a:ln>
                <a:solidFill>
                  <a:prstClr val="black"/>
                </a:solidFill>
                <a:effectLst/>
                <a:uLnTx/>
                <a:uFillTx/>
                <a:latin typeface="+mn-ea"/>
                <a:ea typeface="+mn-ea"/>
                <a:cs typeface="+mn-cs"/>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400" b="1" i="0" u="sng" strike="noStrike" kern="1200" cap="none" spc="0" normalizeH="0" baseline="0" noProof="0" dirty="0">
                <a:ln>
                  <a:noFill/>
                </a:ln>
                <a:solidFill>
                  <a:prstClr val="black"/>
                </a:solidFill>
                <a:effectLst/>
                <a:uLnTx/>
                <a:uFillTx/>
                <a:latin typeface="+mn-lt"/>
                <a:ea typeface="+mn-ea"/>
                <a:cs typeface="+mn-cs"/>
              </a:endParaRPr>
            </a:p>
          </p:txBody>
        </p:sp>
        <p:sp>
          <p:nvSpPr>
            <p:cNvPr id="13" name="正方形/長方形 12">
              <a:extLst>
                <a:ext uri="{FF2B5EF4-FFF2-40B4-BE49-F238E27FC236}">
                  <a16:creationId xmlns:a16="http://schemas.microsoft.com/office/drawing/2014/main" id="{4467E9E1-4522-2446-09EE-381B3C49B372}"/>
                </a:ext>
              </a:extLst>
            </p:cNvPr>
            <p:cNvSpPr/>
            <p:nvPr/>
          </p:nvSpPr>
          <p:spPr bwMode="gray">
            <a:xfrm>
              <a:off x="1387240" y="2253559"/>
              <a:ext cx="2206222" cy="369168"/>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strike="noStrike" kern="1200" cap="none" spc="0" normalizeH="0" baseline="0" noProof="0" dirty="0">
                  <a:ln>
                    <a:noFill/>
                  </a:ln>
                  <a:solidFill>
                    <a:prstClr val="black"/>
                  </a:solidFill>
                  <a:effectLst/>
                  <a:uLnTx/>
                  <a:uFillTx/>
                  <a:latin typeface="+mn-lt"/>
                  <a:ea typeface="+mn-ea"/>
                  <a:cs typeface="+mn-cs"/>
                </a:rPr>
                <a:t>概念整理・方針策定</a:t>
              </a:r>
            </a:p>
          </p:txBody>
        </p:sp>
        <p:sp>
          <p:nvSpPr>
            <p:cNvPr id="14" name="正方形/長方形 13">
              <a:extLst>
                <a:ext uri="{FF2B5EF4-FFF2-40B4-BE49-F238E27FC236}">
                  <a16:creationId xmlns:a16="http://schemas.microsoft.com/office/drawing/2014/main" id="{3C979310-73CD-66BC-DFFA-62651664271F}"/>
                </a:ext>
              </a:extLst>
            </p:cNvPr>
            <p:cNvSpPr/>
            <p:nvPr/>
          </p:nvSpPr>
          <p:spPr bwMode="gray">
            <a:xfrm>
              <a:off x="4348483" y="2253559"/>
              <a:ext cx="2077480" cy="369168"/>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400" b="0" i="0" strike="noStrike" kern="1200" cap="none" spc="0" normalizeH="0" baseline="0" noProof="0">
                  <a:ln>
                    <a:noFill/>
                  </a:ln>
                  <a:solidFill>
                    <a:prstClr val="black"/>
                  </a:solidFill>
                  <a:effectLst/>
                  <a:uLnTx/>
                  <a:uFillTx/>
                  <a:latin typeface="+mn-lt"/>
                  <a:ea typeface="+mn-ea"/>
                  <a:cs typeface="+mn-cs"/>
                </a:rPr>
                <a:t>PoC</a:t>
              </a:r>
              <a:r>
                <a:rPr kumimoji="1" lang="ja-JP" altLang="en-US" sz="1400" b="0" i="0" strike="noStrike" kern="1200" cap="none" spc="0" normalizeH="0" baseline="0" noProof="0">
                  <a:ln>
                    <a:noFill/>
                  </a:ln>
                  <a:solidFill>
                    <a:prstClr val="black"/>
                  </a:solidFill>
                  <a:effectLst/>
                  <a:uLnTx/>
                  <a:uFillTx/>
                  <a:latin typeface="+mn-lt"/>
                  <a:ea typeface="+mn-ea"/>
                  <a:cs typeface="+mn-cs"/>
                </a:rPr>
                <a:t>による課題検証</a:t>
              </a:r>
            </a:p>
          </p:txBody>
        </p:sp>
        <p:sp>
          <p:nvSpPr>
            <p:cNvPr id="15" name="正方形/長方形 14">
              <a:extLst>
                <a:ext uri="{FF2B5EF4-FFF2-40B4-BE49-F238E27FC236}">
                  <a16:creationId xmlns:a16="http://schemas.microsoft.com/office/drawing/2014/main" id="{9451B391-88C8-D416-FB17-39879B252E72}"/>
                </a:ext>
              </a:extLst>
            </p:cNvPr>
            <p:cNvSpPr/>
            <p:nvPr/>
          </p:nvSpPr>
          <p:spPr bwMode="gray">
            <a:xfrm>
              <a:off x="7343941" y="2676572"/>
              <a:ext cx="1944000" cy="1279792"/>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官民コンソーシアム</a:t>
              </a:r>
              <a:endParaRPr kumimoji="1" lang="en-US" altLang="ja-JP" sz="1400" b="0" i="0" u="none" strike="noStrike" kern="1200" cap="none" spc="0" normalizeH="0" baseline="0" noProof="0" dirty="0">
                <a:ln>
                  <a:noFill/>
                </a:ln>
                <a:solidFill>
                  <a:prstClr val="black"/>
                </a:solidFill>
                <a:effectLst/>
                <a:uLnTx/>
                <a:uFillTx/>
                <a:latin typeface="+mn-lt"/>
                <a:ea typeface="+mn-ea"/>
                <a:cs typeface="+mn-cs"/>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検討・組成</a:t>
              </a:r>
              <a:endParaRPr kumimoji="1" lang="en-US" altLang="ja-JP" sz="1400" b="0" i="0" u="none" strike="noStrike" kern="1200" cap="none" spc="0" normalizeH="0" baseline="0" noProof="0" dirty="0">
                <a:ln>
                  <a:noFill/>
                </a:ln>
                <a:solidFill>
                  <a:prstClr val="black"/>
                </a:solidFill>
                <a:effectLst/>
                <a:uLnTx/>
                <a:uFillTx/>
                <a:latin typeface="+mn-lt"/>
                <a:ea typeface="+mn-ea"/>
                <a:cs typeface="+mn-cs"/>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lang="en-US" altLang="ja-JP" sz="1400" dirty="0">
                <a:solidFill>
                  <a:prstClr val="black"/>
                </a:solidFill>
                <a:latin typeface="+mn-lt"/>
                <a:ea typeface="+mn-ea"/>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400" b="0" i="0" u="sng" strike="noStrike" kern="1200" cap="none" spc="0" normalizeH="0" baseline="0" noProof="0" dirty="0">
                <a:ln>
                  <a:noFill/>
                </a:ln>
                <a:solidFill>
                  <a:prstClr val="black"/>
                </a:solidFill>
                <a:effectLst/>
                <a:uLnTx/>
                <a:uFillTx/>
                <a:latin typeface="+mn-lt"/>
                <a:ea typeface="+mn-ea"/>
                <a:cs typeface="+mn-cs"/>
              </a:endParaRPr>
            </a:p>
          </p:txBody>
        </p:sp>
        <p:sp>
          <p:nvSpPr>
            <p:cNvPr id="17" name="正方形/長方形 16">
              <a:extLst>
                <a:ext uri="{FF2B5EF4-FFF2-40B4-BE49-F238E27FC236}">
                  <a16:creationId xmlns:a16="http://schemas.microsoft.com/office/drawing/2014/main" id="{8ED8ABB3-BC88-470F-B68E-B7CB3BD45AB2}"/>
                </a:ext>
              </a:extLst>
            </p:cNvPr>
            <p:cNvSpPr/>
            <p:nvPr/>
          </p:nvSpPr>
          <p:spPr bwMode="gray">
            <a:xfrm>
              <a:off x="7180985" y="2253559"/>
              <a:ext cx="2077480" cy="369168"/>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solidFill>
                    <a:prstClr val="black"/>
                  </a:solidFill>
                  <a:latin typeface="+mn-lt"/>
                  <a:ea typeface="+mn-ea"/>
                </a:rPr>
                <a:t>社会実装に向けた活動</a:t>
              </a:r>
              <a:endParaRPr kumimoji="1" lang="ja-JP" altLang="en-US" sz="1400" b="0" i="0" strike="noStrike" kern="1200" cap="none" spc="0" normalizeH="0" baseline="0" noProof="0" dirty="0">
                <a:ln>
                  <a:noFill/>
                </a:ln>
                <a:solidFill>
                  <a:prstClr val="black"/>
                </a:solidFill>
                <a:effectLst/>
                <a:uLnTx/>
                <a:uFillTx/>
                <a:latin typeface="+mn-lt"/>
                <a:ea typeface="+mn-ea"/>
                <a:cs typeface="+mn-cs"/>
              </a:endParaRPr>
            </a:p>
          </p:txBody>
        </p:sp>
        <p:sp>
          <p:nvSpPr>
            <p:cNvPr id="20" name="矢印: 左右 19">
              <a:extLst>
                <a:ext uri="{FF2B5EF4-FFF2-40B4-BE49-F238E27FC236}">
                  <a16:creationId xmlns:a16="http://schemas.microsoft.com/office/drawing/2014/main" id="{9019E00D-6EB7-71F5-F2CC-2B3696819864}"/>
                </a:ext>
              </a:extLst>
            </p:cNvPr>
            <p:cNvSpPr/>
            <p:nvPr/>
          </p:nvSpPr>
          <p:spPr>
            <a:xfrm>
              <a:off x="3541046" y="2875083"/>
              <a:ext cx="527204" cy="388084"/>
            </a:xfrm>
            <a:prstGeom prst="leftRightArrow">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a:p>
          </p:txBody>
        </p:sp>
        <p:sp>
          <p:nvSpPr>
            <p:cNvPr id="21" name="矢印: 左右 20">
              <a:extLst>
                <a:ext uri="{FF2B5EF4-FFF2-40B4-BE49-F238E27FC236}">
                  <a16:creationId xmlns:a16="http://schemas.microsoft.com/office/drawing/2014/main" id="{7D26C789-32BE-993B-8EB5-E42A06390758}"/>
                </a:ext>
              </a:extLst>
            </p:cNvPr>
            <p:cNvSpPr/>
            <p:nvPr/>
          </p:nvSpPr>
          <p:spPr>
            <a:xfrm rot="10800000">
              <a:off x="6576084" y="2874692"/>
              <a:ext cx="527204" cy="388084"/>
            </a:xfrm>
            <a:prstGeom prst="leftRightArrow">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a:p>
          </p:txBody>
        </p:sp>
        <p:sp>
          <p:nvSpPr>
            <p:cNvPr id="23" name="正方形/長方形 22">
              <a:extLst>
                <a:ext uri="{FF2B5EF4-FFF2-40B4-BE49-F238E27FC236}">
                  <a16:creationId xmlns:a16="http://schemas.microsoft.com/office/drawing/2014/main" id="{E8D30CE7-88D9-DF2E-9C5F-BD4B89B27AD7}"/>
                </a:ext>
              </a:extLst>
            </p:cNvPr>
            <p:cNvSpPr/>
            <p:nvPr/>
          </p:nvSpPr>
          <p:spPr bwMode="gray">
            <a:xfrm>
              <a:off x="3284298" y="3396865"/>
              <a:ext cx="1076913" cy="36711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成果を議論</a:t>
              </a:r>
            </a:p>
          </p:txBody>
        </p:sp>
        <p:sp>
          <p:nvSpPr>
            <p:cNvPr id="24" name="正方形/長方形 23">
              <a:extLst>
                <a:ext uri="{FF2B5EF4-FFF2-40B4-BE49-F238E27FC236}">
                  <a16:creationId xmlns:a16="http://schemas.microsoft.com/office/drawing/2014/main" id="{DB98094E-EC0C-4956-9847-C933D84A9BE0}"/>
                </a:ext>
              </a:extLst>
            </p:cNvPr>
            <p:cNvSpPr/>
            <p:nvPr/>
          </p:nvSpPr>
          <p:spPr bwMode="gray">
            <a:xfrm>
              <a:off x="6278738" y="3396865"/>
              <a:ext cx="1076913" cy="36711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成果を議論</a:t>
              </a:r>
            </a:p>
          </p:txBody>
        </p:sp>
        <p:sp>
          <p:nvSpPr>
            <p:cNvPr id="25" name="四角形: 角を丸くする 24">
              <a:extLst>
                <a:ext uri="{FF2B5EF4-FFF2-40B4-BE49-F238E27FC236}">
                  <a16:creationId xmlns:a16="http://schemas.microsoft.com/office/drawing/2014/main" id="{49E64F01-1072-3CC0-FC94-920FAF5AF237}"/>
                </a:ext>
              </a:extLst>
            </p:cNvPr>
            <p:cNvSpPr/>
            <p:nvPr/>
          </p:nvSpPr>
          <p:spPr>
            <a:xfrm>
              <a:off x="4549739" y="3544208"/>
              <a:ext cx="1525708"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solidFill>
                    <a:schemeClr val="bg1"/>
                  </a:solidFill>
                </a:rPr>
                <a:t>ユースケース実証事業</a:t>
              </a:r>
              <a:endParaRPr kumimoji="1" lang="en-US" altLang="ja-JP" sz="1200" dirty="0">
                <a:solidFill>
                  <a:schemeClr val="bg1"/>
                </a:solidFill>
              </a:endParaRPr>
            </a:p>
            <a:p>
              <a:pPr algn="ctr"/>
              <a:r>
                <a:rPr kumimoji="1" lang="ja-JP" altLang="en-US" sz="1200" dirty="0">
                  <a:solidFill>
                    <a:schemeClr val="bg1"/>
                  </a:solidFill>
                </a:rPr>
                <a:t>分析</a:t>
              </a:r>
            </a:p>
          </p:txBody>
        </p:sp>
        <p:sp>
          <p:nvSpPr>
            <p:cNvPr id="39" name="四角形: 角を丸くする 38">
              <a:extLst>
                <a:ext uri="{FF2B5EF4-FFF2-40B4-BE49-F238E27FC236}">
                  <a16:creationId xmlns:a16="http://schemas.microsoft.com/office/drawing/2014/main" id="{C5E7824D-1602-BC8B-0F53-81C56F55AEF3}"/>
                </a:ext>
              </a:extLst>
            </p:cNvPr>
            <p:cNvSpPr/>
            <p:nvPr/>
          </p:nvSpPr>
          <p:spPr>
            <a:xfrm>
              <a:off x="1596386" y="3121346"/>
              <a:ext cx="1525708" cy="367110"/>
            </a:xfrm>
            <a:prstGeom prst="roundRect">
              <a:avLst/>
            </a:prstGeom>
            <a:solidFill>
              <a:schemeClr val="tx2"/>
            </a:solidFill>
            <a:ln w="1270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ホワイトペーパー</a:t>
              </a:r>
              <a:endParaRPr lang="en-US" altLang="ja-JP" sz="1200" dirty="0">
                <a:solidFill>
                  <a:schemeClr val="bg1"/>
                </a:solidFill>
              </a:endParaRPr>
            </a:p>
          </p:txBody>
        </p:sp>
        <p:sp>
          <p:nvSpPr>
            <p:cNvPr id="40" name="四角形: 角を丸くする 39">
              <a:extLst>
                <a:ext uri="{FF2B5EF4-FFF2-40B4-BE49-F238E27FC236}">
                  <a16:creationId xmlns:a16="http://schemas.microsoft.com/office/drawing/2014/main" id="{02B2C133-6974-985B-BABD-446CE68534E5}"/>
                </a:ext>
              </a:extLst>
            </p:cNvPr>
            <p:cNvSpPr/>
            <p:nvPr/>
          </p:nvSpPr>
          <p:spPr>
            <a:xfrm>
              <a:off x="4549739" y="3121346"/>
              <a:ext cx="1525708"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採択ユースケース</a:t>
              </a:r>
              <a:r>
                <a:rPr kumimoji="1" lang="ja-JP" altLang="en-US" sz="1200" dirty="0">
                  <a:solidFill>
                    <a:schemeClr val="bg1"/>
                  </a:solidFill>
                </a:rPr>
                <a:t>事業</a:t>
              </a:r>
              <a:endParaRPr kumimoji="1" lang="en-US" altLang="ja-JP" sz="1200" dirty="0">
                <a:solidFill>
                  <a:schemeClr val="bg1"/>
                </a:solidFill>
              </a:endParaRPr>
            </a:p>
            <a:p>
              <a:pPr algn="ctr"/>
              <a:r>
                <a:rPr kumimoji="1" lang="ja-JP" altLang="en-US" sz="1200" dirty="0">
                  <a:solidFill>
                    <a:schemeClr val="bg1"/>
                  </a:solidFill>
                </a:rPr>
                <a:t>実証結果</a:t>
              </a:r>
            </a:p>
          </p:txBody>
        </p:sp>
        <p:sp>
          <p:nvSpPr>
            <p:cNvPr id="44" name="四角形: 角を丸くする 43">
              <a:extLst>
                <a:ext uri="{FF2B5EF4-FFF2-40B4-BE49-F238E27FC236}">
                  <a16:creationId xmlns:a16="http://schemas.microsoft.com/office/drawing/2014/main" id="{1E437857-CE07-23D8-C81D-65D29C0FF25A}"/>
                </a:ext>
              </a:extLst>
            </p:cNvPr>
            <p:cNvSpPr/>
            <p:nvPr/>
          </p:nvSpPr>
          <p:spPr>
            <a:xfrm>
              <a:off x="1596386" y="3544813"/>
              <a:ext cx="1525708" cy="367110"/>
            </a:xfrm>
            <a:prstGeom prst="roundRect">
              <a:avLst/>
            </a:prstGeom>
            <a:solidFill>
              <a:schemeClr val="tx2"/>
            </a:solidFill>
            <a:ln w="1270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実装ガイドライン　等</a:t>
              </a:r>
              <a:endParaRPr lang="en-US" altLang="ja-JP" sz="1200" dirty="0">
                <a:solidFill>
                  <a:schemeClr val="bg1"/>
                </a:solidFill>
              </a:endParaRPr>
            </a:p>
          </p:txBody>
        </p:sp>
      </p:grpSp>
      <p:sp>
        <p:nvSpPr>
          <p:cNvPr id="45" name="四角形: 角を丸くする 44">
            <a:extLst>
              <a:ext uri="{FF2B5EF4-FFF2-40B4-BE49-F238E27FC236}">
                <a16:creationId xmlns:a16="http://schemas.microsoft.com/office/drawing/2014/main" id="{B643D683-8636-997A-4ECF-B9B309525B46}"/>
              </a:ext>
            </a:extLst>
          </p:cNvPr>
          <p:cNvSpPr/>
          <p:nvPr/>
        </p:nvSpPr>
        <p:spPr>
          <a:xfrm>
            <a:off x="4197201" y="5870324"/>
            <a:ext cx="1591590"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solidFill>
                  <a:schemeClr val="bg1"/>
                </a:solidFill>
              </a:rPr>
              <a:t>ウォレット事例調査</a:t>
            </a:r>
            <a:endParaRPr kumimoji="1" lang="en-US" altLang="ja-JP" sz="1200" dirty="0">
              <a:solidFill>
                <a:schemeClr val="bg1"/>
              </a:solidFill>
            </a:endParaRPr>
          </a:p>
        </p:txBody>
      </p:sp>
      <p:sp>
        <p:nvSpPr>
          <p:cNvPr id="46" name="四角形: 角を丸くする 45">
            <a:extLst>
              <a:ext uri="{FF2B5EF4-FFF2-40B4-BE49-F238E27FC236}">
                <a16:creationId xmlns:a16="http://schemas.microsoft.com/office/drawing/2014/main" id="{2B37C007-4C74-82E8-A72A-2B04C9F6346C}"/>
              </a:ext>
            </a:extLst>
          </p:cNvPr>
          <p:cNvSpPr/>
          <p:nvPr/>
        </p:nvSpPr>
        <p:spPr>
          <a:xfrm>
            <a:off x="2036088" y="5870324"/>
            <a:ext cx="1591590"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solidFill>
                  <a:schemeClr val="bg1"/>
                </a:solidFill>
              </a:rPr>
              <a:t>規格・実装動向調査</a:t>
            </a:r>
            <a:endParaRPr kumimoji="1" lang="en-US" altLang="ja-JP" sz="1200" dirty="0">
              <a:solidFill>
                <a:schemeClr val="bg1"/>
              </a:solidFill>
            </a:endParaRPr>
          </a:p>
        </p:txBody>
      </p:sp>
      <p:sp>
        <p:nvSpPr>
          <p:cNvPr id="48" name="四角形: 角を丸くする 47">
            <a:extLst>
              <a:ext uri="{FF2B5EF4-FFF2-40B4-BE49-F238E27FC236}">
                <a16:creationId xmlns:a16="http://schemas.microsoft.com/office/drawing/2014/main" id="{F2BB35FC-CFC0-3866-E323-4543F8718E7E}"/>
              </a:ext>
            </a:extLst>
          </p:cNvPr>
          <p:cNvSpPr/>
          <p:nvPr/>
        </p:nvSpPr>
        <p:spPr>
          <a:xfrm>
            <a:off x="6326909" y="5870324"/>
            <a:ext cx="1591590"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その他</a:t>
            </a:r>
            <a:endParaRPr kumimoji="1" lang="en-US" altLang="ja-JP" sz="1200" dirty="0">
              <a:solidFill>
                <a:schemeClr val="bg1"/>
              </a:solidFill>
            </a:endParaRPr>
          </a:p>
        </p:txBody>
      </p:sp>
      <p:sp>
        <p:nvSpPr>
          <p:cNvPr id="49" name="矢印: 左右 48">
            <a:extLst>
              <a:ext uri="{FF2B5EF4-FFF2-40B4-BE49-F238E27FC236}">
                <a16:creationId xmlns:a16="http://schemas.microsoft.com/office/drawing/2014/main" id="{87E91E18-F28F-42A5-F7A4-2BCE1514F547}"/>
              </a:ext>
            </a:extLst>
          </p:cNvPr>
          <p:cNvSpPr/>
          <p:nvPr/>
        </p:nvSpPr>
        <p:spPr>
          <a:xfrm rot="5400000">
            <a:off x="7921110" y="5074345"/>
            <a:ext cx="643447" cy="407004"/>
          </a:xfrm>
          <a:prstGeom prst="leftRightArrow">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a:p>
        </p:txBody>
      </p:sp>
      <p:sp>
        <p:nvSpPr>
          <p:cNvPr id="50" name="正方形/長方形 49">
            <a:extLst>
              <a:ext uri="{FF2B5EF4-FFF2-40B4-BE49-F238E27FC236}">
                <a16:creationId xmlns:a16="http://schemas.microsoft.com/office/drawing/2014/main" id="{AC711CF1-426C-6507-2C64-F69F5C2665E1}"/>
              </a:ext>
            </a:extLst>
          </p:cNvPr>
          <p:cNvSpPr/>
          <p:nvPr/>
        </p:nvSpPr>
        <p:spPr bwMode="gray">
          <a:xfrm>
            <a:off x="7156400" y="5013587"/>
            <a:ext cx="2136406" cy="541164"/>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solidFill>
                  <a:prstClr val="black"/>
                </a:solidFill>
                <a:latin typeface="+mn-lt"/>
                <a:ea typeface="+mn-ea"/>
              </a:rPr>
              <a:t>調査結果の反映</a:t>
            </a:r>
            <a:endParaRPr kumimoji="1" lang="ja-JP"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52" name="矢印: 左右 51">
            <a:extLst>
              <a:ext uri="{FF2B5EF4-FFF2-40B4-BE49-F238E27FC236}">
                <a16:creationId xmlns:a16="http://schemas.microsoft.com/office/drawing/2014/main" id="{41F52B4A-D8E3-CE79-67F3-B4197EA27276}"/>
              </a:ext>
            </a:extLst>
          </p:cNvPr>
          <p:cNvSpPr/>
          <p:nvPr/>
        </p:nvSpPr>
        <p:spPr>
          <a:xfrm rot="5400000">
            <a:off x="4631276" y="5074347"/>
            <a:ext cx="643447" cy="407004"/>
          </a:xfrm>
          <a:prstGeom prst="leftRightArrow">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53" name="正方形/長方形 52">
            <a:extLst>
              <a:ext uri="{FF2B5EF4-FFF2-40B4-BE49-F238E27FC236}">
                <a16:creationId xmlns:a16="http://schemas.microsoft.com/office/drawing/2014/main" id="{09453C83-24C4-29CF-47CA-ECA7B2C68B4A}"/>
              </a:ext>
            </a:extLst>
          </p:cNvPr>
          <p:cNvSpPr/>
          <p:nvPr/>
        </p:nvSpPr>
        <p:spPr bwMode="gray">
          <a:xfrm>
            <a:off x="1435351" y="5178652"/>
            <a:ext cx="2136406" cy="541164"/>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solidFill>
                  <a:prstClr val="black"/>
                </a:solidFill>
                <a:latin typeface="+mn-lt"/>
                <a:ea typeface="+mn-ea"/>
              </a:rPr>
              <a:t>論点調査・普及に向けた活動</a:t>
            </a:r>
            <a:endParaRPr kumimoji="1" lang="ja-JP"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55" name="四角形: 角を丸くする 54">
            <a:extLst>
              <a:ext uri="{FF2B5EF4-FFF2-40B4-BE49-F238E27FC236}">
                <a16:creationId xmlns:a16="http://schemas.microsoft.com/office/drawing/2014/main" id="{0B0A4811-8BD3-BD89-7E9F-BCFE4AE55C84}"/>
              </a:ext>
            </a:extLst>
          </p:cNvPr>
          <p:cNvSpPr/>
          <p:nvPr/>
        </p:nvSpPr>
        <p:spPr>
          <a:xfrm>
            <a:off x="7389156" y="4155808"/>
            <a:ext cx="1670400"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solidFill>
                  <a:schemeClr val="bg1"/>
                </a:solidFill>
              </a:rPr>
              <a:t>フレームワーク・コンソーシアム</a:t>
            </a:r>
            <a:endParaRPr kumimoji="1" lang="en-US" altLang="ja-JP" sz="1200" dirty="0">
              <a:solidFill>
                <a:schemeClr val="bg1"/>
              </a:solidFill>
            </a:endParaRPr>
          </a:p>
          <a:p>
            <a:pPr algn="ctr"/>
            <a:r>
              <a:rPr kumimoji="1" lang="ja-JP" altLang="en-US" sz="1200" dirty="0">
                <a:solidFill>
                  <a:schemeClr val="bg1"/>
                </a:solidFill>
              </a:rPr>
              <a:t>事例</a:t>
            </a:r>
            <a:r>
              <a:rPr lang="ja-JP" altLang="en-US" sz="1200" dirty="0">
                <a:solidFill>
                  <a:schemeClr val="bg1"/>
                </a:solidFill>
              </a:rPr>
              <a:t>調査</a:t>
            </a:r>
            <a:endParaRPr kumimoji="1" lang="en-US" altLang="ja-JP" sz="1200" dirty="0">
              <a:solidFill>
                <a:schemeClr val="bg1"/>
              </a:solidFill>
            </a:endParaRPr>
          </a:p>
        </p:txBody>
      </p:sp>
      <p:sp>
        <p:nvSpPr>
          <p:cNvPr id="56" name="正方形/長方形 55">
            <a:extLst>
              <a:ext uri="{FF2B5EF4-FFF2-40B4-BE49-F238E27FC236}">
                <a16:creationId xmlns:a16="http://schemas.microsoft.com/office/drawing/2014/main" id="{59CA185F-ADBA-A889-01D3-9D18AC7B4A7E}"/>
              </a:ext>
            </a:extLst>
          </p:cNvPr>
          <p:cNvSpPr/>
          <p:nvPr/>
        </p:nvSpPr>
        <p:spPr bwMode="gray">
          <a:xfrm>
            <a:off x="3859626" y="5013587"/>
            <a:ext cx="2136406" cy="541164"/>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solidFill>
                  <a:prstClr val="black"/>
                </a:solidFill>
                <a:latin typeface="+mn-lt"/>
                <a:ea typeface="+mn-ea"/>
              </a:rPr>
              <a:t>調査結果の反映</a:t>
            </a:r>
            <a:endParaRPr kumimoji="1" lang="ja-JP" altLang="en-US" sz="1400" b="0" i="0" u="none" strike="noStrike" kern="1200" cap="none" spc="0" normalizeH="0" baseline="0" noProof="0" dirty="0">
              <a:ln>
                <a:noFill/>
              </a:ln>
              <a:solidFill>
                <a:prstClr val="black"/>
              </a:solidFill>
              <a:effectLst/>
              <a:uLnTx/>
              <a:uFillTx/>
              <a:latin typeface="+mn-lt"/>
              <a:ea typeface="+mn-ea"/>
              <a:cs typeface="+mn-cs"/>
            </a:endParaRPr>
          </a:p>
        </p:txBody>
      </p:sp>
      <p:grpSp>
        <p:nvGrpSpPr>
          <p:cNvPr id="57" name="グループ化 56">
            <a:extLst>
              <a:ext uri="{FF2B5EF4-FFF2-40B4-BE49-F238E27FC236}">
                <a16:creationId xmlns:a16="http://schemas.microsoft.com/office/drawing/2014/main" id="{DB07B8F1-4EC1-F9CD-7EFD-C68F8AC05ACA}"/>
              </a:ext>
            </a:extLst>
          </p:cNvPr>
          <p:cNvGrpSpPr/>
          <p:nvPr/>
        </p:nvGrpSpPr>
        <p:grpSpPr>
          <a:xfrm>
            <a:off x="2073275" y="2943854"/>
            <a:ext cx="7358343" cy="242066"/>
            <a:chOff x="1962440" y="1920959"/>
            <a:chExt cx="7358343" cy="242066"/>
          </a:xfrm>
        </p:grpSpPr>
        <p:sp>
          <p:nvSpPr>
            <p:cNvPr id="59" name="正方形/長方形 58">
              <a:extLst>
                <a:ext uri="{FF2B5EF4-FFF2-40B4-BE49-F238E27FC236}">
                  <a16:creationId xmlns:a16="http://schemas.microsoft.com/office/drawing/2014/main" id="{C1022F4C-1C26-87B2-26F8-D330DD558E3D}"/>
                </a:ext>
              </a:extLst>
            </p:cNvPr>
            <p:cNvSpPr/>
            <p:nvPr/>
          </p:nvSpPr>
          <p:spPr>
            <a:xfrm>
              <a:off x="1962440" y="1925631"/>
              <a:ext cx="767580" cy="192822"/>
            </a:xfrm>
            <a:prstGeom prst="rect">
              <a:avLst/>
            </a:prstGeom>
            <a:solidFill>
              <a:schemeClr val="accent1">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sz="1400"/>
            </a:p>
          </p:txBody>
        </p:sp>
        <p:sp>
          <p:nvSpPr>
            <p:cNvPr id="60" name="正方形/長方形 59">
              <a:extLst>
                <a:ext uri="{FF2B5EF4-FFF2-40B4-BE49-F238E27FC236}">
                  <a16:creationId xmlns:a16="http://schemas.microsoft.com/office/drawing/2014/main" id="{D8EA2270-7C9D-C145-6A8F-074E11372F4F}"/>
                </a:ext>
              </a:extLst>
            </p:cNvPr>
            <p:cNvSpPr/>
            <p:nvPr/>
          </p:nvSpPr>
          <p:spPr>
            <a:xfrm>
              <a:off x="2776200" y="1925631"/>
              <a:ext cx="1809915" cy="192822"/>
            </a:xfrm>
            <a:prstGeom prst="rect">
              <a:avLst/>
            </a:prstGeom>
            <a:no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t>：</a:t>
              </a:r>
              <a:r>
                <a:rPr kumimoji="1" lang="ja-JP" altLang="en-US" sz="1400" dirty="0"/>
                <a:t>本事業で実施する業務</a:t>
              </a:r>
            </a:p>
          </p:txBody>
        </p:sp>
        <p:sp>
          <p:nvSpPr>
            <p:cNvPr id="61" name="四角形: 角を丸くする 60">
              <a:extLst>
                <a:ext uri="{FF2B5EF4-FFF2-40B4-BE49-F238E27FC236}">
                  <a16:creationId xmlns:a16="http://schemas.microsoft.com/office/drawing/2014/main" id="{5073640D-2C97-738C-ED28-F60DAE91EDEA}"/>
                </a:ext>
              </a:extLst>
            </p:cNvPr>
            <p:cNvSpPr/>
            <p:nvPr/>
          </p:nvSpPr>
          <p:spPr>
            <a:xfrm>
              <a:off x="4735369" y="1935629"/>
              <a:ext cx="505391" cy="192822"/>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sz="1400"/>
            </a:p>
          </p:txBody>
        </p:sp>
        <p:sp>
          <p:nvSpPr>
            <p:cNvPr id="64" name="正方形/長方形 63">
              <a:extLst>
                <a:ext uri="{FF2B5EF4-FFF2-40B4-BE49-F238E27FC236}">
                  <a16:creationId xmlns:a16="http://schemas.microsoft.com/office/drawing/2014/main" id="{8D011B08-1AC1-533B-7691-C42FD44B3025}"/>
                </a:ext>
              </a:extLst>
            </p:cNvPr>
            <p:cNvSpPr/>
            <p:nvPr/>
          </p:nvSpPr>
          <p:spPr>
            <a:xfrm>
              <a:off x="5168111" y="1951470"/>
              <a:ext cx="1809915" cy="192822"/>
            </a:xfrm>
            <a:prstGeom prst="rect">
              <a:avLst/>
            </a:prstGeom>
            <a:no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dirty="0"/>
                <a:t>：本事業の成果報告書</a:t>
              </a:r>
              <a:endParaRPr lang="en-US" altLang="ja-JP" sz="1400" dirty="0"/>
            </a:p>
          </p:txBody>
        </p:sp>
        <p:sp>
          <p:nvSpPr>
            <p:cNvPr id="72" name="正方形/長方形 71">
              <a:extLst>
                <a:ext uri="{FF2B5EF4-FFF2-40B4-BE49-F238E27FC236}">
                  <a16:creationId xmlns:a16="http://schemas.microsoft.com/office/drawing/2014/main" id="{691FD3D4-33EC-DC3D-0767-11261CF87069}"/>
                </a:ext>
              </a:extLst>
            </p:cNvPr>
            <p:cNvSpPr/>
            <p:nvPr/>
          </p:nvSpPr>
          <p:spPr>
            <a:xfrm>
              <a:off x="7159708" y="1920959"/>
              <a:ext cx="698689" cy="242066"/>
            </a:xfrm>
            <a:prstGeom prst="rect">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74" name="正方形/長方形 73">
              <a:extLst>
                <a:ext uri="{FF2B5EF4-FFF2-40B4-BE49-F238E27FC236}">
                  <a16:creationId xmlns:a16="http://schemas.microsoft.com/office/drawing/2014/main" id="{BACF24D3-38DF-5AD3-66B4-8E8ED12DCB2A}"/>
                </a:ext>
              </a:extLst>
            </p:cNvPr>
            <p:cNvSpPr/>
            <p:nvPr/>
          </p:nvSpPr>
          <p:spPr>
            <a:xfrm>
              <a:off x="7807664" y="1951881"/>
              <a:ext cx="1513119" cy="192822"/>
            </a:xfrm>
            <a:prstGeom prst="rect">
              <a:avLst/>
            </a:prstGeom>
            <a:no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dirty="0"/>
                <a:t>：本報告書</a:t>
              </a:r>
              <a:endParaRPr lang="en-US" altLang="ja-JP" sz="1400" dirty="0"/>
            </a:p>
          </p:txBody>
        </p:sp>
      </p:grpSp>
      <p:sp>
        <p:nvSpPr>
          <p:cNvPr id="75" name="正方形/長方形 74">
            <a:extLst>
              <a:ext uri="{FF2B5EF4-FFF2-40B4-BE49-F238E27FC236}">
                <a16:creationId xmlns:a16="http://schemas.microsoft.com/office/drawing/2014/main" id="{23B9F3B6-6C6A-27E4-5B78-82861FD5761C}"/>
              </a:ext>
            </a:extLst>
          </p:cNvPr>
          <p:cNvSpPr/>
          <p:nvPr/>
        </p:nvSpPr>
        <p:spPr>
          <a:xfrm>
            <a:off x="1987501" y="5817411"/>
            <a:ext cx="1709578" cy="467540"/>
          </a:xfrm>
          <a:prstGeom prst="rect">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Tree>
    <p:extLst>
      <p:ext uri="{BB962C8B-B14F-4D97-AF65-F5344CB8AC3E}">
        <p14:creationId xmlns:p14="http://schemas.microsoft.com/office/powerpoint/2010/main" val="2611885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F31110-E5BC-DEB1-36D5-E76CC42FF01B}"/>
              </a:ext>
            </a:extLst>
          </p:cNvPr>
          <p:cNvSpPr>
            <a:spLocks noGrp="1"/>
          </p:cNvSpPr>
          <p:nvPr>
            <p:ph type="title"/>
          </p:nvPr>
        </p:nvSpPr>
        <p:spPr/>
        <p:txBody>
          <a:bodyPr/>
          <a:lstStyle/>
          <a:p>
            <a:r>
              <a:rPr kumimoji="1" lang="ja-JP" altLang="en-US"/>
              <a:t>目次</a:t>
            </a:r>
          </a:p>
        </p:txBody>
      </p:sp>
      <p:sp>
        <p:nvSpPr>
          <p:cNvPr id="3" name="テキスト プレースホルダー 2">
            <a:extLst>
              <a:ext uri="{FF2B5EF4-FFF2-40B4-BE49-F238E27FC236}">
                <a16:creationId xmlns:a16="http://schemas.microsoft.com/office/drawing/2014/main" id="{A9D3C5B0-F67B-B895-C323-F6A2F89F10AE}"/>
              </a:ext>
            </a:extLst>
          </p:cNvPr>
          <p:cNvSpPr>
            <a:spLocks noGrp="1"/>
          </p:cNvSpPr>
          <p:nvPr>
            <p:ph type="body" sz="quarter" idx="10"/>
          </p:nvPr>
        </p:nvSpPr>
        <p:spPr>
          <a:xfrm>
            <a:off x="273050" y="188913"/>
            <a:ext cx="7848600" cy="161583"/>
          </a:xfrm>
        </p:spPr>
        <p:txBody>
          <a:bodyPr/>
          <a:lstStyle/>
          <a:p>
            <a:r>
              <a:rPr lang="ja-JP" altLang="en-US" sz="1050" dirty="0"/>
              <a:t>規格・実装動向調査</a:t>
            </a:r>
            <a:endParaRPr kumimoji="1" lang="ja-JP" altLang="en-US"/>
          </a:p>
        </p:txBody>
      </p:sp>
      <p:graphicFrame>
        <p:nvGraphicFramePr>
          <p:cNvPr id="4" name="Google Shape;140;p76">
            <a:extLst>
              <a:ext uri="{FF2B5EF4-FFF2-40B4-BE49-F238E27FC236}">
                <a16:creationId xmlns:a16="http://schemas.microsoft.com/office/drawing/2014/main" id="{3FC2C1BA-0CEA-3209-624C-0B20F3EF87C0}"/>
              </a:ext>
            </a:extLst>
          </p:cNvPr>
          <p:cNvGraphicFramePr/>
          <p:nvPr>
            <p:extLst>
              <p:ext uri="{D42A27DB-BD31-4B8C-83A1-F6EECF244321}">
                <p14:modId xmlns:p14="http://schemas.microsoft.com/office/powerpoint/2010/main" val="1805282274"/>
              </p:ext>
            </p:extLst>
          </p:nvPr>
        </p:nvGraphicFramePr>
        <p:xfrm>
          <a:off x="499427" y="1131944"/>
          <a:ext cx="5169853" cy="4023480"/>
        </p:xfrm>
        <a:graphic>
          <a:graphicData uri="http://schemas.openxmlformats.org/drawingml/2006/table">
            <a:tbl>
              <a:tblPr firstRow="1" bandRow="1">
                <a:noFill/>
              </a:tblPr>
              <a:tblGrid>
                <a:gridCol w="4392613">
                  <a:extLst>
                    <a:ext uri="{9D8B030D-6E8A-4147-A177-3AD203B41FA5}">
                      <a16:colId xmlns:a16="http://schemas.microsoft.com/office/drawing/2014/main" val="20000"/>
                    </a:ext>
                  </a:extLst>
                </a:gridCol>
                <a:gridCol w="777240">
                  <a:extLst>
                    <a:ext uri="{9D8B030D-6E8A-4147-A177-3AD203B41FA5}">
                      <a16:colId xmlns:a16="http://schemas.microsoft.com/office/drawing/2014/main" val="634585346"/>
                    </a:ext>
                  </a:extLst>
                </a:gridCol>
              </a:tblGrid>
              <a:tr h="0">
                <a:tc>
                  <a:txBody>
                    <a:bodyPr/>
                    <a:lstStyle/>
                    <a:p>
                      <a:pPr marL="0" marR="0" lvl="0" indent="0" algn="l" rtl="0">
                        <a:lnSpc>
                          <a:spcPct val="100000"/>
                        </a:lnSpc>
                        <a:spcBef>
                          <a:spcPts val="0"/>
                        </a:spcBef>
                        <a:spcAft>
                          <a:spcPts val="0"/>
                        </a:spcAft>
                        <a:buClr>
                          <a:srgbClr val="000000"/>
                        </a:buClr>
                        <a:buSzPts val="1400"/>
                        <a:buFont typeface="Arial"/>
                        <a:buNone/>
                      </a:pPr>
                      <a:r>
                        <a:rPr lang="ja-JP" sz="1600" b="0" u="none" strike="noStrike" cap="none" dirty="0">
                          <a:solidFill>
                            <a:schemeClr val="dk1"/>
                          </a:solidFill>
                          <a:latin typeface="+mn-ea"/>
                          <a:ea typeface="+mn-ea"/>
                          <a:cs typeface="Arial"/>
                          <a:sym typeface="Arial"/>
                        </a:rPr>
                        <a:t>1.　背景・目的</a:t>
                      </a:r>
                      <a:endParaRPr sz="1600" u="none" strike="noStrike" cap="none" dirty="0">
                        <a:latin typeface="+mn-ea"/>
                        <a:ea typeface="+mn-ea"/>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en-US" altLang="ja-JP" sz="1600" b="0" i="0" u="none" strike="noStrike" kern="1200" cap="none" spc="0" normalizeH="0" baseline="0" noProof="0">
                          <a:ln>
                            <a:noFill/>
                          </a:ln>
                          <a:solidFill>
                            <a:prstClr val="black"/>
                          </a:solidFill>
                          <a:effectLst/>
                          <a:uLnTx/>
                          <a:uFillTx/>
                          <a:latin typeface="Yu Gothic UI"/>
                          <a:ea typeface="Yu Gothic UI"/>
                          <a:cs typeface="+mn-cs"/>
                        </a:rPr>
                        <a:t>P.3</a:t>
                      </a:r>
                      <a:endPar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sz="1600" b="0" u="none" strike="noStrike" cap="none" dirty="0">
                          <a:solidFill>
                            <a:schemeClr val="dk1"/>
                          </a:solidFill>
                          <a:latin typeface="+mn-ea"/>
                          <a:ea typeface="+mn-ea"/>
                          <a:cs typeface="Arial"/>
                          <a:sym typeface="Arial"/>
                        </a:rPr>
                        <a:t>2.　</a:t>
                      </a:r>
                      <a:r>
                        <a:rPr lang="ja-JP" altLang="en-US" sz="1600" b="0" u="none" strike="noStrike" cap="none" dirty="0">
                          <a:solidFill>
                            <a:schemeClr val="dk1"/>
                          </a:solidFill>
                          <a:latin typeface="+mn-ea"/>
                          <a:ea typeface="+mn-ea"/>
                          <a:cs typeface="Arial"/>
                          <a:sym typeface="Arial"/>
                        </a:rPr>
                        <a:t>調査アプローチ</a:t>
                      </a:r>
                      <a:endParaRPr sz="1600" b="0" u="none" strike="noStrike" cap="none" dirty="0">
                        <a:solidFill>
                          <a:schemeClr val="dk1"/>
                        </a:solidFill>
                        <a:latin typeface="+mn-ea"/>
                        <a:ea typeface="+mn-ea"/>
                        <a:cs typeface="Arial"/>
                        <a:sym typeface="Arial"/>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en-US" altLang="ja-JP" sz="1600" b="0" i="0" u="none" strike="noStrike" kern="1200" cap="none" spc="0" normalizeH="0" baseline="0" noProof="0">
                          <a:ln>
                            <a:noFill/>
                          </a:ln>
                          <a:solidFill>
                            <a:prstClr val="black"/>
                          </a:solidFill>
                          <a:effectLst/>
                          <a:uLnTx/>
                          <a:uFillTx/>
                          <a:latin typeface="Yu Gothic UI"/>
                          <a:ea typeface="Yu Gothic UI"/>
                          <a:cs typeface="+mn-cs"/>
                        </a:rPr>
                        <a:t>P.4</a:t>
                      </a:r>
                      <a:endPar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sz="1600" b="0" u="none" strike="noStrike" cap="none" dirty="0">
                          <a:solidFill>
                            <a:schemeClr val="dk1"/>
                          </a:solidFill>
                          <a:latin typeface="+mn-ea"/>
                          <a:ea typeface="+mn-ea"/>
                          <a:cs typeface="Arial"/>
                          <a:sym typeface="Arial"/>
                        </a:rPr>
                        <a:t>3.　</a:t>
                      </a:r>
                      <a:r>
                        <a:rPr lang="ja-JP" altLang="en-US" sz="1600" b="0" u="none" strike="noStrike" cap="none" dirty="0">
                          <a:solidFill>
                            <a:schemeClr val="dk1"/>
                          </a:solidFill>
                          <a:latin typeface="+mn-ea"/>
                          <a:ea typeface="+mn-ea"/>
                          <a:cs typeface="Arial"/>
                          <a:sym typeface="Arial"/>
                        </a:rPr>
                        <a:t>調査まとめ</a:t>
                      </a:r>
                      <a:endParaRPr sz="1600" u="none" strike="noStrike" cap="none" dirty="0">
                        <a:latin typeface="+mn-ea"/>
                        <a:ea typeface="+mn-ea"/>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en-US" altLang="ja-JP" sz="1600" b="0" i="0" u="none" strike="noStrike" kern="1200" cap="none" spc="0" normalizeH="0" baseline="0" noProof="0">
                          <a:ln>
                            <a:noFill/>
                          </a:ln>
                          <a:solidFill>
                            <a:prstClr val="black"/>
                          </a:solidFill>
                          <a:effectLst/>
                          <a:uLnTx/>
                          <a:uFillTx/>
                          <a:latin typeface="Yu Gothic UI"/>
                          <a:ea typeface="Yu Gothic UI"/>
                          <a:cs typeface="+mn-cs"/>
                        </a:rPr>
                        <a:t>P.5</a:t>
                      </a:r>
                      <a:endPar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endParaRPr>
                    </a:p>
                  </a:txBody>
                  <a:tcPr marL="91450" marR="91450" marT="45725" marB="457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600" u="none" strike="noStrike" cap="none" dirty="0">
                          <a:latin typeface="+mn-ea"/>
                          <a:ea typeface="+mn-ea"/>
                        </a:rPr>
                        <a:t>4.</a:t>
                      </a:r>
                      <a:r>
                        <a:rPr lang="ja-JP" altLang="en-US" sz="1600" u="none" strike="noStrike" cap="none" dirty="0">
                          <a:latin typeface="+mn-ea"/>
                          <a:ea typeface="+mn-ea"/>
                        </a:rPr>
                        <a:t>　</a:t>
                      </a:r>
                      <a:r>
                        <a:rPr lang="zh-TW" altLang="en-US" sz="1600" u="none" strike="noStrike" cap="none" dirty="0">
                          <a:latin typeface="+mn-ea"/>
                          <a:ea typeface="+mn-ea"/>
                        </a:rPr>
                        <a:t>規格実態調査</a:t>
                      </a:r>
                      <a:endParaRPr sz="1600" u="none" strike="noStrike" cap="none" dirty="0">
                        <a:latin typeface="+mn-ea"/>
                        <a:ea typeface="+mn-ea"/>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endParaRPr>
                    </a:p>
                  </a:txBody>
                  <a:tcPr marL="91450" marR="91450" marT="45725" marB="457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346697351"/>
                  </a:ext>
                </a:extLst>
              </a:tr>
              <a:tr h="0">
                <a:tc>
                  <a:txBody>
                    <a:bodyPr/>
                    <a:lstStyle/>
                    <a:p>
                      <a:pPr marL="0" marR="0" lvl="0" indent="0" algn="l" rtl="0">
                        <a:lnSpc>
                          <a:spcPct val="100000"/>
                        </a:lnSpc>
                        <a:spcBef>
                          <a:spcPts val="0"/>
                        </a:spcBef>
                        <a:spcAft>
                          <a:spcPts val="0"/>
                        </a:spcAft>
                        <a:buClr>
                          <a:schemeClr val="dk1"/>
                        </a:buClr>
                        <a:buSzPts val="1200"/>
                        <a:buFont typeface="Arial"/>
                        <a:buNone/>
                      </a:pPr>
                      <a:r>
                        <a:rPr lang="ja-JP" altLang="en-US" sz="1600" b="0" u="none" strike="noStrike" cap="none">
                          <a:solidFill>
                            <a:schemeClr val="dk1"/>
                          </a:solidFill>
                          <a:latin typeface="+mn-ea"/>
                          <a:ea typeface="+mn-ea"/>
                          <a:cs typeface="Arial"/>
                          <a:sym typeface="Arial"/>
                        </a:rPr>
                        <a:t>　</a:t>
                      </a:r>
                      <a:r>
                        <a:rPr lang="en-US" altLang="ja-JP" sz="1600" b="0" u="none" strike="noStrike" cap="none">
                          <a:solidFill>
                            <a:schemeClr val="dk1"/>
                          </a:solidFill>
                          <a:latin typeface="+mn-ea"/>
                          <a:ea typeface="+mn-ea"/>
                          <a:cs typeface="Arial"/>
                          <a:sym typeface="Arial"/>
                        </a:rPr>
                        <a:t>4.1.</a:t>
                      </a:r>
                      <a:r>
                        <a:rPr lang="ja-JP" altLang="en-US" sz="1600" b="0" u="none" strike="noStrike" cap="none">
                          <a:solidFill>
                            <a:schemeClr val="dk1"/>
                          </a:solidFill>
                          <a:latin typeface="+mn-ea"/>
                          <a:ea typeface="+mn-ea"/>
                          <a:cs typeface="Arial"/>
                          <a:sym typeface="Arial"/>
                        </a:rPr>
                        <a:t>　規格全体感</a:t>
                      </a:r>
                      <a:endParaRPr lang="ja-JP" altLang="en-US" sz="1600" u="none" strike="noStrike" cap="none" dirty="0">
                        <a:latin typeface="+mn-ea"/>
                        <a:ea typeface="+mn-ea"/>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en-US" altLang="ja-JP" sz="1600" b="0" i="0" u="none" strike="noStrike" kern="1200" cap="none" spc="0" normalizeH="0" baseline="0" noProof="0">
                          <a:ln>
                            <a:noFill/>
                          </a:ln>
                          <a:solidFill>
                            <a:prstClr val="black"/>
                          </a:solidFill>
                          <a:effectLst/>
                          <a:uLnTx/>
                          <a:uFillTx/>
                          <a:latin typeface="Yu Gothic UI"/>
                          <a:ea typeface="Yu Gothic UI"/>
                          <a:cs typeface="+mn-cs"/>
                        </a:rPr>
                        <a:t>P.6</a:t>
                      </a:r>
                      <a:endPar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ja-JP" altLang="en-US" sz="1600" b="0" u="none" strike="noStrike" cap="none">
                          <a:solidFill>
                            <a:schemeClr val="dk1"/>
                          </a:solidFill>
                          <a:latin typeface="+mn-ea"/>
                          <a:ea typeface="+mn-ea"/>
                          <a:cs typeface="Arial"/>
                          <a:sym typeface="Arial"/>
                        </a:rPr>
                        <a:t>　</a:t>
                      </a:r>
                      <a:r>
                        <a:rPr lang="en-US" altLang="ja-JP" sz="1600" b="0" u="none" strike="noStrike" cap="none">
                          <a:solidFill>
                            <a:schemeClr val="dk1"/>
                          </a:solidFill>
                          <a:latin typeface="+mn-ea"/>
                          <a:ea typeface="+mn-ea"/>
                          <a:cs typeface="Arial"/>
                          <a:sym typeface="Arial"/>
                        </a:rPr>
                        <a:t>4.2.</a:t>
                      </a:r>
                      <a:r>
                        <a:rPr lang="ja-JP" altLang="en-US" sz="1600" b="0" u="none" strike="noStrike" cap="none">
                          <a:solidFill>
                            <a:schemeClr val="dk1"/>
                          </a:solidFill>
                          <a:latin typeface="+mn-ea"/>
                          <a:ea typeface="+mn-ea"/>
                          <a:cs typeface="Arial"/>
                          <a:sym typeface="Arial"/>
                        </a:rPr>
                        <a:t>　各規格の概要・代表的な仕様 </a:t>
                      </a:r>
                      <a:endParaRPr lang="ja-JP" altLang="en-US" sz="1600" u="none" strike="noStrike" cap="none" dirty="0">
                        <a:latin typeface="+mn-ea"/>
                        <a:ea typeface="+mn-ea"/>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en-US" altLang="ja-JP" sz="1600" b="0" i="0" u="none" strike="noStrike" kern="1200" cap="none" spc="0" normalizeH="0" baseline="0" noProof="0">
                          <a:ln>
                            <a:noFill/>
                          </a:ln>
                          <a:solidFill>
                            <a:prstClr val="black"/>
                          </a:solidFill>
                          <a:effectLst/>
                          <a:uLnTx/>
                          <a:uFillTx/>
                          <a:latin typeface="Yu Gothic UI"/>
                          <a:ea typeface="Yu Gothic UI"/>
                          <a:cs typeface="+mn-cs"/>
                        </a:rPr>
                        <a:t>P.7</a:t>
                      </a:r>
                      <a:endPar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600" b="0" u="none" strike="noStrike" cap="none">
                          <a:solidFill>
                            <a:schemeClr val="dk1"/>
                          </a:solidFill>
                          <a:latin typeface="+mn-ea"/>
                          <a:ea typeface="+mn-ea"/>
                          <a:cs typeface="Arial"/>
                          <a:sym typeface="Arial"/>
                        </a:rPr>
                        <a:t>5.</a:t>
                      </a:r>
                      <a:r>
                        <a:rPr lang="ja-JP" altLang="en-US" sz="1600" b="0" u="none" strike="noStrike" cap="none">
                          <a:solidFill>
                            <a:schemeClr val="dk1"/>
                          </a:solidFill>
                          <a:latin typeface="+mn-ea"/>
                          <a:ea typeface="+mn-ea"/>
                          <a:cs typeface="Arial"/>
                          <a:sym typeface="Arial"/>
                        </a:rPr>
                        <a:t>　規格詳細調査</a:t>
                      </a:r>
                      <a:endParaRPr lang="ja-JP" altLang="en-US" sz="1600" b="0" u="none" strike="noStrike" cap="none" dirty="0">
                        <a:solidFill>
                          <a:schemeClr val="dk1"/>
                        </a:solidFill>
                        <a:latin typeface="+mn-ea"/>
                        <a:ea typeface="+mn-ea"/>
                        <a:cs typeface="Arial"/>
                        <a:sym typeface="Arial"/>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endParaRPr>
                    </a:p>
                  </a:txBody>
                  <a:tcPr marL="91450" marR="91450" marT="45725" marB="457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12"/>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ja-JP" altLang="en-US" sz="1600" b="0" u="none" strike="noStrike" cap="none">
                          <a:solidFill>
                            <a:schemeClr val="dk1"/>
                          </a:solidFill>
                          <a:latin typeface="+mn-ea"/>
                          <a:ea typeface="+mn-ea"/>
                          <a:cs typeface="Arial"/>
                          <a:sym typeface="Arial"/>
                        </a:rPr>
                        <a:t>　</a:t>
                      </a:r>
                      <a:r>
                        <a:rPr lang="en-US" altLang="ja-JP" sz="1600" b="0" u="none" strike="noStrike" cap="none">
                          <a:solidFill>
                            <a:schemeClr val="dk1"/>
                          </a:solidFill>
                          <a:latin typeface="+mn-ea"/>
                          <a:ea typeface="+mn-ea"/>
                          <a:cs typeface="Arial"/>
                          <a:sym typeface="Arial"/>
                        </a:rPr>
                        <a:t>5.1.</a:t>
                      </a:r>
                      <a:r>
                        <a:rPr lang="ja-JP" altLang="en-US" sz="1600" b="0" u="none" strike="noStrike" cap="none">
                          <a:solidFill>
                            <a:schemeClr val="dk1"/>
                          </a:solidFill>
                          <a:latin typeface="+mn-ea"/>
                          <a:ea typeface="+mn-ea"/>
                          <a:cs typeface="Arial"/>
                          <a:sym typeface="Arial"/>
                        </a:rPr>
                        <a:t>　調査対象</a:t>
                      </a:r>
                      <a:endParaRPr lang="ja-JP" altLang="en-US" sz="1600" u="none" strike="noStrike" cap="none" dirty="0">
                        <a:latin typeface="+mn-ea"/>
                        <a:ea typeface="+mn-ea"/>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rPr>
                        <a:t>P.16</a:t>
                      </a: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13"/>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ja-JP" sz="1600" b="0" u="none" strike="noStrike" cap="none" dirty="0">
                          <a:solidFill>
                            <a:schemeClr val="dk1"/>
                          </a:solidFill>
                          <a:latin typeface="+mn-ea"/>
                          <a:ea typeface="+mn-ea"/>
                          <a:cs typeface="Arial"/>
                          <a:sym typeface="Arial"/>
                        </a:rPr>
                        <a:t>　</a:t>
                      </a:r>
                      <a:r>
                        <a:rPr lang="en-US" altLang="ja-JP" sz="1600" b="0" u="none" strike="noStrike" cap="none" dirty="0">
                          <a:solidFill>
                            <a:schemeClr val="dk1"/>
                          </a:solidFill>
                          <a:latin typeface="+mn-ea"/>
                          <a:ea typeface="+mn-ea"/>
                          <a:cs typeface="Arial"/>
                          <a:sym typeface="Arial"/>
                        </a:rPr>
                        <a:t>5</a:t>
                      </a:r>
                      <a:r>
                        <a:rPr lang="ja-JP" sz="1600" b="0" u="none" strike="noStrike" cap="none" dirty="0">
                          <a:solidFill>
                            <a:schemeClr val="dk1"/>
                          </a:solidFill>
                          <a:latin typeface="+mn-ea"/>
                          <a:ea typeface="+mn-ea"/>
                          <a:cs typeface="Arial"/>
                          <a:sym typeface="Arial"/>
                        </a:rPr>
                        <a:t>.2.　</a:t>
                      </a:r>
                      <a:r>
                        <a:rPr lang="ja-JP" altLang="en-US" sz="1600" b="0" u="none" strike="noStrike" cap="none" dirty="0">
                          <a:solidFill>
                            <a:schemeClr val="dk1"/>
                          </a:solidFill>
                          <a:latin typeface="+mn-ea"/>
                          <a:ea typeface="+mn-ea"/>
                          <a:cs typeface="Arial"/>
                          <a:sym typeface="Arial"/>
                        </a:rPr>
                        <a:t>規格・実装方式の詳細</a:t>
                      </a:r>
                      <a:endParaRPr sz="1600" u="none" strike="noStrike" cap="none" dirty="0">
                        <a:latin typeface="+mn-ea"/>
                        <a:ea typeface="+mn-ea"/>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rPr>
                        <a:t>P.17</a:t>
                      </a: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14"/>
                  </a:ext>
                </a:extLst>
              </a:tr>
              <a:tr h="192667">
                <a:tc>
                  <a:txBody>
                    <a:bodyPr/>
                    <a:lstStyle/>
                    <a:p>
                      <a:pPr marL="0" marR="0" lvl="0" indent="0" algn="l" rtl="0">
                        <a:lnSpc>
                          <a:spcPct val="100000"/>
                        </a:lnSpc>
                        <a:spcBef>
                          <a:spcPts val="0"/>
                        </a:spcBef>
                        <a:spcAft>
                          <a:spcPts val="0"/>
                        </a:spcAft>
                        <a:buClr>
                          <a:schemeClr val="dk1"/>
                        </a:buClr>
                        <a:buSzPts val="1200"/>
                        <a:buFont typeface="Arial"/>
                        <a:buNone/>
                      </a:pPr>
                      <a:r>
                        <a:rPr lang="en-US" altLang="ja-JP" sz="1600" b="0" u="none" strike="noStrike" cap="none">
                          <a:solidFill>
                            <a:schemeClr val="dk1"/>
                          </a:solidFill>
                          <a:latin typeface="+mn-ea"/>
                          <a:ea typeface="+mn-ea"/>
                          <a:cs typeface="Arial"/>
                          <a:sym typeface="Arial"/>
                        </a:rPr>
                        <a:t>6.</a:t>
                      </a:r>
                      <a:r>
                        <a:rPr lang="ja-JP" altLang="en-US" sz="1600" b="0" u="none" strike="noStrike" cap="none">
                          <a:solidFill>
                            <a:schemeClr val="dk1"/>
                          </a:solidFill>
                          <a:latin typeface="+mn-ea"/>
                          <a:ea typeface="+mn-ea"/>
                          <a:cs typeface="Arial"/>
                          <a:sym typeface="Arial"/>
                        </a:rPr>
                        <a:t>　実装方式マッピング</a:t>
                      </a:r>
                      <a:endParaRPr lang="en-US" altLang="ja-JP" sz="1600" b="0" u="none" strike="noStrike" cap="none" dirty="0">
                        <a:solidFill>
                          <a:schemeClr val="dk1"/>
                        </a:solidFill>
                        <a:latin typeface="+mn-ea"/>
                        <a:ea typeface="+mn-ea"/>
                        <a:cs typeface="Arial"/>
                        <a:sym typeface="Arial"/>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15"/>
                  </a:ext>
                </a:extLst>
              </a:tr>
              <a:tr h="192667">
                <a:tc>
                  <a:txBody>
                    <a:bodyPr/>
                    <a:lstStyle/>
                    <a:p>
                      <a:pPr marL="0" marR="0" lvl="0" indent="0" algn="l" rtl="0">
                        <a:lnSpc>
                          <a:spcPct val="100000"/>
                        </a:lnSpc>
                        <a:spcBef>
                          <a:spcPts val="0"/>
                        </a:spcBef>
                        <a:spcAft>
                          <a:spcPts val="0"/>
                        </a:spcAft>
                        <a:buClr>
                          <a:schemeClr val="dk1"/>
                        </a:buClr>
                        <a:buSzPts val="1200"/>
                        <a:buFont typeface="Arial"/>
                        <a:buNone/>
                      </a:pPr>
                      <a:r>
                        <a:rPr lang="ja-JP" altLang="en-US" sz="1600" u="none" strike="noStrike" cap="none" dirty="0">
                          <a:latin typeface="+mn-ea"/>
                          <a:ea typeface="+mn-ea"/>
                        </a:rPr>
                        <a:t>　</a:t>
                      </a:r>
                      <a:r>
                        <a:rPr lang="en-US" altLang="ja-JP" sz="1600" b="0" u="none" strike="noStrike" cap="none" dirty="0">
                          <a:solidFill>
                            <a:schemeClr val="dk1"/>
                          </a:solidFill>
                          <a:latin typeface="+mn-ea"/>
                          <a:ea typeface="+mn-ea"/>
                          <a:cs typeface="Arial"/>
                          <a:sym typeface="Arial"/>
                        </a:rPr>
                        <a:t>6</a:t>
                      </a:r>
                      <a:r>
                        <a:rPr lang="ja-JP" altLang="ja-JP" sz="1600" b="0" u="none" strike="noStrike" cap="none" dirty="0">
                          <a:solidFill>
                            <a:schemeClr val="dk1"/>
                          </a:solidFill>
                          <a:latin typeface="+mn-ea"/>
                          <a:ea typeface="+mn-ea"/>
                          <a:cs typeface="Arial"/>
                          <a:sym typeface="Arial"/>
                        </a:rPr>
                        <a:t>.</a:t>
                      </a:r>
                      <a:r>
                        <a:rPr lang="en-US" altLang="ja-JP" sz="1600" b="0" u="none" strike="noStrike" cap="none" dirty="0">
                          <a:solidFill>
                            <a:schemeClr val="dk1"/>
                          </a:solidFill>
                          <a:latin typeface="+mn-ea"/>
                          <a:ea typeface="+mn-ea"/>
                          <a:cs typeface="Arial"/>
                          <a:sym typeface="Arial"/>
                        </a:rPr>
                        <a:t>1</a:t>
                      </a:r>
                      <a:r>
                        <a:rPr lang="ja-JP" altLang="ja-JP" sz="1600" b="0" u="none" strike="noStrike" cap="none" dirty="0">
                          <a:solidFill>
                            <a:schemeClr val="dk1"/>
                          </a:solidFill>
                          <a:latin typeface="+mn-ea"/>
                          <a:ea typeface="+mn-ea"/>
                          <a:cs typeface="Arial"/>
                          <a:sym typeface="Arial"/>
                        </a:rPr>
                        <a:t>.　</a:t>
                      </a:r>
                      <a:r>
                        <a:rPr lang="ja-JP" altLang="en-US" sz="1600" b="0" u="none" strike="noStrike" cap="none" dirty="0">
                          <a:solidFill>
                            <a:schemeClr val="dk1"/>
                          </a:solidFill>
                          <a:latin typeface="+mn-ea"/>
                          <a:ea typeface="+mn-ea"/>
                          <a:cs typeface="Arial"/>
                          <a:sym typeface="Arial"/>
                        </a:rPr>
                        <a:t>サービス</a:t>
                      </a:r>
                      <a:endParaRPr sz="1600" u="none" strike="noStrike" cap="none" dirty="0">
                        <a:latin typeface="+mn-ea"/>
                        <a:ea typeface="+mn-ea"/>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rPr>
                        <a:t>P.33</a:t>
                      </a:r>
                    </a:p>
                  </a:txBody>
                  <a:tcPr marL="91450" marR="91450" marT="45725" marB="457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451252321"/>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ja-JP" sz="1600" b="0" u="none" strike="noStrike" cap="none" dirty="0">
                          <a:solidFill>
                            <a:schemeClr val="dk1"/>
                          </a:solidFill>
                          <a:latin typeface="+mn-ea"/>
                          <a:ea typeface="+mn-ea"/>
                          <a:cs typeface="Arial"/>
                          <a:sym typeface="Arial"/>
                        </a:rPr>
                        <a:t>　</a:t>
                      </a:r>
                      <a:r>
                        <a:rPr lang="en-US" altLang="ja-JP" sz="1600" b="0" u="none" strike="noStrike" cap="none" dirty="0">
                          <a:solidFill>
                            <a:schemeClr val="dk1"/>
                          </a:solidFill>
                          <a:latin typeface="+mn-ea"/>
                          <a:ea typeface="+mn-ea"/>
                          <a:cs typeface="Arial"/>
                          <a:sym typeface="Arial"/>
                        </a:rPr>
                        <a:t>6</a:t>
                      </a:r>
                      <a:r>
                        <a:rPr lang="ja-JP" sz="1600" b="0" u="none" strike="noStrike" cap="none" dirty="0">
                          <a:solidFill>
                            <a:schemeClr val="dk1"/>
                          </a:solidFill>
                          <a:latin typeface="+mn-ea"/>
                          <a:ea typeface="+mn-ea"/>
                          <a:cs typeface="Arial"/>
                          <a:sym typeface="Arial"/>
                        </a:rPr>
                        <a:t>.</a:t>
                      </a:r>
                      <a:r>
                        <a:rPr lang="en-US" altLang="ja-JP" sz="1600" b="0" u="none" strike="noStrike" cap="none" dirty="0">
                          <a:solidFill>
                            <a:schemeClr val="dk1"/>
                          </a:solidFill>
                          <a:latin typeface="+mn-ea"/>
                          <a:ea typeface="+mn-ea"/>
                          <a:cs typeface="Arial"/>
                          <a:sym typeface="Arial"/>
                        </a:rPr>
                        <a:t>2</a:t>
                      </a:r>
                      <a:r>
                        <a:rPr lang="ja-JP" sz="1600" b="0" u="none" strike="noStrike" cap="none" dirty="0">
                          <a:solidFill>
                            <a:schemeClr val="dk1"/>
                          </a:solidFill>
                          <a:latin typeface="+mn-ea"/>
                          <a:ea typeface="+mn-ea"/>
                          <a:cs typeface="Arial"/>
                          <a:sym typeface="Arial"/>
                        </a:rPr>
                        <a:t>.　</a:t>
                      </a:r>
                      <a:r>
                        <a:rPr lang="ja-JP" altLang="en-US" sz="1600" b="0" u="none" strike="noStrike" cap="none" dirty="0">
                          <a:solidFill>
                            <a:schemeClr val="dk1"/>
                          </a:solidFill>
                          <a:latin typeface="+mn-ea"/>
                          <a:ea typeface="+mn-ea"/>
                          <a:cs typeface="Arial"/>
                          <a:sym typeface="Arial"/>
                        </a:rPr>
                        <a:t>ライブラリ</a:t>
                      </a:r>
                      <a:endParaRPr sz="1600" u="none" strike="noStrike" cap="none" dirty="0">
                        <a:latin typeface="+mn-ea"/>
                        <a:ea typeface="+mn-ea"/>
                      </a:endParaRPr>
                    </a:p>
                  </a:txBody>
                  <a:tcPr marL="91450" marR="9145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1" lang="en-US" altLang="ja-JP" sz="1600" b="0" i="0" u="none" strike="noStrike" kern="1200" cap="none" spc="0" normalizeH="0" baseline="0" noProof="0" dirty="0">
                          <a:ln>
                            <a:noFill/>
                          </a:ln>
                          <a:solidFill>
                            <a:prstClr val="black"/>
                          </a:solidFill>
                          <a:effectLst/>
                          <a:uLnTx/>
                          <a:uFillTx/>
                          <a:latin typeface="Yu Gothic UI"/>
                          <a:ea typeface="Yu Gothic UI"/>
                          <a:cs typeface="+mn-cs"/>
                        </a:rPr>
                        <a:t>P.44</a:t>
                      </a: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417019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E43B3D-F771-EAE9-7A3A-FD6D4D894AD6}"/>
              </a:ext>
            </a:extLst>
          </p:cNvPr>
          <p:cNvSpPr>
            <a:spLocks noGrp="1"/>
          </p:cNvSpPr>
          <p:nvPr>
            <p:ph type="title"/>
          </p:nvPr>
        </p:nvSpPr>
        <p:spPr>
          <a:xfrm>
            <a:off x="273050" y="384919"/>
            <a:ext cx="7848302" cy="307777"/>
          </a:xfrm>
        </p:spPr>
        <p:txBody>
          <a:bodyPr/>
          <a:lstStyle/>
          <a:p>
            <a:r>
              <a:rPr lang="en-US" altLang="ja-JP" dirty="0"/>
              <a:t>1</a:t>
            </a:r>
            <a:r>
              <a:rPr lang="en-US" altLang="ja-JP" sz="2000" dirty="0"/>
              <a:t>. </a:t>
            </a:r>
            <a:r>
              <a:rPr lang="ja-JP" altLang="en-US" dirty="0"/>
              <a:t>背景・目的</a:t>
            </a:r>
            <a:endParaRPr kumimoji="1" lang="ja-JP" altLang="en-US" dirty="0"/>
          </a:p>
        </p:txBody>
      </p:sp>
      <p:sp>
        <p:nvSpPr>
          <p:cNvPr id="3" name="テキスト プレースホルダー 2">
            <a:extLst>
              <a:ext uri="{FF2B5EF4-FFF2-40B4-BE49-F238E27FC236}">
                <a16:creationId xmlns:a16="http://schemas.microsoft.com/office/drawing/2014/main" id="{40BE2993-8B18-8E67-CA04-D5E7F6FE391D}"/>
              </a:ext>
            </a:extLst>
          </p:cNvPr>
          <p:cNvSpPr>
            <a:spLocks noGrp="1"/>
          </p:cNvSpPr>
          <p:nvPr>
            <p:ph type="body" sz="quarter" idx="10"/>
          </p:nvPr>
        </p:nvSpPr>
        <p:spPr>
          <a:xfrm>
            <a:off x="273050" y="188913"/>
            <a:ext cx="7848600" cy="161583"/>
          </a:xfrm>
        </p:spPr>
        <p:txBody>
          <a:bodyPr/>
          <a:lstStyle/>
          <a:p>
            <a:r>
              <a:rPr lang="en-US" altLang="ja-JP" dirty="0"/>
              <a:t>1</a:t>
            </a:r>
            <a:r>
              <a:rPr lang="en-US" altLang="ja-JP" sz="1050" dirty="0"/>
              <a:t>. </a:t>
            </a:r>
            <a:r>
              <a:rPr lang="ja-JP" altLang="en-US" dirty="0"/>
              <a:t>背景・目的</a:t>
            </a:r>
            <a:endParaRPr kumimoji="1" lang="ja-JP" altLang="en-US" dirty="0"/>
          </a:p>
        </p:txBody>
      </p:sp>
      <p:sp>
        <p:nvSpPr>
          <p:cNvPr id="4" name="正方形/長方形 3">
            <a:extLst>
              <a:ext uri="{FF2B5EF4-FFF2-40B4-BE49-F238E27FC236}">
                <a16:creationId xmlns:a16="http://schemas.microsoft.com/office/drawing/2014/main" id="{C67564C6-5411-ECB9-FDEC-107CCCAE67FE}"/>
              </a:ext>
            </a:extLst>
          </p:cNvPr>
          <p:cNvSpPr/>
          <p:nvPr/>
        </p:nvSpPr>
        <p:spPr>
          <a:xfrm>
            <a:off x="273050" y="1123493"/>
            <a:ext cx="9359899" cy="2268996"/>
          </a:xfrm>
          <a:prstGeom prst="rect">
            <a:avLst/>
          </a:prstGeom>
          <a:solidFill>
            <a:schemeClr val="bg1">
              <a:lumMod val="95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lIns="36000" rIns="36000" rtlCol="0" anchor="t" anchorCtr="0"/>
          <a:lstStyle/>
          <a:p>
            <a:pPr marL="285750" indent="-285750">
              <a:spcBef>
                <a:spcPts val="300"/>
              </a:spcBef>
              <a:buFont typeface="Wingdings" panose="05000000000000000000" pitchFamily="2" charset="2"/>
              <a:buChar char="n"/>
            </a:pPr>
            <a:r>
              <a:rPr kumimoji="1" lang="ja-JP" altLang="en-US" sz="1400" dirty="0"/>
              <a:t>近年、アイデンティティにかかるデータ主権を個人に帰属させることや、単一障害点の排除等の観点で、分散型アイデンティティが注目されており、</a:t>
            </a:r>
            <a:r>
              <a:rPr kumimoji="1" lang="en-US" altLang="ja-JP" sz="1400" dirty="0"/>
              <a:t>W3C(World Wide Web Consortium)</a:t>
            </a:r>
            <a:r>
              <a:rPr kumimoji="1" lang="ja-JP" altLang="en-US" sz="1400" dirty="0"/>
              <a:t>で規格化された</a:t>
            </a:r>
            <a:r>
              <a:rPr kumimoji="1" lang="en-US" altLang="ja-JP" sz="1400" dirty="0"/>
              <a:t>VC(Verifiable Credentials)</a:t>
            </a:r>
            <a:r>
              <a:rPr kumimoji="1" lang="ja-JP" altLang="en-US" sz="1400" dirty="0"/>
              <a:t>や</a:t>
            </a:r>
            <a:r>
              <a:rPr kumimoji="1" lang="en-US" altLang="ja-JP" sz="1400" dirty="0"/>
              <a:t>DIDs (Decentralized Identifiers)</a:t>
            </a:r>
            <a:r>
              <a:rPr kumimoji="1" lang="ja-JP" altLang="en-US" sz="1400" dirty="0"/>
              <a:t>の技術を活用したサービスの実装検討が増えてきている</a:t>
            </a:r>
          </a:p>
          <a:p>
            <a:pPr marL="285750" indent="-285750">
              <a:spcBef>
                <a:spcPts val="300"/>
              </a:spcBef>
              <a:buFont typeface="Wingdings" panose="05000000000000000000" pitchFamily="2" charset="2"/>
              <a:buChar char="n"/>
            </a:pPr>
            <a:r>
              <a:rPr kumimoji="1" lang="ja-JP" altLang="en-US" sz="1400" dirty="0"/>
              <a:t>これらの規格は、</a:t>
            </a:r>
            <a:r>
              <a:rPr kumimoji="1" lang="en-US" altLang="ja-JP" sz="1400" dirty="0"/>
              <a:t>DIF(Decentralized Identity Foundation)</a:t>
            </a:r>
            <a:r>
              <a:rPr kumimoji="1" lang="ja-JP" altLang="en-US" sz="1400" dirty="0"/>
              <a:t>や、</a:t>
            </a:r>
            <a:r>
              <a:rPr kumimoji="1" lang="en-US" altLang="ja-JP" sz="1400" dirty="0"/>
              <a:t>Hyperledger</a:t>
            </a:r>
            <a:r>
              <a:rPr kumimoji="1" lang="ja-JP" altLang="en-US" sz="1400" dirty="0"/>
              <a:t>、</a:t>
            </a:r>
            <a:r>
              <a:rPr kumimoji="1" lang="en-US" altLang="ja-JP" sz="1400" dirty="0"/>
              <a:t>OpenID Foundation</a:t>
            </a:r>
            <a:r>
              <a:rPr kumimoji="1" lang="ja-JP" altLang="en-US" sz="1400" dirty="0"/>
              <a:t>等の国際団体で標準化に向けた取組が進められている。また、</a:t>
            </a:r>
            <a:r>
              <a:rPr kumimoji="1" lang="en-US" altLang="ja-JP" sz="1400" dirty="0"/>
              <a:t>EU</a:t>
            </a:r>
            <a:r>
              <a:rPr kumimoji="1" lang="ja-JP" altLang="en-US" sz="1400" dirty="0"/>
              <a:t>・カナダ等の国・地域では、アイデンティティサービス提供にかかるフレームワーク等を策定して</a:t>
            </a:r>
            <a:r>
              <a:rPr kumimoji="1" lang="en-US" altLang="ja-JP" sz="1400" dirty="0"/>
              <a:t>VC/DIDs</a:t>
            </a:r>
            <a:r>
              <a:rPr kumimoji="1" lang="ja-JP" altLang="en-US" sz="1400" dirty="0"/>
              <a:t>を活用したサービスの相互運用性を高める取組が進められている</a:t>
            </a:r>
          </a:p>
          <a:p>
            <a:pPr marL="285750" indent="-285750">
              <a:spcBef>
                <a:spcPts val="300"/>
              </a:spcBef>
              <a:buFont typeface="Wingdings" panose="05000000000000000000" pitchFamily="2" charset="2"/>
              <a:buChar char="n"/>
            </a:pPr>
            <a:r>
              <a:rPr kumimoji="1" lang="ja-JP" altLang="en-US" sz="1400" dirty="0"/>
              <a:t>ただし、現時点で</a:t>
            </a:r>
            <a:r>
              <a:rPr lang="ja-JP" altLang="en-US" sz="1400" dirty="0"/>
              <a:t>は</a:t>
            </a:r>
            <a:r>
              <a:rPr kumimoji="1" lang="ja-JP" altLang="en-US" sz="1400" dirty="0"/>
              <a:t>これらの実装方法は多様であり、どのように収束していくかを把握するのが課題である</a:t>
            </a:r>
          </a:p>
          <a:p>
            <a:pPr marL="285750" indent="-285750">
              <a:spcBef>
                <a:spcPts val="300"/>
              </a:spcBef>
              <a:buFont typeface="Wingdings" panose="05000000000000000000" pitchFamily="2" charset="2"/>
              <a:buChar char="n"/>
            </a:pPr>
            <a:r>
              <a:rPr kumimoji="1" lang="ja-JP" altLang="en-US" sz="1400" dirty="0"/>
              <a:t>今後本邦においても相互運用性が確保されたサービスを提供していくためにも、現時点の規格動向や、規格を普及させるための取組がどうなっていて、各主要な団体がどのような実装を検討されているかを把握することが求められる</a:t>
            </a:r>
          </a:p>
          <a:p>
            <a:pPr marL="285750" indent="-285750">
              <a:spcBef>
                <a:spcPts val="300"/>
              </a:spcBef>
              <a:buFont typeface="Wingdings" panose="05000000000000000000" pitchFamily="2" charset="2"/>
              <a:buChar char="n"/>
            </a:pPr>
            <a:endParaRPr kumimoji="1" lang="en-US" altLang="ja-JP" sz="1400" dirty="0"/>
          </a:p>
        </p:txBody>
      </p:sp>
      <p:sp>
        <p:nvSpPr>
          <p:cNvPr id="5" name="正方形/長方形 4">
            <a:extLst>
              <a:ext uri="{FF2B5EF4-FFF2-40B4-BE49-F238E27FC236}">
                <a16:creationId xmlns:a16="http://schemas.microsoft.com/office/drawing/2014/main" id="{822E6B6B-D8EA-19DD-FBEB-D494C6988C7E}"/>
              </a:ext>
            </a:extLst>
          </p:cNvPr>
          <p:cNvSpPr/>
          <p:nvPr/>
        </p:nvSpPr>
        <p:spPr>
          <a:xfrm>
            <a:off x="273050" y="810824"/>
            <a:ext cx="2108200" cy="307777"/>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600" dirty="0">
                <a:solidFill>
                  <a:schemeClr val="bg1"/>
                </a:solidFill>
              </a:rPr>
              <a:t>背景</a:t>
            </a:r>
          </a:p>
        </p:txBody>
      </p:sp>
      <p:sp>
        <p:nvSpPr>
          <p:cNvPr id="7" name="正方形/長方形 6">
            <a:extLst>
              <a:ext uri="{FF2B5EF4-FFF2-40B4-BE49-F238E27FC236}">
                <a16:creationId xmlns:a16="http://schemas.microsoft.com/office/drawing/2014/main" id="{86C9DA1E-D8A3-862F-3AD5-802A33D2FDDC}"/>
              </a:ext>
            </a:extLst>
          </p:cNvPr>
          <p:cNvSpPr/>
          <p:nvPr/>
        </p:nvSpPr>
        <p:spPr>
          <a:xfrm>
            <a:off x="273050" y="3643613"/>
            <a:ext cx="2108200" cy="307777"/>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600" dirty="0">
                <a:solidFill>
                  <a:schemeClr val="bg1"/>
                </a:solidFill>
              </a:rPr>
              <a:t>目的</a:t>
            </a:r>
            <a:endParaRPr kumimoji="1" lang="ja-JP" altLang="en-US" sz="1600" dirty="0">
              <a:solidFill>
                <a:schemeClr val="bg1"/>
              </a:solidFill>
            </a:endParaRPr>
          </a:p>
        </p:txBody>
      </p:sp>
      <p:sp>
        <p:nvSpPr>
          <p:cNvPr id="10" name="正方形/長方形 9">
            <a:extLst>
              <a:ext uri="{FF2B5EF4-FFF2-40B4-BE49-F238E27FC236}">
                <a16:creationId xmlns:a16="http://schemas.microsoft.com/office/drawing/2014/main" id="{8E555B38-3D72-5160-BEC5-34B80FA2BB08}"/>
              </a:ext>
            </a:extLst>
          </p:cNvPr>
          <p:cNvSpPr/>
          <p:nvPr/>
        </p:nvSpPr>
        <p:spPr>
          <a:xfrm>
            <a:off x="273050" y="3968990"/>
            <a:ext cx="9359899" cy="1242281"/>
          </a:xfrm>
          <a:prstGeom prst="rect">
            <a:avLst/>
          </a:prstGeom>
          <a:solidFill>
            <a:schemeClr val="bg1">
              <a:lumMod val="95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lIns="36000" rIns="36000" rtlCol="0" anchor="t" anchorCtr="0"/>
          <a:lstStyle/>
          <a:p>
            <a:pPr marL="285750" indent="-285750">
              <a:spcBef>
                <a:spcPts val="300"/>
              </a:spcBef>
              <a:buFont typeface="Wingdings" panose="05000000000000000000" pitchFamily="2" charset="2"/>
              <a:buChar char="n"/>
            </a:pPr>
            <a:r>
              <a:rPr lang="ja-JP" altLang="en-US" sz="1400" dirty="0"/>
              <a:t>本調査では、</a:t>
            </a:r>
            <a:r>
              <a:rPr lang="en-US" altLang="ja-JP" sz="1400" dirty="0"/>
              <a:t>VC/DIDs</a:t>
            </a:r>
            <a:r>
              <a:rPr lang="ja-JP" altLang="en-US" sz="1400" dirty="0"/>
              <a:t>等を活用したアイデンティティサービスにかかる技術スタックにおける規格の動向を調査し、実装パターンがどの程度あるかを把握する</a:t>
            </a:r>
            <a:r>
              <a:rPr lang="en-US" altLang="ja-JP" sz="1400" baseline="30000" dirty="0"/>
              <a:t>※</a:t>
            </a:r>
          </a:p>
          <a:p>
            <a:pPr marL="742950" lvl="1" indent="-285750">
              <a:spcBef>
                <a:spcPts val="300"/>
              </a:spcBef>
              <a:buFont typeface="Yu Gothic UI" panose="020B0500000000000000" pitchFamily="50" charset="-128"/>
              <a:buChar char="–"/>
            </a:pPr>
            <a:r>
              <a:rPr lang="ja-JP" altLang="en-US" sz="1400" dirty="0"/>
              <a:t>規格実態</a:t>
            </a:r>
          </a:p>
          <a:p>
            <a:pPr marL="742950" lvl="1" indent="-285750">
              <a:spcBef>
                <a:spcPts val="300"/>
              </a:spcBef>
              <a:buFont typeface="Yu Gothic UI" panose="020B0500000000000000" pitchFamily="50" charset="-128"/>
              <a:buChar char="–"/>
            </a:pPr>
            <a:r>
              <a:rPr lang="ja-JP" altLang="en-US" sz="1400" dirty="0"/>
              <a:t>技術スタック詳細</a:t>
            </a:r>
          </a:p>
          <a:p>
            <a:pPr marL="742950" lvl="1" indent="-285750">
              <a:spcBef>
                <a:spcPts val="300"/>
              </a:spcBef>
              <a:buFont typeface="Yu Gothic UI" panose="020B0500000000000000" pitchFamily="50" charset="-128"/>
              <a:buChar char="–"/>
            </a:pPr>
            <a:r>
              <a:rPr lang="ja-JP" altLang="en-US" sz="1400" dirty="0"/>
              <a:t>実装パターンの抽出</a:t>
            </a:r>
          </a:p>
          <a:p>
            <a:pPr marL="285750" indent="-285750">
              <a:spcBef>
                <a:spcPts val="300"/>
              </a:spcBef>
              <a:buFont typeface="Wingdings" panose="05000000000000000000" pitchFamily="2" charset="2"/>
              <a:buChar char="n"/>
            </a:pPr>
            <a:endParaRPr lang="en-US" altLang="ja-JP" sz="1400" dirty="0"/>
          </a:p>
        </p:txBody>
      </p:sp>
      <p:sp>
        <p:nvSpPr>
          <p:cNvPr id="8" name="テキスト ボックス 7">
            <a:extLst>
              <a:ext uri="{FF2B5EF4-FFF2-40B4-BE49-F238E27FC236}">
                <a16:creationId xmlns:a16="http://schemas.microsoft.com/office/drawing/2014/main" id="{64D9B495-13F2-CEB6-1571-9CD047C2E133}"/>
              </a:ext>
            </a:extLst>
          </p:cNvPr>
          <p:cNvSpPr txBox="1"/>
          <p:nvPr/>
        </p:nvSpPr>
        <p:spPr>
          <a:xfrm>
            <a:off x="273050" y="5287636"/>
            <a:ext cx="9359900" cy="592470"/>
          </a:xfrm>
          <a:prstGeom prst="rect">
            <a:avLst/>
          </a:prstGeom>
          <a:noFill/>
        </p:spPr>
        <p:txBody>
          <a:bodyPr wrap="square">
            <a:spAutoFit/>
          </a:bodyPr>
          <a:lstStyle/>
          <a:p>
            <a:pPr>
              <a:spcBef>
                <a:spcPts val="300"/>
              </a:spcBef>
            </a:pPr>
            <a:r>
              <a:rPr lang="en-US" altLang="ja-JP" sz="1000" dirty="0">
                <a:latin typeface="+mn-ea"/>
                <a:ea typeface="+mn-ea"/>
              </a:rPr>
              <a:t>※ </a:t>
            </a:r>
            <a:r>
              <a:rPr lang="ja-JP" altLang="en-US" sz="1000" dirty="0">
                <a:latin typeface="+mn-ea"/>
                <a:ea typeface="+mn-ea"/>
              </a:rPr>
              <a:t>本調査は</a:t>
            </a:r>
            <a:r>
              <a:rPr lang="en-US" altLang="ja-JP" sz="1000" dirty="0">
                <a:latin typeface="+mn-ea"/>
                <a:ea typeface="+mn-ea"/>
              </a:rPr>
              <a:t>2024</a:t>
            </a:r>
            <a:r>
              <a:rPr lang="ja-JP" altLang="en-US" sz="1000" dirty="0">
                <a:latin typeface="+mn-ea"/>
                <a:ea typeface="+mn-ea"/>
              </a:rPr>
              <a:t>年</a:t>
            </a:r>
            <a:r>
              <a:rPr lang="en-US" altLang="ja-JP" sz="1000" dirty="0">
                <a:latin typeface="+mn-ea"/>
                <a:ea typeface="+mn-ea"/>
              </a:rPr>
              <a:t>3</a:t>
            </a:r>
            <a:r>
              <a:rPr lang="ja-JP" altLang="en-US" sz="1000" dirty="0">
                <a:latin typeface="+mn-ea"/>
                <a:ea typeface="+mn-ea"/>
              </a:rPr>
              <a:t>月までの既知の情報を元に記載している。また、実装パターンを紹介しているが本領域は発展途上の段階であり、各技術および組合せに関する安全性、信頼性を担保していない</a:t>
            </a:r>
            <a:endParaRPr lang="en-US" altLang="ja-JP" sz="1000" dirty="0">
              <a:latin typeface="+mn-ea"/>
              <a:ea typeface="+mn-ea"/>
            </a:endParaRPr>
          </a:p>
          <a:p>
            <a:pPr>
              <a:spcBef>
                <a:spcPts val="300"/>
              </a:spcBef>
            </a:pPr>
            <a:r>
              <a:rPr lang="en-US" altLang="ja-JP" sz="1000" dirty="0">
                <a:latin typeface="+mn-ea"/>
                <a:ea typeface="+mn-ea"/>
              </a:rPr>
              <a:t>※ </a:t>
            </a:r>
            <a:r>
              <a:rPr lang="ja-JP" altLang="en-US" sz="1000" dirty="0">
                <a:latin typeface="+mn-ea"/>
                <a:ea typeface="+mn-ea"/>
              </a:rPr>
              <a:t>本調査はデジタル庁の意見を表明しているものではない</a:t>
            </a:r>
          </a:p>
        </p:txBody>
      </p:sp>
    </p:spTree>
    <p:extLst>
      <p:ext uri="{BB962C8B-B14F-4D97-AF65-F5344CB8AC3E}">
        <p14:creationId xmlns:p14="http://schemas.microsoft.com/office/powerpoint/2010/main" val="369578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E04E25F-3FFD-4C31-A19B-B65A96A887CC}"/>
              </a:ext>
            </a:extLst>
          </p:cNvPr>
          <p:cNvGraphicFramePr>
            <a:graphicFrameLocks noChangeAspect="1"/>
          </p:cNvGraphicFramePr>
          <p:nvPr>
            <p:custDataLst>
              <p:tags r:id="rId1"/>
            </p:custDataLst>
            <p:extLst>
              <p:ext uri="{D42A27DB-BD31-4B8C-83A1-F6EECF244321}">
                <p14:modId xmlns:p14="http://schemas.microsoft.com/office/powerpoint/2010/main" val="17039654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624" imgH="623" progId="TCLayout.ActiveDocument.1">
                  <p:embed/>
                </p:oleObj>
              </mc:Choice>
              <mc:Fallback>
                <p:oleObj name="think-cell スライド" r:id="rId4" imgW="624" imgH="623" progId="TCLayout.ActiveDocument.1">
                  <p:embed/>
                  <p:pic>
                    <p:nvPicPr>
                      <p:cNvPr id="4" name="オブジェクト 3" hidden="1">
                        <a:extLst>
                          <a:ext uri="{FF2B5EF4-FFF2-40B4-BE49-F238E27FC236}">
                            <a16:creationId xmlns:a16="http://schemas.microsoft.com/office/drawing/2014/main" id="{AE04E25F-3FFD-4C31-A19B-B65A96A887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3C692FE-B352-4645-BC39-2F63B635E01F}"/>
              </a:ext>
            </a:extLst>
          </p:cNvPr>
          <p:cNvSpPr>
            <a:spLocks noGrp="1"/>
          </p:cNvSpPr>
          <p:nvPr>
            <p:ph type="title"/>
          </p:nvPr>
        </p:nvSpPr>
        <p:spPr/>
        <p:txBody>
          <a:bodyPr vert="horz"/>
          <a:lstStyle/>
          <a:p>
            <a:r>
              <a:rPr kumimoji="1" lang="en-US" altLang="ja-JP" dirty="0"/>
              <a:t>2. </a:t>
            </a:r>
            <a:r>
              <a:rPr kumimoji="1" lang="ja-JP" altLang="en-US" dirty="0"/>
              <a:t>調査アプローチ</a:t>
            </a:r>
          </a:p>
        </p:txBody>
      </p:sp>
      <p:sp>
        <p:nvSpPr>
          <p:cNvPr id="9" name="テキスト プレースホルダー 8">
            <a:extLst>
              <a:ext uri="{FF2B5EF4-FFF2-40B4-BE49-F238E27FC236}">
                <a16:creationId xmlns:a16="http://schemas.microsoft.com/office/drawing/2014/main" id="{6C1403AB-9576-5200-77E3-0E57C40CB01C}"/>
              </a:ext>
            </a:extLst>
          </p:cNvPr>
          <p:cNvSpPr>
            <a:spLocks noGrp="1"/>
          </p:cNvSpPr>
          <p:nvPr>
            <p:ph type="body" sz="quarter" idx="10"/>
          </p:nvPr>
        </p:nvSpPr>
        <p:spPr/>
        <p:txBody>
          <a:bodyPr/>
          <a:lstStyle/>
          <a:p>
            <a:r>
              <a:rPr lang="en-US" altLang="ja-JP" sz="1050" dirty="0"/>
              <a:t>2. </a:t>
            </a:r>
            <a:r>
              <a:rPr lang="ja-JP" altLang="en-US" dirty="0"/>
              <a:t>調査</a:t>
            </a:r>
            <a:r>
              <a:rPr lang="ja-JP" altLang="en-US" sz="1050" dirty="0"/>
              <a:t>アプローチ</a:t>
            </a:r>
            <a:endParaRPr kumimoji="1" lang="ja-JP" altLang="en-US" dirty="0"/>
          </a:p>
        </p:txBody>
      </p:sp>
      <p:sp>
        <p:nvSpPr>
          <p:cNvPr id="54" name="コンテンツ プレースホルダー 2">
            <a:extLst>
              <a:ext uri="{FF2B5EF4-FFF2-40B4-BE49-F238E27FC236}">
                <a16:creationId xmlns:a16="http://schemas.microsoft.com/office/drawing/2014/main" id="{18E238A4-A1E9-390E-DA87-F6C2DDE5DD8E}"/>
              </a:ext>
            </a:extLst>
          </p:cNvPr>
          <p:cNvSpPr txBox="1">
            <a:spLocks/>
          </p:cNvSpPr>
          <p:nvPr/>
        </p:nvSpPr>
        <p:spPr>
          <a:xfrm>
            <a:off x="273050" y="908050"/>
            <a:ext cx="9359900" cy="585940"/>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dirty="0"/>
          </a:p>
        </p:txBody>
      </p:sp>
      <p:grpSp>
        <p:nvGrpSpPr>
          <p:cNvPr id="6" name="グループ化 5">
            <a:extLst>
              <a:ext uri="{FF2B5EF4-FFF2-40B4-BE49-F238E27FC236}">
                <a16:creationId xmlns:a16="http://schemas.microsoft.com/office/drawing/2014/main" id="{9F002BE6-D10F-B742-5901-B012B758310F}"/>
              </a:ext>
            </a:extLst>
          </p:cNvPr>
          <p:cNvGrpSpPr/>
          <p:nvPr/>
        </p:nvGrpSpPr>
        <p:grpSpPr>
          <a:xfrm>
            <a:off x="1550630" y="914338"/>
            <a:ext cx="7796571" cy="333986"/>
            <a:chOff x="1696492" y="2887399"/>
            <a:chExt cx="7559082" cy="341576"/>
          </a:xfrm>
          <a:solidFill>
            <a:schemeClr val="accent1"/>
          </a:solidFill>
        </p:grpSpPr>
        <p:sp>
          <p:nvSpPr>
            <p:cNvPr id="7" name="矢印: 五方向 6">
              <a:extLst>
                <a:ext uri="{FF2B5EF4-FFF2-40B4-BE49-F238E27FC236}">
                  <a16:creationId xmlns:a16="http://schemas.microsoft.com/office/drawing/2014/main" id="{39458F33-5B24-4EF0-2F45-8AC0C6B0CD70}"/>
                </a:ext>
              </a:extLst>
            </p:cNvPr>
            <p:cNvSpPr/>
            <p:nvPr/>
          </p:nvSpPr>
          <p:spPr bwMode="gray">
            <a:xfrm>
              <a:off x="1696492" y="2887399"/>
              <a:ext cx="2380729" cy="328613"/>
            </a:xfrm>
            <a:prstGeom prst="homePlate">
              <a:avLst/>
            </a:prstGeom>
            <a:grpFill/>
            <a:ln w="12700" algn="ctr">
              <a:solidFill>
                <a:sysClr val="window" lastClr="FFFFFF">
                  <a:lumMod val="50000"/>
                </a:sys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Yu Gothic UI"/>
                  <a:ea typeface="Yu Gothic UI"/>
                  <a:cs typeface="Arial" charset="0"/>
                </a:rPr>
                <a:t>規格実態調査</a:t>
              </a:r>
            </a:p>
          </p:txBody>
        </p:sp>
        <p:sp>
          <p:nvSpPr>
            <p:cNvPr id="11" name="矢印: 山形 10">
              <a:extLst>
                <a:ext uri="{FF2B5EF4-FFF2-40B4-BE49-F238E27FC236}">
                  <a16:creationId xmlns:a16="http://schemas.microsoft.com/office/drawing/2014/main" id="{9032869C-96C0-16D5-D126-2CA7D8F4D3FA}"/>
                </a:ext>
              </a:extLst>
            </p:cNvPr>
            <p:cNvSpPr/>
            <p:nvPr/>
          </p:nvSpPr>
          <p:spPr bwMode="gray">
            <a:xfrm>
              <a:off x="4077221" y="2887399"/>
              <a:ext cx="2590800" cy="341576"/>
            </a:xfrm>
            <a:prstGeom prst="chevron">
              <a:avLst/>
            </a:prstGeom>
            <a:grpFill/>
            <a:ln w="12700" algn="ctr">
              <a:solidFill>
                <a:sysClr val="window" lastClr="FFFFFF">
                  <a:lumMod val="50000"/>
                </a:sys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Yu Gothic UI"/>
                  <a:ea typeface="Yu Gothic UI"/>
                  <a:cs typeface="Arial" charset="0"/>
                </a:rPr>
                <a:t>技術スタック詳細調査</a:t>
              </a:r>
            </a:p>
          </p:txBody>
        </p:sp>
        <p:sp>
          <p:nvSpPr>
            <p:cNvPr id="17" name="矢印: 山形 16">
              <a:extLst>
                <a:ext uri="{FF2B5EF4-FFF2-40B4-BE49-F238E27FC236}">
                  <a16:creationId xmlns:a16="http://schemas.microsoft.com/office/drawing/2014/main" id="{D4B4A2CF-026D-9C81-DFA2-5EEB366BBC57}"/>
                </a:ext>
              </a:extLst>
            </p:cNvPr>
            <p:cNvSpPr/>
            <p:nvPr/>
          </p:nvSpPr>
          <p:spPr bwMode="gray">
            <a:xfrm>
              <a:off x="6664774" y="2887399"/>
              <a:ext cx="2590800" cy="341576"/>
            </a:xfrm>
            <a:prstGeom prst="chevron">
              <a:avLst/>
            </a:prstGeom>
            <a:grpFill/>
            <a:ln w="12700" algn="ctr">
              <a:solidFill>
                <a:sysClr val="window" lastClr="FFFFFF">
                  <a:lumMod val="50000"/>
                </a:sys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rPr>
                <a:t> 実装パターンの抽出</a:t>
              </a:r>
            </a:p>
          </p:txBody>
        </p:sp>
      </p:grpSp>
      <p:sp>
        <p:nvSpPr>
          <p:cNvPr id="18" name="正方形/長方形 17">
            <a:extLst>
              <a:ext uri="{FF2B5EF4-FFF2-40B4-BE49-F238E27FC236}">
                <a16:creationId xmlns:a16="http://schemas.microsoft.com/office/drawing/2014/main" id="{87E57F2B-E4E0-1BC0-8B6A-AD759DCE135A}"/>
              </a:ext>
            </a:extLst>
          </p:cNvPr>
          <p:cNvSpPr/>
          <p:nvPr/>
        </p:nvSpPr>
        <p:spPr bwMode="gray">
          <a:xfrm>
            <a:off x="1550126" y="1339479"/>
            <a:ext cx="2294614" cy="773331"/>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marR="0" lvl="0" indent="-171450" algn="just" defTabSz="990564" eaLnBrk="1" fontAlgn="auto" latinLnBrk="0" hangingPunct="1">
              <a:lnSpc>
                <a:spcPct val="100000"/>
              </a:lnSpc>
              <a:spcBef>
                <a:spcPts val="0"/>
              </a:spcBef>
              <a:spcAft>
                <a:spcPts val="0"/>
              </a:spcAft>
              <a:buClrTx/>
              <a:buSzPct val="100000"/>
              <a:buFont typeface="Wingdings" panose="05000000000000000000" pitchFamily="2" charset="2"/>
              <a:buChar char="n"/>
              <a:tabLst/>
              <a:defRPr/>
            </a:pPr>
            <a:r>
              <a:rPr kumimoji="0" lang="en-US" altLang="ja-JP" sz="1400" kern="0" dirty="0">
                <a:solidFill>
                  <a:prstClr val="black"/>
                </a:solidFill>
                <a:latin typeface="Calibri Light"/>
                <a:ea typeface="Yu Gothic UI"/>
                <a:cs typeface="Arial" charset="0"/>
              </a:rPr>
              <a:t>VC/DIDs</a:t>
            </a:r>
            <a:r>
              <a:rPr kumimoji="0" lang="ja-JP" altLang="en-US" sz="1400" kern="0" dirty="0">
                <a:solidFill>
                  <a:prstClr val="black"/>
                </a:solidFill>
                <a:latin typeface="Calibri Light"/>
                <a:ea typeface="Yu Gothic UI"/>
                <a:cs typeface="Arial" charset="0"/>
              </a:rPr>
              <a:t>等を活用したアイデンティティサービスにどのような規格があるか</a:t>
            </a:r>
            <a:endParaRPr kumimoji="0" lang="en-US" altLang="ja-JP" sz="1400" kern="0" dirty="0">
              <a:solidFill>
                <a:prstClr val="black"/>
              </a:solidFill>
              <a:latin typeface="Calibri Light"/>
              <a:ea typeface="Yu Gothic UI"/>
              <a:cs typeface="Arial" charset="0"/>
            </a:endParaRPr>
          </a:p>
        </p:txBody>
      </p:sp>
      <p:sp>
        <p:nvSpPr>
          <p:cNvPr id="20" name="正方形/長方形 19">
            <a:extLst>
              <a:ext uri="{FF2B5EF4-FFF2-40B4-BE49-F238E27FC236}">
                <a16:creationId xmlns:a16="http://schemas.microsoft.com/office/drawing/2014/main" id="{58FF39FB-CCAC-2C20-25F9-E0DE20C235D3}"/>
              </a:ext>
            </a:extLst>
          </p:cNvPr>
          <p:cNvSpPr/>
          <p:nvPr/>
        </p:nvSpPr>
        <p:spPr bwMode="gray">
          <a:xfrm>
            <a:off x="4006156" y="1339479"/>
            <a:ext cx="2525716" cy="773331"/>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271463" marR="0" lvl="0" indent="-271463" algn="just" defTabSz="990564" eaLnBrk="1" fontAlgn="auto" latinLnBrk="0" hangingPunct="1">
              <a:lnSpc>
                <a:spcPct val="100000"/>
              </a:lnSpc>
              <a:spcBef>
                <a:spcPts val="0"/>
              </a:spcBef>
              <a:spcAft>
                <a:spcPts val="0"/>
              </a:spcAft>
              <a:buClrTx/>
              <a:buSzPct val="100000"/>
              <a:buFont typeface="Wingdings" panose="05000000000000000000" pitchFamily="2" charset="2"/>
              <a:buChar char="n"/>
              <a:tabLst/>
              <a:defRPr/>
            </a:pPr>
            <a:r>
              <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rPr>
              <a:t>左記規格の技術スタックにはどのような特徴があるか</a:t>
            </a:r>
            <a:endParaRPr kumimoji="0" lang="en-US" altLang="ja-JP" sz="14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21" name="正方形/長方形 20">
            <a:extLst>
              <a:ext uri="{FF2B5EF4-FFF2-40B4-BE49-F238E27FC236}">
                <a16:creationId xmlns:a16="http://schemas.microsoft.com/office/drawing/2014/main" id="{B96BAAF8-4DCB-E516-B0EA-A9EDA1A9E938}"/>
              </a:ext>
            </a:extLst>
          </p:cNvPr>
          <p:cNvSpPr/>
          <p:nvPr/>
        </p:nvSpPr>
        <p:spPr bwMode="gray">
          <a:xfrm>
            <a:off x="6748243" y="1339479"/>
            <a:ext cx="2525716" cy="773331"/>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271463" marR="0" lvl="0" indent="-271463" defTabSz="990564" eaLnBrk="1" fontAlgn="auto" latinLnBrk="0" hangingPunct="1">
              <a:lnSpc>
                <a:spcPct val="100000"/>
              </a:lnSpc>
              <a:spcBef>
                <a:spcPts val="0"/>
              </a:spcBef>
              <a:spcAft>
                <a:spcPts val="0"/>
              </a:spcAft>
              <a:buClrTx/>
              <a:buSzPct val="100000"/>
              <a:buFont typeface="Wingdings" panose="05000000000000000000" pitchFamily="2" charset="2"/>
              <a:buChar char="n"/>
              <a:tabLst/>
              <a:defRPr/>
            </a:pPr>
            <a:r>
              <a:rPr kumimoji="0" lang="en-US" altLang="ja-JP" sz="1400" kern="0" dirty="0">
                <a:solidFill>
                  <a:prstClr val="black"/>
                </a:solidFill>
                <a:latin typeface="Calibri Light"/>
                <a:ea typeface="Yu Gothic UI"/>
                <a:cs typeface="Arial" charset="0"/>
              </a:rPr>
              <a:t>VC/DIDs</a:t>
            </a:r>
            <a:r>
              <a:rPr kumimoji="0" lang="ja-JP" altLang="en-US" sz="1400" kern="0" dirty="0">
                <a:solidFill>
                  <a:prstClr val="black"/>
                </a:solidFill>
                <a:latin typeface="Calibri Light"/>
                <a:ea typeface="Yu Gothic UI"/>
                <a:cs typeface="Arial" charset="0"/>
              </a:rPr>
              <a:t>等を活用したアイデンティティサービスについてどの程度の実装パターンがあげられるか</a:t>
            </a:r>
            <a:endPar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25" name="正方形/長方形 24">
            <a:extLst>
              <a:ext uri="{FF2B5EF4-FFF2-40B4-BE49-F238E27FC236}">
                <a16:creationId xmlns:a16="http://schemas.microsoft.com/office/drawing/2014/main" id="{A5DE5D08-E7E6-0437-AACA-A583DA67AC9C}"/>
              </a:ext>
            </a:extLst>
          </p:cNvPr>
          <p:cNvSpPr/>
          <p:nvPr/>
        </p:nvSpPr>
        <p:spPr>
          <a:xfrm>
            <a:off x="273050" y="1339480"/>
            <a:ext cx="1111613" cy="779033"/>
          </a:xfrm>
          <a:prstGeom prst="rect">
            <a:avLst/>
          </a:prstGeom>
          <a:solidFill>
            <a:schemeClr val="accent1">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dirty="0"/>
              <a:t>調査で明らかに</a:t>
            </a:r>
            <a:endParaRPr kumimoji="1" lang="en-US" altLang="ja-JP" sz="1400" dirty="0"/>
          </a:p>
          <a:p>
            <a:pPr algn="ctr"/>
            <a:r>
              <a:rPr kumimoji="1" lang="ja-JP" altLang="en-US" sz="1400" dirty="0"/>
              <a:t>したい論点</a:t>
            </a:r>
          </a:p>
        </p:txBody>
      </p:sp>
      <p:sp>
        <p:nvSpPr>
          <p:cNvPr id="26" name="正方形/長方形 25">
            <a:extLst>
              <a:ext uri="{FF2B5EF4-FFF2-40B4-BE49-F238E27FC236}">
                <a16:creationId xmlns:a16="http://schemas.microsoft.com/office/drawing/2014/main" id="{B41AD71F-6078-7E5D-DC0E-A9E6E72A3629}"/>
              </a:ext>
            </a:extLst>
          </p:cNvPr>
          <p:cNvSpPr/>
          <p:nvPr/>
        </p:nvSpPr>
        <p:spPr>
          <a:xfrm>
            <a:off x="273050" y="2195720"/>
            <a:ext cx="1111613" cy="1794209"/>
          </a:xfrm>
          <a:prstGeom prst="rect">
            <a:avLst/>
          </a:prstGeom>
          <a:solidFill>
            <a:schemeClr val="accent1">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t>調査内容</a:t>
            </a:r>
            <a:endParaRPr kumimoji="1" lang="en-US" altLang="ja-JP" sz="1400" dirty="0"/>
          </a:p>
        </p:txBody>
      </p:sp>
      <p:sp>
        <p:nvSpPr>
          <p:cNvPr id="36" name="正方形/長方形 35">
            <a:extLst>
              <a:ext uri="{FF2B5EF4-FFF2-40B4-BE49-F238E27FC236}">
                <a16:creationId xmlns:a16="http://schemas.microsoft.com/office/drawing/2014/main" id="{F2B4959B-EA56-1F9A-5945-A0D79C70B305}"/>
              </a:ext>
            </a:extLst>
          </p:cNvPr>
          <p:cNvSpPr/>
          <p:nvPr/>
        </p:nvSpPr>
        <p:spPr bwMode="gray">
          <a:xfrm>
            <a:off x="1550126" y="2195720"/>
            <a:ext cx="2294614" cy="1794208"/>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marR="0" lvl="0" indent="-171450" algn="just" defTabSz="990564" eaLnBrk="1" fontAlgn="auto" latinLnBrk="0" hangingPunct="1">
              <a:lnSpc>
                <a:spcPct val="100000"/>
              </a:lnSpc>
              <a:spcBef>
                <a:spcPts val="0"/>
              </a:spcBef>
              <a:spcAft>
                <a:spcPts val="0"/>
              </a:spcAft>
              <a:buClrTx/>
              <a:buSzPct val="100000"/>
              <a:buFont typeface="Wingdings" panose="05000000000000000000" pitchFamily="2" charset="2"/>
              <a:buChar char="n"/>
              <a:tabLst/>
              <a:defRPr/>
            </a:pPr>
            <a:r>
              <a:rPr kumimoji="0" lang="en-US" altLang="ja-JP" sz="1400" kern="0" dirty="0">
                <a:solidFill>
                  <a:prstClr val="black"/>
                </a:solidFill>
                <a:latin typeface="Calibri Light"/>
                <a:ea typeface="Yu Gothic UI"/>
                <a:cs typeface="Arial" charset="0"/>
              </a:rPr>
              <a:t>VC/DIDs</a:t>
            </a:r>
            <a:r>
              <a:rPr kumimoji="0" lang="ja-JP" altLang="en-US" sz="1400" kern="0" dirty="0">
                <a:solidFill>
                  <a:prstClr val="black"/>
                </a:solidFill>
                <a:latin typeface="Calibri Light"/>
                <a:ea typeface="Yu Gothic UI"/>
                <a:cs typeface="Arial" charset="0"/>
              </a:rPr>
              <a:t>等を活用した</a:t>
            </a:r>
            <a:r>
              <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rPr>
              <a:t>アイデンティティサービスにかかる規格の概要調査</a:t>
            </a:r>
            <a:endParaRPr kumimoji="0" lang="en-US" altLang="ja-JP" sz="1400" b="0" i="0" u="none" strike="noStrike" kern="0" cap="none" spc="0" normalizeH="0" baseline="0" noProof="0" dirty="0">
              <a:ln>
                <a:noFill/>
              </a:ln>
              <a:solidFill>
                <a:prstClr val="black"/>
              </a:solidFill>
              <a:effectLst/>
              <a:uLnTx/>
              <a:uFillTx/>
              <a:latin typeface="Calibri Light"/>
              <a:ea typeface="Yu Gothic UI"/>
              <a:cs typeface="Arial" charset="0"/>
            </a:endParaRPr>
          </a:p>
          <a:p>
            <a:pPr marL="715518" marR="0" lvl="1" indent="-285750" algn="just" defTabSz="990564"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rPr>
              <a:t>各レイヤの技術スタック概要</a:t>
            </a:r>
            <a:endParaRPr kumimoji="0" lang="en-US" altLang="ja-JP" sz="1400" b="0" i="0" u="none" strike="noStrike" kern="0" cap="none" spc="0" normalizeH="0" baseline="0" noProof="0" dirty="0">
              <a:ln>
                <a:noFill/>
              </a:ln>
              <a:solidFill>
                <a:prstClr val="black"/>
              </a:solidFill>
              <a:effectLst/>
              <a:uLnTx/>
              <a:uFillTx/>
              <a:latin typeface="Calibri Light"/>
              <a:ea typeface="Yu Gothic UI"/>
              <a:cs typeface="Arial" charset="0"/>
            </a:endParaRPr>
          </a:p>
          <a:p>
            <a:pPr marL="715518" marR="0" lvl="1" indent="-285750" algn="just" defTabSz="990564" eaLnBrk="1" fontAlgn="auto" latinLnBrk="0" hangingPunct="1">
              <a:lnSpc>
                <a:spcPct val="100000"/>
              </a:lnSpc>
              <a:spcBef>
                <a:spcPts val="0"/>
              </a:spcBef>
              <a:spcAft>
                <a:spcPts val="0"/>
              </a:spcAft>
              <a:buClrTx/>
              <a:buSzPct val="100000"/>
              <a:buFont typeface="Wingdings" panose="05000000000000000000" pitchFamily="2" charset="2"/>
              <a:buChar char="Ø"/>
              <a:tabLst/>
              <a:defRPr/>
            </a:pPr>
            <a:r>
              <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rPr>
              <a:t>代表的な技術仕様</a:t>
            </a:r>
            <a:endParaRPr kumimoji="0" lang="en-US" altLang="ja-JP" sz="1400" kern="0" dirty="0">
              <a:solidFill>
                <a:prstClr val="black"/>
              </a:solidFill>
              <a:latin typeface="Calibri Light"/>
              <a:ea typeface="Yu Gothic UI"/>
              <a:cs typeface="Arial" charset="0"/>
            </a:endParaRPr>
          </a:p>
        </p:txBody>
      </p:sp>
      <p:sp>
        <p:nvSpPr>
          <p:cNvPr id="37" name="正方形/長方形 36">
            <a:extLst>
              <a:ext uri="{FF2B5EF4-FFF2-40B4-BE49-F238E27FC236}">
                <a16:creationId xmlns:a16="http://schemas.microsoft.com/office/drawing/2014/main" id="{7F96319A-39BB-48BB-2563-F57D450F6CF5}"/>
              </a:ext>
            </a:extLst>
          </p:cNvPr>
          <p:cNvSpPr/>
          <p:nvPr/>
        </p:nvSpPr>
        <p:spPr bwMode="gray">
          <a:xfrm>
            <a:off x="4006156" y="2195720"/>
            <a:ext cx="2525716" cy="1794208"/>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271463" indent="-271463" algn="just" defTabSz="990564" eaLnBrk="1" fontAlgn="auto" hangingPunct="1">
              <a:spcBef>
                <a:spcPts val="0"/>
              </a:spcBef>
              <a:spcAft>
                <a:spcPts val="0"/>
              </a:spcAft>
              <a:buSzPct val="100000"/>
              <a:buFont typeface="Wingdings" panose="05000000000000000000" pitchFamily="2" charset="2"/>
              <a:buChar char="n"/>
              <a:defRPr/>
            </a:pPr>
            <a:r>
              <a:rPr kumimoji="0" lang="en-US" altLang="ja-JP" sz="1400" kern="0" dirty="0">
                <a:solidFill>
                  <a:prstClr val="black"/>
                </a:solidFill>
                <a:latin typeface="Calibri Light"/>
                <a:ea typeface="Yu Gothic UI"/>
                <a:cs typeface="Arial" charset="0"/>
              </a:rPr>
              <a:t>VC/DIDs</a:t>
            </a:r>
            <a:r>
              <a:rPr kumimoji="0" lang="ja-JP" altLang="en-US" sz="1400" kern="0" dirty="0">
                <a:solidFill>
                  <a:prstClr val="black"/>
                </a:solidFill>
                <a:latin typeface="Calibri Light"/>
                <a:ea typeface="Yu Gothic UI"/>
                <a:cs typeface="Arial" charset="0"/>
              </a:rPr>
              <a:t>等を活用した</a:t>
            </a:r>
            <a:r>
              <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rPr>
              <a:t>アイデンティティサービスにかかる技術スタックの詳細調査</a:t>
            </a:r>
            <a:endParaRPr kumimoji="0" lang="en-US" altLang="ja-JP" sz="1400" kern="0" dirty="0">
              <a:solidFill>
                <a:prstClr val="black"/>
              </a:solidFill>
              <a:latin typeface="Calibri Light"/>
              <a:ea typeface="Yu Gothic UI"/>
              <a:cs typeface="Arial" charset="0"/>
            </a:endParaRPr>
          </a:p>
          <a:p>
            <a:pPr marL="742950" lvl="1" indent="-285750" algn="just" defTabSz="990564" eaLnBrk="1" fontAlgn="auto" hangingPunct="1">
              <a:spcBef>
                <a:spcPts val="0"/>
              </a:spcBef>
              <a:spcAft>
                <a:spcPts val="0"/>
              </a:spcAft>
              <a:buSzPct val="100000"/>
              <a:buFont typeface="Wingdings" panose="05000000000000000000" pitchFamily="2" charset="2"/>
              <a:buChar char="Ø"/>
              <a:defRPr/>
            </a:pPr>
            <a:r>
              <a:rPr kumimoji="0" lang="ja-JP" altLang="en-US" sz="1400" kern="0" dirty="0">
                <a:solidFill>
                  <a:prstClr val="black"/>
                </a:solidFill>
                <a:latin typeface="Calibri Light"/>
                <a:ea typeface="Yu Gothic UI"/>
                <a:cs typeface="Arial" charset="0"/>
              </a:rPr>
              <a:t>技術スタック概要</a:t>
            </a:r>
            <a:endParaRPr kumimoji="0" lang="en-US" altLang="ja-JP" sz="1400" kern="0" dirty="0">
              <a:solidFill>
                <a:prstClr val="black"/>
              </a:solidFill>
              <a:latin typeface="Calibri Light"/>
              <a:ea typeface="Yu Gothic UI"/>
              <a:cs typeface="Arial" charset="0"/>
            </a:endParaRPr>
          </a:p>
          <a:p>
            <a:pPr marL="742950" lvl="1" indent="-285750" algn="just" defTabSz="990564" eaLnBrk="1" fontAlgn="auto" hangingPunct="1">
              <a:spcBef>
                <a:spcPts val="0"/>
              </a:spcBef>
              <a:spcAft>
                <a:spcPts val="0"/>
              </a:spcAft>
              <a:buSzPct val="100000"/>
              <a:buFont typeface="Wingdings" panose="05000000000000000000" pitchFamily="2" charset="2"/>
              <a:buChar char="Ø"/>
              <a:defRPr/>
            </a:pPr>
            <a:r>
              <a:rPr kumimoji="0" lang="en-US" altLang="ja-JP" sz="1400" kern="0" dirty="0">
                <a:solidFill>
                  <a:prstClr val="black"/>
                </a:solidFill>
                <a:latin typeface="Calibri Light"/>
                <a:ea typeface="Yu Gothic UI"/>
                <a:cs typeface="Arial" charset="0"/>
              </a:rPr>
              <a:t>(</a:t>
            </a:r>
            <a:r>
              <a:rPr kumimoji="0" lang="ja-JP" altLang="en-US" sz="1400" kern="0" dirty="0">
                <a:solidFill>
                  <a:prstClr val="black"/>
                </a:solidFill>
                <a:latin typeface="Calibri Light"/>
                <a:ea typeface="Yu Gothic UI"/>
                <a:cs typeface="Arial" charset="0"/>
              </a:rPr>
              <a:t>複数手法がある場合</a:t>
            </a:r>
            <a:r>
              <a:rPr kumimoji="0" lang="en-US" altLang="ja-JP" sz="1400" kern="0" dirty="0">
                <a:solidFill>
                  <a:prstClr val="black"/>
                </a:solidFill>
                <a:latin typeface="Calibri Light"/>
                <a:ea typeface="Yu Gothic UI"/>
                <a:cs typeface="Arial" charset="0"/>
              </a:rPr>
              <a:t>)</a:t>
            </a:r>
            <a:br>
              <a:rPr kumimoji="0" lang="en-US" altLang="ja-JP" sz="1400" kern="0" dirty="0">
                <a:solidFill>
                  <a:prstClr val="black"/>
                </a:solidFill>
                <a:latin typeface="Calibri Light"/>
                <a:ea typeface="Yu Gothic UI"/>
                <a:cs typeface="Arial" charset="0"/>
              </a:rPr>
            </a:br>
            <a:r>
              <a:rPr kumimoji="0" lang="ja-JP" altLang="en-US" sz="1400" kern="0" dirty="0">
                <a:solidFill>
                  <a:prstClr val="black"/>
                </a:solidFill>
                <a:latin typeface="Calibri Light"/>
                <a:ea typeface="Yu Gothic UI"/>
                <a:cs typeface="Arial" charset="0"/>
              </a:rPr>
              <a:t>比較整理</a:t>
            </a:r>
            <a:endParaRPr kumimoji="0" lang="en-US" altLang="ja-JP" sz="1400" kern="0" dirty="0">
              <a:solidFill>
                <a:prstClr val="black"/>
              </a:solidFill>
              <a:latin typeface="Calibri Light"/>
              <a:ea typeface="Yu Gothic UI"/>
              <a:cs typeface="Arial" charset="0"/>
            </a:endParaRPr>
          </a:p>
          <a:p>
            <a:pPr marL="271463" lvl="1" indent="-271463" algn="just" defTabSz="990564" eaLnBrk="1" fontAlgn="auto" hangingPunct="1">
              <a:spcBef>
                <a:spcPts val="0"/>
              </a:spcBef>
              <a:spcAft>
                <a:spcPts val="0"/>
              </a:spcAft>
              <a:buSzPct val="100000"/>
              <a:buFont typeface="Wingdings" panose="05000000000000000000" pitchFamily="2" charset="2"/>
              <a:buChar char="n"/>
              <a:defRPr/>
            </a:pPr>
            <a:r>
              <a:rPr kumimoji="0" lang="en-US" altLang="ja-JP" sz="1400" kern="0" dirty="0">
                <a:solidFill>
                  <a:prstClr val="black"/>
                </a:solidFill>
                <a:latin typeface="Calibri Light"/>
                <a:ea typeface="Yu Gothic UI"/>
                <a:cs typeface="Arial" charset="0"/>
              </a:rPr>
              <a:t>VC</a:t>
            </a:r>
            <a:r>
              <a:rPr kumimoji="0" lang="ja-JP" altLang="en-US" sz="1400" kern="0" dirty="0">
                <a:solidFill>
                  <a:prstClr val="black"/>
                </a:solidFill>
                <a:latin typeface="Calibri Light"/>
                <a:ea typeface="Yu Gothic UI"/>
                <a:cs typeface="Arial" charset="0"/>
              </a:rPr>
              <a:t>モデルと</a:t>
            </a:r>
            <a:r>
              <a:rPr kumimoji="0" lang="en-US" altLang="ja-JP" sz="1400" kern="0" dirty="0" err="1">
                <a:solidFill>
                  <a:prstClr val="black"/>
                </a:solidFill>
                <a:latin typeface="Calibri Light"/>
                <a:ea typeface="Yu Gothic UI"/>
                <a:cs typeface="Arial" charset="0"/>
              </a:rPr>
              <a:t>mDL</a:t>
            </a:r>
            <a:r>
              <a:rPr kumimoji="0" lang="ja-JP" altLang="en-US" sz="1400" kern="0" dirty="0">
                <a:solidFill>
                  <a:prstClr val="black"/>
                </a:solidFill>
                <a:latin typeface="Calibri Light"/>
                <a:ea typeface="Yu Gothic UI"/>
                <a:cs typeface="Arial" charset="0"/>
              </a:rPr>
              <a:t>モデルの比較</a:t>
            </a:r>
            <a:endParaRPr kumimoji="0" lang="en-US" altLang="ja-JP" sz="14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39" name="正方形/長方形 38">
            <a:extLst>
              <a:ext uri="{FF2B5EF4-FFF2-40B4-BE49-F238E27FC236}">
                <a16:creationId xmlns:a16="http://schemas.microsoft.com/office/drawing/2014/main" id="{C5770732-8C41-295D-FED2-BDEE5769206F}"/>
              </a:ext>
            </a:extLst>
          </p:cNvPr>
          <p:cNvSpPr/>
          <p:nvPr/>
        </p:nvSpPr>
        <p:spPr bwMode="gray">
          <a:xfrm>
            <a:off x="6748243" y="2195720"/>
            <a:ext cx="2525716" cy="1794208"/>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271463" marR="0" lvl="0" indent="-271463" defTabSz="990564" eaLnBrk="1" fontAlgn="auto" latinLnBrk="0" hangingPunct="1">
              <a:lnSpc>
                <a:spcPct val="100000"/>
              </a:lnSpc>
              <a:spcBef>
                <a:spcPts val="0"/>
              </a:spcBef>
              <a:spcAft>
                <a:spcPts val="0"/>
              </a:spcAft>
              <a:buClrTx/>
              <a:buSzPct val="100000"/>
              <a:buFont typeface="Wingdings" panose="05000000000000000000" pitchFamily="2" charset="2"/>
              <a:buChar char="n"/>
              <a:tabLst/>
              <a:defRPr/>
            </a:pPr>
            <a:r>
              <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rPr>
              <a:t>サービスの概要調査・実装パターン整理</a:t>
            </a:r>
            <a:endParaRPr kumimoji="0" lang="en-US" altLang="ja-JP" sz="1400" b="0" i="0" u="none" strike="noStrike" kern="0" cap="none" spc="0" normalizeH="0" baseline="0" noProof="0" dirty="0">
              <a:ln>
                <a:noFill/>
              </a:ln>
              <a:solidFill>
                <a:prstClr val="black"/>
              </a:solidFill>
              <a:effectLst/>
              <a:uLnTx/>
              <a:uFillTx/>
              <a:latin typeface="Calibri Light"/>
              <a:ea typeface="Yu Gothic UI"/>
              <a:cs typeface="Arial" charset="0"/>
            </a:endParaRPr>
          </a:p>
          <a:p>
            <a:pPr marL="271463" marR="0" lvl="0" indent="-271463" defTabSz="990564" eaLnBrk="1" fontAlgn="auto" latinLnBrk="0" hangingPunct="1">
              <a:lnSpc>
                <a:spcPct val="100000"/>
              </a:lnSpc>
              <a:spcBef>
                <a:spcPts val="0"/>
              </a:spcBef>
              <a:spcAft>
                <a:spcPts val="0"/>
              </a:spcAft>
              <a:buClrTx/>
              <a:buSzPct val="100000"/>
              <a:buFont typeface="Wingdings" panose="05000000000000000000" pitchFamily="2" charset="2"/>
              <a:buChar char="n"/>
              <a:tabLst/>
              <a:defRPr/>
            </a:pPr>
            <a:r>
              <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rPr>
              <a:t>ライブラリの概要調査・ライブラリ活用パターン整理</a:t>
            </a:r>
            <a:endParaRPr kumimoji="0" lang="en-US" altLang="ja-JP" sz="1400" b="0" i="0" u="none" strike="noStrike" kern="0" cap="none" spc="0" normalizeH="0" baseline="0" noProof="0" dirty="0">
              <a:ln>
                <a:noFill/>
              </a:ln>
              <a:solidFill>
                <a:prstClr val="black"/>
              </a:solidFill>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0"/>
              </a:spcBef>
              <a:spcAft>
                <a:spcPts val="0"/>
              </a:spcAft>
              <a:buClrTx/>
              <a:buSzPct val="100000"/>
              <a:buFont typeface="Wingdings" panose="05000000000000000000" pitchFamily="2" charset="2"/>
              <a:buChar char="n"/>
              <a:tabLst/>
              <a:defRPr/>
            </a:pPr>
            <a:endPar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3" name="正方形/長方形 2">
            <a:extLst>
              <a:ext uri="{FF2B5EF4-FFF2-40B4-BE49-F238E27FC236}">
                <a16:creationId xmlns:a16="http://schemas.microsoft.com/office/drawing/2014/main" id="{420087DC-2D74-4EC8-166B-7DB183E9E539}"/>
              </a:ext>
            </a:extLst>
          </p:cNvPr>
          <p:cNvSpPr/>
          <p:nvPr/>
        </p:nvSpPr>
        <p:spPr>
          <a:xfrm>
            <a:off x="273050" y="4065016"/>
            <a:ext cx="1111613" cy="507001"/>
          </a:xfrm>
          <a:prstGeom prst="rect">
            <a:avLst/>
          </a:prstGeom>
          <a:solidFill>
            <a:schemeClr val="accent1">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t>調査内容</a:t>
            </a:r>
            <a:endParaRPr kumimoji="1" lang="en-US" altLang="ja-JP" sz="1400" dirty="0"/>
          </a:p>
        </p:txBody>
      </p:sp>
      <p:sp>
        <p:nvSpPr>
          <p:cNvPr id="5" name="正方形/長方形 4">
            <a:extLst>
              <a:ext uri="{FF2B5EF4-FFF2-40B4-BE49-F238E27FC236}">
                <a16:creationId xmlns:a16="http://schemas.microsoft.com/office/drawing/2014/main" id="{0AE082BF-719E-F158-0B38-BDE514F31904}"/>
              </a:ext>
            </a:extLst>
          </p:cNvPr>
          <p:cNvSpPr/>
          <p:nvPr/>
        </p:nvSpPr>
        <p:spPr bwMode="gray">
          <a:xfrm>
            <a:off x="1550126" y="4065015"/>
            <a:ext cx="7723834" cy="507001"/>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R="0" lvl="0" algn="ctr" defTabSz="990564" eaLnBrk="1" fontAlgn="auto" latinLnBrk="0" hangingPunct="1">
              <a:lnSpc>
                <a:spcPct val="100000"/>
              </a:lnSpc>
              <a:spcBef>
                <a:spcPts val="0"/>
              </a:spcBef>
              <a:spcAft>
                <a:spcPts val="0"/>
              </a:spcAft>
              <a:buClrTx/>
              <a:buSzPct val="100000"/>
              <a:tabLst/>
              <a:defRPr/>
            </a:pPr>
            <a:r>
              <a:rPr kumimoji="0" lang="ja-JP" altLang="en-US" sz="1400" kern="0" dirty="0">
                <a:solidFill>
                  <a:prstClr val="black"/>
                </a:solidFill>
                <a:latin typeface="Calibri Light"/>
                <a:ea typeface="Yu Gothic UI"/>
                <a:cs typeface="Arial" charset="0"/>
              </a:rPr>
              <a:t>デスクトップ調査</a:t>
            </a:r>
            <a:endParaRPr kumimoji="0" lang="en-US" altLang="ja-JP" sz="1400" kern="0" dirty="0">
              <a:solidFill>
                <a:prstClr val="black"/>
              </a:solidFill>
              <a:latin typeface="Calibri Light"/>
              <a:ea typeface="Yu Gothic UI"/>
              <a:cs typeface="Arial" charset="0"/>
            </a:endParaRPr>
          </a:p>
        </p:txBody>
      </p:sp>
    </p:spTree>
    <p:extLst>
      <p:ext uri="{BB962C8B-B14F-4D97-AF65-F5344CB8AC3E}">
        <p14:creationId xmlns:p14="http://schemas.microsoft.com/office/powerpoint/2010/main" val="616388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AD121A-3A63-4628-F483-D086205888F0}"/>
              </a:ext>
            </a:extLst>
          </p:cNvPr>
          <p:cNvSpPr>
            <a:spLocks noGrp="1"/>
          </p:cNvSpPr>
          <p:nvPr>
            <p:ph type="title"/>
          </p:nvPr>
        </p:nvSpPr>
        <p:spPr/>
        <p:txBody>
          <a:bodyPr/>
          <a:lstStyle/>
          <a:p>
            <a:r>
              <a:rPr kumimoji="1" lang="en-US" altLang="ja-JP" dirty="0"/>
              <a:t>3. </a:t>
            </a:r>
            <a:r>
              <a:rPr kumimoji="1" lang="ja-JP" altLang="en-US" dirty="0"/>
              <a:t>調査まとめ</a:t>
            </a:r>
          </a:p>
        </p:txBody>
      </p:sp>
      <p:sp>
        <p:nvSpPr>
          <p:cNvPr id="3" name="テキスト プレースホルダー 2">
            <a:extLst>
              <a:ext uri="{FF2B5EF4-FFF2-40B4-BE49-F238E27FC236}">
                <a16:creationId xmlns:a16="http://schemas.microsoft.com/office/drawing/2014/main" id="{486F7641-9C8E-9461-639A-782D1D8FF4E1}"/>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3.</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調査まとめ</a:t>
            </a:r>
            <a:endParaRPr lang="ja-JP" altLang="en-US" sz="1050" u="none" strike="noStrike" cap="none" dirty="0">
              <a:latin typeface="+mn-ea"/>
              <a:ea typeface="+mn-ea"/>
            </a:endParaRPr>
          </a:p>
        </p:txBody>
      </p:sp>
      <p:grpSp>
        <p:nvGrpSpPr>
          <p:cNvPr id="12" name="グループ化 11">
            <a:extLst>
              <a:ext uri="{FF2B5EF4-FFF2-40B4-BE49-F238E27FC236}">
                <a16:creationId xmlns:a16="http://schemas.microsoft.com/office/drawing/2014/main" id="{46C1B098-8BC7-8820-F726-CD7D83A8B3F6}"/>
              </a:ext>
            </a:extLst>
          </p:cNvPr>
          <p:cNvGrpSpPr/>
          <p:nvPr/>
        </p:nvGrpSpPr>
        <p:grpSpPr>
          <a:xfrm>
            <a:off x="273050" y="908051"/>
            <a:ext cx="9359899" cy="1692000"/>
            <a:chOff x="273050" y="908051"/>
            <a:chExt cx="9359899" cy="1692000"/>
          </a:xfrm>
        </p:grpSpPr>
        <p:sp>
          <p:nvSpPr>
            <p:cNvPr id="4" name="正方形/長方形 3">
              <a:extLst>
                <a:ext uri="{FF2B5EF4-FFF2-40B4-BE49-F238E27FC236}">
                  <a16:creationId xmlns:a16="http://schemas.microsoft.com/office/drawing/2014/main" id="{2358FDAC-2FA3-4F87-5D91-5EA9C3B9E5D3}"/>
                </a:ext>
              </a:extLst>
            </p:cNvPr>
            <p:cNvSpPr/>
            <p:nvPr/>
          </p:nvSpPr>
          <p:spPr>
            <a:xfrm>
              <a:off x="273050" y="908051"/>
              <a:ext cx="1189990" cy="1692000"/>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zh-TW" altLang="en-US" sz="1400">
                  <a:solidFill>
                    <a:schemeClr val="bg1"/>
                  </a:solidFill>
                  <a:latin typeface="+mn-ea"/>
                </a:rPr>
                <a:t>規格実態調査</a:t>
              </a:r>
              <a:endParaRPr kumimoji="1" lang="zh-TW" altLang="en-US" sz="1400" dirty="0">
                <a:solidFill>
                  <a:schemeClr val="bg1"/>
                </a:solidFill>
                <a:latin typeface="+mn-ea"/>
              </a:endParaRPr>
            </a:p>
          </p:txBody>
        </p:sp>
        <p:sp>
          <p:nvSpPr>
            <p:cNvPr id="9" name="正方形/長方形 8">
              <a:extLst>
                <a:ext uri="{FF2B5EF4-FFF2-40B4-BE49-F238E27FC236}">
                  <a16:creationId xmlns:a16="http://schemas.microsoft.com/office/drawing/2014/main" id="{7C0A4FED-8536-8CB9-E286-96FC066A9560}"/>
                </a:ext>
              </a:extLst>
            </p:cNvPr>
            <p:cNvSpPr/>
            <p:nvPr/>
          </p:nvSpPr>
          <p:spPr>
            <a:xfrm>
              <a:off x="1469570" y="908051"/>
              <a:ext cx="8163379" cy="16920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82563" indent="-182563">
                <a:buFont typeface="Arial" panose="020B0604020202020204" pitchFamily="34" charset="0"/>
                <a:buChar char="•"/>
              </a:pPr>
              <a:r>
                <a:rPr kumimoji="1" lang="en-US" altLang="ja-JP" sz="1400" dirty="0">
                  <a:latin typeface="+mn-ea"/>
                </a:rPr>
                <a:t>DIF</a:t>
              </a:r>
              <a:r>
                <a:rPr kumimoji="1" lang="ja-JP" altLang="en-US" sz="1400" dirty="0">
                  <a:latin typeface="+mn-ea"/>
                </a:rPr>
                <a:t>で整理されている「</a:t>
              </a:r>
              <a:r>
                <a:rPr kumimoji="1" lang="en-US" altLang="ja-JP" sz="1400" dirty="0">
                  <a:latin typeface="+mn-ea"/>
                </a:rPr>
                <a:t>Interoperability Mapping</a:t>
              </a:r>
              <a:r>
                <a:rPr lang="ja-JP" altLang="en-US" sz="1400" dirty="0">
                  <a:latin typeface="+mn-ea"/>
                </a:rPr>
                <a:t> </a:t>
              </a:r>
              <a:r>
                <a:rPr kumimoji="1" lang="en-US" altLang="ja-JP" sz="1400" dirty="0">
                  <a:latin typeface="+mn-ea"/>
                </a:rPr>
                <a:t>Exercise</a:t>
              </a:r>
              <a:r>
                <a:rPr kumimoji="1" lang="ja-JP" altLang="en-US" sz="1400" dirty="0">
                  <a:latin typeface="+mn-ea"/>
                </a:rPr>
                <a:t>」をもとにレイヤ別</a:t>
              </a:r>
              <a:r>
                <a:rPr kumimoji="1" lang="en-US" altLang="ja-JP" sz="1400" dirty="0">
                  <a:latin typeface="+mn-ea"/>
                </a:rPr>
                <a:t>(</a:t>
              </a:r>
              <a:r>
                <a:rPr kumimoji="1" lang="ja-JP" altLang="en-US" sz="1400" dirty="0">
                  <a:latin typeface="+mn-ea"/>
                </a:rPr>
                <a:t>「</a:t>
              </a:r>
              <a:r>
                <a:rPr kumimoji="1" lang="en-US" altLang="ja-JP" sz="1400" dirty="0">
                  <a:latin typeface="+mn-ea"/>
                </a:rPr>
                <a:t>Credential Layer</a:t>
              </a:r>
              <a:r>
                <a:rPr kumimoji="1" lang="ja-JP" altLang="en-US" sz="1400" dirty="0">
                  <a:latin typeface="+mn-ea"/>
                </a:rPr>
                <a:t>」、「</a:t>
              </a:r>
              <a:r>
                <a:rPr kumimoji="1" lang="en-US" altLang="ja-JP" sz="1400" dirty="0">
                  <a:latin typeface="+mn-ea"/>
                </a:rPr>
                <a:t>Agent Layer</a:t>
              </a:r>
              <a:r>
                <a:rPr kumimoji="1" lang="ja-JP" altLang="en-US" sz="1400" dirty="0">
                  <a:latin typeface="+mn-ea"/>
                </a:rPr>
                <a:t>」、「</a:t>
              </a:r>
              <a:r>
                <a:rPr kumimoji="1" lang="en-US" altLang="ja-JP" sz="1400" dirty="0">
                  <a:latin typeface="+mn-ea"/>
                </a:rPr>
                <a:t>Public Trust Layer</a:t>
              </a:r>
              <a:r>
                <a:rPr kumimoji="1" lang="ja-JP" altLang="en-US" sz="1400" dirty="0">
                  <a:latin typeface="+mn-ea"/>
                </a:rPr>
                <a:t>」</a:t>
              </a:r>
              <a:r>
                <a:rPr lang="ja-JP" altLang="en-US" sz="1400" dirty="0">
                  <a:latin typeface="+mn-ea"/>
                </a:rPr>
                <a:t>の</a:t>
              </a:r>
              <a:r>
                <a:rPr kumimoji="1" lang="ja-JP" altLang="en-US" sz="1400" dirty="0">
                  <a:latin typeface="+mn-ea"/>
                </a:rPr>
                <a:t>「</a:t>
              </a:r>
              <a:r>
                <a:rPr kumimoji="1" lang="en-US" altLang="ja-JP" sz="1400" dirty="0">
                  <a:latin typeface="+mn-ea"/>
                </a:rPr>
                <a:t>Vertical / Cross-cutting</a:t>
              </a:r>
              <a:r>
                <a:rPr kumimoji="1" lang="ja-JP" altLang="en-US" sz="1400" dirty="0">
                  <a:latin typeface="+mn-ea"/>
                </a:rPr>
                <a:t>」</a:t>
              </a:r>
              <a:r>
                <a:rPr kumimoji="1" lang="en-US" altLang="ja-JP" sz="1400" dirty="0">
                  <a:latin typeface="+mn-ea"/>
                </a:rPr>
                <a:t>)</a:t>
              </a:r>
              <a:r>
                <a:rPr kumimoji="1" lang="ja-JP" altLang="en-US" sz="1400" dirty="0">
                  <a:latin typeface="+mn-ea"/>
                </a:rPr>
                <a:t>にデータフローのイメージ、規格概要、代表的な規格を取りまとめた</a:t>
              </a:r>
              <a:endParaRPr kumimoji="1" lang="en-US" altLang="ja-JP" sz="1400" dirty="0">
                <a:latin typeface="+mn-ea"/>
              </a:endParaRPr>
            </a:p>
            <a:p>
              <a:pPr marL="182563" indent="-182563">
                <a:buFont typeface="Arial" panose="020B0604020202020204" pitchFamily="34" charset="0"/>
                <a:buChar char="•"/>
              </a:pPr>
              <a:r>
                <a:rPr lang="ja-JP" altLang="en-US" sz="1400" dirty="0">
                  <a:latin typeface="+mn-ea"/>
                </a:rPr>
                <a:t>業界ごとの</a:t>
              </a:r>
              <a:r>
                <a:rPr lang="en-US" altLang="ja-JP" sz="1400" dirty="0">
                  <a:latin typeface="+mn-ea"/>
                </a:rPr>
                <a:t>VC</a:t>
              </a:r>
              <a:r>
                <a:rPr lang="ja-JP" altLang="en-US" sz="1400" dirty="0">
                  <a:latin typeface="+mn-ea"/>
                </a:rPr>
                <a:t>データモデルの検討状況を整理した</a:t>
              </a:r>
              <a:endParaRPr lang="en-US" altLang="ja-JP" sz="1400" dirty="0">
                <a:latin typeface="+mn-ea"/>
              </a:endParaRPr>
            </a:p>
            <a:p>
              <a:pPr marL="182563" indent="-182563">
                <a:buFont typeface="Arial" panose="020B0604020202020204" pitchFamily="34" charset="0"/>
                <a:buChar char="•"/>
              </a:pPr>
              <a:r>
                <a:rPr lang="en-US" altLang="ja-JP" sz="1400" dirty="0">
                  <a:latin typeface="+mn-ea"/>
                </a:rPr>
                <a:t>ISO</a:t>
              </a:r>
              <a:r>
                <a:rPr lang="ja-JP" altLang="en-US" sz="1400" dirty="0">
                  <a:latin typeface="+mn-ea"/>
                </a:rPr>
                <a:t>で検討されている</a:t>
              </a:r>
              <a:r>
                <a:rPr lang="en-US" altLang="ja-JP" sz="1400" dirty="0" err="1">
                  <a:latin typeface="+mn-ea"/>
                </a:rPr>
                <a:t>mDL</a:t>
              </a:r>
              <a:r>
                <a:rPr lang="ja-JP" altLang="en-US" sz="1400" dirty="0">
                  <a:latin typeface="+mn-ea"/>
                </a:rPr>
                <a:t>関連規格</a:t>
              </a:r>
              <a:r>
                <a:rPr lang="en-US" altLang="ja-JP" sz="1400" dirty="0">
                  <a:latin typeface="+mn-ea"/>
                </a:rPr>
                <a:t>(18013</a:t>
              </a:r>
              <a:r>
                <a:rPr lang="ja-JP" altLang="en-US" sz="1400" dirty="0">
                  <a:latin typeface="+mn-ea"/>
                </a:rPr>
                <a:t>シリーズ</a:t>
              </a:r>
              <a:r>
                <a:rPr lang="en-US" altLang="ja-JP" sz="1400" dirty="0">
                  <a:latin typeface="+mn-ea"/>
                </a:rPr>
                <a:t>/23220</a:t>
              </a:r>
              <a:r>
                <a:rPr lang="ja-JP" altLang="en-US" sz="1400" dirty="0">
                  <a:latin typeface="+mn-ea"/>
                </a:rPr>
                <a:t>シリーズ</a:t>
              </a:r>
              <a:r>
                <a:rPr lang="en-US" altLang="ja-JP" sz="1400" dirty="0">
                  <a:latin typeface="+mn-ea"/>
                </a:rPr>
                <a:t>)</a:t>
              </a:r>
              <a:r>
                <a:rPr lang="ja-JP" altLang="en-US" sz="1400" dirty="0">
                  <a:latin typeface="+mn-ea"/>
                </a:rPr>
                <a:t>の各項目で検討されている規格概要・規格ステータスを整理した</a:t>
              </a:r>
              <a:endParaRPr kumimoji="1" lang="en-US" altLang="ja-JP" sz="1400" dirty="0">
                <a:latin typeface="+mn-ea"/>
              </a:endParaRPr>
            </a:p>
          </p:txBody>
        </p:sp>
      </p:grpSp>
      <p:grpSp>
        <p:nvGrpSpPr>
          <p:cNvPr id="8" name="グループ化 7">
            <a:extLst>
              <a:ext uri="{FF2B5EF4-FFF2-40B4-BE49-F238E27FC236}">
                <a16:creationId xmlns:a16="http://schemas.microsoft.com/office/drawing/2014/main" id="{0990F47D-B7A9-19EC-A892-690085C8F199}"/>
              </a:ext>
            </a:extLst>
          </p:cNvPr>
          <p:cNvGrpSpPr/>
          <p:nvPr/>
        </p:nvGrpSpPr>
        <p:grpSpPr>
          <a:xfrm>
            <a:off x="273050" y="2817407"/>
            <a:ext cx="9359899" cy="1692000"/>
            <a:chOff x="273050" y="2435470"/>
            <a:chExt cx="9359899" cy="1692000"/>
          </a:xfrm>
        </p:grpSpPr>
        <p:sp>
          <p:nvSpPr>
            <p:cNvPr id="5" name="正方形/長方形 4">
              <a:extLst>
                <a:ext uri="{FF2B5EF4-FFF2-40B4-BE49-F238E27FC236}">
                  <a16:creationId xmlns:a16="http://schemas.microsoft.com/office/drawing/2014/main" id="{AF79225A-F81F-5346-72A4-12AF0CFA64B3}"/>
                </a:ext>
              </a:extLst>
            </p:cNvPr>
            <p:cNvSpPr/>
            <p:nvPr/>
          </p:nvSpPr>
          <p:spPr>
            <a:xfrm>
              <a:off x="273050" y="2435470"/>
              <a:ext cx="1189990" cy="1692000"/>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solidFill>
                    <a:schemeClr val="bg1"/>
                  </a:solidFill>
                  <a:latin typeface="+mn-ea"/>
                </a:rPr>
                <a:t>技術スタック</a:t>
              </a:r>
              <a:endParaRPr lang="en-US" altLang="ja-JP" sz="1400" dirty="0">
                <a:solidFill>
                  <a:schemeClr val="bg1"/>
                </a:solidFill>
                <a:latin typeface="+mn-ea"/>
              </a:endParaRPr>
            </a:p>
            <a:p>
              <a:pPr algn="ctr"/>
              <a:r>
                <a:rPr kumimoji="1" lang="ja-JP" altLang="en-US" sz="1400" dirty="0">
                  <a:solidFill>
                    <a:schemeClr val="bg1"/>
                  </a:solidFill>
                  <a:latin typeface="+mn-ea"/>
                </a:rPr>
                <a:t>詳細調査</a:t>
              </a:r>
            </a:p>
          </p:txBody>
        </p:sp>
        <p:sp>
          <p:nvSpPr>
            <p:cNvPr id="10" name="正方形/長方形 9">
              <a:extLst>
                <a:ext uri="{FF2B5EF4-FFF2-40B4-BE49-F238E27FC236}">
                  <a16:creationId xmlns:a16="http://schemas.microsoft.com/office/drawing/2014/main" id="{2DAFFD61-F56A-83C1-F574-B240364A16C7}"/>
                </a:ext>
              </a:extLst>
            </p:cNvPr>
            <p:cNvSpPr/>
            <p:nvPr/>
          </p:nvSpPr>
          <p:spPr>
            <a:xfrm>
              <a:off x="1469570" y="2435470"/>
              <a:ext cx="8163379" cy="16920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82563" indent="-182563">
                <a:buFont typeface="Arial" panose="020B0604020202020204" pitchFamily="34" charset="0"/>
                <a:buChar char="•"/>
              </a:pPr>
              <a:r>
                <a:rPr kumimoji="1" lang="en-US" altLang="ja-JP" sz="1400" dirty="0">
                  <a:latin typeface="+mn-ea"/>
                </a:rPr>
                <a:t>Credential Layer</a:t>
              </a:r>
              <a:r>
                <a:rPr kumimoji="1" lang="ja-JP" altLang="en-US" sz="1400" dirty="0">
                  <a:latin typeface="+mn-ea"/>
                </a:rPr>
                <a:t>では、証明書フォーマット・証明書の検証モデル・証明書に記載されている情報の選択的開示に関する規格の概要・比較整理を行った</a:t>
              </a:r>
              <a:endParaRPr kumimoji="1" lang="en-US" altLang="ja-JP" sz="1400" dirty="0">
                <a:latin typeface="+mn-ea"/>
              </a:endParaRPr>
            </a:p>
            <a:p>
              <a:pPr marL="182563" indent="-182563">
                <a:buFont typeface="Arial" panose="020B0604020202020204" pitchFamily="34" charset="0"/>
                <a:buChar char="•"/>
              </a:pPr>
              <a:r>
                <a:rPr lang="en-US" altLang="ja-JP" sz="1400" dirty="0">
                  <a:latin typeface="+mn-ea"/>
                </a:rPr>
                <a:t>Agent Layer</a:t>
              </a:r>
              <a:r>
                <a:rPr lang="ja-JP" altLang="en-US" sz="1400" dirty="0">
                  <a:latin typeface="+mn-ea"/>
                </a:rPr>
                <a:t>では、通信プロトコル・デバイス連携に関する規格の概要・比較整理を行った</a:t>
              </a:r>
              <a:endParaRPr lang="en-US" altLang="ja-JP" sz="1400" dirty="0">
                <a:latin typeface="+mn-ea"/>
              </a:endParaRPr>
            </a:p>
            <a:p>
              <a:pPr marL="182563" indent="-182563">
                <a:buFont typeface="Arial" panose="020B0604020202020204" pitchFamily="34" charset="0"/>
                <a:buChar char="•"/>
              </a:pPr>
              <a:r>
                <a:rPr kumimoji="1" lang="en-US" altLang="ja-JP" sz="1400" dirty="0">
                  <a:latin typeface="+mn-ea"/>
                </a:rPr>
                <a:t>Public Trust Layer</a:t>
              </a:r>
              <a:r>
                <a:rPr kumimoji="1" lang="ja-JP" altLang="en-US" sz="1400" dirty="0">
                  <a:latin typeface="+mn-ea"/>
                </a:rPr>
                <a:t>では、</a:t>
              </a:r>
              <a:r>
                <a:rPr kumimoji="1" lang="en-US" altLang="ja-JP" sz="1400" dirty="0">
                  <a:latin typeface="+mn-ea"/>
                </a:rPr>
                <a:t>DID Document</a:t>
              </a:r>
              <a:r>
                <a:rPr kumimoji="1" lang="ja-JP" altLang="en-US" sz="1400" dirty="0">
                  <a:latin typeface="+mn-ea"/>
                </a:rPr>
                <a:t>を活用した場合</a:t>
              </a:r>
              <a:r>
                <a:rPr kumimoji="1" lang="en-US" altLang="ja-JP" sz="1400" dirty="0">
                  <a:latin typeface="+mn-ea"/>
                </a:rPr>
                <a:t>/</a:t>
              </a:r>
              <a:r>
                <a:rPr kumimoji="1" lang="ja-JP" altLang="en-US" sz="1400" dirty="0">
                  <a:latin typeface="+mn-ea"/>
                </a:rPr>
                <a:t>しなかった場合の証明書の検証方法、</a:t>
              </a:r>
              <a:r>
                <a:rPr kumimoji="1" lang="en-US" altLang="ja-JP" sz="1400" dirty="0">
                  <a:latin typeface="+mn-ea"/>
                </a:rPr>
                <a:t>DID Document</a:t>
              </a:r>
              <a:r>
                <a:rPr kumimoji="1" lang="ja-JP" altLang="en-US" sz="1400" dirty="0">
                  <a:latin typeface="+mn-ea"/>
                </a:rPr>
                <a:t>を活用した場合のストレージ比較、名前解決方法、データ格納庫等について整理した</a:t>
              </a:r>
              <a:endParaRPr kumimoji="1" lang="en-US" altLang="ja-JP" sz="1400" dirty="0">
                <a:latin typeface="+mn-ea"/>
              </a:endParaRPr>
            </a:p>
            <a:p>
              <a:pPr marL="182563" indent="-182563">
                <a:buFont typeface="Arial" panose="020B0604020202020204" pitchFamily="34" charset="0"/>
                <a:buChar char="•"/>
              </a:pPr>
              <a:r>
                <a:rPr lang="en-US" altLang="ja-JP" sz="1400" dirty="0" err="1">
                  <a:latin typeface="+mn-ea"/>
                </a:rPr>
                <a:t>m</a:t>
              </a:r>
              <a:r>
                <a:rPr kumimoji="1" lang="en-US" altLang="ja-JP" sz="1400" dirty="0" err="1">
                  <a:latin typeface="+mn-ea"/>
                </a:rPr>
                <a:t>DL</a:t>
              </a:r>
              <a:r>
                <a:rPr kumimoji="1" lang="ja-JP" altLang="en-US" sz="1400" dirty="0">
                  <a:latin typeface="+mn-ea"/>
                </a:rPr>
                <a:t>・</a:t>
              </a:r>
              <a:r>
                <a:rPr kumimoji="1" lang="en-US" altLang="ja-JP" sz="1400" dirty="0">
                  <a:latin typeface="+mn-ea"/>
                </a:rPr>
                <a:t>VC</a:t>
              </a:r>
              <a:r>
                <a:rPr kumimoji="1" lang="ja-JP" altLang="en-US" sz="1400" dirty="0">
                  <a:latin typeface="+mn-ea"/>
                </a:rPr>
                <a:t>の特徴</a:t>
              </a:r>
              <a:r>
                <a:rPr kumimoji="1" lang="en-US" altLang="ja-JP" sz="1400" dirty="0">
                  <a:latin typeface="+mn-ea"/>
                </a:rPr>
                <a:t>(</a:t>
              </a:r>
              <a:r>
                <a:rPr kumimoji="1" lang="ja-JP" altLang="en-US" sz="1400" dirty="0">
                  <a:latin typeface="+mn-ea"/>
                </a:rPr>
                <a:t>データモデル・アーキテクチャ・検証フロー</a:t>
              </a:r>
              <a:r>
                <a:rPr kumimoji="1" lang="en-US" altLang="ja-JP" sz="1400" dirty="0">
                  <a:latin typeface="+mn-ea"/>
                </a:rPr>
                <a:t>)</a:t>
              </a:r>
              <a:r>
                <a:rPr kumimoji="1" lang="ja-JP" altLang="en-US" sz="1400" dirty="0">
                  <a:latin typeface="+mn-ea"/>
                </a:rPr>
                <a:t>の整理を行った</a:t>
              </a:r>
              <a:endParaRPr kumimoji="1" lang="en-US" altLang="ja-JP" sz="1400" dirty="0">
                <a:latin typeface="+mn-ea"/>
              </a:endParaRPr>
            </a:p>
          </p:txBody>
        </p:sp>
      </p:grpSp>
      <p:grpSp>
        <p:nvGrpSpPr>
          <p:cNvPr id="7" name="グループ化 6">
            <a:extLst>
              <a:ext uri="{FF2B5EF4-FFF2-40B4-BE49-F238E27FC236}">
                <a16:creationId xmlns:a16="http://schemas.microsoft.com/office/drawing/2014/main" id="{DB47CE7A-9260-8A14-A708-E39053C529DF}"/>
              </a:ext>
            </a:extLst>
          </p:cNvPr>
          <p:cNvGrpSpPr/>
          <p:nvPr/>
        </p:nvGrpSpPr>
        <p:grpSpPr>
          <a:xfrm>
            <a:off x="273050" y="4726763"/>
            <a:ext cx="9359899" cy="1692000"/>
            <a:chOff x="273050" y="4053253"/>
            <a:chExt cx="9359899" cy="1692000"/>
          </a:xfrm>
        </p:grpSpPr>
        <p:sp>
          <p:nvSpPr>
            <p:cNvPr id="6" name="正方形/長方形 5">
              <a:extLst>
                <a:ext uri="{FF2B5EF4-FFF2-40B4-BE49-F238E27FC236}">
                  <a16:creationId xmlns:a16="http://schemas.microsoft.com/office/drawing/2014/main" id="{C315840D-5A3B-5117-4616-B472EA30D982}"/>
                </a:ext>
              </a:extLst>
            </p:cNvPr>
            <p:cNvSpPr/>
            <p:nvPr/>
          </p:nvSpPr>
          <p:spPr>
            <a:xfrm>
              <a:off x="273050" y="4053253"/>
              <a:ext cx="1189990" cy="1692000"/>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dirty="0">
                  <a:solidFill>
                    <a:schemeClr val="bg1"/>
                  </a:solidFill>
                  <a:latin typeface="+mn-ea"/>
                </a:rPr>
                <a:t>実装パターンの</a:t>
              </a:r>
              <a:endParaRPr kumimoji="1" lang="en-US" altLang="ja-JP" sz="1400" dirty="0">
                <a:solidFill>
                  <a:schemeClr val="bg1"/>
                </a:solidFill>
                <a:latin typeface="+mn-ea"/>
              </a:endParaRPr>
            </a:p>
            <a:p>
              <a:pPr algn="ctr"/>
              <a:r>
                <a:rPr kumimoji="1" lang="ja-JP" altLang="en-US" sz="1400" dirty="0">
                  <a:solidFill>
                    <a:schemeClr val="bg1"/>
                  </a:solidFill>
                  <a:latin typeface="+mn-ea"/>
                </a:rPr>
                <a:t>抽出・事例調査</a:t>
              </a:r>
              <a:endParaRPr kumimoji="1" lang="en-US" altLang="ja-JP" sz="1400" dirty="0">
                <a:solidFill>
                  <a:schemeClr val="bg1"/>
                </a:solidFill>
                <a:latin typeface="+mn-ea"/>
              </a:endParaRPr>
            </a:p>
          </p:txBody>
        </p:sp>
        <p:sp>
          <p:nvSpPr>
            <p:cNvPr id="11" name="正方形/長方形 10">
              <a:extLst>
                <a:ext uri="{FF2B5EF4-FFF2-40B4-BE49-F238E27FC236}">
                  <a16:creationId xmlns:a16="http://schemas.microsoft.com/office/drawing/2014/main" id="{0E79122C-8A51-4DAB-EDC4-E19F2BE93F25}"/>
                </a:ext>
              </a:extLst>
            </p:cNvPr>
            <p:cNvSpPr/>
            <p:nvPr/>
          </p:nvSpPr>
          <p:spPr>
            <a:xfrm>
              <a:off x="1469570" y="4053253"/>
              <a:ext cx="8163379" cy="16920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kumimoji="1" lang="en-US" altLang="ja-JP" sz="1400" dirty="0">
                  <a:latin typeface="+mn-ea"/>
                </a:rPr>
                <a:t>【</a:t>
              </a:r>
              <a:r>
                <a:rPr kumimoji="1" lang="ja-JP" altLang="en-US" sz="1400" dirty="0">
                  <a:latin typeface="+mn-ea"/>
                </a:rPr>
                <a:t>サービス・フレームワーク</a:t>
              </a:r>
              <a:r>
                <a:rPr kumimoji="1" lang="en-US" altLang="ja-JP" sz="1400" dirty="0">
                  <a:latin typeface="+mn-ea"/>
                </a:rPr>
                <a:t>】</a:t>
              </a:r>
            </a:p>
            <a:p>
              <a:pPr marL="182563" indent="-182563">
                <a:buFont typeface="Arial" panose="020B0604020202020204" pitchFamily="34" charset="0"/>
                <a:buChar char="•"/>
              </a:pPr>
              <a:r>
                <a:rPr kumimoji="1" lang="ja-JP" altLang="en-US" sz="1400" dirty="0">
                  <a:latin typeface="+mn-ea"/>
                </a:rPr>
                <a:t>実際に普及しているサービス・ガイドラインのサービス概要・実装されている技術スタック</a:t>
              </a:r>
              <a:r>
                <a:rPr lang="ja-JP" altLang="en-US" sz="1400" dirty="0">
                  <a:latin typeface="+mn-ea"/>
                </a:rPr>
                <a:t>等</a:t>
              </a:r>
              <a:r>
                <a:rPr kumimoji="1" lang="ja-JP" altLang="en-US" sz="1400" dirty="0">
                  <a:latin typeface="+mn-ea"/>
                </a:rPr>
                <a:t>を調査し、その中から現時点で考えうる実装パターンを分析した</a:t>
              </a:r>
              <a:endParaRPr kumimoji="1" lang="en-US" altLang="ja-JP" sz="1400" dirty="0">
                <a:latin typeface="+mn-ea"/>
              </a:endParaRPr>
            </a:p>
            <a:p>
              <a:pPr marL="182563" indent="-182563">
                <a:buFont typeface="Arial" panose="020B0604020202020204" pitchFamily="34" charset="0"/>
                <a:buChar char="•"/>
              </a:pPr>
              <a:endParaRPr lang="en-US" altLang="ja-JP" sz="1400" dirty="0">
                <a:latin typeface="+mn-ea"/>
              </a:endParaRPr>
            </a:p>
            <a:p>
              <a:r>
                <a:rPr kumimoji="1" lang="en-US" altLang="ja-JP" sz="1400" dirty="0">
                  <a:latin typeface="+mn-ea"/>
                </a:rPr>
                <a:t>【</a:t>
              </a:r>
              <a:r>
                <a:rPr kumimoji="1" lang="ja-JP" altLang="en-US" sz="1400" dirty="0">
                  <a:latin typeface="+mn-ea"/>
                </a:rPr>
                <a:t>ライブラリ</a:t>
              </a:r>
              <a:r>
                <a:rPr kumimoji="1" lang="en-US" altLang="ja-JP" sz="1400" dirty="0">
                  <a:latin typeface="+mn-ea"/>
                </a:rPr>
                <a:t>】</a:t>
              </a:r>
            </a:p>
            <a:p>
              <a:pPr marL="180975" indent="-180975">
                <a:buFont typeface="Arial" panose="020B0604020202020204" pitchFamily="34" charset="0"/>
                <a:buChar char="•"/>
              </a:pPr>
              <a:r>
                <a:rPr lang="ja-JP" altLang="en-US" sz="1400" dirty="0">
                  <a:latin typeface="+mn-ea"/>
                </a:rPr>
                <a:t>実際に普及しているライブラリの概要・提供形態・対応範囲等を調査し、事業者が実装する場合にどのライブラリを活用すべきかの分析を行った</a:t>
              </a:r>
              <a:endParaRPr kumimoji="1" lang="en-US" altLang="ja-JP" sz="1400" dirty="0">
                <a:latin typeface="+mn-ea"/>
              </a:endParaRPr>
            </a:p>
          </p:txBody>
        </p:sp>
      </p:grpSp>
    </p:spTree>
    <p:extLst>
      <p:ext uri="{BB962C8B-B14F-4D97-AF65-F5344CB8AC3E}">
        <p14:creationId xmlns:p14="http://schemas.microsoft.com/office/powerpoint/2010/main" val="1107374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1C0225-293C-CBAD-71A3-74947F151FAB}"/>
              </a:ext>
            </a:extLst>
          </p:cNvPr>
          <p:cNvSpPr>
            <a:spLocks noGrp="1"/>
          </p:cNvSpPr>
          <p:nvPr>
            <p:ph type="title"/>
          </p:nvPr>
        </p:nvSpPr>
        <p:spPr>
          <a:xfrm>
            <a:off x="273050" y="446857"/>
            <a:ext cx="7848302" cy="246221"/>
          </a:xfrm>
        </p:spPr>
        <p:txBody>
          <a:bodyPr/>
          <a:lstStyle/>
          <a:p>
            <a:r>
              <a:rPr kumimoji="1" lang="en-US" altLang="ja-JP" dirty="0"/>
              <a:t>4.1. </a:t>
            </a:r>
            <a:r>
              <a:rPr kumimoji="1" lang="zh-TW" altLang="en-US" dirty="0"/>
              <a:t>規格全体観</a:t>
            </a:r>
            <a:endParaRPr kumimoji="1" lang="ja-JP" altLang="en-US" dirty="0"/>
          </a:p>
        </p:txBody>
      </p:sp>
      <p:sp>
        <p:nvSpPr>
          <p:cNvPr id="3" name="コンテンツ プレースホルダー 2">
            <a:extLst>
              <a:ext uri="{FF2B5EF4-FFF2-40B4-BE49-F238E27FC236}">
                <a16:creationId xmlns:a16="http://schemas.microsoft.com/office/drawing/2014/main" id="{98C58841-CD3E-6F29-9345-C4F2F0E4C284}"/>
              </a:ext>
            </a:extLst>
          </p:cNvPr>
          <p:cNvSpPr>
            <a:spLocks noGrp="1"/>
          </p:cNvSpPr>
          <p:nvPr>
            <p:ph idx="1"/>
          </p:nvPr>
        </p:nvSpPr>
        <p:spPr>
          <a:xfrm>
            <a:off x="273050" y="908050"/>
            <a:ext cx="9359900" cy="215444"/>
          </a:xfrm>
        </p:spPr>
        <p:txBody>
          <a:bodyPr/>
          <a:lstStyle/>
          <a:p>
            <a:r>
              <a:rPr lang="en-US" altLang="ja-JP" dirty="0"/>
              <a:t>DIF</a:t>
            </a:r>
            <a:r>
              <a:rPr lang="ja-JP" altLang="en-US" dirty="0"/>
              <a:t>で整理されている「</a:t>
            </a:r>
            <a:r>
              <a:rPr lang="en-US" altLang="ja-JP" dirty="0"/>
              <a:t>Interoperability Mapping Exercise</a:t>
            </a:r>
            <a:r>
              <a:rPr lang="ja-JP" altLang="en-US" dirty="0"/>
              <a:t>」をもとに技術スタックの概要や代表的な規格を取りまとめた</a:t>
            </a:r>
            <a:endParaRPr kumimoji="1" lang="ja-JP" altLang="en-US" dirty="0"/>
          </a:p>
        </p:txBody>
      </p:sp>
      <p:sp>
        <p:nvSpPr>
          <p:cNvPr id="4" name="テキスト プレースホルダー 3">
            <a:extLst>
              <a:ext uri="{FF2B5EF4-FFF2-40B4-BE49-F238E27FC236}">
                <a16:creationId xmlns:a16="http://schemas.microsoft.com/office/drawing/2014/main" id="{AA01B0C9-AD5D-0334-A134-C09BE2A1364E}"/>
              </a:ext>
            </a:extLst>
          </p:cNvPr>
          <p:cNvSpPr>
            <a:spLocks noGrp="1"/>
          </p:cNvSpPr>
          <p:nvPr>
            <p:ph type="body" sz="quarter" idx="10"/>
          </p:nvPr>
        </p:nvSpPr>
        <p:spPr>
          <a:xfrm>
            <a:off x="273050" y="188913"/>
            <a:ext cx="7848600" cy="161583"/>
          </a:xfrm>
        </p:spPr>
        <p:txBody>
          <a:bodyPr/>
          <a:lstStyle/>
          <a:p>
            <a:r>
              <a:rPr kumimoji="1" lang="en-US" altLang="zh-TW" dirty="0"/>
              <a:t>4.</a:t>
            </a:r>
            <a:r>
              <a:rPr lang="zh-TW" altLang="en-US" dirty="0"/>
              <a:t> </a:t>
            </a:r>
            <a:r>
              <a:rPr kumimoji="1" lang="zh-TW" altLang="en-US" dirty="0"/>
              <a:t>規格実態調査</a:t>
            </a:r>
          </a:p>
        </p:txBody>
      </p:sp>
      <p:grpSp>
        <p:nvGrpSpPr>
          <p:cNvPr id="64" name="グループ化 63">
            <a:extLst>
              <a:ext uri="{FF2B5EF4-FFF2-40B4-BE49-F238E27FC236}">
                <a16:creationId xmlns:a16="http://schemas.microsoft.com/office/drawing/2014/main" id="{75B75615-8C42-8875-EEFC-AFD8E7CD6570}"/>
              </a:ext>
            </a:extLst>
          </p:cNvPr>
          <p:cNvGrpSpPr/>
          <p:nvPr/>
        </p:nvGrpSpPr>
        <p:grpSpPr>
          <a:xfrm>
            <a:off x="273050" y="1375528"/>
            <a:ext cx="9359900" cy="4922416"/>
            <a:chOff x="273050" y="1363653"/>
            <a:chExt cx="9359900" cy="4922416"/>
          </a:xfrm>
        </p:grpSpPr>
        <p:sp>
          <p:nvSpPr>
            <p:cNvPr id="6" name="正方形/長方形 5">
              <a:extLst>
                <a:ext uri="{FF2B5EF4-FFF2-40B4-BE49-F238E27FC236}">
                  <a16:creationId xmlns:a16="http://schemas.microsoft.com/office/drawing/2014/main" id="{2DF42C38-1156-2556-A61A-84F2DBA4DAAD}"/>
                </a:ext>
              </a:extLst>
            </p:cNvPr>
            <p:cNvSpPr/>
            <p:nvPr/>
          </p:nvSpPr>
          <p:spPr bwMode="gray">
            <a:xfrm>
              <a:off x="273050" y="4925539"/>
              <a:ext cx="6530546" cy="1360530"/>
            </a:xfrm>
            <a:prstGeom prst="rect">
              <a:avLst/>
            </a:prstGeom>
            <a:solidFill>
              <a:schemeClr val="accent1">
                <a:lumMod val="20000"/>
                <a:lumOff val="80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lang="en-US" altLang="ja-JP" sz="1400" b="1" dirty="0">
                  <a:solidFill>
                    <a:schemeClr val="accent1"/>
                  </a:solidFill>
                  <a:latin typeface="+mn-ea"/>
                  <a:ea typeface="+mn-ea"/>
                </a:rPr>
                <a:t>Public Trust Layer</a:t>
              </a:r>
              <a:r>
                <a:rPr lang="ja-JP" altLang="en-US" sz="1400" b="1" dirty="0">
                  <a:solidFill>
                    <a:schemeClr val="accent1"/>
                  </a:solidFill>
                  <a:latin typeface="+mn-ea"/>
                  <a:ea typeface="+mn-ea"/>
                </a:rPr>
                <a:t>：トラストアンカー、データレジストリ</a:t>
              </a:r>
            </a:p>
          </p:txBody>
        </p:sp>
        <p:sp>
          <p:nvSpPr>
            <p:cNvPr id="7" name="正方形/長方形 6">
              <a:extLst>
                <a:ext uri="{FF2B5EF4-FFF2-40B4-BE49-F238E27FC236}">
                  <a16:creationId xmlns:a16="http://schemas.microsoft.com/office/drawing/2014/main" id="{A7CAF0F4-3EEB-F0AC-77B3-0BD14F5E0A3C}"/>
                </a:ext>
              </a:extLst>
            </p:cNvPr>
            <p:cNvSpPr/>
            <p:nvPr/>
          </p:nvSpPr>
          <p:spPr bwMode="gray">
            <a:xfrm>
              <a:off x="273050" y="1794452"/>
              <a:ext cx="6530546" cy="1360530"/>
            </a:xfrm>
            <a:prstGeom prst="rect">
              <a:avLst/>
            </a:prstGeom>
            <a:solidFill>
              <a:schemeClr val="accent1">
                <a:lumMod val="20000"/>
                <a:lumOff val="80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lang="en-US" altLang="ja-JP" sz="1400" b="1" dirty="0">
                  <a:solidFill>
                    <a:schemeClr val="accent1"/>
                  </a:solidFill>
                  <a:latin typeface="+mn-ea"/>
                  <a:ea typeface="+mn-ea"/>
                </a:rPr>
                <a:t>Credential Layer</a:t>
              </a:r>
              <a:r>
                <a:rPr lang="ja-JP" altLang="en-US" sz="1400" b="1" dirty="0">
                  <a:solidFill>
                    <a:schemeClr val="accent1"/>
                  </a:solidFill>
                  <a:latin typeface="+mn-ea"/>
                  <a:ea typeface="+mn-ea"/>
                </a:rPr>
                <a:t>：証明書フォーマット、交換、バインディング</a:t>
              </a:r>
            </a:p>
          </p:txBody>
        </p:sp>
        <p:sp>
          <p:nvSpPr>
            <p:cNvPr id="8" name="正方形/長方形 7">
              <a:extLst>
                <a:ext uri="{FF2B5EF4-FFF2-40B4-BE49-F238E27FC236}">
                  <a16:creationId xmlns:a16="http://schemas.microsoft.com/office/drawing/2014/main" id="{C00F7BA1-5280-B59D-F8FF-9F39FF6EB716}"/>
                </a:ext>
              </a:extLst>
            </p:cNvPr>
            <p:cNvSpPr/>
            <p:nvPr/>
          </p:nvSpPr>
          <p:spPr bwMode="gray">
            <a:xfrm>
              <a:off x="273050" y="3323030"/>
              <a:ext cx="6530546" cy="1360530"/>
            </a:xfrm>
            <a:prstGeom prst="rect">
              <a:avLst/>
            </a:prstGeom>
            <a:solidFill>
              <a:schemeClr val="accent1">
                <a:lumMod val="20000"/>
                <a:lumOff val="80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lang="en-US" altLang="ja-JP" sz="1400" b="1" dirty="0">
                  <a:solidFill>
                    <a:schemeClr val="accent1"/>
                  </a:solidFill>
                  <a:latin typeface="+mn-ea"/>
                  <a:ea typeface="+mn-ea"/>
                </a:rPr>
                <a:t>Agent Layer</a:t>
              </a:r>
              <a:r>
                <a:rPr lang="ja-JP" altLang="en-US" sz="1400" b="1" dirty="0">
                  <a:solidFill>
                    <a:schemeClr val="accent1"/>
                  </a:solidFill>
                  <a:latin typeface="+mn-ea"/>
                  <a:ea typeface="+mn-ea"/>
                </a:rPr>
                <a:t>：通信プロトコル、ストレージ、鍵アクセス</a:t>
              </a:r>
            </a:p>
          </p:txBody>
        </p:sp>
        <p:sp>
          <p:nvSpPr>
            <p:cNvPr id="9" name="正方形/長方形 8">
              <a:extLst>
                <a:ext uri="{FF2B5EF4-FFF2-40B4-BE49-F238E27FC236}">
                  <a16:creationId xmlns:a16="http://schemas.microsoft.com/office/drawing/2014/main" id="{C103E866-D173-3DA0-BA63-15151ADCEAEB}"/>
                </a:ext>
              </a:extLst>
            </p:cNvPr>
            <p:cNvSpPr/>
            <p:nvPr/>
          </p:nvSpPr>
          <p:spPr bwMode="gray">
            <a:xfrm>
              <a:off x="273050" y="1363654"/>
              <a:ext cx="6530546" cy="327238"/>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kumimoji="1" lang="en-US" altLang="ja-JP" sz="1400" b="1" dirty="0">
                  <a:solidFill>
                    <a:schemeClr val="tx2"/>
                  </a:solidFill>
                  <a:latin typeface="+mn-ea"/>
                  <a:ea typeface="+mn-ea"/>
                  <a:cs typeface="+mn-cs"/>
                </a:rPr>
                <a:t>Application Layer</a:t>
              </a:r>
              <a:r>
                <a:rPr kumimoji="1" lang="ja-JP" altLang="en-US" sz="1400" b="1" dirty="0">
                  <a:solidFill>
                    <a:schemeClr val="tx2"/>
                  </a:solidFill>
                  <a:latin typeface="+mn-ea"/>
                  <a:ea typeface="+mn-ea"/>
                  <a:cs typeface="+mn-cs"/>
                </a:rPr>
                <a:t>：ユーザアプリケーション</a:t>
              </a:r>
            </a:p>
          </p:txBody>
        </p:sp>
        <p:sp>
          <p:nvSpPr>
            <p:cNvPr id="10" name="正方形/長方形 9">
              <a:extLst>
                <a:ext uri="{FF2B5EF4-FFF2-40B4-BE49-F238E27FC236}">
                  <a16:creationId xmlns:a16="http://schemas.microsoft.com/office/drawing/2014/main" id="{D53C1546-8782-143F-6269-CFDCB3AE8F9B}"/>
                </a:ext>
              </a:extLst>
            </p:cNvPr>
            <p:cNvSpPr/>
            <p:nvPr/>
          </p:nvSpPr>
          <p:spPr bwMode="gray">
            <a:xfrm>
              <a:off x="7044486" y="1363653"/>
              <a:ext cx="2588464" cy="4917128"/>
            </a:xfrm>
            <a:prstGeom prst="rect">
              <a:avLst/>
            </a:prstGeom>
            <a:solidFill>
              <a:schemeClr val="accent1">
                <a:lumMod val="20000"/>
                <a:lumOff val="80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kumimoji="1" lang="en-US" altLang="ja-JP" sz="1400" b="1" dirty="0">
                  <a:solidFill>
                    <a:schemeClr val="accent1"/>
                  </a:solidFill>
                  <a:latin typeface="+mn-ea"/>
                  <a:ea typeface="+mn-ea"/>
                  <a:cs typeface="+mn-cs"/>
                </a:rPr>
                <a:t>Vertical / Cross-cutting</a:t>
              </a:r>
              <a:endParaRPr kumimoji="1" lang="ja-JP" altLang="en-US" sz="1400" b="1" dirty="0">
                <a:solidFill>
                  <a:schemeClr val="accent1"/>
                </a:solidFill>
                <a:latin typeface="+mn-ea"/>
                <a:ea typeface="+mn-ea"/>
                <a:cs typeface="+mn-cs"/>
              </a:endParaRPr>
            </a:p>
          </p:txBody>
        </p:sp>
        <p:grpSp>
          <p:nvGrpSpPr>
            <p:cNvPr id="53" name="グループ化 52">
              <a:extLst>
                <a:ext uri="{FF2B5EF4-FFF2-40B4-BE49-F238E27FC236}">
                  <a16:creationId xmlns:a16="http://schemas.microsoft.com/office/drawing/2014/main" id="{B4AC1DC7-EF57-182C-E378-E5E7CBC11003}"/>
                </a:ext>
              </a:extLst>
            </p:cNvPr>
            <p:cNvGrpSpPr/>
            <p:nvPr/>
          </p:nvGrpSpPr>
          <p:grpSpPr>
            <a:xfrm>
              <a:off x="7193453" y="1845908"/>
              <a:ext cx="2304371" cy="583084"/>
              <a:chOff x="7193453" y="1758824"/>
              <a:chExt cx="2304371" cy="583084"/>
            </a:xfrm>
          </p:grpSpPr>
          <p:sp>
            <p:nvSpPr>
              <p:cNvPr id="11" name="四角形: 角を丸くする 10">
                <a:extLst>
                  <a:ext uri="{FF2B5EF4-FFF2-40B4-BE49-F238E27FC236}">
                    <a16:creationId xmlns:a16="http://schemas.microsoft.com/office/drawing/2014/main" id="{96A0C4F6-7ABA-B853-2793-E5C10D573669}"/>
                  </a:ext>
                </a:extLst>
              </p:cNvPr>
              <p:cNvSpPr/>
              <p:nvPr/>
            </p:nvSpPr>
            <p:spPr bwMode="gray">
              <a:xfrm>
                <a:off x="8331655" y="1758824"/>
                <a:ext cx="1166169" cy="583084"/>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Authentication/Authorization</a:t>
                </a:r>
                <a:endParaRPr kumimoji="1" lang="ja-JP" altLang="en-US" sz="1100" b="1" dirty="0">
                  <a:latin typeface="+mn-ea"/>
                </a:endParaRPr>
              </a:p>
            </p:txBody>
          </p:sp>
          <p:sp>
            <p:nvSpPr>
              <p:cNvPr id="12" name="テキスト ボックス 11">
                <a:extLst>
                  <a:ext uri="{FF2B5EF4-FFF2-40B4-BE49-F238E27FC236}">
                    <a16:creationId xmlns:a16="http://schemas.microsoft.com/office/drawing/2014/main" id="{EF0140F4-6A4B-CCAF-5282-28F9FC26923F}"/>
                  </a:ext>
                </a:extLst>
              </p:cNvPr>
              <p:cNvSpPr txBox="1"/>
              <p:nvPr/>
            </p:nvSpPr>
            <p:spPr bwMode="gray">
              <a:xfrm>
                <a:off x="7193453" y="1856005"/>
                <a:ext cx="1166169" cy="388723"/>
              </a:xfrm>
              <a:prstGeom prst="rect">
                <a:avLst/>
              </a:prstGeom>
              <a:noFill/>
            </p:spPr>
            <p:txBody>
              <a:bodyPr wrap="square" lIns="0" tIns="0" rIns="0" bIns="0" anchor="ctr">
                <a:noAutofit/>
              </a:bodyPr>
              <a:lstStyle/>
              <a:p>
                <a:r>
                  <a:rPr kumimoji="1" lang="ja-JP" altLang="en-US" sz="1200" b="1">
                    <a:solidFill>
                      <a:prstClr val="black"/>
                    </a:solidFill>
                    <a:latin typeface="+mn-ea"/>
                    <a:ea typeface="+mn-ea"/>
                    <a:cs typeface="+mn-cs"/>
                  </a:rPr>
                  <a:t>認証</a:t>
                </a:r>
                <a:r>
                  <a:rPr kumimoji="1" lang="en-US" altLang="ja-JP" sz="1200" b="1">
                    <a:solidFill>
                      <a:prstClr val="black"/>
                    </a:solidFill>
                    <a:latin typeface="+mn-ea"/>
                    <a:ea typeface="+mn-ea"/>
                    <a:cs typeface="+mn-cs"/>
                  </a:rPr>
                  <a:t>/</a:t>
                </a:r>
                <a:r>
                  <a:rPr kumimoji="1" lang="ja-JP" altLang="en-US" sz="1200" b="1">
                    <a:solidFill>
                      <a:prstClr val="black"/>
                    </a:solidFill>
                    <a:latin typeface="+mn-ea"/>
                    <a:ea typeface="+mn-ea"/>
                    <a:cs typeface="+mn-cs"/>
                  </a:rPr>
                  <a:t>認可</a:t>
                </a:r>
                <a:endParaRPr kumimoji="1" lang="en-US" altLang="ja-JP" sz="1200" b="1">
                  <a:solidFill>
                    <a:prstClr val="black"/>
                  </a:solidFill>
                  <a:latin typeface="+mn-ea"/>
                  <a:ea typeface="+mn-ea"/>
                  <a:cs typeface="+mn-cs"/>
                </a:endParaRPr>
              </a:p>
            </p:txBody>
          </p:sp>
        </p:grpSp>
        <p:grpSp>
          <p:nvGrpSpPr>
            <p:cNvPr id="54" name="グループ化 53">
              <a:extLst>
                <a:ext uri="{FF2B5EF4-FFF2-40B4-BE49-F238E27FC236}">
                  <a16:creationId xmlns:a16="http://schemas.microsoft.com/office/drawing/2014/main" id="{C7B85B7B-33FE-7CA3-E2B8-AF204B356B7E}"/>
                </a:ext>
              </a:extLst>
            </p:cNvPr>
            <p:cNvGrpSpPr/>
            <p:nvPr/>
          </p:nvGrpSpPr>
          <p:grpSpPr>
            <a:xfrm>
              <a:off x="7193453" y="2592145"/>
              <a:ext cx="2304371" cy="583084"/>
              <a:chOff x="7193453" y="2555259"/>
              <a:chExt cx="2304371" cy="583084"/>
            </a:xfrm>
          </p:grpSpPr>
          <p:sp>
            <p:nvSpPr>
              <p:cNvPr id="13" name="四角形: 角を丸くする 12">
                <a:extLst>
                  <a:ext uri="{FF2B5EF4-FFF2-40B4-BE49-F238E27FC236}">
                    <a16:creationId xmlns:a16="http://schemas.microsoft.com/office/drawing/2014/main" id="{DD52319C-E429-8ABC-7A8B-35DAE2A0384D}"/>
                  </a:ext>
                </a:extLst>
              </p:cNvPr>
              <p:cNvSpPr/>
              <p:nvPr/>
            </p:nvSpPr>
            <p:spPr bwMode="gray">
              <a:xfrm>
                <a:off x="8331655" y="2555259"/>
                <a:ext cx="1166169" cy="583084"/>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latin typeface="+mn-ea"/>
                  </a:rPr>
                  <a:t>Disclosure</a:t>
                </a:r>
                <a:br>
                  <a:rPr kumimoji="1" lang="en-US" altLang="ja-JP" sz="1100" b="1">
                    <a:latin typeface="+mn-ea"/>
                  </a:rPr>
                </a:br>
                <a:r>
                  <a:rPr kumimoji="1" lang="en-US" altLang="ja-JP" sz="1100" b="1">
                    <a:latin typeface="+mn-ea"/>
                  </a:rPr>
                  <a:t>/ZKP</a:t>
                </a:r>
                <a:endParaRPr kumimoji="1" lang="ja-JP" altLang="en-US" sz="1100" b="1">
                  <a:latin typeface="+mn-ea"/>
                </a:endParaRPr>
              </a:p>
            </p:txBody>
          </p:sp>
          <p:sp>
            <p:nvSpPr>
              <p:cNvPr id="14" name="テキスト ボックス 13">
                <a:extLst>
                  <a:ext uri="{FF2B5EF4-FFF2-40B4-BE49-F238E27FC236}">
                    <a16:creationId xmlns:a16="http://schemas.microsoft.com/office/drawing/2014/main" id="{0A2A5B98-B97B-9936-2D4F-3E44F61B70A4}"/>
                  </a:ext>
                </a:extLst>
              </p:cNvPr>
              <p:cNvSpPr txBox="1"/>
              <p:nvPr/>
            </p:nvSpPr>
            <p:spPr bwMode="gray">
              <a:xfrm>
                <a:off x="7193453" y="2652440"/>
                <a:ext cx="1166169" cy="388723"/>
              </a:xfrm>
              <a:prstGeom prst="rect">
                <a:avLst/>
              </a:prstGeom>
              <a:noFill/>
            </p:spPr>
            <p:txBody>
              <a:bodyPr wrap="square" lIns="0" tIns="0" rIns="0" bIns="0" anchor="ctr">
                <a:noAutofit/>
              </a:bodyPr>
              <a:lstStyle/>
              <a:p>
                <a:r>
                  <a:rPr kumimoji="1" lang="ja-JP" altLang="en-US" sz="1200" b="1" dirty="0">
                    <a:solidFill>
                      <a:prstClr val="black"/>
                    </a:solidFill>
                    <a:latin typeface="+mn-ea"/>
                    <a:ea typeface="+mn-ea"/>
                    <a:cs typeface="+mn-cs"/>
                  </a:rPr>
                  <a:t>選択的開示</a:t>
                </a:r>
                <a:endParaRPr kumimoji="1" lang="en-US" altLang="ja-JP" sz="1200" b="1" dirty="0">
                  <a:solidFill>
                    <a:prstClr val="black"/>
                  </a:solidFill>
                  <a:latin typeface="+mn-ea"/>
                  <a:ea typeface="+mn-ea"/>
                  <a:cs typeface="+mn-cs"/>
                </a:endParaRPr>
              </a:p>
              <a:p>
                <a:r>
                  <a:rPr lang="en-US" altLang="ja-JP" sz="1200" b="1" dirty="0">
                    <a:solidFill>
                      <a:prstClr val="black"/>
                    </a:solidFill>
                    <a:latin typeface="+mn-ea"/>
                    <a:ea typeface="+mn-ea"/>
                  </a:rPr>
                  <a:t>/</a:t>
                </a:r>
                <a:r>
                  <a:rPr lang="ja-JP" altLang="en-US" sz="1200" b="1" dirty="0">
                    <a:solidFill>
                      <a:prstClr val="black"/>
                    </a:solidFill>
                    <a:latin typeface="+mn-ea"/>
                    <a:ea typeface="+mn-ea"/>
                  </a:rPr>
                  <a:t>ゼロ知識証明</a:t>
                </a:r>
                <a:endParaRPr lang="ja-JP" altLang="en-US" sz="1200" b="1" dirty="0">
                  <a:latin typeface="+mn-ea"/>
                  <a:ea typeface="+mn-ea"/>
                </a:endParaRPr>
              </a:p>
            </p:txBody>
          </p:sp>
        </p:grpSp>
        <p:grpSp>
          <p:nvGrpSpPr>
            <p:cNvPr id="55" name="グループ化 54">
              <a:extLst>
                <a:ext uri="{FF2B5EF4-FFF2-40B4-BE49-F238E27FC236}">
                  <a16:creationId xmlns:a16="http://schemas.microsoft.com/office/drawing/2014/main" id="{2A737888-29D0-D0E9-5E3C-17DFE8E1571A}"/>
                </a:ext>
              </a:extLst>
            </p:cNvPr>
            <p:cNvGrpSpPr/>
            <p:nvPr/>
          </p:nvGrpSpPr>
          <p:grpSpPr>
            <a:xfrm>
              <a:off x="7193453" y="3338382"/>
              <a:ext cx="2304371" cy="583084"/>
              <a:chOff x="7193453" y="3351694"/>
              <a:chExt cx="2304371" cy="583084"/>
            </a:xfrm>
          </p:grpSpPr>
          <p:sp>
            <p:nvSpPr>
              <p:cNvPr id="15" name="四角形: 角を丸くする 14">
                <a:extLst>
                  <a:ext uri="{FF2B5EF4-FFF2-40B4-BE49-F238E27FC236}">
                    <a16:creationId xmlns:a16="http://schemas.microsoft.com/office/drawing/2014/main" id="{45E6417E-CC6C-4298-1442-DE19ABC21993}"/>
                  </a:ext>
                </a:extLst>
              </p:cNvPr>
              <p:cNvSpPr/>
              <p:nvPr/>
            </p:nvSpPr>
            <p:spPr bwMode="gray">
              <a:xfrm>
                <a:off x="8331655" y="3351694"/>
                <a:ext cx="1166169" cy="583084"/>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a:ln>
                      <a:noFill/>
                    </a:ln>
                    <a:solidFill>
                      <a:prstClr val="black"/>
                    </a:solidFill>
                    <a:effectLst/>
                    <a:uLnTx/>
                    <a:uFillTx/>
                    <a:latin typeface="+mn-ea"/>
                    <a:cs typeface="+mn-cs"/>
                  </a:rPr>
                  <a:t>Compliance</a:t>
                </a:r>
                <a:endParaRPr kumimoji="1" lang="ja-JP" altLang="en-US" sz="1100" b="1" i="0" u="none" strike="noStrike" kern="1200" cap="none" spc="0" normalizeH="0" baseline="0" noProof="0">
                  <a:ln>
                    <a:noFill/>
                  </a:ln>
                  <a:solidFill>
                    <a:prstClr val="black"/>
                  </a:solidFill>
                  <a:effectLst/>
                  <a:uLnTx/>
                  <a:uFillTx/>
                  <a:latin typeface="+mn-ea"/>
                  <a:cs typeface="+mn-cs"/>
                </a:endParaRPr>
              </a:p>
            </p:txBody>
          </p:sp>
          <p:sp>
            <p:nvSpPr>
              <p:cNvPr id="16" name="テキスト ボックス 15">
                <a:extLst>
                  <a:ext uri="{FF2B5EF4-FFF2-40B4-BE49-F238E27FC236}">
                    <a16:creationId xmlns:a16="http://schemas.microsoft.com/office/drawing/2014/main" id="{72CD56AA-5DF7-4DAE-369B-FFD42BADCE61}"/>
                  </a:ext>
                </a:extLst>
              </p:cNvPr>
              <p:cNvSpPr txBox="1"/>
              <p:nvPr/>
            </p:nvSpPr>
            <p:spPr bwMode="gray">
              <a:xfrm>
                <a:off x="7193453" y="3448875"/>
                <a:ext cx="1166169" cy="388723"/>
              </a:xfrm>
              <a:prstGeom prst="rect">
                <a:avLst/>
              </a:prstGeom>
              <a:noFill/>
            </p:spPr>
            <p:txBody>
              <a:bodyPr wrap="square" lIns="0" tIns="0" rIns="0" bIns="0" anchor="ctr">
                <a:noAutofit/>
              </a:bodyPr>
              <a:lstStyle/>
              <a:p>
                <a:r>
                  <a:rPr lang="ja-JP" altLang="en-US" sz="1200" b="1">
                    <a:latin typeface="+mn-ea"/>
                    <a:ea typeface="+mn-ea"/>
                  </a:rPr>
                  <a:t>コンプライアンス</a:t>
                </a:r>
              </a:p>
            </p:txBody>
          </p:sp>
        </p:grpSp>
        <p:grpSp>
          <p:nvGrpSpPr>
            <p:cNvPr id="56" name="グループ化 55">
              <a:extLst>
                <a:ext uri="{FF2B5EF4-FFF2-40B4-BE49-F238E27FC236}">
                  <a16:creationId xmlns:a16="http://schemas.microsoft.com/office/drawing/2014/main" id="{CF66B0D9-FB32-8540-08E7-A732F9F590B5}"/>
                </a:ext>
              </a:extLst>
            </p:cNvPr>
            <p:cNvGrpSpPr/>
            <p:nvPr/>
          </p:nvGrpSpPr>
          <p:grpSpPr>
            <a:xfrm>
              <a:off x="7193453" y="4084619"/>
              <a:ext cx="2304371" cy="583084"/>
              <a:chOff x="7193453" y="4148130"/>
              <a:chExt cx="2304371" cy="583084"/>
            </a:xfrm>
          </p:grpSpPr>
          <p:sp>
            <p:nvSpPr>
              <p:cNvPr id="17" name="四角形: 角を丸くする 16">
                <a:extLst>
                  <a:ext uri="{FF2B5EF4-FFF2-40B4-BE49-F238E27FC236}">
                    <a16:creationId xmlns:a16="http://schemas.microsoft.com/office/drawing/2014/main" id="{2471DE00-BF91-138A-565A-64A17F43D895}"/>
                  </a:ext>
                </a:extLst>
              </p:cNvPr>
              <p:cNvSpPr/>
              <p:nvPr/>
            </p:nvSpPr>
            <p:spPr bwMode="gray">
              <a:xfrm>
                <a:off x="8331655" y="4148130"/>
                <a:ext cx="1166169" cy="583084"/>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latin typeface="+mn-ea"/>
                  </a:rPr>
                  <a:t>Storage</a:t>
                </a:r>
                <a:endParaRPr kumimoji="1" lang="ja-JP" altLang="en-US" sz="1100" b="1">
                  <a:latin typeface="+mn-ea"/>
                </a:endParaRPr>
              </a:p>
            </p:txBody>
          </p:sp>
          <p:sp>
            <p:nvSpPr>
              <p:cNvPr id="18" name="テキスト ボックス 17">
                <a:extLst>
                  <a:ext uri="{FF2B5EF4-FFF2-40B4-BE49-F238E27FC236}">
                    <a16:creationId xmlns:a16="http://schemas.microsoft.com/office/drawing/2014/main" id="{1DBAF600-80BA-1AA0-193B-317BFF8EA06E}"/>
                  </a:ext>
                </a:extLst>
              </p:cNvPr>
              <p:cNvSpPr txBox="1"/>
              <p:nvPr/>
            </p:nvSpPr>
            <p:spPr bwMode="gray">
              <a:xfrm>
                <a:off x="7193453" y="4245311"/>
                <a:ext cx="1166169" cy="388723"/>
              </a:xfrm>
              <a:prstGeom prst="rect">
                <a:avLst/>
              </a:prstGeom>
              <a:noFill/>
            </p:spPr>
            <p:txBody>
              <a:bodyPr wrap="square" lIns="0" tIns="0" rIns="0" bIns="0" anchor="ctr">
                <a:noAutofit/>
              </a:bodyPr>
              <a:lstStyle/>
              <a:p>
                <a:r>
                  <a:rPr lang="ja-JP" altLang="en-US" sz="1200" b="1" dirty="0">
                    <a:latin typeface="+mn-ea"/>
                    <a:ea typeface="+mn-ea"/>
                  </a:rPr>
                  <a:t>ストレージ</a:t>
                </a:r>
              </a:p>
            </p:txBody>
          </p:sp>
        </p:grpSp>
        <p:grpSp>
          <p:nvGrpSpPr>
            <p:cNvPr id="57" name="グループ化 56">
              <a:extLst>
                <a:ext uri="{FF2B5EF4-FFF2-40B4-BE49-F238E27FC236}">
                  <a16:creationId xmlns:a16="http://schemas.microsoft.com/office/drawing/2014/main" id="{5C3937FF-3E08-07C2-A3A8-D3534E5F36E0}"/>
                </a:ext>
              </a:extLst>
            </p:cNvPr>
            <p:cNvGrpSpPr/>
            <p:nvPr/>
          </p:nvGrpSpPr>
          <p:grpSpPr>
            <a:xfrm>
              <a:off x="7193453" y="4830856"/>
              <a:ext cx="2304371" cy="583084"/>
              <a:chOff x="7193453" y="4944565"/>
              <a:chExt cx="2304371" cy="583084"/>
            </a:xfrm>
          </p:grpSpPr>
          <p:sp>
            <p:nvSpPr>
              <p:cNvPr id="19" name="四角形: 角を丸くする 18">
                <a:extLst>
                  <a:ext uri="{FF2B5EF4-FFF2-40B4-BE49-F238E27FC236}">
                    <a16:creationId xmlns:a16="http://schemas.microsoft.com/office/drawing/2014/main" id="{EC638C98-D895-3D9C-0BC4-9D81D8E3CEE2}"/>
                  </a:ext>
                </a:extLst>
              </p:cNvPr>
              <p:cNvSpPr/>
              <p:nvPr/>
            </p:nvSpPr>
            <p:spPr bwMode="gray">
              <a:xfrm>
                <a:off x="8331655" y="4944565"/>
                <a:ext cx="1166169" cy="583084"/>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a:ln>
                      <a:noFill/>
                    </a:ln>
                    <a:solidFill>
                      <a:prstClr val="black"/>
                    </a:solidFill>
                    <a:effectLst/>
                    <a:uLnTx/>
                    <a:uFillTx/>
                    <a:latin typeface="+mn-ea"/>
                    <a:cs typeface="+mn-cs"/>
                  </a:rPr>
                  <a:t>Data Formats</a:t>
                </a:r>
              </a:p>
            </p:txBody>
          </p:sp>
          <p:sp>
            <p:nvSpPr>
              <p:cNvPr id="20" name="テキスト ボックス 19">
                <a:extLst>
                  <a:ext uri="{FF2B5EF4-FFF2-40B4-BE49-F238E27FC236}">
                    <a16:creationId xmlns:a16="http://schemas.microsoft.com/office/drawing/2014/main" id="{6294CCF1-37EC-E0CB-DBD3-580053D391D7}"/>
                  </a:ext>
                </a:extLst>
              </p:cNvPr>
              <p:cNvSpPr txBox="1"/>
              <p:nvPr/>
            </p:nvSpPr>
            <p:spPr bwMode="gray">
              <a:xfrm>
                <a:off x="7193453" y="5041746"/>
                <a:ext cx="1166169" cy="388723"/>
              </a:xfrm>
              <a:prstGeom prst="rect">
                <a:avLst/>
              </a:prstGeom>
              <a:noFill/>
            </p:spPr>
            <p:txBody>
              <a:bodyPr wrap="square" lIns="0" tIns="0" rIns="0" bIns="0" anchor="ctr">
                <a:noAutofit/>
              </a:bodyPr>
              <a:lstStyle/>
              <a:p>
                <a:r>
                  <a:rPr lang="ja-JP" altLang="en-US" sz="1200" b="1" dirty="0">
                    <a:latin typeface="+mn-ea"/>
                    <a:ea typeface="+mn-ea"/>
                  </a:rPr>
                  <a:t>データフォーマット</a:t>
                </a:r>
              </a:p>
            </p:txBody>
          </p:sp>
        </p:grpSp>
        <p:grpSp>
          <p:nvGrpSpPr>
            <p:cNvPr id="58" name="グループ化 57">
              <a:extLst>
                <a:ext uri="{FF2B5EF4-FFF2-40B4-BE49-F238E27FC236}">
                  <a16:creationId xmlns:a16="http://schemas.microsoft.com/office/drawing/2014/main" id="{9C085E44-4AEE-C6BD-A4A1-8AD315334590}"/>
                </a:ext>
              </a:extLst>
            </p:cNvPr>
            <p:cNvGrpSpPr/>
            <p:nvPr/>
          </p:nvGrpSpPr>
          <p:grpSpPr>
            <a:xfrm>
              <a:off x="7183995" y="5577093"/>
              <a:ext cx="2304371" cy="583084"/>
              <a:chOff x="7193453" y="5741001"/>
              <a:chExt cx="2304371" cy="583084"/>
            </a:xfrm>
          </p:grpSpPr>
          <p:sp>
            <p:nvSpPr>
              <p:cNvPr id="21" name="四角形: 角を丸くする 20">
                <a:extLst>
                  <a:ext uri="{FF2B5EF4-FFF2-40B4-BE49-F238E27FC236}">
                    <a16:creationId xmlns:a16="http://schemas.microsoft.com/office/drawing/2014/main" id="{5FE0AAD1-66AE-B12F-CCD2-B543540AB487}"/>
                  </a:ext>
                </a:extLst>
              </p:cNvPr>
              <p:cNvSpPr/>
              <p:nvPr/>
            </p:nvSpPr>
            <p:spPr bwMode="gray">
              <a:xfrm>
                <a:off x="8331655" y="5741001"/>
                <a:ext cx="1166169" cy="583084"/>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schemeClr val="tx1"/>
                    </a:solidFill>
                    <a:effectLst/>
                    <a:uLnTx/>
                    <a:uFillTx/>
                    <a:latin typeface="+mn-ea"/>
                    <a:cs typeface="+mn-cs"/>
                  </a:rPr>
                  <a:t>Crypto Primitives</a:t>
                </a:r>
                <a:endParaRPr kumimoji="1" lang="ja-JP" altLang="en-US" sz="1100" b="1" i="0" u="none" strike="noStrike" kern="1200" cap="none" spc="0" normalizeH="0" baseline="0" noProof="0">
                  <a:ln>
                    <a:noFill/>
                  </a:ln>
                  <a:solidFill>
                    <a:schemeClr val="tx1"/>
                  </a:solidFill>
                  <a:effectLst/>
                  <a:uLnTx/>
                  <a:uFillTx/>
                  <a:latin typeface="+mn-ea"/>
                  <a:cs typeface="+mn-cs"/>
                </a:endParaRPr>
              </a:p>
            </p:txBody>
          </p:sp>
          <p:sp>
            <p:nvSpPr>
              <p:cNvPr id="22" name="テキスト ボックス 21">
                <a:extLst>
                  <a:ext uri="{FF2B5EF4-FFF2-40B4-BE49-F238E27FC236}">
                    <a16:creationId xmlns:a16="http://schemas.microsoft.com/office/drawing/2014/main" id="{B651DDF2-A7E0-702E-733A-642D4B6A45DA}"/>
                  </a:ext>
                </a:extLst>
              </p:cNvPr>
              <p:cNvSpPr txBox="1"/>
              <p:nvPr/>
            </p:nvSpPr>
            <p:spPr bwMode="gray">
              <a:xfrm>
                <a:off x="7193453" y="5838182"/>
                <a:ext cx="1175627" cy="388723"/>
              </a:xfrm>
              <a:prstGeom prst="rect">
                <a:avLst/>
              </a:prstGeom>
              <a:noFill/>
            </p:spPr>
            <p:txBody>
              <a:bodyPr wrap="square" lIns="0" tIns="0" rIns="0" bIns="0" anchor="ctr">
                <a:noAutofit/>
              </a:bodyPr>
              <a:lstStyle/>
              <a:p>
                <a:r>
                  <a:rPr lang="ja-JP" altLang="en-US" sz="1200" b="1">
                    <a:latin typeface="+mn-ea"/>
                    <a:ea typeface="+mn-ea"/>
                  </a:rPr>
                  <a:t>基本的な暗号方式</a:t>
                </a:r>
                <a:endParaRPr lang="ja-JP" altLang="en-US" sz="1200" b="1" dirty="0">
                  <a:latin typeface="+mn-ea"/>
                  <a:ea typeface="+mn-ea"/>
                </a:endParaRPr>
              </a:p>
            </p:txBody>
          </p:sp>
        </p:grpSp>
        <p:sp>
          <p:nvSpPr>
            <p:cNvPr id="23" name="四角形: 角を丸くする 22">
              <a:extLst>
                <a:ext uri="{FF2B5EF4-FFF2-40B4-BE49-F238E27FC236}">
                  <a16:creationId xmlns:a16="http://schemas.microsoft.com/office/drawing/2014/main" id="{4F7DCBF5-FEF1-E305-F8A8-39D1F99B7838}"/>
                </a:ext>
              </a:extLst>
            </p:cNvPr>
            <p:cNvSpPr/>
            <p:nvPr/>
          </p:nvSpPr>
          <p:spPr bwMode="gray">
            <a:xfrm>
              <a:off x="363416" y="2511918"/>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latin typeface="+mn-ea"/>
                </a:rPr>
                <a:t>Credential</a:t>
              </a:r>
            </a:p>
            <a:p>
              <a:pPr algn="ctr"/>
              <a:r>
                <a:rPr kumimoji="1" lang="en-US" altLang="ja-JP" sz="1100" b="1">
                  <a:latin typeface="+mn-ea"/>
                </a:rPr>
                <a:t>Format</a:t>
              </a:r>
              <a:endParaRPr kumimoji="1" lang="ja-JP" altLang="en-US" sz="1100" b="1">
                <a:latin typeface="+mn-ea"/>
              </a:endParaRPr>
            </a:p>
          </p:txBody>
        </p:sp>
        <p:sp>
          <p:nvSpPr>
            <p:cNvPr id="24" name="四角形: 角を丸くする 23">
              <a:extLst>
                <a:ext uri="{FF2B5EF4-FFF2-40B4-BE49-F238E27FC236}">
                  <a16:creationId xmlns:a16="http://schemas.microsoft.com/office/drawing/2014/main" id="{121F1167-EDFD-527C-03A0-9B8A68DF239D}"/>
                </a:ext>
              </a:extLst>
            </p:cNvPr>
            <p:cNvSpPr/>
            <p:nvPr/>
          </p:nvSpPr>
          <p:spPr bwMode="gray">
            <a:xfrm>
              <a:off x="1666177" y="2511918"/>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latin typeface="+mn-ea"/>
                </a:rPr>
                <a:t>Credential</a:t>
              </a:r>
            </a:p>
            <a:p>
              <a:pPr algn="ctr"/>
              <a:r>
                <a:rPr kumimoji="1" lang="en-US" altLang="ja-JP" sz="1100" b="1">
                  <a:latin typeface="+mn-ea"/>
                </a:rPr>
                <a:t>Proofing</a:t>
              </a:r>
            </a:p>
          </p:txBody>
        </p:sp>
        <p:sp>
          <p:nvSpPr>
            <p:cNvPr id="25" name="四角形: 角を丸くする 24">
              <a:extLst>
                <a:ext uri="{FF2B5EF4-FFF2-40B4-BE49-F238E27FC236}">
                  <a16:creationId xmlns:a16="http://schemas.microsoft.com/office/drawing/2014/main" id="{A4703BD6-A85B-4167-8607-56859A3D7502}"/>
                </a:ext>
              </a:extLst>
            </p:cNvPr>
            <p:cNvSpPr/>
            <p:nvPr/>
          </p:nvSpPr>
          <p:spPr bwMode="gray">
            <a:xfrm>
              <a:off x="2968938" y="2511918"/>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a:ln>
                    <a:noFill/>
                  </a:ln>
                  <a:solidFill>
                    <a:prstClr val="black"/>
                  </a:solidFill>
                  <a:effectLst/>
                  <a:uLnTx/>
                  <a:uFillTx/>
                  <a:latin typeface="+mn-ea"/>
                  <a:cs typeface="+mn-cs"/>
                </a:rPr>
                <a:t>Credential</a:t>
              </a: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a:ln>
                    <a:noFill/>
                  </a:ln>
                  <a:solidFill>
                    <a:prstClr val="black"/>
                  </a:solidFill>
                  <a:effectLst/>
                  <a:uLnTx/>
                  <a:uFillTx/>
                  <a:latin typeface="+mn-ea"/>
                  <a:cs typeface="+mn-cs"/>
                </a:rPr>
                <a:t>Revocation</a:t>
              </a:r>
            </a:p>
          </p:txBody>
        </p:sp>
        <p:sp>
          <p:nvSpPr>
            <p:cNvPr id="26" name="四角形: 角を丸くする 25">
              <a:extLst>
                <a:ext uri="{FF2B5EF4-FFF2-40B4-BE49-F238E27FC236}">
                  <a16:creationId xmlns:a16="http://schemas.microsoft.com/office/drawing/2014/main" id="{AB46934B-4602-081E-80B1-5292E1A6CB71}"/>
                </a:ext>
              </a:extLst>
            </p:cNvPr>
            <p:cNvSpPr/>
            <p:nvPr/>
          </p:nvSpPr>
          <p:spPr bwMode="gray">
            <a:xfrm>
              <a:off x="4271699" y="2511918"/>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latin typeface="+mn-ea"/>
                </a:rPr>
                <a:t>Credential</a:t>
              </a:r>
            </a:p>
            <a:p>
              <a:pPr algn="ctr"/>
              <a:r>
                <a:rPr kumimoji="1" lang="en-US" altLang="ja-JP" sz="1100" b="1">
                  <a:latin typeface="+mn-ea"/>
                </a:rPr>
                <a:t>Exchange</a:t>
              </a:r>
            </a:p>
          </p:txBody>
        </p:sp>
        <p:sp>
          <p:nvSpPr>
            <p:cNvPr id="27" name="四角形: 角を丸くする 26">
              <a:extLst>
                <a:ext uri="{FF2B5EF4-FFF2-40B4-BE49-F238E27FC236}">
                  <a16:creationId xmlns:a16="http://schemas.microsoft.com/office/drawing/2014/main" id="{F8FADBBF-5449-1DBA-A8E1-448096E76A73}"/>
                </a:ext>
              </a:extLst>
            </p:cNvPr>
            <p:cNvSpPr/>
            <p:nvPr/>
          </p:nvSpPr>
          <p:spPr bwMode="gray">
            <a:xfrm>
              <a:off x="5550627" y="2511918"/>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a:ln>
                    <a:noFill/>
                  </a:ln>
                  <a:solidFill>
                    <a:prstClr val="black"/>
                  </a:solidFill>
                  <a:effectLst/>
                  <a:uLnTx/>
                  <a:uFillTx/>
                  <a:latin typeface="+mn-ea"/>
                  <a:cs typeface="+mn-cs"/>
                </a:rPr>
                <a:t>Credential</a:t>
              </a: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a:solidFill>
                    <a:prstClr val="black"/>
                  </a:solidFill>
                  <a:latin typeface="+mn-ea"/>
                </a:rPr>
                <a:t>Binding</a:t>
              </a:r>
              <a:endParaRPr kumimoji="1" lang="ja-JP" altLang="en-US" sz="1100" b="1" i="0" u="none" strike="noStrike" kern="1200" cap="none" spc="0" normalizeH="0" baseline="0" noProof="0">
                <a:ln>
                  <a:noFill/>
                </a:ln>
                <a:solidFill>
                  <a:prstClr val="black"/>
                </a:solidFill>
                <a:effectLst/>
                <a:uLnTx/>
                <a:uFillTx/>
                <a:latin typeface="+mn-ea"/>
                <a:cs typeface="+mn-cs"/>
              </a:endParaRPr>
            </a:p>
          </p:txBody>
        </p:sp>
        <p:sp>
          <p:nvSpPr>
            <p:cNvPr id="28" name="四角形: 角を丸くする 27">
              <a:extLst>
                <a:ext uri="{FF2B5EF4-FFF2-40B4-BE49-F238E27FC236}">
                  <a16:creationId xmlns:a16="http://schemas.microsoft.com/office/drawing/2014/main" id="{E8A748F3-FC9C-0476-AA91-691E551395D5}"/>
                </a:ext>
              </a:extLst>
            </p:cNvPr>
            <p:cNvSpPr/>
            <p:nvPr/>
          </p:nvSpPr>
          <p:spPr bwMode="gray">
            <a:xfrm>
              <a:off x="363416" y="3996224"/>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Envelope</a:t>
              </a:r>
            </a:p>
            <a:p>
              <a:pPr algn="ctr"/>
              <a:r>
                <a:rPr kumimoji="1" lang="en-US" altLang="ja-JP" sz="900" b="1" dirty="0">
                  <a:latin typeface="+mn-ea"/>
                </a:rPr>
                <a:t>(P2P-Communication)</a:t>
              </a:r>
            </a:p>
          </p:txBody>
        </p:sp>
        <p:sp>
          <p:nvSpPr>
            <p:cNvPr id="29" name="四角形: 角を丸くする 28">
              <a:extLst>
                <a:ext uri="{FF2B5EF4-FFF2-40B4-BE49-F238E27FC236}">
                  <a16:creationId xmlns:a16="http://schemas.microsoft.com/office/drawing/2014/main" id="{CF13BC12-DFE6-C561-4122-489179DFC209}"/>
                </a:ext>
              </a:extLst>
            </p:cNvPr>
            <p:cNvSpPr/>
            <p:nvPr/>
          </p:nvSpPr>
          <p:spPr bwMode="gray">
            <a:xfrm>
              <a:off x="1666177" y="3996224"/>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Transport</a:t>
              </a:r>
              <a:endParaRPr kumimoji="1" lang="ja-JP" altLang="en-US" sz="1100" b="1" dirty="0">
                <a:latin typeface="+mn-ea"/>
              </a:endParaRPr>
            </a:p>
          </p:txBody>
        </p:sp>
        <p:sp>
          <p:nvSpPr>
            <p:cNvPr id="30" name="四角形: 角を丸くする 29">
              <a:extLst>
                <a:ext uri="{FF2B5EF4-FFF2-40B4-BE49-F238E27FC236}">
                  <a16:creationId xmlns:a16="http://schemas.microsoft.com/office/drawing/2014/main" id="{E9ED2288-10B5-06D0-758D-0AAC6A0F6771}"/>
                </a:ext>
              </a:extLst>
            </p:cNvPr>
            <p:cNvSpPr/>
            <p:nvPr/>
          </p:nvSpPr>
          <p:spPr bwMode="gray">
            <a:xfrm>
              <a:off x="2968938" y="3996224"/>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latin typeface="+mn-ea"/>
                </a:rPr>
                <a:t>Control Recovery</a:t>
              </a:r>
              <a:endParaRPr kumimoji="1" lang="ja-JP" altLang="en-US" sz="1100" b="1">
                <a:latin typeface="+mn-ea"/>
              </a:endParaRPr>
            </a:p>
          </p:txBody>
        </p:sp>
        <p:sp>
          <p:nvSpPr>
            <p:cNvPr id="31" name="四角形: 角を丸くする 30">
              <a:extLst>
                <a:ext uri="{FF2B5EF4-FFF2-40B4-BE49-F238E27FC236}">
                  <a16:creationId xmlns:a16="http://schemas.microsoft.com/office/drawing/2014/main" id="{D438910D-972A-02B5-13EB-C371C2C22590}"/>
                </a:ext>
              </a:extLst>
            </p:cNvPr>
            <p:cNvSpPr/>
            <p:nvPr/>
          </p:nvSpPr>
          <p:spPr bwMode="gray">
            <a:xfrm>
              <a:off x="4271699" y="3996224"/>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latin typeface="+mn-ea"/>
                </a:rPr>
                <a:t>Key Operations</a:t>
              </a:r>
              <a:endParaRPr kumimoji="1" lang="ja-JP" altLang="en-US" sz="1100" b="1">
                <a:latin typeface="+mn-ea"/>
              </a:endParaRPr>
            </a:p>
          </p:txBody>
        </p:sp>
        <p:sp>
          <p:nvSpPr>
            <p:cNvPr id="32" name="四角形: 角を丸くする 31">
              <a:extLst>
                <a:ext uri="{FF2B5EF4-FFF2-40B4-BE49-F238E27FC236}">
                  <a16:creationId xmlns:a16="http://schemas.microsoft.com/office/drawing/2014/main" id="{749FCF15-10B8-CBB6-B470-8BD7204E987B}"/>
                </a:ext>
              </a:extLst>
            </p:cNvPr>
            <p:cNvSpPr/>
            <p:nvPr/>
          </p:nvSpPr>
          <p:spPr bwMode="gray">
            <a:xfrm>
              <a:off x="5550627" y="3996224"/>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Meta data</a:t>
              </a:r>
            </a:p>
            <a:p>
              <a:pPr algn="ctr"/>
              <a:r>
                <a:rPr kumimoji="1" lang="en-US" altLang="ja-JP" sz="1100" b="1" dirty="0">
                  <a:latin typeface="+mn-ea"/>
                </a:rPr>
                <a:t>Portability</a:t>
              </a:r>
              <a:endParaRPr kumimoji="1" lang="ja-JP" altLang="en-US" sz="1100" b="1" dirty="0">
                <a:latin typeface="+mn-ea"/>
              </a:endParaRPr>
            </a:p>
          </p:txBody>
        </p:sp>
        <p:sp>
          <p:nvSpPr>
            <p:cNvPr id="33" name="四角形: 角を丸くする 32">
              <a:extLst>
                <a:ext uri="{FF2B5EF4-FFF2-40B4-BE49-F238E27FC236}">
                  <a16:creationId xmlns:a16="http://schemas.microsoft.com/office/drawing/2014/main" id="{370DC482-1743-BC0E-932A-2624F70910A5}"/>
                </a:ext>
              </a:extLst>
            </p:cNvPr>
            <p:cNvSpPr/>
            <p:nvPr/>
          </p:nvSpPr>
          <p:spPr bwMode="gray">
            <a:xfrm>
              <a:off x="363416" y="5572492"/>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a:ln>
                    <a:noFill/>
                  </a:ln>
                  <a:solidFill>
                    <a:prstClr val="black"/>
                  </a:solidFill>
                  <a:effectLst/>
                  <a:uLnTx/>
                  <a:uFillTx/>
                  <a:latin typeface="+mn-ea"/>
                  <a:cs typeface="+mn-cs"/>
                </a:rPr>
                <a:t>DID Document</a:t>
              </a:r>
              <a:br>
                <a:rPr kumimoji="1" lang="en-US" altLang="ja-JP" sz="1100" b="1" i="0" u="none" strike="noStrike" kern="1200" cap="none" spc="0" normalizeH="0" baseline="0" noProof="0">
                  <a:ln>
                    <a:noFill/>
                  </a:ln>
                  <a:solidFill>
                    <a:prstClr val="black"/>
                  </a:solidFill>
                  <a:effectLst/>
                  <a:uLnTx/>
                  <a:uFillTx/>
                  <a:latin typeface="+mn-ea"/>
                  <a:cs typeface="+mn-cs"/>
                </a:rPr>
              </a:br>
              <a:r>
                <a:rPr kumimoji="1" lang="en-US" altLang="ja-JP" sz="1100" b="1" i="0" u="none" strike="noStrike" kern="1200" cap="none" spc="0" normalizeH="0" baseline="0" noProof="0">
                  <a:ln>
                    <a:noFill/>
                  </a:ln>
                  <a:solidFill>
                    <a:prstClr val="black"/>
                  </a:solidFill>
                  <a:effectLst/>
                  <a:uLnTx/>
                  <a:uFillTx/>
                  <a:latin typeface="+mn-ea"/>
                  <a:cs typeface="+mn-cs"/>
                </a:rPr>
                <a:t>/DID Scaling</a:t>
              </a:r>
            </a:p>
          </p:txBody>
        </p:sp>
        <p:sp>
          <p:nvSpPr>
            <p:cNvPr id="34" name="四角形: 角を丸くする 33">
              <a:extLst>
                <a:ext uri="{FF2B5EF4-FFF2-40B4-BE49-F238E27FC236}">
                  <a16:creationId xmlns:a16="http://schemas.microsoft.com/office/drawing/2014/main" id="{E96F4667-950E-086E-AA07-B056E35C153C}"/>
                </a:ext>
              </a:extLst>
            </p:cNvPr>
            <p:cNvSpPr/>
            <p:nvPr/>
          </p:nvSpPr>
          <p:spPr bwMode="gray">
            <a:xfrm>
              <a:off x="1666177" y="5572492"/>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a:solidFill>
                    <a:prstClr val="black"/>
                  </a:solidFill>
                  <a:latin typeface="+mn-ea"/>
                </a:rPr>
                <a:t>DID Method</a:t>
              </a:r>
            </a:p>
          </p:txBody>
        </p:sp>
        <p:sp>
          <p:nvSpPr>
            <p:cNvPr id="35" name="四角形: 角を丸くする 34">
              <a:extLst>
                <a:ext uri="{FF2B5EF4-FFF2-40B4-BE49-F238E27FC236}">
                  <a16:creationId xmlns:a16="http://schemas.microsoft.com/office/drawing/2014/main" id="{280DA6DE-C0C2-DC4A-54A4-65E5E13A608E}"/>
                </a:ext>
              </a:extLst>
            </p:cNvPr>
            <p:cNvSpPr/>
            <p:nvPr/>
          </p:nvSpPr>
          <p:spPr bwMode="gray">
            <a:xfrm>
              <a:off x="2968938" y="5572492"/>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a:solidFill>
                    <a:prstClr val="black"/>
                  </a:solidFill>
                  <a:latin typeface="+mn-ea"/>
                </a:rPr>
                <a:t>Anchor Types</a:t>
              </a:r>
            </a:p>
          </p:txBody>
        </p:sp>
        <p:sp>
          <p:nvSpPr>
            <p:cNvPr id="36" name="四角形: 角を丸くする 35">
              <a:extLst>
                <a:ext uri="{FF2B5EF4-FFF2-40B4-BE49-F238E27FC236}">
                  <a16:creationId xmlns:a16="http://schemas.microsoft.com/office/drawing/2014/main" id="{C527EB39-0FA8-D685-5BBC-217649A0FCDA}"/>
                </a:ext>
              </a:extLst>
            </p:cNvPr>
            <p:cNvSpPr/>
            <p:nvPr/>
          </p:nvSpPr>
          <p:spPr bwMode="gray">
            <a:xfrm>
              <a:off x="4271699" y="5572492"/>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dirty="0">
                  <a:solidFill>
                    <a:prstClr val="black"/>
                  </a:solidFill>
                  <a:latin typeface="+mn-ea"/>
                </a:rPr>
                <a:t>DID Resolution</a:t>
              </a:r>
            </a:p>
          </p:txBody>
        </p:sp>
        <p:sp>
          <p:nvSpPr>
            <p:cNvPr id="37" name="四角形: 角を丸くする 36">
              <a:extLst>
                <a:ext uri="{FF2B5EF4-FFF2-40B4-BE49-F238E27FC236}">
                  <a16:creationId xmlns:a16="http://schemas.microsoft.com/office/drawing/2014/main" id="{0F59FCD5-19D8-50CB-6721-BBEB44DFB614}"/>
                </a:ext>
              </a:extLst>
            </p:cNvPr>
            <p:cNvSpPr/>
            <p:nvPr/>
          </p:nvSpPr>
          <p:spPr bwMode="gray">
            <a:xfrm>
              <a:off x="5550627" y="5572492"/>
              <a:ext cx="1166169" cy="592286"/>
            </a:xfrm>
            <a:prstGeom prst="roundRect">
              <a:avLst/>
            </a:prstGeom>
            <a:solidFill>
              <a:schemeClr val="bg1"/>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prstClr val="black"/>
                  </a:solidFill>
                  <a:effectLst/>
                  <a:uLnTx/>
                  <a:uFillTx/>
                  <a:latin typeface="+mn-ea"/>
                  <a:cs typeface="+mn-cs"/>
                </a:rPr>
                <a:t>DID-Anchored </a:t>
              </a:r>
              <a:r>
                <a:rPr kumimoji="1" lang="en-US" altLang="ja-JP" sz="1100" b="1" i="0" u="none" strike="noStrike" kern="1200" cap="none" spc="0" normalizeH="0" baseline="0" noProof="0" dirty="0" err="1">
                  <a:ln>
                    <a:noFill/>
                  </a:ln>
                  <a:solidFill>
                    <a:prstClr val="black"/>
                  </a:solidFill>
                  <a:effectLst/>
                  <a:uLnTx/>
                  <a:uFillTx/>
                  <a:latin typeface="+mn-ea"/>
                  <a:cs typeface="+mn-cs"/>
                </a:rPr>
                <a:t>Svcs</a:t>
              </a:r>
              <a:r>
                <a:rPr kumimoji="1" lang="en-US" altLang="ja-JP" sz="1100" b="1" i="0" u="none" strike="noStrike" kern="1200" cap="none" spc="0" normalizeH="0" baseline="0" noProof="0" dirty="0">
                  <a:ln>
                    <a:noFill/>
                  </a:ln>
                  <a:solidFill>
                    <a:prstClr val="black"/>
                  </a:solidFill>
                  <a:effectLst/>
                  <a:uLnTx/>
                  <a:uFillTx/>
                  <a:latin typeface="+mn-ea"/>
                  <a:cs typeface="+mn-cs"/>
                </a:rPr>
                <a:t>, EDV</a:t>
              </a:r>
            </a:p>
          </p:txBody>
        </p:sp>
        <p:sp>
          <p:nvSpPr>
            <p:cNvPr id="38" name="テキスト ボックス 37">
              <a:extLst>
                <a:ext uri="{FF2B5EF4-FFF2-40B4-BE49-F238E27FC236}">
                  <a16:creationId xmlns:a16="http://schemas.microsoft.com/office/drawing/2014/main" id="{566CF0EB-3DB5-B5CD-59CF-8F76A6A0A945}"/>
                </a:ext>
              </a:extLst>
            </p:cNvPr>
            <p:cNvSpPr txBox="1"/>
            <p:nvPr/>
          </p:nvSpPr>
          <p:spPr bwMode="gray">
            <a:xfrm>
              <a:off x="399548" y="2136074"/>
              <a:ext cx="1166169" cy="388723"/>
            </a:xfrm>
            <a:prstGeom prst="rect">
              <a:avLst/>
            </a:prstGeom>
            <a:noFill/>
          </p:spPr>
          <p:txBody>
            <a:bodyPr wrap="square" lIns="0" tIns="0" rIns="0" bIns="0" anchor="ctr">
              <a:noAutofit/>
            </a:bodyPr>
            <a:lstStyle/>
            <a:p>
              <a:pPr algn="ctr"/>
              <a:r>
                <a:rPr lang="ja-JP" altLang="en-US" sz="1100" b="1" dirty="0">
                  <a:latin typeface="+mn-ea"/>
                  <a:ea typeface="+mn-ea"/>
                </a:rPr>
                <a:t>証明書</a:t>
              </a:r>
              <a:endParaRPr lang="en-US" altLang="ja-JP" sz="1100" b="1" dirty="0">
                <a:latin typeface="+mn-ea"/>
                <a:ea typeface="+mn-ea"/>
              </a:endParaRPr>
            </a:p>
            <a:p>
              <a:pPr algn="ctr"/>
              <a:r>
                <a:rPr lang="ja-JP" altLang="en-US" sz="1100" b="1" dirty="0">
                  <a:latin typeface="+mn-ea"/>
                  <a:ea typeface="+mn-ea"/>
                </a:rPr>
                <a:t>フォーマット</a:t>
              </a:r>
            </a:p>
          </p:txBody>
        </p:sp>
        <p:sp>
          <p:nvSpPr>
            <p:cNvPr id="39" name="テキスト ボックス 38">
              <a:extLst>
                <a:ext uri="{FF2B5EF4-FFF2-40B4-BE49-F238E27FC236}">
                  <a16:creationId xmlns:a16="http://schemas.microsoft.com/office/drawing/2014/main" id="{8CD1AF16-6702-AD07-E2B6-A201FA017EC5}"/>
                </a:ext>
              </a:extLst>
            </p:cNvPr>
            <p:cNvSpPr txBox="1"/>
            <p:nvPr/>
          </p:nvSpPr>
          <p:spPr bwMode="gray">
            <a:xfrm>
              <a:off x="1716894" y="2136074"/>
              <a:ext cx="1166169" cy="388723"/>
            </a:xfrm>
            <a:prstGeom prst="rect">
              <a:avLst/>
            </a:prstGeom>
            <a:noFill/>
          </p:spPr>
          <p:txBody>
            <a:bodyPr wrap="square" lIns="0" tIns="0" rIns="0" bIns="0" anchor="ctr">
              <a:noAutofit/>
            </a:bodyPr>
            <a:lstStyle/>
            <a:p>
              <a:pPr algn="ctr"/>
              <a:r>
                <a:rPr lang="ja-JP" altLang="en-US" sz="1100" b="1" dirty="0">
                  <a:latin typeface="+mn-ea"/>
                  <a:ea typeface="+mn-ea"/>
                </a:rPr>
                <a:t>証明書</a:t>
              </a:r>
              <a:endParaRPr lang="en-US" altLang="ja-JP" sz="1100" b="1" dirty="0">
                <a:latin typeface="+mn-ea"/>
                <a:ea typeface="+mn-ea"/>
              </a:endParaRPr>
            </a:p>
            <a:p>
              <a:pPr algn="ctr"/>
              <a:r>
                <a:rPr lang="ja-JP" altLang="en-US" sz="1100" b="1" dirty="0">
                  <a:latin typeface="+mn-ea"/>
                  <a:ea typeface="+mn-ea"/>
                </a:rPr>
                <a:t>正当性証明</a:t>
              </a:r>
              <a:endParaRPr lang="en-US" altLang="ja-JP" sz="1100" b="1" dirty="0">
                <a:latin typeface="+mn-ea"/>
                <a:ea typeface="+mn-ea"/>
              </a:endParaRPr>
            </a:p>
          </p:txBody>
        </p:sp>
        <p:sp>
          <p:nvSpPr>
            <p:cNvPr id="40" name="テキスト ボックス 39">
              <a:extLst>
                <a:ext uri="{FF2B5EF4-FFF2-40B4-BE49-F238E27FC236}">
                  <a16:creationId xmlns:a16="http://schemas.microsoft.com/office/drawing/2014/main" id="{674D39AC-F2C9-3FA9-0695-A576A7D34F24}"/>
                </a:ext>
              </a:extLst>
            </p:cNvPr>
            <p:cNvSpPr txBox="1"/>
            <p:nvPr/>
          </p:nvSpPr>
          <p:spPr bwMode="gray">
            <a:xfrm>
              <a:off x="2997762" y="2136074"/>
              <a:ext cx="1166169" cy="388723"/>
            </a:xfrm>
            <a:prstGeom prst="rect">
              <a:avLst/>
            </a:prstGeom>
            <a:noFill/>
          </p:spPr>
          <p:txBody>
            <a:bodyPr wrap="square" lIns="0" tIns="0" rIns="0" bIns="0" anchor="ctr">
              <a:noAutofit/>
            </a:bodyPr>
            <a:lstStyle/>
            <a:p>
              <a:pPr algn="ctr"/>
              <a:r>
                <a:rPr lang="ja-JP" altLang="en-US" sz="1100" b="1" dirty="0">
                  <a:latin typeface="+mn-ea"/>
                  <a:ea typeface="+mn-ea"/>
                </a:rPr>
                <a:t>証明書失効</a:t>
              </a:r>
              <a:endParaRPr lang="en-US" altLang="ja-JP" sz="1100" b="1" dirty="0">
                <a:latin typeface="+mn-ea"/>
                <a:ea typeface="+mn-ea"/>
              </a:endParaRPr>
            </a:p>
          </p:txBody>
        </p:sp>
        <p:sp>
          <p:nvSpPr>
            <p:cNvPr id="41" name="テキスト ボックス 40">
              <a:extLst>
                <a:ext uri="{FF2B5EF4-FFF2-40B4-BE49-F238E27FC236}">
                  <a16:creationId xmlns:a16="http://schemas.microsoft.com/office/drawing/2014/main" id="{3EA8AFCA-9573-1AAD-DAF6-A5E29AA4DAF7}"/>
                </a:ext>
              </a:extLst>
            </p:cNvPr>
            <p:cNvSpPr txBox="1"/>
            <p:nvPr/>
          </p:nvSpPr>
          <p:spPr bwMode="gray">
            <a:xfrm>
              <a:off x="4226934" y="2136074"/>
              <a:ext cx="1260690" cy="388723"/>
            </a:xfrm>
            <a:prstGeom prst="rect">
              <a:avLst/>
            </a:prstGeom>
            <a:noFill/>
          </p:spPr>
          <p:txBody>
            <a:bodyPr wrap="square" lIns="0" tIns="0" rIns="0" bIns="0" anchor="ctr">
              <a:noAutofit/>
            </a:bodyPr>
            <a:lstStyle/>
            <a:p>
              <a:pPr algn="ctr"/>
              <a:r>
                <a:rPr lang="ja-JP" altLang="en-US" sz="1100" b="1" dirty="0">
                  <a:latin typeface="+mn-ea"/>
                  <a:ea typeface="+mn-ea"/>
                </a:rPr>
                <a:t>証明書</a:t>
              </a:r>
              <a:r>
                <a:rPr lang="en-US" altLang="ja-JP" sz="1100" b="1" dirty="0">
                  <a:latin typeface="+mn-ea"/>
                  <a:ea typeface="+mn-ea"/>
                </a:rPr>
                <a:t>(VP)</a:t>
              </a:r>
              <a:r>
                <a:rPr lang="ja-JP" altLang="en-US" sz="1100" b="1" dirty="0">
                  <a:latin typeface="+mn-ea"/>
                  <a:ea typeface="+mn-ea"/>
                </a:rPr>
                <a:t>の要求と提示用のフォーマット</a:t>
              </a:r>
              <a:endParaRPr lang="en-US" altLang="ja-JP" sz="1100" b="1" dirty="0">
                <a:latin typeface="+mn-ea"/>
                <a:ea typeface="+mn-ea"/>
              </a:endParaRPr>
            </a:p>
          </p:txBody>
        </p:sp>
        <p:sp>
          <p:nvSpPr>
            <p:cNvPr id="42" name="テキスト ボックス 41">
              <a:extLst>
                <a:ext uri="{FF2B5EF4-FFF2-40B4-BE49-F238E27FC236}">
                  <a16:creationId xmlns:a16="http://schemas.microsoft.com/office/drawing/2014/main" id="{E5C4CE3E-F67B-0BAF-40AC-1BF681BD8FF8}"/>
                </a:ext>
              </a:extLst>
            </p:cNvPr>
            <p:cNvSpPr txBox="1"/>
            <p:nvPr/>
          </p:nvSpPr>
          <p:spPr bwMode="gray">
            <a:xfrm>
              <a:off x="5550627" y="2136074"/>
              <a:ext cx="1166169" cy="388723"/>
            </a:xfrm>
            <a:prstGeom prst="rect">
              <a:avLst/>
            </a:prstGeom>
            <a:noFill/>
          </p:spPr>
          <p:txBody>
            <a:bodyPr wrap="square" lIns="0" tIns="0" rIns="0" bIns="0" anchor="ctr">
              <a:noAutofit/>
            </a:bodyPr>
            <a:lstStyle/>
            <a:p>
              <a:pPr algn="ctr"/>
              <a:r>
                <a:rPr lang="ja-JP" altLang="en-US" sz="1100" b="1" dirty="0">
                  <a:latin typeface="+mn-ea"/>
                  <a:ea typeface="+mn-ea"/>
                </a:rPr>
                <a:t>証明書</a:t>
              </a:r>
              <a:endParaRPr lang="en-US" altLang="ja-JP" sz="1100" b="1" dirty="0">
                <a:latin typeface="+mn-ea"/>
                <a:ea typeface="+mn-ea"/>
              </a:endParaRPr>
            </a:p>
            <a:p>
              <a:pPr algn="ctr"/>
              <a:r>
                <a:rPr lang="ja-JP" altLang="en-US" sz="1100" b="1" dirty="0">
                  <a:latin typeface="+mn-ea"/>
                  <a:ea typeface="+mn-ea"/>
                </a:rPr>
                <a:t>バインディング</a:t>
              </a:r>
              <a:endParaRPr lang="en-US" altLang="ja-JP" sz="1100" b="1" dirty="0">
                <a:latin typeface="+mn-ea"/>
                <a:ea typeface="+mn-ea"/>
              </a:endParaRPr>
            </a:p>
          </p:txBody>
        </p:sp>
        <p:sp>
          <p:nvSpPr>
            <p:cNvPr id="43" name="テキスト ボックス 42">
              <a:extLst>
                <a:ext uri="{FF2B5EF4-FFF2-40B4-BE49-F238E27FC236}">
                  <a16:creationId xmlns:a16="http://schemas.microsoft.com/office/drawing/2014/main" id="{213AC361-12B4-CCD2-968F-F2D88795406C}"/>
                </a:ext>
              </a:extLst>
            </p:cNvPr>
            <p:cNvSpPr txBox="1"/>
            <p:nvPr/>
          </p:nvSpPr>
          <p:spPr bwMode="gray">
            <a:xfrm>
              <a:off x="373018" y="3640586"/>
              <a:ext cx="1166169" cy="388723"/>
            </a:xfrm>
            <a:prstGeom prst="rect">
              <a:avLst/>
            </a:prstGeom>
            <a:noFill/>
          </p:spPr>
          <p:txBody>
            <a:bodyPr wrap="square" lIns="0" tIns="0" rIns="0" bIns="0" anchor="ctr">
              <a:noAutofit/>
            </a:bodyPr>
            <a:lstStyle>
              <a:defPPr>
                <a:defRPr lang="ja-JP"/>
              </a:defPPr>
              <a:lvl1pPr algn="ctr">
                <a:defRPr sz="1100" b="1">
                  <a:latin typeface="+mn-ea"/>
                  <a:ea typeface="+mn-ea"/>
                </a:defRPr>
              </a:lvl1pPr>
            </a:lstStyle>
            <a:p>
              <a:r>
                <a:rPr lang="ja-JP" altLang="en-US" dirty="0"/>
                <a:t>包装</a:t>
              </a:r>
              <a:endParaRPr lang="en-US" altLang="ja-JP" dirty="0"/>
            </a:p>
            <a:p>
              <a:r>
                <a:rPr lang="ja-JP" altLang="en-US" dirty="0"/>
                <a:t>（</a:t>
              </a:r>
              <a:r>
                <a:rPr lang="en-US" altLang="ja-JP" dirty="0"/>
                <a:t>P2P</a:t>
              </a:r>
              <a:r>
                <a:rPr lang="ja-JP" altLang="en-US" dirty="0"/>
                <a:t>通信）</a:t>
              </a:r>
              <a:endParaRPr lang="en-US" altLang="ja-JP" dirty="0"/>
            </a:p>
          </p:txBody>
        </p:sp>
        <p:sp>
          <p:nvSpPr>
            <p:cNvPr id="44" name="テキスト ボックス 43">
              <a:extLst>
                <a:ext uri="{FF2B5EF4-FFF2-40B4-BE49-F238E27FC236}">
                  <a16:creationId xmlns:a16="http://schemas.microsoft.com/office/drawing/2014/main" id="{359E49A5-E8AC-9618-F184-B4B0EF48DE35}"/>
                </a:ext>
              </a:extLst>
            </p:cNvPr>
            <p:cNvSpPr txBox="1"/>
            <p:nvPr/>
          </p:nvSpPr>
          <p:spPr bwMode="gray">
            <a:xfrm>
              <a:off x="1660787" y="3629924"/>
              <a:ext cx="1166169" cy="388723"/>
            </a:xfrm>
            <a:prstGeom prst="rect">
              <a:avLst/>
            </a:prstGeom>
            <a:noFill/>
          </p:spPr>
          <p:txBody>
            <a:bodyPr wrap="square" lIns="0" tIns="0" rIns="0" bIns="0" anchor="ctr">
              <a:noAutofit/>
            </a:bodyPr>
            <a:lstStyle/>
            <a:p>
              <a:pPr algn="ctr"/>
              <a:r>
                <a:rPr lang="ja-JP" altLang="en-US" sz="1100" b="1" dirty="0">
                  <a:latin typeface="+mn-ea"/>
                  <a:ea typeface="+mn-ea"/>
                </a:rPr>
                <a:t>伝送</a:t>
              </a:r>
              <a:endParaRPr lang="en-US" altLang="ja-JP" sz="1100" b="1" dirty="0">
                <a:latin typeface="+mn-ea"/>
                <a:ea typeface="+mn-ea"/>
              </a:endParaRPr>
            </a:p>
          </p:txBody>
        </p:sp>
        <p:sp>
          <p:nvSpPr>
            <p:cNvPr id="45" name="テキスト ボックス 44">
              <a:extLst>
                <a:ext uri="{FF2B5EF4-FFF2-40B4-BE49-F238E27FC236}">
                  <a16:creationId xmlns:a16="http://schemas.microsoft.com/office/drawing/2014/main" id="{787CB9ED-832D-B9D6-D0B8-47E3CBE7FBA9}"/>
                </a:ext>
              </a:extLst>
            </p:cNvPr>
            <p:cNvSpPr txBox="1"/>
            <p:nvPr/>
          </p:nvSpPr>
          <p:spPr bwMode="gray">
            <a:xfrm>
              <a:off x="2960946" y="3640586"/>
              <a:ext cx="1166169" cy="388723"/>
            </a:xfrm>
            <a:prstGeom prst="rect">
              <a:avLst/>
            </a:prstGeom>
            <a:noFill/>
          </p:spPr>
          <p:txBody>
            <a:bodyPr wrap="square" lIns="0" tIns="0" rIns="0" bIns="0" anchor="ctr">
              <a:noAutofit/>
            </a:bodyPr>
            <a:lstStyle/>
            <a:p>
              <a:pPr algn="ctr"/>
              <a:r>
                <a:rPr lang="ja-JP" altLang="en-US" sz="1100" b="1" dirty="0">
                  <a:latin typeface="+mn-ea"/>
                  <a:ea typeface="+mn-ea"/>
                </a:rPr>
                <a:t>制御リカバリ</a:t>
              </a:r>
              <a:endParaRPr lang="en-US" altLang="ja-JP" sz="1100" b="1" dirty="0">
                <a:latin typeface="+mn-ea"/>
                <a:ea typeface="+mn-ea"/>
              </a:endParaRPr>
            </a:p>
          </p:txBody>
        </p:sp>
        <p:sp>
          <p:nvSpPr>
            <p:cNvPr id="46" name="テキスト ボックス 45">
              <a:extLst>
                <a:ext uri="{FF2B5EF4-FFF2-40B4-BE49-F238E27FC236}">
                  <a16:creationId xmlns:a16="http://schemas.microsoft.com/office/drawing/2014/main" id="{445145DB-8D5F-7C54-EA5B-A14FFF34C408}"/>
                </a:ext>
              </a:extLst>
            </p:cNvPr>
            <p:cNvSpPr txBox="1"/>
            <p:nvPr/>
          </p:nvSpPr>
          <p:spPr bwMode="gray">
            <a:xfrm>
              <a:off x="4289330" y="3640586"/>
              <a:ext cx="1166169" cy="388723"/>
            </a:xfrm>
            <a:prstGeom prst="rect">
              <a:avLst/>
            </a:prstGeom>
            <a:noFill/>
          </p:spPr>
          <p:txBody>
            <a:bodyPr wrap="square" lIns="0" tIns="0" rIns="0" bIns="0" anchor="ctr">
              <a:noAutofit/>
            </a:bodyPr>
            <a:lstStyle/>
            <a:p>
              <a:pPr algn="ctr"/>
              <a:r>
                <a:rPr lang="ja-JP" altLang="en-US" sz="1100" b="1" dirty="0">
                  <a:latin typeface="+mn-ea"/>
                  <a:ea typeface="+mn-ea"/>
                </a:rPr>
                <a:t>鍵操作</a:t>
              </a:r>
              <a:endParaRPr lang="en-US" altLang="ja-JP" sz="1100" b="1" dirty="0">
                <a:latin typeface="+mn-ea"/>
                <a:ea typeface="+mn-ea"/>
              </a:endParaRPr>
            </a:p>
          </p:txBody>
        </p:sp>
        <p:sp>
          <p:nvSpPr>
            <p:cNvPr id="47" name="テキスト ボックス 46">
              <a:extLst>
                <a:ext uri="{FF2B5EF4-FFF2-40B4-BE49-F238E27FC236}">
                  <a16:creationId xmlns:a16="http://schemas.microsoft.com/office/drawing/2014/main" id="{314E242C-E7AE-FE39-B3E6-E1F4970A77D8}"/>
                </a:ext>
              </a:extLst>
            </p:cNvPr>
            <p:cNvSpPr txBox="1"/>
            <p:nvPr/>
          </p:nvSpPr>
          <p:spPr bwMode="gray">
            <a:xfrm>
              <a:off x="5524096" y="3640586"/>
              <a:ext cx="1166169" cy="388723"/>
            </a:xfrm>
            <a:prstGeom prst="rect">
              <a:avLst/>
            </a:prstGeom>
            <a:noFill/>
          </p:spPr>
          <p:txBody>
            <a:bodyPr wrap="square" lIns="0" tIns="0" rIns="0" bIns="0" anchor="ctr">
              <a:noAutofit/>
            </a:bodyPr>
            <a:lstStyle/>
            <a:p>
              <a:pPr algn="ctr"/>
              <a:r>
                <a:rPr lang="ja-JP" altLang="en-US" sz="1100" b="1" dirty="0">
                  <a:latin typeface="+mn-ea"/>
                  <a:ea typeface="+mn-ea"/>
                </a:rPr>
                <a:t>メタデータの</a:t>
              </a:r>
              <a:endParaRPr lang="en-US" altLang="ja-JP" sz="1100" b="1" dirty="0">
                <a:latin typeface="+mn-ea"/>
                <a:ea typeface="+mn-ea"/>
              </a:endParaRPr>
            </a:p>
            <a:p>
              <a:pPr algn="ctr"/>
              <a:r>
                <a:rPr lang="ja-JP" altLang="en-US" sz="1100" b="1" dirty="0">
                  <a:latin typeface="+mn-ea"/>
                  <a:ea typeface="+mn-ea"/>
                </a:rPr>
                <a:t>運搬性</a:t>
              </a:r>
              <a:endParaRPr lang="en-US" altLang="ja-JP" sz="1100" b="1" dirty="0">
                <a:latin typeface="+mn-ea"/>
                <a:ea typeface="+mn-ea"/>
              </a:endParaRPr>
            </a:p>
          </p:txBody>
        </p:sp>
        <p:sp>
          <p:nvSpPr>
            <p:cNvPr id="48" name="テキスト ボックス 47">
              <a:extLst>
                <a:ext uri="{FF2B5EF4-FFF2-40B4-BE49-F238E27FC236}">
                  <a16:creationId xmlns:a16="http://schemas.microsoft.com/office/drawing/2014/main" id="{21F2F602-7B90-85FA-04DB-F2F6931190E0}"/>
                </a:ext>
              </a:extLst>
            </p:cNvPr>
            <p:cNvSpPr txBox="1"/>
            <p:nvPr/>
          </p:nvSpPr>
          <p:spPr bwMode="gray">
            <a:xfrm>
              <a:off x="373018" y="5183570"/>
              <a:ext cx="1166169" cy="388723"/>
            </a:xfrm>
            <a:prstGeom prst="rect">
              <a:avLst/>
            </a:prstGeom>
            <a:noFill/>
          </p:spPr>
          <p:txBody>
            <a:bodyPr wrap="square" lIns="0" tIns="0" rIns="0" bIns="0" anchor="ctr">
              <a:noAutofit/>
            </a:bodyPr>
            <a:lstStyle/>
            <a:p>
              <a:pPr algn="ctr"/>
              <a:r>
                <a:rPr lang="en-US" altLang="ja-JP" sz="1100" b="1" dirty="0">
                  <a:latin typeface="+mn-ea"/>
                  <a:ea typeface="+mn-ea"/>
                </a:rPr>
                <a:t>DID</a:t>
              </a:r>
              <a:r>
                <a:rPr lang="ja-JP" altLang="en-US" sz="1100" b="1" dirty="0">
                  <a:latin typeface="+mn-ea"/>
                  <a:ea typeface="+mn-ea"/>
                </a:rPr>
                <a:t>ドキュメント</a:t>
              </a:r>
              <a:r>
                <a:rPr lang="en-US" altLang="ja-JP" sz="1100" b="1" dirty="0">
                  <a:latin typeface="+mn-ea"/>
                  <a:ea typeface="+mn-ea"/>
                </a:rPr>
                <a:t>/</a:t>
              </a:r>
            </a:p>
            <a:p>
              <a:pPr algn="ctr"/>
              <a:r>
                <a:rPr lang="ja-JP" altLang="en-US" sz="1100" b="1" dirty="0">
                  <a:latin typeface="+mn-ea"/>
                  <a:ea typeface="+mn-ea"/>
                </a:rPr>
                <a:t>スケーリング</a:t>
              </a:r>
              <a:endParaRPr lang="en-US" altLang="ja-JP" sz="1100" b="1" dirty="0">
                <a:latin typeface="+mn-ea"/>
                <a:ea typeface="+mn-ea"/>
              </a:endParaRPr>
            </a:p>
          </p:txBody>
        </p:sp>
        <p:sp>
          <p:nvSpPr>
            <p:cNvPr id="49" name="テキスト ボックス 48">
              <a:extLst>
                <a:ext uri="{FF2B5EF4-FFF2-40B4-BE49-F238E27FC236}">
                  <a16:creationId xmlns:a16="http://schemas.microsoft.com/office/drawing/2014/main" id="{51085DF2-829E-ADFE-2DDC-A8E3DB7A705A}"/>
                </a:ext>
              </a:extLst>
            </p:cNvPr>
            <p:cNvSpPr txBox="1"/>
            <p:nvPr/>
          </p:nvSpPr>
          <p:spPr bwMode="gray">
            <a:xfrm>
              <a:off x="1660787" y="5183570"/>
              <a:ext cx="1166169" cy="388723"/>
            </a:xfrm>
            <a:prstGeom prst="rect">
              <a:avLst/>
            </a:prstGeom>
            <a:noFill/>
          </p:spPr>
          <p:txBody>
            <a:bodyPr wrap="square" lIns="0" tIns="0" rIns="0" bIns="0" anchor="ctr">
              <a:noAutofit/>
            </a:bodyPr>
            <a:lstStyle/>
            <a:p>
              <a:pPr algn="ctr"/>
              <a:r>
                <a:rPr lang="en-US" altLang="ja-JP" sz="1100" b="1">
                  <a:latin typeface="+mn-ea"/>
                  <a:ea typeface="+mn-ea"/>
                </a:rPr>
                <a:t>DID</a:t>
              </a:r>
              <a:r>
                <a:rPr lang="ja-JP" altLang="en-US" sz="1100" b="1">
                  <a:latin typeface="+mn-ea"/>
                  <a:ea typeface="+mn-ea"/>
                </a:rPr>
                <a:t>メソッド</a:t>
              </a:r>
              <a:endParaRPr lang="en-US" altLang="ja-JP" sz="1100" b="1">
                <a:latin typeface="+mn-ea"/>
                <a:ea typeface="+mn-ea"/>
              </a:endParaRPr>
            </a:p>
          </p:txBody>
        </p:sp>
        <p:sp>
          <p:nvSpPr>
            <p:cNvPr id="50" name="テキスト ボックス 49">
              <a:extLst>
                <a:ext uri="{FF2B5EF4-FFF2-40B4-BE49-F238E27FC236}">
                  <a16:creationId xmlns:a16="http://schemas.microsoft.com/office/drawing/2014/main" id="{9868B363-09F5-759F-C044-9D503E832EED}"/>
                </a:ext>
              </a:extLst>
            </p:cNvPr>
            <p:cNvSpPr txBox="1"/>
            <p:nvPr/>
          </p:nvSpPr>
          <p:spPr bwMode="gray">
            <a:xfrm>
              <a:off x="2948556" y="5183570"/>
              <a:ext cx="1166169" cy="388723"/>
            </a:xfrm>
            <a:prstGeom prst="rect">
              <a:avLst/>
            </a:prstGeom>
            <a:noFill/>
          </p:spPr>
          <p:txBody>
            <a:bodyPr wrap="square" lIns="0" tIns="0" rIns="0" bIns="0" anchor="ctr">
              <a:noAutofit/>
            </a:bodyPr>
            <a:lstStyle/>
            <a:p>
              <a:pPr algn="ctr"/>
              <a:r>
                <a:rPr lang="ja-JP" altLang="en-US" sz="1100" b="1" dirty="0">
                  <a:latin typeface="+mn-ea"/>
                  <a:ea typeface="+mn-ea"/>
                </a:rPr>
                <a:t>アンカータイプ</a:t>
              </a:r>
              <a:endParaRPr lang="en-US" altLang="ja-JP" sz="1100" b="1" dirty="0">
                <a:latin typeface="+mn-ea"/>
                <a:ea typeface="+mn-ea"/>
              </a:endParaRPr>
            </a:p>
          </p:txBody>
        </p:sp>
        <p:sp>
          <p:nvSpPr>
            <p:cNvPr id="51" name="テキスト ボックス 50">
              <a:extLst>
                <a:ext uri="{FF2B5EF4-FFF2-40B4-BE49-F238E27FC236}">
                  <a16:creationId xmlns:a16="http://schemas.microsoft.com/office/drawing/2014/main" id="{009CCDFE-497E-71CB-3DA8-F786740BC288}"/>
                </a:ext>
              </a:extLst>
            </p:cNvPr>
            <p:cNvSpPr txBox="1"/>
            <p:nvPr/>
          </p:nvSpPr>
          <p:spPr bwMode="gray">
            <a:xfrm>
              <a:off x="4283443" y="5183570"/>
              <a:ext cx="1166169" cy="388723"/>
            </a:xfrm>
            <a:prstGeom prst="rect">
              <a:avLst/>
            </a:prstGeom>
            <a:noFill/>
          </p:spPr>
          <p:txBody>
            <a:bodyPr wrap="square" lIns="0" tIns="0" rIns="0" bIns="0" anchor="ctr">
              <a:noAutofit/>
            </a:bodyPr>
            <a:lstStyle/>
            <a:p>
              <a:pPr algn="ctr"/>
              <a:r>
                <a:rPr lang="en-US" altLang="ja-JP" sz="1100" b="1" dirty="0">
                  <a:latin typeface="+mn-ea"/>
                  <a:ea typeface="+mn-ea"/>
                </a:rPr>
                <a:t>DID</a:t>
              </a:r>
              <a:r>
                <a:rPr lang="ja-JP" altLang="en-US" sz="1100" b="1" dirty="0">
                  <a:latin typeface="+mn-ea"/>
                  <a:ea typeface="+mn-ea"/>
                </a:rPr>
                <a:t>解決</a:t>
              </a:r>
              <a:endParaRPr lang="en-US" altLang="ja-JP" sz="1100" b="1" dirty="0">
                <a:latin typeface="+mn-ea"/>
                <a:ea typeface="+mn-ea"/>
              </a:endParaRPr>
            </a:p>
          </p:txBody>
        </p:sp>
        <p:sp>
          <p:nvSpPr>
            <p:cNvPr id="52" name="テキスト ボックス 51">
              <a:extLst>
                <a:ext uri="{FF2B5EF4-FFF2-40B4-BE49-F238E27FC236}">
                  <a16:creationId xmlns:a16="http://schemas.microsoft.com/office/drawing/2014/main" id="{57AA93CC-7CE0-175C-26A8-BC3590A5BCD4}"/>
                </a:ext>
              </a:extLst>
            </p:cNvPr>
            <p:cNvSpPr txBox="1"/>
            <p:nvPr/>
          </p:nvSpPr>
          <p:spPr bwMode="gray">
            <a:xfrm>
              <a:off x="5524096" y="5183570"/>
              <a:ext cx="1166169" cy="388723"/>
            </a:xfrm>
            <a:prstGeom prst="rect">
              <a:avLst/>
            </a:prstGeom>
            <a:noFill/>
          </p:spPr>
          <p:txBody>
            <a:bodyPr wrap="square" lIns="0" tIns="0" rIns="0" bIns="0" anchor="ctr">
              <a:noAutofit/>
            </a:bodyPr>
            <a:lstStyle/>
            <a:p>
              <a:pPr algn="ctr"/>
              <a:r>
                <a:rPr lang="ja-JP" altLang="en-US" sz="1100" b="1" dirty="0">
                  <a:latin typeface="+mn-ea"/>
                  <a:ea typeface="+mn-ea"/>
                </a:rPr>
                <a:t>アンカーサービス</a:t>
              </a:r>
              <a:endParaRPr lang="en-US" altLang="ja-JP" sz="1100" b="1" dirty="0">
                <a:latin typeface="+mn-ea"/>
                <a:ea typeface="+mn-ea"/>
              </a:endParaRPr>
            </a:p>
          </p:txBody>
        </p:sp>
      </p:grpSp>
      <p:sp>
        <p:nvSpPr>
          <p:cNvPr id="59" name="テキスト ボックス 58">
            <a:extLst>
              <a:ext uri="{FF2B5EF4-FFF2-40B4-BE49-F238E27FC236}">
                <a16:creationId xmlns:a16="http://schemas.microsoft.com/office/drawing/2014/main" id="{D6CC07FC-E90F-56D5-ED87-AE9F1EE915D2}"/>
              </a:ext>
            </a:extLst>
          </p:cNvPr>
          <p:cNvSpPr txBox="1"/>
          <p:nvPr/>
        </p:nvSpPr>
        <p:spPr>
          <a:xfrm>
            <a:off x="188656" y="6298287"/>
            <a:ext cx="9225310" cy="253916"/>
          </a:xfrm>
          <a:prstGeom prst="rect">
            <a:avLst/>
          </a:prstGeom>
          <a:noFill/>
        </p:spPr>
        <p:txBody>
          <a:bodyPr wrap="square">
            <a:spAutoFit/>
          </a:bodyPr>
          <a:lstStyle/>
          <a:p>
            <a:pPr eaLnBrk="1" hangingPunct="1"/>
            <a:r>
              <a:rPr kumimoji="0" lang="ja-JP" altLang="en-US" sz="1050" dirty="0">
                <a:solidFill>
                  <a:prstClr val="black"/>
                </a:solidFill>
                <a:latin typeface="Calibri"/>
                <a:ea typeface="Yu Gothic UI"/>
                <a:cs typeface="Arial" charset="0"/>
              </a:rPr>
              <a:t>*出所：　</a:t>
            </a:r>
            <a:r>
              <a:rPr kumimoji="0" lang="en-US" altLang="ja-JP" sz="1050" dirty="0">
                <a:solidFill>
                  <a:prstClr val="black"/>
                </a:solidFill>
                <a:latin typeface="Calibri"/>
                <a:ea typeface="Yu Gothic UI"/>
                <a:cs typeface="Arial" charset="0"/>
                <a:hlinkClick r:id="rId2"/>
              </a:rPr>
              <a:t>https://github.com/decentralized-identity/interoperability/blob/master/assets/interoperability-mapping-exercise-10-12-20.pdf</a:t>
            </a:r>
            <a:endParaRPr kumimoji="0" lang="en-US" altLang="ja-JP" sz="1050" dirty="0">
              <a:solidFill>
                <a:prstClr val="black"/>
              </a:solidFill>
              <a:latin typeface="Calibri"/>
              <a:ea typeface="Yu Gothic UI"/>
              <a:cs typeface="Arial" charset="0"/>
            </a:endParaRPr>
          </a:p>
        </p:txBody>
      </p:sp>
      <p:grpSp>
        <p:nvGrpSpPr>
          <p:cNvPr id="5" name="グループ化 4">
            <a:extLst>
              <a:ext uri="{FF2B5EF4-FFF2-40B4-BE49-F238E27FC236}">
                <a16:creationId xmlns:a16="http://schemas.microsoft.com/office/drawing/2014/main" id="{BB496FB2-B566-1CED-1134-DDE8579F24C5}"/>
              </a:ext>
            </a:extLst>
          </p:cNvPr>
          <p:cNvGrpSpPr/>
          <p:nvPr/>
        </p:nvGrpSpPr>
        <p:grpSpPr>
          <a:xfrm>
            <a:off x="5867005" y="137240"/>
            <a:ext cx="2322246" cy="301798"/>
            <a:chOff x="5867005" y="137240"/>
            <a:chExt cx="2322246" cy="552560"/>
          </a:xfrm>
          <a:solidFill>
            <a:schemeClr val="accent1">
              <a:lumMod val="20000"/>
              <a:lumOff val="80000"/>
            </a:schemeClr>
          </a:solidFill>
        </p:grpSpPr>
        <p:sp>
          <p:nvSpPr>
            <p:cNvPr id="60" name="正方形/長方形 59">
              <a:extLst>
                <a:ext uri="{FF2B5EF4-FFF2-40B4-BE49-F238E27FC236}">
                  <a16:creationId xmlns:a16="http://schemas.microsoft.com/office/drawing/2014/main" id="{8ACB2EF0-3E4A-474A-4FF5-A72D2971DCB7}"/>
                </a:ext>
              </a:extLst>
            </p:cNvPr>
            <p:cNvSpPr/>
            <p:nvPr/>
          </p:nvSpPr>
          <p:spPr>
            <a:xfrm>
              <a:off x="5867005" y="511582"/>
              <a:ext cx="1554312" cy="178218"/>
            </a:xfrm>
            <a:prstGeom prst="rect">
              <a:avLst/>
            </a:prstGeom>
            <a:grp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Public Trust Layer</a:t>
              </a:r>
              <a:endParaRPr lang="ja-JP" altLang="en-US" sz="800" b="1" dirty="0">
                <a:solidFill>
                  <a:schemeClr val="accent1"/>
                </a:solidFill>
              </a:endParaRPr>
            </a:p>
          </p:txBody>
        </p:sp>
        <p:sp>
          <p:nvSpPr>
            <p:cNvPr id="61" name="正方形/長方形 60">
              <a:extLst>
                <a:ext uri="{FF2B5EF4-FFF2-40B4-BE49-F238E27FC236}">
                  <a16:creationId xmlns:a16="http://schemas.microsoft.com/office/drawing/2014/main" id="{695C6A93-B5CC-27D1-C741-8DE475A7DFD9}"/>
                </a:ext>
              </a:extLst>
            </p:cNvPr>
            <p:cNvSpPr/>
            <p:nvPr/>
          </p:nvSpPr>
          <p:spPr>
            <a:xfrm>
              <a:off x="5867005" y="324411"/>
              <a:ext cx="1554312" cy="178218"/>
            </a:xfrm>
            <a:prstGeom prst="rect">
              <a:avLst/>
            </a:prstGeom>
            <a:grp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Agent Layer</a:t>
              </a:r>
              <a:endParaRPr lang="ja-JP" altLang="en-US" sz="800" b="1" dirty="0">
                <a:solidFill>
                  <a:schemeClr val="accent1"/>
                </a:solidFill>
              </a:endParaRPr>
            </a:p>
          </p:txBody>
        </p:sp>
        <p:sp>
          <p:nvSpPr>
            <p:cNvPr id="62" name="正方形/長方形 61">
              <a:extLst>
                <a:ext uri="{FF2B5EF4-FFF2-40B4-BE49-F238E27FC236}">
                  <a16:creationId xmlns:a16="http://schemas.microsoft.com/office/drawing/2014/main" id="{F045E1BC-D8D6-95E6-9939-3EBFB5462DD2}"/>
                </a:ext>
              </a:extLst>
            </p:cNvPr>
            <p:cNvSpPr/>
            <p:nvPr/>
          </p:nvSpPr>
          <p:spPr>
            <a:xfrm>
              <a:off x="5867005" y="137240"/>
              <a:ext cx="1554312" cy="178218"/>
            </a:xfrm>
            <a:prstGeom prst="rect">
              <a:avLst/>
            </a:prstGeom>
            <a:grp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Credential Layer</a:t>
              </a:r>
              <a:endParaRPr lang="ja-JP" altLang="en-US" sz="800" b="1" dirty="0">
                <a:solidFill>
                  <a:schemeClr val="accent1"/>
                </a:solidFill>
              </a:endParaRPr>
            </a:p>
          </p:txBody>
        </p:sp>
        <p:sp>
          <p:nvSpPr>
            <p:cNvPr id="63" name="正方形/長方形 62">
              <a:extLst>
                <a:ext uri="{FF2B5EF4-FFF2-40B4-BE49-F238E27FC236}">
                  <a16:creationId xmlns:a16="http://schemas.microsoft.com/office/drawing/2014/main" id="{D3322E58-C7E4-AB76-357E-C235E85CA710}"/>
                </a:ext>
              </a:extLst>
            </p:cNvPr>
            <p:cNvSpPr/>
            <p:nvPr/>
          </p:nvSpPr>
          <p:spPr>
            <a:xfrm>
              <a:off x="7424690" y="137240"/>
              <a:ext cx="764561" cy="552560"/>
            </a:xfrm>
            <a:prstGeom prst="rect">
              <a:avLst/>
            </a:prstGeom>
            <a:grp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Vertical / </a:t>
              </a:r>
            </a:p>
            <a:p>
              <a:pPr algn="ctr"/>
              <a:r>
                <a:rPr lang="en-US" altLang="ja-JP" sz="800" b="1" dirty="0">
                  <a:solidFill>
                    <a:schemeClr val="accent1"/>
                  </a:solidFill>
                </a:rPr>
                <a:t>Cross-cutting</a:t>
              </a:r>
              <a:endParaRPr lang="ja-JP" altLang="en-US" sz="800" b="1" dirty="0">
                <a:solidFill>
                  <a:schemeClr val="accent1"/>
                </a:solidFill>
              </a:endParaRPr>
            </a:p>
          </p:txBody>
        </p:sp>
      </p:grpSp>
    </p:spTree>
    <p:extLst>
      <p:ext uri="{BB962C8B-B14F-4D97-AF65-F5344CB8AC3E}">
        <p14:creationId xmlns:p14="http://schemas.microsoft.com/office/powerpoint/2010/main" val="2799211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C06DD1E-1320-AE26-5D4F-C3CA50C23AC4}"/>
              </a:ext>
            </a:extLst>
          </p:cNvPr>
          <p:cNvSpPr>
            <a:spLocks noGrp="1"/>
          </p:cNvSpPr>
          <p:nvPr>
            <p:ph idx="1"/>
          </p:nvPr>
        </p:nvSpPr>
        <p:spPr>
          <a:xfrm>
            <a:off x="273050" y="927444"/>
            <a:ext cx="9359900" cy="473976"/>
          </a:xfrm>
        </p:spPr>
        <p:txBody>
          <a:bodyPr/>
          <a:lstStyle/>
          <a:p>
            <a:r>
              <a:rPr kumimoji="1" lang="en-US" altLang="ja-JP" dirty="0"/>
              <a:t>Credential Layer</a:t>
            </a:r>
            <a:r>
              <a:rPr kumimoji="1" lang="ja-JP" altLang="en-US" dirty="0"/>
              <a:t>は、主に、証明書のフォーマット、失効、交換方式に関する規格群が定義されている</a:t>
            </a:r>
            <a:endParaRPr kumimoji="1" lang="en-US" altLang="ja-JP" dirty="0"/>
          </a:p>
          <a:p>
            <a:r>
              <a:rPr kumimoji="1" lang="ja-JP" altLang="en-US" dirty="0"/>
              <a:t>証明書連携フローについて</a:t>
            </a:r>
            <a:r>
              <a:rPr kumimoji="1" lang="en-US" altLang="ja-JP" dirty="0"/>
              <a:t>Credential Layer</a:t>
            </a:r>
            <a:r>
              <a:rPr kumimoji="1" lang="ja-JP" altLang="en-US" dirty="0"/>
              <a:t>で行われていること概要を図示すると以下のようになる</a:t>
            </a:r>
            <a:endParaRPr kumimoji="1" lang="en-US" altLang="ja-JP" dirty="0"/>
          </a:p>
        </p:txBody>
      </p:sp>
      <p:sp>
        <p:nvSpPr>
          <p:cNvPr id="4" name="テキスト プレースホルダー 3">
            <a:extLst>
              <a:ext uri="{FF2B5EF4-FFF2-40B4-BE49-F238E27FC236}">
                <a16:creationId xmlns:a16="http://schemas.microsoft.com/office/drawing/2014/main" id="{FA973193-F741-0FE6-88F5-4A29BCE98456}"/>
              </a:ext>
            </a:extLst>
          </p:cNvPr>
          <p:cNvSpPr>
            <a:spLocks noGrp="1"/>
          </p:cNvSpPr>
          <p:nvPr>
            <p:ph type="body" sz="quarter" idx="10"/>
          </p:nvPr>
        </p:nvSpPr>
        <p:spPr>
          <a:xfrm>
            <a:off x="273050" y="188913"/>
            <a:ext cx="7848600" cy="161583"/>
          </a:xfrm>
        </p:spPr>
        <p:txBody>
          <a:bodyPr/>
          <a:lstStyle/>
          <a:p>
            <a:r>
              <a:rPr kumimoji="1" lang="en-US" altLang="zh-TW" dirty="0"/>
              <a:t>4.</a:t>
            </a:r>
            <a:r>
              <a:rPr lang="zh-TW" altLang="en-US" dirty="0"/>
              <a:t> </a:t>
            </a:r>
            <a:r>
              <a:rPr kumimoji="1" lang="zh-TW" altLang="en-US" dirty="0"/>
              <a:t>規格実態調査</a:t>
            </a:r>
          </a:p>
        </p:txBody>
      </p:sp>
      <p:sp>
        <p:nvSpPr>
          <p:cNvPr id="44" name="正方形/長方形 43">
            <a:extLst>
              <a:ext uri="{FF2B5EF4-FFF2-40B4-BE49-F238E27FC236}">
                <a16:creationId xmlns:a16="http://schemas.microsoft.com/office/drawing/2014/main" id="{B5AD9A98-4652-43B8-3D9D-0111439589BA}"/>
              </a:ext>
            </a:extLst>
          </p:cNvPr>
          <p:cNvSpPr/>
          <p:nvPr/>
        </p:nvSpPr>
        <p:spPr bwMode="gray">
          <a:xfrm>
            <a:off x="1452051" y="3010727"/>
            <a:ext cx="1783533" cy="646346"/>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発行者</a:t>
            </a:r>
            <a:endParaRPr lang="en-US" altLang="ja-JP" sz="1200" dirty="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(Issuer)</a:t>
            </a:r>
          </a:p>
        </p:txBody>
      </p:sp>
      <p:sp>
        <p:nvSpPr>
          <p:cNvPr id="45" name="正方形/長方形 44">
            <a:extLst>
              <a:ext uri="{FF2B5EF4-FFF2-40B4-BE49-F238E27FC236}">
                <a16:creationId xmlns:a16="http://schemas.microsoft.com/office/drawing/2014/main" id="{297E5F49-C36D-73B1-CF1E-02A928CCC59F}"/>
              </a:ext>
            </a:extLst>
          </p:cNvPr>
          <p:cNvSpPr/>
          <p:nvPr/>
        </p:nvSpPr>
        <p:spPr bwMode="gray">
          <a:xfrm>
            <a:off x="6648389" y="3010727"/>
            <a:ext cx="1783533" cy="646346"/>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検証者</a:t>
            </a:r>
            <a:endParaRPr lang="en-US" altLang="ja-JP" sz="1200" dirty="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(Verifier)</a:t>
            </a:r>
          </a:p>
        </p:txBody>
      </p:sp>
      <p:sp>
        <p:nvSpPr>
          <p:cNvPr id="46" name="正方形/長方形 45">
            <a:extLst>
              <a:ext uri="{FF2B5EF4-FFF2-40B4-BE49-F238E27FC236}">
                <a16:creationId xmlns:a16="http://schemas.microsoft.com/office/drawing/2014/main" id="{9426DAF9-20B1-0D63-7511-4A24C9F4DDB5}"/>
              </a:ext>
            </a:extLst>
          </p:cNvPr>
          <p:cNvSpPr/>
          <p:nvPr/>
        </p:nvSpPr>
        <p:spPr bwMode="gray">
          <a:xfrm>
            <a:off x="4024518" y="3010727"/>
            <a:ext cx="1783533" cy="646346"/>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所有者</a:t>
            </a:r>
            <a:endParaRPr lang="en-US" altLang="ja-JP" sz="1200" dirty="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(Holder)</a:t>
            </a:r>
          </a:p>
        </p:txBody>
      </p:sp>
      <p:sp>
        <p:nvSpPr>
          <p:cNvPr id="47" name="正方形/長方形 46">
            <a:extLst>
              <a:ext uri="{FF2B5EF4-FFF2-40B4-BE49-F238E27FC236}">
                <a16:creationId xmlns:a16="http://schemas.microsoft.com/office/drawing/2014/main" id="{D66192B5-1B1F-A393-7963-CAB2AFCB4CBD}"/>
              </a:ext>
            </a:extLst>
          </p:cNvPr>
          <p:cNvSpPr/>
          <p:nvPr/>
        </p:nvSpPr>
        <p:spPr bwMode="gray">
          <a:xfrm>
            <a:off x="4024518" y="4579173"/>
            <a:ext cx="1783533" cy="712163"/>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Calibri Light"/>
                <a:ea typeface="Yu Gothic UI"/>
                <a:cs typeface="Arial" charset="0"/>
              </a:rPr>
              <a:t>検証可能データレジストリ</a:t>
            </a:r>
            <a:endParaRPr lang="en-US" altLang="ja-JP" sz="120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Calibri Light"/>
                <a:ea typeface="Yu Gothic UI"/>
                <a:cs typeface="Arial" charset="0"/>
              </a:rPr>
              <a:t>(Verifiable Data Registry)</a:t>
            </a:r>
            <a:endParaRPr lang="ja-JP" altLang="en-US" sz="1200">
              <a:solidFill>
                <a:prstClr val="black"/>
              </a:solidFill>
              <a:latin typeface="Calibri Light"/>
              <a:ea typeface="Yu Gothic UI"/>
              <a:cs typeface="Arial" charset="0"/>
            </a:endParaRPr>
          </a:p>
        </p:txBody>
      </p:sp>
      <p:cxnSp>
        <p:nvCxnSpPr>
          <p:cNvPr id="48" name="直線矢印コネクタ 47">
            <a:extLst>
              <a:ext uri="{FF2B5EF4-FFF2-40B4-BE49-F238E27FC236}">
                <a16:creationId xmlns:a16="http://schemas.microsoft.com/office/drawing/2014/main" id="{00D4654B-CCB5-F77F-CF4E-D40C8CAFA56D}"/>
              </a:ext>
            </a:extLst>
          </p:cNvPr>
          <p:cNvCxnSpPr>
            <a:cxnSpLocks/>
            <a:stCxn id="46" idx="2"/>
            <a:endCxn id="47" idx="0"/>
          </p:cNvCxnSpPr>
          <p:nvPr/>
        </p:nvCxnSpPr>
        <p:spPr bwMode="gray">
          <a:xfrm>
            <a:off x="4916285" y="3657073"/>
            <a:ext cx="0" cy="922100"/>
          </a:xfrm>
          <a:prstGeom prst="straightConnector1">
            <a:avLst/>
          </a:prstGeom>
          <a:noFill/>
          <a:ln w="12700" cap="flat" cmpd="sng" algn="ctr">
            <a:solidFill>
              <a:srgbClr val="53565A"/>
            </a:solidFill>
            <a:prstDash val="solid"/>
            <a:tailEnd type="triangle"/>
          </a:ln>
          <a:effectLst/>
        </p:spPr>
      </p:cxnSp>
      <p:cxnSp>
        <p:nvCxnSpPr>
          <p:cNvPr id="49" name="コネクタ: カギ線 48">
            <a:extLst>
              <a:ext uri="{FF2B5EF4-FFF2-40B4-BE49-F238E27FC236}">
                <a16:creationId xmlns:a16="http://schemas.microsoft.com/office/drawing/2014/main" id="{DE2C35DA-F5A2-4C5C-67EF-497A92316ACE}"/>
              </a:ext>
            </a:extLst>
          </p:cNvPr>
          <p:cNvCxnSpPr>
            <a:cxnSpLocks/>
            <a:stCxn id="44" idx="2"/>
            <a:endCxn id="47" idx="1"/>
          </p:cNvCxnSpPr>
          <p:nvPr/>
        </p:nvCxnSpPr>
        <p:spPr bwMode="gray">
          <a:xfrm rot="16200000" flipH="1">
            <a:off x="2545077" y="3455814"/>
            <a:ext cx="1278182" cy="1680700"/>
          </a:xfrm>
          <a:prstGeom prst="bentConnector2">
            <a:avLst/>
          </a:prstGeom>
          <a:noFill/>
          <a:ln w="12700" cap="flat" cmpd="sng" algn="ctr">
            <a:solidFill>
              <a:srgbClr val="53565A"/>
            </a:solidFill>
            <a:prstDash val="solid"/>
            <a:tailEnd type="triangle"/>
          </a:ln>
          <a:effectLst/>
        </p:spPr>
      </p:cxnSp>
      <p:cxnSp>
        <p:nvCxnSpPr>
          <p:cNvPr id="50" name="コネクタ: カギ線 49">
            <a:extLst>
              <a:ext uri="{FF2B5EF4-FFF2-40B4-BE49-F238E27FC236}">
                <a16:creationId xmlns:a16="http://schemas.microsoft.com/office/drawing/2014/main" id="{F104D613-A7DF-058B-F9EC-8A394A2ABE75}"/>
              </a:ext>
            </a:extLst>
          </p:cNvPr>
          <p:cNvCxnSpPr>
            <a:cxnSpLocks/>
            <a:stCxn id="45" idx="2"/>
            <a:endCxn id="47" idx="3"/>
          </p:cNvCxnSpPr>
          <p:nvPr/>
        </p:nvCxnSpPr>
        <p:spPr bwMode="gray">
          <a:xfrm rot="5400000">
            <a:off x="6035013" y="3430112"/>
            <a:ext cx="1278182" cy="1732105"/>
          </a:xfrm>
          <a:prstGeom prst="bentConnector2">
            <a:avLst/>
          </a:prstGeom>
          <a:noFill/>
          <a:ln w="12700" cap="flat" cmpd="sng" algn="ctr">
            <a:solidFill>
              <a:srgbClr val="53565A"/>
            </a:solidFill>
            <a:prstDash val="solid"/>
            <a:tailEnd type="triangle"/>
          </a:ln>
          <a:effectLst/>
        </p:spPr>
      </p:cxnSp>
      <p:sp>
        <p:nvSpPr>
          <p:cNvPr id="51" name="テキスト ボックス 50">
            <a:extLst>
              <a:ext uri="{FF2B5EF4-FFF2-40B4-BE49-F238E27FC236}">
                <a16:creationId xmlns:a16="http://schemas.microsoft.com/office/drawing/2014/main" id="{BDA5CDE1-969E-488D-48C6-21F4A1044C50}"/>
              </a:ext>
            </a:extLst>
          </p:cNvPr>
          <p:cNvSpPr txBox="1"/>
          <p:nvPr/>
        </p:nvSpPr>
        <p:spPr bwMode="gray">
          <a:xfrm>
            <a:off x="2384645" y="4512425"/>
            <a:ext cx="1639873" cy="369332"/>
          </a:xfrm>
          <a:prstGeom prst="rect">
            <a:avLst/>
          </a:prstGeom>
          <a:noFill/>
        </p:spPr>
        <p:txBody>
          <a:bodyPr wrap="square" lIns="0" tIns="0" rIns="0" bIns="0" rtlCol="0">
            <a:spAutoFit/>
          </a:bodyPr>
          <a:lstStyle>
            <a:defPPr>
              <a:defRPr lang="ja-JP"/>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1" i="0" u="none" strike="noStrike" cap="none" spc="0" normalizeH="0" baseline="0">
                <a:ln>
                  <a:noFill/>
                </a:ln>
                <a:solidFill>
                  <a:srgbClr val="AB7942"/>
                </a:solidFill>
                <a:effectLst/>
                <a:uLnTx/>
                <a:uFillTx/>
                <a:latin typeface="Calibri Light"/>
                <a:ea typeface="Yu Gothic UI"/>
              </a:defRPr>
            </a:lvl1pPr>
          </a:lstStyle>
          <a:p>
            <a:r>
              <a:rPr lang="ja-JP" altLang="en-US"/>
              <a:t>⑤証明書</a:t>
            </a:r>
            <a:r>
              <a:rPr lang="ja-JP" altLang="en-US" dirty="0"/>
              <a:t>バインディング</a:t>
            </a:r>
            <a:endParaRPr lang="en-US" altLang="ja-JP" dirty="0"/>
          </a:p>
          <a:p>
            <a:r>
              <a:rPr lang="en-US" altLang="ja-JP" dirty="0"/>
              <a:t>(</a:t>
            </a:r>
            <a:r>
              <a:rPr lang="ja-JP" altLang="en-US" dirty="0"/>
              <a:t>識別子</a:t>
            </a:r>
            <a:r>
              <a:rPr lang="ja-JP" altLang="en-US"/>
              <a:t>や公開鍵の登録</a:t>
            </a:r>
            <a:r>
              <a:rPr lang="en-US" altLang="ja-JP" dirty="0"/>
              <a:t>)</a:t>
            </a:r>
            <a:endParaRPr lang="ja-JP" altLang="en-US"/>
          </a:p>
        </p:txBody>
      </p:sp>
      <p:sp>
        <p:nvSpPr>
          <p:cNvPr id="52" name="テキスト ボックス 51">
            <a:extLst>
              <a:ext uri="{FF2B5EF4-FFF2-40B4-BE49-F238E27FC236}">
                <a16:creationId xmlns:a16="http://schemas.microsoft.com/office/drawing/2014/main" id="{8982C23F-36C1-EE44-F715-79F551D8F060}"/>
              </a:ext>
            </a:extLst>
          </p:cNvPr>
          <p:cNvSpPr txBox="1"/>
          <p:nvPr/>
        </p:nvSpPr>
        <p:spPr bwMode="gray">
          <a:xfrm>
            <a:off x="5631742" y="3708607"/>
            <a:ext cx="1369451" cy="184666"/>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クレデンシャルの提示</a:t>
            </a:r>
          </a:p>
        </p:txBody>
      </p:sp>
      <p:cxnSp>
        <p:nvCxnSpPr>
          <p:cNvPr id="53" name="直線矢印コネクタ 52">
            <a:extLst>
              <a:ext uri="{FF2B5EF4-FFF2-40B4-BE49-F238E27FC236}">
                <a16:creationId xmlns:a16="http://schemas.microsoft.com/office/drawing/2014/main" id="{B732BEC5-AA74-A55D-165B-5270330AF853}"/>
              </a:ext>
            </a:extLst>
          </p:cNvPr>
          <p:cNvCxnSpPr>
            <a:cxnSpLocks/>
            <a:stCxn id="44" idx="3"/>
            <a:endCxn id="46" idx="1"/>
          </p:cNvCxnSpPr>
          <p:nvPr/>
        </p:nvCxnSpPr>
        <p:spPr bwMode="gray">
          <a:xfrm>
            <a:off x="3235584" y="3333900"/>
            <a:ext cx="788934" cy="0"/>
          </a:xfrm>
          <a:prstGeom prst="straightConnector1">
            <a:avLst/>
          </a:prstGeom>
          <a:noFill/>
          <a:ln w="12700" cap="flat" cmpd="sng" algn="ctr">
            <a:solidFill>
              <a:srgbClr val="53565A"/>
            </a:solidFill>
            <a:prstDash val="solid"/>
            <a:tailEnd type="triangle"/>
          </a:ln>
          <a:effectLst/>
        </p:spPr>
      </p:cxnSp>
      <p:cxnSp>
        <p:nvCxnSpPr>
          <p:cNvPr id="54" name="直線矢印コネクタ 53">
            <a:extLst>
              <a:ext uri="{FF2B5EF4-FFF2-40B4-BE49-F238E27FC236}">
                <a16:creationId xmlns:a16="http://schemas.microsoft.com/office/drawing/2014/main" id="{6A581D7E-7E34-C049-775C-35BB39674949}"/>
              </a:ext>
            </a:extLst>
          </p:cNvPr>
          <p:cNvCxnSpPr>
            <a:cxnSpLocks/>
            <a:stCxn id="46" idx="3"/>
            <a:endCxn id="45" idx="1"/>
          </p:cNvCxnSpPr>
          <p:nvPr/>
        </p:nvCxnSpPr>
        <p:spPr bwMode="gray">
          <a:xfrm>
            <a:off x="5808051" y="3333900"/>
            <a:ext cx="840338" cy="0"/>
          </a:xfrm>
          <a:prstGeom prst="straightConnector1">
            <a:avLst/>
          </a:prstGeom>
          <a:noFill/>
          <a:ln w="12700" cap="flat" cmpd="sng" algn="ctr">
            <a:solidFill>
              <a:srgbClr val="53565A"/>
            </a:solidFill>
            <a:prstDash val="solid"/>
            <a:tailEnd type="triangle"/>
          </a:ln>
          <a:effectLst/>
        </p:spPr>
      </p:cxnSp>
      <p:sp>
        <p:nvSpPr>
          <p:cNvPr id="55" name="テキスト ボックス 54">
            <a:extLst>
              <a:ext uri="{FF2B5EF4-FFF2-40B4-BE49-F238E27FC236}">
                <a16:creationId xmlns:a16="http://schemas.microsoft.com/office/drawing/2014/main" id="{EE669C27-6ABE-23CC-AFBF-B99840354670}"/>
              </a:ext>
            </a:extLst>
          </p:cNvPr>
          <p:cNvSpPr txBox="1"/>
          <p:nvPr/>
        </p:nvSpPr>
        <p:spPr bwMode="gray">
          <a:xfrm>
            <a:off x="3049666" y="3715538"/>
            <a:ext cx="1287856" cy="184666"/>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クレデンシャルの発行</a:t>
            </a:r>
          </a:p>
        </p:txBody>
      </p:sp>
      <p:sp>
        <p:nvSpPr>
          <p:cNvPr id="56" name="四角形: 角を丸くする 55">
            <a:extLst>
              <a:ext uri="{FF2B5EF4-FFF2-40B4-BE49-F238E27FC236}">
                <a16:creationId xmlns:a16="http://schemas.microsoft.com/office/drawing/2014/main" id="{ADFEE5C7-952C-4AC9-6397-844524AA3A0D}"/>
              </a:ext>
            </a:extLst>
          </p:cNvPr>
          <p:cNvSpPr/>
          <p:nvPr/>
        </p:nvSpPr>
        <p:spPr bwMode="gray">
          <a:xfrm>
            <a:off x="812091" y="4440845"/>
            <a:ext cx="1337069" cy="1686239"/>
          </a:xfrm>
          <a:prstGeom prst="roundRect">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Calibri Light"/>
                <a:ea typeface="Yu Gothic UI"/>
                <a:cs typeface="Arial" charset="0"/>
              </a:rPr>
              <a:t>Verifiable Credentials</a:t>
            </a: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57" name="正方形/長方形 56">
            <a:extLst>
              <a:ext uri="{FF2B5EF4-FFF2-40B4-BE49-F238E27FC236}">
                <a16:creationId xmlns:a16="http://schemas.microsoft.com/office/drawing/2014/main" id="{C2695ECA-E319-39AE-B989-13ED143B1AD6}"/>
              </a:ext>
            </a:extLst>
          </p:cNvPr>
          <p:cNvSpPr/>
          <p:nvPr/>
        </p:nvSpPr>
        <p:spPr bwMode="gray">
          <a:xfrm>
            <a:off x="930023" y="4933276"/>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Credential Metadata</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58" name="正方形/長方形 57">
            <a:extLst>
              <a:ext uri="{FF2B5EF4-FFF2-40B4-BE49-F238E27FC236}">
                <a16:creationId xmlns:a16="http://schemas.microsoft.com/office/drawing/2014/main" id="{44C4FC1B-9A99-9BCA-631A-CC5C1724407D}"/>
              </a:ext>
            </a:extLst>
          </p:cNvPr>
          <p:cNvSpPr/>
          <p:nvPr/>
        </p:nvSpPr>
        <p:spPr bwMode="gray">
          <a:xfrm>
            <a:off x="930023" y="5296773"/>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Claim(s)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59" name="正方形/長方形 58">
            <a:extLst>
              <a:ext uri="{FF2B5EF4-FFF2-40B4-BE49-F238E27FC236}">
                <a16:creationId xmlns:a16="http://schemas.microsoft.com/office/drawing/2014/main" id="{5CF513BB-BD53-F0DA-B255-2B93529C8B64}"/>
              </a:ext>
            </a:extLst>
          </p:cNvPr>
          <p:cNvSpPr/>
          <p:nvPr/>
        </p:nvSpPr>
        <p:spPr bwMode="gray">
          <a:xfrm>
            <a:off x="930023" y="5650099"/>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Proof(s)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60" name="四角形: 角を丸くする 59">
            <a:extLst>
              <a:ext uri="{FF2B5EF4-FFF2-40B4-BE49-F238E27FC236}">
                <a16:creationId xmlns:a16="http://schemas.microsoft.com/office/drawing/2014/main" id="{A64E14AE-D2C5-50E3-49EB-9C0F7BBF579B}"/>
              </a:ext>
            </a:extLst>
          </p:cNvPr>
          <p:cNvSpPr/>
          <p:nvPr/>
        </p:nvSpPr>
        <p:spPr bwMode="gray">
          <a:xfrm>
            <a:off x="7775844" y="4433364"/>
            <a:ext cx="1337069" cy="1686239"/>
          </a:xfrm>
          <a:prstGeom prst="roundRect">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1" i="0" u="none" strike="noStrike" kern="0" cap="none" spc="0" normalizeH="0" baseline="0" noProof="0">
                <a:ln>
                  <a:noFill/>
                </a:ln>
                <a:solidFill>
                  <a:prstClr val="white"/>
                </a:solidFill>
                <a:effectLst/>
                <a:uLnTx/>
                <a:uFillTx/>
                <a:latin typeface="Calibri Light"/>
                <a:ea typeface="Yu Gothic UI"/>
                <a:cs typeface="Arial" charset="0"/>
              </a:rPr>
              <a:t>Verifiable Presentation</a:t>
            </a: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61" name="正方形/長方形 60">
            <a:extLst>
              <a:ext uri="{FF2B5EF4-FFF2-40B4-BE49-F238E27FC236}">
                <a16:creationId xmlns:a16="http://schemas.microsoft.com/office/drawing/2014/main" id="{549BCE64-ED5F-344F-719A-4CCE3D9B99B5}"/>
              </a:ext>
            </a:extLst>
          </p:cNvPr>
          <p:cNvSpPr/>
          <p:nvPr/>
        </p:nvSpPr>
        <p:spPr bwMode="gray">
          <a:xfrm>
            <a:off x="7903301" y="4925795"/>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Presentation Metadata</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62" name="正方形/長方形 61">
            <a:extLst>
              <a:ext uri="{FF2B5EF4-FFF2-40B4-BE49-F238E27FC236}">
                <a16:creationId xmlns:a16="http://schemas.microsoft.com/office/drawing/2014/main" id="{5A7C101B-6A57-E2DC-1945-81710482C802}"/>
              </a:ext>
            </a:extLst>
          </p:cNvPr>
          <p:cNvSpPr/>
          <p:nvPr/>
        </p:nvSpPr>
        <p:spPr bwMode="gray">
          <a:xfrm>
            <a:off x="7903301" y="5297759"/>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Verifiable Credential(s)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63" name="正方形/長方形 62">
            <a:extLst>
              <a:ext uri="{FF2B5EF4-FFF2-40B4-BE49-F238E27FC236}">
                <a16:creationId xmlns:a16="http://schemas.microsoft.com/office/drawing/2014/main" id="{A3DCB8FD-9566-8C29-B3F6-B4426996613A}"/>
              </a:ext>
            </a:extLst>
          </p:cNvPr>
          <p:cNvSpPr/>
          <p:nvPr/>
        </p:nvSpPr>
        <p:spPr bwMode="gray">
          <a:xfrm>
            <a:off x="7903301" y="5642618"/>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Proof(s)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64" name="正方形/長方形 63">
            <a:extLst>
              <a:ext uri="{FF2B5EF4-FFF2-40B4-BE49-F238E27FC236}">
                <a16:creationId xmlns:a16="http://schemas.microsoft.com/office/drawing/2014/main" id="{2D2D5023-3274-4EFB-BBF6-A1F1029E73B9}"/>
              </a:ext>
            </a:extLst>
          </p:cNvPr>
          <p:cNvSpPr/>
          <p:nvPr/>
        </p:nvSpPr>
        <p:spPr bwMode="gray">
          <a:xfrm>
            <a:off x="4031059" y="3038914"/>
            <a:ext cx="161372" cy="161372"/>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a:solidFill>
                <a:prstClr val="black"/>
              </a:solidFill>
              <a:latin typeface="Calibri Light"/>
              <a:ea typeface="Yu Gothic UI"/>
              <a:cs typeface="Arial" charset="0"/>
            </a:endParaRPr>
          </a:p>
        </p:txBody>
      </p:sp>
      <p:cxnSp>
        <p:nvCxnSpPr>
          <p:cNvPr id="65" name="コネクタ: 曲線 64">
            <a:extLst>
              <a:ext uri="{FF2B5EF4-FFF2-40B4-BE49-F238E27FC236}">
                <a16:creationId xmlns:a16="http://schemas.microsoft.com/office/drawing/2014/main" id="{DC779A82-5108-F5F0-13BC-E1295A5D64FD}"/>
              </a:ext>
            </a:extLst>
          </p:cNvPr>
          <p:cNvCxnSpPr>
            <a:cxnSpLocks/>
            <a:stCxn id="64" idx="1"/>
            <a:endCxn id="64" idx="0"/>
          </p:cNvCxnSpPr>
          <p:nvPr/>
        </p:nvCxnSpPr>
        <p:spPr bwMode="gray">
          <a:xfrm rot="10800000" flipH="1">
            <a:off x="4031059" y="3038914"/>
            <a:ext cx="80686" cy="80686"/>
          </a:xfrm>
          <a:prstGeom prst="curvedConnector4">
            <a:avLst>
              <a:gd name="adj1" fmla="val -283321"/>
              <a:gd name="adj2" fmla="val 383321"/>
            </a:avLst>
          </a:prstGeom>
          <a:noFill/>
          <a:ln w="12700" cap="flat" cmpd="sng" algn="ctr">
            <a:solidFill>
              <a:srgbClr val="53565A"/>
            </a:solidFill>
            <a:prstDash val="solid"/>
            <a:tailEnd type="triangle"/>
          </a:ln>
          <a:effectLst/>
        </p:spPr>
      </p:cxnSp>
      <p:cxnSp>
        <p:nvCxnSpPr>
          <p:cNvPr id="66" name="直線コネクタ 65">
            <a:extLst>
              <a:ext uri="{FF2B5EF4-FFF2-40B4-BE49-F238E27FC236}">
                <a16:creationId xmlns:a16="http://schemas.microsoft.com/office/drawing/2014/main" id="{AC9F55F4-CEE2-B8CA-7930-995E8D9D91E4}"/>
              </a:ext>
            </a:extLst>
          </p:cNvPr>
          <p:cNvCxnSpPr>
            <a:cxnSpLocks/>
            <a:stCxn id="68" idx="3"/>
            <a:endCxn id="55" idx="2"/>
          </p:cNvCxnSpPr>
          <p:nvPr/>
        </p:nvCxnSpPr>
        <p:spPr bwMode="gray">
          <a:xfrm flipV="1">
            <a:off x="2320974" y="3900204"/>
            <a:ext cx="1372620" cy="269690"/>
          </a:xfrm>
          <a:prstGeom prst="line">
            <a:avLst/>
          </a:prstGeom>
          <a:noFill/>
          <a:ln w="12700" cap="flat" cmpd="sng" algn="ctr">
            <a:solidFill>
              <a:srgbClr val="53565A"/>
            </a:solidFill>
            <a:prstDash val="sysDot"/>
          </a:ln>
          <a:effectLst/>
        </p:spPr>
      </p:cxnSp>
      <p:cxnSp>
        <p:nvCxnSpPr>
          <p:cNvPr id="67" name="直線コネクタ 66">
            <a:extLst>
              <a:ext uri="{FF2B5EF4-FFF2-40B4-BE49-F238E27FC236}">
                <a16:creationId xmlns:a16="http://schemas.microsoft.com/office/drawing/2014/main" id="{3C8B26CC-AE76-5F10-21E9-C81A5C85016A}"/>
              </a:ext>
            </a:extLst>
          </p:cNvPr>
          <p:cNvCxnSpPr>
            <a:cxnSpLocks/>
            <a:stCxn id="73" idx="1"/>
            <a:endCxn id="52" idx="2"/>
          </p:cNvCxnSpPr>
          <p:nvPr/>
        </p:nvCxnSpPr>
        <p:spPr bwMode="gray">
          <a:xfrm flipH="1" flipV="1">
            <a:off x="6316468" y="3893273"/>
            <a:ext cx="1282722" cy="276621"/>
          </a:xfrm>
          <a:prstGeom prst="line">
            <a:avLst/>
          </a:prstGeom>
          <a:noFill/>
          <a:ln w="12700" cap="flat" cmpd="sng" algn="ctr">
            <a:solidFill>
              <a:srgbClr val="53565A"/>
            </a:solidFill>
            <a:prstDash val="sysDot"/>
          </a:ln>
          <a:effectLst/>
        </p:spPr>
      </p:cxnSp>
      <p:sp>
        <p:nvSpPr>
          <p:cNvPr id="68" name="テキスト ボックス 67">
            <a:extLst>
              <a:ext uri="{FF2B5EF4-FFF2-40B4-BE49-F238E27FC236}">
                <a16:creationId xmlns:a16="http://schemas.microsoft.com/office/drawing/2014/main" id="{0ACD0B55-D7E3-B7E6-6D89-1541545CF0CF}"/>
              </a:ext>
            </a:extLst>
          </p:cNvPr>
          <p:cNvSpPr txBox="1"/>
          <p:nvPr/>
        </p:nvSpPr>
        <p:spPr bwMode="gray">
          <a:xfrm>
            <a:off x="640274" y="3985228"/>
            <a:ext cx="1680700" cy="369332"/>
          </a:xfrm>
          <a:prstGeom prst="rect">
            <a:avLst/>
          </a:prstGeom>
          <a:noFill/>
        </p:spPr>
        <p:txBody>
          <a:bodyPr wrap="square" lIns="0" tIns="0" rIns="0" bIns="0" rtlCol="0">
            <a:spAutoFit/>
          </a:bodyPr>
          <a:lstStyle>
            <a:defPPr>
              <a:defRPr lang="ja-JP"/>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1" i="0" u="none" strike="noStrike" cap="none" spc="0" normalizeH="0" baseline="0">
                <a:ln>
                  <a:noFill/>
                </a:ln>
                <a:solidFill>
                  <a:srgbClr val="AB7942"/>
                </a:solidFill>
                <a:effectLst/>
                <a:uLnTx/>
                <a:uFillTx/>
                <a:latin typeface="Calibri Light"/>
                <a:ea typeface="Yu Gothic UI"/>
              </a:defRPr>
            </a:lvl1pPr>
          </a:lstStyle>
          <a:p>
            <a:r>
              <a:rPr lang="en-US" altLang="ja-JP" dirty="0"/>
              <a:t>① </a:t>
            </a:r>
            <a:r>
              <a:rPr lang="ja-JP" altLang="en-US"/>
              <a:t>証明書フォーマット</a:t>
            </a:r>
            <a:endParaRPr lang="en-US" altLang="ja-JP" dirty="0"/>
          </a:p>
          <a:p>
            <a:r>
              <a:rPr lang="en-US" altLang="ja-JP" dirty="0"/>
              <a:t>②</a:t>
            </a:r>
            <a:r>
              <a:rPr lang="zh-TW" altLang="en-US"/>
              <a:t>証明書</a:t>
            </a:r>
            <a:r>
              <a:rPr lang="zh-TW" altLang="en-US" dirty="0"/>
              <a:t>正当性</a:t>
            </a:r>
            <a:r>
              <a:rPr lang="ja-JP" altLang="en-US"/>
              <a:t>証明</a:t>
            </a:r>
            <a:endParaRPr lang="ja-JP" altLang="en-US" dirty="0"/>
          </a:p>
        </p:txBody>
      </p:sp>
      <p:sp>
        <p:nvSpPr>
          <p:cNvPr id="69" name="環状矢印 40">
            <a:extLst>
              <a:ext uri="{FF2B5EF4-FFF2-40B4-BE49-F238E27FC236}">
                <a16:creationId xmlns:a16="http://schemas.microsoft.com/office/drawing/2014/main" id="{4AEA0EF2-3E0E-9BA2-2552-93C7EFCF6CA1}"/>
              </a:ext>
            </a:extLst>
          </p:cNvPr>
          <p:cNvSpPr/>
          <p:nvPr/>
        </p:nvSpPr>
        <p:spPr bwMode="gray">
          <a:xfrm>
            <a:off x="989033" y="2612433"/>
            <a:ext cx="691984" cy="691984"/>
          </a:xfrm>
          <a:prstGeom prst="circularArrow">
            <a:avLst>
              <a:gd name="adj1" fmla="val 12500"/>
              <a:gd name="adj2" fmla="val 1142319"/>
              <a:gd name="adj3" fmla="val 20457681"/>
              <a:gd name="adj4" fmla="val 4475953"/>
              <a:gd name="adj5" fmla="val 12500"/>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70" name="テキスト ボックス 69">
            <a:extLst>
              <a:ext uri="{FF2B5EF4-FFF2-40B4-BE49-F238E27FC236}">
                <a16:creationId xmlns:a16="http://schemas.microsoft.com/office/drawing/2014/main" id="{1BFDD18E-08BE-E646-A502-156A3C61656A}"/>
              </a:ext>
            </a:extLst>
          </p:cNvPr>
          <p:cNvSpPr txBox="1"/>
          <p:nvPr/>
        </p:nvSpPr>
        <p:spPr bwMode="gray">
          <a:xfrm>
            <a:off x="450308" y="2385138"/>
            <a:ext cx="2060633" cy="184666"/>
          </a:xfrm>
          <a:prstGeom prst="rect">
            <a:avLst/>
          </a:prstGeom>
          <a:noFill/>
        </p:spPr>
        <p:txBody>
          <a:bodyPr wrap="square" lIns="0" tIns="0" rIns="0" bIns="0" rtlCol="0">
            <a:spAutoFit/>
          </a:bodyPr>
          <a:lstStyle>
            <a:defPPr>
              <a:defRPr lang="ja-JP"/>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1" i="0" u="none" strike="noStrike" cap="none" spc="0" normalizeH="0" baseline="0">
                <a:ln>
                  <a:noFill/>
                </a:ln>
                <a:solidFill>
                  <a:srgbClr val="AB7942"/>
                </a:solidFill>
                <a:effectLst/>
                <a:uLnTx/>
                <a:uFillTx/>
                <a:latin typeface="Calibri Light"/>
                <a:ea typeface="Yu Gothic UI"/>
              </a:defRPr>
            </a:lvl1pPr>
          </a:lstStyle>
          <a:p>
            <a:r>
              <a:rPr lang="en-US" altLang="ja-JP" dirty="0"/>
              <a:t>③ </a:t>
            </a:r>
            <a:r>
              <a:rPr lang="ja-JP" altLang="en-US" dirty="0"/>
              <a:t>証明書失効・再発行</a:t>
            </a:r>
          </a:p>
        </p:txBody>
      </p:sp>
      <p:sp>
        <p:nvSpPr>
          <p:cNvPr id="71" name="U ターン矢印 42">
            <a:extLst>
              <a:ext uri="{FF2B5EF4-FFF2-40B4-BE49-F238E27FC236}">
                <a16:creationId xmlns:a16="http://schemas.microsoft.com/office/drawing/2014/main" id="{F5B5F913-59DA-DAD2-96FC-FE9ED383BF64}"/>
              </a:ext>
            </a:extLst>
          </p:cNvPr>
          <p:cNvSpPr/>
          <p:nvPr/>
        </p:nvSpPr>
        <p:spPr bwMode="gray">
          <a:xfrm rot="16200000">
            <a:off x="5803398" y="2754742"/>
            <a:ext cx="453227" cy="583976"/>
          </a:xfrm>
          <a:prstGeom prst="uturnArrow">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72" name="テキスト ボックス 71">
            <a:extLst>
              <a:ext uri="{FF2B5EF4-FFF2-40B4-BE49-F238E27FC236}">
                <a16:creationId xmlns:a16="http://schemas.microsoft.com/office/drawing/2014/main" id="{B12EA5AB-7975-4CDF-443E-2E927DA985C4}"/>
              </a:ext>
            </a:extLst>
          </p:cNvPr>
          <p:cNvSpPr txBox="1"/>
          <p:nvPr/>
        </p:nvSpPr>
        <p:spPr bwMode="gray">
          <a:xfrm>
            <a:off x="5964831" y="2539876"/>
            <a:ext cx="2683490" cy="369332"/>
          </a:xfrm>
          <a:prstGeom prst="rect">
            <a:avLst/>
          </a:prstGeom>
          <a:noFill/>
        </p:spPr>
        <p:txBody>
          <a:bodyPr wrap="square" lIns="0" tIns="0" rIns="0" bIns="0" rtlCol="0">
            <a:spAutoFit/>
          </a:bodyPr>
          <a:lstStyle>
            <a:defPPr>
              <a:defRPr lang="ja-JP"/>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1" i="0" u="none" strike="noStrike" cap="none" spc="0" normalizeH="0" baseline="0">
                <a:ln>
                  <a:noFill/>
                </a:ln>
                <a:solidFill>
                  <a:srgbClr val="AB7942"/>
                </a:solidFill>
                <a:effectLst/>
                <a:uLnTx/>
                <a:uFillTx/>
                <a:latin typeface="Calibri Light"/>
                <a:ea typeface="Yu Gothic UI"/>
              </a:defRPr>
            </a:lvl1pPr>
          </a:lstStyle>
          <a:p>
            <a:r>
              <a:rPr lang="en-US" altLang="ja-JP" dirty="0"/>
              <a:t>④</a:t>
            </a:r>
            <a:r>
              <a:rPr lang="ja-JP" altLang="en-US" dirty="0"/>
              <a:t>証明書</a:t>
            </a:r>
            <a:r>
              <a:rPr lang="en-US" altLang="ja-JP" dirty="0"/>
              <a:t>(VP)</a:t>
            </a:r>
            <a:r>
              <a:rPr lang="ja-JP" altLang="en-US" dirty="0"/>
              <a:t>の要求と提示用のフォーマット</a:t>
            </a:r>
          </a:p>
          <a:p>
            <a:endParaRPr lang="ja-JP" altLang="en-US" dirty="0"/>
          </a:p>
        </p:txBody>
      </p:sp>
      <p:sp>
        <p:nvSpPr>
          <p:cNvPr id="73" name="テキスト ボックス 72">
            <a:extLst>
              <a:ext uri="{FF2B5EF4-FFF2-40B4-BE49-F238E27FC236}">
                <a16:creationId xmlns:a16="http://schemas.microsoft.com/office/drawing/2014/main" id="{0B50DCB2-E63F-CED7-4949-1DD538B1A211}"/>
              </a:ext>
            </a:extLst>
          </p:cNvPr>
          <p:cNvSpPr txBox="1"/>
          <p:nvPr/>
        </p:nvSpPr>
        <p:spPr bwMode="gray">
          <a:xfrm>
            <a:off x="7599190" y="3985228"/>
            <a:ext cx="1631353" cy="369332"/>
          </a:xfrm>
          <a:prstGeom prst="rect">
            <a:avLst/>
          </a:prstGeom>
          <a:noFill/>
        </p:spPr>
        <p:txBody>
          <a:bodyPr wrap="square" lIns="0" tIns="0" rIns="0" bIns="0" rtlCol="0">
            <a:spAutoFit/>
          </a:bodyPr>
          <a:lstStyle>
            <a:defPPr>
              <a:defRPr lang="ja-JP"/>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1" i="0" u="none" strike="noStrike" cap="none" spc="0" normalizeH="0" baseline="0">
                <a:ln>
                  <a:noFill/>
                </a:ln>
                <a:solidFill>
                  <a:srgbClr val="AB7942"/>
                </a:solidFill>
                <a:effectLst/>
                <a:uLnTx/>
                <a:uFillTx/>
                <a:latin typeface="Calibri Light"/>
                <a:ea typeface="Yu Gothic UI"/>
              </a:defRPr>
            </a:lvl1pPr>
          </a:lstStyle>
          <a:p>
            <a:r>
              <a:rPr lang="en-US" altLang="ja-JP" dirty="0"/>
              <a:t>① </a:t>
            </a:r>
            <a:r>
              <a:rPr lang="ja-JP" altLang="en-US" dirty="0"/>
              <a:t>証明書フォーマット</a:t>
            </a:r>
            <a:endParaRPr lang="en-US" altLang="ja-JP" dirty="0"/>
          </a:p>
          <a:p>
            <a:r>
              <a:rPr lang="en-US" altLang="ja-JP" dirty="0"/>
              <a:t>②</a:t>
            </a:r>
            <a:r>
              <a:rPr lang="zh-TW" altLang="en-US" dirty="0"/>
              <a:t>証明書正当性</a:t>
            </a:r>
            <a:r>
              <a:rPr lang="ja-JP" altLang="en-US" dirty="0"/>
              <a:t>証明</a:t>
            </a:r>
          </a:p>
        </p:txBody>
      </p:sp>
      <p:sp>
        <p:nvSpPr>
          <p:cNvPr id="74" name="テキスト ボックス 73">
            <a:extLst>
              <a:ext uri="{FF2B5EF4-FFF2-40B4-BE49-F238E27FC236}">
                <a16:creationId xmlns:a16="http://schemas.microsoft.com/office/drawing/2014/main" id="{170E3D41-2B95-881F-3B04-7CBF2DD67C2E}"/>
              </a:ext>
            </a:extLst>
          </p:cNvPr>
          <p:cNvSpPr txBox="1"/>
          <p:nvPr/>
        </p:nvSpPr>
        <p:spPr bwMode="gray">
          <a:xfrm>
            <a:off x="4111745" y="3944807"/>
            <a:ext cx="1639873" cy="369332"/>
          </a:xfrm>
          <a:prstGeom prst="rect">
            <a:avLst/>
          </a:prstGeom>
          <a:solidFill>
            <a:schemeClr val="bg1"/>
          </a:solidFill>
        </p:spPr>
        <p:txBody>
          <a:bodyPr wrap="square" lIns="0" tIns="0" rIns="0" bIns="0" rtlCol="0">
            <a:spAutoFit/>
          </a:bodyPr>
          <a:lstStyle>
            <a:defPPr>
              <a:defRPr lang="ja-JP"/>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1" i="0" u="none" strike="noStrike" cap="none" spc="0" normalizeH="0" baseline="0">
                <a:ln>
                  <a:noFill/>
                </a:ln>
                <a:solidFill>
                  <a:srgbClr val="AB7942"/>
                </a:solidFill>
                <a:effectLst/>
                <a:uLnTx/>
                <a:uFillTx/>
                <a:latin typeface="Calibri Light"/>
                <a:ea typeface="Yu Gothic UI"/>
              </a:defRPr>
            </a:lvl1pPr>
          </a:lstStyle>
          <a:p>
            <a:r>
              <a:rPr lang="ja-JP" altLang="en-US" dirty="0"/>
              <a:t>⑤</a:t>
            </a:r>
            <a:r>
              <a:rPr lang="ja-JP" altLang="en-US"/>
              <a:t>証明書バインディング</a:t>
            </a:r>
            <a:endParaRPr lang="en-US" altLang="ja-JP"/>
          </a:p>
          <a:p>
            <a:r>
              <a:rPr lang="en-US" altLang="ja-JP" dirty="0"/>
              <a:t>(</a:t>
            </a:r>
            <a:r>
              <a:rPr lang="ja-JP" altLang="en-US" dirty="0"/>
              <a:t>識別子や公開鍵の参照</a:t>
            </a:r>
            <a:r>
              <a:rPr lang="en-US" altLang="ja-JP" dirty="0"/>
              <a:t>)</a:t>
            </a:r>
            <a:endParaRPr lang="ja-JP" altLang="en-US" dirty="0"/>
          </a:p>
        </p:txBody>
      </p:sp>
      <p:sp>
        <p:nvSpPr>
          <p:cNvPr id="75" name="テキスト ボックス 74">
            <a:extLst>
              <a:ext uri="{FF2B5EF4-FFF2-40B4-BE49-F238E27FC236}">
                <a16:creationId xmlns:a16="http://schemas.microsoft.com/office/drawing/2014/main" id="{EBF7FE9D-CC7B-9019-3513-FCBEA7EEBB7E}"/>
              </a:ext>
            </a:extLst>
          </p:cNvPr>
          <p:cNvSpPr txBox="1"/>
          <p:nvPr/>
        </p:nvSpPr>
        <p:spPr bwMode="gray">
          <a:xfrm>
            <a:off x="5849835" y="4519569"/>
            <a:ext cx="1639873" cy="369332"/>
          </a:xfrm>
          <a:prstGeom prst="rect">
            <a:avLst/>
          </a:prstGeom>
          <a:noFill/>
        </p:spPr>
        <p:txBody>
          <a:bodyPr wrap="square" lIns="0" tIns="0" rIns="0" bIns="0" rtlCol="0">
            <a:spAutoFit/>
          </a:bodyPr>
          <a:lstStyle>
            <a:defPPr>
              <a:defRPr lang="ja-JP"/>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1" i="0" u="none" strike="noStrike" cap="none" spc="0" normalizeH="0" baseline="0">
                <a:ln>
                  <a:noFill/>
                </a:ln>
                <a:solidFill>
                  <a:srgbClr val="AB7942"/>
                </a:solidFill>
                <a:effectLst/>
                <a:uLnTx/>
                <a:uFillTx/>
                <a:latin typeface="Calibri Light"/>
                <a:ea typeface="Yu Gothic UI"/>
              </a:defRPr>
            </a:lvl1pPr>
          </a:lstStyle>
          <a:p>
            <a:r>
              <a:rPr lang="ja-JP" altLang="en-US" dirty="0"/>
              <a:t>⑤証明書バインディング</a:t>
            </a:r>
            <a:endParaRPr lang="en-US" altLang="ja-JP" dirty="0"/>
          </a:p>
          <a:p>
            <a:r>
              <a:rPr lang="en-US" altLang="ja-JP" dirty="0"/>
              <a:t>(</a:t>
            </a:r>
            <a:r>
              <a:rPr lang="ja-JP" altLang="en-US" dirty="0"/>
              <a:t>識別子や公開鍵の参照</a:t>
            </a:r>
            <a:r>
              <a:rPr lang="en-US" altLang="ja-JP" dirty="0"/>
              <a:t>)</a:t>
            </a:r>
            <a:endParaRPr lang="ja-JP" altLang="en-US" dirty="0"/>
          </a:p>
        </p:txBody>
      </p:sp>
      <p:sp>
        <p:nvSpPr>
          <p:cNvPr id="76" name="四角形: 角を丸くする 75">
            <a:extLst>
              <a:ext uri="{FF2B5EF4-FFF2-40B4-BE49-F238E27FC236}">
                <a16:creationId xmlns:a16="http://schemas.microsoft.com/office/drawing/2014/main" id="{FBEEB1A5-DF83-D1CB-BC4D-09711320459C}"/>
              </a:ext>
            </a:extLst>
          </p:cNvPr>
          <p:cNvSpPr/>
          <p:nvPr/>
        </p:nvSpPr>
        <p:spPr bwMode="gray">
          <a:xfrm>
            <a:off x="4053093" y="2008033"/>
            <a:ext cx="1783533" cy="434404"/>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　ウォレット</a:t>
            </a:r>
          </a:p>
        </p:txBody>
      </p:sp>
      <p:cxnSp>
        <p:nvCxnSpPr>
          <p:cNvPr id="77" name="直線コネクタ 76">
            <a:extLst>
              <a:ext uri="{FF2B5EF4-FFF2-40B4-BE49-F238E27FC236}">
                <a16:creationId xmlns:a16="http://schemas.microsoft.com/office/drawing/2014/main" id="{7FF73F19-9BA4-CFAE-3892-0BDC4EBE7A60}"/>
              </a:ext>
            </a:extLst>
          </p:cNvPr>
          <p:cNvCxnSpPr>
            <a:cxnSpLocks/>
            <a:stCxn id="76" idx="2"/>
          </p:cNvCxnSpPr>
          <p:nvPr/>
        </p:nvCxnSpPr>
        <p:spPr bwMode="gray">
          <a:xfrm>
            <a:off x="4944860" y="2442437"/>
            <a:ext cx="9525" cy="568290"/>
          </a:xfrm>
          <a:prstGeom prst="line">
            <a:avLst/>
          </a:prstGeom>
          <a:noFill/>
          <a:ln w="12700" cap="flat" cmpd="sng" algn="ctr">
            <a:solidFill>
              <a:srgbClr val="53565A"/>
            </a:solidFill>
            <a:prstDash val="dash"/>
          </a:ln>
          <a:effectLst/>
        </p:spPr>
      </p:cxnSp>
      <p:sp>
        <p:nvSpPr>
          <p:cNvPr id="78" name="正方形/長方形 77">
            <a:extLst>
              <a:ext uri="{FF2B5EF4-FFF2-40B4-BE49-F238E27FC236}">
                <a16:creationId xmlns:a16="http://schemas.microsoft.com/office/drawing/2014/main" id="{87C45C0A-4C5B-A000-6226-1F04924EAAB1}"/>
              </a:ext>
            </a:extLst>
          </p:cNvPr>
          <p:cNvSpPr/>
          <p:nvPr/>
        </p:nvSpPr>
        <p:spPr bwMode="gray">
          <a:xfrm>
            <a:off x="4280548" y="2095449"/>
            <a:ext cx="341270" cy="115285"/>
          </a:xfrm>
          <a:prstGeom prst="rect">
            <a:avLst/>
          </a:prstGeom>
          <a:no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700" err="1">
                <a:solidFill>
                  <a:prstClr val="black"/>
                </a:solidFill>
                <a:latin typeface="Calibri Light"/>
                <a:ea typeface="Yu Gothic UI"/>
                <a:cs typeface="Arial" charset="0"/>
              </a:rPr>
              <a:t>SKey</a:t>
            </a:r>
            <a:endParaRPr lang="ja-JP" altLang="en-US" sz="700">
              <a:solidFill>
                <a:prstClr val="black"/>
              </a:solidFill>
              <a:latin typeface="Calibri Light"/>
              <a:ea typeface="Yu Gothic UI"/>
              <a:cs typeface="Arial" charset="0"/>
            </a:endParaRPr>
          </a:p>
        </p:txBody>
      </p:sp>
      <p:sp>
        <p:nvSpPr>
          <p:cNvPr id="79" name="正方形/長方形 78">
            <a:extLst>
              <a:ext uri="{FF2B5EF4-FFF2-40B4-BE49-F238E27FC236}">
                <a16:creationId xmlns:a16="http://schemas.microsoft.com/office/drawing/2014/main" id="{D96AC01D-118F-641A-A96C-60BDF10DDB43}"/>
              </a:ext>
            </a:extLst>
          </p:cNvPr>
          <p:cNvSpPr/>
          <p:nvPr/>
        </p:nvSpPr>
        <p:spPr bwMode="gray">
          <a:xfrm>
            <a:off x="4280548" y="2245174"/>
            <a:ext cx="341270" cy="115285"/>
          </a:xfrm>
          <a:prstGeom prst="rect">
            <a:avLst/>
          </a:prstGeom>
          <a:no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700">
                <a:solidFill>
                  <a:prstClr val="black"/>
                </a:solidFill>
                <a:latin typeface="Calibri Light"/>
                <a:ea typeface="Yu Gothic UI"/>
                <a:cs typeface="Arial" charset="0"/>
              </a:rPr>
              <a:t>VC</a:t>
            </a:r>
            <a:endParaRPr lang="ja-JP" altLang="en-US" sz="700">
              <a:solidFill>
                <a:prstClr val="black"/>
              </a:solidFill>
              <a:latin typeface="Calibri Light"/>
              <a:ea typeface="Yu Gothic UI"/>
              <a:cs typeface="Arial" charset="0"/>
            </a:endParaRPr>
          </a:p>
        </p:txBody>
      </p:sp>
      <p:sp>
        <p:nvSpPr>
          <p:cNvPr id="80" name="正方形/長方形 79">
            <a:extLst>
              <a:ext uri="{FF2B5EF4-FFF2-40B4-BE49-F238E27FC236}">
                <a16:creationId xmlns:a16="http://schemas.microsoft.com/office/drawing/2014/main" id="{FFDC9052-4925-9BD8-BA3C-4AAAA08238AF}"/>
              </a:ext>
            </a:extLst>
          </p:cNvPr>
          <p:cNvSpPr/>
          <p:nvPr/>
        </p:nvSpPr>
        <p:spPr bwMode="gray">
          <a:xfrm>
            <a:off x="4132999" y="2056713"/>
            <a:ext cx="513629" cy="345910"/>
          </a:xfrm>
          <a:prstGeom prst="rect">
            <a:avLst/>
          </a:prstGeom>
          <a:noFill/>
          <a:ln w="12700" algn="ctr">
            <a:solidFill>
              <a:srgbClr val="BBBCBC"/>
            </a:solidFill>
            <a:miter lim="800000"/>
            <a:headEnd/>
            <a:tailEnd/>
          </a:ln>
        </p:spPr>
        <p:txBody>
          <a:bodyPr rot="0" spcFirstLastPara="0" vertOverflow="overflow" horzOverflow="overflow" vert="horz" wrap="square" lIns="36000" tIns="0" rIns="108000" bIns="0" numCol="1" spcCol="0" rtlCol="0" fromWordArt="0" anchor="ctr" anchorCtr="0" forceAA="0" compatLnSpc="1">
            <a:prstTxWarp prst="textNoShape">
              <a:avLst/>
            </a:prstTxWarp>
            <a:no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700">
                <a:solidFill>
                  <a:prstClr val="black"/>
                </a:solidFill>
                <a:latin typeface="Calibri Light"/>
                <a:ea typeface="Yu Gothic UI"/>
                <a:cs typeface="Arial" charset="0"/>
              </a:rPr>
              <a:t>SE</a:t>
            </a:r>
            <a:endParaRPr lang="ja-JP" altLang="en-US" sz="700">
              <a:solidFill>
                <a:prstClr val="black"/>
              </a:solidFill>
              <a:latin typeface="Calibri Light"/>
              <a:ea typeface="Yu Gothic UI"/>
              <a:cs typeface="Arial" charset="0"/>
            </a:endParaRPr>
          </a:p>
        </p:txBody>
      </p:sp>
      <p:sp>
        <p:nvSpPr>
          <p:cNvPr id="81" name="テキスト ボックス 80">
            <a:extLst>
              <a:ext uri="{FF2B5EF4-FFF2-40B4-BE49-F238E27FC236}">
                <a16:creationId xmlns:a16="http://schemas.microsoft.com/office/drawing/2014/main" id="{AAE11D7F-9A3D-A7D3-8A45-8E761D5202EC}"/>
              </a:ext>
            </a:extLst>
          </p:cNvPr>
          <p:cNvSpPr txBox="1"/>
          <p:nvPr/>
        </p:nvSpPr>
        <p:spPr bwMode="gray">
          <a:xfrm>
            <a:off x="4346958" y="2624220"/>
            <a:ext cx="1250342" cy="184666"/>
          </a:xfrm>
          <a:prstGeom prst="rect">
            <a:avLst/>
          </a:prstGeom>
          <a:solidFill>
            <a:sysClr val="window" lastClr="FFFFFF"/>
          </a:solidFill>
        </p:spPr>
        <p:txBody>
          <a:bodyPr wrap="none" lIns="0" tIns="0" rIns="0" bIns="0" rtlCol="0">
            <a:spAutoFit/>
          </a:bodyPr>
          <a:lstStyle/>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クレデンシャルの保存</a:t>
            </a:r>
          </a:p>
        </p:txBody>
      </p:sp>
      <p:grpSp>
        <p:nvGrpSpPr>
          <p:cNvPr id="5" name="グループ化 4">
            <a:extLst>
              <a:ext uri="{FF2B5EF4-FFF2-40B4-BE49-F238E27FC236}">
                <a16:creationId xmlns:a16="http://schemas.microsoft.com/office/drawing/2014/main" id="{8D23C6B0-2933-4D50-F097-C753EEC15A1D}"/>
              </a:ext>
            </a:extLst>
          </p:cNvPr>
          <p:cNvGrpSpPr/>
          <p:nvPr/>
        </p:nvGrpSpPr>
        <p:grpSpPr>
          <a:xfrm>
            <a:off x="5867005" y="137240"/>
            <a:ext cx="2322246" cy="308639"/>
            <a:chOff x="5867005" y="137240"/>
            <a:chExt cx="2322246" cy="552560"/>
          </a:xfrm>
        </p:grpSpPr>
        <p:sp>
          <p:nvSpPr>
            <p:cNvPr id="6" name="正方形/長方形 5">
              <a:extLst>
                <a:ext uri="{FF2B5EF4-FFF2-40B4-BE49-F238E27FC236}">
                  <a16:creationId xmlns:a16="http://schemas.microsoft.com/office/drawing/2014/main" id="{986C169D-EA1D-02C0-C730-45162EA7AC86}"/>
                </a:ext>
              </a:extLst>
            </p:cNvPr>
            <p:cNvSpPr/>
            <p:nvPr/>
          </p:nvSpPr>
          <p:spPr>
            <a:xfrm>
              <a:off x="5867005" y="511582"/>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Public Trust Layer</a:t>
              </a:r>
              <a:endParaRPr lang="ja-JP" altLang="en-US" sz="800" dirty="0">
                <a:solidFill>
                  <a:schemeClr val="tx2"/>
                </a:solidFill>
              </a:endParaRPr>
            </a:p>
          </p:txBody>
        </p:sp>
        <p:sp>
          <p:nvSpPr>
            <p:cNvPr id="7" name="正方形/長方形 6">
              <a:extLst>
                <a:ext uri="{FF2B5EF4-FFF2-40B4-BE49-F238E27FC236}">
                  <a16:creationId xmlns:a16="http://schemas.microsoft.com/office/drawing/2014/main" id="{E1CE765A-C5EA-15ED-FE2D-472493096205}"/>
                </a:ext>
              </a:extLst>
            </p:cNvPr>
            <p:cNvSpPr/>
            <p:nvPr/>
          </p:nvSpPr>
          <p:spPr>
            <a:xfrm>
              <a:off x="5867005" y="324411"/>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Agent Layer</a:t>
              </a:r>
              <a:endParaRPr lang="ja-JP" altLang="en-US" sz="800" dirty="0">
                <a:solidFill>
                  <a:schemeClr val="tx2"/>
                </a:solidFill>
              </a:endParaRPr>
            </a:p>
          </p:txBody>
        </p:sp>
        <p:sp>
          <p:nvSpPr>
            <p:cNvPr id="8" name="正方形/長方形 7">
              <a:extLst>
                <a:ext uri="{FF2B5EF4-FFF2-40B4-BE49-F238E27FC236}">
                  <a16:creationId xmlns:a16="http://schemas.microsoft.com/office/drawing/2014/main" id="{DA2F23BB-9E24-33B4-779A-511CF8318FD1}"/>
                </a:ext>
              </a:extLst>
            </p:cNvPr>
            <p:cNvSpPr/>
            <p:nvPr/>
          </p:nvSpPr>
          <p:spPr>
            <a:xfrm>
              <a:off x="5867005" y="137240"/>
              <a:ext cx="1554312" cy="178218"/>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Credential Layer</a:t>
              </a:r>
              <a:endParaRPr lang="ja-JP" altLang="en-US" sz="800" b="1" dirty="0">
                <a:solidFill>
                  <a:schemeClr val="accent1"/>
                </a:solidFill>
              </a:endParaRPr>
            </a:p>
          </p:txBody>
        </p:sp>
        <p:sp>
          <p:nvSpPr>
            <p:cNvPr id="9" name="正方形/長方形 8">
              <a:extLst>
                <a:ext uri="{FF2B5EF4-FFF2-40B4-BE49-F238E27FC236}">
                  <a16:creationId xmlns:a16="http://schemas.microsoft.com/office/drawing/2014/main" id="{6393B06B-2EE4-EEDC-E780-EFB6128C0CBD}"/>
                </a:ext>
              </a:extLst>
            </p:cNvPr>
            <p:cNvSpPr/>
            <p:nvPr/>
          </p:nvSpPr>
          <p:spPr>
            <a:xfrm>
              <a:off x="7424690" y="137240"/>
              <a:ext cx="764561" cy="55256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Vertical / </a:t>
              </a:r>
            </a:p>
            <a:p>
              <a:pPr algn="ctr"/>
              <a:r>
                <a:rPr lang="en-US" altLang="ja-JP" sz="800" dirty="0">
                  <a:solidFill>
                    <a:schemeClr val="tx2"/>
                  </a:solidFill>
                </a:rPr>
                <a:t>Cross-cutting</a:t>
              </a:r>
              <a:endParaRPr lang="ja-JP" altLang="en-US" sz="800" dirty="0">
                <a:solidFill>
                  <a:schemeClr val="tx2"/>
                </a:solidFill>
              </a:endParaRPr>
            </a:p>
          </p:txBody>
        </p:sp>
      </p:grpSp>
      <p:sp>
        <p:nvSpPr>
          <p:cNvPr id="11" name="タイトル 1">
            <a:extLst>
              <a:ext uri="{FF2B5EF4-FFF2-40B4-BE49-F238E27FC236}">
                <a16:creationId xmlns:a16="http://schemas.microsoft.com/office/drawing/2014/main" id="{8200B64B-6DDC-5C49-1817-9F81D9C9FF63}"/>
              </a:ext>
            </a:extLst>
          </p:cNvPr>
          <p:cNvSpPr>
            <a:spLocks noGrp="1"/>
          </p:cNvSpPr>
          <p:nvPr>
            <p:ph type="title"/>
          </p:nvPr>
        </p:nvSpPr>
        <p:spPr>
          <a:xfrm>
            <a:off x="273050" y="447329"/>
            <a:ext cx="7848302" cy="246221"/>
          </a:xfrm>
        </p:spPr>
        <p:txBody>
          <a:bodyPr/>
          <a:lstStyle/>
          <a:p>
            <a:r>
              <a:rPr kumimoji="1" lang="en-US" altLang="ja-JP" dirty="0"/>
              <a:t>4.2. </a:t>
            </a:r>
            <a:r>
              <a:rPr kumimoji="1" lang="ja-JP" altLang="en-US" dirty="0"/>
              <a:t>各規格の概要・代表的な仕様 </a:t>
            </a:r>
            <a:r>
              <a:rPr kumimoji="1" lang="en-US" altLang="ja-JP" sz="1600" dirty="0"/>
              <a:t>- (1) Credential Layer</a:t>
            </a:r>
            <a:r>
              <a:rPr kumimoji="1" lang="ja-JP" altLang="en-US" dirty="0"/>
              <a:t> </a:t>
            </a:r>
            <a:r>
              <a:rPr kumimoji="1" lang="en-US" altLang="ja-JP" dirty="0"/>
              <a:t>(1/2)</a:t>
            </a:r>
            <a:r>
              <a:rPr kumimoji="1" lang="ja-JP" altLang="en-US" dirty="0"/>
              <a:t>　　</a:t>
            </a:r>
          </a:p>
        </p:txBody>
      </p:sp>
    </p:spTree>
    <p:extLst>
      <p:ext uri="{BB962C8B-B14F-4D97-AF65-F5344CB8AC3E}">
        <p14:creationId xmlns:p14="http://schemas.microsoft.com/office/powerpoint/2010/main" val="4247960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49E792-AC85-50BB-C774-C823E0B1328D}"/>
              </a:ext>
            </a:extLst>
          </p:cNvPr>
          <p:cNvSpPr>
            <a:spLocks noGrp="1"/>
          </p:cNvSpPr>
          <p:nvPr>
            <p:ph type="title"/>
          </p:nvPr>
        </p:nvSpPr>
        <p:spPr>
          <a:xfrm>
            <a:off x="273050" y="447329"/>
            <a:ext cx="7848302" cy="246221"/>
          </a:xfrm>
        </p:spPr>
        <p:txBody>
          <a:bodyPr/>
          <a:lstStyle/>
          <a:p>
            <a:r>
              <a:rPr kumimoji="1" lang="en-US" altLang="ja-JP" dirty="0"/>
              <a:t>4.2. </a:t>
            </a:r>
            <a:r>
              <a:rPr kumimoji="1" lang="ja-JP" altLang="en-US" dirty="0"/>
              <a:t>各規格の概要・代表的な仕様 </a:t>
            </a:r>
            <a:r>
              <a:rPr kumimoji="1" lang="en-US" altLang="ja-JP" sz="1600" dirty="0"/>
              <a:t>- (1) Credential Layer</a:t>
            </a:r>
            <a:r>
              <a:rPr kumimoji="1" lang="ja-JP" altLang="en-US" dirty="0"/>
              <a:t> </a:t>
            </a:r>
            <a:r>
              <a:rPr kumimoji="1" lang="en-US" altLang="ja-JP" dirty="0"/>
              <a:t>(2/2)</a:t>
            </a:r>
            <a:r>
              <a:rPr kumimoji="1" lang="ja-JP" altLang="en-US" dirty="0"/>
              <a:t>　　</a:t>
            </a:r>
          </a:p>
        </p:txBody>
      </p:sp>
      <p:sp>
        <p:nvSpPr>
          <p:cNvPr id="4" name="テキスト プレースホルダー 3">
            <a:extLst>
              <a:ext uri="{FF2B5EF4-FFF2-40B4-BE49-F238E27FC236}">
                <a16:creationId xmlns:a16="http://schemas.microsoft.com/office/drawing/2014/main" id="{315CF3EB-5DD4-FFA8-34E8-F26B3ED9004A}"/>
              </a:ext>
            </a:extLst>
          </p:cNvPr>
          <p:cNvSpPr>
            <a:spLocks noGrp="1"/>
          </p:cNvSpPr>
          <p:nvPr>
            <p:ph type="body" sz="quarter" idx="10"/>
          </p:nvPr>
        </p:nvSpPr>
        <p:spPr>
          <a:xfrm>
            <a:off x="273050" y="188913"/>
            <a:ext cx="7848600" cy="161583"/>
          </a:xfrm>
        </p:spPr>
        <p:txBody>
          <a:bodyPr/>
          <a:lstStyle/>
          <a:p>
            <a:r>
              <a:rPr kumimoji="1" lang="en-US" altLang="zh-TW" dirty="0"/>
              <a:t>4.</a:t>
            </a:r>
            <a:r>
              <a:rPr lang="zh-TW" altLang="en-US" dirty="0"/>
              <a:t> </a:t>
            </a:r>
            <a:r>
              <a:rPr kumimoji="1" lang="zh-TW" altLang="en-US" dirty="0"/>
              <a:t>規格実態調査</a:t>
            </a:r>
          </a:p>
        </p:txBody>
      </p:sp>
      <p:graphicFrame>
        <p:nvGraphicFramePr>
          <p:cNvPr id="5" name="表 4">
            <a:extLst>
              <a:ext uri="{FF2B5EF4-FFF2-40B4-BE49-F238E27FC236}">
                <a16:creationId xmlns:a16="http://schemas.microsoft.com/office/drawing/2014/main" id="{E7A30649-635F-1CBF-1908-BCB92E182B29}"/>
              </a:ext>
            </a:extLst>
          </p:cNvPr>
          <p:cNvGraphicFramePr>
            <a:graphicFrameLocks noGrp="1"/>
          </p:cNvGraphicFramePr>
          <p:nvPr>
            <p:extLst>
              <p:ext uri="{D42A27DB-BD31-4B8C-83A1-F6EECF244321}">
                <p14:modId xmlns:p14="http://schemas.microsoft.com/office/powerpoint/2010/main" val="3529335796"/>
              </p:ext>
            </p:extLst>
          </p:nvPr>
        </p:nvGraphicFramePr>
        <p:xfrm>
          <a:off x="273050" y="1233087"/>
          <a:ext cx="9359900" cy="5080899"/>
        </p:xfrm>
        <a:graphic>
          <a:graphicData uri="http://schemas.openxmlformats.org/drawingml/2006/table">
            <a:tbl>
              <a:tblPr firstRow="1" bandRow="1">
                <a:tableStyleId>{5940675A-B579-460E-94D1-54222C63F5DA}</a:tableStyleId>
              </a:tblPr>
              <a:tblGrid>
                <a:gridCol w="1263519">
                  <a:extLst>
                    <a:ext uri="{9D8B030D-6E8A-4147-A177-3AD203B41FA5}">
                      <a16:colId xmlns:a16="http://schemas.microsoft.com/office/drawing/2014/main" val="2445896061"/>
                    </a:ext>
                  </a:extLst>
                </a:gridCol>
                <a:gridCol w="5439266">
                  <a:extLst>
                    <a:ext uri="{9D8B030D-6E8A-4147-A177-3AD203B41FA5}">
                      <a16:colId xmlns:a16="http://schemas.microsoft.com/office/drawing/2014/main" val="3305767937"/>
                    </a:ext>
                  </a:extLst>
                </a:gridCol>
                <a:gridCol w="2657115">
                  <a:extLst>
                    <a:ext uri="{9D8B030D-6E8A-4147-A177-3AD203B41FA5}">
                      <a16:colId xmlns:a16="http://schemas.microsoft.com/office/drawing/2014/main" val="3445175591"/>
                    </a:ext>
                  </a:extLst>
                </a:gridCol>
              </a:tblGrid>
              <a:tr h="241090">
                <a:tc>
                  <a:txBody>
                    <a:bodyPr/>
                    <a:lstStyle/>
                    <a:p>
                      <a:pPr algn="ctr" fontAlgn="ctr"/>
                      <a:r>
                        <a:rPr lang="ja-JP" altLang="en-US" sz="1400" b="1" i="0" u="none" strike="noStrike" dirty="0">
                          <a:solidFill>
                            <a:schemeClr val="bg1"/>
                          </a:solidFill>
                          <a:effectLst/>
                          <a:latin typeface="+mn-ea"/>
                          <a:ea typeface="+mn-ea"/>
                        </a:rPr>
                        <a:t>分類</a:t>
                      </a:r>
                      <a:endParaRPr lang="en-US" sz="1400" b="1" i="0" u="none" strike="noStrike" dirty="0">
                        <a:solidFill>
                          <a:schemeClr val="bg1"/>
                        </a:solidFill>
                        <a:effectLst/>
                        <a:latin typeface="+mn-ea"/>
                        <a:ea typeface="+mn-ea"/>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fontAlgn="ctr"/>
                      <a:r>
                        <a:rPr lang="ja-JP" altLang="en-US" sz="1400" b="1" i="0" u="none" strike="noStrike" dirty="0">
                          <a:solidFill>
                            <a:schemeClr val="bg1"/>
                          </a:solidFill>
                          <a:effectLst/>
                          <a:latin typeface="+mn-ea"/>
                          <a:ea typeface="+mn-ea"/>
                        </a:rPr>
                        <a:t>概要</a:t>
                      </a:r>
                      <a:endParaRPr lang="en-US" sz="1400" b="1" i="0" u="none" strike="noStrike" dirty="0">
                        <a:solidFill>
                          <a:schemeClr val="bg1"/>
                        </a:solidFill>
                        <a:effectLst/>
                        <a:latin typeface="+mn-ea"/>
                        <a:ea typeface="+mn-ea"/>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fontAlgn="ctr"/>
                      <a:r>
                        <a:rPr lang="en-US" altLang="ja-JP" sz="1400" b="1" i="0" u="none" strike="noStrike">
                          <a:solidFill>
                            <a:schemeClr val="bg1"/>
                          </a:solidFill>
                          <a:effectLst/>
                          <a:latin typeface="+mn-ea"/>
                          <a:ea typeface="+mn-ea"/>
                        </a:rPr>
                        <a:t>(</a:t>
                      </a:r>
                      <a:r>
                        <a:rPr lang="ja-JP" altLang="en-US" sz="1400" b="1" i="0" u="none" strike="noStrike">
                          <a:solidFill>
                            <a:schemeClr val="bg1"/>
                          </a:solidFill>
                          <a:effectLst/>
                          <a:latin typeface="+mn-ea"/>
                          <a:ea typeface="+mn-ea"/>
                        </a:rPr>
                        <a:t>参考</a:t>
                      </a:r>
                      <a:r>
                        <a:rPr lang="en-US" altLang="ja-JP" sz="1400" b="1" i="0" u="none" strike="noStrike">
                          <a:solidFill>
                            <a:schemeClr val="bg1"/>
                          </a:solidFill>
                          <a:effectLst/>
                          <a:latin typeface="+mn-ea"/>
                          <a:ea typeface="+mn-ea"/>
                        </a:rPr>
                        <a:t>)</a:t>
                      </a:r>
                      <a:r>
                        <a:rPr lang="ja-JP" altLang="en-US" sz="1400" b="1" i="0" u="none" strike="noStrike">
                          <a:solidFill>
                            <a:schemeClr val="bg1"/>
                          </a:solidFill>
                          <a:effectLst/>
                          <a:latin typeface="+mn-ea"/>
                          <a:ea typeface="+mn-ea"/>
                        </a:rPr>
                        <a:t>代表的な技術仕様の</a:t>
                      </a:r>
                      <a:r>
                        <a:rPr lang="en-US" altLang="ja-JP" sz="1400" b="1" i="0" u="none" strike="noStrike">
                          <a:solidFill>
                            <a:schemeClr val="bg1"/>
                          </a:solidFill>
                          <a:effectLst/>
                          <a:latin typeface="+mn-ea"/>
                          <a:ea typeface="+mn-ea"/>
                        </a:rPr>
                        <a:t>URL</a:t>
                      </a:r>
                      <a:endParaRPr lang="en-US" sz="1400" b="1" i="0" u="none" strike="noStrike" dirty="0">
                        <a:solidFill>
                          <a:schemeClr val="bg1"/>
                        </a:solidFill>
                        <a:effectLst/>
                        <a:latin typeface="+mn-ea"/>
                        <a:ea typeface="+mn-ea"/>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5938599"/>
                  </a:ext>
                </a:extLst>
              </a:tr>
              <a:tr h="318345">
                <a:tc rowSpan="3">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chemeClr val="accent1"/>
                          </a:solidFill>
                          <a:effectLst/>
                          <a:uLnTx/>
                          <a:uFillTx/>
                          <a:latin typeface="+mn-ea"/>
                          <a:ea typeface="+mn-ea"/>
                          <a:cs typeface="+mn-cs"/>
                        </a:rPr>
                        <a:t>①</a:t>
                      </a: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Credential</a:t>
                      </a: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Format</a:t>
                      </a:r>
                      <a:endParaRPr kumimoji="1" lang="ja-JP" altLang="en-US" sz="1400" b="1" i="0" u="none" strike="noStrike" kern="1200" cap="none" spc="0" normalizeH="0" baseline="0" noProof="0" dirty="0">
                        <a:ln>
                          <a:noFill/>
                        </a:ln>
                        <a:solidFill>
                          <a:schemeClr val="accent1"/>
                        </a:solidFill>
                        <a:effectLst/>
                        <a:uLnTx/>
                        <a:uFillTx/>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rowSpan="3">
                  <a:txBody>
                    <a:bodyPr/>
                    <a:lstStyle/>
                    <a:p>
                      <a:pPr marL="179388" indent="-179388">
                        <a:buFont typeface="Arial" panose="020B0604020202020204" pitchFamily="34" charset="0"/>
                        <a:buChar char="•"/>
                      </a:pPr>
                      <a:r>
                        <a:rPr kumimoji="1" lang="ja-JP" altLang="en-US" sz="1200" dirty="0">
                          <a:solidFill>
                            <a:schemeClr val="tx1"/>
                          </a:solidFill>
                          <a:latin typeface="+mn-ea"/>
                          <a:ea typeface="+mn-ea"/>
                        </a:rPr>
                        <a:t>検証可能な資格情報のデータモデルを定義</a:t>
                      </a: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W3C</a:t>
                      </a:r>
                      <a:r>
                        <a:rPr kumimoji="1" lang="ja-JP" altLang="en-US" sz="1200" dirty="0">
                          <a:solidFill>
                            <a:schemeClr val="tx1"/>
                          </a:solidFill>
                          <a:latin typeface="+mn-ea"/>
                          <a:ea typeface="+mn-ea"/>
                        </a:rPr>
                        <a:t>が策定した</a:t>
                      </a:r>
                      <a:r>
                        <a:rPr kumimoji="1" lang="en-US" altLang="ja-JP" sz="1200" dirty="0">
                          <a:solidFill>
                            <a:schemeClr val="tx1"/>
                          </a:solidFill>
                          <a:latin typeface="+mn-ea"/>
                          <a:ea typeface="+mn-ea"/>
                        </a:rPr>
                        <a:t>Verifiable Credential </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Verifiable Presentation</a:t>
                      </a:r>
                      <a:r>
                        <a:rPr kumimoji="1" lang="ja-JP" altLang="en-US" sz="1200" dirty="0">
                          <a:solidFill>
                            <a:schemeClr val="tx1"/>
                          </a:solidFill>
                          <a:latin typeface="+mn-ea"/>
                          <a:ea typeface="+mn-ea"/>
                        </a:rPr>
                        <a:t>や、</a:t>
                      </a:r>
                      <a:r>
                        <a:rPr kumimoji="1" lang="en-US" altLang="ja-JP" sz="1200" dirty="0">
                          <a:solidFill>
                            <a:schemeClr val="tx1"/>
                          </a:solidFill>
                          <a:latin typeface="+mn-ea"/>
                          <a:ea typeface="+mn-ea"/>
                        </a:rPr>
                        <a:t>OpenID Foundation</a:t>
                      </a:r>
                      <a:r>
                        <a:rPr kumimoji="1" lang="ja-JP" altLang="en-US" sz="1200" dirty="0">
                          <a:solidFill>
                            <a:schemeClr val="tx1"/>
                          </a:solidFill>
                          <a:latin typeface="+mn-ea"/>
                          <a:ea typeface="+mn-ea"/>
                        </a:rPr>
                        <a:t>が策定し、一般的な認証システムでも使用される</a:t>
                      </a:r>
                      <a:r>
                        <a:rPr kumimoji="1" lang="en-US" altLang="ja-JP" sz="1200" dirty="0">
                          <a:solidFill>
                            <a:schemeClr val="tx1"/>
                          </a:solidFill>
                          <a:latin typeface="+mn-ea"/>
                          <a:ea typeface="+mn-ea"/>
                        </a:rPr>
                        <a:t>OpenID Connect ID Token</a:t>
                      </a:r>
                      <a:r>
                        <a:rPr kumimoji="1" lang="ja-JP" altLang="en-US" sz="1200" dirty="0">
                          <a:solidFill>
                            <a:schemeClr val="tx1"/>
                          </a:solidFill>
                          <a:latin typeface="+mn-ea"/>
                          <a:ea typeface="+mn-ea"/>
                        </a:rPr>
                        <a:t>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kumimoji="1" lang="en-US" altLang="ja-JP" sz="1000">
                          <a:latin typeface="+mn-ea"/>
                          <a:ea typeface="+mn-ea"/>
                        </a:rPr>
                        <a:t>Verifiable</a:t>
                      </a:r>
                      <a:r>
                        <a:rPr kumimoji="1" lang="ja-JP" altLang="en-US" sz="1000">
                          <a:latin typeface="+mn-ea"/>
                          <a:ea typeface="+mn-ea"/>
                        </a:rPr>
                        <a:t> </a:t>
                      </a:r>
                      <a:r>
                        <a:rPr kumimoji="1" lang="en-US" altLang="ja-JP" sz="1000">
                          <a:latin typeface="+mn-ea"/>
                          <a:ea typeface="+mn-ea"/>
                        </a:rPr>
                        <a:t>Credentials /</a:t>
                      </a:r>
                      <a:r>
                        <a:rPr kumimoji="1" lang="ja-JP" altLang="en-US" sz="1000">
                          <a:latin typeface="+mn-ea"/>
                          <a:ea typeface="+mn-ea"/>
                        </a:rPr>
                        <a:t> </a:t>
                      </a:r>
                      <a:r>
                        <a:rPr kumimoji="1" lang="en-US" altLang="ja-JP" sz="1000">
                          <a:latin typeface="+mn-ea"/>
                          <a:ea typeface="+mn-ea"/>
                        </a:rPr>
                        <a:t>Presentation (W3C)</a:t>
                      </a:r>
                      <a:br>
                        <a:rPr kumimoji="1" lang="en-US" altLang="ja-JP" sz="1000">
                          <a:latin typeface="+mn-ea"/>
                          <a:ea typeface="+mn-ea"/>
                        </a:rPr>
                      </a:br>
                      <a:r>
                        <a:rPr kumimoji="1" lang="en-US" altLang="ja-JP" sz="1000">
                          <a:latin typeface="+mn-ea"/>
                          <a:ea typeface="+mn-ea"/>
                        </a:rPr>
                        <a:t>(</a:t>
                      </a:r>
                      <a:r>
                        <a:rPr kumimoji="1" lang="en-US" altLang="ja-JP" sz="1000">
                          <a:latin typeface="+mn-ea"/>
                          <a:ea typeface="+mn-ea"/>
                          <a:hlinkClick r:id="rId2"/>
                        </a:rPr>
                        <a:t>Ver.1.1</a:t>
                      </a:r>
                      <a:r>
                        <a:rPr kumimoji="1" lang="en-US" altLang="ja-JP" sz="1000">
                          <a:latin typeface="+mn-ea"/>
                          <a:ea typeface="+mn-ea"/>
                        </a:rPr>
                        <a:t>)</a:t>
                      </a:r>
                      <a:r>
                        <a:rPr kumimoji="1" lang="ja-JP" altLang="en-US" sz="1000">
                          <a:latin typeface="+mn-ea"/>
                          <a:ea typeface="+mn-ea"/>
                        </a:rPr>
                        <a:t>　</a:t>
                      </a:r>
                      <a:r>
                        <a:rPr kumimoji="1" lang="en-US" altLang="ja-JP" sz="1000">
                          <a:latin typeface="+mn-ea"/>
                          <a:ea typeface="+mn-ea"/>
                        </a:rPr>
                        <a:t>(</a:t>
                      </a:r>
                      <a:r>
                        <a:rPr kumimoji="1" lang="en-US" altLang="ja-JP" sz="1000">
                          <a:latin typeface="+mn-ea"/>
                          <a:ea typeface="+mn-ea"/>
                          <a:hlinkClick r:id="rId3"/>
                        </a:rPr>
                        <a:t>Ver.2.0</a:t>
                      </a:r>
                      <a:r>
                        <a:rPr kumimoji="1" lang="en-US" altLang="ja-JP" sz="1000">
                          <a:latin typeface="+mn-ea"/>
                          <a:ea typeface="+mn-ea"/>
                        </a:rPr>
                        <a:t>)</a:t>
                      </a:r>
                      <a:endParaRPr kumimoji="1" lang="en-US" altLang="ja-JP" sz="1000" dirty="0">
                        <a:latin typeface="+mn-ea"/>
                        <a:ea typeface="+mn-ea"/>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24474211"/>
                  </a:ext>
                </a:extLst>
              </a:tr>
              <a:tr h="189587">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4"/>
                        </a:rPr>
                        <a:t>OID4VCI (OpenID Foundation)</a:t>
                      </a:r>
                      <a:endParaRPr kumimoji="1" lang="en-US" altLang="ja-JP" sz="1000" dirty="0">
                        <a:latin typeface="+mn-ea"/>
                        <a:ea typeface="+mn-ea"/>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604903"/>
                  </a:ext>
                </a:extLst>
              </a:tr>
              <a:tr h="273939">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5"/>
                        </a:rPr>
                        <a:t>OID4VP (OpenID Foundation)</a:t>
                      </a:r>
                      <a:endParaRPr kumimoji="1" lang="en-US" altLang="ja-JP" sz="1000" dirty="0">
                        <a:latin typeface="+mn-ea"/>
                        <a:ea typeface="+mn-ea"/>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5874320"/>
                  </a:ext>
                </a:extLst>
              </a:tr>
              <a:tr h="189587">
                <a:tc rowSpan="4">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chemeClr val="accent1"/>
                          </a:solidFill>
                          <a:effectLst/>
                          <a:uLnTx/>
                          <a:uFillTx/>
                          <a:latin typeface="+mn-ea"/>
                          <a:ea typeface="+mn-ea"/>
                          <a:cs typeface="+mn-cs"/>
                        </a:rPr>
                        <a:t>②</a:t>
                      </a: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Credential</a:t>
                      </a: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Proofing</a:t>
                      </a:r>
                      <a:endParaRPr kumimoji="1" lang="ja-JP" altLang="en-US" sz="1400" b="1" i="0" u="none" strike="noStrike" kern="1200" cap="none" spc="0" normalizeH="0" baseline="0" noProof="0" dirty="0">
                        <a:ln>
                          <a:noFill/>
                        </a:ln>
                        <a:solidFill>
                          <a:schemeClr val="accent1"/>
                        </a:solidFill>
                        <a:effectLst/>
                        <a:uLnTx/>
                        <a:uFillTx/>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rowSpan="4">
                  <a:txBody>
                    <a:bodyPr/>
                    <a:lstStyle/>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a:solidFill>
                            <a:schemeClr val="tx1"/>
                          </a:solidFill>
                          <a:latin typeface="+mn-ea"/>
                          <a:ea typeface="+mn-ea"/>
                        </a:rPr>
                        <a:t>証明書の正当性を示すデータ形式を定義、</a:t>
                      </a:r>
                      <a:r>
                        <a:rPr kumimoji="1" lang="ja-JP" altLang="en-US" sz="1200" dirty="0">
                          <a:solidFill>
                            <a:schemeClr val="tx1"/>
                          </a:solidFill>
                          <a:latin typeface="+mn-ea"/>
                          <a:ea typeface="+mn-ea"/>
                        </a:rPr>
                        <a:t>選択的属性開示とも関連</a:t>
                      </a:r>
                      <a:r>
                        <a:rPr kumimoji="1" lang="ja-JP" altLang="en-US" sz="1200">
                          <a:solidFill>
                            <a:schemeClr val="tx1"/>
                          </a:solidFill>
                          <a:latin typeface="+mn-ea"/>
                          <a:ea typeface="+mn-ea"/>
                        </a:rPr>
                        <a:t>が深い</a:t>
                      </a:r>
                      <a:endParaRPr kumimoji="1" lang="en-US" altLang="ja-JP" sz="1200" dirty="0">
                        <a:solidFill>
                          <a:schemeClr val="tx1"/>
                        </a:solidFill>
                        <a:latin typeface="+mn-ea"/>
                        <a:ea typeface="+mn-ea"/>
                      </a:endParaRPr>
                    </a:p>
                    <a:p>
                      <a:pPr marL="179388" indent="-179388">
                        <a:buFont typeface="Arial" panose="020B0604020202020204" pitchFamily="34" charset="0"/>
                        <a:buChar char="•"/>
                      </a:pPr>
                      <a:r>
                        <a:rPr kumimoji="1" lang="ja-JP" altLang="en-US" sz="1200">
                          <a:solidFill>
                            <a:schemeClr val="tx1"/>
                          </a:solidFill>
                          <a:latin typeface="+mn-ea"/>
                          <a:ea typeface="+mn-ea"/>
                        </a:rPr>
                        <a:t>代表的</a:t>
                      </a:r>
                      <a:r>
                        <a:rPr kumimoji="1" lang="ja-JP" altLang="en-US" sz="1200" dirty="0">
                          <a:solidFill>
                            <a:schemeClr val="tx1"/>
                          </a:solidFill>
                          <a:latin typeface="+mn-ea"/>
                          <a:ea typeface="+mn-ea"/>
                        </a:rPr>
                        <a:t>な規格として</a:t>
                      </a:r>
                      <a:r>
                        <a:rPr kumimoji="1" lang="en-US" altLang="ja-JP" sz="1200" dirty="0">
                          <a:solidFill>
                            <a:schemeClr val="tx1"/>
                          </a:solidFill>
                          <a:latin typeface="+mn-ea"/>
                          <a:ea typeface="+mn-ea"/>
                        </a:rPr>
                        <a:t>VC JSON-LD Proofs  </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SD-JWT VC </a:t>
                      </a:r>
                      <a:r>
                        <a:rPr kumimoji="1" lang="ja-JP" altLang="en-US" sz="1200" dirty="0">
                          <a:solidFill>
                            <a:schemeClr val="tx1"/>
                          </a:solidFill>
                          <a:latin typeface="+mn-ea"/>
                          <a:ea typeface="+mn-ea"/>
                        </a:rPr>
                        <a:t>、</a:t>
                      </a:r>
                      <a:r>
                        <a:rPr kumimoji="1" lang="en-US" altLang="ja-JP" sz="1200" dirty="0" err="1">
                          <a:solidFill>
                            <a:schemeClr val="tx1"/>
                          </a:solidFill>
                          <a:latin typeface="+mn-ea"/>
                          <a:ea typeface="+mn-ea"/>
                        </a:rPr>
                        <a:t>AnonCreds</a:t>
                      </a:r>
                      <a:r>
                        <a:rPr kumimoji="1" lang="en-US" altLang="ja-JP" sz="1200" dirty="0">
                          <a:solidFill>
                            <a:schemeClr val="tx1"/>
                          </a:solidFill>
                          <a:latin typeface="+mn-ea"/>
                          <a:ea typeface="+mn-ea"/>
                        </a:rPr>
                        <a:t> </a:t>
                      </a:r>
                      <a:r>
                        <a:rPr kumimoji="1" lang="ja-JP" altLang="en-US" sz="1200" dirty="0">
                          <a:solidFill>
                            <a:schemeClr val="tx1"/>
                          </a:solidFill>
                          <a:latin typeface="+mn-ea"/>
                          <a:ea typeface="+mn-ea"/>
                        </a:rPr>
                        <a:t>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kumimoji="1" lang="en-US" altLang="ja-JP" sz="1000">
                          <a:latin typeface="+mn-ea"/>
                          <a:ea typeface="+mn-ea"/>
                          <a:hlinkClick r:id="rId6"/>
                        </a:rPr>
                        <a:t>VC-JWT (W3C/DIF)</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8162923"/>
                  </a:ext>
                </a:extLst>
              </a:tr>
              <a:tr h="189587">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a:latin typeface="+mn-ea"/>
                          <a:ea typeface="+mn-ea"/>
                          <a:hlinkClick r:id="rId7"/>
                        </a:rPr>
                        <a:t>VC JSON-LD Proofs (W3C)</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89839528"/>
                  </a:ext>
                </a:extLst>
              </a:tr>
              <a:tr h="189587">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1000">
                          <a:latin typeface="+mn-ea"/>
                          <a:ea typeface="+mn-ea"/>
                          <a:hlinkClick r:id="rId8"/>
                        </a:rPr>
                        <a:t>SD-JWT VC (IETF)</a:t>
                      </a:r>
                      <a:endParaRPr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06611238"/>
                  </a:ext>
                </a:extLst>
              </a:tr>
              <a:tr h="189587">
                <a:tc vMerge="1">
                  <a:txBody>
                    <a:bodyPr/>
                    <a:lstStyle/>
                    <a:p>
                      <a:endParaRPr kumimoji="1" lang="ja-JP" altLang="en-US"/>
                    </a:p>
                  </a:txBody>
                  <a:tcPr>
                    <a:lnT w="12700" cap="flat" cmpd="sng" algn="ctr">
                      <a:solidFill>
                        <a:schemeClr val="bg1">
                          <a:lumMod val="75000"/>
                        </a:schemeClr>
                      </a:solidFill>
                      <a:prstDash val="solid"/>
                      <a:round/>
                      <a:headEnd type="none" w="med" len="med"/>
                      <a:tailEnd type="none" w="med" len="med"/>
                    </a:lnT>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T w="12700" cap="flat" cmpd="sng" algn="ctr">
                      <a:solidFill>
                        <a:schemeClr val="bg1">
                          <a:lumMod val="75000"/>
                        </a:schemeClr>
                      </a:solidFill>
                      <a:prstDash val="solid"/>
                      <a:round/>
                      <a:headEnd type="none" w="med" len="med"/>
                      <a:tailEnd type="none" w="med" len="med"/>
                    </a:lnT>
                    <a:solidFill>
                      <a:schemeClr val="bg1"/>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a:latin typeface="+mn-ea"/>
                          <a:ea typeface="+mn-ea"/>
                          <a:hlinkClick r:id="rId9"/>
                        </a:rPr>
                        <a:t>AnonCreds (Hyperledger)</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80965174"/>
                  </a:ext>
                </a:extLst>
              </a:tr>
              <a:tr h="260623">
                <a:tc rowSpan="3">
                  <a:txBody>
                    <a:bodyPr/>
                    <a:lstStyle/>
                    <a:p>
                      <a:r>
                        <a:rPr kumimoji="1" lang="ja-JP" altLang="en-US" sz="1400" b="1" dirty="0">
                          <a:solidFill>
                            <a:schemeClr val="accent1"/>
                          </a:solidFill>
                          <a:latin typeface="+mn-ea"/>
                          <a:ea typeface="+mn-ea"/>
                        </a:rPr>
                        <a:t>③</a:t>
                      </a:r>
                      <a:r>
                        <a:rPr kumimoji="1" lang="en-US" altLang="ja-JP" sz="1400" b="1" dirty="0">
                          <a:solidFill>
                            <a:schemeClr val="accent1"/>
                          </a:solidFill>
                          <a:latin typeface="+mn-ea"/>
                          <a:ea typeface="+mn-ea"/>
                        </a:rPr>
                        <a:t>Credential</a:t>
                      </a:r>
                    </a:p>
                    <a:p>
                      <a:r>
                        <a:rPr kumimoji="1" lang="en-US" altLang="ja-JP" sz="1400" b="1" dirty="0">
                          <a:solidFill>
                            <a:schemeClr val="accent1"/>
                          </a:solidFill>
                          <a:latin typeface="+mn-ea"/>
                          <a:ea typeface="+mn-ea"/>
                        </a:rPr>
                        <a:t>Revocation</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rowSpan="3">
                  <a:txBody>
                    <a:bodyPr/>
                    <a:lstStyle/>
                    <a:p>
                      <a:pPr marL="179388" indent="-179388">
                        <a:buFont typeface="Arial" panose="020B0604020202020204" pitchFamily="34" charset="0"/>
                        <a:buChar char="•"/>
                      </a:pPr>
                      <a:r>
                        <a:rPr kumimoji="1" lang="ja-JP" altLang="en-US" sz="1200">
                          <a:solidFill>
                            <a:schemeClr val="tx1"/>
                          </a:solidFill>
                          <a:latin typeface="+mn-ea"/>
                          <a:ea typeface="+mn-ea"/>
                        </a:rPr>
                        <a:t>証明書の失効管理方法について定義</a:t>
                      </a:r>
                    </a:p>
                    <a:p>
                      <a:pPr marL="179388" indent="-179388">
                        <a:buFont typeface="Arial" panose="020B0604020202020204" pitchFamily="34" charset="0"/>
                        <a:buChar char="•"/>
                      </a:pPr>
                      <a:r>
                        <a:rPr kumimoji="1" lang="ja-JP" altLang="en-US" sz="1200">
                          <a:solidFill>
                            <a:schemeClr val="tx1"/>
                          </a:solidFill>
                          <a:latin typeface="+mn-ea"/>
                          <a:ea typeface="+mn-ea"/>
                        </a:rPr>
                        <a:t>代表的な規格として</a:t>
                      </a:r>
                      <a:r>
                        <a:rPr kumimoji="1" lang="en-US" altLang="ja-JP" sz="1200">
                          <a:solidFill>
                            <a:schemeClr val="tx1"/>
                          </a:solidFill>
                          <a:latin typeface="+mn-ea"/>
                          <a:ea typeface="+mn-ea"/>
                        </a:rPr>
                        <a:t>x.509</a:t>
                      </a:r>
                      <a:r>
                        <a:rPr kumimoji="1" lang="ja-JP" altLang="en-US" sz="1200">
                          <a:solidFill>
                            <a:schemeClr val="tx1"/>
                          </a:solidFill>
                          <a:latin typeface="+mn-ea"/>
                          <a:ea typeface="+mn-ea"/>
                        </a:rPr>
                        <a:t>の</a:t>
                      </a:r>
                      <a:r>
                        <a:rPr kumimoji="1" lang="en-US" altLang="ja-JP" sz="1200">
                          <a:solidFill>
                            <a:schemeClr val="tx1"/>
                          </a:solidFill>
                          <a:latin typeface="+mn-ea"/>
                          <a:ea typeface="+mn-ea"/>
                        </a:rPr>
                        <a:t>Online Certificate Status Protocol</a:t>
                      </a:r>
                      <a:r>
                        <a:rPr kumimoji="1" lang="ja-JP" altLang="en-US" sz="1200">
                          <a:solidFill>
                            <a:schemeClr val="tx1"/>
                          </a:solidFill>
                          <a:latin typeface="+mn-ea"/>
                          <a:ea typeface="+mn-ea"/>
                        </a:rPr>
                        <a:t>や</a:t>
                      </a:r>
                      <a:r>
                        <a:rPr kumimoji="1" lang="en-US" altLang="ja-JP" sz="1200">
                          <a:solidFill>
                            <a:schemeClr val="tx1"/>
                          </a:solidFill>
                          <a:latin typeface="+mn-ea"/>
                          <a:ea typeface="+mn-ea"/>
                        </a:rPr>
                        <a:t>Certificate Revocation List</a:t>
                      </a:r>
                      <a:r>
                        <a:rPr kumimoji="1" lang="ja-JP" altLang="en-US" sz="1200">
                          <a:solidFill>
                            <a:schemeClr val="tx1"/>
                          </a:solidFill>
                          <a:latin typeface="+mn-ea"/>
                          <a:ea typeface="+mn-ea"/>
                        </a:rPr>
                        <a:t>、</a:t>
                      </a:r>
                      <a:r>
                        <a:rPr kumimoji="1" lang="en-US" altLang="ja-JP" sz="1200">
                          <a:solidFill>
                            <a:schemeClr val="tx1"/>
                          </a:solidFill>
                          <a:latin typeface="+mn-ea"/>
                          <a:ea typeface="+mn-ea"/>
                        </a:rPr>
                        <a:t>VC Status Revocation List</a:t>
                      </a:r>
                      <a:r>
                        <a:rPr kumimoji="1" lang="ja-JP" altLang="en-US" sz="1200">
                          <a:solidFill>
                            <a:schemeClr val="tx1"/>
                          </a:solidFill>
                          <a:latin typeface="+mn-ea"/>
                          <a:ea typeface="+mn-ea"/>
                        </a:rPr>
                        <a:t>、</a:t>
                      </a:r>
                      <a:r>
                        <a:rPr kumimoji="1" lang="en-US" altLang="ja-JP" sz="1200">
                          <a:solidFill>
                            <a:schemeClr val="tx1"/>
                          </a:solidFill>
                          <a:latin typeface="+mn-ea"/>
                          <a:ea typeface="+mn-ea"/>
                        </a:rPr>
                        <a:t>AnonCreds Revocation Status List v1/v2</a:t>
                      </a:r>
                      <a:r>
                        <a:rPr kumimoji="1" lang="ja-JP" altLang="en-US" sz="1200">
                          <a:solidFill>
                            <a:schemeClr val="tx1"/>
                          </a:solidFill>
                          <a:latin typeface="+mn-ea"/>
                          <a:ea typeface="+mn-ea"/>
                        </a:rPr>
                        <a:t>等が挙げられる</a:t>
                      </a:r>
                      <a:endParaRPr kumimoji="1" lang="ja-JP" altLang="en-US" sz="1200" dirty="0">
                        <a:solidFill>
                          <a:schemeClr val="tx1"/>
                        </a:solidFill>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kumimoji="1" lang="en-US" altLang="ja-JP" sz="1000">
                          <a:latin typeface="+mn-ea"/>
                          <a:ea typeface="+mn-ea"/>
                          <a:hlinkClick r:id="rId10"/>
                        </a:rPr>
                        <a:t>X.509 (IETF)</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4750674"/>
                  </a:ext>
                </a:extLst>
              </a:tr>
              <a:tr h="260623">
                <a:tc vMerge="1">
                  <a:txBody>
                    <a:bodyPr/>
                    <a:lstStyle/>
                    <a:p>
                      <a:endParaRPr kumimoji="1" lang="ja-JP" altLang="en-US"/>
                    </a:p>
                  </a:txBody>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a:latin typeface="+mn-ea"/>
                          <a:ea typeface="+mn-ea"/>
                          <a:hlinkClick r:id="rId11"/>
                        </a:rPr>
                        <a:t>VC Status Revocation List (W3C)</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65468157"/>
                  </a:ext>
                </a:extLst>
              </a:tr>
              <a:tr h="260623">
                <a:tc vMerge="1">
                  <a:txBody>
                    <a:bodyPr/>
                    <a:lstStyle/>
                    <a:p>
                      <a:endParaRPr kumimoji="1" lang="ja-JP" altLang="en-US"/>
                    </a:p>
                  </a:txBody>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a:latin typeface="+mn-ea"/>
                          <a:ea typeface="+mn-ea"/>
                          <a:hlinkClick r:id="rId12"/>
                        </a:rPr>
                        <a:t>AnonCreds(Hyperledger)</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08082330"/>
                  </a:ext>
                </a:extLst>
              </a:tr>
              <a:tr h="189587">
                <a:tc rowSpan="4">
                  <a:txBody>
                    <a:bodyPr/>
                    <a:lstStyle/>
                    <a:p>
                      <a:r>
                        <a:rPr kumimoji="1" lang="en-US" altLang="ja-JP" sz="1400" b="1">
                          <a:solidFill>
                            <a:schemeClr val="accent1"/>
                          </a:solidFill>
                          <a:latin typeface="+mn-ea"/>
                          <a:ea typeface="+mn-ea"/>
                        </a:rPr>
                        <a:t>④Credential</a:t>
                      </a:r>
                    </a:p>
                    <a:p>
                      <a:r>
                        <a:rPr kumimoji="1" lang="en-US" altLang="ja-JP" sz="1400" b="1">
                          <a:solidFill>
                            <a:schemeClr val="accent1"/>
                          </a:solidFill>
                          <a:latin typeface="+mn-ea"/>
                          <a:ea typeface="+mn-ea"/>
                        </a:rPr>
                        <a:t>Exchange</a:t>
                      </a:r>
                      <a:endParaRPr kumimoji="1" lang="en-US" altLang="ja-JP" sz="1400" b="1" dirty="0">
                        <a:solidFill>
                          <a:schemeClr val="accent1"/>
                        </a:solidFill>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rowSpan="4">
                  <a:txBody>
                    <a:bodyPr/>
                    <a:lstStyle/>
                    <a:p>
                      <a:pPr marL="179388" indent="-179388">
                        <a:buFont typeface="Arial" panose="020B0604020202020204" pitchFamily="34" charset="0"/>
                        <a:buChar char="•"/>
                      </a:pPr>
                      <a:r>
                        <a:rPr kumimoji="1" lang="ja-JP" altLang="en-US" sz="1200" dirty="0">
                          <a:solidFill>
                            <a:schemeClr val="tx1"/>
                          </a:solidFill>
                          <a:latin typeface="+mn-ea"/>
                          <a:ea typeface="+mn-ea"/>
                        </a:rPr>
                        <a:t>証明書を所有者が検証者に提示する際の交換方式を定義</a:t>
                      </a:r>
                      <a:endParaRPr kumimoji="1" lang="en-US" altLang="ja-JP" sz="1200" dirty="0">
                        <a:solidFill>
                          <a:schemeClr val="tx1"/>
                        </a:solidFill>
                        <a:latin typeface="+mn-ea"/>
                        <a:ea typeface="+mn-ea"/>
                      </a:endParaRPr>
                    </a:p>
                    <a:p>
                      <a:pPr marL="179388" indent="-179388">
                        <a:buFont typeface="Arial" panose="020B0604020202020204" pitchFamily="34" charset="0"/>
                        <a:buChar char="•"/>
                      </a:pPr>
                      <a:r>
                        <a:rPr kumimoji="1" lang="ja-JP" altLang="en-US" sz="1200" dirty="0">
                          <a:solidFill>
                            <a:schemeClr val="tx1"/>
                          </a:solidFill>
                          <a:latin typeface="+mn-ea"/>
                          <a:ea typeface="+mn-ea"/>
                        </a:rPr>
                        <a:t>クレデンシャル</a:t>
                      </a:r>
                      <a:r>
                        <a:rPr kumimoji="1" lang="en-US" altLang="ja-JP" sz="1200" dirty="0">
                          <a:solidFill>
                            <a:schemeClr val="tx1"/>
                          </a:solidFill>
                          <a:latin typeface="+mn-ea"/>
                          <a:ea typeface="+mn-ea"/>
                        </a:rPr>
                        <a:t>(VP)</a:t>
                      </a:r>
                      <a:r>
                        <a:rPr kumimoji="1" lang="ja-JP" altLang="en-US" sz="1200" dirty="0">
                          <a:solidFill>
                            <a:schemeClr val="tx1"/>
                          </a:solidFill>
                          <a:latin typeface="+mn-ea"/>
                          <a:ea typeface="+mn-ea"/>
                        </a:rPr>
                        <a:t>の要求と提示に関するフォーマット</a:t>
                      </a: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DIF</a:t>
                      </a:r>
                      <a:r>
                        <a:rPr kumimoji="1" lang="ja-JP" altLang="en-US" sz="1200" dirty="0">
                          <a:solidFill>
                            <a:schemeClr val="tx1"/>
                          </a:solidFill>
                          <a:latin typeface="+mn-ea"/>
                          <a:ea typeface="+mn-ea"/>
                        </a:rPr>
                        <a:t>の</a:t>
                      </a:r>
                      <a:r>
                        <a:rPr kumimoji="1" lang="en-US" altLang="ja-JP" sz="1200" dirty="0">
                          <a:solidFill>
                            <a:schemeClr val="tx1"/>
                          </a:solidFill>
                          <a:latin typeface="+mn-ea"/>
                          <a:ea typeface="+mn-ea"/>
                        </a:rPr>
                        <a:t>Presentation Exchange</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W3C</a:t>
                      </a:r>
                      <a:r>
                        <a:rPr kumimoji="1" lang="ja-JP" altLang="en-US" sz="1200" dirty="0">
                          <a:solidFill>
                            <a:schemeClr val="tx1"/>
                          </a:solidFill>
                          <a:latin typeface="+mn-ea"/>
                          <a:ea typeface="+mn-ea"/>
                        </a:rPr>
                        <a:t>の</a:t>
                      </a:r>
                      <a:r>
                        <a:rPr kumimoji="1" lang="en-US" altLang="ja-JP" sz="1200" dirty="0">
                          <a:solidFill>
                            <a:schemeClr val="tx1"/>
                          </a:solidFill>
                          <a:latin typeface="+mn-ea"/>
                          <a:ea typeface="+mn-ea"/>
                        </a:rPr>
                        <a:t>Verifiable Presentation Request</a:t>
                      </a:r>
                      <a:r>
                        <a:rPr kumimoji="1" lang="ja-JP" altLang="en-US" sz="1200" dirty="0">
                          <a:solidFill>
                            <a:schemeClr val="tx1"/>
                          </a:solidFill>
                          <a:latin typeface="+mn-ea"/>
                          <a:ea typeface="+mn-ea"/>
                        </a:rPr>
                        <a:t>や</a:t>
                      </a:r>
                      <a:r>
                        <a:rPr kumimoji="1" lang="en-US" altLang="ja-JP" sz="1200" dirty="0">
                          <a:solidFill>
                            <a:schemeClr val="tx1"/>
                          </a:solidFill>
                          <a:latin typeface="+mn-ea"/>
                          <a:ea typeface="+mn-ea"/>
                        </a:rPr>
                        <a:t>Hyperledger</a:t>
                      </a:r>
                      <a:r>
                        <a:rPr kumimoji="1" lang="ja-JP" altLang="en-US" sz="1200" dirty="0">
                          <a:solidFill>
                            <a:schemeClr val="tx1"/>
                          </a:solidFill>
                          <a:latin typeface="+mn-ea"/>
                          <a:ea typeface="+mn-ea"/>
                        </a:rPr>
                        <a:t>で検討している</a:t>
                      </a:r>
                      <a:r>
                        <a:rPr kumimoji="1" lang="en-US" altLang="ja-JP" sz="1200" dirty="0">
                          <a:solidFill>
                            <a:schemeClr val="tx1"/>
                          </a:solidFill>
                          <a:latin typeface="+mn-ea"/>
                          <a:ea typeface="+mn-ea"/>
                        </a:rPr>
                        <a:t>Present Proof Protocol</a:t>
                      </a:r>
                      <a:r>
                        <a:rPr kumimoji="1" lang="ja-JP" altLang="en-US" sz="1200" dirty="0">
                          <a:solidFill>
                            <a:schemeClr val="tx1"/>
                          </a:solidFill>
                          <a:latin typeface="+mn-ea"/>
                          <a:ea typeface="+mn-ea"/>
                        </a:rPr>
                        <a:t>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kumimoji="1" lang="en-US" altLang="ja-JP" sz="1000">
                          <a:latin typeface="+mn-ea"/>
                          <a:ea typeface="+mn-ea"/>
                          <a:hlinkClick r:id="rId13"/>
                        </a:rPr>
                        <a:t>VP Request (W3C)</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37719224"/>
                  </a:ext>
                </a:extLst>
              </a:tr>
              <a:tr h="189587">
                <a:tc vMerge="1">
                  <a:txBody>
                    <a:bodyPr/>
                    <a:lstStyle/>
                    <a:p>
                      <a:endParaRPr kumimoji="1" lang="en-US" altLang="ja-JP" sz="12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pPr marL="85725" indent="-85725">
                        <a:buFont typeface="Arial" panose="020B0604020202020204" pitchFamily="34" charset="0"/>
                        <a:buChar char="•"/>
                      </a:pPr>
                      <a:endParaRPr kumimoji="1" lang="en-US" altLang="ja-JP" sz="110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indent="0">
                        <a:buFont typeface="Arial" panose="020B0604020202020204" pitchFamily="34" charset="0"/>
                        <a:buNone/>
                      </a:pPr>
                      <a:r>
                        <a:rPr kumimoji="1" lang="en-US" altLang="ja-JP" sz="1000">
                          <a:latin typeface="+mn-ea"/>
                          <a:ea typeface="+mn-ea"/>
                          <a:hlinkClick r:id="rId14"/>
                        </a:rPr>
                        <a:t>Presentation</a:t>
                      </a:r>
                      <a:r>
                        <a:rPr kumimoji="1" lang="ja-JP" altLang="en-US" sz="1000">
                          <a:latin typeface="+mn-ea"/>
                          <a:ea typeface="+mn-ea"/>
                          <a:hlinkClick r:id="rId14"/>
                        </a:rPr>
                        <a:t> </a:t>
                      </a:r>
                      <a:r>
                        <a:rPr kumimoji="1" lang="en-US" altLang="ja-JP" sz="1000">
                          <a:latin typeface="+mn-ea"/>
                          <a:ea typeface="+mn-ea"/>
                          <a:hlinkClick r:id="rId14"/>
                        </a:rPr>
                        <a:t>Exchange (DIF)</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86590272"/>
                  </a:ext>
                </a:extLst>
              </a:tr>
              <a:tr h="318345">
                <a:tc vMerge="1">
                  <a:txBody>
                    <a:bodyPr/>
                    <a:lstStyle/>
                    <a:p>
                      <a:endParaRPr kumimoji="1" lang="en-US" altLang="ja-JP" sz="12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15"/>
                        </a:rPr>
                        <a:t>OIDC Credential Provider (OpenID Foundation)</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52321246"/>
                  </a:ext>
                </a:extLst>
              </a:tr>
              <a:tr h="189587">
                <a:tc vMerge="1">
                  <a:txBody>
                    <a:bodyPr/>
                    <a:lstStyle/>
                    <a:p>
                      <a:endParaRPr kumimoji="1" lang="en-US" altLang="ja-JP" sz="12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a:latin typeface="+mn-ea"/>
                          <a:ea typeface="+mn-ea"/>
                          <a:hlinkClick r:id="rId16"/>
                        </a:rPr>
                        <a:t>Aries Present Proof v2</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7215240"/>
                  </a:ext>
                </a:extLst>
              </a:tr>
              <a:tr h="380797">
                <a:tc rowSpan="3">
                  <a:txBody>
                    <a:bodyPr/>
                    <a:lstStyle/>
                    <a:p>
                      <a:r>
                        <a:rPr kumimoji="1" lang="en-US" altLang="ja-JP" sz="1400" b="1" dirty="0">
                          <a:solidFill>
                            <a:schemeClr val="accent1"/>
                          </a:solidFill>
                          <a:latin typeface="+mn-ea"/>
                          <a:ea typeface="+mn-ea"/>
                        </a:rPr>
                        <a:t>⑤Credential</a:t>
                      </a:r>
                    </a:p>
                    <a:p>
                      <a:r>
                        <a:rPr kumimoji="1" lang="en-US" altLang="ja-JP" sz="1400" b="1" dirty="0">
                          <a:solidFill>
                            <a:schemeClr val="accent1"/>
                          </a:solidFill>
                          <a:latin typeface="+mn-ea"/>
                          <a:ea typeface="+mn-ea"/>
                        </a:rPr>
                        <a:t>Binding</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rowSpan="3">
                  <a:txBody>
                    <a:bodyPr/>
                    <a:lstStyle/>
                    <a:p>
                      <a:pPr marL="179388" indent="-179388">
                        <a:buFont typeface="Arial" panose="020B0604020202020204" pitchFamily="34" charset="0"/>
                        <a:buChar char="•"/>
                      </a:pPr>
                      <a:r>
                        <a:rPr kumimoji="1" lang="ja-JP" altLang="en-US" sz="1200" dirty="0">
                          <a:solidFill>
                            <a:schemeClr val="tx1"/>
                          </a:solidFill>
                          <a:latin typeface="+mn-ea"/>
                          <a:ea typeface="+mn-ea"/>
                        </a:rPr>
                        <a:t>証明書等に記載されている署名情報を検証する公開鍵と特定の識別子が関連していることを表す情報群を定義</a:t>
                      </a:r>
                      <a:br>
                        <a:rPr kumimoji="1" lang="en-US" altLang="ja-JP" sz="1200" dirty="0">
                          <a:solidFill>
                            <a:schemeClr val="tx1"/>
                          </a:solidFill>
                          <a:latin typeface="+mn-ea"/>
                          <a:ea typeface="+mn-ea"/>
                        </a:rPr>
                      </a:br>
                      <a:r>
                        <a:rPr kumimoji="1" lang="en-US" altLang="ja-JP" sz="1200" dirty="0">
                          <a:solidFill>
                            <a:schemeClr val="tx1"/>
                          </a:solidFill>
                          <a:latin typeface="+mn-ea"/>
                          <a:ea typeface="+mn-ea"/>
                        </a:rPr>
                        <a:t>(</a:t>
                      </a:r>
                      <a:r>
                        <a:rPr kumimoji="1" lang="ja-JP" altLang="en-US" sz="1200" dirty="0">
                          <a:solidFill>
                            <a:schemeClr val="tx1"/>
                          </a:solidFill>
                          <a:latin typeface="+mn-ea"/>
                          <a:ea typeface="+mn-ea"/>
                        </a:rPr>
                        <a:t>例えば、証明書の真正性を保証するための署名を検証する公開鍵がどこにあるか示すものや、ユーザのアイデンティティを証明する情報群を提供</a:t>
                      </a:r>
                      <a:r>
                        <a:rPr kumimoji="1" lang="en-US" altLang="ja-JP" sz="1200" dirty="0">
                          <a:solidFill>
                            <a:schemeClr val="tx1"/>
                          </a:solidFill>
                          <a:latin typeface="+mn-ea"/>
                          <a:ea typeface="+mn-ea"/>
                        </a:rPr>
                        <a:t>)</a:t>
                      </a:r>
                      <a:endParaRPr kumimoji="1" lang="ja-JP" altLang="en-US" sz="1200" dirty="0">
                        <a:solidFill>
                          <a:schemeClr val="tx1"/>
                        </a:solidFill>
                        <a:latin typeface="+mn-ea"/>
                        <a:ea typeface="+mn-ea"/>
                      </a:endParaRP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W3C</a:t>
                      </a:r>
                      <a:r>
                        <a:rPr kumimoji="1" lang="ja-JP" altLang="en-US" sz="1200" dirty="0">
                          <a:solidFill>
                            <a:schemeClr val="tx1"/>
                          </a:solidFill>
                          <a:latin typeface="+mn-ea"/>
                          <a:ea typeface="+mn-ea"/>
                        </a:rPr>
                        <a:t>で定義している</a:t>
                      </a:r>
                      <a:r>
                        <a:rPr kumimoji="1" lang="en-US" altLang="ja-JP" sz="1200" dirty="0">
                          <a:solidFill>
                            <a:schemeClr val="tx1"/>
                          </a:solidFill>
                          <a:latin typeface="+mn-ea"/>
                          <a:ea typeface="+mn-ea"/>
                        </a:rPr>
                        <a:t>Decentralized Identifiers</a:t>
                      </a:r>
                      <a:r>
                        <a:rPr kumimoji="1" lang="ja-JP" altLang="en-US" sz="1200" dirty="0">
                          <a:solidFill>
                            <a:schemeClr val="tx1"/>
                          </a:solidFill>
                          <a:latin typeface="+mn-ea"/>
                          <a:ea typeface="+mn-ea"/>
                        </a:rPr>
                        <a:t>や</a:t>
                      </a:r>
                      <a:r>
                        <a:rPr kumimoji="1" lang="en-US" altLang="ja-JP" sz="1200" dirty="0">
                          <a:solidFill>
                            <a:schemeClr val="tx1"/>
                          </a:solidFill>
                          <a:latin typeface="+mn-ea"/>
                          <a:ea typeface="+mn-ea"/>
                        </a:rPr>
                        <a:t>OpenID Connect</a:t>
                      </a:r>
                      <a:r>
                        <a:rPr kumimoji="1" lang="ja-JP" altLang="en-US" sz="1200" dirty="0">
                          <a:solidFill>
                            <a:schemeClr val="tx1"/>
                          </a:solidFill>
                          <a:latin typeface="+mn-ea"/>
                          <a:ea typeface="+mn-ea"/>
                        </a:rPr>
                        <a:t>の</a:t>
                      </a:r>
                      <a:r>
                        <a:rPr kumimoji="1" lang="en-US" altLang="ja-JP" sz="1200" dirty="0">
                          <a:solidFill>
                            <a:schemeClr val="tx1"/>
                          </a:solidFill>
                          <a:latin typeface="+mn-ea"/>
                          <a:ea typeface="+mn-ea"/>
                        </a:rPr>
                        <a:t>ID Token</a:t>
                      </a:r>
                      <a:r>
                        <a:rPr kumimoji="1" lang="ja-JP" altLang="en-US" sz="1200" dirty="0">
                          <a:solidFill>
                            <a:schemeClr val="tx1"/>
                          </a:solidFill>
                          <a:latin typeface="+mn-ea"/>
                          <a:ea typeface="+mn-ea"/>
                        </a:rPr>
                        <a:t>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kumimoji="1" lang="en-US" altLang="ja-JP" sz="1000">
                          <a:latin typeface="+mn-ea"/>
                          <a:ea typeface="+mn-ea"/>
                          <a:hlinkClick r:id="rId17"/>
                        </a:rPr>
                        <a:t>DID (W3C)</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02998213"/>
                  </a:ext>
                </a:extLst>
              </a:tr>
              <a:tr h="380797">
                <a:tc vMerge="1">
                  <a:txBody>
                    <a:bodyPr/>
                    <a:lstStyle/>
                    <a:p>
                      <a:endParaRPr kumimoji="1" lang="en-US" altLang="ja-JP" sz="12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pPr marL="85725" indent="-85725">
                        <a:buFont typeface="Arial" panose="020B0604020202020204" pitchFamily="34" charset="0"/>
                        <a:buChar char="•"/>
                      </a:pPr>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indent="0">
                        <a:buFont typeface="Arial" panose="020B0604020202020204" pitchFamily="34" charset="0"/>
                        <a:buNone/>
                      </a:pPr>
                      <a:r>
                        <a:rPr kumimoji="1" lang="en-US" altLang="ja-JP" sz="1000" dirty="0">
                          <a:latin typeface="+mn-ea"/>
                          <a:ea typeface="+mn-ea"/>
                          <a:hlinkClick r:id="rId18"/>
                        </a:rPr>
                        <a:t>OpenID Connect id token (OpenID Foundation)</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7480818"/>
                  </a:ext>
                </a:extLst>
              </a:tr>
              <a:tr h="380797">
                <a:tc vMerge="1">
                  <a:txBody>
                    <a:bodyPr/>
                    <a:lstStyle/>
                    <a:p>
                      <a:endParaRPr kumimoji="1" lang="en-US" altLang="ja-JP" sz="12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19"/>
                        </a:rPr>
                        <a:t>Link Secrets(CL-RSA)</a:t>
                      </a:r>
                      <a:endParaRPr kumimoji="1" lang="ja-JP" altLang="en-US"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26968926"/>
                  </a:ext>
                </a:extLst>
              </a:tr>
            </a:tbl>
          </a:graphicData>
        </a:graphic>
      </p:graphicFrame>
      <p:grpSp>
        <p:nvGrpSpPr>
          <p:cNvPr id="11" name="グループ化 10">
            <a:extLst>
              <a:ext uri="{FF2B5EF4-FFF2-40B4-BE49-F238E27FC236}">
                <a16:creationId xmlns:a16="http://schemas.microsoft.com/office/drawing/2014/main" id="{76A592EE-2FE4-AA79-6A1D-752CCC1FEAB6}"/>
              </a:ext>
            </a:extLst>
          </p:cNvPr>
          <p:cNvGrpSpPr/>
          <p:nvPr/>
        </p:nvGrpSpPr>
        <p:grpSpPr>
          <a:xfrm>
            <a:off x="5867005" y="137240"/>
            <a:ext cx="2322246" cy="308639"/>
            <a:chOff x="5867005" y="137240"/>
            <a:chExt cx="2322246" cy="552560"/>
          </a:xfrm>
        </p:grpSpPr>
        <p:sp>
          <p:nvSpPr>
            <p:cNvPr id="12" name="正方形/長方形 11">
              <a:extLst>
                <a:ext uri="{FF2B5EF4-FFF2-40B4-BE49-F238E27FC236}">
                  <a16:creationId xmlns:a16="http://schemas.microsoft.com/office/drawing/2014/main" id="{30FEB9F8-03A3-89D1-7D74-92B24207EE39}"/>
                </a:ext>
              </a:extLst>
            </p:cNvPr>
            <p:cNvSpPr/>
            <p:nvPr/>
          </p:nvSpPr>
          <p:spPr>
            <a:xfrm>
              <a:off x="5867005" y="511582"/>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Public Trust Layer</a:t>
              </a:r>
              <a:endParaRPr lang="ja-JP" altLang="en-US" sz="800" dirty="0">
                <a:solidFill>
                  <a:schemeClr val="tx2"/>
                </a:solidFill>
              </a:endParaRPr>
            </a:p>
          </p:txBody>
        </p:sp>
        <p:sp>
          <p:nvSpPr>
            <p:cNvPr id="13" name="正方形/長方形 12">
              <a:extLst>
                <a:ext uri="{FF2B5EF4-FFF2-40B4-BE49-F238E27FC236}">
                  <a16:creationId xmlns:a16="http://schemas.microsoft.com/office/drawing/2014/main" id="{333E4725-DE3D-15D2-1745-4980E61A9670}"/>
                </a:ext>
              </a:extLst>
            </p:cNvPr>
            <p:cNvSpPr/>
            <p:nvPr/>
          </p:nvSpPr>
          <p:spPr>
            <a:xfrm>
              <a:off x="5867005" y="324411"/>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Agent Layer</a:t>
              </a:r>
              <a:endParaRPr lang="ja-JP" altLang="en-US" sz="800" dirty="0">
                <a:solidFill>
                  <a:schemeClr val="tx2"/>
                </a:solidFill>
              </a:endParaRPr>
            </a:p>
          </p:txBody>
        </p:sp>
        <p:sp>
          <p:nvSpPr>
            <p:cNvPr id="14" name="正方形/長方形 13">
              <a:extLst>
                <a:ext uri="{FF2B5EF4-FFF2-40B4-BE49-F238E27FC236}">
                  <a16:creationId xmlns:a16="http://schemas.microsoft.com/office/drawing/2014/main" id="{42B449F5-2B92-49DC-71AF-5DB83B9057C9}"/>
                </a:ext>
              </a:extLst>
            </p:cNvPr>
            <p:cNvSpPr/>
            <p:nvPr/>
          </p:nvSpPr>
          <p:spPr>
            <a:xfrm>
              <a:off x="5867005" y="137240"/>
              <a:ext cx="1554312" cy="178218"/>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Credential Layer</a:t>
              </a:r>
              <a:endParaRPr lang="ja-JP" altLang="en-US" sz="800" b="1" dirty="0">
                <a:solidFill>
                  <a:schemeClr val="accent1"/>
                </a:solidFill>
              </a:endParaRPr>
            </a:p>
          </p:txBody>
        </p:sp>
        <p:sp>
          <p:nvSpPr>
            <p:cNvPr id="15" name="正方形/長方形 14">
              <a:extLst>
                <a:ext uri="{FF2B5EF4-FFF2-40B4-BE49-F238E27FC236}">
                  <a16:creationId xmlns:a16="http://schemas.microsoft.com/office/drawing/2014/main" id="{E4A36806-3A52-2C3A-1AF1-425AE6226326}"/>
                </a:ext>
              </a:extLst>
            </p:cNvPr>
            <p:cNvSpPr/>
            <p:nvPr/>
          </p:nvSpPr>
          <p:spPr>
            <a:xfrm>
              <a:off x="7424690" y="137240"/>
              <a:ext cx="764561" cy="55256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Vertical / </a:t>
              </a:r>
            </a:p>
            <a:p>
              <a:pPr algn="ctr"/>
              <a:r>
                <a:rPr lang="en-US" altLang="ja-JP" sz="800" dirty="0">
                  <a:solidFill>
                    <a:schemeClr val="tx2"/>
                  </a:solidFill>
                </a:rPr>
                <a:t>Cross-cutting</a:t>
              </a:r>
              <a:endParaRPr lang="ja-JP" altLang="en-US" sz="800" dirty="0">
                <a:solidFill>
                  <a:schemeClr val="tx2"/>
                </a:solidFill>
              </a:endParaRPr>
            </a:p>
          </p:txBody>
        </p:sp>
      </p:grpSp>
      <p:sp>
        <p:nvSpPr>
          <p:cNvPr id="3" name="コンテンツ プレースホルダー 2">
            <a:extLst>
              <a:ext uri="{FF2B5EF4-FFF2-40B4-BE49-F238E27FC236}">
                <a16:creationId xmlns:a16="http://schemas.microsoft.com/office/drawing/2014/main" id="{A046ACEB-D443-23D7-D75C-83266AC68DDD}"/>
              </a:ext>
            </a:extLst>
          </p:cNvPr>
          <p:cNvSpPr>
            <a:spLocks noGrp="1"/>
          </p:cNvSpPr>
          <p:nvPr>
            <p:ph idx="1"/>
          </p:nvPr>
        </p:nvSpPr>
        <p:spPr>
          <a:xfrm>
            <a:off x="273050" y="927444"/>
            <a:ext cx="9359900" cy="215444"/>
          </a:xfrm>
        </p:spPr>
        <p:txBody>
          <a:bodyPr/>
          <a:lstStyle/>
          <a:p>
            <a:r>
              <a:rPr lang="en-US" altLang="ja-JP" dirty="0"/>
              <a:t>(</a:t>
            </a:r>
            <a:r>
              <a:rPr lang="ja-JP" altLang="en-US" dirty="0"/>
              <a:t>続き</a:t>
            </a:r>
            <a:r>
              <a:rPr lang="en-US" altLang="ja-JP" dirty="0"/>
              <a:t>)</a:t>
            </a:r>
            <a:endParaRPr kumimoji="1" lang="en-US" altLang="ja-JP" dirty="0"/>
          </a:p>
        </p:txBody>
      </p:sp>
    </p:spTree>
    <p:extLst>
      <p:ext uri="{BB962C8B-B14F-4D97-AF65-F5344CB8AC3E}">
        <p14:creationId xmlns:p14="http://schemas.microsoft.com/office/powerpoint/2010/main" val="1206835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6D0F08-8E77-B169-805E-E7DEF723D9CB}"/>
              </a:ext>
            </a:extLst>
          </p:cNvPr>
          <p:cNvSpPr>
            <a:spLocks noGrp="1"/>
          </p:cNvSpPr>
          <p:nvPr>
            <p:ph type="title"/>
          </p:nvPr>
        </p:nvSpPr>
        <p:spPr>
          <a:xfrm>
            <a:off x="273050" y="445879"/>
            <a:ext cx="7848302" cy="246221"/>
          </a:xfrm>
        </p:spPr>
        <p:txBody>
          <a:bodyPr/>
          <a:lstStyle/>
          <a:p>
            <a:r>
              <a:rPr lang="en-US" altLang="ja-JP" sz="1600" b="1" dirty="0">
                <a:latin typeface="+mn-ea"/>
                <a:ea typeface="+mn-ea"/>
              </a:rPr>
              <a:t>(</a:t>
            </a:r>
            <a:r>
              <a:rPr lang="ja-JP" altLang="en-US" sz="1600" b="1" dirty="0">
                <a:latin typeface="+mn-ea"/>
                <a:ea typeface="+mn-ea"/>
              </a:rPr>
              <a:t>参考</a:t>
            </a:r>
            <a:r>
              <a:rPr lang="en-US" altLang="ja-JP" sz="1600" b="1" dirty="0">
                <a:latin typeface="+mn-ea"/>
                <a:ea typeface="+mn-ea"/>
              </a:rPr>
              <a:t>)</a:t>
            </a:r>
            <a:r>
              <a:rPr kumimoji="1" lang="en-US" altLang="ja-JP" sz="1600" b="1" dirty="0">
                <a:latin typeface="+mn-ea"/>
                <a:ea typeface="+mn-ea"/>
              </a:rPr>
              <a:t> </a:t>
            </a:r>
            <a:r>
              <a:rPr lang="en-US" altLang="ja-JP" sz="1600" b="1" dirty="0">
                <a:latin typeface="+mn-ea"/>
                <a:ea typeface="+mn-ea"/>
              </a:rPr>
              <a:t>VC</a:t>
            </a:r>
            <a:r>
              <a:rPr lang="ja-JP" altLang="en-US" sz="1600" b="1" dirty="0">
                <a:latin typeface="+mn-ea"/>
                <a:ea typeface="+mn-ea"/>
              </a:rPr>
              <a:t>データモデルの標準策定状況</a:t>
            </a:r>
            <a:r>
              <a:rPr kumimoji="1" lang="ja-JP" altLang="en-US" sz="1600" b="1" dirty="0">
                <a:latin typeface="+mn-ea"/>
                <a:ea typeface="+mn-ea"/>
              </a:rPr>
              <a:t>　</a:t>
            </a:r>
            <a:endParaRPr kumimoji="1" lang="ja-JP" altLang="en-US" dirty="0"/>
          </a:p>
        </p:txBody>
      </p:sp>
      <p:sp>
        <p:nvSpPr>
          <p:cNvPr id="4" name="テキスト プレースホルダー 3">
            <a:extLst>
              <a:ext uri="{FF2B5EF4-FFF2-40B4-BE49-F238E27FC236}">
                <a16:creationId xmlns:a16="http://schemas.microsoft.com/office/drawing/2014/main" id="{6898EFD8-1BA3-F2E5-4847-3864C54EC69D}"/>
              </a:ext>
            </a:extLst>
          </p:cNvPr>
          <p:cNvSpPr>
            <a:spLocks noGrp="1"/>
          </p:cNvSpPr>
          <p:nvPr>
            <p:ph type="body" sz="quarter" idx="10"/>
          </p:nvPr>
        </p:nvSpPr>
        <p:spPr>
          <a:xfrm>
            <a:off x="273050" y="188913"/>
            <a:ext cx="7848600" cy="161583"/>
          </a:xfrm>
        </p:spPr>
        <p:txBody>
          <a:bodyPr/>
          <a:lstStyle/>
          <a:p>
            <a:r>
              <a:rPr kumimoji="1" lang="en-US" altLang="zh-TW" dirty="0"/>
              <a:t>4.</a:t>
            </a:r>
            <a:r>
              <a:rPr lang="zh-TW" altLang="en-US" dirty="0"/>
              <a:t> </a:t>
            </a:r>
            <a:r>
              <a:rPr kumimoji="1" lang="zh-TW" altLang="en-US" dirty="0"/>
              <a:t>規格実態調査</a:t>
            </a:r>
          </a:p>
        </p:txBody>
      </p:sp>
      <p:grpSp>
        <p:nvGrpSpPr>
          <p:cNvPr id="41" name="グループ化 40">
            <a:extLst>
              <a:ext uri="{FF2B5EF4-FFF2-40B4-BE49-F238E27FC236}">
                <a16:creationId xmlns:a16="http://schemas.microsoft.com/office/drawing/2014/main" id="{38630367-A2FB-66AC-49AB-DD1373993E95}"/>
              </a:ext>
            </a:extLst>
          </p:cNvPr>
          <p:cNvGrpSpPr/>
          <p:nvPr/>
        </p:nvGrpSpPr>
        <p:grpSpPr>
          <a:xfrm>
            <a:off x="158313" y="3393540"/>
            <a:ext cx="2340706" cy="1412631"/>
            <a:chOff x="299147" y="2535699"/>
            <a:chExt cx="2340706" cy="1412631"/>
          </a:xfrm>
        </p:grpSpPr>
        <p:sp>
          <p:nvSpPr>
            <p:cNvPr id="48" name="正方形/長方形 47">
              <a:extLst>
                <a:ext uri="{FF2B5EF4-FFF2-40B4-BE49-F238E27FC236}">
                  <a16:creationId xmlns:a16="http://schemas.microsoft.com/office/drawing/2014/main" id="{894BA222-BCDF-39DA-F0C7-6F59C41013C1}"/>
                </a:ext>
              </a:extLst>
            </p:cNvPr>
            <p:cNvSpPr/>
            <p:nvPr/>
          </p:nvSpPr>
          <p:spPr>
            <a:xfrm>
              <a:off x="299147" y="2724330"/>
              <a:ext cx="2340000" cy="1224000"/>
            </a:xfrm>
            <a:prstGeom prst="rect">
              <a:avLst/>
            </a:prstGeom>
            <a:solidFill>
              <a:schemeClr val="accent2">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tIns="252000" rtlCol="0" anchor="t" anchorCtr="0"/>
            <a:lstStyle/>
            <a:p>
              <a:pPr marL="176213" indent="-176213">
                <a:buFont typeface="Arial" panose="020B0604020202020204" pitchFamily="34" charset="0"/>
                <a:buChar char="•"/>
              </a:pPr>
              <a:r>
                <a:rPr kumimoji="1" lang="en-US" altLang="ja-JP" sz="1200" dirty="0"/>
                <a:t>Digital transcript</a:t>
              </a:r>
            </a:p>
            <a:p>
              <a:pPr marL="176213" indent="-176213">
                <a:buFont typeface="Arial" panose="020B0604020202020204" pitchFamily="34" charset="0"/>
                <a:buChar char="•"/>
              </a:pPr>
              <a:r>
                <a:rPr kumimoji="1" lang="en-US" altLang="ja-JP" sz="1200" dirty="0"/>
                <a:t>Taking a test</a:t>
              </a:r>
            </a:p>
            <a:p>
              <a:pPr marL="176213" indent="-176213">
                <a:buFont typeface="Arial" panose="020B0604020202020204" pitchFamily="34" charset="0"/>
                <a:buChar char="•"/>
              </a:pPr>
              <a:r>
                <a:rPr kumimoji="1" lang="en-US" altLang="ja-JP" sz="1200" dirty="0"/>
                <a:t>Transferring schools</a:t>
              </a:r>
            </a:p>
            <a:p>
              <a:pPr marL="176213" indent="-176213">
                <a:buFont typeface="Arial" panose="020B0604020202020204" pitchFamily="34" charset="0"/>
                <a:buChar char="•"/>
              </a:pPr>
              <a:r>
                <a:rPr kumimoji="1" lang="en-US" altLang="ja-JP" sz="1200" dirty="0"/>
                <a:t>Online classes</a:t>
              </a:r>
              <a:endParaRPr kumimoji="1" lang="ja-JP" altLang="en-US" sz="1200" dirty="0"/>
            </a:p>
          </p:txBody>
        </p:sp>
        <p:sp>
          <p:nvSpPr>
            <p:cNvPr id="7" name="四角形: 角を丸くする 6">
              <a:extLst>
                <a:ext uri="{FF2B5EF4-FFF2-40B4-BE49-F238E27FC236}">
                  <a16:creationId xmlns:a16="http://schemas.microsoft.com/office/drawing/2014/main" id="{77F5C915-6277-A5A0-3EEC-A9EEB5056D62}"/>
                </a:ext>
              </a:extLst>
            </p:cNvPr>
            <p:cNvSpPr/>
            <p:nvPr/>
          </p:nvSpPr>
          <p:spPr>
            <a:xfrm>
              <a:off x="299853" y="2535699"/>
              <a:ext cx="2340000" cy="411521"/>
            </a:xfrm>
            <a:prstGeom prst="roundRect">
              <a:avLst>
                <a:gd name="adj" fmla="val 50000"/>
              </a:avLst>
            </a:prstGeom>
            <a:solidFill>
              <a:srgbClr val="86BC25"/>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b="1" dirty="0">
                  <a:solidFill>
                    <a:schemeClr val="bg1"/>
                  </a:solidFill>
                </a:rPr>
                <a:t>　　</a:t>
              </a:r>
              <a:r>
                <a:rPr lang="en-US" altLang="ja-JP" sz="1400" b="1" dirty="0">
                  <a:solidFill>
                    <a:schemeClr val="bg1"/>
                  </a:solidFill>
                </a:rPr>
                <a:t>Education</a:t>
              </a:r>
              <a:endParaRPr kumimoji="1" lang="ja-JP" altLang="en-US" sz="1400" b="1" dirty="0">
                <a:solidFill>
                  <a:schemeClr val="bg1"/>
                </a:solidFill>
              </a:endParaRPr>
            </a:p>
          </p:txBody>
        </p:sp>
        <p:grpSp>
          <p:nvGrpSpPr>
            <p:cNvPr id="8" name="Graphic 4">
              <a:extLst>
                <a:ext uri="{FF2B5EF4-FFF2-40B4-BE49-F238E27FC236}">
                  <a16:creationId xmlns:a16="http://schemas.microsoft.com/office/drawing/2014/main" id="{EFF26F3C-941B-9466-2A19-8EB058438DBE}"/>
                </a:ext>
              </a:extLst>
            </p:cNvPr>
            <p:cNvGrpSpPr>
              <a:grpSpLocks noChangeAspect="1"/>
            </p:cNvGrpSpPr>
            <p:nvPr/>
          </p:nvGrpSpPr>
          <p:grpSpPr bwMode="gray">
            <a:xfrm>
              <a:off x="334047" y="2559160"/>
              <a:ext cx="360001" cy="360000"/>
              <a:chOff x="4045469" y="1403361"/>
              <a:chExt cx="362309" cy="361971"/>
            </a:xfrm>
            <a:solidFill>
              <a:schemeClr val="bg1"/>
            </a:solidFill>
          </p:grpSpPr>
          <p:sp>
            <p:nvSpPr>
              <p:cNvPr id="9" name="Graphic 4">
                <a:extLst>
                  <a:ext uri="{FF2B5EF4-FFF2-40B4-BE49-F238E27FC236}">
                    <a16:creationId xmlns:a16="http://schemas.microsoft.com/office/drawing/2014/main" id="{B7BB9084-DC73-5333-DC32-3D8E01405545}"/>
                  </a:ext>
                </a:extLst>
              </p:cNvPr>
              <p:cNvSpPr/>
              <p:nvPr/>
            </p:nvSpPr>
            <p:spPr bwMode="gray">
              <a:xfrm>
                <a:off x="4193076" y="1562961"/>
                <a:ext cx="90097" cy="90014"/>
              </a:xfrm>
              <a:custGeom>
                <a:avLst/>
                <a:gdLst>
                  <a:gd name="connsiteX0" fmla="*/ 74762 w 90097"/>
                  <a:gd name="connsiteY0" fmla="*/ 0 h 90014"/>
                  <a:gd name="connsiteX1" fmla="*/ 7668 w 90097"/>
                  <a:gd name="connsiteY1" fmla="*/ 67032 h 90014"/>
                  <a:gd name="connsiteX2" fmla="*/ 0 w 90097"/>
                  <a:gd name="connsiteY2" fmla="*/ 90014 h 90014"/>
                  <a:gd name="connsiteX3" fmla="*/ 23004 w 90097"/>
                  <a:gd name="connsiteY3" fmla="*/ 82353 h 90014"/>
                  <a:gd name="connsiteX4" fmla="*/ 90098 w 90097"/>
                  <a:gd name="connsiteY4" fmla="*/ 15322 h 90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97" h="90014">
                    <a:moveTo>
                      <a:pt x="74762" y="0"/>
                    </a:moveTo>
                    <a:lnTo>
                      <a:pt x="7668" y="67032"/>
                    </a:lnTo>
                    <a:lnTo>
                      <a:pt x="0" y="90014"/>
                    </a:lnTo>
                    <a:lnTo>
                      <a:pt x="23004" y="82353"/>
                    </a:lnTo>
                    <a:lnTo>
                      <a:pt x="90098" y="15322"/>
                    </a:ln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10" name="Graphic 4">
                <a:extLst>
                  <a:ext uri="{FF2B5EF4-FFF2-40B4-BE49-F238E27FC236}">
                    <a16:creationId xmlns:a16="http://schemas.microsoft.com/office/drawing/2014/main" id="{092FFD3D-1119-6734-A4D2-E738557BEF47}"/>
                  </a:ext>
                </a:extLst>
              </p:cNvPr>
              <p:cNvSpPr/>
              <p:nvPr/>
            </p:nvSpPr>
            <p:spPr bwMode="gray">
              <a:xfrm rot="-2700000">
                <a:off x="4276240" y="1531046"/>
                <a:ext cx="56230" cy="21705"/>
              </a:xfrm>
              <a:custGeom>
                <a:avLst/>
                <a:gdLst>
                  <a:gd name="connsiteX0" fmla="*/ 0 w 56230"/>
                  <a:gd name="connsiteY0" fmla="*/ 0 h 21705"/>
                  <a:gd name="connsiteX1" fmla="*/ 56231 w 56230"/>
                  <a:gd name="connsiteY1" fmla="*/ 0 h 21705"/>
                  <a:gd name="connsiteX2" fmla="*/ 56231 w 56230"/>
                  <a:gd name="connsiteY2" fmla="*/ 21705 h 21705"/>
                  <a:gd name="connsiteX3" fmla="*/ 0 w 56230"/>
                  <a:gd name="connsiteY3" fmla="*/ 21705 h 21705"/>
                </a:gdLst>
                <a:ahLst/>
                <a:cxnLst>
                  <a:cxn ang="0">
                    <a:pos x="connsiteX0" y="connsiteY0"/>
                  </a:cxn>
                  <a:cxn ang="0">
                    <a:pos x="connsiteX1" y="connsiteY1"/>
                  </a:cxn>
                  <a:cxn ang="0">
                    <a:pos x="connsiteX2" y="connsiteY2"/>
                  </a:cxn>
                  <a:cxn ang="0">
                    <a:pos x="connsiteX3" y="connsiteY3"/>
                  </a:cxn>
                </a:cxnLst>
                <a:rect l="l" t="t" r="r" b="b"/>
                <a:pathLst>
                  <a:path w="56230" h="21705">
                    <a:moveTo>
                      <a:pt x="0" y="0"/>
                    </a:moveTo>
                    <a:lnTo>
                      <a:pt x="56231" y="0"/>
                    </a:lnTo>
                    <a:lnTo>
                      <a:pt x="56231" y="21705"/>
                    </a:lnTo>
                    <a:lnTo>
                      <a:pt x="0" y="21705"/>
                    </a:ln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11" name="Graphic 4">
                <a:extLst>
                  <a:ext uri="{FF2B5EF4-FFF2-40B4-BE49-F238E27FC236}">
                    <a16:creationId xmlns:a16="http://schemas.microsoft.com/office/drawing/2014/main" id="{D5E69B77-920C-C6AF-D199-DFFDCC3D596C}"/>
                  </a:ext>
                </a:extLst>
              </p:cNvPr>
              <p:cNvSpPr/>
              <p:nvPr/>
            </p:nvSpPr>
            <p:spPr bwMode="gray">
              <a:xfrm>
                <a:off x="4045469" y="1403361"/>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05434 w 362309"/>
                  <a:gd name="connsiteY6" fmla="*/ 245145 h 361971"/>
                  <a:gd name="connsiteX7" fmla="*/ 106712 w 362309"/>
                  <a:gd name="connsiteY7" fmla="*/ 254083 h 361971"/>
                  <a:gd name="connsiteX8" fmla="*/ 101600 w 362309"/>
                  <a:gd name="connsiteY8" fmla="*/ 256636 h 361971"/>
                  <a:gd name="connsiteX9" fmla="*/ 97766 w 362309"/>
                  <a:gd name="connsiteY9" fmla="*/ 255359 h 361971"/>
                  <a:gd name="connsiteX10" fmla="*/ 81792 w 362309"/>
                  <a:gd name="connsiteY10" fmla="*/ 229185 h 361971"/>
                  <a:gd name="connsiteX11" fmla="*/ 99044 w 362309"/>
                  <a:gd name="connsiteY11" fmla="*/ 210033 h 361971"/>
                  <a:gd name="connsiteX12" fmla="*/ 123965 w 362309"/>
                  <a:gd name="connsiteY12" fmla="*/ 182582 h 361971"/>
                  <a:gd name="connsiteX13" fmla="*/ 67734 w 362309"/>
                  <a:gd name="connsiteY13" fmla="*/ 170452 h 361971"/>
                  <a:gd name="connsiteX14" fmla="*/ 60704 w 362309"/>
                  <a:gd name="connsiteY14" fmla="*/ 164707 h 361971"/>
                  <a:gd name="connsiteX15" fmla="*/ 66456 w 362309"/>
                  <a:gd name="connsiteY15" fmla="*/ 157684 h 361971"/>
                  <a:gd name="connsiteX16" fmla="*/ 136106 w 362309"/>
                  <a:gd name="connsiteY16" fmla="*/ 179390 h 361971"/>
                  <a:gd name="connsiteX17" fmla="*/ 104156 w 362309"/>
                  <a:gd name="connsiteY17" fmla="*/ 221524 h 361971"/>
                  <a:gd name="connsiteX18" fmla="*/ 94571 w 362309"/>
                  <a:gd name="connsiteY18" fmla="*/ 230462 h 361971"/>
                  <a:gd name="connsiteX19" fmla="*/ 105434 w 362309"/>
                  <a:gd name="connsiteY19" fmla="*/ 245145 h 361971"/>
                  <a:gd name="connsiteX20" fmla="*/ 299688 w 362309"/>
                  <a:gd name="connsiteY20" fmla="*/ 130233 h 361971"/>
                  <a:gd name="connsiteX21" fmla="*/ 251125 w 362309"/>
                  <a:gd name="connsiteY21" fmla="*/ 178752 h 361971"/>
                  <a:gd name="connsiteX22" fmla="*/ 178279 w 362309"/>
                  <a:gd name="connsiteY22" fmla="*/ 252167 h 361971"/>
                  <a:gd name="connsiteX23" fmla="*/ 175723 w 362309"/>
                  <a:gd name="connsiteY23" fmla="*/ 253444 h 361971"/>
                  <a:gd name="connsiteX24" fmla="*/ 139301 w 362309"/>
                  <a:gd name="connsiteY24" fmla="*/ 265574 h 361971"/>
                  <a:gd name="connsiteX25" fmla="*/ 137384 w 362309"/>
                  <a:gd name="connsiteY25" fmla="*/ 265574 h 361971"/>
                  <a:gd name="connsiteX26" fmla="*/ 130355 w 362309"/>
                  <a:gd name="connsiteY26" fmla="*/ 259828 h 361971"/>
                  <a:gd name="connsiteX27" fmla="*/ 130994 w 362309"/>
                  <a:gd name="connsiteY27" fmla="*/ 257275 h 361971"/>
                  <a:gd name="connsiteX28" fmla="*/ 143135 w 362309"/>
                  <a:gd name="connsiteY28" fmla="*/ 220886 h 361971"/>
                  <a:gd name="connsiteX29" fmla="*/ 144413 w 362309"/>
                  <a:gd name="connsiteY29" fmla="*/ 218332 h 361971"/>
                  <a:gd name="connsiteX30" fmla="*/ 217258 w 362309"/>
                  <a:gd name="connsiteY30" fmla="*/ 145555 h 361971"/>
                  <a:gd name="connsiteX31" fmla="*/ 265822 w 362309"/>
                  <a:gd name="connsiteY31" fmla="*/ 97037 h 361971"/>
                  <a:gd name="connsiteX32" fmla="*/ 274767 w 362309"/>
                  <a:gd name="connsiteY32" fmla="*/ 97037 h 361971"/>
                  <a:gd name="connsiteX33" fmla="*/ 299049 w 362309"/>
                  <a:gd name="connsiteY33" fmla="*/ 121296 h 361971"/>
                  <a:gd name="connsiteX34" fmla="*/ 299688 w 362309"/>
                  <a:gd name="connsiteY34" fmla="*/ 130233 h 361971"/>
                  <a:gd name="connsiteX35" fmla="*/ 299688 w 362309"/>
                  <a:gd name="connsiteY35" fmla="*/ 130233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lnTo>
                      <a:pt x="362310" y="181305"/>
                    </a:lnTo>
                    <a:cubicBezTo>
                      <a:pt x="362310" y="81077"/>
                      <a:pt x="281796" y="0"/>
                      <a:pt x="181474" y="0"/>
                    </a:cubicBezTo>
                    <a:close/>
                    <a:moveTo>
                      <a:pt x="105434" y="245145"/>
                    </a:moveTo>
                    <a:cubicBezTo>
                      <a:pt x="108629" y="247060"/>
                      <a:pt x="109268" y="250891"/>
                      <a:pt x="106712" y="254083"/>
                    </a:cubicBezTo>
                    <a:cubicBezTo>
                      <a:pt x="105434" y="255998"/>
                      <a:pt x="103517" y="256636"/>
                      <a:pt x="101600" y="256636"/>
                    </a:cubicBezTo>
                    <a:cubicBezTo>
                      <a:pt x="100322" y="256636"/>
                      <a:pt x="99044" y="255998"/>
                      <a:pt x="97766" y="255359"/>
                    </a:cubicBezTo>
                    <a:cubicBezTo>
                      <a:pt x="95849" y="254083"/>
                      <a:pt x="80513" y="243230"/>
                      <a:pt x="81792" y="229185"/>
                    </a:cubicBezTo>
                    <a:cubicBezTo>
                      <a:pt x="82430" y="221524"/>
                      <a:pt x="88181" y="214502"/>
                      <a:pt x="99044" y="210033"/>
                    </a:cubicBezTo>
                    <a:cubicBezTo>
                      <a:pt x="117575" y="201734"/>
                      <a:pt x="125882" y="189604"/>
                      <a:pt x="123965" y="182582"/>
                    </a:cubicBezTo>
                    <a:cubicBezTo>
                      <a:pt x="122048" y="175560"/>
                      <a:pt x="106073" y="167260"/>
                      <a:pt x="67734" y="170452"/>
                    </a:cubicBezTo>
                    <a:cubicBezTo>
                      <a:pt x="63899" y="170452"/>
                      <a:pt x="61344" y="167899"/>
                      <a:pt x="60704" y="164707"/>
                    </a:cubicBezTo>
                    <a:cubicBezTo>
                      <a:pt x="60704" y="160876"/>
                      <a:pt x="63261" y="158323"/>
                      <a:pt x="66456" y="157684"/>
                    </a:cubicBezTo>
                    <a:cubicBezTo>
                      <a:pt x="120770" y="152577"/>
                      <a:pt x="132911" y="169176"/>
                      <a:pt x="136106" y="179390"/>
                    </a:cubicBezTo>
                    <a:cubicBezTo>
                      <a:pt x="139940" y="194073"/>
                      <a:pt x="127160" y="211310"/>
                      <a:pt x="104156" y="221524"/>
                    </a:cubicBezTo>
                    <a:cubicBezTo>
                      <a:pt x="100961" y="222801"/>
                      <a:pt x="95210" y="226631"/>
                      <a:pt x="94571" y="230462"/>
                    </a:cubicBezTo>
                    <a:cubicBezTo>
                      <a:pt x="94571" y="235569"/>
                      <a:pt x="102239" y="242591"/>
                      <a:pt x="105434" y="245145"/>
                    </a:cubicBezTo>
                    <a:close/>
                    <a:moveTo>
                      <a:pt x="299688" y="130233"/>
                    </a:moveTo>
                    <a:lnTo>
                      <a:pt x="251125" y="178752"/>
                    </a:lnTo>
                    <a:lnTo>
                      <a:pt x="178279" y="252167"/>
                    </a:lnTo>
                    <a:cubicBezTo>
                      <a:pt x="177641" y="252806"/>
                      <a:pt x="177001" y="253444"/>
                      <a:pt x="175723" y="253444"/>
                    </a:cubicBezTo>
                    <a:lnTo>
                      <a:pt x="139301" y="265574"/>
                    </a:lnTo>
                    <a:cubicBezTo>
                      <a:pt x="138662" y="265574"/>
                      <a:pt x="138023" y="265574"/>
                      <a:pt x="137384" y="265574"/>
                    </a:cubicBezTo>
                    <a:cubicBezTo>
                      <a:pt x="133550" y="265574"/>
                      <a:pt x="130994" y="263020"/>
                      <a:pt x="130355" y="259828"/>
                    </a:cubicBezTo>
                    <a:cubicBezTo>
                      <a:pt x="130355" y="259190"/>
                      <a:pt x="130355" y="257913"/>
                      <a:pt x="130994" y="257275"/>
                    </a:cubicBezTo>
                    <a:lnTo>
                      <a:pt x="143135" y="220886"/>
                    </a:lnTo>
                    <a:cubicBezTo>
                      <a:pt x="143135" y="220247"/>
                      <a:pt x="143774" y="218971"/>
                      <a:pt x="144413" y="218332"/>
                    </a:cubicBezTo>
                    <a:lnTo>
                      <a:pt x="217258" y="145555"/>
                    </a:lnTo>
                    <a:lnTo>
                      <a:pt x="265822" y="97037"/>
                    </a:lnTo>
                    <a:cubicBezTo>
                      <a:pt x="268377" y="94483"/>
                      <a:pt x="272212" y="94483"/>
                      <a:pt x="274767" y="97037"/>
                    </a:cubicBezTo>
                    <a:lnTo>
                      <a:pt x="299049" y="121296"/>
                    </a:lnTo>
                    <a:cubicBezTo>
                      <a:pt x="302244" y="123849"/>
                      <a:pt x="302244" y="128318"/>
                      <a:pt x="299688" y="130233"/>
                    </a:cubicBezTo>
                    <a:lnTo>
                      <a:pt x="299688" y="130233"/>
                    </a:ln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grpSp>
      </p:grpSp>
      <p:grpSp>
        <p:nvGrpSpPr>
          <p:cNvPr id="40" name="グループ化 39">
            <a:extLst>
              <a:ext uri="{FF2B5EF4-FFF2-40B4-BE49-F238E27FC236}">
                <a16:creationId xmlns:a16="http://schemas.microsoft.com/office/drawing/2014/main" id="{0C05A852-23C3-CCD2-1F01-B087ECD80A00}"/>
              </a:ext>
            </a:extLst>
          </p:cNvPr>
          <p:cNvGrpSpPr/>
          <p:nvPr/>
        </p:nvGrpSpPr>
        <p:grpSpPr>
          <a:xfrm>
            <a:off x="7405996" y="3381749"/>
            <a:ext cx="2340706" cy="1441633"/>
            <a:chOff x="7411258" y="2562572"/>
            <a:chExt cx="2340706" cy="1441633"/>
          </a:xfrm>
        </p:grpSpPr>
        <p:sp>
          <p:nvSpPr>
            <p:cNvPr id="59" name="正方形/長方形 58">
              <a:extLst>
                <a:ext uri="{FF2B5EF4-FFF2-40B4-BE49-F238E27FC236}">
                  <a16:creationId xmlns:a16="http://schemas.microsoft.com/office/drawing/2014/main" id="{71555A42-5F41-9754-D842-3766782C3697}"/>
                </a:ext>
              </a:extLst>
            </p:cNvPr>
            <p:cNvSpPr/>
            <p:nvPr/>
          </p:nvSpPr>
          <p:spPr>
            <a:xfrm>
              <a:off x="7411258" y="2780205"/>
              <a:ext cx="2340000" cy="1224000"/>
            </a:xfrm>
            <a:prstGeom prst="rect">
              <a:avLst/>
            </a:prstGeom>
            <a:solidFill>
              <a:schemeClr val="accent4">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tIns="252000" rtlCol="0" anchor="t" anchorCtr="0"/>
            <a:lstStyle/>
            <a:p>
              <a:pPr marL="176213" indent="-176213">
                <a:buFont typeface="Arial" panose="020B0604020202020204" pitchFamily="34" charset="0"/>
                <a:buChar char="•"/>
              </a:pPr>
              <a:r>
                <a:rPr lang="en-US" altLang="ja-JP" sz="1200" dirty="0"/>
                <a:t>Prescribing</a:t>
              </a:r>
            </a:p>
            <a:p>
              <a:pPr marL="176213" indent="-176213">
                <a:buFont typeface="Arial" panose="020B0604020202020204" pitchFamily="34" charset="0"/>
                <a:buChar char="•"/>
              </a:pPr>
              <a:r>
                <a:rPr lang="en-US" altLang="ja-JP" sz="1200" dirty="0"/>
                <a:t>Online pharmacy</a:t>
              </a:r>
            </a:p>
            <a:p>
              <a:pPr marL="176213" indent="-176213">
                <a:buFont typeface="Arial" panose="020B0604020202020204" pitchFamily="34" charset="0"/>
                <a:buChar char="•"/>
              </a:pPr>
              <a:r>
                <a:rPr lang="en-US" altLang="ja-JP" sz="1200" dirty="0"/>
                <a:t>Insurance claim</a:t>
              </a:r>
            </a:p>
            <a:p>
              <a:pPr marL="176213" indent="-176213">
                <a:buFont typeface="Arial" panose="020B0604020202020204" pitchFamily="34" charset="0"/>
                <a:buChar char="•"/>
              </a:pPr>
              <a:r>
                <a:rPr lang="en-US" altLang="ja-JP" sz="1200" dirty="0"/>
                <a:t>Traveling illness</a:t>
              </a:r>
            </a:p>
            <a:p>
              <a:pPr marL="176213" indent="-176213">
                <a:buFont typeface="Arial" panose="020B0604020202020204" pitchFamily="34" charset="0"/>
                <a:buChar char="•"/>
              </a:pPr>
              <a:r>
                <a:rPr lang="en-US" altLang="ja-JP" sz="1200" dirty="0"/>
                <a:t>Proving Legal Disability Status</a:t>
              </a:r>
            </a:p>
          </p:txBody>
        </p:sp>
        <p:sp>
          <p:nvSpPr>
            <p:cNvPr id="43" name="四角形: 角を丸くする 42">
              <a:extLst>
                <a:ext uri="{FF2B5EF4-FFF2-40B4-BE49-F238E27FC236}">
                  <a16:creationId xmlns:a16="http://schemas.microsoft.com/office/drawing/2014/main" id="{3A1C223A-CB83-D88F-1579-A6975240D7B8}"/>
                </a:ext>
              </a:extLst>
            </p:cNvPr>
            <p:cNvSpPr/>
            <p:nvPr/>
          </p:nvSpPr>
          <p:spPr>
            <a:xfrm>
              <a:off x="7411964" y="2562572"/>
              <a:ext cx="2340000" cy="411521"/>
            </a:xfrm>
            <a:prstGeom prst="roundRect">
              <a:avLst>
                <a:gd name="adj" fmla="val 50000"/>
              </a:avLst>
            </a:prstGeom>
            <a:solidFill>
              <a:schemeClr val="accent4"/>
            </a:solidFill>
            <a:ln w="12700">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b="1" dirty="0">
                  <a:solidFill>
                    <a:schemeClr val="bg1"/>
                  </a:solidFill>
                </a:rPr>
                <a:t>　　</a:t>
              </a:r>
              <a:r>
                <a:rPr lang="en-US" altLang="ja-JP" sz="1400" b="1" dirty="0">
                  <a:solidFill>
                    <a:schemeClr val="bg1"/>
                  </a:solidFill>
                </a:rPr>
                <a:t>Healthcare</a:t>
              </a:r>
              <a:endParaRPr kumimoji="1" lang="ja-JP" altLang="en-US" sz="1400" b="1" dirty="0">
                <a:solidFill>
                  <a:schemeClr val="bg1"/>
                </a:solidFill>
              </a:endParaRPr>
            </a:p>
          </p:txBody>
        </p:sp>
        <p:grpSp>
          <p:nvGrpSpPr>
            <p:cNvPr id="51" name="Graphic 4">
              <a:extLst>
                <a:ext uri="{FF2B5EF4-FFF2-40B4-BE49-F238E27FC236}">
                  <a16:creationId xmlns:a16="http://schemas.microsoft.com/office/drawing/2014/main" id="{831FB7AA-FE28-A215-09D9-FA43CD4F0FC3}"/>
                </a:ext>
              </a:extLst>
            </p:cNvPr>
            <p:cNvGrpSpPr>
              <a:grpSpLocks noChangeAspect="1"/>
            </p:cNvGrpSpPr>
            <p:nvPr/>
          </p:nvGrpSpPr>
          <p:grpSpPr bwMode="gray">
            <a:xfrm>
              <a:off x="7446217" y="2588327"/>
              <a:ext cx="360005" cy="359998"/>
              <a:chOff x="5099808" y="918179"/>
              <a:chExt cx="361670" cy="361333"/>
            </a:xfrm>
            <a:solidFill>
              <a:schemeClr val="bg1"/>
            </a:solidFill>
          </p:grpSpPr>
          <p:sp>
            <p:nvSpPr>
              <p:cNvPr id="52" name="Graphic 4">
                <a:extLst>
                  <a:ext uri="{FF2B5EF4-FFF2-40B4-BE49-F238E27FC236}">
                    <a16:creationId xmlns:a16="http://schemas.microsoft.com/office/drawing/2014/main" id="{E7C5D1D4-8038-BF9F-12B8-283EFEEFACB4}"/>
                  </a:ext>
                </a:extLst>
              </p:cNvPr>
              <p:cNvSpPr/>
              <p:nvPr/>
            </p:nvSpPr>
            <p:spPr bwMode="gray">
              <a:xfrm>
                <a:off x="5231441" y="1008831"/>
                <a:ext cx="14980" cy="15321"/>
              </a:xfrm>
              <a:custGeom>
                <a:avLst/>
                <a:gdLst>
                  <a:gd name="connsiteX0" fmla="*/ 14697 w 14980"/>
                  <a:gd name="connsiteY0" fmla="*/ 14683 h 15321"/>
                  <a:gd name="connsiteX1" fmla="*/ 14697 w 14980"/>
                  <a:gd name="connsiteY1" fmla="*/ 638 h 15321"/>
                  <a:gd name="connsiteX2" fmla="*/ 14697 w 14980"/>
                  <a:gd name="connsiteY2" fmla="*/ 0 h 15321"/>
                  <a:gd name="connsiteX3" fmla="*/ 639 w 14980"/>
                  <a:gd name="connsiteY3" fmla="*/ 0 h 15321"/>
                  <a:gd name="connsiteX4" fmla="*/ 0 w 14980"/>
                  <a:gd name="connsiteY4" fmla="*/ 7661 h 15321"/>
                  <a:gd name="connsiteX5" fmla="*/ 0 w 14980"/>
                  <a:gd name="connsiteY5" fmla="*/ 15322 h 15321"/>
                  <a:gd name="connsiteX6" fmla="*/ 14697 w 14980"/>
                  <a:gd name="connsiteY6" fmla="*/ 14683 h 15321"/>
                  <a:gd name="connsiteX7" fmla="*/ 14697 w 14980"/>
                  <a:gd name="connsiteY7" fmla="*/ 14683 h 1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0" h="15321">
                    <a:moveTo>
                      <a:pt x="14697" y="14683"/>
                    </a:moveTo>
                    <a:lnTo>
                      <a:pt x="14697" y="638"/>
                    </a:lnTo>
                    <a:cubicBezTo>
                      <a:pt x="14697" y="638"/>
                      <a:pt x="14697" y="0"/>
                      <a:pt x="14697" y="0"/>
                    </a:cubicBezTo>
                    <a:lnTo>
                      <a:pt x="639" y="0"/>
                    </a:lnTo>
                    <a:cubicBezTo>
                      <a:pt x="0" y="638"/>
                      <a:pt x="0" y="2554"/>
                      <a:pt x="0" y="7661"/>
                    </a:cubicBezTo>
                    <a:lnTo>
                      <a:pt x="0" y="15322"/>
                    </a:lnTo>
                    <a:lnTo>
                      <a:pt x="14697" y="14683"/>
                    </a:lnTo>
                    <a:cubicBezTo>
                      <a:pt x="15336" y="14683"/>
                      <a:pt x="14697" y="14683"/>
                      <a:pt x="14697" y="14683"/>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53" name="Graphic 4">
                <a:extLst>
                  <a:ext uri="{FF2B5EF4-FFF2-40B4-BE49-F238E27FC236}">
                    <a16:creationId xmlns:a16="http://schemas.microsoft.com/office/drawing/2014/main" id="{FCCD4F64-297F-3EF0-163A-34D7809637C7}"/>
                  </a:ext>
                </a:extLst>
              </p:cNvPr>
              <p:cNvSpPr/>
              <p:nvPr/>
            </p:nvSpPr>
            <p:spPr bwMode="gray">
              <a:xfrm>
                <a:off x="5258918" y="1008193"/>
                <a:ext cx="14696" cy="15321"/>
              </a:xfrm>
              <a:custGeom>
                <a:avLst/>
                <a:gdLst>
                  <a:gd name="connsiteX0" fmla="*/ 0 w 14696"/>
                  <a:gd name="connsiteY0" fmla="*/ 15322 h 15321"/>
                  <a:gd name="connsiteX1" fmla="*/ 14697 w 14696"/>
                  <a:gd name="connsiteY1" fmla="*/ 15322 h 15321"/>
                  <a:gd name="connsiteX2" fmla="*/ 14697 w 14696"/>
                  <a:gd name="connsiteY2" fmla="*/ 14683 h 15321"/>
                  <a:gd name="connsiteX3" fmla="*/ 14697 w 14696"/>
                  <a:gd name="connsiteY3" fmla="*/ 638 h 15321"/>
                  <a:gd name="connsiteX4" fmla="*/ 14697 w 14696"/>
                  <a:gd name="connsiteY4" fmla="*/ 0 h 15321"/>
                  <a:gd name="connsiteX5" fmla="*/ 0 w 14696"/>
                  <a:gd name="connsiteY5" fmla="*/ 0 h 15321"/>
                  <a:gd name="connsiteX6" fmla="*/ 0 w 14696"/>
                  <a:gd name="connsiteY6" fmla="*/ 638 h 15321"/>
                  <a:gd name="connsiteX7" fmla="*/ 0 w 14696"/>
                  <a:gd name="connsiteY7" fmla="*/ 15322 h 15321"/>
                  <a:gd name="connsiteX8" fmla="*/ 0 w 14696"/>
                  <a:gd name="connsiteY8" fmla="*/ 15322 h 1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96" h="15321">
                    <a:moveTo>
                      <a:pt x="0" y="15322"/>
                    </a:moveTo>
                    <a:lnTo>
                      <a:pt x="14697" y="15322"/>
                    </a:lnTo>
                    <a:cubicBezTo>
                      <a:pt x="14697" y="15322"/>
                      <a:pt x="14697" y="15322"/>
                      <a:pt x="14697" y="14683"/>
                    </a:cubicBezTo>
                    <a:lnTo>
                      <a:pt x="14697" y="638"/>
                    </a:lnTo>
                    <a:cubicBezTo>
                      <a:pt x="14697" y="638"/>
                      <a:pt x="14697" y="0"/>
                      <a:pt x="14697" y="0"/>
                    </a:cubicBezTo>
                    <a:lnTo>
                      <a:pt x="0" y="0"/>
                    </a:lnTo>
                    <a:cubicBezTo>
                      <a:pt x="0" y="0"/>
                      <a:pt x="0" y="0"/>
                      <a:pt x="0" y="638"/>
                    </a:cubicBezTo>
                    <a:lnTo>
                      <a:pt x="0" y="15322"/>
                    </a:lnTo>
                    <a:cubicBezTo>
                      <a:pt x="0" y="15322"/>
                      <a:pt x="0" y="15322"/>
                      <a:pt x="0" y="15322"/>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54" name="Graphic 4">
                <a:extLst>
                  <a:ext uri="{FF2B5EF4-FFF2-40B4-BE49-F238E27FC236}">
                    <a16:creationId xmlns:a16="http://schemas.microsoft.com/office/drawing/2014/main" id="{DD47DE38-0179-8380-D8D1-41937B5AE60B}"/>
                  </a:ext>
                </a:extLst>
              </p:cNvPr>
              <p:cNvSpPr/>
              <p:nvPr/>
            </p:nvSpPr>
            <p:spPr bwMode="gray">
              <a:xfrm>
                <a:off x="5314510" y="1008831"/>
                <a:ext cx="14696" cy="15321"/>
              </a:xfrm>
              <a:custGeom>
                <a:avLst/>
                <a:gdLst>
                  <a:gd name="connsiteX0" fmla="*/ 0 w 14696"/>
                  <a:gd name="connsiteY0" fmla="*/ 638 h 15321"/>
                  <a:gd name="connsiteX1" fmla="*/ 0 w 14696"/>
                  <a:gd name="connsiteY1" fmla="*/ 14683 h 15321"/>
                  <a:gd name="connsiteX2" fmla="*/ 0 w 14696"/>
                  <a:gd name="connsiteY2" fmla="*/ 15322 h 15321"/>
                  <a:gd name="connsiteX3" fmla="*/ 14697 w 14696"/>
                  <a:gd name="connsiteY3" fmla="*/ 15322 h 15321"/>
                  <a:gd name="connsiteX4" fmla="*/ 14697 w 14696"/>
                  <a:gd name="connsiteY4" fmla="*/ 7661 h 15321"/>
                  <a:gd name="connsiteX5" fmla="*/ 14058 w 14696"/>
                  <a:gd name="connsiteY5" fmla="*/ 0 h 15321"/>
                  <a:gd name="connsiteX6" fmla="*/ 0 w 14696"/>
                  <a:gd name="connsiteY6" fmla="*/ 638 h 15321"/>
                  <a:gd name="connsiteX7" fmla="*/ 0 w 14696"/>
                  <a:gd name="connsiteY7" fmla="*/ 638 h 1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96" h="15321">
                    <a:moveTo>
                      <a:pt x="0" y="638"/>
                    </a:moveTo>
                    <a:lnTo>
                      <a:pt x="0" y="14683"/>
                    </a:lnTo>
                    <a:cubicBezTo>
                      <a:pt x="0" y="14683"/>
                      <a:pt x="0" y="15322"/>
                      <a:pt x="0" y="15322"/>
                    </a:cubicBezTo>
                    <a:lnTo>
                      <a:pt x="14697" y="15322"/>
                    </a:lnTo>
                    <a:lnTo>
                      <a:pt x="14697" y="7661"/>
                    </a:lnTo>
                    <a:cubicBezTo>
                      <a:pt x="14697" y="3192"/>
                      <a:pt x="14058" y="1277"/>
                      <a:pt x="14058" y="0"/>
                    </a:cubicBezTo>
                    <a:lnTo>
                      <a:pt x="0" y="638"/>
                    </a:lnTo>
                    <a:cubicBezTo>
                      <a:pt x="0" y="638"/>
                      <a:pt x="0" y="638"/>
                      <a:pt x="0" y="638"/>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55" name="Graphic 4">
                <a:extLst>
                  <a:ext uri="{FF2B5EF4-FFF2-40B4-BE49-F238E27FC236}">
                    <a16:creationId xmlns:a16="http://schemas.microsoft.com/office/drawing/2014/main" id="{0C7490D1-F1EC-1F52-AF0E-17C05C5CB92A}"/>
                  </a:ext>
                </a:extLst>
              </p:cNvPr>
              <p:cNvSpPr/>
              <p:nvPr/>
            </p:nvSpPr>
            <p:spPr bwMode="gray">
              <a:xfrm>
                <a:off x="5286394" y="1008193"/>
                <a:ext cx="14696" cy="15321"/>
              </a:xfrm>
              <a:custGeom>
                <a:avLst/>
                <a:gdLst>
                  <a:gd name="connsiteX0" fmla="*/ 0 w 14696"/>
                  <a:gd name="connsiteY0" fmla="*/ 15322 h 15321"/>
                  <a:gd name="connsiteX1" fmla="*/ 14697 w 14696"/>
                  <a:gd name="connsiteY1" fmla="*/ 15322 h 15321"/>
                  <a:gd name="connsiteX2" fmla="*/ 14697 w 14696"/>
                  <a:gd name="connsiteY2" fmla="*/ 14683 h 15321"/>
                  <a:gd name="connsiteX3" fmla="*/ 14697 w 14696"/>
                  <a:gd name="connsiteY3" fmla="*/ 638 h 15321"/>
                  <a:gd name="connsiteX4" fmla="*/ 14697 w 14696"/>
                  <a:gd name="connsiteY4" fmla="*/ 0 h 15321"/>
                  <a:gd name="connsiteX5" fmla="*/ 0 w 14696"/>
                  <a:gd name="connsiteY5" fmla="*/ 0 h 15321"/>
                  <a:gd name="connsiteX6" fmla="*/ 0 w 14696"/>
                  <a:gd name="connsiteY6" fmla="*/ 638 h 15321"/>
                  <a:gd name="connsiteX7" fmla="*/ 0 w 14696"/>
                  <a:gd name="connsiteY7" fmla="*/ 15322 h 15321"/>
                  <a:gd name="connsiteX8" fmla="*/ 0 w 14696"/>
                  <a:gd name="connsiteY8" fmla="*/ 15322 h 1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96" h="15321">
                    <a:moveTo>
                      <a:pt x="0" y="15322"/>
                    </a:moveTo>
                    <a:lnTo>
                      <a:pt x="14697" y="15322"/>
                    </a:lnTo>
                    <a:cubicBezTo>
                      <a:pt x="14697" y="15322"/>
                      <a:pt x="14697" y="15322"/>
                      <a:pt x="14697" y="14683"/>
                    </a:cubicBezTo>
                    <a:lnTo>
                      <a:pt x="14697" y="638"/>
                    </a:lnTo>
                    <a:cubicBezTo>
                      <a:pt x="14697" y="638"/>
                      <a:pt x="14697" y="0"/>
                      <a:pt x="14697" y="0"/>
                    </a:cubicBezTo>
                    <a:lnTo>
                      <a:pt x="0" y="0"/>
                    </a:lnTo>
                    <a:cubicBezTo>
                      <a:pt x="0" y="0"/>
                      <a:pt x="0" y="0"/>
                      <a:pt x="0" y="638"/>
                    </a:cubicBezTo>
                    <a:lnTo>
                      <a:pt x="0" y="15322"/>
                    </a:lnTo>
                    <a:cubicBezTo>
                      <a:pt x="639" y="15322"/>
                      <a:pt x="0" y="15322"/>
                      <a:pt x="0" y="15322"/>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56" name="Graphic 4">
                <a:extLst>
                  <a:ext uri="{FF2B5EF4-FFF2-40B4-BE49-F238E27FC236}">
                    <a16:creationId xmlns:a16="http://schemas.microsoft.com/office/drawing/2014/main" id="{635B02F1-C1C3-4AED-282F-4E0595912F63}"/>
                  </a:ext>
                </a:extLst>
              </p:cNvPr>
              <p:cNvSpPr/>
              <p:nvPr/>
            </p:nvSpPr>
            <p:spPr bwMode="gray">
              <a:xfrm>
                <a:off x="5251889" y="1035644"/>
                <a:ext cx="56231" cy="15321"/>
              </a:xfrm>
              <a:custGeom>
                <a:avLst/>
                <a:gdLst>
                  <a:gd name="connsiteX0" fmla="*/ 0 w 56231"/>
                  <a:gd name="connsiteY0" fmla="*/ 15322 h 15321"/>
                  <a:gd name="connsiteX1" fmla="*/ 56231 w 56231"/>
                  <a:gd name="connsiteY1" fmla="*/ 15322 h 15321"/>
                  <a:gd name="connsiteX2" fmla="*/ 56231 w 56231"/>
                  <a:gd name="connsiteY2" fmla="*/ 14683 h 15321"/>
                  <a:gd name="connsiteX3" fmla="*/ 56231 w 56231"/>
                  <a:gd name="connsiteY3" fmla="*/ 638 h 15321"/>
                  <a:gd name="connsiteX4" fmla="*/ 56231 w 56231"/>
                  <a:gd name="connsiteY4" fmla="*/ 0 h 15321"/>
                  <a:gd name="connsiteX5" fmla="*/ 0 w 56231"/>
                  <a:gd name="connsiteY5" fmla="*/ 0 h 15321"/>
                  <a:gd name="connsiteX6" fmla="*/ 0 w 56231"/>
                  <a:gd name="connsiteY6" fmla="*/ 638 h 15321"/>
                  <a:gd name="connsiteX7" fmla="*/ 0 w 56231"/>
                  <a:gd name="connsiteY7" fmla="*/ 15322 h 15321"/>
                  <a:gd name="connsiteX8" fmla="*/ 0 w 56231"/>
                  <a:gd name="connsiteY8" fmla="*/ 15322 h 1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231" h="15321">
                    <a:moveTo>
                      <a:pt x="0" y="15322"/>
                    </a:moveTo>
                    <a:lnTo>
                      <a:pt x="56231" y="15322"/>
                    </a:lnTo>
                    <a:cubicBezTo>
                      <a:pt x="56231" y="15322"/>
                      <a:pt x="56231" y="15322"/>
                      <a:pt x="56231" y="14683"/>
                    </a:cubicBezTo>
                    <a:lnTo>
                      <a:pt x="56231" y="638"/>
                    </a:lnTo>
                    <a:cubicBezTo>
                      <a:pt x="56231" y="638"/>
                      <a:pt x="56231" y="0"/>
                      <a:pt x="56231" y="0"/>
                    </a:cubicBezTo>
                    <a:lnTo>
                      <a:pt x="0" y="0"/>
                    </a:lnTo>
                    <a:cubicBezTo>
                      <a:pt x="0" y="0"/>
                      <a:pt x="0" y="0"/>
                      <a:pt x="0" y="638"/>
                    </a:cubicBezTo>
                    <a:lnTo>
                      <a:pt x="0" y="15322"/>
                    </a:lnTo>
                    <a:cubicBezTo>
                      <a:pt x="639" y="15322"/>
                      <a:pt x="639" y="15322"/>
                      <a:pt x="0" y="15322"/>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57" name="Graphic 4">
                <a:extLst>
                  <a:ext uri="{FF2B5EF4-FFF2-40B4-BE49-F238E27FC236}">
                    <a16:creationId xmlns:a16="http://schemas.microsoft.com/office/drawing/2014/main" id="{4D13C19B-631A-8AF0-E8B3-7964D4BFFD90}"/>
                  </a:ext>
                </a:extLst>
              </p:cNvPr>
              <p:cNvSpPr/>
              <p:nvPr/>
            </p:nvSpPr>
            <p:spPr bwMode="gray">
              <a:xfrm>
                <a:off x="5099808" y="918179"/>
                <a:ext cx="361670" cy="361333"/>
              </a:xfrm>
              <a:custGeom>
                <a:avLst/>
                <a:gdLst>
                  <a:gd name="connsiteX0" fmla="*/ 255597 w 361670"/>
                  <a:gd name="connsiteY0" fmla="*/ 264297 h 361333"/>
                  <a:gd name="connsiteX1" fmla="*/ 236428 w 361670"/>
                  <a:gd name="connsiteY1" fmla="*/ 283449 h 361333"/>
                  <a:gd name="connsiteX2" fmla="*/ 123965 w 361670"/>
                  <a:gd name="connsiteY2" fmla="*/ 283449 h 361333"/>
                  <a:gd name="connsiteX3" fmla="*/ 104795 w 361670"/>
                  <a:gd name="connsiteY3" fmla="*/ 264297 h 361333"/>
                  <a:gd name="connsiteX4" fmla="*/ 104795 w 361670"/>
                  <a:gd name="connsiteY4" fmla="*/ 151939 h 361333"/>
                  <a:gd name="connsiteX5" fmla="*/ 123965 w 361670"/>
                  <a:gd name="connsiteY5" fmla="*/ 132787 h 361333"/>
                  <a:gd name="connsiteX6" fmla="*/ 139301 w 361670"/>
                  <a:gd name="connsiteY6" fmla="*/ 132787 h 361333"/>
                  <a:gd name="connsiteX7" fmla="*/ 139301 w 361670"/>
                  <a:gd name="connsiteY7" fmla="*/ 132148 h 361333"/>
                  <a:gd name="connsiteX8" fmla="*/ 139301 w 361670"/>
                  <a:gd name="connsiteY8" fmla="*/ 118104 h 361333"/>
                  <a:gd name="connsiteX9" fmla="*/ 139301 w 361670"/>
                  <a:gd name="connsiteY9" fmla="*/ 117465 h 361333"/>
                  <a:gd name="connsiteX10" fmla="*/ 125243 w 361670"/>
                  <a:gd name="connsiteY10" fmla="*/ 117465 h 361333"/>
                  <a:gd name="connsiteX11" fmla="*/ 118853 w 361670"/>
                  <a:gd name="connsiteY11" fmla="*/ 111081 h 361333"/>
                  <a:gd name="connsiteX12" fmla="*/ 118853 w 361670"/>
                  <a:gd name="connsiteY12" fmla="*/ 97037 h 361333"/>
                  <a:gd name="connsiteX13" fmla="*/ 132272 w 361670"/>
                  <a:gd name="connsiteY13" fmla="*/ 76608 h 361333"/>
                  <a:gd name="connsiteX14" fmla="*/ 228760 w 361670"/>
                  <a:gd name="connsiteY14" fmla="*/ 76608 h 361333"/>
                  <a:gd name="connsiteX15" fmla="*/ 242179 w 361670"/>
                  <a:gd name="connsiteY15" fmla="*/ 97037 h 361333"/>
                  <a:gd name="connsiteX16" fmla="*/ 242179 w 361670"/>
                  <a:gd name="connsiteY16" fmla="*/ 111081 h 361333"/>
                  <a:gd name="connsiteX17" fmla="*/ 235789 w 361670"/>
                  <a:gd name="connsiteY17" fmla="*/ 117465 h 361333"/>
                  <a:gd name="connsiteX18" fmla="*/ 221731 w 361670"/>
                  <a:gd name="connsiteY18" fmla="*/ 117465 h 361333"/>
                  <a:gd name="connsiteX19" fmla="*/ 221731 w 361670"/>
                  <a:gd name="connsiteY19" fmla="*/ 118104 h 361333"/>
                  <a:gd name="connsiteX20" fmla="*/ 221731 w 361670"/>
                  <a:gd name="connsiteY20" fmla="*/ 132148 h 361333"/>
                  <a:gd name="connsiteX21" fmla="*/ 221731 w 361670"/>
                  <a:gd name="connsiteY21" fmla="*/ 132787 h 361333"/>
                  <a:gd name="connsiteX22" fmla="*/ 237067 w 361670"/>
                  <a:gd name="connsiteY22" fmla="*/ 132787 h 361333"/>
                  <a:gd name="connsiteX23" fmla="*/ 256237 w 361670"/>
                  <a:gd name="connsiteY23" fmla="*/ 151939 h 361333"/>
                  <a:gd name="connsiteX24" fmla="*/ 256237 w 361670"/>
                  <a:gd name="connsiteY24" fmla="*/ 264297 h 361333"/>
                  <a:gd name="connsiteX25" fmla="*/ 180836 w 361670"/>
                  <a:gd name="connsiteY25" fmla="*/ 0 h 361333"/>
                  <a:gd name="connsiteX26" fmla="*/ 0 w 361670"/>
                  <a:gd name="connsiteY26" fmla="*/ 180667 h 361333"/>
                  <a:gd name="connsiteX27" fmla="*/ 180836 w 361670"/>
                  <a:gd name="connsiteY27" fmla="*/ 361333 h 361333"/>
                  <a:gd name="connsiteX28" fmla="*/ 361671 w 361670"/>
                  <a:gd name="connsiteY28" fmla="*/ 180667 h 361333"/>
                  <a:gd name="connsiteX29" fmla="*/ 180836 w 361670"/>
                  <a:gd name="connsiteY2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1670" h="361333">
                    <a:moveTo>
                      <a:pt x="255597" y="264297"/>
                    </a:moveTo>
                    <a:cubicBezTo>
                      <a:pt x="255597" y="275150"/>
                      <a:pt x="247291" y="283449"/>
                      <a:pt x="236428" y="283449"/>
                    </a:cubicBezTo>
                    <a:lnTo>
                      <a:pt x="123965" y="283449"/>
                    </a:lnTo>
                    <a:cubicBezTo>
                      <a:pt x="113102" y="283449"/>
                      <a:pt x="104795" y="275150"/>
                      <a:pt x="104795" y="264297"/>
                    </a:cubicBezTo>
                    <a:lnTo>
                      <a:pt x="104795" y="151939"/>
                    </a:lnTo>
                    <a:cubicBezTo>
                      <a:pt x="104795" y="141086"/>
                      <a:pt x="113102" y="132787"/>
                      <a:pt x="123965" y="132787"/>
                    </a:cubicBezTo>
                    <a:lnTo>
                      <a:pt x="139301" y="132787"/>
                    </a:lnTo>
                    <a:cubicBezTo>
                      <a:pt x="139301" y="132787"/>
                      <a:pt x="139301" y="132787"/>
                      <a:pt x="139301" y="132148"/>
                    </a:cubicBezTo>
                    <a:lnTo>
                      <a:pt x="139301" y="118104"/>
                    </a:lnTo>
                    <a:cubicBezTo>
                      <a:pt x="139301" y="118104"/>
                      <a:pt x="139301" y="117465"/>
                      <a:pt x="139301" y="117465"/>
                    </a:cubicBezTo>
                    <a:lnTo>
                      <a:pt x="125243" y="117465"/>
                    </a:lnTo>
                    <a:cubicBezTo>
                      <a:pt x="121409" y="117465"/>
                      <a:pt x="118853" y="114912"/>
                      <a:pt x="118853" y="111081"/>
                    </a:cubicBezTo>
                    <a:lnTo>
                      <a:pt x="118853" y="97037"/>
                    </a:lnTo>
                    <a:cubicBezTo>
                      <a:pt x="118853" y="83630"/>
                      <a:pt x="123326" y="76608"/>
                      <a:pt x="132272" y="76608"/>
                    </a:cubicBezTo>
                    <a:lnTo>
                      <a:pt x="228760" y="76608"/>
                    </a:lnTo>
                    <a:cubicBezTo>
                      <a:pt x="237706" y="76608"/>
                      <a:pt x="242179" y="83630"/>
                      <a:pt x="242179" y="97037"/>
                    </a:cubicBezTo>
                    <a:lnTo>
                      <a:pt x="242179" y="111081"/>
                    </a:lnTo>
                    <a:cubicBezTo>
                      <a:pt x="242179" y="114912"/>
                      <a:pt x="239623" y="117465"/>
                      <a:pt x="235789" y="117465"/>
                    </a:cubicBezTo>
                    <a:lnTo>
                      <a:pt x="221731" y="117465"/>
                    </a:lnTo>
                    <a:cubicBezTo>
                      <a:pt x="221731" y="117465"/>
                      <a:pt x="221731" y="117465"/>
                      <a:pt x="221731" y="118104"/>
                    </a:cubicBezTo>
                    <a:lnTo>
                      <a:pt x="221731" y="132148"/>
                    </a:lnTo>
                    <a:cubicBezTo>
                      <a:pt x="221731" y="132148"/>
                      <a:pt x="221731" y="132787"/>
                      <a:pt x="221731" y="132787"/>
                    </a:cubicBezTo>
                    <a:lnTo>
                      <a:pt x="237067" y="132787"/>
                    </a:lnTo>
                    <a:cubicBezTo>
                      <a:pt x="247930" y="132787"/>
                      <a:pt x="256237" y="141086"/>
                      <a:pt x="256237" y="151939"/>
                    </a:cubicBezTo>
                    <a:lnTo>
                      <a:pt x="256237" y="264297"/>
                    </a:lnTo>
                    <a:close/>
                    <a:moveTo>
                      <a:pt x="180836" y="0"/>
                    </a:moveTo>
                    <a:cubicBezTo>
                      <a:pt x="80513" y="0"/>
                      <a:pt x="0" y="81077"/>
                      <a:pt x="0" y="180667"/>
                    </a:cubicBezTo>
                    <a:cubicBezTo>
                      <a:pt x="0" y="280895"/>
                      <a:pt x="81152" y="361333"/>
                      <a:pt x="180836" y="361333"/>
                    </a:cubicBezTo>
                    <a:cubicBezTo>
                      <a:pt x="281157" y="361333"/>
                      <a:pt x="361671" y="280257"/>
                      <a:pt x="361671" y="180667"/>
                    </a:cubicBezTo>
                    <a:cubicBezTo>
                      <a:pt x="361671" y="81077"/>
                      <a:pt x="280518" y="0"/>
                      <a:pt x="180836" y="0"/>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58" name="Graphic 4">
                <a:extLst>
                  <a:ext uri="{FF2B5EF4-FFF2-40B4-BE49-F238E27FC236}">
                    <a16:creationId xmlns:a16="http://schemas.microsoft.com/office/drawing/2014/main" id="{AA901F6D-4FB7-FC71-65CB-12B4975FDED9}"/>
                  </a:ext>
                </a:extLst>
              </p:cNvPr>
              <p:cNvSpPr/>
              <p:nvPr/>
            </p:nvSpPr>
            <p:spPr bwMode="gray">
              <a:xfrm>
                <a:off x="5217383" y="1063734"/>
                <a:ext cx="125242" cy="125126"/>
              </a:xfrm>
              <a:custGeom>
                <a:avLst/>
                <a:gdLst>
                  <a:gd name="connsiteX0" fmla="*/ 97127 w 125242"/>
                  <a:gd name="connsiteY0" fmla="*/ 68947 h 125126"/>
                  <a:gd name="connsiteX1" fmla="*/ 69011 w 125242"/>
                  <a:gd name="connsiteY1" fmla="*/ 68947 h 125126"/>
                  <a:gd name="connsiteX2" fmla="*/ 69011 w 125242"/>
                  <a:gd name="connsiteY2" fmla="*/ 97037 h 125126"/>
                  <a:gd name="connsiteX3" fmla="*/ 62621 w 125242"/>
                  <a:gd name="connsiteY3" fmla="*/ 103420 h 125126"/>
                  <a:gd name="connsiteX4" fmla="*/ 56231 w 125242"/>
                  <a:gd name="connsiteY4" fmla="*/ 97037 h 125126"/>
                  <a:gd name="connsiteX5" fmla="*/ 56231 w 125242"/>
                  <a:gd name="connsiteY5" fmla="*/ 68947 h 125126"/>
                  <a:gd name="connsiteX6" fmla="*/ 28755 w 125242"/>
                  <a:gd name="connsiteY6" fmla="*/ 68947 h 125126"/>
                  <a:gd name="connsiteX7" fmla="*/ 22365 w 125242"/>
                  <a:gd name="connsiteY7" fmla="*/ 62563 h 125126"/>
                  <a:gd name="connsiteX8" fmla="*/ 28755 w 125242"/>
                  <a:gd name="connsiteY8" fmla="*/ 56179 h 125126"/>
                  <a:gd name="connsiteX9" fmla="*/ 56871 w 125242"/>
                  <a:gd name="connsiteY9" fmla="*/ 56179 h 125126"/>
                  <a:gd name="connsiteX10" fmla="*/ 56871 w 125242"/>
                  <a:gd name="connsiteY10" fmla="*/ 28089 h 125126"/>
                  <a:gd name="connsiteX11" fmla="*/ 63261 w 125242"/>
                  <a:gd name="connsiteY11" fmla="*/ 21706 h 125126"/>
                  <a:gd name="connsiteX12" fmla="*/ 69650 w 125242"/>
                  <a:gd name="connsiteY12" fmla="*/ 28089 h 125126"/>
                  <a:gd name="connsiteX13" fmla="*/ 69650 w 125242"/>
                  <a:gd name="connsiteY13" fmla="*/ 56179 h 125126"/>
                  <a:gd name="connsiteX14" fmla="*/ 97766 w 125242"/>
                  <a:gd name="connsiteY14" fmla="*/ 56179 h 125126"/>
                  <a:gd name="connsiteX15" fmla="*/ 104156 w 125242"/>
                  <a:gd name="connsiteY15" fmla="*/ 62563 h 125126"/>
                  <a:gd name="connsiteX16" fmla="*/ 97127 w 125242"/>
                  <a:gd name="connsiteY16" fmla="*/ 68947 h 125126"/>
                  <a:gd name="connsiteX17" fmla="*/ 118853 w 125242"/>
                  <a:gd name="connsiteY17" fmla="*/ 0 h 125126"/>
                  <a:gd name="connsiteX18" fmla="*/ 6390 w 125242"/>
                  <a:gd name="connsiteY18" fmla="*/ 0 h 125126"/>
                  <a:gd name="connsiteX19" fmla="*/ 0 w 125242"/>
                  <a:gd name="connsiteY19" fmla="*/ 6384 h 125126"/>
                  <a:gd name="connsiteX20" fmla="*/ 0 w 125242"/>
                  <a:gd name="connsiteY20" fmla="*/ 118742 h 125126"/>
                  <a:gd name="connsiteX21" fmla="*/ 6390 w 125242"/>
                  <a:gd name="connsiteY21" fmla="*/ 125126 h 125126"/>
                  <a:gd name="connsiteX22" fmla="*/ 118853 w 125242"/>
                  <a:gd name="connsiteY22" fmla="*/ 125126 h 125126"/>
                  <a:gd name="connsiteX23" fmla="*/ 125243 w 125242"/>
                  <a:gd name="connsiteY23" fmla="*/ 118742 h 125126"/>
                  <a:gd name="connsiteX24" fmla="*/ 125243 w 125242"/>
                  <a:gd name="connsiteY24" fmla="*/ 6384 h 125126"/>
                  <a:gd name="connsiteX25" fmla="*/ 118853 w 125242"/>
                  <a:gd name="connsiteY25" fmla="*/ 0 h 12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5242" h="125126">
                    <a:moveTo>
                      <a:pt x="97127" y="68947"/>
                    </a:moveTo>
                    <a:lnTo>
                      <a:pt x="69011" y="68947"/>
                    </a:lnTo>
                    <a:lnTo>
                      <a:pt x="69011" y="97037"/>
                    </a:lnTo>
                    <a:cubicBezTo>
                      <a:pt x="69011" y="100867"/>
                      <a:pt x="66456" y="103420"/>
                      <a:pt x="62621" y="103420"/>
                    </a:cubicBezTo>
                    <a:cubicBezTo>
                      <a:pt x="58788" y="103420"/>
                      <a:pt x="56231" y="100867"/>
                      <a:pt x="56231" y="97037"/>
                    </a:cubicBezTo>
                    <a:lnTo>
                      <a:pt x="56231" y="68947"/>
                    </a:lnTo>
                    <a:lnTo>
                      <a:pt x="28755" y="68947"/>
                    </a:lnTo>
                    <a:cubicBezTo>
                      <a:pt x="24921" y="68947"/>
                      <a:pt x="22365" y="66393"/>
                      <a:pt x="22365" y="62563"/>
                    </a:cubicBezTo>
                    <a:cubicBezTo>
                      <a:pt x="22365" y="58733"/>
                      <a:pt x="24921" y="56179"/>
                      <a:pt x="28755" y="56179"/>
                    </a:cubicBezTo>
                    <a:lnTo>
                      <a:pt x="56871" y="56179"/>
                    </a:lnTo>
                    <a:lnTo>
                      <a:pt x="56871" y="28089"/>
                    </a:lnTo>
                    <a:cubicBezTo>
                      <a:pt x="56871" y="24259"/>
                      <a:pt x="59426" y="21706"/>
                      <a:pt x="63261" y="21706"/>
                    </a:cubicBezTo>
                    <a:cubicBezTo>
                      <a:pt x="67094" y="21706"/>
                      <a:pt x="69650" y="24259"/>
                      <a:pt x="69650" y="28089"/>
                    </a:cubicBezTo>
                    <a:lnTo>
                      <a:pt x="69650" y="56179"/>
                    </a:lnTo>
                    <a:lnTo>
                      <a:pt x="97766" y="56179"/>
                    </a:lnTo>
                    <a:cubicBezTo>
                      <a:pt x="101600" y="56179"/>
                      <a:pt x="104156" y="58733"/>
                      <a:pt x="104156" y="62563"/>
                    </a:cubicBezTo>
                    <a:cubicBezTo>
                      <a:pt x="103517" y="66393"/>
                      <a:pt x="100961" y="68947"/>
                      <a:pt x="97127" y="68947"/>
                    </a:cubicBezTo>
                    <a:moveTo>
                      <a:pt x="118853" y="0"/>
                    </a:moveTo>
                    <a:lnTo>
                      <a:pt x="6390" y="0"/>
                    </a:lnTo>
                    <a:cubicBezTo>
                      <a:pt x="2556" y="0"/>
                      <a:pt x="0" y="2554"/>
                      <a:pt x="0" y="6384"/>
                    </a:cubicBezTo>
                    <a:lnTo>
                      <a:pt x="0" y="118742"/>
                    </a:lnTo>
                    <a:cubicBezTo>
                      <a:pt x="0" y="122572"/>
                      <a:pt x="2556" y="125126"/>
                      <a:pt x="6390" y="125126"/>
                    </a:cubicBezTo>
                    <a:lnTo>
                      <a:pt x="118853" y="125126"/>
                    </a:lnTo>
                    <a:cubicBezTo>
                      <a:pt x="122687" y="125126"/>
                      <a:pt x="125243" y="122572"/>
                      <a:pt x="125243" y="118742"/>
                    </a:cubicBezTo>
                    <a:lnTo>
                      <a:pt x="125243" y="6384"/>
                    </a:lnTo>
                    <a:cubicBezTo>
                      <a:pt x="125243" y="3192"/>
                      <a:pt x="122687" y="0"/>
                      <a:pt x="118853" y="0"/>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grpSp>
      </p:grpSp>
      <p:grpSp>
        <p:nvGrpSpPr>
          <p:cNvPr id="45" name="グループ化 44">
            <a:extLst>
              <a:ext uri="{FF2B5EF4-FFF2-40B4-BE49-F238E27FC236}">
                <a16:creationId xmlns:a16="http://schemas.microsoft.com/office/drawing/2014/main" id="{EC1B4C95-1748-4D5F-206A-D2B1DAF3F420}"/>
              </a:ext>
            </a:extLst>
          </p:cNvPr>
          <p:cNvGrpSpPr/>
          <p:nvPr/>
        </p:nvGrpSpPr>
        <p:grpSpPr>
          <a:xfrm>
            <a:off x="6613392" y="4907418"/>
            <a:ext cx="3132708" cy="1246891"/>
            <a:chOff x="6669954" y="4681172"/>
            <a:chExt cx="3132708" cy="1246891"/>
          </a:xfrm>
        </p:grpSpPr>
        <p:sp>
          <p:nvSpPr>
            <p:cNvPr id="74" name="正方形/長方形 73">
              <a:extLst>
                <a:ext uri="{FF2B5EF4-FFF2-40B4-BE49-F238E27FC236}">
                  <a16:creationId xmlns:a16="http://schemas.microsoft.com/office/drawing/2014/main" id="{B4058665-7AD3-553F-E880-E62E67CF292E}"/>
                </a:ext>
              </a:extLst>
            </p:cNvPr>
            <p:cNvSpPr/>
            <p:nvPr/>
          </p:nvSpPr>
          <p:spPr>
            <a:xfrm>
              <a:off x="6669954" y="4898804"/>
              <a:ext cx="3132000" cy="1029259"/>
            </a:xfrm>
            <a:prstGeom prst="rect">
              <a:avLst/>
            </a:prstGeom>
            <a:solidFill>
              <a:schemeClr val="accent6">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252000" rtlCol="0" anchor="t" anchorCtr="0"/>
            <a:lstStyle/>
            <a:p>
              <a:pPr marL="176213" indent="-176213">
                <a:buFont typeface="Arial" panose="020B0604020202020204" pitchFamily="34" charset="0"/>
                <a:buChar char="•"/>
              </a:pPr>
              <a:r>
                <a:rPr lang="en-US" altLang="ja-JP" sz="1200" dirty="0"/>
                <a:t>Devices during manufacturing</a:t>
              </a:r>
            </a:p>
            <a:p>
              <a:pPr marL="176213" indent="-176213">
                <a:buFont typeface="Arial" panose="020B0604020202020204" pitchFamily="34" charset="0"/>
                <a:buChar char="•"/>
              </a:pPr>
              <a:r>
                <a:rPr kumimoji="1" lang="en-US" altLang="ja-JP" sz="1200" dirty="0"/>
                <a:t>Devices during delivery</a:t>
              </a:r>
              <a:endParaRPr kumimoji="1" lang="ja-JP" altLang="en-US" sz="1200" dirty="0"/>
            </a:p>
            <a:p>
              <a:pPr marL="176213" indent="-176213">
                <a:buFont typeface="Arial" panose="020B0604020202020204" pitchFamily="34" charset="0"/>
                <a:buChar char="•"/>
              </a:pPr>
              <a:r>
                <a:rPr kumimoji="1" lang="en-US" altLang="ja-JP" sz="1200" dirty="0"/>
                <a:t>Devices setup for operating autonomously</a:t>
              </a:r>
              <a:endParaRPr kumimoji="1" lang="ja-JP" altLang="en-US" sz="1200" dirty="0"/>
            </a:p>
          </p:txBody>
        </p:sp>
        <p:sp>
          <p:nvSpPr>
            <p:cNvPr id="75" name="四角形: 角を丸くする 74">
              <a:extLst>
                <a:ext uri="{FF2B5EF4-FFF2-40B4-BE49-F238E27FC236}">
                  <a16:creationId xmlns:a16="http://schemas.microsoft.com/office/drawing/2014/main" id="{677838C8-D532-3BC5-ED41-8913EAD91A68}"/>
                </a:ext>
              </a:extLst>
            </p:cNvPr>
            <p:cNvSpPr/>
            <p:nvPr/>
          </p:nvSpPr>
          <p:spPr>
            <a:xfrm>
              <a:off x="6670662" y="4681172"/>
              <a:ext cx="3132000" cy="411521"/>
            </a:xfrm>
            <a:prstGeom prst="roundRect">
              <a:avLst>
                <a:gd name="adj" fmla="val 50000"/>
              </a:avLst>
            </a:prstGeom>
            <a:solidFill>
              <a:schemeClr val="accent6"/>
            </a:solidFill>
            <a:ln w="1270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b="1" dirty="0">
                  <a:solidFill>
                    <a:schemeClr val="bg1"/>
                  </a:solidFill>
                </a:rPr>
                <a:t>　　</a:t>
              </a:r>
              <a:r>
                <a:rPr lang="en-US" altLang="ja-JP" sz="1400" b="1" dirty="0">
                  <a:solidFill>
                    <a:schemeClr val="bg1"/>
                  </a:solidFill>
                </a:rPr>
                <a:t>Devices</a:t>
              </a:r>
              <a:endParaRPr kumimoji="1" lang="ja-JP" altLang="en-US" sz="1400" b="1" dirty="0">
                <a:solidFill>
                  <a:schemeClr val="bg1"/>
                </a:solidFill>
              </a:endParaRPr>
            </a:p>
          </p:txBody>
        </p:sp>
        <p:grpSp>
          <p:nvGrpSpPr>
            <p:cNvPr id="83" name="Graphic 1100">
              <a:extLst>
                <a:ext uri="{FF2B5EF4-FFF2-40B4-BE49-F238E27FC236}">
                  <a16:creationId xmlns:a16="http://schemas.microsoft.com/office/drawing/2014/main" id="{16BA6D9B-FA4B-A8F4-F70E-B66C5584034F}"/>
                </a:ext>
              </a:extLst>
            </p:cNvPr>
            <p:cNvGrpSpPr>
              <a:grpSpLocks noChangeAspect="1"/>
            </p:cNvGrpSpPr>
            <p:nvPr/>
          </p:nvGrpSpPr>
          <p:grpSpPr bwMode="gray">
            <a:xfrm>
              <a:off x="6702499" y="4709501"/>
              <a:ext cx="360000" cy="360000"/>
              <a:chOff x="2998797" y="4312706"/>
              <a:chExt cx="362309" cy="361971"/>
            </a:xfrm>
            <a:solidFill>
              <a:schemeClr val="bg1"/>
            </a:solidFill>
          </p:grpSpPr>
          <p:sp>
            <p:nvSpPr>
              <p:cNvPr id="84" name="Graphic 1100">
                <a:extLst>
                  <a:ext uri="{FF2B5EF4-FFF2-40B4-BE49-F238E27FC236}">
                    <a16:creationId xmlns:a16="http://schemas.microsoft.com/office/drawing/2014/main" id="{99911F3A-4485-0A8D-1F65-3FBD5B33B150}"/>
                  </a:ext>
                </a:extLst>
              </p:cNvPr>
              <p:cNvSpPr/>
              <p:nvPr/>
            </p:nvSpPr>
            <p:spPr bwMode="gray">
              <a:xfrm>
                <a:off x="3125318" y="4432086"/>
                <a:ext cx="107989" cy="61924"/>
              </a:xfrm>
              <a:custGeom>
                <a:avLst/>
                <a:gdLst>
                  <a:gd name="connsiteX0" fmla="*/ 0 w 107989"/>
                  <a:gd name="connsiteY0" fmla="*/ 0 h 61924"/>
                  <a:gd name="connsiteX1" fmla="*/ 107990 w 107989"/>
                  <a:gd name="connsiteY1" fmla="*/ 0 h 61924"/>
                  <a:gd name="connsiteX2" fmla="*/ 107990 w 107989"/>
                  <a:gd name="connsiteY2" fmla="*/ 61925 h 61924"/>
                  <a:gd name="connsiteX3" fmla="*/ 0 w 107989"/>
                  <a:gd name="connsiteY3" fmla="*/ 61925 h 61924"/>
                </a:gdLst>
                <a:ahLst/>
                <a:cxnLst>
                  <a:cxn ang="0">
                    <a:pos x="connsiteX0" y="connsiteY0"/>
                  </a:cxn>
                  <a:cxn ang="0">
                    <a:pos x="connsiteX1" y="connsiteY1"/>
                  </a:cxn>
                  <a:cxn ang="0">
                    <a:pos x="connsiteX2" y="connsiteY2"/>
                  </a:cxn>
                  <a:cxn ang="0">
                    <a:pos x="connsiteX3" y="connsiteY3"/>
                  </a:cxn>
                </a:cxnLst>
                <a:rect l="l" t="t" r="r" b="b"/>
                <a:pathLst>
                  <a:path w="107989" h="61924">
                    <a:moveTo>
                      <a:pt x="0" y="0"/>
                    </a:moveTo>
                    <a:lnTo>
                      <a:pt x="107990" y="0"/>
                    </a:lnTo>
                    <a:lnTo>
                      <a:pt x="107990" y="61925"/>
                    </a:lnTo>
                    <a:lnTo>
                      <a:pt x="0" y="61925"/>
                    </a:ln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85" name="Graphic 1100">
                <a:extLst>
                  <a:ext uri="{FF2B5EF4-FFF2-40B4-BE49-F238E27FC236}">
                    <a16:creationId xmlns:a16="http://schemas.microsoft.com/office/drawing/2014/main" id="{35D6A552-9F4C-BDB3-6954-653D541FCF82}"/>
                  </a:ext>
                </a:extLst>
              </p:cNvPr>
              <p:cNvSpPr/>
              <p:nvPr/>
            </p:nvSpPr>
            <p:spPr bwMode="gray">
              <a:xfrm>
                <a:off x="3095285" y="4402081"/>
                <a:ext cx="168055" cy="123210"/>
              </a:xfrm>
              <a:custGeom>
                <a:avLst/>
                <a:gdLst>
                  <a:gd name="connsiteX0" fmla="*/ 0 w 168055"/>
                  <a:gd name="connsiteY0" fmla="*/ 123211 h 123210"/>
                  <a:gd name="connsiteX1" fmla="*/ 168055 w 168055"/>
                  <a:gd name="connsiteY1" fmla="*/ 123211 h 123210"/>
                  <a:gd name="connsiteX2" fmla="*/ 168055 w 168055"/>
                  <a:gd name="connsiteY2" fmla="*/ 0 h 123210"/>
                  <a:gd name="connsiteX3" fmla="*/ 0 w 168055"/>
                  <a:gd name="connsiteY3" fmla="*/ 0 h 123210"/>
                  <a:gd name="connsiteX4" fmla="*/ 0 w 168055"/>
                  <a:gd name="connsiteY4" fmla="*/ 123211 h 123210"/>
                  <a:gd name="connsiteX5" fmla="*/ 17253 w 168055"/>
                  <a:gd name="connsiteY5" fmla="*/ 23621 h 123210"/>
                  <a:gd name="connsiteX6" fmla="*/ 23643 w 168055"/>
                  <a:gd name="connsiteY6" fmla="*/ 17237 h 123210"/>
                  <a:gd name="connsiteX7" fmla="*/ 144413 w 168055"/>
                  <a:gd name="connsiteY7" fmla="*/ 17237 h 123210"/>
                  <a:gd name="connsiteX8" fmla="*/ 150803 w 168055"/>
                  <a:gd name="connsiteY8" fmla="*/ 23621 h 123210"/>
                  <a:gd name="connsiteX9" fmla="*/ 150803 w 168055"/>
                  <a:gd name="connsiteY9" fmla="*/ 98313 h 123210"/>
                  <a:gd name="connsiteX10" fmla="*/ 144413 w 168055"/>
                  <a:gd name="connsiteY10" fmla="*/ 104697 h 123210"/>
                  <a:gd name="connsiteX11" fmla="*/ 23643 w 168055"/>
                  <a:gd name="connsiteY11" fmla="*/ 104697 h 123210"/>
                  <a:gd name="connsiteX12" fmla="*/ 17253 w 168055"/>
                  <a:gd name="connsiteY12" fmla="*/ 98313 h 123210"/>
                  <a:gd name="connsiteX13" fmla="*/ 17253 w 168055"/>
                  <a:gd name="connsiteY13" fmla="*/ 23621 h 12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055" h="123210">
                    <a:moveTo>
                      <a:pt x="0" y="123211"/>
                    </a:moveTo>
                    <a:lnTo>
                      <a:pt x="168055" y="123211"/>
                    </a:lnTo>
                    <a:lnTo>
                      <a:pt x="168055" y="0"/>
                    </a:lnTo>
                    <a:lnTo>
                      <a:pt x="0" y="0"/>
                    </a:lnTo>
                    <a:lnTo>
                      <a:pt x="0" y="123211"/>
                    </a:lnTo>
                    <a:close/>
                    <a:moveTo>
                      <a:pt x="17253" y="23621"/>
                    </a:moveTo>
                    <a:cubicBezTo>
                      <a:pt x="17253" y="19791"/>
                      <a:pt x="19809" y="17237"/>
                      <a:pt x="23643" y="17237"/>
                    </a:cubicBezTo>
                    <a:lnTo>
                      <a:pt x="144413" y="17237"/>
                    </a:lnTo>
                    <a:cubicBezTo>
                      <a:pt x="148247" y="17237"/>
                      <a:pt x="150803" y="19791"/>
                      <a:pt x="150803" y="23621"/>
                    </a:cubicBezTo>
                    <a:lnTo>
                      <a:pt x="150803" y="98313"/>
                    </a:lnTo>
                    <a:cubicBezTo>
                      <a:pt x="150803" y="102144"/>
                      <a:pt x="148247" y="104697"/>
                      <a:pt x="144413" y="104697"/>
                    </a:cubicBezTo>
                    <a:lnTo>
                      <a:pt x="23643" y="104697"/>
                    </a:lnTo>
                    <a:cubicBezTo>
                      <a:pt x="19809" y="104697"/>
                      <a:pt x="17253" y="102144"/>
                      <a:pt x="17253" y="98313"/>
                    </a:cubicBezTo>
                    <a:lnTo>
                      <a:pt x="17253" y="23621"/>
                    </a:ln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86" name="Graphic 1100">
                <a:extLst>
                  <a:ext uri="{FF2B5EF4-FFF2-40B4-BE49-F238E27FC236}">
                    <a16:creationId xmlns:a16="http://schemas.microsoft.com/office/drawing/2014/main" id="{07E161CD-8F2C-041D-1C00-6CCC7C09F8CD}"/>
                  </a:ext>
                </a:extLst>
              </p:cNvPr>
              <p:cNvSpPr/>
              <p:nvPr/>
            </p:nvSpPr>
            <p:spPr bwMode="gray">
              <a:xfrm>
                <a:off x="2998797" y="4312706"/>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77962 w 362309"/>
                  <a:gd name="connsiteY6" fmla="*/ 218971 h 361971"/>
                  <a:gd name="connsiteX7" fmla="*/ 271572 w 362309"/>
                  <a:gd name="connsiteY7" fmla="*/ 225355 h 361971"/>
                  <a:gd name="connsiteX8" fmla="*/ 262626 w 362309"/>
                  <a:gd name="connsiteY8" fmla="*/ 225355 h 361971"/>
                  <a:gd name="connsiteX9" fmla="*/ 262626 w 362309"/>
                  <a:gd name="connsiteY9" fmla="*/ 278980 h 361971"/>
                  <a:gd name="connsiteX10" fmla="*/ 256237 w 362309"/>
                  <a:gd name="connsiteY10" fmla="*/ 285364 h 361971"/>
                  <a:gd name="connsiteX11" fmla="*/ 106073 w 362309"/>
                  <a:gd name="connsiteY11" fmla="*/ 285364 h 361971"/>
                  <a:gd name="connsiteX12" fmla="*/ 99683 w 362309"/>
                  <a:gd name="connsiteY12" fmla="*/ 278980 h 361971"/>
                  <a:gd name="connsiteX13" fmla="*/ 99683 w 362309"/>
                  <a:gd name="connsiteY13" fmla="*/ 225355 h 361971"/>
                  <a:gd name="connsiteX14" fmla="*/ 90737 w 362309"/>
                  <a:gd name="connsiteY14" fmla="*/ 225355 h 361971"/>
                  <a:gd name="connsiteX15" fmla="*/ 84347 w 362309"/>
                  <a:gd name="connsiteY15" fmla="*/ 218971 h 361971"/>
                  <a:gd name="connsiteX16" fmla="*/ 84347 w 362309"/>
                  <a:gd name="connsiteY16" fmla="*/ 82992 h 361971"/>
                  <a:gd name="connsiteX17" fmla="*/ 90737 w 362309"/>
                  <a:gd name="connsiteY17" fmla="*/ 76608 h 361971"/>
                  <a:gd name="connsiteX18" fmla="*/ 271572 w 362309"/>
                  <a:gd name="connsiteY18" fmla="*/ 76608 h 361971"/>
                  <a:gd name="connsiteX19" fmla="*/ 277962 w 362309"/>
                  <a:gd name="connsiteY19" fmla="*/ 82992 h 361971"/>
                  <a:gd name="connsiteX20" fmla="*/ 277962 w 362309"/>
                  <a:gd name="connsiteY20" fmla="*/ 82992 h 361971"/>
                  <a:gd name="connsiteX21" fmla="*/ 277962 w 362309"/>
                  <a:gd name="connsiteY21" fmla="*/ 21897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0667"/>
                    </a:cubicBezTo>
                    <a:cubicBezTo>
                      <a:pt x="362310" y="81077"/>
                      <a:pt x="281157" y="0"/>
                      <a:pt x="180835" y="0"/>
                    </a:cubicBezTo>
                    <a:cubicBezTo>
                      <a:pt x="180835" y="0"/>
                      <a:pt x="180835" y="0"/>
                      <a:pt x="180835" y="0"/>
                    </a:cubicBezTo>
                    <a:close/>
                    <a:moveTo>
                      <a:pt x="277962" y="218971"/>
                    </a:moveTo>
                    <a:cubicBezTo>
                      <a:pt x="277962" y="222801"/>
                      <a:pt x="275407" y="225355"/>
                      <a:pt x="271572" y="225355"/>
                    </a:cubicBezTo>
                    <a:lnTo>
                      <a:pt x="262626" y="225355"/>
                    </a:lnTo>
                    <a:lnTo>
                      <a:pt x="262626" y="278980"/>
                    </a:lnTo>
                    <a:cubicBezTo>
                      <a:pt x="262626" y="282810"/>
                      <a:pt x="260071" y="285364"/>
                      <a:pt x="256237" y="285364"/>
                    </a:cubicBezTo>
                    <a:lnTo>
                      <a:pt x="106073" y="285364"/>
                    </a:lnTo>
                    <a:cubicBezTo>
                      <a:pt x="102239" y="285364"/>
                      <a:pt x="99683" y="282810"/>
                      <a:pt x="99683" y="278980"/>
                    </a:cubicBezTo>
                    <a:lnTo>
                      <a:pt x="99683" y="225355"/>
                    </a:lnTo>
                    <a:lnTo>
                      <a:pt x="90737" y="225355"/>
                    </a:lnTo>
                    <a:cubicBezTo>
                      <a:pt x="86903" y="225355"/>
                      <a:pt x="84347" y="222801"/>
                      <a:pt x="84347" y="218971"/>
                    </a:cubicBezTo>
                    <a:lnTo>
                      <a:pt x="84347" y="82992"/>
                    </a:lnTo>
                    <a:cubicBezTo>
                      <a:pt x="84347" y="79162"/>
                      <a:pt x="86903" y="76608"/>
                      <a:pt x="90737" y="76608"/>
                    </a:cubicBezTo>
                    <a:lnTo>
                      <a:pt x="271572" y="76608"/>
                    </a:lnTo>
                    <a:cubicBezTo>
                      <a:pt x="275407" y="76608"/>
                      <a:pt x="277962" y="79162"/>
                      <a:pt x="277962" y="82992"/>
                    </a:cubicBezTo>
                    <a:cubicBezTo>
                      <a:pt x="277962" y="82992"/>
                      <a:pt x="277962" y="82992"/>
                      <a:pt x="277962" y="82992"/>
                    </a:cubicBezTo>
                    <a:lnTo>
                      <a:pt x="277962" y="218971"/>
                    </a:ln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87" name="Graphic 1100">
                <a:extLst>
                  <a:ext uri="{FF2B5EF4-FFF2-40B4-BE49-F238E27FC236}">
                    <a16:creationId xmlns:a16="http://schemas.microsoft.com/office/drawing/2014/main" id="{AE2222D0-D95A-E8C8-FDE3-6C5EF18698C9}"/>
                  </a:ext>
                </a:extLst>
              </p:cNvPr>
              <p:cNvSpPr/>
              <p:nvPr/>
            </p:nvSpPr>
            <p:spPr bwMode="gray">
              <a:xfrm>
                <a:off x="3110621" y="4538060"/>
                <a:ext cx="137383" cy="47241"/>
              </a:xfrm>
              <a:custGeom>
                <a:avLst/>
                <a:gdLst>
                  <a:gd name="connsiteX0" fmla="*/ 0 w 137383"/>
                  <a:gd name="connsiteY0" fmla="*/ 47242 h 47241"/>
                  <a:gd name="connsiteX1" fmla="*/ 137384 w 137383"/>
                  <a:gd name="connsiteY1" fmla="*/ 47242 h 47241"/>
                  <a:gd name="connsiteX2" fmla="*/ 137384 w 137383"/>
                  <a:gd name="connsiteY2" fmla="*/ 0 h 47241"/>
                  <a:gd name="connsiteX3" fmla="*/ 0 w 137383"/>
                  <a:gd name="connsiteY3" fmla="*/ 0 h 47241"/>
                  <a:gd name="connsiteX4" fmla="*/ 0 w 137383"/>
                  <a:gd name="connsiteY4" fmla="*/ 47242 h 47241"/>
                  <a:gd name="connsiteX5" fmla="*/ 114380 w 137383"/>
                  <a:gd name="connsiteY5" fmla="*/ 16599 h 47241"/>
                  <a:gd name="connsiteX6" fmla="*/ 121409 w 137383"/>
                  <a:gd name="connsiteY6" fmla="*/ 23621 h 47241"/>
                  <a:gd name="connsiteX7" fmla="*/ 114380 w 137383"/>
                  <a:gd name="connsiteY7" fmla="*/ 30643 h 47241"/>
                  <a:gd name="connsiteX8" fmla="*/ 107351 w 137383"/>
                  <a:gd name="connsiteY8" fmla="*/ 23621 h 47241"/>
                  <a:gd name="connsiteX9" fmla="*/ 107351 w 137383"/>
                  <a:gd name="connsiteY9" fmla="*/ 23621 h 47241"/>
                  <a:gd name="connsiteX10" fmla="*/ 114380 w 137383"/>
                  <a:gd name="connsiteY10" fmla="*/ 16599 h 47241"/>
                  <a:gd name="connsiteX11" fmla="*/ 114380 w 137383"/>
                  <a:gd name="connsiteY11" fmla="*/ 16599 h 47241"/>
                  <a:gd name="connsiteX12" fmla="*/ 114380 w 137383"/>
                  <a:gd name="connsiteY12" fmla="*/ 16599 h 47241"/>
                  <a:gd name="connsiteX13" fmla="*/ 20448 w 137383"/>
                  <a:gd name="connsiteY13" fmla="*/ 17237 h 47241"/>
                  <a:gd name="connsiteX14" fmla="*/ 61982 w 137383"/>
                  <a:gd name="connsiteY14" fmla="*/ 17237 h 47241"/>
                  <a:gd name="connsiteX15" fmla="*/ 68372 w 137383"/>
                  <a:gd name="connsiteY15" fmla="*/ 23621 h 47241"/>
                  <a:gd name="connsiteX16" fmla="*/ 61982 w 137383"/>
                  <a:gd name="connsiteY16" fmla="*/ 30005 h 47241"/>
                  <a:gd name="connsiteX17" fmla="*/ 20448 w 137383"/>
                  <a:gd name="connsiteY17" fmla="*/ 30005 h 47241"/>
                  <a:gd name="connsiteX18" fmla="*/ 14058 w 137383"/>
                  <a:gd name="connsiteY18" fmla="*/ 23621 h 47241"/>
                  <a:gd name="connsiteX19" fmla="*/ 20448 w 137383"/>
                  <a:gd name="connsiteY19" fmla="*/ 17237 h 4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7383" h="47241">
                    <a:moveTo>
                      <a:pt x="0" y="47242"/>
                    </a:moveTo>
                    <a:lnTo>
                      <a:pt x="137384" y="47242"/>
                    </a:lnTo>
                    <a:lnTo>
                      <a:pt x="137384" y="0"/>
                    </a:lnTo>
                    <a:lnTo>
                      <a:pt x="0" y="0"/>
                    </a:lnTo>
                    <a:lnTo>
                      <a:pt x="0" y="47242"/>
                    </a:lnTo>
                    <a:close/>
                    <a:moveTo>
                      <a:pt x="114380" y="16599"/>
                    </a:moveTo>
                    <a:cubicBezTo>
                      <a:pt x="118214" y="16599"/>
                      <a:pt x="121409" y="19791"/>
                      <a:pt x="121409" y="23621"/>
                    </a:cubicBezTo>
                    <a:cubicBezTo>
                      <a:pt x="121409" y="27451"/>
                      <a:pt x="118214" y="30643"/>
                      <a:pt x="114380" y="30643"/>
                    </a:cubicBezTo>
                    <a:cubicBezTo>
                      <a:pt x="110546" y="30643"/>
                      <a:pt x="107351" y="27451"/>
                      <a:pt x="107351" y="23621"/>
                    </a:cubicBezTo>
                    <a:lnTo>
                      <a:pt x="107351" y="23621"/>
                    </a:lnTo>
                    <a:cubicBezTo>
                      <a:pt x="107351" y="19791"/>
                      <a:pt x="110546" y="16599"/>
                      <a:pt x="114380" y="16599"/>
                    </a:cubicBezTo>
                    <a:cubicBezTo>
                      <a:pt x="114380" y="16599"/>
                      <a:pt x="114380" y="16599"/>
                      <a:pt x="114380" y="16599"/>
                    </a:cubicBezTo>
                    <a:lnTo>
                      <a:pt x="114380" y="16599"/>
                    </a:lnTo>
                    <a:close/>
                    <a:moveTo>
                      <a:pt x="20448" y="17237"/>
                    </a:moveTo>
                    <a:lnTo>
                      <a:pt x="61982" y="17237"/>
                    </a:lnTo>
                    <a:cubicBezTo>
                      <a:pt x="65816" y="17237"/>
                      <a:pt x="68372" y="19791"/>
                      <a:pt x="68372" y="23621"/>
                    </a:cubicBezTo>
                    <a:cubicBezTo>
                      <a:pt x="68372" y="27451"/>
                      <a:pt x="65816" y="30005"/>
                      <a:pt x="61982" y="30005"/>
                    </a:cubicBezTo>
                    <a:lnTo>
                      <a:pt x="20448" y="30005"/>
                    </a:lnTo>
                    <a:cubicBezTo>
                      <a:pt x="16614" y="30005"/>
                      <a:pt x="14058" y="27451"/>
                      <a:pt x="14058" y="23621"/>
                    </a:cubicBezTo>
                    <a:cubicBezTo>
                      <a:pt x="14058" y="19791"/>
                      <a:pt x="16614" y="17237"/>
                      <a:pt x="20448" y="17237"/>
                    </a:cubicBez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grpSp>
      </p:grpSp>
      <p:grpSp>
        <p:nvGrpSpPr>
          <p:cNvPr id="39" name="グループ化 38">
            <a:extLst>
              <a:ext uri="{FF2B5EF4-FFF2-40B4-BE49-F238E27FC236}">
                <a16:creationId xmlns:a16="http://schemas.microsoft.com/office/drawing/2014/main" id="{29F8967D-74B8-0AD4-A181-FE45D356B0CB}"/>
              </a:ext>
            </a:extLst>
          </p:cNvPr>
          <p:cNvGrpSpPr/>
          <p:nvPr/>
        </p:nvGrpSpPr>
        <p:grpSpPr>
          <a:xfrm>
            <a:off x="4987644" y="3393540"/>
            <a:ext cx="2344392" cy="1431485"/>
            <a:chOff x="2632363" y="2535699"/>
            <a:chExt cx="2344392" cy="1431485"/>
          </a:xfrm>
        </p:grpSpPr>
        <p:sp>
          <p:nvSpPr>
            <p:cNvPr id="50" name="正方形/長方形 49">
              <a:extLst>
                <a:ext uri="{FF2B5EF4-FFF2-40B4-BE49-F238E27FC236}">
                  <a16:creationId xmlns:a16="http://schemas.microsoft.com/office/drawing/2014/main" id="{E91D851C-E686-0773-B51B-FE403076D7DC}"/>
                </a:ext>
              </a:extLst>
            </p:cNvPr>
            <p:cNvSpPr/>
            <p:nvPr/>
          </p:nvSpPr>
          <p:spPr>
            <a:xfrm>
              <a:off x="2632363" y="2743184"/>
              <a:ext cx="2340000" cy="1224000"/>
            </a:xfrm>
            <a:prstGeom prst="rect">
              <a:avLst/>
            </a:prstGeom>
            <a:solidFill>
              <a:srgbClr val="C9F8BD"/>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tIns="252000" rtlCol="0" anchor="t" anchorCtr="0"/>
            <a:lstStyle/>
            <a:p>
              <a:pPr marL="176213" indent="-176213">
                <a:buFont typeface="Arial" panose="020B0604020202020204" pitchFamily="34" charset="0"/>
                <a:buChar char="•"/>
              </a:pPr>
              <a:r>
                <a:rPr lang="en-US" altLang="ja-JP" sz="1200" dirty="0"/>
                <a:t>Reuse know your customer</a:t>
              </a:r>
            </a:p>
            <a:p>
              <a:pPr marL="176213" indent="-176213">
                <a:buFont typeface="Arial" panose="020B0604020202020204" pitchFamily="34" charset="0"/>
                <a:buChar char="•"/>
              </a:pPr>
              <a:r>
                <a:rPr kumimoji="1" lang="en-US" altLang="ja-JP" sz="1200" dirty="0"/>
                <a:t>Money transfer</a:t>
              </a:r>
              <a:endParaRPr kumimoji="1" lang="ja-JP" altLang="en-US" sz="1200" dirty="0"/>
            </a:p>
            <a:p>
              <a:pPr marL="176213" indent="-176213">
                <a:buFont typeface="Arial" panose="020B0604020202020204" pitchFamily="34" charset="0"/>
                <a:buChar char="•"/>
              </a:pPr>
              <a:r>
                <a:rPr lang="en-US" altLang="ja-JP" sz="1200" dirty="0"/>
                <a:t>Closing account</a:t>
              </a:r>
            </a:p>
            <a:p>
              <a:pPr marL="176213" indent="-176213">
                <a:buFont typeface="Arial" panose="020B0604020202020204" pitchFamily="34" charset="0"/>
                <a:buChar char="•"/>
              </a:pPr>
              <a:r>
                <a:rPr lang="en-US" altLang="ja-JP" sz="1200" dirty="0"/>
                <a:t>Trying out a new service</a:t>
              </a:r>
            </a:p>
            <a:p>
              <a:pPr marL="176213" indent="-176213">
                <a:buFont typeface="Arial" panose="020B0604020202020204" pitchFamily="34" charset="0"/>
                <a:buChar char="•"/>
              </a:pPr>
              <a:r>
                <a:rPr lang="en-US" altLang="ja-JP" sz="1200" dirty="0"/>
                <a:t>New bank account from home</a:t>
              </a:r>
            </a:p>
            <a:p>
              <a:pPr marL="176213" indent="-176213">
                <a:buFont typeface="Arial" panose="020B0604020202020204" pitchFamily="34" charset="0"/>
                <a:buChar char="•"/>
              </a:pPr>
              <a:endParaRPr lang="en-US" altLang="ja-JP" sz="1200" dirty="0"/>
            </a:p>
          </p:txBody>
        </p:sp>
        <p:sp>
          <p:nvSpPr>
            <p:cNvPr id="22" name="四角形: 角を丸くする 21">
              <a:extLst>
                <a:ext uri="{FF2B5EF4-FFF2-40B4-BE49-F238E27FC236}">
                  <a16:creationId xmlns:a16="http://schemas.microsoft.com/office/drawing/2014/main" id="{C32E0E05-8B99-EA78-E295-F9D50741F540}"/>
                </a:ext>
              </a:extLst>
            </p:cNvPr>
            <p:cNvSpPr/>
            <p:nvPr/>
          </p:nvSpPr>
          <p:spPr>
            <a:xfrm>
              <a:off x="2636755" y="2535699"/>
              <a:ext cx="2340000" cy="411521"/>
            </a:xfrm>
            <a:prstGeom prst="roundRect">
              <a:avLst>
                <a:gd name="adj" fmla="val 50000"/>
              </a:avLst>
            </a:prstGeom>
            <a:solidFill>
              <a:srgbClr val="26890D"/>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b="1" dirty="0">
                  <a:solidFill>
                    <a:schemeClr val="bg1"/>
                  </a:solidFill>
                </a:rPr>
                <a:t>　　</a:t>
              </a:r>
              <a:r>
                <a:rPr lang="en-US" altLang="ja-JP" sz="1400" b="1" dirty="0">
                  <a:solidFill>
                    <a:schemeClr val="bg1"/>
                  </a:solidFill>
                </a:rPr>
                <a:t>Finance</a:t>
              </a:r>
              <a:endParaRPr kumimoji="1" lang="ja-JP" altLang="en-US" sz="1400" b="1" dirty="0">
                <a:solidFill>
                  <a:schemeClr val="bg1"/>
                </a:solidFill>
              </a:endParaRPr>
            </a:p>
          </p:txBody>
        </p:sp>
        <p:grpSp>
          <p:nvGrpSpPr>
            <p:cNvPr id="88" name="Graphic 4">
              <a:extLst>
                <a:ext uri="{FF2B5EF4-FFF2-40B4-BE49-F238E27FC236}">
                  <a16:creationId xmlns:a16="http://schemas.microsoft.com/office/drawing/2014/main" id="{FC3A3718-0786-8040-CFC5-B07DCA99F464}"/>
                </a:ext>
              </a:extLst>
            </p:cNvPr>
            <p:cNvGrpSpPr>
              <a:grpSpLocks noChangeAspect="1"/>
            </p:cNvGrpSpPr>
            <p:nvPr/>
          </p:nvGrpSpPr>
          <p:grpSpPr bwMode="gray">
            <a:xfrm>
              <a:off x="2660368" y="2555907"/>
              <a:ext cx="359999" cy="360003"/>
              <a:chOff x="8239823" y="3339623"/>
              <a:chExt cx="361670" cy="361333"/>
            </a:xfrm>
            <a:solidFill>
              <a:schemeClr val="bg1"/>
            </a:solidFill>
          </p:grpSpPr>
          <p:sp>
            <p:nvSpPr>
              <p:cNvPr id="89" name="Graphic 4">
                <a:extLst>
                  <a:ext uri="{FF2B5EF4-FFF2-40B4-BE49-F238E27FC236}">
                    <a16:creationId xmlns:a16="http://schemas.microsoft.com/office/drawing/2014/main" id="{6F611C97-F9D9-A931-416D-9FD4A2A010CC}"/>
                  </a:ext>
                </a:extLst>
              </p:cNvPr>
              <p:cNvSpPr/>
              <p:nvPr/>
            </p:nvSpPr>
            <p:spPr bwMode="gray">
              <a:xfrm>
                <a:off x="8327365" y="3430276"/>
                <a:ext cx="118853" cy="42134"/>
              </a:xfrm>
              <a:custGeom>
                <a:avLst/>
                <a:gdLst>
                  <a:gd name="connsiteX0" fmla="*/ 59427 w 118853"/>
                  <a:gd name="connsiteY0" fmla="*/ 42134 h 42134"/>
                  <a:gd name="connsiteX1" fmla="*/ 118853 w 118853"/>
                  <a:gd name="connsiteY1" fmla="*/ 21067 h 42134"/>
                  <a:gd name="connsiteX2" fmla="*/ 59427 w 118853"/>
                  <a:gd name="connsiteY2" fmla="*/ 0 h 42134"/>
                  <a:gd name="connsiteX3" fmla="*/ 0 w 118853"/>
                  <a:gd name="connsiteY3" fmla="*/ 21067 h 42134"/>
                  <a:gd name="connsiteX4" fmla="*/ 59427 w 118853"/>
                  <a:gd name="connsiteY4" fmla="*/ 42134 h 42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53" h="42134">
                    <a:moveTo>
                      <a:pt x="59427" y="42134"/>
                    </a:moveTo>
                    <a:cubicBezTo>
                      <a:pt x="96489" y="42134"/>
                      <a:pt x="118853" y="30005"/>
                      <a:pt x="118853" y="21067"/>
                    </a:cubicBezTo>
                    <a:cubicBezTo>
                      <a:pt x="118853" y="12768"/>
                      <a:pt x="95849" y="0"/>
                      <a:pt x="59427" y="0"/>
                    </a:cubicBezTo>
                    <a:cubicBezTo>
                      <a:pt x="23004" y="0"/>
                      <a:pt x="0" y="12768"/>
                      <a:pt x="0" y="21067"/>
                    </a:cubicBezTo>
                    <a:cubicBezTo>
                      <a:pt x="0" y="30005"/>
                      <a:pt x="23004" y="42134"/>
                      <a:pt x="59427" y="42134"/>
                    </a:cubicBez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90" name="Graphic 4">
                <a:extLst>
                  <a:ext uri="{FF2B5EF4-FFF2-40B4-BE49-F238E27FC236}">
                    <a16:creationId xmlns:a16="http://schemas.microsoft.com/office/drawing/2014/main" id="{C0875B5A-680E-DE25-CB5F-BDA30F4AE264}"/>
                  </a:ext>
                </a:extLst>
              </p:cNvPr>
              <p:cNvSpPr/>
              <p:nvPr/>
            </p:nvSpPr>
            <p:spPr bwMode="gray">
              <a:xfrm>
                <a:off x="8407879" y="3492201"/>
                <a:ext cx="118852" cy="118741"/>
              </a:xfrm>
              <a:custGeom>
                <a:avLst/>
                <a:gdLst>
                  <a:gd name="connsiteX0" fmla="*/ 59426 w 118852"/>
                  <a:gd name="connsiteY0" fmla="*/ 0 h 118741"/>
                  <a:gd name="connsiteX1" fmla="*/ 0 w 118852"/>
                  <a:gd name="connsiteY1" fmla="*/ 59371 h 118741"/>
                  <a:gd name="connsiteX2" fmla="*/ 59426 w 118852"/>
                  <a:gd name="connsiteY2" fmla="*/ 118742 h 118741"/>
                  <a:gd name="connsiteX3" fmla="*/ 118853 w 118852"/>
                  <a:gd name="connsiteY3" fmla="*/ 59371 h 118741"/>
                  <a:gd name="connsiteX4" fmla="*/ 59426 w 118852"/>
                  <a:gd name="connsiteY4" fmla="*/ 0 h 118741"/>
                  <a:gd name="connsiteX5" fmla="*/ 59426 w 118852"/>
                  <a:gd name="connsiteY5" fmla="*/ 52987 h 118741"/>
                  <a:gd name="connsiteX6" fmla="*/ 82430 w 118852"/>
                  <a:gd name="connsiteY6" fmla="*/ 75969 h 118741"/>
                  <a:gd name="connsiteX7" fmla="*/ 65816 w 118852"/>
                  <a:gd name="connsiteY7" fmla="*/ 97675 h 118741"/>
                  <a:gd name="connsiteX8" fmla="*/ 65816 w 118852"/>
                  <a:gd name="connsiteY8" fmla="*/ 103420 h 118741"/>
                  <a:gd name="connsiteX9" fmla="*/ 59426 w 118852"/>
                  <a:gd name="connsiteY9" fmla="*/ 109804 h 118741"/>
                  <a:gd name="connsiteX10" fmla="*/ 53036 w 118852"/>
                  <a:gd name="connsiteY10" fmla="*/ 103420 h 118741"/>
                  <a:gd name="connsiteX11" fmla="*/ 53036 w 118852"/>
                  <a:gd name="connsiteY11" fmla="*/ 97675 h 118741"/>
                  <a:gd name="connsiteX12" fmla="*/ 36422 w 118852"/>
                  <a:gd name="connsiteY12" fmla="*/ 75969 h 118741"/>
                  <a:gd name="connsiteX13" fmla="*/ 42812 w 118852"/>
                  <a:gd name="connsiteY13" fmla="*/ 69585 h 118741"/>
                  <a:gd name="connsiteX14" fmla="*/ 49202 w 118852"/>
                  <a:gd name="connsiteY14" fmla="*/ 75969 h 118741"/>
                  <a:gd name="connsiteX15" fmla="*/ 59426 w 118852"/>
                  <a:gd name="connsiteY15" fmla="*/ 86184 h 118741"/>
                  <a:gd name="connsiteX16" fmla="*/ 69650 w 118852"/>
                  <a:gd name="connsiteY16" fmla="*/ 75969 h 118741"/>
                  <a:gd name="connsiteX17" fmla="*/ 59426 w 118852"/>
                  <a:gd name="connsiteY17" fmla="*/ 65755 h 118741"/>
                  <a:gd name="connsiteX18" fmla="*/ 36422 w 118852"/>
                  <a:gd name="connsiteY18" fmla="*/ 42772 h 118741"/>
                  <a:gd name="connsiteX19" fmla="*/ 53036 w 118852"/>
                  <a:gd name="connsiteY19" fmla="*/ 21067 h 118741"/>
                  <a:gd name="connsiteX20" fmla="*/ 53036 w 118852"/>
                  <a:gd name="connsiteY20" fmla="*/ 15321 h 118741"/>
                  <a:gd name="connsiteX21" fmla="*/ 59426 w 118852"/>
                  <a:gd name="connsiteY21" fmla="*/ 8937 h 118741"/>
                  <a:gd name="connsiteX22" fmla="*/ 65816 w 118852"/>
                  <a:gd name="connsiteY22" fmla="*/ 15321 h 118741"/>
                  <a:gd name="connsiteX23" fmla="*/ 65816 w 118852"/>
                  <a:gd name="connsiteY23" fmla="*/ 21067 h 118741"/>
                  <a:gd name="connsiteX24" fmla="*/ 82430 w 118852"/>
                  <a:gd name="connsiteY24" fmla="*/ 42772 h 118741"/>
                  <a:gd name="connsiteX25" fmla="*/ 76040 w 118852"/>
                  <a:gd name="connsiteY25" fmla="*/ 49156 h 118741"/>
                  <a:gd name="connsiteX26" fmla="*/ 69650 w 118852"/>
                  <a:gd name="connsiteY26" fmla="*/ 42772 h 118741"/>
                  <a:gd name="connsiteX27" fmla="*/ 59426 w 118852"/>
                  <a:gd name="connsiteY27" fmla="*/ 32558 h 118741"/>
                  <a:gd name="connsiteX28" fmla="*/ 49202 w 118852"/>
                  <a:gd name="connsiteY28" fmla="*/ 42772 h 118741"/>
                  <a:gd name="connsiteX29" fmla="*/ 59426 w 118852"/>
                  <a:gd name="connsiteY29" fmla="*/ 52987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852" h="118741">
                    <a:moveTo>
                      <a:pt x="59426" y="0"/>
                    </a:moveTo>
                    <a:cubicBezTo>
                      <a:pt x="26837" y="0"/>
                      <a:pt x="0" y="26812"/>
                      <a:pt x="0" y="59371"/>
                    </a:cubicBezTo>
                    <a:cubicBezTo>
                      <a:pt x="0" y="91929"/>
                      <a:pt x="26837" y="118742"/>
                      <a:pt x="59426" y="118742"/>
                    </a:cubicBezTo>
                    <a:cubicBezTo>
                      <a:pt x="92014" y="118742"/>
                      <a:pt x="118853" y="91929"/>
                      <a:pt x="118853" y="59371"/>
                    </a:cubicBezTo>
                    <a:cubicBezTo>
                      <a:pt x="118853" y="26812"/>
                      <a:pt x="92014" y="0"/>
                      <a:pt x="59426" y="0"/>
                    </a:cubicBezTo>
                    <a:close/>
                    <a:moveTo>
                      <a:pt x="59426" y="52987"/>
                    </a:moveTo>
                    <a:cubicBezTo>
                      <a:pt x="72206" y="52987"/>
                      <a:pt x="82430" y="63201"/>
                      <a:pt x="82430" y="75969"/>
                    </a:cubicBezTo>
                    <a:cubicBezTo>
                      <a:pt x="82430" y="86184"/>
                      <a:pt x="75401" y="95121"/>
                      <a:pt x="65816" y="97675"/>
                    </a:cubicBezTo>
                    <a:lnTo>
                      <a:pt x="65816" y="103420"/>
                    </a:lnTo>
                    <a:cubicBezTo>
                      <a:pt x="65816" y="107251"/>
                      <a:pt x="63260" y="109804"/>
                      <a:pt x="59426" y="109804"/>
                    </a:cubicBezTo>
                    <a:cubicBezTo>
                      <a:pt x="55592" y="109804"/>
                      <a:pt x="53036" y="107251"/>
                      <a:pt x="53036" y="103420"/>
                    </a:cubicBezTo>
                    <a:lnTo>
                      <a:pt x="53036" y="97675"/>
                    </a:lnTo>
                    <a:cubicBezTo>
                      <a:pt x="43451" y="95121"/>
                      <a:pt x="36422" y="86184"/>
                      <a:pt x="36422" y="75969"/>
                    </a:cubicBezTo>
                    <a:cubicBezTo>
                      <a:pt x="36422" y="72139"/>
                      <a:pt x="38978" y="69585"/>
                      <a:pt x="42812" y="69585"/>
                    </a:cubicBezTo>
                    <a:cubicBezTo>
                      <a:pt x="46646" y="69585"/>
                      <a:pt x="49202" y="72139"/>
                      <a:pt x="49202" y="75969"/>
                    </a:cubicBezTo>
                    <a:cubicBezTo>
                      <a:pt x="49202" y="81715"/>
                      <a:pt x="53675" y="86184"/>
                      <a:pt x="59426" y="86184"/>
                    </a:cubicBezTo>
                    <a:cubicBezTo>
                      <a:pt x="65177" y="86184"/>
                      <a:pt x="69650" y="81715"/>
                      <a:pt x="69650" y="75969"/>
                    </a:cubicBezTo>
                    <a:cubicBezTo>
                      <a:pt x="69650" y="70224"/>
                      <a:pt x="65177" y="65755"/>
                      <a:pt x="59426" y="65755"/>
                    </a:cubicBezTo>
                    <a:cubicBezTo>
                      <a:pt x="46646" y="65755"/>
                      <a:pt x="36422" y="55540"/>
                      <a:pt x="36422" y="42772"/>
                    </a:cubicBezTo>
                    <a:cubicBezTo>
                      <a:pt x="36422" y="32558"/>
                      <a:pt x="43451" y="23620"/>
                      <a:pt x="53036" y="21067"/>
                    </a:cubicBezTo>
                    <a:lnTo>
                      <a:pt x="53036" y="15321"/>
                    </a:lnTo>
                    <a:cubicBezTo>
                      <a:pt x="53036" y="11491"/>
                      <a:pt x="55592" y="8937"/>
                      <a:pt x="59426" y="8937"/>
                    </a:cubicBezTo>
                    <a:cubicBezTo>
                      <a:pt x="63260" y="8937"/>
                      <a:pt x="65816" y="11491"/>
                      <a:pt x="65816" y="15321"/>
                    </a:cubicBezTo>
                    <a:lnTo>
                      <a:pt x="65816" y="21067"/>
                    </a:lnTo>
                    <a:cubicBezTo>
                      <a:pt x="75401" y="23620"/>
                      <a:pt x="82430" y="32558"/>
                      <a:pt x="82430" y="42772"/>
                    </a:cubicBezTo>
                    <a:cubicBezTo>
                      <a:pt x="82430" y="46603"/>
                      <a:pt x="79874" y="49156"/>
                      <a:pt x="76040" y="49156"/>
                    </a:cubicBezTo>
                    <a:cubicBezTo>
                      <a:pt x="72206" y="49156"/>
                      <a:pt x="69650" y="46603"/>
                      <a:pt x="69650" y="42772"/>
                    </a:cubicBezTo>
                    <a:cubicBezTo>
                      <a:pt x="69650" y="37027"/>
                      <a:pt x="65177" y="32558"/>
                      <a:pt x="59426" y="32558"/>
                    </a:cubicBezTo>
                    <a:cubicBezTo>
                      <a:pt x="53675" y="32558"/>
                      <a:pt x="49202" y="37027"/>
                      <a:pt x="49202" y="42772"/>
                    </a:cubicBezTo>
                    <a:cubicBezTo>
                      <a:pt x="49202" y="48518"/>
                      <a:pt x="53675" y="52987"/>
                      <a:pt x="59426" y="52987"/>
                    </a:cubicBez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91" name="Graphic 4">
                <a:extLst>
                  <a:ext uri="{FF2B5EF4-FFF2-40B4-BE49-F238E27FC236}">
                    <a16:creationId xmlns:a16="http://schemas.microsoft.com/office/drawing/2014/main" id="{0942E720-3D39-411F-476E-C18593C45E41}"/>
                  </a:ext>
                </a:extLst>
              </p:cNvPr>
              <p:cNvSpPr/>
              <p:nvPr/>
            </p:nvSpPr>
            <p:spPr bwMode="gray">
              <a:xfrm>
                <a:off x="8239823" y="3339623"/>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0 w 361670"/>
                  <a:gd name="connsiteY3" fmla="*/ 180667 h 361333"/>
                  <a:gd name="connsiteX4" fmla="*/ 180836 w 361670"/>
                  <a:gd name="connsiteY4" fmla="*/ 0 h 361333"/>
                  <a:gd name="connsiteX5" fmla="*/ 141856 w 361670"/>
                  <a:gd name="connsiteY5" fmla="*/ 187689 h 361333"/>
                  <a:gd name="connsiteX6" fmla="*/ 148246 w 361670"/>
                  <a:gd name="connsiteY6" fmla="*/ 194073 h 361333"/>
                  <a:gd name="connsiteX7" fmla="*/ 141856 w 361670"/>
                  <a:gd name="connsiteY7" fmla="*/ 200457 h 361333"/>
                  <a:gd name="connsiteX8" fmla="*/ 141856 w 361670"/>
                  <a:gd name="connsiteY8" fmla="*/ 200457 h 361333"/>
                  <a:gd name="connsiteX9" fmla="*/ 88181 w 361670"/>
                  <a:gd name="connsiteY9" fmla="*/ 186412 h 361333"/>
                  <a:gd name="connsiteX10" fmla="*/ 88181 w 361670"/>
                  <a:gd name="connsiteY10" fmla="*/ 194073 h 361333"/>
                  <a:gd name="connsiteX11" fmla="*/ 142496 w 361670"/>
                  <a:gd name="connsiteY11" fmla="*/ 215140 h 361333"/>
                  <a:gd name="connsiteX12" fmla="*/ 148886 w 361670"/>
                  <a:gd name="connsiteY12" fmla="*/ 221524 h 361333"/>
                  <a:gd name="connsiteX13" fmla="*/ 142496 w 361670"/>
                  <a:gd name="connsiteY13" fmla="*/ 227908 h 361333"/>
                  <a:gd name="connsiteX14" fmla="*/ 142496 w 361670"/>
                  <a:gd name="connsiteY14" fmla="*/ 227908 h 361333"/>
                  <a:gd name="connsiteX15" fmla="*/ 88820 w 361670"/>
                  <a:gd name="connsiteY15" fmla="*/ 213863 h 361333"/>
                  <a:gd name="connsiteX16" fmla="*/ 88820 w 361670"/>
                  <a:gd name="connsiteY16" fmla="*/ 221524 h 361333"/>
                  <a:gd name="connsiteX17" fmla="*/ 148246 w 361670"/>
                  <a:gd name="connsiteY17" fmla="*/ 242591 h 361333"/>
                  <a:gd name="connsiteX18" fmla="*/ 154636 w 361670"/>
                  <a:gd name="connsiteY18" fmla="*/ 248975 h 361333"/>
                  <a:gd name="connsiteX19" fmla="*/ 148246 w 361670"/>
                  <a:gd name="connsiteY19" fmla="*/ 255359 h 361333"/>
                  <a:gd name="connsiteX20" fmla="*/ 76040 w 361670"/>
                  <a:gd name="connsiteY20" fmla="*/ 221524 h 361333"/>
                  <a:gd name="connsiteX21" fmla="*/ 76040 w 361670"/>
                  <a:gd name="connsiteY21" fmla="*/ 111720 h 361333"/>
                  <a:gd name="connsiteX22" fmla="*/ 148246 w 361670"/>
                  <a:gd name="connsiteY22" fmla="*/ 77885 h 361333"/>
                  <a:gd name="connsiteX23" fmla="*/ 220453 w 361670"/>
                  <a:gd name="connsiteY23" fmla="*/ 111720 h 361333"/>
                  <a:gd name="connsiteX24" fmla="*/ 148246 w 361670"/>
                  <a:gd name="connsiteY24" fmla="*/ 145555 h 361333"/>
                  <a:gd name="connsiteX25" fmla="*/ 88820 w 361670"/>
                  <a:gd name="connsiteY25" fmla="*/ 131510 h 361333"/>
                  <a:gd name="connsiteX26" fmla="*/ 88820 w 361670"/>
                  <a:gd name="connsiteY26" fmla="*/ 139171 h 361333"/>
                  <a:gd name="connsiteX27" fmla="*/ 148246 w 361670"/>
                  <a:gd name="connsiteY27" fmla="*/ 160238 h 361333"/>
                  <a:gd name="connsiteX28" fmla="*/ 154636 w 361670"/>
                  <a:gd name="connsiteY28" fmla="*/ 166622 h 361333"/>
                  <a:gd name="connsiteX29" fmla="*/ 148246 w 361670"/>
                  <a:gd name="connsiteY29" fmla="*/ 173006 h 361333"/>
                  <a:gd name="connsiteX30" fmla="*/ 88820 w 361670"/>
                  <a:gd name="connsiteY30" fmla="*/ 158961 h 361333"/>
                  <a:gd name="connsiteX31" fmla="*/ 88820 w 361670"/>
                  <a:gd name="connsiteY31" fmla="*/ 166622 h 361333"/>
                  <a:gd name="connsiteX32" fmla="*/ 141856 w 361670"/>
                  <a:gd name="connsiteY32" fmla="*/ 187689 h 361333"/>
                  <a:gd name="connsiteX33" fmla="*/ 227482 w 361670"/>
                  <a:gd name="connsiteY33" fmla="*/ 284087 h 361333"/>
                  <a:gd name="connsiteX34" fmla="*/ 155276 w 361670"/>
                  <a:gd name="connsiteY34" fmla="*/ 211948 h 361333"/>
                  <a:gd name="connsiteX35" fmla="*/ 227482 w 361670"/>
                  <a:gd name="connsiteY35" fmla="*/ 139809 h 361333"/>
                  <a:gd name="connsiteX36" fmla="*/ 299688 w 361670"/>
                  <a:gd name="connsiteY36" fmla="*/ 211948 h 361333"/>
                  <a:gd name="connsiteX37" fmla="*/ 227482 w 361670"/>
                  <a:gd name="connsiteY37" fmla="*/ 28408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61670" h="361333">
                    <a:moveTo>
                      <a:pt x="180836" y="0"/>
                    </a:moveTo>
                    <a:cubicBezTo>
                      <a:pt x="80513" y="0"/>
                      <a:pt x="0" y="81077"/>
                      <a:pt x="0" y="180667"/>
                    </a:cubicBezTo>
                    <a:cubicBezTo>
                      <a:pt x="0" y="280257"/>
                      <a:pt x="81152" y="361333"/>
                      <a:pt x="180836" y="361333"/>
                    </a:cubicBezTo>
                    <a:cubicBezTo>
                      <a:pt x="281157" y="361333"/>
                      <a:pt x="361670" y="280257"/>
                      <a:pt x="361670" y="180667"/>
                    </a:cubicBezTo>
                    <a:cubicBezTo>
                      <a:pt x="361670" y="81077"/>
                      <a:pt x="281157" y="0"/>
                      <a:pt x="180836" y="0"/>
                    </a:cubicBezTo>
                    <a:close/>
                    <a:moveTo>
                      <a:pt x="141856" y="187689"/>
                    </a:moveTo>
                    <a:cubicBezTo>
                      <a:pt x="145691" y="187689"/>
                      <a:pt x="148246" y="190881"/>
                      <a:pt x="148246" y="194073"/>
                    </a:cubicBezTo>
                    <a:cubicBezTo>
                      <a:pt x="148246" y="197265"/>
                      <a:pt x="145051" y="200457"/>
                      <a:pt x="141856" y="200457"/>
                    </a:cubicBezTo>
                    <a:cubicBezTo>
                      <a:pt x="141856" y="200457"/>
                      <a:pt x="141856" y="200457"/>
                      <a:pt x="141856" y="200457"/>
                    </a:cubicBezTo>
                    <a:cubicBezTo>
                      <a:pt x="118853" y="199819"/>
                      <a:pt x="99683" y="194711"/>
                      <a:pt x="88181" y="186412"/>
                    </a:cubicBezTo>
                    <a:lnTo>
                      <a:pt x="88181" y="194073"/>
                    </a:lnTo>
                    <a:cubicBezTo>
                      <a:pt x="88181" y="201734"/>
                      <a:pt x="107351" y="213863"/>
                      <a:pt x="142496" y="215140"/>
                    </a:cubicBezTo>
                    <a:cubicBezTo>
                      <a:pt x="146330" y="215140"/>
                      <a:pt x="148886" y="218332"/>
                      <a:pt x="148886" y="221524"/>
                    </a:cubicBezTo>
                    <a:cubicBezTo>
                      <a:pt x="148886" y="224716"/>
                      <a:pt x="145691" y="227908"/>
                      <a:pt x="142496" y="227908"/>
                    </a:cubicBezTo>
                    <a:cubicBezTo>
                      <a:pt x="142496" y="227908"/>
                      <a:pt x="142496" y="227908"/>
                      <a:pt x="142496" y="227908"/>
                    </a:cubicBezTo>
                    <a:cubicBezTo>
                      <a:pt x="119492" y="227270"/>
                      <a:pt x="100322" y="222163"/>
                      <a:pt x="88820" y="213863"/>
                    </a:cubicBezTo>
                    <a:lnTo>
                      <a:pt x="88820" y="221524"/>
                    </a:lnTo>
                    <a:cubicBezTo>
                      <a:pt x="88820" y="229823"/>
                      <a:pt x="111824" y="242591"/>
                      <a:pt x="148246" y="242591"/>
                    </a:cubicBezTo>
                    <a:cubicBezTo>
                      <a:pt x="152081" y="242591"/>
                      <a:pt x="154636" y="245145"/>
                      <a:pt x="154636" y="248975"/>
                    </a:cubicBezTo>
                    <a:cubicBezTo>
                      <a:pt x="154636" y="252806"/>
                      <a:pt x="152081" y="255359"/>
                      <a:pt x="148246" y="255359"/>
                    </a:cubicBezTo>
                    <a:cubicBezTo>
                      <a:pt x="113102" y="255359"/>
                      <a:pt x="76040" y="243868"/>
                      <a:pt x="76040" y="221524"/>
                    </a:cubicBezTo>
                    <a:lnTo>
                      <a:pt x="76040" y="111720"/>
                    </a:lnTo>
                    <a:cubicBezTo>
                      <a:pt x="76040" y="90014"/>
                      <a:pt x="113102" y="77885"/>
                      <a:pt x="148246" y="77885"/>
                    </a:cubicBezTo>
                    <a:cubicBezTo>
                      <a:pt x="183391" y="77885"/>
                      <a:pt x="220453" y="90014"/>
                      <a:pt x="220453" y="111720"/>
                    </a:cubicBezTo>
                    <a:cubicBezTo>
                      <a:pt x="220453" y="133425"/>
                      <a:pt x="183391" y="145555"/>
                      <a:pt x="148246" y="145555"/>
                    </a:cubicBezTo>
                    <a:cubicBezTo>
                      <a:pt x="125881" y="145555"/>
                      <a:pt x="102878" y="140448"/>
                      <a:pt x="88820" y="131510"/>
                    </a:cubicBezTo>
                    <a:lnTo>
                      <a:pt x="88820" y="139171"/>
                    </a:lnTo>
                    <a:cubicBezTo>
                      <a:pt x="88820" y="148108"/>
                      <a:pt x="111185" y="160238"/>
                      <a:pt x="148246" y="160238"/>
                    </a:cubicBezTo>
                    <a:cubicBezTo>
                      <a:pt x="152081" y="160238"/>
                      <a:pt x="154636" y="162792"/>
                      <a:pt x="154636" y="166622"/>
                    </a:cubicBezTo>
                    <a:cubicBezTo>
                      <a:pt x="154636" y="170452"/>
                      <a:pt x="152081" y="173006"/>
                      <a:pt x="148246" y="173006"/>
                    </a:cubicBezTo>
                    <a:cubicBezTo>
                      <a:pt x="125881" y="173006"/>
                      <a:pt x="102878" y="167899"/>
                      <a:pt x="88820" y="158961"/>
                    </a:cubicBezTo>
                    <a:lnTo>
                      <a:pt x="88820" y="166622"/>
                    </a:lnTo>
                    <a:cubicBezTo>
                      <a:pt x="87542" y="174921"/>
                      <a:pt x="107351" y="186412"/>
                      <a:pt x="141856" y="187689"/>
                    </a:cubicBezTo>
                    <a:close/>
                    <a:moveTo>
                      <a:pt x="227482" y="284087"/>
                    </a:moveTo>
                    <a:cubicBezTo>
                      <a:pt x="187864" y="284087"/>
                      <a:pt x="155276" y="251529"/>
                      <a:pt x="155276" y="211948"/>
                    </a:cubicBezTo>
                    <a:cubicBezTo>
                      <a:pt x="155276" y="172368"/>
                      <a:pt x="187864" y="139809"/>
                      <a:pt x="227482" y="139809"/>
                    </a:cubicBezTo>
                    <a:cubicBezTo>
                      <a:pt x="267100" y="139809"/>
                      <a:pt x="299688" y="172368"/>
                      <a:pt x="299688" y="211948"/>
                    </a:cubicBezTo>
                    <a:cubicBezTo>
                      <a:pt x="299688" y="251529"/>
                      <a:pt x="267100" y="284087"/>
                      <a:pt x="227482" y="284087"/>
                    </a:cubicBez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grpSp>
      </p:grpSp>
      <p:grpSp>
        <p:nvGrpSpPr>
          <p:cNvPr id="44" name="グループ化 43">
            <a:extLst>
              <a:ext uri="{FF2B5EF4-FFF2-40B4-BE49-F238E27FC236}">
                <a16:creationId xmlns:a16="http://schemas.microsoft.com/office/drawing/2014/main" id="{7F72FBCA-A3CD-9ACE-6DA7-617DAA1FA9C3}"/>
              </a:ext>
            </a:extLst>
          </p:cNvPr>
          <p:cNvGrpSpPr/>
          <p:nvPr/>
        </p:nvGrpSpPr>
        <p:grpSpPr>
          <a:xfrm>
            <a:off x="3389423" y="4904974"/>
            <a:ext cx="3132708" cy="1246307"/>
            <a:chOff x="3427131" y="4678728"/>
            <a:chExt cx="3132708" cy="1246307"/>
          </a:xfrm>
        </p:grpSpPr>
        <p:sp>
          <p:nvSpPr>
            <p:cNvPr id="71" name="正方形/長方形 70">
              <a:extLst>
                <a:ext uri="{FF2B5EF4-FFF2-40B4-BE49-F238E27FC236}">
                  <a16:creationId xmlns:a16="http://schemas.microsoft.com/office/drawing/2014/main" id="{0743D083-741D-993D-D156-8CB2FCEC7EAD}"/>
                </a:ext>
              </a:extLst>
            </p:cNvPr>
            <p:cNvSpPr/>
            <p:nvPr/>
          </p:nvSpPr>
          <p:spPr>
            <a:xfrm>
              <a:off x="3427131" y="4895776"/>
              <a:ext cx="3132000" cy="1029259"/>
            </a:xfrm>
            <a:prstGeom prst="rect">
              <a:avLst/>
            </a:prstGeom>
            <a:solidFill>
              <a:schemeClr val="accent1">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tIns="252000" rtlCol="0" anchor="t" anchorCtr="0"/>
            <a:lstStyle/>
            <a:p>
              <a:pPr marL="176213" indent="-176213">
                <a:buFont typeface="Arial" panose="020B0604020202020204" pitchFamily="34" charset="0"/>
                <a:buChar char="•"/>
              </a:pPr>
              <a:r>
                <a:rPr lang="en-US" altLang="ja-JP" sz="1200" dirty="0"/>
                <a:t>Digital driving license</a:t>
              </a:r>
            </a:p>
            <a:p>
              <a:pPr marL="176213" indent="-176213">
                <a:buFont typeface="Arial" panose="020B0604020202020204" pitchFamily="34" charset="0"/>
                <a:buChar char="•"/>
              </a:pPr>
              <a:r>
                <a:rPr lang="en-US" altLang="ja-JP" sz="1200" dirty="0"/>
                <a:t>Seamless immigration</a:t>
              </a:r>
            </a:p>
            <a:p>
              <a:pPr marL="176213" indent="-176213">
                <a:buFont typeface="Arial" panose="020B0604020202020204" pitchFamily="34" charset="0"/>
                <a:buChar char="•"/>
              </a:pPr>
              <a:r>
                <a:rPr lang="en-US" altLang="ja-JP" sz="1200" dirty="0"/>
                <a:t>Speedy air travel</a:t>
              </a:r>
            </a:p>
            <a:p>
              <a:pPr marL="176213" indent="-176213">
                <a:buFont typeface="Arial" panose="020B0604020202020204" pitchFamily="34" charset="0"/>
                <a:buChar char="•"/>
              </a:pPr>
              <a:r>
                <a:rPr lang="en-US" altLang="ja-JP" sz="1200" dirty="0"/>
                <a:t>Refugee crisis</a:t>
              </a:r>
            </a:p>
            <a:p>
              <a:pPr marL="176213" indent="-176213">
                <a:buFont typeface="Arial" panose="020B0604020202020204" pitchFamily="34" charset="0"/>
                <a:buChar char="•"/>
              </a:pPr>
              <a:endParaRPr lang="ja-JP" altLang="en-US" sz="1200" dirty="0"/>
            </a:p>
          </p:txBody>
        </p:sp>
        <p:sp>
          <p:nvSpPr>
            <p:cNvPr id="72" name="四角形: 角を丸くする 71">
              <a:extLst>
                <a:ext uri="{FF2B5EF4-FFF2-40B4-BE49-F238E27FC236}">
                  <a16:creationId xmlns:a16="http://schemas.microsoft.com/office/drawing/2014/main" id="{208E94FC-C7FA-7D6F-CCC6-62A7469437C3}"/>
                </a:ext>
              </a:extLst>
            </p:cNvPr>
            <p:cNvSpPr/>
            <p:nvPr/>
          </p:nvSpPr>
          <p:spPr>
            <a:xfrm>
              <a:off x="3427839" y="4678728"/>
              <a:ext cx="3132000" cy="411521"/>
            </a:xfrm>
            <a:prstGeom prst="roundRect">
              <a:avLst>
                <a:gd name="adj" fmla="val 50000"/>
              </a:avLst>
            </a:prstGeom>
            <a:solidFill>
              <a:schemeClr val="accent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b="1" dirty="0">
                  <a:solidFill>
                    <a:schemeClr val="bg1"/>
                  </a:solidFill>
                </a:rPr>
                <a:t>　　</a:t>
              </a:r>
              <a:r>
                <a:rPr lang="en-US" altLang="ja-JP" sz="1400" b="1" dirty="0">
                  <a:solidFill>
                    <a:schemeClr val="bg1"/>
                  </a:solidFill>
                </a:rPr>
                <a:t>Legal Identity</a:t>
              </a:r>
              <a:endParaRPr kumimoji="1" lang="ja-JP" altLang="en-US" sz="1400" b="1" dirty="0">
                <a:solidFill>
                  <a:schemeClr val="bg1"/>
                </a:solidFill>
              </a:endParaRPr>
            </a:p>
          </p:txBody>
        </p:sp>
        <p:sp>
          <p:nvSpPr>
            <p:cNvPr id="92" name="Graphic 4">
              <a:extLst>
                <a:ext uri="{FF2B5EF4-FFF2-40B4-BE49-F238E27FC236}">
                  <a16:creationId xmlns:a16="http://schemas.microsoft.com/office/drawing/2014/main" id="{7FECF008-ACCE-7B57-8F94-0F67BCA53142}"/>
                </a:ext>
              </a:extLst>
            </p:cNvPr>
            <p:cNvSpPr>
              <a:spLocks noChangeAspect="1"/>
            </p:cNvSpPr>
            <p:nvPr/>
          </p:nvSpPr>
          <p:spPr bwMode="gray">
            <a:xfrm>
              <a:off x="3470546" y="4707058"/>
              <a:ext cx="360000" cy="360000"/>
            </a:xfrm>
            <a:custGeom>
              <a:avLst/>
              <a:gdLst>
                <a:gd name="connsiteX0" fmla="*/ 227482 w 362309"/>
                <a:gd name="connsiteY0" fmla="*/ 215779 h 361971"/>
                <a:gd name="connsiteX1" fmla="*/ 223648 w 362309"/>
                <a:gd name="connsiteY1" fmla="*/ 217055 h 361971"/>
                <a:gd name="connsiteX2" fmla="*/ 223648 w 362309"/>
                <a:gd name="connsiteY2" fmla="*/ 221524 h 361971"/>
                <a:gd name="connsiteX3" fmla="*/ 225565 w 362309"/>
                <a:gd name="connsiteY3" fmla="*/ 220247 h 361971"/>
                <a:gd name="connsiteX4" fmla="*/ 228121 w 362309"/>
                <a:gd name="connsiteY4" fmla="*/ 218971 h 361971"/>
                <a:gd name="connsiteX5" fmla="*/ 230038 w 362309"/>
                <a:gd name="connsiteY5" fmla="*/ 218971 h 361971"/>
                <a:gd name="connsiteX6" fmla="*/ 232594 w 362309"/>
                <a:gd name="connsiteY6" fmla="*/ 220247 h 361971"/>
                <a:gd name="connsiteX7" fmla="*/ 234511 w 362309"/>
                <a:gd name="connsiteY7" fmla="*/ 221524 h 361971"/>
                <a:gd name="connsiteX8" fmla="*/ 234511 w 362309"/>
                <a:gd name="connsiteY8" fmla="*/ 216417 h 361971"/>
                <a:gd name="connsiteX9" fmla="*/ 230677 w 362309"/>
                <a:gd name="connsiteY9" fmla="*/ 215140 h 361971"/>
                <a:gd name="connsiteX10" fmla="*/ 228760 w 362309"/>
                <a:gd name="connsiteY10" fmla="*/ 214502 h 361971"/>
                <a:gd name="connsiteX11" fmla="*/ 227482 w 362309"/>
                <a:gd name="connsiteY11" fmla="*/ 215779 h 361971"/>
                <a:gd name="connsiteX12" fmla="*/ 215341 w 362309"/>
                <a:gd name="connsiteY12" fmla="*/ 185774 h 361971"/>
                <a:gd name="connsiteX13" fmla="*/ 229399 w 362309"/>
                <a:gd name="connsiteY13" fmla="*/ 171729 h 361971"/>
                <a:gd name="connsiteX14" fmla="*/ 243457 w 362309"/>
                <a:gd name="connsiteY14" fmla="*/ 185774 h 361971"/>
                <a:gd name="connsiteX15" fmla="*/ 229399 w 362309"/>
                <a:gd name="connsiteY15" fmla="*/ 199819 h 361971"/>
                <a:gd name="connsiteX16" fmla="*/ 215341 w 362309"/>
                <a:gd name="connsiteY16" fmla="*/ 185774 h 361971"/>
                <a:gd name="connsiteX17" fmla="*/ 215341 w 362309"/>
                <a:gd name="connsiteY17" fmla="*/ 185774 h 361971"/>
                <a:gd name="connsiteX18" fmla="*/ 212785 w 362309"/>
                <a:gd name="connsiteY18" fmla="*/ 185774 h 361971"/>
                <a:gd name="connsiteX19" fmla="*/ 212146 w 362309"/>
                <a:gd name="connsiteY19" fmla="*/ 190243 h 361971"/>
                <a:gd name="connsiteX20" fmla="*/ 215341 w 362309"/>
                <a:gd name="connsiteY20" fmla="*/ 193435 h 361971"/>
                <a:gd name="connsiteX21" fmla="*/ 220453 w 362309"/>
                <a:gd name="connsiteY21" fmla="*/ 199819 h 361971"/>
                <a:gd name="connsiteX22" fmla="*/ 221731 w 362309"/>
                <a:gd name="connsiteY22" fmla="*/ 199819 h 361971"/>
                <a:gd name="connsiteX23" fmla="*/ 225565 w 362309"/>
                <a:gd name="connsiteY23" fmla="*/ 203011 h 361971"/>
                <a:gd name="connsiteX24" fmla="*/ 234511 w 362309"/>
                <a:gd name="connsiteY24" fmla="*/ 203011 h 361971"/>
                <a:gd name="connsiteX25" fmla="*/ 238345 w 362309"/>
                <a:gd name="connsiteY25" fmla="*/ 199819 h 361971"/>
                <a:gd name="connsiteX26" fmla="*/ 242818 w 362309"/>
                <a:gd name="connsiteY26" fmla="*/ 198542 h 361971"/>
                <a:gd name="connsiteX27" fmla="*/ 244096 w 362309"/>
                <a:gd name="connsiteY27" fmla="*/ 194073 h 361971"/>
                <a:gd name="connsiteX28" fmla="*/ 247291 w 362309"/>
                <a:gd name="connsiteY28" fmla="*/ 190881 h 361971"/>
                <a:gd name="connsiteX29" fmla="*/ 247291 w 362309"/>
                <a:gd name="connsiteY29" fmla="*/ 181305 h 361971"/>
                <a:gd name="connsiteX30" fmla="*/ 244096 w 362309"/>
                <a:gd name="connsiteY30" fmla="*/ 177475 h 361971"/>
                <a:gd name="connsiteX31" fmla="*/ 242818 w 362309"/>
                <a:gd name="connsiteY31" fmla="*/ 173006 h 361971"/>
                <a:gd name="connsiteX32" fmla="*/ 238345 w 362309"/>
                <a:gd name="connsiteY32" fmla="*/ 171729 h 361971"/>
                <a:gd name="connsiteX33" fmla="*/ 234511 w 362309"/>
                <a:gd name="connsiteY33" fmla="*/ 168537 h 361971"/>
                <a:gd name="connsiteX34" fmla="*/ 225565 w 362309"/>
                <a:gd name="connsiteY34" fmla="*/ 168537 h 361971"/>
                <a:gd name="connsiteX35" fmla="*/ 221731 w 362309"/>
                <a:gd name="connsiteY35" fmla="*/ 171729 h 361971"/>
                <a:gd name="connsiteX36" fmla="*/ 217258 w 362309"/>
                <a:gd name="connsiteY36" fmla="*/ 173006 h 361971"/>
                <a:gd name="connsiteX37" fmla="*/ 215980 w 362309"/>
                <a:gd name="connsiteY37" fmla="*/ 177475 h 361971"/>
                <a:gd name="connsiteX38" fmla="*/ 212785 w 362309"/>
                <a:gd name="connsiteY38" fmla="*/ 181305 h 361971"/>
                <a:gd name="connsiteX39" fmla="*/ 212785 w 362309"/>
                <a:gd name="connsiteY39" fmla="*/ 185774 h 361971"/>
                <a:gd name="connsiteX40" fmla="*/ 94571 w 362309"/>
                <a:gd name="connsiteY40" fmla="*/ 136617 h 361971"/>
                <a:gd name="connsiteX41" fmla="*/ 100961 w 362309"/>
                <a:gd name="connsiteY41" fmla="*/ 130233 h 361971"/>
                <a:gd name="connsiteX42" fmla="*/ 260709 w 362309"/>
                <a:gd name="connsiteY42" fmla="*/ 130233 h 361971"/>
                <a:gd name="connsiteX43" fmla="*/ 267099 w 362309"/>
                <a:gd name="connsiteY43" fmla="*/ 136617 h 361971"/>
                <a:gd name="connsiteX44" fmla="*/ 260709 w 362309"/>
                <a:gd name="connsiteY44" fmla="*/ 143001 h 361971"/>
                <a:gd name="connsiteX45" fmla="*/ 100961 w 362309"/>
                <a:gd name="connsiteY45" fmla="*/ 143001 h 361971"/>
                <a:gd name="connsiteX46" fmla="*/ 94571 w 362309"/>
                <a:gd name="connsiteY46" fmla="*/ 136617 h 361971"/>
                <a:gd name="connsiteX47" fmla="*/ 94571 w 362309"/>
                <a:gd name="connsiteY47" fmla="*/ 176836 h 361971"/>
                <a:gd name="connsiteX48" fmla="*/ 100961 w 362309"/>
                <a:gd name="connsiteY48" fmla="*/ 170452 h 361971"/>
                <a:gd name="connsiteX49" fmla="*/ 168694 w 362309"/>
                <a:gd name="connsiteY49" fmla="*/ 170452 h 361971"/>
                <a:gd name="connsiteX50" fmla="*/ 175084 w 362309"/>
                <a:gd name="connsiteY50" fmla="*/ 176836 h 361971"/>
                <a:gd name="connsiteX51" fmla="*/ 168694 w 362309"/>
                <a:gd name="connsiteY51" fmla="*/ 183220 h 361971"/>
                <a:gd name="connsiteX52" fmla="*/ 100961 w 362309"/>
                <a:gd name="connsiteY52" fmla="*/ 183220 h 361971"/>
                <a:gd name="connsiteX53" fmla="*/ 94571 w 362309"/>
                <a:gd name="connsiteY53" fmla="*/ 176836 h 361971"/>
                <a:gd name="connsiteX54" fmla="*/ 94571 w 362309"/>
                <a:gd name="connsiteY54" fmla="*/ 195988 h 361971"/>
                <a:gd name="connsiteX55" fmla="*/ 100961 w 362309"/>
                <a:gd name="connsiteY55" fmla="*/ 189604 h 361971"/>
                <a:gd name="connsiteX56" fmla="*/ 168694 w 362309"/>
                <a:gd name="connsiteY56" fmla="*/ 189604 h 361971"/>
                <a:gd name="connsiteX57" fmla="*/ 175084 w 362309"/>
                <a:gd name="connsiteY57" fmla="*/ 195988 h 361971"/>
                <a:gd name="connsiteX58" fmla="*/ 168694 w 362309"/>
                <a:gd name="connsiteY58" fmla="*/ 202372 h 361971"/>
                <a:gd name="connsiteX59" fmla="*/ 100961 w 362309"/>
                <a:gd name="connsiteY59" fmla="*/ 202372 h 361971"/>
                <a:gd name="connsiteX60" fmla="*/ 94571 w 362309"/>
                <a:gd name="connsiteY60" fmla="*/ 195988 h 361971"/>
                <a:gd name="connsiteX61" fmla="*/ 94571 w 362309"/>
                <a:gd name="connsiteY61" fmla="*/ 215779 h 361971"/>
                <a:gd name="connsiteX62" fmla="*/ 100961 w 362309"/>
                <a:gd name="connsiteY62" fmla="*/ 209395 h 361971"/>
                <a:gd name="connsiteX63" fmla="*/ 168694 w 362309"/>
                <a:gd name="connsiteY63" fmla="*/ 209395 h 361971"/>
                <a:gd name="connsiteX64" fmla="*/ 175084 w 362309"/>
                <a:gd name="connsiteY64" fmla="*/ 215779 h 361971"/>
                <a:gd name="connsiteX65" fmla="*/ 168694 w 362309"/>
                <a:gd name="connsiteY65" fmla="*/ 222163 h 361971"/>
                <a:gd name="connsiteX66" fmla="*/ 100961 w 362309"/>
                <a:gd name="connsiteY66" fmla="*/ 222163 h 361971"/>
                <a:gd name="connsiteX67" fmla="*/ 94571 w 362309"/>
                <a:gd name="connsiteY67" fmla="*/ 215779 h 361971"/>
                <a:gd name="connsiteX68" fmla="*/ 200005 w 362309"/>
                <a:gd name="connsiteY68" fmla="*/ 185774 h 361971"/>
                <a:gd name="connsiteX69" fmla="*/ 199366 w 362309"/>
                <a:gd name="connsiteY69" fmla="*/ 183859 h 361971"/>
                <a:gd name="connsiteX70" fmla="*/ 198088 w 362309"/>
                <a:gd name="connsiteY70" fmla="*/ 178752 h 361971"/>
                <a:gd name="connsiteX71" fmla="*/ 198727 w 362309"/>
                <a:gd name="connsiteY71" fmla="*/ 176198 h 361971"/>
                <a:gd name="connsiteX72" fmla="*/ 202561 w 362309"/>
                <a:gd name="connsiteY72" fmla="*/ 172368 h 361971"/>
                <a:gd name="connsiteX73" fmla="*/ 203839 w 362309"/>
                <a:gd name="connsiteY73" fmla="*/ 171091 h 361971"/>
                <a:gd name="connsiteX74" fmla="*/ 203839 w 362309"/>
                <a:gd name="connsiteY74" fmla="*/ 169176 h 361971"/>
                <a:gd name="connsiteX75" fmla="*/ 205117 w 362309"/>
                <a:gd name="connsiteY75" fmla="*/ 164068 h 361971"/>
                <a:gd name="connsiteX76" fmla="*/ 207034 w 362309"/>
                <a:gd name="connsiteY76" fmla="*/ 162153 h 361971"/>
                <a:gd name="connsiteX77" fmla="*/ 212146 w 362309"/>
                <a:gd name="connsiteY77" fmla="*/ 160876 h 361971"/>
                <a:gd name="connsiteX78" fmla="*/ 212785 w 362309"/>
                <a:gd name="connsiteY78" fmla="*/ 160876 h 361971"/>
                <a:gd name="connsiteX79" fmla="*/ 214063 w 362309"/>
                <a:gd name="connsiteY79" fmla="*/ 160876 h 361971"/>
                <a:gd name="connsiteX80" fmla="*/ 214702 w 362309"/>
                <a:gd name="connsiteY80" fmla="*/ 159600 h 361971"/>
                <a:gd name="connsiteX81" fmla="*/ 221731 w 362309"/>
                <a:gd name="connsiteY81" fmla="*/ 155131 h 361971"/>
                <a:gd name="connsiteX82" fmla="*/ 226843 w 362309"/>
                <a:gd name="connsiteY82" fmla="*/ 156408 h 361971"/>
                <a:gd name="connsiteX83" fmla="*/ 228760 w 362309"/>
                <a:gd name="connsiteY83" fmla="*/ 157046 h 361971"/>
                <a:gd name="connsiteX84" fmla="*/ 230677 w 362309"/>
                <a:gd name="connsiteY84" fmla="*/ 156408 h 361971"/>
                <a:gd name="connsiteX85" fmla="*/ 235789 w 362309"/>
                <a:gd name="connsiteY85" fmla="*/ 155131 h 361971"/>
                <a:gd name="connsiteX86" fmla="*/ 238345 w 362309"/>
                <a:gd name="connsiteY86" fmla="*/ 155769 h 361971"/>
                <a:gd name="connsiteX87" fmla="*/ 242179 w 362309"/>
                <a:gd name="connsiteY87" fmla="*/ 160238 h 361971"/>
                <a:gd name="connsiteX88" fmla="*/ 243457 w 362309"/>
                <a:gd name="connsiteY88" fmla="*/ 161515 h 361971"/>
                <a:gd name="connsiteX89" fmla="*/ 245374 w 362309"/>
                <a:gd name="connsiteY89" fmla="*/ 161515 h 361971"/>
                <a:gd name="connsiteX90" fmla="*/ 250486 w 362309"/>
                <a:gd name="connsiteY90" fmla="*/ 162792 h 361971"/>
                <a:gd name="connsiteX91" fmla="*/ 252403 w 362309"/>
                <a:gd name="connsiteY91" fmla="*/ 164707 h 361971"/>
                <a:gd name="connsiteX92" fmla="*/ 253680 w 362309"/>
                <a:gd name="connsiteY92" fmla="*/ 169814 h 361971"/>
                <a:gd name="connsiteX93" fmla="*/ 253680 w 362309"/>
                <a:gd name="connsiteY93" fmla="*/ 171729 h 361971"/>
                <a:gd name="connsiteX94" fmla="*/ 254959 w 362309"/>
                <a:gd name="connsiteY94" fmla="*/ 173006 h 361971"/>
                <a:gd name="connsiteX95" fmla="*/ 258792 w 362309"/>
                <a:gd name="connsiteY95" fmla="*/ 176836 h 361971"/>
                <a:gd name="connsiteX96" fmla="*/ 259431 w 362309"/>
                <a:gd name="connsiteY96" fmla="*/ 179390 h 361971"/>
                <a:gd name="connsiteX97" fmla="*/ 258154 w 362309"/>
                <a:gd name="connsiteY97" fmla="*/ 184497 h 361971"/>
                <a:gd name="connsiteX98" fmla="*/ 257514 w 362309"/>
                <a:gd name="connsiteY98" fmla="*/ 186412 h 361971"/>
                <a:gd name="connsiteX99" fmla="*/ 258154 w 362309"/>
                <a:gd name="connsiteY99" fmla="*/ 188327 h 361971"/>
                <a:gd name="connsiteX100" fmla="*/ 259431 w 362309"/>
                <a:gd name="connsiteY100" fmla="*/ 193435 h 361971"/>
                <a:gd name="connsiteX101" fmla="*/ 258792 w 362309"/>
                <a:gd name="connsiteY101" fmla="*/ 195988 h 361971"/>
                <a:gd name="connsiteX102" fmla="*/ 254959 w 362309"/>
                <a:gd name="connsiteY102" fmla="*/ 199819 h 361971"/>
                <a:gd name="connsiteX103" fmla="*/ 254959 w 362309"/>
                <a:gd name="connsiteY103" fmla="*/ 199819 h 361971"/>
                <a:gd name="connsiteX104" fmla="*/ 253680 w 362309"/>
                <a:gd name="connsiteY104" fmla="*/ 201095 h 361971"/>
                <a:gd name="connsiteX105" fmla="*/ 253680 w 362309"/>
                <a:gd name="connsiteY105" fmla="*/ 203011 h 361971"/>
                <a:gd name="connsiteX106" fmla="*/ 252403 w 362309"/>
                <a:gd name="connsiteY106" fmla="*/ 208118 h 361971"/>
                <a:gd name="connsiteX107" fmla="*/ 250486 w 362309"/>
                <a:gd name="connsiteY107" fmla="*/ 210033 h 361971"/>
                <a:gd name="connsiteX108" fmla="*/ 246652 w 362309"/>
                <a:gd name="connsiteY108" fmla="*/ 211310 h 361971"/>
                <a:gd name="connsiteX109" fmla="*/ 246652 w 362309"/>
                <a:gd name="connsiteY109" fmla="*/ 234292 h 361971"/>
                <a:gd name="connsiteX110" fmla="*/ 243457 w 362309"/>
                <a:gd name="connsiteY110" fmla="*/ 240038 h 361971"/>
                <a:gd name="connsiteX111" fmla="*/ 240262 w 362309"/>
                <a:gd name="connsiteY111" fmla="*/ 240676 h 361971"/>
                <a:gd name="connsiteX112" fmla="*/ 236428 w 362309"/>
                <a:gd name="connsiteY112" fmla="*/ 239399 h 361971"/>
                <a:gd name="connsiteX113" fmla="*/ 228121 w 362309"/>
                <a:gd name="connsiteY113" fmla="*/ 233654 h 361971"/>
                <a:gd name="connsiteX114" fmla="*/ 219814 w 362309"/>
                <a:gd name="connsiteY114" fmla="*/ 239399 h 361971"/>
                <a:gd name="connsiteX115" fmla="*/ 210868 w 362309"/>
                <a:gd name="connsiteY115" fmla="*/ 237484 h 361971"/>
                <a:gd name="connsiteX116" fmla="*/ 209590 w 362309"/>
                <a:gd name="connsiteY116" fmla="*/ 233654 h 361971"/>
                <a:gd name="connsiteX117" fmla="*/ 209590 w 362309"/>
                <a:gd name="connsiteY117" fmla="*/ 210671 h 361971"/>
                <a:gd name="connsiteX118" fmla="*/ 206395 w 362309"/>
                <a:gd name="connsiteY118" fmla="*/ 209395 h 361971"/>
                <a:gd name="connsiteX119" fmla="*/ 204478 w 362309"/>
                <a:gd name="connsiteY119" fmla="*/ 207479 h 361971"/>
                <a:gd name="connsiteX120" fmla="*/ 203200 w 362309"/>
                <a:gd name="connsiteY120" fmla="*/ 201734 h 361971"/>
                <a:gd name="connsiteX121" fmla="*/ 203200 w 362309"/>
                <a:gd name="connsiteY121" fmla="*/ 199819 h 361971"/>
                <a:gd name="connsiteX122" fmla="*/ 201922 w 362309"/>
                <a:gd name="connsiteY122" fmla="*/ 198542 h 361971"/>
                <a:gd name="connsiteX123" fmla="*/ 198088 w 362309"/>
                <a:gd name="connsiteY123" fmla="*/ 194711 h 361971"/>
                <a:gd name="connsiteX124" fmla="*/ 197449 w 362309"/>
                <a:gd name="connsiteY124" fmla="*/ 192158 h 361971"/>
                <a:gd name="connsiteX125" fmla="*/ 198727 w 362309"/>
                <a:gd name="connsiteY125" fmla="*/ 187051 h 361971"/>
                <a:gd name="connsiteX126" fmla="*/ 200005 w 362309"/>
                <a:gd name="connsiteY126" fmla="*/ 185774 h 361971"/>
                <a:gd name="connsiteX127" fmla="*/ 84347 w 362309"/>
                <a:gd name="connsiteY127" fmla="*/ 245783 h 361971"/>
                <a:gd name="connsiteX128" fmla="*/ 277962 w 362309"/>
                <a:gd name="connsiteY128" fmla="*/ 245783 h 361971"/>
                <a:gd name="connsiteX129" fmla="*/ 277962 w 362309"/>
                <a:gd name="connsiteY129" fmla="*/ 114912 h 361971"/>
                <a:gd name="connsiteX130" fmla="*/ 84347 w 362309"/>
                <a:gd name="connsiteY130" fmla="*/ 114912 h 361971"/>
                <a:gd name="connsiteX131" fmla="*/ 84347 w 362309"/>
                <a:gd name="connsiteY131" fmla="*/ 245783 h 361971"/>
                <a:gd name="connsiteX132" fmla="*/ 290742 w 362309"/>
                <a:gd name="connsiteY132" fmla="*/ 252167 h 361971"/>
                <a:gd name="connsiteX133" fmla="*/ 284352 w 362309"/>
                <a:gd name="connsiteY133" fmla="*/ 258551 h 361971"/>
                <a:gd name="connsiteX134" fmla="*/ 77957 w 362309"/>
                <a:gd name="connsiteY134" fmla="*/ 258551 h 361971"/>
                <a:gd name="connsiteX135" fmla="*/ 71567 w 362309"/>
                <a:gd name="connsiteY135" fmla="*/ 252167 h 361971"/>
                <a:gd name="connsiteX136" fmla="*/ 71567 w 362309"/>
                <a:gd name="connsiteY136" fmla="*/ 108528 h 361971"/>
                <a:gd name="connsiteX137" fmla="*/ 77957 w 362309"/>
                <a:gd name="connsiteY137" fmla="*/ 102144 h 361971"/>
                <a:gd name="connsiteX138" fmla="*/ 284352 w 362309"/>
                <a:gd name="connsiteY138" fmla="*/ 102144 h 361971"/>
                <a:gd name="connsiteX139" fmla="*/ 290742 w 362309"/>
                <a:gd name="connsiteY139" fmla="*/ 108528 h 361971"/>
                <a:gd name="connsiteX140" fmla="*/ 290742 w 362309"/>
                <a:gd name="connsiteY140" fmla="*/ 252167 h 361971"/>
                <a:gd name="connsiteX141" fmla="*/ 362309 w 362309"/>
                <a:gd name="connsiteY141" fmla="*/ 180667 h 361971"/>
                <a:gd name="connsiteX142" fmla="*/ 180835 w 362309"/>
                <a:gd name="connsiteY142" fmla="*/ 0 h 361971"/>
                <a:gd name="connsiteX143" fmla="*/ 0 w 362309"/>
                <a:gd name="connsiteY143" fmla="*/ 181305 h 361971"/>
                <a:gd name="connsiteX144" fmla="*/ 180835 w 362309"/>
                <a:gd name="connsiteY144" fmla="*/ 361972 h 361971"/>
                <a:gd name="connsiteX145" fmla="*/ 362309 w 362309"/>
                <a:gd name="connsiteY145" fmla="*/ 180667 h 361971"/>
                <a:gd name="connsiteX146" fmla="*/ 362309 w 362309"/>
                <a:gd name="connsiteY146" fmla="*/ 18066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62309" h="361971">
                  <a:moveTo>
                    <a:pt x="227482" y="215779"/>
                  </a:moveTo>
                  <a:cubicBezTo>
                    <a:pt x="226204" y="216417"/>
                    <a:pt x="224926" y="217055"/>
                    <a:pt x="223648" y="217055"/>
                  </a:cubicBezTo>
                  <a:lnTo>
                    <a:pt x="223648" y="221524"/>
                  </a:lnTo>
                  <a:lnTo>
                    <a:pt x="225565" y="220247"/>
                  </a:lnTo>
                  <a:cubicBezTo>
                    <a:pt x="226204" y="219609"/>
                    <a:pt x="227482" y="219609"/>
                    <a:pt x="228121" y="218971"/>
                  </a:cubicBezTo>
                  <a:lnTo>
                    <a:pt x="230038" y="218971"/>
                  </a:lnTo>
                  <a:cubicBezTo>
                    <a:pt x="231316" y="218971"/>
                    <a:pt x="231955" y="219609"/>
                    <a:pt x="232594" y="220247"/>
                  </a:cubicBezTo>
                  <a:lnTo>
                    <a:pt x="234511" y="221524"/>
                  </a:lnTo>
                  <a:lnTo>
                    <a:pt x="234511" y="216417"/>
                  </a:lnTo>
                  <a:cubicBezTo>
                    <a:pt x="233233" y="216417"/>
                    <a:pt x="231955" y="215779"/>
                    <a:pt x="230677" y="215140"/>
                  </a:cubicBezTo>
                  <a:cubicBezTo>
                    <a:pt x="230038" y="215140"/>
                    <a:pt x="229399" y="214502"/>
                    <a:pt x="228760" y="214502"/>
                  </a:cubicBezTo>
                  <a:cubicBezTo>
                    <a:pt x="228121" y="215140"/>
                    <a:pt x="228121" y="215779"/>
                    <a:pt x="227482" y="215779"/>
                  </a:cubicBezTo>
                  <a:moveTo>
                    <a:pt x="215341" y="185774"/>
                  </a:moveTo>
                  <a:cubicBezTo>
                    <a:pt x="215341" y="178113"/>
                    <a:pt x="221731" y="171729"/>
                    <a:pt x="229399" y="171729"/>
                  </a:cubicBezTo>
                  <a:cubicBezTo>
                    <a:pt x="237067" y="171729"/>
                    <a:pt x="243457" y="178113"/>
                    <a:pt x="243457" y="185774"/>
                  </a:cubicBezTo>
                  <a:cubicBezTo>
                    <a:pt x="243457" y="193435"/>
                    <a:pt x="237067" y="199819"/>
                    <a:pt x="229399" y="199819"/>
                  </a:cubicBezTo>
                  <a:cubicBezTo>
                    <a:pt x="221092" y="199819"/>
                    <a:pt x="215341" y="193435"/>
                    <a:pt x="215341" y="185774"/>
                  </a:cubicBezTo>
                  <a:cubicBezTo>
                    <a:pt x="215341" y="185774"/>
                    <a:pt x="215341" y="185774"/>
                    <a:pt x="215341" y="185774"/>
                  </a:cubicBezTo>
                  <a:moveTo>
                    <a:pt x="212785" y="185774"/>
                  </a:moveTo>
                  <a:cubicBezTo>
                    <a:pt x="212785" y="187051"/>
                    <a:pt x="212785" y="188966"/>
                    <a:pt x="212146" y="190243"/>
                  </a:cubicBezTo>
                  <a:cubicBezTo>
                    <a:pt x="213424" y="191519"/>
                    <a:pt x="214063" y="192158"/>
                    <a:pt x="215341" y="193435"/>
                  </a:cubicBezTo>
                  <a:cubicBezTo>
                    <a:pt x="215341" y="196627"/>
                    <a:pt x="217258" y="199180"/>
                    <a:pt x="220453" y="199819"/>
                  </a:cubicBezTo>
                  <a:cubicBezTo>
                    <a:pt x="221092" y="199819"/>
                    <a:pt x="221092" y="199819"/>
                    <a:pt x="221731" y="199819"/>
                  </a:cubicBezTo>
                  <a:cubicBezTo>
                    <a:pt x="223009" y="200457"/>
                    <a:pt x="224287" y="201734"/>
                    <a:pt x="225565" y="203011"/>
                  </a:cubicBezTo>
                  <a:cubicBezTo>
                    <a:pt x="228760" y="202372"/>
                    <a:pt x="231955" y="202372"/>
                    <a:pt x="234511" y="203011"/>
                  </a:cubicBezTo>
                  <a:cubicBezTo>
                    <a:pt x="235789" y="201734"/>
                    <a:pt x="237067" y="201095"/>
                    <a:pt x="238345" y="199819"/>
                  </a:cubicBezTo>
                  <a:cubicBezTo>
                    <a:pt x="239623" y="199180"/>
                    <a:pt x="240901" y="198542"/>
                    <a:pt x="242818" y="198542"/>
                  </a:cubicBezTo>
                  <a:cubicBezTo>
                    <a:pt x="242818" y="197265"/>
                    <a:pt x="243457" y="195350"/>
                    <a:pt x="244096" y="194073"/>
                  </a:cubicBezTo>
                  <a:cubicBezTo>
                    <a:pt x="244735" y="192796"/>
                    <a:pt x="246013" y="191519"/>
                    <a:pt x="247291" y="190881"/>
                  </a:cubicBezTo>
                  <a:cubicBezTo>
                    <a:pt x="246013" y="187689"/>
                    <a:pt x="246013" y="184497"/>
                    <a:pt x="247291" y="181305"/>
                  </a:cubicBezTo>
                  <a:cubicBezTo>
                    <a:pt x="246013" y="180028"/>
                    <a:pt x="244735" y="179390"/>
                    <a:pt x="244096" y="177475"/>
                  </a:cubicBezTo>
                  <a:cubicBezTo>
                    <a:pt x="243457" y="176198"/>
                    <a:pt x="242818" y="174921"/>
                    <a:pt x="242818" y="173006"/>
                  </a:cubicBezTo>
                  <a:cubicBezTo>
                    <a:pt x="241540" y="173006"/>
                    <a:pt x="239623" y="172368"/>
                    <a:pt x="238345" y="171729"/>
                  </a:cubicBezTo>
                  <a:cubicBezTo>
                    <a:pt x="237067" y="171091"/>
                    <a:pt x="235789" y="169814"/>
                    <a:pt x="234511" y="168537"/>
                  </a:cubicBezTo>
                  <a:cubicBezTo>
                    <a:pt x="231316" y="169176"/>
                    <a:pt x="228121" y="169176"/>
                    <a:pt x="225565" y="168537"/>
                  </a:cubicBezTo>
                  <a:cubicBezTo>
                    <a:pt x="224287" y="169814"/>
                    <a:pt x="223009" y="170452"/>
                    <a:pt x="221731" y="171729"/>
                  </a:cubicBezTo>
                  <a:cubicBezTo>
                    <a:pt x="220453" y="172368"/>
                    <a:pt x="218536" y="173006"/>
                    <a:pt x="217258" y="173006"/>
                  </a:cubicBezTo>
                  <a:cubicBezTo>
                    <a:pt x="217258" y="174283"/>
                    <a:pt x="216619" y="176198"/>
                    <a:pt x="215980" y="177475"/>
                  </a:cubicBezTo>
                  <a:cubicBezTo>
                    <a:pt x="215341" y="178752"/>
                    <a:pt x="214063" y="180028"/>
                    <a:pt x="212785" y="181305"/>
                  </a:cubicBezTo>
                  <a:cubicBezTo>
                    <a:pt x="212146" y="182582"/>
                    <a:pt x="212785" y="184497"/>
                    <a:pt x="212785" y="185774"/>
                  </a:cubicBezTo>
                  <a:moveTo>
                    <a:pt x="94571" y="136617"/>
                  </a:moveTo>
                  <a:cubicBezTo>
                    <a:pt x="94571" y="132787"/>
                    <a:pt x="97127" y="130233"/>
                    <a:pt x="100961" y="130233"/>
                  </a:cubicBezTo>
                  <a:lnTo>
                    <a:pt x="260709" y="130233"/>
                  </a:lnTo>
                  <a:cubicBezTo>
                    <a:pt x="264543" y="130233"/>
                    <a:pt x="267099" y="132787"/>
                    <a:pt x="267099" y="136617"/>
                  </a:cubicBezTo>
                  <a:cubicBezTo>
                    <a:pt x="267099" y="140448"/>
                    <a:pt x="264543" y="143001"/>
                    <a:pt x="260709" y="143001"/>
                  </a:cubicBezTo>
                  <a:lnTo>
                    <a:pt x="100961" y="143001"/>
                  </a:lnTo>
                  <a:cubicBezTo>
                    <a:pt x="97766" y="143001"/>
                    <a:pt x="94571" y="139809"/>
                    <a:pt x="94571" y="136617"/>
                  </a:cubicBezTo>
                  <a:moveTo>
                    <a:pt x="94571" y="176836"/>
                  </a:moveTo>
                  <a:cubicBezTo>
                    <a:pt x="94571" y="173006"/>
                    <a:pt x="97127" y="170452"/>
                    <a:pt x="100961" y="170452"/>
                  </a:cubicBezTo>
                  <a:lnTo>
                    <a:pt x="168694" y="170452"/>
                  </a:lnTo>
                  <a:cubicBezTo>
                    <a:pt x="172528" y="170452"/>
                    <a:pt x="175084" y="173006"/>
                    <a:pt x="175084" y="176836"/>
                  </a:cubicBezTo>
                  <a:cubicBezTo>
                    <a:pt x="175084" y="180667"/>
                    <a:pt x="172528" y="183220"/>
                    <a:pt x="168694" y="183220"/>
                  </a:cubicBezTo>
                  <a:lnTo>
                    <a:pt x="100961" y="183220"/>
                  </a:lnTo>
                  <a:cubicBezTo>
                    <a:pt x="97766" y="183220"/>
                    <a:pt x="94571" y="180028"/>
                    <a:pt x="94571" y="176836"/>
                  </a:cubicBezTo>
                  <a:moveTo>
                    <a:pt x="94571" y="195988"/>
                  </a:moveTo>
                  <a:cubicBezTo>
                    <a:pt x="94571" y="192158"/>
                    <a:pt x="97127" y="189604"/>
                    <a:pt x="100961" y="189604"/>
                  </a:cubicBezTo>
                  <a:lnTo>
                    <a:pt x="168694" y="189604"/>
                  </a:lnTo>
                  <a:cubicBezTo>
                    <a:pt x="172528" y="189604"/>
                    <a:pt x="175084" y="192158"/>
                    <a:pt x="175084" y="195988"/>
                  </a:cubicBezTo>
                  <a:cubicBezTo>
                    <a:pt x="175084" y="199819"/>
                    <a:pt x="172528" y="202372"/>
                    <a:pt x="168694" y="202372"/>
                  </a:cubicBezTo>
                  <a:lnTo>
                    <a:pt x="100961" y="202372"/>
                  </a:lnTo>
                  <a:cubicBezTo>
                    <a:pt x="97766" y="202372"/>
                    <a:pt x="94571" y="199819"/>
                    <a:pt x="94571" y="195988"/>
                  </a:cubicBezTo>
                  <a:moveTo>
                    <a:pt x="94571" y="215779"/>
                  </a:moveTo>
                  <a:cubicBezTo>
                    <a:pt x="94571" y="211948"/>
                    <a:pt x="97127" y="209395"/>
                    <a:pt x="100961" y="209395"/>
                  </a:cubicBezTo>
                  <a:lnTo>
                    <a:pt x="168694" y="209395"/>
                  </a:lnTo>
                  <a:cubicBezTo>
                    <a:pt x="172528" y="209395"/>
                    <a:pt x="175084" y="211948"/>
                    <a:pt x="175084" y="215779"/>
                  </a:cubicBezTo>
                  <a:cubicBezTo>
                    <a:pt x="175084" y="219609"/>
                    <a:pt x="172528" y="222163"/>
                    <a:pt x="168694" y="222163"/>
                  </a:cubicBezTo>
                  <a:lnTo>
                    <a:pt x="100961" y="222163"/>
                  </a:lnTo>
                  <a:cubicBezTo>
                    <a:pt x="97766" y="222163"/>
                    <a:pt x="94571" y="219609"/>
                    <a:pt x="94571" y="215779"/>
                  </a:cubicBezTo>
                  <a:moveTo>
                    <a:pt x="200005" y="185774"/>
                  </a:moveTo>
                  <a:cubicBezTo>
                    <a:pt x="200005" y="185135"/>
                    <a:pt x="199366" y="184497"/>
                    <a:pt x="199366" y="183859"/>
                  </a:cubicBezTo>
                  <a:cubicBezTo>
                    <a:pt x="198727" y="182582"/>
                    <a:pt x="198088" y="180667"/>
                    <a:pt x="198088" y="178752"/>
                  </a:cubicBezTo>
                  <a:cubicBezTo>
                    <a:pt x="198088" y="177475"/>
                    <a:pt x="198088" y="176836"/>
                    <a:pt x="198727" y="176198"/>
                  </a:cubicBezTo>
                  <a:cubicBezTo>
                    <a:pt x="200005" y="174283"/>
                    <a:pt x="201283" y="173006"/>
                    <a:pt x="202561" y="172368"/>
                  </a:cubicBezTo>
                  <a:cubicBezTo>
                    <a:pt x="203200" y="172368"/>
                    <a:pt x="203839" y="171729"/>
                    <a:pt x="203839" y="171091"/>
                  </a:cubicBezTo>
                  <a:cubicBezTo>
                    <a:pt x="203839" y="170452"/>
                    <a:pt x="203839" y="169814"/>
                    <a:pt x="203839" y="169176"/>
                  </a:cubicBezTo>
                  <a:cubicBezTo>
                    <a:pt x="203839" y="167260"/>
                    <a:pt x="204478" y="165345"/>
                    <a:pt x="205117" y="164068"/>
                  </a:cubicBezTo>
                  <a:cubicBezTo>
                    <a:pt x="205756" y="163430"/>
                    <a:pt x="206395" y="162792"/>
                    <a:pt x="207034" y="162153"/>
                  </a:cubicBezTo>
                  <a:cubicBezTo>
                    <a:pt x="208312" y="161515"/>
                    <a:pt x="210229" y="160876"/>
                    <a:pt x="212146" y="160876"/>
                  </a:cubicBezTo>
                  <a:lnTo>
                    <a:pt x="212785" y="160876"/>
                  </a:lnTo>
                  <a:lnTo>
                    <a:pt x="214063" y="160876"/>
                  </a:lnTo>
                  <a:lnTo>
                    <a:pt x="214702" y="159600"/>
                  </a:lnTo>
                  <a:cubicBezTo>
                    <a:pt x="215980" y="157046"/>
                    <a:pt x="218536" y="155131"/>
                    <a:pt x="221731" y="155131"/>
                  </a:cubicBezTo>
                  <a:cubicBezTo>
                    <a:pt x="223648" y="155131"/>
                    <a:pt x="224926" y="155769"/>
                    <a:pt x="226843" y="156408"/>
                  </a:cubicBezTo>
                  <a:cubicBezTo>
                    <a:pt x="227482" y="156408"/>
                    <a:pt x="228121" y="157046"/>
                    <a:pt x="228760" y="157046"/>
                  </a:cubicBezTo>
                  <a:cubicBezTo>
                    <a:pt x="229399" y="157046"/>
                    <a:pt x="230038" y="156408"/>
                    <a:pt x="230677" y="156408"/>
                  </a:cubicBezTo>
                  <a:cubicBezTo>
                    <a:pt x="231955" y="155769"/>
                    <a:pt x="233872" y="155131"/>
                    <a:pt x="235789" y="155131"/>
                  </a:cubicBezTo>
                  <a:cubicBezTo>
                    <a:pt x="237067" y="155131"/>
                    <a:pt x="237706" y="155131"/>
                    <a:pt x="238345" y="155769"/>
                  </a:cubicBezTo>
                  <a:cubicBezTo>
                    <a:pt x="240262" y="157046"/>
                    <a:pt x="241540" y="158323"/>
                    <a:pt x="242179" y="160238"/>
                  </a:cubicBezTo>
                  <a:cubicBezTo>
                    <a:pt x="242179" y="160876"/>
                    <a:pt x="242818" y="161515"/>
                    <a:pt x="243457" y="161515"/>
                  </a:cubicBezTo>
                  <a:cubicBezTo>
                    <a:pt x="244096" y="161515"/>
                    <a:pt x="244735" y="161515"/>
                    <a:pt x="245374" y="161515"/>
                  </a:cubicBezTo>
                  <a:cubicBezTo>
                    <a:pt x="247291" y="161515"/>
                    <a:pt x="249208" y="161515"/>
                    <a:pt x="250486" y="162792"/>
                  </a:cubicBezTo>
                  <a:cubicBezTo>
                    <a:pt x="251125" y="163430"/>
                    <a:pt x="251764" y="164068"/>
                    <a:pt x="252403" y="164707"/>
                  </a:cubicBezTo>
                  <a:cubicBezTo>
                    <a:pt x="253042" y="166622"/>
                    <a:pt x="253680" y="168537"/>
                    <a:pt x="253680" y="169814"/>
                  </a:cubicBezTo>
                  <a:cubicBezTo>
                    <a:pt x="253680" y="170452"/>
                    <a:pt x="253680" y="171091"/>
                    <a:pt x="253680" y="171729"/>
                  </a:cubicBezTo>
                  <a:lnTo>
                    <a:pt x="254959" y="173006"/>
                  </a:lnTo>
                  <a:cubicBezTo>
                    <a:pt x="256875" y="173644"/>
                    <a:pt x="258154" y="174921"/>
                    <a:pt x="258792" y="176836"/>
                  </a:cubicBezTo>
                  <a:cubicBezTo>
                    <a:pt x="259431" y="177475"/>
                    <a:pt x="259431" y="178752"/>
                    <a:pt x="259431" y="179390"/>
                  </a:cubicBezTo>
                  <a:cubicBezTo>
                    <a:pt x="259431" y="181305"/>
                    <a:pt x="258792" y="183220"/>
                    <a:pt x="258154" y="184497"/>
                  </a:cubicBezTo>
                  <a:cubicBezTo>
                    <a:pt x="257514" y="185135"/>
                    <a:pt x="257514" y="185774"/>
                    <a:pt x="257514" y="186412"/>
                  </a:cubicBezTo>
                  <a:cubicBezTo>
                    <a:pt x="257514" y="187051"/>
                    <a:pt x="258154" y="187689"/>
                    <a:pt x="258154" y="188327"/>
                  </a:cubicBezTo>
                  <a:cubicBezTo>
                    <a:pt x="258792" y="189604"/>
                    <a:pt x="259431" y="191519"/>
                    <a:pt x="259431" y="193435"/>
                  </a:cubicBezTo>
                  <a:cubicBezTo>
                    <a:pt x="259431" y="194711"/>
                    <a:pt x="259431" y="195350"/>
                    <a:pt x="258792" y="195988"/>
                  </a:cubicBezTo>
                  <a:cubicBezTo>
                    <a:pt x="258154" y="197903"/>
                    <a:pt x="256237" y="199180"/>
                    <a:pt x="254959" y="199819"/>
                  </a:cubicBezTo>
                  <a:lnTo>
                    <a:pt x="254959" y="199819"/>
                  </a:lnTo>
                  <a:lnTo>
                    <a:pt x="253680" y="201095"/>
                  </a:lnTo>
                  <a:cubicBezTo>
                    <a:pt x="253680" y="201734"/>
                    <a:pt x="253680" y="202372"/>
                    <a:pt x="253680" y="203011"/>
                  </a:cubicBezTo>
                  <a:cubicBezTo>
                    <a:pt x="253680" y="204926"/>
                    <a:pt x="253042" y="206841"/>
                    <a:pt x="252403" y="208118"/>
                  </a:cubicBezTo>
                  <a:cubicBezTo>
                    <a:pt x="251764" y="208756"/>
                    <a:pt x="251125" y="209395"/>
                    <a:pt x="250486" y="210033"/>
                  </a:cubicBezTo>
                  <a:cubicBezTo>
                    <a:pt x="249208" y="210671"/>
                    <a:pt x="247930" y="211310"/>
                    <a:pt x="246652" y="211310"/>
                  </a:cubicBezTo>
                  <a:lnTo>
                    <a:pt x="246652" y="234292"/>
                  </a:lnTo>
                  <a:cubicBezTo>
                    <a:pt x="246652" y="236846"/>
                    <a:pt x="245374" y="238761"/>
                    <a:pt x="243457" y="240038"/>
                  </a:cubicBezTo>
                  <a:cubicBezTo>
                    <a:pt x="242818" y="240676"/>
                    <a:pt x="241540" y="240676"/>
                    <a:pt x="240262" y="240676"/>
                  </a:cubicBezTo>
                  <a:cubicBezTo>
                    <a:pt x="238984" y="240676"/>
                    <a:pt x="237706" y="240038"/>
                    <a:pt x="236428" y="239399"/>
                  </a:cubicBezTo>
                  <a:lnTo>
                    <a:pt x="228121" y="233654"/>
                  </a:lnTo>
                  <a:lnTo>
                    <a:pt x="219814" y="239399"/>
                  </a:lnTo>
                  <a:cubicBezTo>
                    <a:pt x="216619" y="241314"/>
                    <a:pt x="212785" y="240676"/>
                    <a:pt x="210868" y="237484"/>
                  </a:cubicBezTo>
                  <a:cubicBezTo>
                    <a:pt x="210229" y="236207"/>
                    <a:pt x="209590" y="234930"/>
                    <a:pt x="209590" y="233654"/>
                  </a:cubicBezTo>
                  <a:lnTo>
                    <a:pt x="209590" y="210671"/>
                  </a:lnTo>
                  <a:cubicBezTo>
                    <a:pt x="208312" y="210671"/>
                    <a:pt x="207673" y="210033"/>
                    <a:pt x="206395" y="209395"/>
                  </a:cubicBezTo>
                  <a:cubicBezTo>
                    <a:pt x="205756" y="208756"/>
                    <a:pt x="205117" y="208118"/>
                    <a:pt x="204478" y="207479"/>
                  </a:cubicBezTo>
                  <a:cubicBezTo>
                    <a:pt x="203200" y="205564"/>
                    <a:pt x="203200" y="203649"/>
                    <a:pt x="203200" y="201734"/>
                  </a:cubicBezTo>
                  <a:cubicBezTo>
                    <a:pt x="203200" y="201095"/>
                    <a:pt x="203200" y="200457"/>
                    <a:pt x="203200" y="199819"/>
                  </a:cubicBezTo>
                  <a:lnTo>
                    <a:pt x="201922" y="198542"/>
                  </a:lnTo>
                  <a:cubicBezTo>
                    <a:pt x="200005" y="197903"/>
                    <a:pt x="198727" y="196627"/>
                    <a:pt x="198088" y="194711"/>
                  </a:cubicBezTo>
                  <a:cubicBezTo>
                    <a:pt x="197449" y="194073"/>
                    <a:pt x="197449" y="192796"/>
                    <a:pt x="197449" y="192158"/>
                  </a:cubicBezTo>
                  <a:cubicBezTo>
                    <a:pt x="197449" y="190243"/>
                    <a:pt x="198088" y="188327"/>
                    <a:pt x="198727" y="187051"/>
                  </a:cubicBezTo>
                  <a:cubicBezTo>
                    <a:pt x="199366" y="187051"/>
                    <a:pt x="199366" y="186412"/>
                    <a:pt x="200005" y="185774"/>
                  </a:cubicBezTo>
                  <a:moveTo>
                    <a:pt x="84347" y="245783"/>
                  </a:moveTo>
                  <a:lnTo>
                    <a:pt x="277962" y="245783"/>
                  </a:lnTo>
                  <a:lnTo>
                    <a:pt x="277962" y="114912"/>
                  </a:lnTo>
                  <a:lnTo>
                    <a:pt x="84347" y="114912"/>
                  </a:lnTo>
                  <a:lnTo>
                    <a:pt x="84347" y="245783"/>
                  </a:lnTo>
                  <a:close/>
                  <a:moveTo>
                    <a:pt x="290742" y="252167"/>
                  </a:moveTo>
                  <a:cubicBezTo>
                    <a:pt x="290742" y="255998"/>
                    <a:pt x="288186" y="258551"/>
                    <a:pt x="284352" y="258551"/>
                  </a:cubicBezTo>
                  <a:lnTo>
                    <a:pt x="77957" y="258551"/>
                  </a:lnTo>
                  <a:cubicBezTo>
                    <a:pt x="74123" y="258551"/>
                    <a:pt x="71567" y="255998"/>
                    <a:pt x="71567" y="252167"/>
                  </a:cubicBezTo>
                  <a:lnTo>
                    <a:pt x="71567" y="108528"/>
                  </a:lnTo>
                  <a:cubicBezTo>
                    <a:pt x="71567" y="104697"/>
                    <a:pt x="74123" y="102144"/>
                    <a:pt x="77957" y="102144"/>
                  </a:cubicBezTo>
                  <a:lnTo>
                    <a:pt x="284352" y="102144"/>
                  </a:lnTo>
                  <a:cubicBezTo>
                    <a:pt x="288186" y="102144"/>
                    <a:pt x="290742" y="104697"/>
                    <a:pt x="290742" y="108528"/>
                  </a:cubicBezTo>
                  <a:lnTo>
                    <a:pt x="290742" y="252167"/>
                  </a:lnTo>
                  <a:close/>
                  <a:moveTo>
                    <a:pt x="362309" y="180667"/>
                  </a:moveTo>
                  <a:cubicBezTo>
                    <a:pt x="362309" y="80438"/>
                    <a:pt x="281157" y="0"/>
                    <a:pt x="180835" y="0"/>
                  </a:cubicBezTo>
                  <a:cubicBezTo>
                    <a:pt x="80513" y="0"/>
                    <a:pt x="0" y="81077"/>
                    <a:pt x="0" y="181305"/>
                  </a:cubicBezTo>
                  <a:cubicBezTo>
                    <a:pt x="0" y="280895"/>
                    <a:pt x="81152" y="361972"/>
                    <a:pt x="180835" y="361972"/>
                  </a:cubicBezTo>
                  <a:cubicBezTo>
                    <a:pt x="281157" y="361333"/>
                    <a:pt x="361670" y="280895"/>
                    <a:pt x="362309" y="180667"/>
                  </a:cubicBezTo>
                  <a:cubicBezTo>
                    <a:pt x="362309" y="180667"/>
                    <a:pt x="362309" y="180667"/>
                    <a:pt x="362309" y="180667"/>
                  </a:cubicBezTo>
                </a:path>
              </a:pathLst>
            </a:custGeom>
            <a:solidFill>
              <a:schemeClr val="bg1"/>
            </a:solidFill>
            <a:ln w="6390" cap="flat">
              <a:noFill/>
              <a:prstDash val="solid"/>
              <a:miter/>
            </a:ln>
          </p:spPr>
          <p:txBody>
            <a:bodyPr wrap="none" lIns="0" tIns="0" rIns="0" bIns="0" rtlCol="0" anchor="ctr"/>
            <a:lstStyle/>
            <a:p>
              <a:pPr algn="ctr"/>
              <a:endParaRPr lang="en-US" sz="1100">
                <a:latin typeface="+mn-lt"/>
                <a:cs typeface="+mn-cs"/>
                <a:sym typeface="+mn-lt"/>
              </a:endParaRPr>
            </a:p>
          </p:txBody>
        </p:sp>
      </p:grpSp>
      <p:grpSp>
        <p:nvGrpSpPr>
          <p:cNvPr id="42" name="グループ化 41">
            <a:extLst>
              <a:ext uri="{FF2B5EF4-FFF2-40B4-BE49-F238E27FC236}">
                <a16:creationId xmlns:a16="http://schemas.microsoft.com/office/drawing/2014/main" id="{2BC4BFF8-D0D7-60D6-6CDF-0F5CDE4B6A89}"/>
              </a:ext>
            </a:extLst>
          </p:cNvPr>
          <p:cNvGrpSpPr/>
          <p:nvPr/>
        </p:nvGrpSpPr>
        <p:grpSpPr>
          <a:xfrm>
            <a:off x="173456" y="4904390"/>
            <a:ext cx="3132708" cy="1246891"/>
            <a:chOff x="313279" y="4207392"/>
            <a:chExt cx="3128419" cy="1246891"/>
          </a:xfrm>
        </p:grpSpPr>
        <p:sp>
          <p:nvSpPr>
            <p:cNvPr id="60" name="正方形/長方形 59">
              <a:extLst>
                <a:ext uri="{FF2B5EF4-FFF2-40B4-BE49-F238E27FC236}">
                  <a16:creationId xmlns:a16="http://schemas.microsoft.com/office/drawing/2014/main" id="{14C24356-DDA4-3114-1793-77608F5CF87A}"/>
                </a:ext>
              </a:extLst>
            </p:cNvPr>
            <p:cNvSpPr/>
            <p:nvPr/>
          </p:nvSpPr>
          <p:spPr>
            <a:xfrm>
              <a:off x="313279" y="4425024"/>
              <a:ext cx="3127712" cy="1029259"/>
            </a:xfrm>
            <a:prstGeom prst="rect">
              <a:avLst/>
            </a:prstGeom>
            <a:solidFill>
              <a:schemeClr val="accent5">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tIns="252000" numCol="2" rtlCol="0" anchor="t" anchorCtr="0"/>
            <a:lstStyle/>
            <a:p>
              <a:pPr marL="176213" indent="-176213">
                <a:buFont typeface="Arial" panose="020B0604020202020204" pitchFamily="34" charset="0"/>
                <a:buChar char="•"/>
              </a:pPr>
              <a:r>
                <a:rPr lang="en-US" altLang="ja-JP" sz="1200" dirty="0"/>
                <a:t>Find a doctor</a:t>
              </a:r>
            </a:p>
            <a:p>
              <a:pPr marL="176213" indent="-176213">
                <a:buFont typeface="Arial" panose="020B0604020202020204" pitchFamily="34" charset="0"/>
                <a:buChar char="•"/>
              </a:pPr>
              <a:r>
                <a:rPr lang="en-US" altLang="ja-JP" sz="1200" dirty="0"/>
                <a:t>Busy doctor</a:t>
              </a:r>
            </a:p>
            <a:p>
              <a:pPr marL="176213" indent="-176213">
                <a:buFont typeface="Arial" panose="020B0604020202020204" pitchFamily="34" charset="0"/>
                <a:buChar char="•"/>
              </a:pPr>
              <a:r>
                <a:rPr lang="en-US" altLang="ja-JP" sz="1200" dirty="0"/>
                <a:t>Bad university</a:t>
              </a:r>
            </a:p>
            <a:p>
              <a:pPr marL="176213" indent="-176213">
                <a:buFont typeface="Arial" panose="020B0604020202020204" pitchFamily="34" charset="0"/>
                <a:buChar char="•"/>
              </a:pPr>
              <a:endParaRPr lang="en-US" altLang="ja-JP" sz="1200" dirty="0"/>
            </a:p>
            <a:p>
              <a:pPr marL="176213" indent="-176213">
                <a:buFont typeface="Arial" panose="020B0604020202020204" pitchFamily="34" charset="0"/>
                <a:buChar char="•"/>
              </a:pPr>
              <a:r>
                <a:rPr lang="en-US" altLang="ja-JP" sz="1200" dirty="0"/>
                <a:t>New employer</a:t>
              </a:r>
            </a:p>
            <a:p>
              <a:pPr marL="176213" indent="-176213">
                <a:buFont typeface="Arial" panose="020B0604020202020204" pitchFamily="34" charset="0"/>
                <a:buChar char="•"/>
              </a:pPr>
              <a:r>
                <a:rPr lang="en-US" altLang="ja-JP" sz="1200" dirty="0"/>
                <a:t>Social authority</a:t>
              </a:r>
            </a:p>
            <a:p>
              <a:pPr marL="176213" indent="-176213">
                <a:buFont typeface="Arial" panose="020B0604020202020204" pitchFamily="34" charset="0"/>
                <a:buChar char="•"/>
              </a:pPr>
              <a:r>
                <a:rPr lang="en-US" altLang="ja-JP" sz="1200" dirty="0"/>
                <a:t>Job applicant</a:t>
              </a:r>
            </a:p>
          </p:txBody>
        </p:sp>
        <p:sp>
          <p:nvSpPr>
            <p:cNvPr id="61" name="四角形: 角を丸くする 60">
              <a:extLst>
                <a:ext uri="{FF2B5EF4-FFF2-40B4-BE49-F238E27FC236}">
                  <a16:creationId xmlns:a16="http://schemas.microsoft.com/office/drawing/2014/main" id="{2C43DDE4-797D-9BF2-4FE0-7F74E013D51D}"/>
                </a:ext>
              </a:extLst>
            </p:cNvPr>
            <p:cNvSpPr/>
            <p:nvPr/>
          </p:nvSpPr>
          <p:spPr>
            <a:xfrm>
              <a:off x="313986" y="4207392"/>
              <a:ext cx="3127712" cy="411521"/>
            </a:xfrm>
            <a:prstGeom prst="roundRect">
              <a:avLst>
                <a:gd name="adj" fmla="val 50000"/>
              </a:avLst>
            </a:prstGeom>
            <a:solidFill>
              <a:schemeClr val="accent5"/>
            </a:solidFill>
            <a:ln w="12700">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b="1" dirty="0">
                  <a:solidFill>
                    <a:schemeClr val="bg1"/>
                  </a:solidFill>
                </a:rPr>
                <a:t>　　</a:t>
              </a:r>
              <a:r>
                <a:rPr kumimoji="1" lang="en-US" altLang="ja-JP" sz="1400" dirty="0">
                  <a:solidFill>
                    <a:schemeClr val="bg1"/>
                  </a:solidFill>
                </a:rPr>
                <a:t>Professional Credentials</a:t>
              </a:r>
              <a:endParaRPr kumimoji="1" lang="ja-JP" altLang="en-US" sz="1400" dirty="0">
                <a:solidFill>
                  <a:schemeClr val="bg1"/>
                </a:solidFill>
              </a:endParaRPr>
            </a:p>
          </p:txBody>
        </p:sp>
        <p:grpSp>
          <p:nvGrpSpPr>
            <p:cNvPr id="93" name="Graphic 4">
              <a:extLst>
                <a:ext uri="{FF2B5EF4-FFF2-40B4-BE49-F238E27FC236}">
                  <a16:creationId xmlns:a16="http://schemas.microsoft.com/office/drawing/2014/main" id="{29CBF019-D309-B549-7389-E7915E8D6FB0}"/>
                </a:ext>
              </a:extLst>
            </p:cNvPr>
            <p:cNvGrpSpPr>
              <a:grpSpLocks noChangeAspect="1"/>
            </p:cNvGrpSpPr>
            <p:nvPr/>
          </p:nvGrpSpPr>
          <p:grpSpPr bwMode="gray">
            <a:xfrm>
              <a:off x="348536" y="4233147"/>
              <a:ext cx="360001" cy="359999"/>
              <a:chOff x="1952125" y="1885990"/>
              <a:chExt cx="362313" cy="361971"/>
            </a:xfrm>
            <a:solidFill>
              <a:schemeClr val="bg1"/>
            </a:solidFill>
          </p:grpSpPr>
          <p:sp>
            <p:nvSpPr>
              <p:cNvPr id="94" name="Graphic 4">
                <a:extLst>
                  <a:ext uri="{FF2B5EF4-FFF2-40B4-BE49-F238E27FC236}">
                    <a16:creationId xmlns:a16="http://schemas.microsoft.com/office/drawing/2014/main" id="{E402AA68-3CF1-10EE-35B5-870031BE15F5}"/>
                  </a:ext>
                </a:extLst>
              </p:cNvPr>
              <p:cNvSpPr/>
              <p:nvPr/>
            </p:nvSpPr>
            <p:spPr bwMode="gray">
              <a:xfrm>
                <a:off x="2104845" y="2034099"/>
                <a:ext cx="57509" cy="57455"/>
              </a:xfrm>
              <a:custGeom>
                <a:avLst/>
                <a:gdLst>
                  <a:gd name="connsiteX0" fmla="*/ 28755 w 57509"/>
                  <a:gd name="connsiteY0" fmla="*/ 57456 h 57455"/>
                  <a:gd name="connsiteX1" fmla="*/ 57509 w 57509"/>
                  <a:gd name="connsiteY1" fmla="*/ 28728 h 57455"/>
                  <a:gd name="connsiteX2" fmla="*/ 28755 w 57509"/>
                  <a:gd name="connsiteY2" fmla="*/ 0 h 57455"/>
                  <a:gd name="connsiteX3" fmla="*/ 0 w 57509"/>
                  <a:gd name="connsiteY3" fmla="*/ 28728 h 57455"/>
                  <a:gd name="connsiteX4" fmla="*/ 0 w 57509"/>
                  <a:gd name="connsiteY4" fmla="*/ 28728 h 57455"/>
                  <a:gd name="connsiteX5" fmla="*/ 28755 w 57509"/>
                  <a:gd name="connsiteY5" fmla="*/ 57456 h 5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09" h="57455">
                    <a:moveTo>
                      <a:pt x="28755" y="57456"/>
                    </a:moveTo>
                    <a:cubicBezTo>
                      <a:pt x="44730" y="57456"/>
                      <a:pt x="57509" y="44688"/>
                      <a:pt x="57509" y="28728"/>
                    </a:cubicBezTo>
                    <a:cubicBezTo>
                      <a:pt x="57509" y="12768"/>
                      <a:pt x="44730" y="0"/>
                      <a:pt x="28755" y="0"/>
                    </a:cubicBezTo>
                    <a:cubicBezTo>
                      <a:pt x="12780" y="0"/>
                      <a:pt x="0" y="12768"/>
                      <a:pt x="0" y="28728"/>
                    </a:cubicBezTo>
                    <a:cubicBezTo>
                      <a:pt x="0" y="28728"/>
                      <a:pt x="0" y="28728"/>
                      <a:pt x="0" y="28728"/>
                    </a:cubicBezTo>
                    <a:cubicBezTo>
                      <a:pt x="0" y="44688"/>
                      <a:pt x="12780" y="57456"/>
                      <a:pt x="28755" y="57456"/>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95" name="Graphic 4">
                <a:extLst>
                  <a:ext uri="{FF2B5EF4-FFF2-40B4-BE49-F238E27FC236}">
                    <a16:creationId xmlns:a16="http://schemas.microsoft.com/office/drawing/2014/main" id="{C48D30F4-10CA-D3E1-581A-59977A11D3C7}"/>
                  </a:ext>
                </a:extLst>
              </p:cNvPr>
              <p:cNvSpPr/>
              <p:nvPr/>
            </p:nvSpPr>
            <p:spPr bwMode="gray">
              <a:xfrm>
                <a:off x="2115708" y="2099854"/>
                <a:ext cx="35783" cy="46603"/>
              </a:xfrm>
              <a:custGeom>
                <a:avLst/>
                <a:gdLst>
                  <a:gd name="connsiteX0" fmla="*/ 17892 w 35783"/>
                  <a:gd name="connsiteY0" fmla="*/ 4469 h 46603"/>
                  <a:gd name="connsiteX1" fmla="*/ 0 w 35783"/>
                  <a:gd name="connsiteY1" fmla="*/ 0 h 46603"/>
                  <a:gd name="connsiteX2" fmla="*/ 0 w 35783"/>
                  <a:gd name="connsiteY2" fmla="*/ 46603 h 46603"/>
                  <a:gd name="connsiteX3" fmla="*/ 13419 w 35783"/>
                  <a:gd name="connsiteY3" fmla="*/ 33835 h 46603"/>
                  <a:gd name="connsiteX4" fmla="*/ 22365 w 35783"/>
                  <a:gd name="connsiteY4" fmla="*/ 33835 h 46603"/>
                  <a:gd name="connsiteX5" fmla="*/ 35784 w 35783"/>
                  <a:gd name="connsiteY5" fmla="*/ 46603 h 46603"/>
                  <a:gd name="connsiteX6" fmla="*/ 35784 w 35783"/>
                  <a:gd name="connsiteY6" fmla="*/ 638 h 46603"/>
                  <a:gd name="connsiteX7" fmla="*/ 17892 w 35783"/>
                  <a:gd name="connsiteY7" fmla="*/ 4469 h 46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83" h="46603">
                    <a:moveTo>
                      <a:pt x="17892" y="4469"/>
                    </a:moveTo>
                    <a:cubicBezTo>
                      <a:pt x="11502" y="4469"/>
                      <a:pt x="5112" y="3192"/>
                      <a:pt x="0" y="0"/>
                    </a:cubicBezTo>
                    <a:lnTo>
                      <a:pt x="0" y="46603"/>
                    </a:lnTo>
                    <a:lnTo>
                      <a:pt x="13419" y="33835"/>
                    </a:lnTo>
                    <a:cubicBezTo>
                      <a:pt x="15975" y="31282"/>
                      <a:pt x="19809" y="31282"/>
                      <a:pt x="22365" y="33835"/>
                    </a:cubicBezTo>
                    <a:lnTo>
                      <a:pt x="35784" y="46603"/>
                    </a:lnTo>
                    <a:lnTo>
                      <a:pt x="35784" y="638"/>
                    </a:lnTo>
                    <a:cubicBezTo>
                      <a:pt x="29394" y="3192"/>
                      <a:pt x="23643" y="4469"/>
                      <a:pt x="17892" y="4469"/>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96" name="Graphic 4">
                <a:extLst>
                  <a:ext uri="{FF2B5EF4-FFF2-40B4-BE49-F238E27FC236}">
                    <a16:creationId xmlns:a16="http://schemas.microsoft.com/office/drawing/2014/main" id="{FDEB61EC-9AB7-477A-9C72-B3D95C866461}"/>
                  </a:ext>
                </a:extLst>
              </p:cNvPr>
              <p:cNvSpPr/>
              <p:nvPr/>
            </p:nvSpPr>
            <p:spPr bwMode="gray">
              <a:xfrm>
                <a:off x="1952125" y="1885990"/>
                <a:ext cx="362313" cy="361971"/>
              </a:xfrm>
              <a:custGeom>
                <a:avLst/>
                <a:gdLst>
                  <a:gd name="connsiteX0" fmla="*/ 300966 w 362313"/>
                  <a:gd name="connsiteY0" fmla="*/ 197265 h 361971"/>
                  <a:gd name="connsiteX1" fmla="*/ 291381 w 362313"/>
                  <a:gd name="connsiteY1" fmla="*/ 206841 h 361971"/>
                  <a:gd name="connsiteX2" fmla="*/ 291381 w 362313"/>
                  <a:gd name="connsiteY2" fmla="*/ 206841 h 361971"/>
                  <a:gd name="connsiteX3" fmla="*/ 234511 w 362313"/>
                  <a:gd name="connsiteY3" fmla="*/ 206841 h 361971"/>
                  <a:gd name="connsiteX4" fmla="*/ 228121 w 362313"/>
                  <a:gd name="connsiteY4" fmla="*/ 200457 h 361971"/>
                  <a:gd name="connsiteX5" fmla="*/ 234511 w 362313"/>
                  <a:gd name="connsiteY5" fmla="*/ 194073 h 361971"/>
                  <a:gd name="connsiteX6" fmla="*/ 288186 w 362313"/>
                  <a:gd name="connsiteY6" fmla="*/ 194073 h 361971"/>
                  <a:gd name="connsiteX7" fmla="*/ 288186 w 362313"/>
                  <a:gd name="connsiteY7" fmla="*/ 117465 h 361971"/>
                  <a:gd name="connsiteX8" fmla="*/ 74762 w 362313"/>
                  <a:gd name="connsiteY8" fmla="*/ 117465 h 361971"/>
                  <a:gd name="connsiteX9" fmla="*/ 74762 w 362313"/>
                  <a:gd name="connsiteY9" fmla="*/ 194073 h 361971"/>
                  <a:gd name="connsiteX10" fmla="*/ 129716 w 362313"/>
                  <a:gd name="connsiteY10" fmla="*/ 194073 h 361971"/>
                  <a:gd name="connsiteX11" fmla="*/ 136106 w 362313"/>
                  <a:gd name="connsiteY11" fmla="*/ 200457 h 361971"/>
                  <a:gd name="connsiteX12" fmla="*/ 129716 w 362313"/>
                  <a:gd name="connsiteY12" fmla="*/ 206841 h 361971"/>
                  <a:gd name="connsiteX13" fmla="*/ 72206 w 362313"/>
                  <a:gd name="connsiteY13" fmla="*/ 206841 h 361971"/>
                  <a:gd name="connsiteX14" fmla="*/ 61982 w 362313"/>
                  <a:gd name="connsiteY14" fmla="*/ 197265 h 361971"/>
                  <a:gd name="connsiteX15" fmla="*/ 61982 w 362313"/>
                  <a:gd name="connsiteY15" fmla="*/ 197265 h 361971"/>
                  <a:gd name="connsiteX16" fmla="*/ 61982 w 362313"/>
                  <a:gd name="connsiteY16" fmla="*/ 114273 h 361971"/>
                  <a:gd name="connsiteX17" fmla="*/ 72206 w 362313"/>
                  <a:gd name="connsiteY17" fmla="*/ 104697 h 361971"/>
                  <a:gd name="connsiteX18" fmla="*/ 291381 w 362313"/>
                  <a:gd name="connsiteY18" fmla="*/ 104697 h 361971"/>
                  <a:gd name="connsiteX19" fmla="*/ 301605 w 362313"/>
                  <a:gd name="connsiteY19" fmla="*/ 114273 h 361971"/>
                  <a:gd name="connsiteX20" fmla="*/ 301605 w 362313"/>
                  <a:gd name="connsiteY20" fmla="*/ 197265 h 361971"/>
                  <a:gd name="connsiteX21" fmla="*/ 210868 w 362313"/>
                  <a:gd name="connsiteY21" fmla="*/ 275788 h 361971"/>
                  <a:gd name="connsiteX22" fmla="*/ 207034 w 362313"/>
                  <a:gd name="connsiteY22" fmla="*/ 281534 h 361971"/>
                  <a:gd name="connsiteX23" fmla="*/ 204478 w 362313"/>
                  <a:gd name="connsiteY23" fmla="*/ 282172 h 361971"/>
                  <a:gd name="connsiteX24" fmla="*/ 200005 w 362313"/>
                  <a:gd name="connsiteY24" fmla="*/ 280257 h 361971"/>
                  <a:gd name="connsiteX25" fmla="*/ 180196 w 362313"/>
                  <a:gd name="connsiteY25" fmla="*/ 261743 h 361971"/>
                  <a:gd name="connsiteX26" fmla="*/ 160387 w 362313"/>
                  <a:gd name="connsiteY26" fmla="*/ 280257 h 361971"/>
                  <a:gd name="connsiteX27" fmla="*/ 151442 w 362313"/>
                  <a:gd name="connsiteY27" fmla="*/ 280257 h 361971"/>
                  <a:gd name="connsiteX28" fmla="*/ 149524 w 362313"/>
                  <a:gd name="connsiteY28" fmla="*/ 275788 h 361971"/>
                  <a:gd name="connsiteX29" fmla="*/ 149524 w 362313"/>
                  <a:gd name="connsiteY29" fmla="*/ 204287 h 361971"/>
                  <a:gd name="connsiteX30" fmla="*/ 152719 w 362313"/>
                  <a:gd name="connsiteY30" fmla="*/ 146193 h 361971"/>
                  <a:gd name="connsiteX31" fmla="*/ 210868 w 362313"/>
                  <a:gd name="connsiteY31" fmla="*/ 149385 h 361971"/>
                  <a:gd name="connsiteX32" fmla="*/ 209590 w 362313"/>
                  <a:gd name="connsiteY32" fmla="*/ 205564 h 361971"/>
                  <a:gd name="connsiteX33" fmla="*/ 210868 w 362313"/>
                  <a:gd name="connsiteY33" fmla="*/ 275788 h 361971"/>
                  <a:gd name="connsiteX34" fmla="*/ 181474 w 362313"/>
                  <a:gd name="connsiteY34" fmla="*/ 0 h 361971"/>
                  <a:gd name="connsiteX35" fmla="*/ 0 w 362313"/>
                  <a:gd name="connsiteY35" fmla="*/ 180667 h 361971"/>
                  <a:gd name="connsiteX36" fmla="*/ 180835 w 362313"/>
                  <a:gd name="connsiteY36" fmla="*/ 361972 h 361971"/>
                  <a:gd name="connsiteX37" fmla="*/ 362310 w 362313"/>
                  <a:gd name="connsiteY37" fmla="*/ 181305 h 361971"/>
                  <a:gd name="connsiteX38" fmla="*/ 362310 w 362313"/>
                  <a:gd name="connsiteY38" fmla="*/ 181305 h 361971"/>
                  <a:gd name="connsiteX39" fmla="*/ 181474 w 362313"/>
                  <a:gd name="connsiteY39" fmla="*/ 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62313" h="361971">
                    <a:moveTo>
                      <a:pt x="300966" y="197265"/>
                    </a:moveTo>
                    <a:cubicBezTo>
                      <a:pt x="300966" y="203011"/>
                      <a:pt x="296493" y="206841"/>
                      <a:pt x="291381" y="206841"/>
                    </a:cubicBezTo>
                    <a:cubicBezTo>
                      <a:pt x="291381" y="206841"/>
                      <a:pt x="291381" y="206841"/>
                      <a:pt x="291381" y="206841"/>
                    </a:cubicBezTo>
                    <a:lnTo>
                      <a:pt x="234511" y="206841"/>
                    </a:lnTo>
                    <a:cubicBezTo>
                      <a:pt x="230677" y="206841"/>
                      <a:pt x="228121" y="204287"/>
                      <a:pt x="228121" y="200457"/>
                    </a:cubicBezTo>
                    <a:cubicBezTo>
                      <a:pt x="228121" y="196627"/>
                      <a:pt x="230677" y="194073"/>
                      <a:pt x="234511" y="194073"/>
                    </a:cubicBezTo>
                    <a:lnTo>
                      <a:pt x="288186" y="194073"/>
                    </a:lnTo>
                    <a:lnTo>
                      <a:pt x="288186" y="117465"/>
                    </a:lnTo>
                    <a:lnTo>
                      <a:pt x="74762" y="117465"/>
                    </a:lnTo>
                    <a:lnTo>
                      <a:pt x="74762" y="194073"/>
                    </a:lnTo>
                    <a:lnTo>
                      <a:pt x="129716" y="194073"/>
                    </a:lnTo>
                    <a:cubicBezTo>
                      <a:pt x="133550" y="194073"/>
                      <a:pt x="136106" y="196627"/>
                      <a:pt x="136106" y="200457"/>
                    </a:cubicBezTo>
                    <a:cubicBezTo>
                      <a:pt x="136106" y="204287"/>
                      <a:pt x="133550" y="206841"/>
                      <a:pt x="129716" y="206841"/>
                    </a:cubicBezTo>
                    <a:lnTo>
                      <a:pt x="72206" y="206841"/>
                    </a:lnTo>
                    <a:cubicBezTo>
                      <a:pt x="66455" y="206841"/>
                      <a:pt x="62621" y="202372"/>
                      <a:pt x="61982" y="197265"/>
                    </a:cubicBezTo>
                    <a:cubicBezTo>
                      <a:pt x="61982" y="197265"/>
                      <a:pt x="61982" y="197265"/>
                      <a:pt x="61982" y="197265"/>
                    </a:cubicBezTo>
                    <a:lnTo>
                      <a:pt x="61982" y="114273"/>
                    </a:lnTo>
                    <a:cubicBezTo>
                      <a:pt x="61982" y="108528"/>
                      <a:pt x="66455" y="104697"/>
                      <a:pt x="72206" y="104697"/>
                    </a:cubicBezTo>
                    <a:lnTo>
                      <a:pt x="291381" y="104697"/>
                    </a:lnTo>
                    <a:cubicBezTo>
                      <a:pt x="297132" y="104697"/>
                      <a:pt x="300966" y="109166"/>
                      <a:pt x="301605" y="114273"/>
                    </a:cubicBezTo>
                    <a:lnTo>
                      <a:pt x="301605" y="197265"/>
                    </a:lnTo>
                    <a:close/>
                    <a:moveTo>
                      <a:pt x="210868" y="275788"/>
                    </a:moveTo>
                    <a:cubicBezTo>
                      <a:pt x="210868" y="278342"/>
                      <a:pt x="209590" y="280895"/>
                      <a:pt x="207034" y="281534"/>
                    </a:cubicBezTo>
                    <a:cubicBezTo>
                      <a:pt x="206395" y="282172"/>
                      <a:pt x="205117" y="282172"/>
                      <a:pt x="204478" y="282172"/>
                    </a:cubicBezTo>
                    <a:cubicBezTo>
                      <a:pt x="202561" y="282172"/>
                      <a:pt x="201283" y="281534"/>
                      <a:pt x="200005" y="280257"/>
                    </a:cubicBezTo>
                    <a:lnTo>
                      <a:pt x="180196" y="261743"/>
                    </a:lnTo>
                    <a:lnTo>
                      <a:pt x="160387" y="280257"/>
                    </a:lnTo>
                    <a:cubicBezTo>
                      <a:pt x="157832" y="282811"/>
                      <a:pt x="153998" y="282811"/>
                      <a:pt x="151442" y="280257"/>
                    </a:cubicBezTo>
                    <a:cubicBezTo>
                      <a:pt x="150164" y="278980"/>
                      <a:pt x="149524" y="277703"/>
                      <a:pt x="149524" y="275788"/>
                    </a:cubicBezTo>
                    <a:lnTo>
                      <a:pt x="149524" y="204287"/>
                    </a:lnTo>
                    <a:cubicBezTo>
                      <a:pt x="134189" y="187051"/>
                      <a:pt x="136106" y="160876"/>
                      <a:pt x="152719" y="146193"/>
                    </a:cubicBezTo>
                    <a:cubicBezTo>
                      <a:pt x="169333" y="131510"/>
                      <a:pt x="196171" y="132787"/>
                      <a:pt x="210868" y="149385"/>
                    </a:cubicBezTo>
                    <a:cubicBezTo>
                      <a:pt x="224926" y="165345"/>
                      <a:pt x="224926" y="190243"/>
                      <a:pt x="209590" y="205564"/>
                    </a:cubicBezTo>
                    <a:lnTo>
                      <a:pt x="210868" y="275788"/>
                    </a:lnTo>
                    <a:close/>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grpSp>
      </p:grpSp>
      <p:grpSp>
        <p:nvGrpSpPr>
          <p:cNvPr id="3" name="グループ化 2">
            <a:extLst>
              <a:ext uri="{FF2B5EF4-FFF2-40B4-BE49-F238E27FC236}">
                <a16:creationId xmlns:a16="http://schemas.microsoft.com/office/drawing/2014/main" id="{3B119D1B-759E-784C-3AC4-FE8911987914}"/>
              </a:ext>
            </a:extLst>
          </p:cNvPr>
          <p:cNvGrpSpPr/>
          <p:nvPr/>
        </p:nvGrpSpPr>
        <p:grpSpPr>
          <a:xfrm>
            <a:off x="5867005" y="137240"/>
            <a:ext cx="2322246" cy="308639"/>
            <a:chOff x="5867005" y="137240"/>
            <a:chExt cx="2322246" cy="552560"/>
          </a:xfrm>
        </p:grpSpPr>
        <p:sp>
          <p:nvSpPr>
            <p:cNvPr id="5" name="正方形/長方形 4">
              <a:extLst>
                <a:ext uri="{FF2B5EF4-FFF2-40B4-BE49-F238E27FC236}">
                  <a16:creationId xmlns:a16="http://schemas.microsoft.com/office/drawing/2014/main" id="{BA5E1C6C-E575-C10F-EB24-CCFFFE968608}"/>
                </a:ext>
              </a:extLst>
            </p:cNvPr>
            <p:cNvSpPr/>
            <p:nvPr/>
          </p:nvSpPr>
          <p:spPr>
            <a:xfrm>
              <a:off x="5867005" y="511582"/>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Public Trust Layer</a:t>
              </a:r>
              <a:endParaRPr lang="ja-JP" altLang="en-US" sz="800" dirty="0">
                <a:solidFill>
                  <a:schemeClr val="tx2"/>
                </a:solidFill>
              </a:endParaRPr>
            </a:p>
          </p:txBody>
        </p:sp>
        <p:sp>
          <p:nvSpPr>
            <p:cNvPr id="6" name="正方形/長方形 5">
              <a:extLst>
                <a:ext uri="{FF2B5EF4-FFF2-40B4-BE49-F238E27FC236}">
                  <a16:creationId xmlns:a16="http://schemas.microsoft.com/office/drawing/2014/main" id="{217D2FB2-AEF5-AA05-35F4-71FC591FAD16}"/>
                </a:ext>
              </a:extLst>
            </p:cNvPr>
            <p:cNvSpPr/>
            <p:nvPr/>
          </p:nvSpPr>
          <p:spPr>
            <a:xfrm>
              <a:off x="5867005" y="324411"/>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Agent Layer</a:t>
              </a:r>
              <a:endParaRPr lang="ja-JP" altLang="en-US" sz="800" dirty="0">
                <a:solidFill>
                  <a:schemeClr val="tx2"/>
                </a:solidFill>
              </a:endParaRPr>
            </a:p>
          </p:txBody>
        </p:sp>
        <p:sp>
          <p:nvSpPr>
            <p:cNvPr id="13" name="正方形/長方形 12">
              <a:extLst>
                <a:ext uri="{FF2B5EF4-FFF2-40B4-BE49-F238E27FC236}">
                  <a16:creationId xmlns:a16="http://schemas.microsoft.com/office/drawing/2014/main" id="{10289A31-3421-3E0F-0169-17FC5A8AB469}"/>
                </a:ext>
              </a:extLst>
            </p:cNvPr>
            <p:cNvSpPr/>
            <p:nvPr/>
          </p:nvSpPr>
          <p:spPr>
            <a:xfrm>
              <a:off x="5867005" y="137240"/>
              <a:ext cx="1554312" cy="178218"/>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Credential Layer</a:t>
              </a:r>
              <a:endParaRPr lang="ja-JP" altLang="en-US" sz="800" b="1" dirty="0">
                <a:solidFill>
                  <a:schemeClr val="accent1"/>
                </a:solidFill>
              </a:endParaRPr>
            </a:p>
          </p:txBody>
        </p:sp>
        <p:sp>
          <p:nvSpPr>
            <p:cNvPr id="14" name="正方形/長方形 13">
              <a:extLst>
                <a:ext uri="{FF2B5EF4-FFF2-40B4-BE49-F238E27FC236}">
                  <a16:creationId xmlns:a16="http://schemas.microsoft.com/office/drawing/2014/main" id="{9997DED7-BA81-9A60-1797-155D89685568}"/>
                </a:ext>
              </a:extLst>
            </p:cNvPr>
            <p:cNvSpPr/>
            <p:nvPr/>
          </p:nvSpPr>
          <p:spPr>
            <a:xfrm>
              <a:off x="7424690" y="137240"/>
              <a:ext cx="764561" cy="55256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Vertical / </a:t>
              </a:r>
            </a:p>
            <a:p>
              <a:pPr algn="ctr"/>
              <a:r>
                <a:rPr lang="en-US" altLang="ja-JP" sz="800" dirty="0">
                  <a:solidFill>
                    <a:schemeClr val="tx2"/>
                  </a:solidFill>
                </a:rPr>
                <a:t>Cross-cutting</a:t>
              </a:r>
              <a:endParaRPr lang="ja-JP" altLang="en-US" sz="800" dirty="0">
                <a:solidFill>
                  <a:schemeClr val="tx2"/>
                </a:solidFill>
              </a:endParaRPr>
            </a:p>
          </p:txBody>
        </p:sp>
      </p:grpSp>
      <p:cxnSp>
        <p:nvCxnSpPr>
          <p:cNvPr id="17" name="直線コネクタ 16">
            <a:extLst>
              <a:ext uri="{FF2B5EF4-FFF2-40B4-BE49-F238E27FC236}">
                <a16:creationId xmlns:a16="http://schemas.microsoft.com/office/drawing/2014/main" id="{6101C5A9-49D0-0008-C6D0-5501F57F6997}"/>
              </a:ext>
            </a:extLst>
          </p:cNvPr>
          <p:cNvCxnSpPr/>
          <p:nvPr/>
        </p:nvCxnSpPr>
        <p:spPr>
          <a:xfrm>
            <a:off x="428306" y="3186261"/>
            <a:ext cx="9103503"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C43F94FC-FC8D-799F-6AF0-252536E3C4B3}"/>
              </a:ext>
            </a:extLst>
          </p:cNvPr>
          <p:cNvSpPr txBox="1"/>
          <p:nvPr/>
        </p:nvSpPr>
        <p:spPr>
          <a:xfrm>
            <a:off x="3625997" y="3080896"/>
            <a:ext cx="2690447" cy="215444"/>
          </a:xfrm>
          <a:prstGeom prst="rect">
            <a:avLst/>
          </a:prstGeom>
          <a:solidFill>
            <a:schemeClr val="bg1"/>
          </a:solidFill>
        </p:spPr>
        <p:txBody>
          <a:bodyPr wrap="square" lIns="0" tIns="0" rIns="0" bIns="0" rtlCol="0">
            <a:spAutoFit/>
          </a:bodyPr>
          <a:lstStyle/>
          <a:p>
            <a:pPr algn="ctr"/>
            <a:r>
              <a:rPr lang="ja-JP" altLang="en-US" sz="1400" b="1" dirty="0">
                <a:latin typeface="+mn-ea"/>
                <a:ea typeface="+mn-ea"/>
              </a:rPr>
              <a:t>その他検討されているユースケース**</a:t>
            </a:r>
            <a:endParaRPr kumimoji="1" lang="en-US" altLang="ja-JP" sz="1400" b="1" dirty="0">
              <a:latin typeface="+mn-ea"/>
              <a:ea typeface="+mn-ea"/>
            </a:endParaRPr>
          </a:p>
        </p:txBody>
      </p:sp>
      <p:grpSp>
        <p:nvGrpSpPr>
          <p:cNvPr id="28" name="グループ化 27">
            <a:extLst>
              <a:ext uri="{FF2B5EF4-FFF2-40B4-BE49-F238E27FC236}">
                <a16:creationId xmlns:a16="http://schemas.microsoft.com/office/drawing/2014/main" id="{D680EC8D-2395-779C-AA08-9C9F712AA8EA}"/>
              </a:ext>
            </a:extLst>
          </p:cNvPr>
          <p:cNvGrpSpPr/>
          <p:nvPr/>
        </p:nvGrpSpPr>
        <p:grpSpPr>
          <a:xfrm>
            <a:off x="2572978" y="3406430"/>
            <a:ext cx="2340707" cy="1412644"/>
            <a:chOff x="5033240" y="2535903"/>
            <a:chExt cx="2340707" cy="1412644"/>
          </a:xfrm>
        </p:grpSpPr>
        <p:sp>
          <p:nvSpPr>
            <p:cNvPr id="29" name="正方形/長方形 28">
              <a:extLst>
                <a:ext uri="{FF2B5EF4-FFF2-40B4-BE49-F238E27FC236}">
                  <a16:creationId xmlns:a16="http://schemas.microsoft.com/office/drawing/2014/main" id="{17F8A26E-1612-2DDD-0D42-F3071A6510DC}"/>
                </a:ext>
              </a:extLst>
            </p:cNvPr>
            <p:cNvSpPr/>
            <p:nvPr/>
          </p:nvSpPr>
          <p:spPr>
            <a:xfrm>
              <a:off x="5033240" y="2724547"/>
              <a:ext cx="2340000" cy="1224000"/>
            </a:xfrm>
            <a:prstGeom prst="rect">
              <a:avLst/>
            </a:prstGeom>
            <a:solidFill>
              <a:srgbClr val="D6F3CF"/>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tIns="252000" rtlCol="0" anchor="t" anchorCtr="0"/>
            <a:lstStyle/>
            <a:p>
              <a:pPr marL="176213" indent="-176213">
                <a:buFont typeface="Arial" panose="020B0604020202020204" pitchFamily="34" charset="0"/>
                <a:buChar char="•"/>
              </a:pPr>
              <a:r>
                <a:rPr lang="en-US" altLang="ja-JP" sz="1200" dirty="0"/>
                <a:t>Address verification</a:t>
              </a:r>
            </a:p>
            <a:p>
              <a:pPr marL="176213" indent="-176213">
                <a:buFont typeface="Arial" panose="020B0604020202020204" pitchFamily="34" charset="0"/>
                <a:buChar char="•"/>
              </a:pPr>
              <a:r>
                <a:rPr lang="en-US" altLang="ja-JP" sz="1200" dirty="0"/>
                <a:t>Adult beverages</a:t>
              </a:r>
            </a:p>
            <a:p>
              <a:pPr marL="176213" indent="-176213">
                <a:buFont typeface="Arial" panose="020B0604020202020204" pitchFamily="34" charset="0"/>
                <a:buChar char="•"/>
              </a:pPr>
              <a:r>
                <a:rPr lang="en-US" altLang="ja-JP" sz="1200" dirty="0"/>
                <a:t>Fraud detection</a:t>
              </a:r>
            </a:p>
          </p:txBody>
        </p:sp>
        <p:sp>
          <p:nvSpPr>
            <p:cNvPr id="30" name="四角形: 角を丸くする 29">
              <a:extLst>
                <a:ext uri="{FF2B5EF4-FFF2-40B4-BE49-F238E27FC236}">
                  <a16:creationId xmlns:a16="http://schemas.microsoft.com/office/drawing/2014/main" id="{D46C7FD4-3988-0D5B-B055-03149751DEFE}"/>
                </a:ext>
              </a:extLst>
            </p:cNvPr>
            <p:cNvSpPr/>
            <p:nvPr/>
          </p:nvSpPr>
          <p:spPr>
            <a:xfrm>
              <a:off x="5033947" y="2535903"/>
              <a:ext cx="2340000" cy="411521"/>
            </a:xfrm>
            <a:prstGeom prst="roundRect">
              <a:avLst>
                <a:gd name="adj" fmla="val 50000"/>
              </a:avLst>
            </a:prstGeom>
            <a:solidFill>
              <a:srgbClr val="43B02A"/>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b="1" dirty="0">
                  <a:solidFill>
                    <a:schemeClr val="bg1"/>
                  </a:solidFill>
                </a:rPr>
                <a:t>　　</a:t>
              </a:r>
              <a:r>
                <a:rPr lang="en-US" altLang="ja-JP" sz="1400" b="1" dirty="0">
                  <a:solidFill>
                    <a:schemeClr val="bg1"/>
                  </a:solidFill>
                </a:rPr>
                <a:t>Retail</a:t>
              </a:r>
              <a:endParaRPr kumimoji="1" lang="ja-JP" altLang="en-US" sz="1400" b="1" dirty="0">
                <a:solidFill>
                  <a:schemeClr val="bg1"/>
                </a:solidFill>
              </a:endParaRPr>
            </a:p>
          </p:txBody>
        </p:sp>
        <p:grpSp>
          <p:nvGrpSpPr>
            <p:cNvPr id="31" name="Graphic 1039">
              <a:extLst>
                <a:ext uri="{FF2B5EF4-FFF2-40B4-BE49-F238E27FC236}">
                  <a16:creationId xmlns:a16="http://schemas.microsoft.com/office/drawing/2014/main" id="{7BF427B5-3216-5C0E-16F3-38F34E3E1AC8}"/>
                </a:ext>
              </a:extLst>
            </p:cNvPr>
            <p:cNvGrpSpPr>
              <a:grpSpLocks noChangeAspect="1"/>
            </p:cNvGrpSpPr>
            <p:nvPr/>
          </p:nvGrpSpPr>
          <p:grpSpPr bwMode="gray">
            <a:xfrm>
              <a:off x="5067326" y="2559655"/>
              <a:ext cx="359973" cy="360075"/>
              <a:chOff x="6147119" y="1402085"/>
              <a:chExt cx="361670" cy="361333"/>
            </a:xfrm>
            <a:solidFill>
              <a:schemeClr val="bg1"/>
            </a:solidFill>
          </p:grpSpPr>
          <p:sp>
            <p:nvSpPr>
              <p:cNvPr id="32" name="Graphic 1039">
                <a:extLst>
                  <a:ext uri="{FF2B5EF4-FFF2-40B4-BE49-F238E27FC236}">
                    <a16:creationId xmlns:a16="http://schemas.microsoft.com/office/drawing/2014/main" id="{D6846AFF-66F6-B55F-6D9F-69458D787963}"/>
                  </a:ext>
                </a:extLst>
              </p:cNvPr>
              <p:cNvSpPr/>
              <p:nvPr/>
            </p:nvSpPr>
            <p:spPr bwMode="gray">
              <a:xfrm>
                <a:off x="6267250" y="1686172"/>
                <a:ext cx="1916" cy="2234"/>
              </a:xfrm>
              <a:custGeom>
                <a:avLst/>
                <a:gdLst>
                  <a:gd name="connsiteX0" fmla="*/ 1278 w 1916"/>
                  <a:gd name="connsiteY0" fmla="*/ 0 h 2234"/>
                  <a:gd name="connsiteX1" fmla="*/ 0 w 1916"/>
                  <a:gd name="connsiteY1" fmla="*/ 1277 h 2234"/>
                  <a:gd name="connsiteX2" fmla="*/ 1917 w 1916"/>
                  <a:gd name="connsiteY2" fmla="*/ 1277 h 2234"/>
                  <a:gd name="connsiteX3" fmla="*/ 1278 w 1916"/>
                  <a:gd name="connsiteY3" fmla="*/ 0 h 2234"/>
                </a:gdLst>
                <a:ahLst/>
                <a:cxnLst>
                  <a:cxn ang="0">
                    <a:pos x="connsiteX0" y="connsiteY0"/>
                  </a:cxn>
                  <a:cxn ang="0">
                    <a:pos x="connsiteX1" y="connsiteY1"/>
                  </a:cxn>
                  <a:cxn ang="0">
                    <a:pos x="connsiteX2" y="connsiteY2"/>
                  </a:cxn>
                  <a:cxn ang="0">
                    <a:pos x="connsiteX3" y="connsiteY3"/>
                  </a:cxn>
                </a:cxnLst>
                <a:rect l="l" t="t" r="r" b="b"/>
                <a:pathLst>
                  <a:path w="1916" h="2234">
                    <a:moveTo>
                      <a:pt x="1278" y="0"/>
                    </a:moveTo>
                    <a:cubicBezTo>
                      <a:pt x="639" y="0"/>
                      <a:pt x="0" y="638"/>
                      <a:pt x="0" y="1277"/>
                    </a:cubicBezTo>
                    <a:cubicBezTo>
                      <a:pt x="0" y="2554"/>
                      <a:pt x="1917" y="2554"/>
                      <a:pt x="1917" y="1277"/>
                    </a:cubicBezTo>
                    <a:cubicBezTo>
                      <a:pt x="1917" y="638"/>
                      <a:pt x="1278" y="0"/>
                      <a:pt x="1278" y="0"/>
                    </a:cubicBez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33" name="Graphic 1039">
                <a:extLst>
                  <a:ext uri="{FF2B5EF4-FFF2-40B4-BE49-F238E27FC236}">
                    <a16:creationId xmlns:a16="http://schemas.microsoft.com/office/drawing/2014/main" id="{BB581C8E-716E-8CB7-D2B8-5B9C5227404A}"/>
                  </a:ext>
                </a:extLst>
              </p:cNvPr>
              <p:cNvSpPr/>
              <p:nvPr/>
            </p:nvSpPr>
            <p:spPr bwMode="gray">
              <a:xfrm>
                <a:off x="6368850" y="1685533"/>
                <a:ext cx="2181" cy="2234"/>
              </a:xfrm>
              <a:custGeom>
                <a:avLst/>
                <a:gdLst>
                  <a:gd name="connsiteX0" fmla="*/ 1278 w 2181"/>
                  <a:gd name="connsiteY0" fmla="*/ 0 h 2234"/>
                  <a:gd name="connsiteX1" fmla="*/ 0 w 2181"/>
                  <a:gd name="connsiteY1" fmla="*/ 1277 h 2234"/>
                  <a:gd name="connsiteX2" fmla="*/ 1917 w 2181"/>
                  <a:gd name="connsiteY2" fmla="*/ 1277 h 2234"/>
                  <a:gd name="connsiteX3" fmla="*/ 1278 w 2181"/>
                  <a:gd name="connsiteY3" fmla="*/ 0 h 2234"/>
                </a:gdLst>
                <a:ahLst/>
                <a:cxnLst>
                  <a:cxn ang="0">
                    <a:pos x="connsiteX0" y="connsiteY0"/>
                  </a:cxn>
                  <a:cxn ang="0">
                    <a:pos x="connsiteX1" y="connsiteY1"/>
                  </a:cxn>
                  <a:cxn ang="0">
                    <a:pos x="connsiteX2" y="connsiteY2"/>
                  </a:cxn>
                  <a:cxn ang="0">
                    <a:pos x="connsiteX3" y="connsiteY3"/>
                  </a:cxn>
                </a:cxnLst>
                <a:rect l="l" t="t" r="r" b="b"/>
                <a:pathLst>
                  <a:path w="2181" h="2234">
                    <a:moveTo>
                      <a:pt x="1278" y="0"/>
                    </a:moveTo>
                    <a:cubicBezTo>
                      <a:pt x="639" y="0"/>
                      <a:pt x="0" y="638"/>
                      <a:pt x="0" y="1277"/>
                    </a:cubicBezTo>
                    <a:cubicBezTo>
                      <a:pt x="0" y="2554"/>
                      <a:pt x="1917" y="2554"/>
                      <a:pt x="1917" y="1277"/>
                    </a:cubicBezTo>
                    <a:cubicBezTo>
                      <a:pt x="2556" y="638"/>
                      <a:pt x="1917" y="0"/>
                      <a:pt x="1278" y="0"/>
                    </a:cubicBez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sp>
            <p:nvSpPr>
              <p:cNvPr id="34" name="Graphic 1039">
                <a:extLst>
                  <a:ext uri="{FF2B5EF4-FFF2-40B4-BE49-F238E27FC236}">
                    <a16:creationId xmlns:a16="http://schemas.microsoft.com/office/drawing/2014/main" id="{E81D6469-1552-FF3B-6EFC-5C7C38A1F5DF}"/>
                  </a:ext>
                </a:extLst>
              </p:cNvPr>
              <p:cNvSpPr/>
              <p:nvPr/>
            </p:nvSpPr>
            <p:spPr bwMode="gray">
              <a:xfrm>
                <a:off x="6147119" y="1402085"/>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205756 w 361670"/>
                  <a:gd name="connsiteY5" fmla="*/ 146193 h 361333"/>
                  <a:gd name="connsiteX6" fmla="*/ 221731 w 361670"/>
                  <a:gd name="connsiteY6" fmla="*/ 146193 h 361333"/>
                  <a:gd name="connsiteX7" fmla="*/ 228121 w 361670"/>
                  <a:gd name="connsiteY7" fmla="*/ 152577 h 361333"/>
                  <a:gd name="connsiteX8" fmla="*/ 221731 w 361670"/>
                  <a:gd name="connsiteY8" fmla="*/ 158961 h 361333"/>
                  <a:gd name="connsiteX9" fmla="*/ 205756 w 361670"/>
                  <a:gd name="connsiteY9" fmla="*/ 158961 h 361333"/>
                  <a:gd name="connsiteX10" fmla="*/ 199366 w 361670"/>
                  <a:gd name="connsiteY10" fmla="*/ 152577 h 361333"/>
                  <a:gd name="connsiteX11" fmla="*/ 205756 w 361670"/>
                  <a:gd name="connsiteY11" fmla="*/ 146193 h 361333"/>
                  <a:gd name="connsiteX12" fmla="*/ 132911 w 361670"/>
                  <a:gd name="connsiteY12" fmla="*/ 122572 h 361333"/>
                  <a:gd name="connsiteX13" fmla="*/ 141857 w 361670"/>
                  <a:gd name="connsiteY13" fmla="*/ 123211 h 361333"/>
                  <a:gd name="connsiteX14" fmla="*/ 157832 w 361670"/>
                  <a:gd name="connsiteY14" fmla="*/ 140448 h 361333"/>
                  <a:gd name="connsiteX15" fmla="*/ 157832 w 361670"/>
                  <a:gd name="connsiteY15" fmla="*/ 82353 h 361333"/>
                  <a:gd name="connsiteX16" fmla="*/ 164221 w 361670"/>
                  <a:gd name="connsiteY16" fmla="*/ 75969 h 361333"/>
                  <a:gd name="connsiteX17" fmla="*/ 170611 w 361670"/>
                  <a:gd name="connsiteY17" fmla="*/ 82353 h 361333"/>
                  <a:gd name="connsiteX18" fmla="*/ 170611 w 361670"/>
                  <a:gd name="connsiteY18" fmla="*/ 139809 h 361333"/>
                  <a:gd name="connsiteX19" fmla="*/ 185308 w 361670"/>
                  <a:gd name="connsiteY19" fmla="*/ 122572 h 361333"/>
                  <a:gd name="connsiteX20" fmla="*/ 194254 w 361670"/>
                  <a:gd name="connsiteY20" fmla="*/ 121934 h 361333"/>
                  <a:gd name="connsiteX21" fmla="*/ 194893 w 361670"/>
                  <a:gd name="connsiteY21" fmla="*/ 130872 h 361333"/>
                  <a:gd name="connsiteX22" fmla="*/ 168695 w 361670"/>
                  <a:gd name="connsiteY22" fmla="*/ 160876 h 361333"/>
                  <a:gd name="connsiteX23" fmla="*/ 164221 w 361670"/>
                  <a:gd name="connsiteY23" fmla="*/ 162792 h 361333"/>
                  <a:gd name="connsiteX24" fmla="*/ 164221 w 361670"/>
                  <a:gd name="connsiteY24" fmla="*/ 162792 h 361333"/>
                  <a:gd name="connsiteX25" fmla="*/ 159748 w 361670"/>
                  <a:gd name="connsiteY25" fmla="*/ 160876 h 361333"/>
                  <a:gd name="connsiteX26" fmla="*/ 132911 w 361670"/>
                  <a:gd name="connsiteY26" fmla="*/ 130872 h 361333"/>
                  <a:gd name="connsiteX27" fmla="*/ 132911 w 361670"/>
                  <a:gd name="connsiteY27" fmla="*/ 122572 h 361333"/>
                  <a:gd name="connsiteX28" fmla="*/ 83069 w 361670"/>
                  <a:gd name="connsiteY28" fmla="*/ 217055 h 361333"/>
                  <a:gd name="connsiteX29" fmla="*/ 67733 w 361670"/>
                  <a:gd name="connsiteY29" fmla="*/ 154492 h 361333"/>
                  <a:gd name="connsiteX30" fmla="*/ 69011 w 361670"/>
                  <a:gd name="connsiteY30" fmla="*/ 148747 h 361333"/>
                  <a:gd name="connsiteX31" fmla="*/ 74123 w 361670"/>
                  <a:gd name="connsiteY31" fmla="*/ 146193 h 361333"/>
                  <a:gd name="connsiteX32" fmla="*/ 121409 w 361670"/>
                  <a:gd name="connsiteY32" fmla="*/ 146193 h 361333"/>
                  <a:gd name="connsiteX33" fmla="*/ 127799 w 361670"/>
                  <a:gd name="connsiteY33" fmla="*/ 152577 h 361333"/>
                  <a:gd name="connsiteX34" fmla="*/ 121409 w 361670"/>
                  <a:gd name="connsiteY34" fmla="*/ 158961 h 361333"/>
                  <a:gd name="connsiteX35" fmla="*/ 82430 w 361670"/>
                  <a:gd name="connsiteY35" fmla="*/ 158961 h 361333"/>
                  <a:gd name="connsiteX36" fmla="*/ 94571 w 361670"/>
                  <a:gd name="connsiteY36" fmla="*/ 208756 h 361333"/>
                  <a:gd name="connsiteX37" fmla="*/ 207034 w 361670"/>
                  <a:gd name="connsiteY37" fmla="*/ 208756 h 361333"/>
                  <a:gd name="connsiteX38" fmla="*/ 213424 w 361670"/>
                  <a:gd name="connsiteY38" fmla="*/ 215140 h 361333"/>
                  <a:gd name="connsiteX39" fmla="*/ 207034 w 361670"/>
                  <a:gd name="connsiteY39" fmla="*/ 221524 h 361333"/>
                  <a:gd name="connsiteX40" fmla="*/ 89459 w 361670"/>
                  <a:gd name="connsiteY40" fmla="*/ 221524 h 361333"/>
                  <a:gd name="connsiteX41" fmla="*/ 83069 w 361670"/>
                  <a:gd name="connsiteY41" fmla="*/ 217055 h 361333"/>
                  <a:gd name="connsiteX42" fmla="*/ 121409 w 361670"/>
                  <a:gd name="connsiteY42" fmla="*/ 298770 h 361333"/>
                  <a:gd name="connsiteX43" fmla="*/ 107351 w 361670"/>
                  <a:gd name="connsiteY43" fmla="*/ 284726 h 361333"/>
                  <a:gd name="connsiteX44" fmla="*/ 121409 w 361670"/>
                  <a:gd name="connsiteY44" fmla="*/ 270681 h 361333"/>
                  <a:gd name="connsiteX45" fmla="*/ 135467 w 361670"/>
                  <a:gd name="connsiteY45" fmla="*/ 284726 h 361333"/>
                  <a:gd name="connsiteX46" fmla="*/ 121409 w 361670"/>
                  <a:gd name="connsiteY46" fmla="*/ 298770 h 361333"/>
                  <a:gd name="connsiteX47" fmla="*/ 223009 w 361670"/>
                  <a:gd name="connsiteY47" fmla="*/ 298770 h 361333"/>
                  <a:gd name="connsiteX48" fmla="*/ 208951 w 361670"/>
                  <a:gd name="connsiteY48" fmla="*/ 284726 h 361333"/>
                  <a:gd name="connsiteX49" fmla="*/ 223009 w 361670"/>
                  <a:gd name="connsiteY49" fmla="*/ 270681 h 361333"/>
                  <a:gd name="connsiteX50" fmla="*/ 237067 w 361670"/>
                  <a:gd name="connsiteY50" fmla="*/ 284726 h 361333"/>
                  <a:gd name="connsiteX51" fmla="*/ 223009 w 361670"/>
                  <a:gd name="connsiteY51" fmla="*/ 298770 h 361333"/>
                  <a:gd name="connsiteX52" fmla="*/ 289464 w 361670"/>
                  <a:gd name="connsiteY52" fmla="*/ 121934 h 361333"/>
                  <a:gd name="connsiteX53" fmla="*/ 266460 w 361670"/>
                  <a:gd name="connsiteY53" fmla="*/ 134064 h 361333"/>
                  <a:gd name="connsiteX54" fmla="*/ 244096 w 361670"/>
                  <a:gd name="connsiteY54" fmla="*/ 246422 h 361333"/>
                  <a:gd name="connsiteX55" fmla="*/ 237706 w 361670"/>
                  <a:gd name="connsiteY55" fmla="*/ 251529 h 361333"/>
                  <a:gd name="connsiteX56" fmla="*/ 97766 w 361670"/>
                  <a:gd name="connsiteY56" fmla="*/ 252167 h 361333"/>
                  <a:gd name="connsiteX57" fmla="*/ 97766 w 361670"/>
                  <a:gd name="connsiteY57" fmla="*/ 252167 h 361333"/>
                  <a:gd name="connsiteX58" fmla="*/ 91376 w 361670"/>
                  <a:gd name="connsiteY58" fmla="*/ 245783 h 361333"/>
                  <a:gd name="connsiteX59" fmla="*/ 97766 w 361670"/>
                  <a:gd name="connsiteY59" fmla="*/ 239399 h 361333"/>
                  <a:gd name="connsiteX60" fmla="*/ 232594 w 361670"/>
                  <a:gd name="connsiteY60" fmla="*/ 238761 h 361333"/>
                  <a:gd name="connsiteX61" fmla="*/ 254959 w 361670"/>
                  <a:gd name="connsiteY61" fmla="*/ 128956 h 361333"/>
                  <a:gd name="connsiteX62" fmla="*/ 258154 w 361670"/>
                  <a:gd name="connsiteY62" fmla="*/ 124488 h 361333"/>
                  <a:gd name="connsiteX63" fmla="*/ 283713 w 361670"/>
                  <a:gd name="connsiteY63" fmla="*/ 110443 h 361333"/>
                  <a:gd name="connsiteX64" fmla="*/ 292659 w 361670"/>
                  <a:gd name="connsiteY64" fmla="*/ 112996 h 361333"/>
                  <a:gd name="connsiteX65" fmla="*/ 289464 w 361670"/>
                  <a:gd name="connsiteY65" fmla="*/ 12193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61670" h="361333">
                    <a:moveTo>
                      <a:pt x="180835" y="0"/>
                    </a:moveTo>
                    <a:cubicBezTo>
                      <a:pt x="80513" y="0"/>
                      <a:pt x="0" y="81077"/>
                      <a:pt x="0" y="180667"/>
                    </a:cubicBezTo>
                    <a:cubicBezTo>
                      <a:pt x="0" y="280257"/>
                      <a:pt x="81152" y="361333"/>
                      <a:pt x="180835" y="361333"/>
                    </a:cubicBezTo>
                    <a:cubicBezTo>
                      <a:pt x="280518" y="361333"/>
                      <a:pt x="361670" y="280257"/>
                      <a:pt x="361670" y="180667"/>
                    </a:cubicBezTo>
                    <a:cubicBezTo>
                      <a:pt x="361670" y="81077"/>
                      <a:pt x="280518" y="0"/>
                      <a:pt x="180835" y="0"/>
                    </a:cubicBezTo>
                    <a:close/>
                    <a:moveTo>
                      <a:pt x="205756" y="146193"/>
                    </a:moveTo>
                    <a:lnTo>
                      <a:pt x="221731" y="146193"/>
                    </a:lnTo>
                    <a:cubicBezTo>
                      <a:pt x="225565" y="146193"/>
                      <a:pt x="228121" y="148747"/>
                      <a:pt x="228121" y="152577"/>
                    </a:cubicBezTo>
                    <a:cubicBezTo>
                      <a:pt x="228121" y="156408"/>
                      <a:pt x="225565" y="158961"/>
                      <a:pt x="221731" y="158961"/>
                    </a:cubicBezTo>
                    <a:lnTo>
                      <a:pt x="205756" y="158961"/>
                    </a:lnTo>
                    <a:cubicBezTo>
                      <a:pt x="201922" y="158961"/>
                      <a:pt x="199366" y="156408"/>
                      <a:pt x="199366" y="152577"/>
                    </a:cubicBezTo>
                    <a:cubicBezTo>
                      <a:pt x="199366" y="148747"/>
                      <a:pt x="202561" y="146193"/>
                      <a:pt x="205756" y="146193"/>
                    </a:cubicBezTo>
                    <a:close/>
                    <a:moveTo>
                      <a:pt x="132911" y="122572"/>
                    </a:moveTo>
                    <a:cubicBezTo>
                      <a:pt x="135467" y="120019"/>
                      <a:pt x="139301" y="120657"/>
                      <a:pt x="141857" y="123211"/>
                    </a:cubicBezTo>
                    <a:lnTo>
                      <a:pt x="157832" y="140448"/>
                    </a:lnTo>
                    <a:lnTo>
                      <a:pt x="157832" y="82353"/>
                    </a:lnTo>
                    <a:cubicBezTo>
                      <a:pt x="157832" y="78523"/>
                      <a:pt x="160387" y="75969"/>
                      <a:pt x="164221" y="75969"/>
                    </a:cubicBezTo>
                    <a:cubicBezTo>
                      <a:pt x="168055" y="75969"/>
                      <a:pt x="170611" y="78523"/>
                      <a:pt x="170611" y="82353"/>
                    </a:cubicBezTo>
                    <a:lnTo>
                      <a:pt x="170611" y="139809"/>
                    </a:lnTo>
                    <a:lnTo>
                      <a:pt x="185308" y="122572"/>
                    </a:lnTo>
                    <a:cubicBezTo>
                      <a:pt x="187864" y="120019"/>
                      <a:pt x="191698" y="119380"/>
                      <a:pt x="194254" y="121934"/>
                    </a:cubicBezTo>
                    <a:cubicBezTo>
                      <a:pt x="196810" y="124488"/>
                      <a:pt x="197449" y="128318"/>
                      <a:pt x="194893" y="130872"/>
                    </a:cubicBezTo>
                    <a:lnTo>
                      <a:pt x="168695" y="160876"/>
                    </a:lnTo>
                    <a:cubicBezTo>
                      <a:pt x="167416" y="162153"/>
                      <a:pt x="165500" y="162792"/>
                      <a:pt x="164221" y="162792"/>
                    </a:cubicBezTo>
                    <a:cubicBezTo>
                      <a:pt x="164221" y="162792"/>
                      <a:pt x="164221" y="162792"/>
                      <a:pt x="164221" y="162792"/>
                    </a:cubicBezTo>
                    <a:cubicBezTo>
                      <a:pt x="162305" y="162792"/>
                      <a:pt x="160387" y="162153"/>
                      <a:pt x="159748" y="160876"/>
                    </a:cubicBezTo>
                    <a:lnTo>
                      <a:pt x="132911" y="130872"/>
                    </a:lnTo>
                    <a:cubicBezTo>
                      <a:pt x="130355" y="128956"/>
                      <a:pt x="130355" y="125126"/>
                      <a:pt x="132911" y="122572"/>
                    </a:cubicBezTo>
                    <a:close/>
                    <a:moveTo>
                      <a:pt x="83069" y="217055"/>
                    </a:moveTo>
                    <a:lnTo>
                      <a:pt x="67733" y="154492"/>
                    </a:lnTo>
                    <a:cubicBezTo>
                      <a:pt x="67094" y="152577"/>
                      <a:pt x="67733" y="150662"/>
                      <a:pt x="69011" y="148747"/>
                    </a:cubicBezTo>
                    <a:cubicBezTo>
                      <a:pt x="70289" y="147470"/>
                      <a:pt x="72206" y="146193"/>
                      <a:pt x="74123" y="146193"/>
                    </a:cubicBezTo>
                    <a:lnTo>
                      <a:pt x="121409" y="146193"/>
                    </a:lnTo>
                    <a:cubicBezTo>
                      <a:pt x="125243" y="146193"/>
                      <a:pt x="127799" y="148747"/>
                      <a:pt x="127799" y="152577"/>
                    </a:cubicBezTo>
                    <a:cubicBezTo>
                      <a:pt x="127799" y="156408"/>
                      <a:pt x="125243" y="158961"/>
                      <a:pt x="121409" y="158961"/>
                    </a:cubicBezTo>
                    <a:lnTo>
                      <a:pt x="82430" y="158961"/>
                    </a:lnTo>
                    <a:lnTo>
                      <a:pt x="94571" y="208756"/>
                    </a:lnTo>
                    <a:lnTo>
                      <a:pt x="207034" y="208756"/>
                    </a:lnTo>
                    <a:cubicBezTo>
                      <a:pt x="210868" y="208756"/>
                      <a:pt x="213424" y="211310"/>
                      <a:pt x="213424" y="215140"/>
                    </a:cubicBezTo>
                    <a:cubicBezTo>
                      <a:pt x="213424" y="218971"/>
                      <a:pt x="210868" y="221524"/>
                      <a:pt x="207034" y="221524"/>
                    </a:cubicBezTo>
                    <a:lnTo>
                      <a:pt x="89459" y="221524"/>
                    </a:lnTo>
                    <a:cubicBezTo>
                      <a:pt x="86264" y="222163"/>
                      <a:pt x="83708" y="220247"/>
                      <a:pt x="83069" y="217055"/>
                    </a:cubicBezTo>
                    <a:close/>
                    <a:moveTo>
                      <a:pt x="121409" y="298770"/>
                    </a:moveTo>
                    <a:cubicBezTo>
                      <a:pt x="113741" y="298770"/>
                      <a:pt x="107351" y="292386"/>
                      <a:pt x="107351" y="284726"/>
                    </a:cubicBezTo>
                    <a:cubicBezTo>
                      <a:pt x="107351" y="277065"/>
                      <a:pt x="113741" y="270681"/>
                      <a:pt x="121409" y="270681"/>
                    </a:cubicBezTo>
                    <a:cubicBezTo>
                      <a:pt x="129077" y="270681"/>
                      <a:pt x="135467" y="277065"/>
                      <a:pt x="135467" y="284726"/>
                    </a:cubicBezTo>
                    <a:cubicBezTo>
                      <a:pt x="135467" y="292386"/>
                      <a:pt x="128438" y="298770"/>
                      <a:pt x="121409" y="298770"/>
                    </a:cubicBezTo>
                    <a:close/>
                    <a:moveTo>
                      <a:pt x="223009" y="298770"/>
                    </a:moveTo>
                    <a:cubicBezTo>
                      <a:pt x="215341" y="298770"/>
                      <a:pt x="208951" y="292386"/>
                      <a:pt x="208951" y="284726"/>
                    </a:cubicBezTo>
                    <a:cubicBezTo>
                      <a:pt x="208951" y="277065"/>
                      <a:pt x="215341" y="270681"/>
                      <a:pt x="223009" y="270681"/>
                    </a:cubicBezTo>
                    <a:cubicBezTo>
                      <a:pt x="230677" y="270681"/>
                      <a:pt x="237067" y="277065"/>
                      <a:pt x="237067" y="284726"/>
                    </a:cubicBezTo>
                    <a:cubicBezTo>
                      <a:pt x="237067" y="292386"/>
                      <a:pt x="230677" y="298770"/>
                      <a:pt x="223009" y="298770"/>
                    </a:cubicBezTo>
                    <a:close/>
                    <a:moveTo>
                      <a:pt x="289464" y="121934"/>
                    </a:moveTo>
                    <a:lnTo>
                      <a:pt x="266460" y="134064"/>
                    </a:lnTo>
                    <a:lnTo>
                      <a:pt x="244096" y="246422"/>
                    </a:lnTo>
                    <a:cubicBezTo>
                      <a:pt x="243456" y="249614"/>
                      <a:pt x="240901" y="251529"/>
                      <a:pt x="237706" y="251529"/>
                    </a:cubicBezTo>
                    <a:lnTo>
                      <a:pt x="97766" y="252167"/>
                    </a:lnTo>
                    <a:cubicBezTo>
                      <a:pt x="97766" y="252167"/>
                      <a:pt x="97766" y="252167"/>
                      <a:pt x="97766" y="252167"/>
                    </a:cubicBezTo>
                    <a:cubicBezTo>
                      <a:pt x="94571" y="252167"/>
                      <a:pt x="91376" y="249614"/>
                      <a:pt x="91376" y="245783"/>
                    </a:cubicBezTo>
                    <a:cubicBezTo>
                      <a:pt x="91376" y="241953"/>
                      <a:pt x="93932" y="239399"/>
                      <a:pt x="97766" y="239399"/>
                    </a:cubicBezTo>
                    <a:lnTo>
                      <a:pt x="232594" y="238761"/>
                    </a:lnTo>
                    <a:lnTo>
                      <a:pt x="254959" y="128956"/>
                    </a:lnTo>
                    <a:cubicBezTo>
                      <a:pt x="255597" y="127041"/>
                      <a:pt x="256236" y="125764"/>
                      <a:pt x="258154" y="124488"/>
                    </a:cubicBezTo>
                    <a:lnTo>
                      <a:pt x="283713" y="110443"/>
                    </a:lnTo>
                    <a:cubicBezTo>
                      <a:pt x="286908" y="108528"/>
                      <a:pt x="290742" y="109804"/>
                      <a:pt x="292659" y="112996"/>
                    </a:cubicBezTo>
                    <a:cubicBezTo>
                      <a:pt x="293937" y="116827"/>
                      <a:pt x="292659" y="120657"/>
                      <a:pt x="289464" y="121934"/>
                    </a:cubicBezTo>
                    <a:close/>
                  </a:path>
                </a:pathLst>
              </a:custGeom>
              <a:grpFill/>
              <a:ln w="6390" cap="flat">
                <a:noFill/>
                <a:prstDash val="solid"/>
                <a:miter/>
              </a:ln>
            </p:spPr>
            <p:txBody>
              <a:bodyPr wrap="none" lIns="0" tIns="0" rIns="0" bIns="0" rtlCol="0" anchor="ctr"/>
              <a:lstStyle/>
              <a:p>
                <a:pPr algn="ctr"/>
                <a:endParaRPr lang="en-US" sz="1100">
                  <a:latin typeface="+mn-lt"/>
                  <a:cs typeface="+mn-cs"/>
                  <a:sym typeface="+mn-lt"/>
                </a:endParaRPr>
              </a:p>
            </p:txBody>
          </p:sp>
        </p:grpSp>
      </p:grpSp>
      <p:cxnSp>
        <p:nvCxnSpPr>
          <p:cNvPr id="46" name="直線コネクタ 45">
            <a:extLst>
              <a:ext uri="{FF2B5EF4-FFF2-40B4-BE49-F238E27FC236}">
                <a16:creationId xmlns:a16="http://schemas.microsoft.com/office/drawing/2014/main" id="{E98CE408-A2DC-50F5-4C5D-2F2556FCC0BC}"/>
              </a:ext>
            </a:extLst>
          </p:cNvPr>
          <p:cNvCxnSpPr/>
          <p:nvPr/>
        </p:nvCxnSpPr>
        <p:spPr>
          <a:xfrm>
            <a:off x="428306" y="1431894"/>
            <a:ext cx="9103503"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9A180E12-85D8-7251-184A-83C606698BCF}"/>
              </a:ext>
            </a:extLst>
          </p:cNvPr>
          <p:cNvSpPr txBox="1"/>
          <p:nvPr/>
        </p:nvSpPr>
        <p:spPr>
          <a:xfrm>
            <a:off x="3919538" y="1326529"/>
            <a:ext cx="1947467" cy="215444"/>
          </a:xfrm>
          <a:prstGeom prst="rect">
            <a:avLst/>
          </a:prstGeom>
          <a:solidFill>
            <a:schemeClr val="bg1"/>
          </a:solidFill>
        </p:spPr>
        <p:txBody>
          <a:bodyPr wrap="square" lIns="0" tIns="0" rIns="0" bIns="0" rtlCol="0">
            <a:spAutoFit/>
          </a:bodyPr>
          <a:lstStyle/>
          <a:p>
            <a:pPr algn="ctr"/>
            <a:r>
              <a:rPr lang="en-US" altLang="ja-JP" sz="1400" b="1" dirty="0">
                <a:latin typeface="+mn-ea"/>
                <a:ea typeface="+mn-ea"/>
              </a:rPr>
              <a:t>VC</a:t>
            </a:r>
            <a:r>
              <a:rPr lang="ja-JP" altLang="en-US" sz="1400" b="1" dirty="0">
                <a:latin typeface="+mn-ea"/>
                <a:ea typeface="+mn-ea"/>
              </a:rPr>
              <a:t>のユースケース*</a:t>
            </a:r>
            <a:endParaRPr kumimoji="1" lang="en-US" altLang="ja-JP" sz="1400" b="1" dirty="0">
              <a:latin typeface="+mn-ea"/>
              <a:ea typeface="+mn-ea"/>
            </a:endParaRPr>
          </a:p>
        </p:txBody>
      </p:sp>
      <p:grpSp>
        <p:nvGrpSpPr>
          <p:cNvPr id="76" name="グループ化 75">
            <a:extLst>
              <a:ext uri="{FF2B5EF4-FFF2-40B4-BE49-F238E27FC236}">
                <a16:creationId xmlns:a16="http://schemas.microsoft.com/office/drawing/2014/main" id="{2225255C-E96E-6978-8C78-8E83AABF3C58}"/>
              </a:ext>
            </a:extLst>
          </p:cNvPr>
          <p:cNvGrpSpPr/>
          <p:nvPr/>
        </p:nvGrpSpPr>
        <p:grpSpPr>
          <a:xfrm>
            <a:off x="374191" y="1643711"/>
            <a:ext cx="9179470" cy="1257655"/>
            <a:chOff x="374191" y="1785118"/>
            <a:chExt cx="9179470" cy="1109496"/>
          </a:xfrm>
        </p:grpSpPr>
        <p:sp>
          <p:nvSpPr>
            <p:cNvPr id="26" name="正方形/長方形 25">
              <a:extLst>
                <a:ext uri="{FF2B5EF4-FFF2-40B4-BE49-F238E27FC236}">
                  <a16:creationId xmlns:a16="http://schemas.microsoft.com/office/drawing/2014/main" id="{6E66EB4E-8548-EA02-7BDD-1C701E4A5674}"/>
                </a:ext>
              </a:extLst>
            </p:cNvPr>
            <p:cNvSpPr/>
            <p:nvPr/>
          </p:nvSpPr>
          <p:spPr>
            <a:xfrm>
              <a:off x="374191" y="1785118"/>
              <a:ext cx="1407475" cy="524982"/>
            </a:xfrm>
            <a:prstGeom prst="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t>大学卒業証明</a:t>
              </a:r>
              <a:endParaRPr kumimoji="1" lang="ja-JP" altLang="en-US" sz="1400" dirty="0"/>
            </a:p>
          </p:txBody>
        </p:sp>
        <p:sp>
          <p:nvSpPr>
            <p:cNvPr id="62" name="正方形/長方形 61">
              <a:extLst>
                <a:ext uri="{FF2B5EF4-FFF2-40B4-BE49-F238E27FC236}">
                  <a16:creationId xmlns:a16="http://schemas.microsoft.com/office/drawing/2014/main" id="{7BF108B6-DA4B-C52E-5025-9BE08A57F21A}"/>
                </a:ext>
              </a:extLst>
            </p:cNvPr>
            <p:cNvSpPr/>
            <p:nvPr/>
          </p:nvSpPr>
          <p:spPr>
            <a:xfrm>
              <a:off x="374191" y="2368446"/>
              <a:ext cx="1407475" cy="524982"/>
            </a:xfrm>
            <a:prstGeom prst="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dirty="0"/>
                <a:t>認定ミル</a:t>
              </a:r>
            </a:p>
          </p:txBody>
        </p:sp>
        <p:sp>
          <p:nvSpPr>
            <p:cNvPr id="63" name="正方形/長方形 62">
              <a:extLst>
                <a:ext uri="{FF2B5EF4-FFF2-40B4-BE49-F238E27FC236}">
                  <a16:creationId xmlns:a16="http://schemas.microsoft.com/office/drawing/2014/main" id="{324A1FF3-1D27-FC3B-DF4C-378E7DA5E488}"/>
                </a:ext>
              </a:extLst>
            </p:cNvPr>
            <p:cNvSpPr/>
            <p:nvPr/>
          </p:nvSpPr>
          <p:spPr>
            <a:xfrm>
              <a:off x="5110193" y="1785118"/>
              <a:ext cx="1407475" cy="524982"/>
            </a:xfrm>
            <a:prstGeom prst="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dirty="0"/>
                <a:t>原油取引</a:t>
              </a:r>
            </a:p>
          </p:txBody>
        </p:sp>
        <p:sp>
          <p:nvSpPr>
            <p:cNvPr id="64" name="正方形/長方形 63">
              <a:extLst>
                <a:ext uri="{FF2B5EF4-FFF2-40B4-BE49-F238E27FC236}">
                  <a16:creationId xmlns:a16="http://schemas.microsoft.com/office/drawing/2014/main" id="{5F6210AA-1B26-6FDE-BD6F-33F567ACBA13}"/>
                </a:ext>
              </a:extLst>
            </p:cNvPr>
            <p:cNvSpPr/>
            <p:nvPr/>
          </p:nvSpPr>
          <p:spPr>
            <a:xfrm>
              <a:off x="5110193" y="2368446"/>
              <a:ext cx="1407475" cy="524982"/>
            </a:xfrm>
            <a:prstGeom prst="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400" dirty="0"/>
                <a:t>Covid-19</a:t>
              </a:r>
              <a:endParaRPr kumimoji="1" lang="ja-JP" altLang="en-US" sz="1400" dirty="0"/>
            </a:p>
          </p:txBody>
        </p:sp>
        <p:sp>
          <p:nvSpPr>
            <p:cNvPr id="65" name="正方形/長方形 64">
              <a:extLst>
                <a:ext uri="{FF2B5EF4-FFF2-40B4-BE49-F238E27FC236}">
                  <a16:creationId xmlns:a16="http://schemas.microsoft.com/office/drawing/2014/main" id="{27462EC1-8BF7-E63B-26A8-CD0FC150A7F1}"/>
                </a:ext>
              </a:extLst>
            </p:cNvPr>
            <p:cNvSpPr/>
            <p:nvPr/>
          </p:nvSpPr>
          <p:spPr>
            <a:xfrm>
              <a:off x="1825981" y="1785118"/>
              <a:ext cx="2991116" cy="524982"/>
            </a:xfrm>
            <a:prstGeom prst="rect">
              <a:avLst/>
            </a:prstGeom>
            <a:solidFill>
              <a:schemeClr val="bg1"/>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marL="179388" indent="-179388">
                <a:buFont typeface="Arial" panose="020B0604020202020204" pitchFamily="34" charset="0"/>
                <a:buChar char="•"/>
              </a:pPr>
              <a:r>
                <a:rPr lang="ja-JP" altLang="en-US" sz="1200" dirty="0"/>
                <a:t>大学卒業資格を定義</a:t>
              </a:r>
              <a:br>
                <a:rPr lang="en-US" altLang="ja-JP" sz="1200" dirty="0"/>
              </a:br>
              <a:r>
                <a:rPr lang="en-US" altLang="ja-JP" sz="1200" dirty="0"/>
                <a:t>(</a:t>
              </a:r>
              <a:r>
                <a:rPr lang="ja-JP" altLang="en-US" sz="1200" dirty="0"/>
                <a:t>学士・博士等の課程や学位</a:t>
              </a:r>
              <a:r>
                <a:rPr lang="en-US" altLang="ja-JP" sz="1200" dirty="0"/>
                <a:t>)</a:t>
              </a:r>
              <a:endParaRPr kumimoji="1" lang="ja-JP" altLang="en-US" sz="1200" dirty="0"/>
            </a:p>
          </p:txBody>
        </p:sp>
        <p:sp>
          <p:nvSpPr>
            <p:cNvPr id="66" name="正方形/長方形 65">
              <a:extLst>
                <a:ext uri="{FF2B5EF4-FFF2-40B4-BE49-F238E27FC236}">
                  <a16:creationId xmlns:a16="http://schemas.microsoft.com/office/drawing/2014/main" id="{368BC078-2BF8-E7AE-1428-789047B7C605}"/>
                </a:ext>
              </a:extLst>
            </p:cNvPr>
            <p:cNvSpPr/>
            <p:nvPr/>
          </p:nvSpPr>
          <p:spPr>
            <a:xfrm>
              <a:off x="1825981" y="2369632"/>
              <a:ext cx="2991116" cy="524982"/>
            </a:xfrm>
            <a:prstGeom prst="rect">
              <a:avLst/>
            </a:prstGeom>
            <a:solidFill>
              <a:schemeClr val="bg1"/>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9388" indent="-179388">
                <a:buFont typeface="Arial" panose="020B0604020202020204" pitchFamily="34" charset="0"/>
                <a:buChar char="•"/>
              </a:pPr>
              <a:r>
                <a:rPr kumimoji="1" lang="ja-JP" altLang="en-US" sz="1200" dirty="0"/>
                <a:t>金属等を用いて作られた製品が特定の規格に準拠した品質で生産されていることを保証された証明書の定義</a:t>
              </a:r>
            </a:p>
          </p:txBody>
        </p:sp>
        <p:sp>
          <p:nvSpPr>
            <p:cNvPr id="67" name="正方形/長方形 66">
              <a:extLst>
                <a:ext uri="{FF2B5EF4-FFF2-40B4-BE49-F238E27FC236}">
                  <a16:creationId xmlns:a16="http://schemas.microsoft.com/office/drawing/2014/main" id="{4984DDFE-CF4C-6CEA-8DD8-4652D5BD9B2D}"/>
                </a:ext>
              </a:extLst>
            </p:cNvPr>
            <p:cNvSpPr/>
            <p:nvPr/>
          </p:nvSpPr>
          <p:spPr>
            <a:xfrm>
              <a:off x="6562545" y="1785118"/>
              <a:ext cx="2991116" cy="524982"/>
            </a:xfrm>
            <a:prstGeom prst="rect">
              <a:avLst/>
            </a:prstGeom>
            <a:solidFill>
              <a:schemeClr val="bg1"/>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9388" indent="-179388">
                <a:buFont typeface="Arial" panose="020B0604020202020204" pitchFamily="34" charset="0"/>
                <a:buChar char="•"/>
              </a:pPr>
              <a:r>
                <a:rPr kumimoji="1" lang="ja-JP" altLang="en-US" sz="1200" dirty="0"/>
                <a:t>原油の品質や運搬・貿易にかかる</a:t>
              </a:r>
              <a:br>
                <a:rPr kumimoji="1" lang="en-US" altLang="ja-JP" sz="1200" dirty="0"/>
              </a:br>
              <a:r>
                <a:rPr kumimoji="1" lang="ja-JP" altLang="en-US" sz="1200" dirty="0"/>
                <a:t>記録等を定義</a:t>
              </a:r>
            </a:p>
          </p:txBody>
        </p:sp>
        <p:sp>
          <p:nvSpPr>
            <p:cNvPr id="68" name="正方形/長方形 67">
              <a:extLst>
                <a:ext uri="{FF2B5EF4-FFF2-40B4-BE49-F238E27FC236}">
                  <a16:creationId xmlns:a16="http://schemas.microsoft.com/office/drawing/2014/main" id="{EA1D3E2D-4DCF-5E0C-A34D-106CECCAA552}"/>
                </a:ext>
              </a:extLst>
            </p:cNvPr>
            <p:cNvSpPr/>
            <p:nvPr/>
          </p:nvSpPr>
          <p:spPr>
            <a:xfrm>
              <a:off x="6562545" y="2369632"/>
              <a:ext cx="2991116" cy="524982"/>
            </a:xfrm>
            <a:prstGeom prst="rect">
              <a:avLst/>
            </a:prstGeom>
            <a:solidFill>
              <a:schemeClr val="bg1"/>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marL="179388" indent="-179388">
                <a:buFont typeface="Arial" panose="020B0604020202020204" pitchFamily="34" charset="0"/>
                <a:buChar char="•"/>
              </a:pPr>
              <a:r>
                <a:rPr kumimoji="1" lang="en-US" altLang="ja-JP" sz="1200" dirty="0"/>
                <a:t>Covid-19</a:t>
              </a:r>
              <a:r>
                <a:rPr kumimoji="1" lang="ja-JP" altLang="en-US" sz="1200" dirty="0"/>
                <a:t>の接種証明書の定義</a:t>
              </a:r>
            </a:p>
          </p:txBody>
        </p:sp>
      </p:grpSp>
      <p:sp>
        <p:nvSpPr>
          <p:cNvPr id="69" name="コンテンツ プレースホルダー 2">
            <a:extLst>
              <a:ext uri="{FF2B5EF4-FFF2-40B4-BE49-F238E27FC236}">
                <a16:creationId xmlns:a16="http://schemas.microsoft.com/office/drawing/2014/main" id="{6D3DBDBB-F432-5693-C98D-35BBFD95C58C}"/>
              </a:ext>
            </a:extLst>
          </p:cNvPr>
          <p:cNvSpPr>
            <a:spLocks noGrp="1"/>
          </p:cNvSpPr>
          <p:nvPr>
            <p:ph idx="1"/>
          </p:nvPr>
        </p:nvSpPr>
        <p:spPr>
          <a:xfrm>
            <a:off x="273050" y="927444"/>
            <a:ext cx="9359900" cy="215444"/>
          </a:xfrm>
        </p:spPr>
        <p:txBody>
          <a:bodyPr/>
          <a:lstStyle/>
          <a:p>
            <a:r>
              <a:rPr lang="ja-JP" altLang="en-US" dirty="0"/>
              <a:t>学歴</a:t>
            </a:r>
            <a:r>
              <a:rPr kumimoji="1" lang="ja-JP" altLang="en-US" dirty="0"/>
              <a:t>証明、製品の品質保証、ワクチン証明等で</a:t>
            </a:r>
            <a:r>
              <a:rPr kumimoji="1" lang="en-US" altLang="ja-JP" dirty="0"/>
              <a:t>VC</a:t>
            </a:r>
            <a:r>
              <a:rPr kumimoji="1" lang="ja-JP" altLang="en-US" dirty="0"/>
              <a:t>のデータモデル整備が進んでいる</a:t>
            </a:r>
            <a:endParaRPr kumimoji="1" lang="en-US" altLang="ja-JP" dirty="0"/>
          </a:p>
        </p:txBody>
      </p:sp>
      <p:sp>
        <p:nvSpPr>
          <p:cNvPr id="20" name="テキスト ボックス 19">
            <a:extLst>
              <a:ext uri="{FF2B5EF4-FFF2-40B4-BE49-F238E27FC236}">
                <a16:creationId xmlns:a16="http://schemas.microsoft.com/office/drawing/2014/main" id="{72085CDA-C66B-74AC-45F4-CE5A89EA4D75}"/>
              </a:ext>
            </a:extLst>
          </p:cNvPr>
          <p:cNvSpPr txBox="1"/>
          <p:nvPr/>
        </p:nvSpPr>
        <p:spPr bwMode="gray">
          <a:xfrm>
            <a:off x="720272" y="6383300"/>
            <a:ext cx="3894845" cy="138499"/>
          </a:xfrm>
          <a:prstGeom prst="rect">
            <a:avLst/>
          </a:prstGeom>
          <a:noFill/>
        </p:spPr>
        <p:txBody>
          <a:bodyPr wrap="square" lIns="0" tIns="0" rIns="0" bIns="0" rtlCol="0">
            <a:spAutoFit/>
          </a:bodyPr>
          <a:lstStyle/>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900" b="0" i="0" u="none" strike="noStrike" kern="1200" cap="none" spc="0" normalizeH="0" baseline="0" noProof="0" dirty="0">
                <a:ln>
                  <a:noFill/>
                </a:ln>
                <a:solidFill>
                  <a:prstClr val="black"/>
                </a:solidFill>
                <a:effectLst/>
                <a:uLnTx/>
                <a:uFillTx/>
                <a:latin typeface="+mn-lt"/>
                <a:ea typeface="+mn-ea"/>
                <a:cs typeface="+mn-cs"/>
                <a:hlinkClick r:id="rId2"/>
              </a:rPr>
              <a:t>https://www.w3.org/TR/vc-use-cases/</a:t>
            </a:r>
            <a:endParaRPr kumimoji="1" lang="ja-JP" altLang="en-US" sz="900" b="0" i="0" u="none" strike="noStrike" kern="1200" cap="none" spc="0" normalizeH="0" baseline="0" noProof="0" dirty="0">
              <a:ln>
                <a:noFill/>
              </a:ln>
              <a:solidFill>
                <a:prstClr val="black"/>
              </a:solidFill>
              <a:effectLst/>
              <a:uLnTx/>
              <a:uFillTx/>
              <a:latin typeface="+mn-lt"/>
              <a:ea typeface="+mn-ea"/>
              <a:cs typeface="+mn-cs"/>
            </a:endParaRPr>
          </a:p>
        </p:txBody>
      </p:sp>
      <p:sp>
        <p:nvSpPr>
          <p:cNvPr id="21" name="テキスト ボックス 20">
            <a:extLst>
              <a:ext uri="{FF2B5EF4-FFF2-40B4-BE49-F238E27FC236}">
                <a16:creationId xmlns:a16="http://schemas.microsoft.com/office/drawing/2014/main" id="{541A656C-0D69-806F-CA2C-A5F763ACE0E2}"/>
              </a:ext>
            </a:extLst>
          </p:cNvPr>
          <p:cNvSpPr txBox="1"/>
          <p:nvPr/>
        </p:nvSpPr>
        <p:spPr>
          <a:xfrm>
            <a:off x="258763" y="6241382"/>
            <a:ext cx="582885" cy="276999"/>
          </a:xfrm>
          <a:prstGeom prst="rect">
            <a:avLst/>
          </a:prstGeom>
          <a:noFill/>
        </p:spPr>
        <p:txBody>
          <a:bodyPr wrap="square" lIns="0" tIns="0" rIns="0" bIns="0" rtlCol="0">
            <a:spAutoFit/>
          </a:bodyPr>
          <a:lstStyle/>
          <a:p>
            <a:r>
              <a:rPr kumimoji="1" lang="ja-JP" altLang="en-US" sz="900" dirty="0">
                <a:latin typeface="+mn-ea"/>
                <a:ea typeface="+mn-ea"/>
              </a:rPr>
              <a:t>出所　*</a:t>
            </a:r>
            <a:endParaRPr kumimoji="1" lang="en-US" altLang="ja-JP" sz="900" dirty="0">
              <a:latin typeface="+mn-ea"/>
              <a:ea typeface="+mn-ea"/>
            </a:endParaRPr>
          </a:p>
          <a:p>
            <a:r>
              <a:rPr lang="ja-JP" altLang="en-US" sz="900" dirty="0">
                <a:latin typeface="+mn-ea"/>
                <a:ea typeface="+mn-ea"/>
              </a:rPr>
              <a:t>　　　**</a:t>
            </a:r>
            <a:endParaRPr kumimoji="1" lang="ja-JP" altLang="en-US" sz="900" dirty="0">
              <a:latin typeface="+mn-ea"/>
              <a:ea typeface="+mn-ea"/>
            </a:endParaRPr>
          </a:p>
        </p:txBody>
      </p:sp>
      <p:sp>
        <p:nvSpPr>
          <p:cNvPr id="23" name="テキスト ボックス 22">
            <a:extLst>
              <a:ext uri="{FF2B5EF4-FFF2-40B4-BE49-F238E27FC236}">
                <a16:creationId xmlns:a16="http://schemas.microsoft.com/office/drawing/2014/main" id="{D7C947C9-3F5A-F91B-2E41-5FE1D0E1ECEE}"/>
              </a:ext>
            </a:extLst>
          </p:cNvPr>
          <p:cNvSpPr txBox="1"/>
          <p:nvPr/>
        </p:nvSpPr>
        <p:spPr>
          <a:xfrm>
            <a:off x="618271" y="6154213"/>
            <a:ext cx="6573089" cy="230832"/>
          </a:xfrm>
          <a:prstGeom prst="rect">
            <a:avLst/>
          </a:prstGeom>
          <a:noFill/>
        </p:spPr>
        <p:txBody>
          <a:bodyPr wrap="square">
            <a:spAutoFit/>
          </a:bodyPr>
          <a:lstStyle/>
          <a:p>
            <a:r>
              <a:rPr lang="ja-JP" altLang="en-US" sz="900" dirty="0">
                <a:latin typeface="+mn-ea"/>
                <a:ea typeface="+mn-ea"/>
                <a:hlinkClick r:id="rId3"/>
              </a:rPr>
              <a:t>https://w3c-ccg.github.io/vc-examples/</a:t>
            </a:r>
            <a:endParaRPr lang="ja-JP" altLang="en-US" sz="900" dirty="0">
              <a:latin typeface="+mn-ea"/>
              <a:ea typeface="+mn-ea"/>
            </a:endParaRPr>
          </a:p>
        </p:txBody>
      </p:sp>
    </p:spTree>
    <p:extLst>
      <p:ext uri="{BB962C8B-B14F-4D97-AF65-F5344CB8AC3E}">
        <p14:creationId xmlns:p14="http://schemas.microsoft.com/office/powerpoint/2010/main" val="1622107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78F5AF-15F7-149E-72FE-0A9ACC95961E}"/>
              </a:ext>
            </a:extLst>
          </p:cNvPr>
          <p:cNvSpPr>
            <a:spLocks noGrp="1"/>
          </p:cNvSpPr>
          <p:nvPr>
            <p:ph type="title"/>
          </p:nvPr>
        </p:nvSpPr>
        <p:spPr>
          <a:xfrm>
            <a:off x="273050" y="447475"/>
            <a:ext cx="7848302" cy="246221"/>
          </a:xfrm>
        </p:spPr>
        <p:txBody>
          <a:bodyPr/>
          <a:lstStyle/>
          <a:p>
            <a:r>
              <a:rPr kumimoji="1" lang="en-US" altLang="ja-JP" dirty="0"/>
              <a:t>4.2. </a:t>
            </a:r>
            <a:r>
              <a:rPr kumimoji="1" lang="ja-JP" altLang="en-US" dirty="0"/>
              <a:t>各規格の概要・代表的な仕様</a:t>
            </a:r>
            <a:r>
              <a:rPr kumimoji="1" lang="en-US" altLang="ja-JP" sz="1600" dirty="0"/>
              <a:t> - (2) </a:t>
            </a:r>
            <a:r>
              <a:rPr kumimoji="1" lang="en-US" altLang="ja-JP" dirty="0"/>
              <a:t>Agent</a:t>
            </a:r>
            <a:r>
              <a:rPr kumimoji="1" lang="ja-JP" altLang="en-US" dirty="0"/>
              <a:t> </a:t>
            </a:r>
            <a:r>
              <a:rPr kumimoji="1" lang="en-US" altLang="ja-JP" dirty="0"/>
              <a:t>Layer</a:t>
            </a:r>
            <a:r>
              <a:rPr kumimoji="1" lang="ja-JP" altLang="en-US" dirty="0"/>
              <a:t> </a:t>
            </a:r>
            <a:r>
              <a:rPr kumimoji="1" lang="en-US" altLang="ja-JP" dirty="0"/>
              <a:t>(1/2)</a:t>
            </a:r>
            <a:r>
              <a:rPr kumimoji="1" lang="ja-JP" altLang="en-US" dirty="0"/>
              <a:t>　</a:t>
            </a:r>
          </a:p>
        </p:txBody>
      </p:sp>
      <p:sp>
        <p:nvSpPr>
          <p:cNvPr id="4" name="テキスト プレースホルダー 3">
            <a:extLst>
              <a:ext uri="{FF2B5EF4-FFF2-40B4-BE49-F238E27FC236}">
                <a16:creationId xmlns:a16="http://schemas.microsoft.com/office/drawing/2014/main" id="{7D8B5871-790E-EF4C-4C3E-4AA5281E697A}"/>
              </a:ext>
            </a:extLst>
          </p:cNvPr>
          <p:cNvSpPr>
            <a:spLocks noGrp="1"/>
          </p:cNvSpPr>
          <p:nvPr>
            <p:ph type="body" sz="quarter" idx="10"/>
          </p:nvPr>
        </p:nvSpPr>
        <p:spPr>
          <a:xfrm>
            <a:off x="273050" y="188913"/>
            <a:ext cx="7848600" cy="161583"/>
          </a:xfrm>
        </p:spPr>
        <p:txBody>
          <a:bodyPr/>
          <a:lstStyle/>
          <a:p>
            <a:r>
              <a:rPr kumimoji="1" lang="en-US" altLang="zh-TW" dirty="0"/>
              <a:t>4.</a:t>
            </a:r>
            <a:r>
              <a:rPr lang="zh-TW" altLang="en-US" dirty="0"/>
              <a:t> </a:t>
            </a:r>
            <a:r>
              <a:rPr kumimoji="1" lang="zh-TW" altLang="en-US" dirty="0"/>
              <a:t>規格実態調査</a:t>
            </a:r>
          </a:p>
        </p:txBody>
      </p:sp>
      <p:sp>
        <p:nvSpPr>
          <p:cNvPr id="6" name="コンテンツ プレースホルダー 2">
            <a:extLst>
              <a:ext uri="{FF2B5EF4-FFF2-40B4-BE49-F238E27FC236}">
                <a16:creationId xmlns:a16="http://schemas.microsoft.com/office/drawing/2014/main" id="{A75C8F54-1681-5DEC-5271-0A108EAE1F47}"/>
              </a:ext>
            </a:extLst>
          </p:cNvPr>
          <p:cNvSpPr>
            <a:spLocks noGrp="1"/>
          </p:cNvSpPr>
          <p:nvPr>
            <p:ph idx="1"/>
          </p:nvPr>
        </p:nvSpPr>
        <p:spPr>
          <a:xfrm>
            <a:off x="273050" y="913011"/>
            <a:ext cx="9359900" cy="689420"/>
          </a:xfrm>
        </p:spPr>
        <p:txBody>
          <a:bodyPr/>
          <a:lstStyle/>
          <a:p>
            <a:r>
              <a:rPr kumimoji="1" lang="en-US" altLang="ja-JP" dirty="0"/>
              <a:t>Agent Layer</a:t>
            </a:r>
            <a:r>
              <a:rPr kumimoji="1" lang="ja-JP" altLang="en-US" dirty="0"/>
              <a:t>は、主に、エージェント間のセキュアな</a:t>
            </a:r>
            <a:r>
              <a:rPr kumimoji="1" lang="en-US" altLang="ja-JP" dirty="0"/>
              <a:t>Peer-to-Peer</a:t>
            </a:r>
            <a:r>
              <a:rPr kumimoji="1" lang="ja-JP" altLang="en-US" dirty="0"/>
              <a:t>コミュニケーションを実現するための証明書の検証方法や連携方法、および鍵情報へのアクセス方式等の規格群が定義されている</a:t>
            </a:r>
            <a:endParaRPr kumimoji="1" lang="en-US" altLang="ja-JP" dirty="0"/>
          </a:p>
          <a:p>
            <a:r>
              <a:rPr kumimoji="1" lang="ja-JP" altLang="en-US" dirty="0"/>
              <a:t>証明書連携フローについて</a:t>
            </a:r>
            <a:r>
              <a:rPr kumimoji="1" lang="en-US" altLang="ja-JP" dirty="0"/>
              <a:t>Agent Layer</a:t>
            </a:r>
            <a:r>
              <a:rPr kumimoji="1" lang="ja-JP" altLang="en-US" dirty="0"/>
              <a:t>で行われていること概要を図示すると以下のようになる</a:t>
            </a:r>
          </a:p>
        </p:txBody>
      </p:sp>
      <p:sp>
        <p:nvSpPr>
          <p:cNvPr id="7" name="四角形: 角を丸くする 6">
            <a:extLst>
              <a:ext uri="{FF2B5EF4-FFF2-40B4-BE49-F238E27FC236}">
                <a16:creationId xmlns:a16="http://schemas.microsoft.com/office/drawing/2014/main" id="{1DFCA7F3-BFF0-E026-07D9-7F8978BF9171}"/>
              </a:ext>
            </a:extLst>
          </p:cNvPr>
          <p:cNvSpPr/>
          <p:nvPr/>
        </p:nvSpPr>
        <p:spPr bwMode="gray">
          <a:xfrm>
            <a:off x="4037601" y="2172336"/>
            <a:ext cx="1783533" cy="434404"/>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　ウォレット</a:t>
            </a:r>
          </a:p>
        </p:txBody>
      </p:sp>
      <p:sp>
        <p:nvSpPr>
          <p:cNvPr id="8" name="正方形/長方形 7">
            <a:extLst>
              <a:ext uri="{FF2B5EF4-FFF2-40B4-BE49-F238E27FC236}">
                <a16:creationId xmlns:a16="http://schemas.microsoft.com/office/drawing/2014/main" id="{A848F169-9D74-C6A8-D9B3-DBE261B575E0}"/>
              </a:ext>
            </a:extLst>
          </p:cNvPr>
          <p:cNvSpPr/>
          <p:nvPr/>
        </p:nvSpPr>
        <p:spPr bwMode="gray">
          <a:xfrm>
            <a:off x="1474659" y="3175030"/>
            <a:ext cx="1783533" cy="646346"/>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発行者</a:t>
            </a:r>
            <a:endParaRPr lang="en-US" altLang="ja-JP" sz="1200" dirty="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(Issuer)</a:t>
            </a:r>
          </a:p>
        </p:txBody>
      </p:sp>
      <p:sp>
        <p:nvSpPr>
          <p:cNvPr id="9" name="正方形/長方形 8">
            <a:extLst>
              <a:ext uri="{FF2B5EF4-FFF2-40B4-BE49-F238E27FC236}">
                <a16:creationId xmlns:a16="http://schemas.microsoft.com/office/drawing/2014/main" id="{7B3C0CE3-4D84-B7AE-76BA-5A7F758B7665}"/>
              </a:ext>
            </a:extLst>
          </p:cNvPr>
          <p:cNvSpPr/>
          <p:nvPr/>
        </p:nvSpPr>
        <p:spPr bwMode="gray">
          <a:xfrm>
            <a:off x="6670997" y="3175030"/>
            <a:ext cx="1783533" cy="646346"/>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検証者</a:t>
            </a:r>
            <a:endParaRPr lang="en-US" altLang="ja-JP" sz="1200" dirty="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(Verifier)</a:t>
            </a:r>
          </a:p>
        </p:txBody>
      </p:sp>
      <p:sp>
        <p:nvSpPr>
          <p:cNvPr id="10" name="正方形/長方形 9">
            <a:extLst>
              <a:ext uri="{FF2B5EF4-FFF2-40B4-BE49-F238E27FC236}">
                <a16:creationId xmlns:a16="http://schemas.microsoft.com/office/drawing/2014/main" id="{0385AD5F-CDE4-F7BB-321F-2341AAE8B4C1}"/>
              </a:ext>
            </a:extLst>
          </p:cNvPr>
          <p:cNvSpPr/>
          <p:nvPr/>
        </p:nvSpPr>
        <p:spPr bwMode="gray">
          <a:xfrm>
            <a:off x="4047126" y="3175030"/>
            <a:ext cx="1783533" cy="646346"/>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所有者</a:t>
            </a:r>
            <a:endParaRPr lang="en-US" altLang="ja-JP" sz="1200" dirty="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(Holder)</a:t>
            </a:r>
          </a:p>
        </p:txBody>
      </p:sp>
      <p:sp>
        <p:nvSpPr>
          <p:cNvPr id="11" name="正方形/長方形 10">
            <a:extLst>
              <a:ext uri="{FF2B5EF4-FFF2-40B4-BE49-F238E27FC236}">
                <a16:creationId xmlns:a16="http://schemas.microsoft.com/office/drawing/2014/main" id="{2A682FD6-19DE-5E32-D863-E142FE4E78D5}"/>
              </a:ext>
            </a:extLst>
          </p:cNvPr>
          <p:cNvSpPr/>
          <p:nvPr/>
        </p:nvSpPr>
        <p:spPr bwMode="gray">
          <a:xfrm>
            <a:off x="4047126" y="4352951"/>
            <a:ext cx="1783533" cy="712163"/>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Calibri Light"/>
                <a:ea typeface="Yu Gothic UI"/>
                <a:cs typeface="Arial" charset="0"/>
              </a:rPr>
              <a:t>検証可能データレジストリ</a:t>
            </a:r>
            <a:endParaRPr lang="en-US" altLang="ja-JP" sz="120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Calibri Light"/>
                <a:ea typeface="Yu Gothic UI"/>
                <a:cs typeface="Arial" charset="0"/>
              </a:rPr>
              <a:t>(Verifiable Data Registry)</a:t>
            </a:r>
            <a:endParaRPr lang="ja-JP" altLang="en-US" sz="1200">
              <a:solidFill>
                <a:prstClr val="black"/>
              </a:solidFill>
              <a:latin typeface="Calibri Light"/>
              <a:ea typeface="Yu Gothic UI"/>
              <a:cs typeface="Arial" charset="0"/>
            </a:endParaRPr>
          </a:p>
        </p:txBody>
      </p:sp>
      <p:cxnSp>
        <p:nvCxnSpPr>
          <p:cNvPr id="12" name="直線矢印コネクタ 11">
            <a:extLst>
              <a:ext uri="{FF2B5EF4-FFF2-40B4-BE49-F238E27FC236}">
                <a16:creationId xmlns:a16="http://schemas.microsoft.com/office/drawing/2014/main" id="{2312DC25-7945-56DA-03A6-3A8C470D3681}"/>
              </a:ext>
            </a:extLst>
          </p:cNvPr>
          <p:cNvCxnSpPr>
            <a:cxnSpLocks/>
            <a:stCxn id="10" idx="2"/>
            <a:endCxn id="11" idx="0"/>
          </p:cNvCxnSpPr>
          <p:nvPr/>
        </p:nvCxnSpPr>
        <p:spPr bwMode="gray">
          <a:xfrm>
            <a:off x="4938893" y="3821376"/>
            <a:ext cx="0" cy="531575"/>
          </a:xfrm>
          <a:prstGeom prst="straightConnector1">
            <a:avLst/>
          </a:prstGeom>
          <a:noFill/>
          <a:ln w="12700" cap="flat" cmpd="sng" algn="ctr">
            <a:solidFill>
              <a:srgbClr val="53565A"/>
            </a:solidFill>
            <a:prstDash val="solid"/>
            <a:tailEnd type="triangle"/>
          </a:ln>
          <a:effectLst/>
        </p:spPr>
      </p:cxnSp>
      <p:cxnSp>
        <p:nvCxnSpPr>
          <p:cNvPr id="13" name="コネクタ: カギ線 12">
            <a:extLst>
              <a:ext uri="{FF2B5EF4-FFF2-40B4-BE49-F238E27FC236}">
                <a16:creationId xmlns:a16="http://schemas.microsoft.com/office/drawing/2014/main" id="{6712607B-2BF5-BF21-AEC2-45BE392DD56D}"/>
              </a:ext>
            </a:extLst>
          </p:cNvPr>
          <p:cNvCxnSpPr>
            <a:cxnSpLocks/>
            <a:stCxn id="8" idx="2"/>
            <a:endCxn id="11" idx="1"/>
          </p:cNvCxnSpPr>
          <p:nvPr/>
        </p:nvCxnSpPr>
        <p:spPr bwMode="gray">
          <a:xfrm rot="16200000" flipH="1">
            <a:off x="2762948" y="3424854"/>
            <a:ext cx="887657" cy="1680700"/>
          </a:xfrm>
          <a:prstGeom prst="bentConnector2">
            <a:avLst/>
          </a:prstGeom>
          <a:noFill/>
          <a:ln w="12700" cap="flat" cmpd="sng" algn="ctr">
            <a:solidFill>
              <a:srgbClr val="53565A"/>
            </a:solidFill>
            <a:prstDash val="solid"/>
            <a:tailEnd type="triangle"/>
          </a:ln>
          <a:effectLst/>
        </p:spPr>
      </p:cxnSp>
      <p:cxnSp>
        <p:nvCxnSpPr>
          <p:cNvPr id="14" name="コネクタ: カギ線 13">
            <a:extLst>
              <a:ext uri="{FF2B5EF4-FFF2-40B4-BE49-F238E27FC236}">
                <a16:creationId xmlns:a16="http://schemas.microsoft.com/office/drawing/2014/main" id="{31AB36C1-3D88-C97C-5E56-514D01B0F6E1}"/>
              </a:ext>
            </a:extLst>
          </p:cNvPr>
          <p:cNvCxnSpPr>
            <a:cxnSpLocks/>
            <a:stCxn id="9" idx="2"/>
            <a:endCxn id="11" idx="3"/>
          </p:cNvCxnSpPr>
          <p:nvPr/>
        </p:nvCxnSpPr>
        <p:spPr bwMode="gray">
          <a:xfrm rot="5400000">
            <a:off x="6252884" y="3399152"/>
            <a:ext cx="887657" cy="1732105"/>
          </a:xfrm>
          <a:prstGeom prst="bentConnector2">
            <a:avLst/>
          </a:prstGeom>
          <a:noFill/>
          <a:ln w="12700" cap="flat" cmpd="sng" algn="ctr">
            <a:solidFill>
              <a:srgbClr val="53565A"/>
            </a:solidFill>
            <a:prstDash val="solid"/>
            <a:tailEnd type="triangle"/>
          </a:ln>
          <a:effectLst/>
        </p:spPr>
      </p:cxnSp>
      <p:sp>
        <p:nvSpPr>
          <p:cNvPr id="15" name="テキスト ボックス 14">
            <a:extLst>
              <a:ext uri="{FF2B5EF4-FFF2-40B4-BE49-F238E27FC236}">
                <a16:creationId xmlns:a16="http://schemas.microsoft.com/office/drawing/2014/main" id="{12D5643F-9164-B8CA-D886-FC6E258BF4D4}"/>
              </a:ext>
            </a:extLst>
          </p:cNvPr>
          <p:cNvSpPr txBox="1"/>
          <p:nvPr/>
        </p:nvSpPr>
        <p:spPr bwMode="gray">
          <a:xfrm>
            <a:off x="5654350" y="4123762"/>
            <a:ext cx="1369451" cy="184666"/>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クレデンシャルの提示</a:t>
            </a:r>
          </a:p>
        </p:txBody>
      </p:sp>
      <p:cxnSp>
        <p:nvCxnSpPr>
          <p:cNvPr id="16" name="直線矢印コネクタ 15">
            <a:extLst>
              <a:ext uri="{FF2B5EF4-FFF2-40B4-BE49-F238E27FC236}">
                <a16:creationId xmlns:a16="http://schemas.microsoft.com/office/drawing/2014/main" id="{6B4A2B8A-50B6-11BD-4A29-FE5C2318852F}"/>
              </a:ext>
            </a:extLst>
          </p:cNvPr>
          <p:cNvCxnSpPr>
            <a:cxnSpLocks/>
            <a:stCxn id="8" idx="3"/>
            <a:endCxn id="10" idx="1"/>
          </p:cNvCxnSpPr>
          <p:nvPr/>
        </p:nvCxnSpPr>
        <p:spPr bwMode="gray">
          <a:xfrm>
            <a:off x="3258192" y="3498203"/>
            <a:ext cx="788934" cy="0"/>
          </a:xfrm>
          <a:prstGeom prst="straightConnector1">
            <a:avLst/>
          </a:prstGeom>
          <a:noFill/>
          <a:ln w="12700" cap="flat" cmpd="sng" algn="ctr">
            <a:solidFill>
              <a:srgbClr val="53565A"/>
            </a:solidFill>
            <a:prstDash val="solid"/>
            <a:tailEnd type="triangle"/>
          </a:ln>
          <a:effectLst/>
        </p:spPr>
      </p:cxnSp>
      <p:cxnSp>
        <p:nvCxnSpPr>
          <p:cNvPr id="17" name="直線矢印コネクタ 16">
            <a:extLst>
              <a:ext uri="{FF2B5EF4-FFF2-40B4-BE49-F238E27FC236}">
                <a16:creationId xmlns:a16="http://schemas.microsoft.com/office/drawing/2014/main" id="{10445DA9-976B-85D6-8718-03AFE3D6A2BB}"/>
              </a:ext>
            </a:extLst>
          </p:cNvPr>
          <p:cNvCxnSpPr>
            <a:cxnSpLocks/>
            <a:stCxn id="10" idx="3"/>
            <a:endCxn id="9" idx="1"/>
          </p:cNvCxnSpPr>
          <p:nvPr/>
        </p:nvCxnSpPr>
        <p:spPr bwMode="gray">
          <a:xfrm>
            <a:off x="5830659" y="3498203"/>
            <a:ext cx="840338" cy="0"/>
          </a:xfrm>
          <a:prstGeom prst="straightConnector1">
            <a:avLst/>
          </a:prstGeom>
          <a:noFill/>
          <a:ln w="12700" cap="flat" cmpd="sng" algn="ctr">
            <a:solidFill>
              <a:srgbClr val="53565A"/>
            </a:solidFill>
            <a:prstDash val="solid"/>
            <a:tailEnd type="triangle"/>
          </a:ln>
          <a:effectLst/>
        </p:spPr>
      </p:cxnSp>
      <p:sp>
        <p:nvSpPr>
          <p:cNvPr id="18" name="テキスト ボックス 17">
            <a:extLst>
              <a:ext uri="{FF2B5EF4-FFF2-40B4-BE49-F238E27FC236}">
                <a16:creationId xmlns:a16="http://schemas.microsoft.com/office/drawing/2014/main" id="{12A39207-72C6-8483-EC6B-786C7328EDA9}"/>
              </a:ext>
            </a:extLst>
          </p:cNvPr>
          <p:cNvSpPr txBox="1"/>
          <p:nvPr/>
        </p:nvSpPr>
        <p:spPr bwMode="gray">
          <a:xfrm>
            <a:off x="3072274" y="4130693"/>
            <a:ext cx="1287856" cy="184666"/>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クレデンシャルの発行</a:t>
            </a:r>
          </a:p>
        </p:txBody>
      </p:sp>
      <p:sp>
        <p:nvSpPr>
          <p:cNvPr id="19" name="テキスト ボックス 18">
            <a:extLst>
              <a:ext uri="{FF2B5EF4-FFF2-40B4-BE49-F238E27FC236}">
                <a16:creationId xmlns:a16="http://schemas.microsoft.com/office/drawing/2014/main" id="{2A71BAEF-D679-FEC6-B96C-357F5EE44ABC}"/>
              </a:ext>
            </a:extLst>
          </p:cNvPr>
          <p:cNvSpPr txBox="1"/>
          <p:nvPr/>
        </p:nvSpPr>
        <p:spPr bwMode="gray">
          <a:xfrm>
            <a:off x="4237084" y="2938998"/>
            <a:ext cx="1250342" cy="184666"/>
          </a:xfrm>
          <a:prstGeom prst="rect">
            <a:avLst/>
          </a:prstGeom>
          <a:noFill/>
        </p:spPr>
        <p:txBody>
          <a:bodyPr wrap="non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クレデンシャルの保存</a:t>
            </a:r>
          </a:p>
        </p:txBody>
      </p:sp>
      <p:cxnSp>
        <p:nvCxnSpPr>
          <p:cNvPr id="20" name="直線コネクタ 19">
            <a:extLst>
              <a:ext uri="{FF2B5EF4-FFF2-40B4-BE49-F238E27FC236}">
                <a16:creationId xmlns:a16="http://schemas.microsoft.com/office/drawing/2014/main" id="{B11F233C-3954-449E-7972-8F720A0B413C}"/>
              </a:ext>
            </a:extLst>
          </p:cNvPr>
          <p:cNvCxnSpPr>
            <a:cxnSpLocks/>
            <a:endCxn id="10" idx="0"/>
          </p:cNvCxnSpPr>
          <p:nvPr/>
        </p:nvCxnSpPr>
        <p:spPr bwMode="gray">
          <a:xfrm flipH="1">
            <a:off x="4938893" y="2467119"/>
            <a:ext cx="595219" cy="707911"/>
          </a:xfrm>
          <a:prstGeom prst="line">
            <a:avLst/>
          </a:prstGeom>
          <a:noFill/>
          <a:ln w="12700" cap="flat" cmpd="sng" algn="ctr">
            <a:solidFill>
              <a:srgbClr val="53565A"/>
            </a:solidFill>
            <a:prstDash val="dash"/>
          </a:ln>
          <a:effectLst/>
        </p:spPr>
      </p:cxnSp>
      <p:sp>
        <p:nvSpPr>
          <p:cNvPr id="21" name="正方形/長方形 20">
            <a:extLst>
              <a:ext uri="{FF2B5EF4-FFF2-40B4-BE49-F238E27FC236}">
                <a16:creationId xmlns:a16="http://schemas.microsoft.com/office/drawing/2014/main" id="{0F2A0079-8920-C423-2A8A-E622B4DD6471}"/>
              </a:ext>
            </a:extLst>
          </p:cNvPr>
          <p:cNvSpPr/>
          <p:nvPr/>
        </p:nvSpPr>
        <p:spPr bwMode="gray">
          <a:xfrm>
            <a:off x="4053667" y="3203217"/>
            <a:ext cx="161372" cy="161372"/>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a:solidFill>
                <a:prstClr val="black"/>
              </a:solidFill>
              <a:latin typeface="Calibri Light"/>
              <a:ea typeface="Yu Gothic UI"/>
              <a:cs typeface="Arial" charset="0"/>
            </a:endParaRPr>
          </a:p>
        </p:txBody>
      </p:sp>
      <p:cxnSp>
        <p:nvCxnSpPr>
          <p:cNvPr id="22" name="コネクタ: 曲線 21">
            <a:extLst>
              <a:ext uri="{FF2B5EF4-FFF2-40B4-BE49-F238E27FC236}">
                <a16:creationId xmlns:a16="http://schemas.microsoft.com/office/drawing/2014/main" id="{53B573CE-F08F-A76B-0F4F-53E25E29EE9E}"/>
              </a:ext>
            </a:extLst>
          </p:cNvPr>
          <p:cNvCxnSpPr>
            <a:cxnSpLocks/>
            <a:stCxn id="21" idx="1"/>
            <a:endCxn id="21" idx="0"/>
          </p:cNvCxnSpPr>
          <p:nvPr/>
        </p:nvCxnSpPr>
        <p:spPr bwMode="gray">
          <a:xfrm rot="10800000" flipH="1">
            <a:off x="4053667" y="3203217"/>
            <a:ext cx="80686" cy="80686"/>
          </a:xfrm>
          <a:prstGeom prst="curvedConnector4">
            <a:avLst>
              <a:gd name="adj1" fmla="val -283321"/>
              <a:gd name="adj2" fmla="val 383321"/>
            </a:avLst>
          </a:prstGeom>
          <a:noFill/>
          <a:ln w="12700" cap="flat" cmpd="sng" algn="ctr">
            <a:solidFill>
              <a:srgbClr val="53565A"/>
            </a:solidFill>
            <a:prstDash val="solid"/>
            <a:tailEnd type="triangle"/>
          </a:ln>
          <a:effectLst/>
        </p:spPr>
      </p:cxnSp>
      <p:sp>
        <p:nvSpPr>
          <p:cNvPr id="23" name="左右矢印 50">
            <a:extLst>
              <a:ext uri="{FF2B5EF4-FFF2-40B4-BE49-F238E27FC236}">
                <a16:creationId xmlns:a16="http://schemas.microsoft.com/office/drawing/2014/main" id="{47A368D9-1C09-2EB5-E7E5-A25AF9B59B0D}"/>
              </a:ext>
            </a:extLst>
          </p:cNvPr>
          <p:cNvSpPr/>
          <p:nvPr/>
        </p:nvSpPr>
        <p:spPr bwMode="gray">
          <a:xfrm>
            <a:off x="2843003" y="3597834"/>
            <a:ext cx="4245327" cy="327085"/>
          </a:xfrm>
          <a:prstGeom prst="leftRightArrow">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24" name="テキスト ボックス 23">
            <a:extLst>
              <a:ext uri="{FF2B5EF4-FFF2-40B4-BE49-F238E27FC236}">
                <a16:creationId xmlns:a16="http://schemas.microsoft.com/office/drawing/2014/main" id="{F39C171B-5439-7C91-6284-76994F7BA9D7}"/>
              </a:ext>
            </a:extLst>
          </p:cNvPr>
          <p:cNvSpPr txBox="1"/>
          <p:nvPr/>
        </p:nvSpPr>
        <p:spPr bwMode="gray">
          <a:xfrm>
            <a:off x="4882766" y="3865899"/>
            <a:ext cx="1565535" cy="184666"/>
          </a:xfrm>
          <a:prstGeom prst="rect">
            <a:avLst/>
          </a:prstGeom>
          <a:noFill/>
        </p:spPr>
        <p:txBody>
          <a:bodyPr wrap="square" lIns="0" tIns="0" rIns="0" bIns="0" rtlCol="0">
            <a:spAutoFit/>
          </a:bodyPr>
          <a:lstStyle>
            <a:defPPr>
              <a:defRPr lang="ja-JP"/>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1" i="0" u="none" strike="noStrike" cap="none" spc="0" normalizeH="0" baseline="0">
                <a:ln>
                  <a:noFill/>
                </a:ln>
                <a:solidFill>
                  <a:srgbClr val="AB7942"/>
                </a:solidFill>
                <a:effectLst/>
                <a:uLnTx/>
                <a:uFillTx/>
                <a:latin typeface="Calibri Light"/>
                <a:ea typeface="Yu Gothic UI"/>
              </a:defRPr>
            </a:lvl1pPr>
          </a:lstStyle>
          <a:p>
            <a:r>
              <a:rPr lang="en-US" altLang="ja-JP" dirty="0"/>
              <a:t>⑥</a:t>
            </a:r>
            <a:r>
              <a:rPr lang="zh-CN" altLang="en-US" dirty="0"/>
              <a:t>包装（</a:t>
            </a:r>
            <a:r>
              <a:rPr lang="en-US" altLang="zh-CN" dirty="0"/>
              <a:t>P2P</a:t>
            </a:r>
            <a:r>
              <a:rPr lang="zh-CN" altLang="en-US" dirty="0"/>
              <a:t>通信）</a:t>
            </a:r>
          </a:p>
        </p:txBody>
      </p:sp>
      <p:sp>
        <p:nvSpPr>
          <p:cNvPr id="25" name="上下矢印 57">
            <a:extLst>
              <a:ext uri="{FF2B5EF4-FFF2-40B4-BE49-F238E27FC236}">
                <a16:creationId xmlns:a16="http://schemas.microsoft.com/office/drawing/2014/main" id="{D4761CDC-0E9C-DF77-F802-2584B798A7C8}"/>
              </a:ext>
            </a:extLst>
          </p:cNvPr>
          <p:cNvSpPr/>
          <p:nvPr/>
        </p:nvSpPr>
        <p:spPr bwMode="gray">
          <a:xfrm>
            <a:off x="4856960" y="2498127"/>
            <a:ext cx="195943" cy="447607"/>
          </a:xfrm>
          <a:prstGeom prst="upDownArrow">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26" name="テキスト ボックス 25">
            <a:extLst>
              <a:ext uri="{FF2B5EF4-FFF2-40B4-BE49-F238E27FC236}">
                <a16:creationId xmlns:a16="http://schemas.microsoft.com/office/drawing/2014/main" id="{8E23F7BF-4BBD-AA90-9D82-27C0D2F96178}"/>
              </a:ext>
            </a:extLst>
          </p:cNvPr>
          <p:cNvSpPr txBox="1"/>
          <p:nvPr/>
        </p:nvSpPr>
        <p:spPr bwMode="gray">
          <a:xfrm>
            <a:off x="3479471" y="2670564"/>
            <a:ext cx="1377490" cy="184666"/>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pPr algn="ctr"/>
            <a:r>
              <a:rPr lang="en-US" altLang="ja-JP" dirty="0">
                <a:solidFill>
                  <a:srgbClr val="AB7942"/>
                </a:solidFill>
                <a:latin typeface="Calibri Light"/>
                <a:ea typeface="Yu Gothic UI"/>
              </a:rPr>
              <a:t>⑦ </a:t>
            </a:r>
            <a:r>
              <a:rPr lang="ja-JP" altLang="en-US" dirty="0">
                <a:solidFill>
                  <a:srgbClr val="AB7942"/>
                </a:solidFill>
                <a:latin typeface="Calibri Light"/>
                <a:ea typeface="Yu Gothic UI"/>
              </a:rPr>
              <a:t>伝送</a:t>
            </a:r>
            <a:r>
              <a:rPr lang="en-US" altLang="ja-JP" dirty="0">
                <a:solidFill>
                  <a:srgbClr val="AB7942"/>
                </a:solidFill>
                <a:latin typeface="Calibri Light"/>
                <a:ea typeface="Yu Gothic UI"/>
              </a:rPr>
              <a:t>(</a:t>
            </a:r>
            <a:r>
              <a:rPr lang="ja-JP" altLang="en-US" dirty="0">
                <a:solidFill>
                  <a:srgbClr val="AB7942"/>
                </a:solidFill>
                <a:latin typeface="Calibri Light"/>
                <a:ea typeface="Yu Gothic UI"/>
              </a:rPr>
              <a:t>デバイス連携</a:t>
            </a:r>
            <a:r>
              <a:rPr lang="en-US" altLang="ja-JP" dirty="0">
                <a:solidFill>
                  <a:srgbClr val="AB7942"/>
                </a:solidFill>
                <a:latin typeface="Calibri Light"/>
                <a:ea typeface="Yu Gothic UI"/>
              </a:rPr>
              <a:t>)</a:t>
            </a:r>
            <a:endParaRPr lang="ja-JP" altLang="en-US" dirty="0">
              <a:solidFill>
                <a:srgbClr val="AB7942"/>
              </a:solidFill>
              <a:latin typeface="Calibri Light"/>
              <a:ea typeface="Yu Gothic UI"/>
            </a:endParaRPr>
          </a:p>
        </p:txBody>
      </p:sp>
      <p:sp>
        <p:nvSpPr>
          <p:cNvPr id="27" name="環状矢印 60">
            <a:extLst>
              <a:ext uri="{FF2B5EF4-FFF2-40B4-BE49-F238E27FC236}">
                <a16:creationId xmlns:a16="http://schemas.microsoft.com/office/drawing/2014/main" id="{CB1C6E9F-8691-A8A2-18EB-301ED7DC1AA2}"/>
              </a:ext>
            </a:extLst>
          </p:cNvPr>
          <p:cNvSpPr/>
          <p:nvPr/>
        </p:nvSpPr>
        <p:spPr bwMode="gray">
          <a:xfrm flipH="1">
            <a:off x="5487426" y="1837385"/>
            <a:ext cx="744359" cy="757478"/>
          </a:xfrm>
          <a:prstGeom prst="circularArrow">
            <a:avLst>
              <a:gd name="adj1" fmla="val 12500"/>
              <a:gd name="adj2" fmla="val 1142319"/>
              <a:gd name="adj3" fmla="val 20457682"/>
              <a:gd name="adj4" fmla="val 4074181"/>
              <a:gd name="adj5" fmla="val 15668"/>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28" name="正方形/長方形 27">
            <a:extLst>
              <a:ext uri="{FF2B5EF4-FFF2-40B4-BE49-F238E27FC236}">
                <a16:creationId xmlns:a16="http://schemas.microsoft.com/office/drawing/2014/main" id="{F31190D0-5C59-8F85-7256-F29987526062}"/>
              </a:ext>
            </a:extLst>
          </p:cNvPr>
          <p:cNvSpPr/>
          <p:nvPr/>
        </p:nvSpPr>
        <p:spPr bwMode="gray">
          <a:xfrm>
            <a:off x="4265056" y="2259752"/>
            <a:ext cx="341270" cy="115285"/>
          </a:xfrm>
          <a:prstGeom prst="rect">
            <a:avLst/>
          </a:prstGeom>
          <a:no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700" err="1">
                <a:solidFill>
                  <a:prstClr val="black"/>
                </a:solidFill>
                <a:latin typeface="Calibri Light"/>
                <a:ea typeface="Yu Gothic UI"/>
                <a:cs typeface="Arial" charset="0"/>
              </a:rPr>
              <a:t>SKey</a:t>
            </a:r>
            <a:endParaRPr lang="ja-JP" altLang="en-US" sz="700">
              <a:solidFill>
                <a:prstClr val="black"/>
              </a:solidFill>
              <a:latin typeface="Calibri Light"/>
              <a:ea typeface="Yu Gothic UI"/>
              <a:cs typeface="Arial" charset="0"/>
            </a:endParaRPr>
          </a:p>
        </p:txBody>
      </p:sp>
      <p:sp>
        <p:nvSpPr>
          <p:cNvPr id="29" name="正方形/長方形 28">
            <a:extLst>
              <a:ext uri="{FF2B5EF4-FFF2-40B4-BE49-F238E27FC236}">
                <a16:creationId xmlns:a16="http://schemas.microsoft.com/office/drawing/2014/main" id="{B120712D-BF1D-2C18-0F5E-4B161BD98AFE}"/>
              </a:ext>
            </a:extLst>
          </p:cNvPr>
          <p:cNvSpPr/>
          <p:nvPr/>
        </p:nvSpPr>
        <p:spPr bwMode="gray">
          <a:xfrm>
            <a:off x="4265056" y="2409477"/>
            <a:ext cx="341270" cy="115285"/>
          </a:xfrm>
          <a:prstGeom prst="rect">
            <a:avLst/>
          </a:prstGeom>
          <a:no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700">
                <a:solidFill>
                  <a:prstClr val="black"/>
                </a:solidFill>
                <a:latin typeface="Calibri Light"/>
                <a:ea typeface="Yu Gothic UI"/>
                <a:cs typeface="Arial" charset="0"/>
              </a:rPr>
              <a:t>VC</a:t>
            </a:r>
            <a:endParaRPr lang="ja-JP" altLang="en-US" sz="700">
              <a:solidFill>
                <a:prstClr val="black"/>
              </a:solidFill>
              <a:latin typeface="Calibri Light"/>
              <a:ea typeface="Yu Gothic UI"/>
              <a:cs typeface="Arial" charset="0"/>
            </a:endParaRPr>
          </a:p>
        </p:txBody>
      </p:sp>
      <p:sp>
        <p:nvSpPr>
          <p:cNvPr id="30" name="正方形/長方形 29">
            <a:extLst>
              <a:ext uri="{FF2B5EF4-FFF2-40B4-BE49-F238E27FC236}">
                <a16:creationId xmlns:a16="http://schemas.microsoft.com/office/drawing/2014/main" id="{E332D915-E470-0888-8174-8C17FC05EF01}"/>
              </a:ext>
            </a:extLst>
          </p:cNvPr>
          <p:cNvSpPr/>
          <p:nvPr/>
        </p:nvSpPr>
        <p:spPr bwMode="gray">
          <a:xfrm>
            <a:off x="4117507" y="2221016"/>
            <a:ext cx="513629" cy="345910"/>
          </a:xfrm>
          <a:prstGeom prst="rect">
            <a:avLst/>
          </a:prstGeom>
          <a:noFill/>
          <a:ln w="12700" algn="ctr">
            <a:solidFill>
              <a:srgbClr val="BBBCBC"/>
            </a:solidFill>
            <a:miter lim="800000"/>
            <a:headEnd/>
            <a:tailEnd/>
          </a:ln>
        </p:spPr>
        <p:txBody>
          <a:bodyPr rot="0" spcFirstLastPara="0" vertOverflow="overflow" horzOverflow="overflow" vert="horz" wrap="square" lIns="36000" tIns="0" rIns="108000" bIns="0" numCol="1" spcCol="0" rtlCol="0" fromWordArt="0" anchor="ctr" anchorCtr="0" forceAA="0" compatLnSpc="1">
            <a:prstTxWarp prst="textNoShape">
              <a:avLst/>
            </a:prstTxWarp>
            <a:no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700">
                <a:solidFill>
                  <a:prstClr val="black"/>
                </a:solidFill>
                <a:latin typeface="Calibri Light"/>
                <a:ea typeface="Yu Gothic UI"/>
                <a:cs typeface="Arial" charset="0"/>
              </a:rPr>
              <a:t>SE</a:t>
            </a:r>
            <a:endParaRPr lang="ja-JP" altLang="en-US" sz="700">
              <a:solidFill>
                <a:prstClr val="black"/>
              </a:solidFill>
              <a:latin typeface="Calibri Light"/>
              <a:ea typeface="Yu Gothic UI"/>
              <a:cs typeface="Arial" charset="0"/>
            </a:endParaRPr>
          </a:p>
        </p:txBody>
      </p:sp>
      <p:sp>
        <p:nvSpPr>
          <p:cNvPr id="31" name="テキスト ボックス 30">
            <a:extLst>
              <a:ext uri="{FF2B5EF4-FFF2-40B4-BE49-F238E27FC236}">
                <a16:creationId xmlns:a16="http://schemas.microsoft.com/office/drawing/2014/main" id="{59720BDD-1EAE-6C58-06C4-38C64C186715}"/>
              </a:ext>
            </a:extLst>
          </p:cNvPr>
          <p:cNvSpPr txBox="1"/>
          <p:nvPr/>
        </p:nvSpPr>
        <p:spPr bwMode="gray">
          <a:xfrm>
            <a:off x="7634336" y="2422074"/>
            <a:ext cx="1260474" cy="184666"/>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pPr>
            <a:r>
              <a:rPr lang="ja-JP" altLang="en-US" sz="1200" b="1">
                <a:solidFill>
                  <a:srgbClr val="AB7942"/>
                </a:solidFill>
                <a:latin typeface="Calibri Light"/>
                <a:ea typeface="Yu Gothic UI"/>
              </a:rPr>
              <a:t>⑩</a:t>
            </a:r>
            <a:r>
              <a:rPr lang="en-US" altLang="ja-JP" sz="1200" b="1" dirty="0">
                <a:solidFill>
                  <a:srgbClr val="AB7942"/>
                </a:solidFill>
                <a:latin typeface="Calibri Light"/>
                <a:ea typeface="Yu Gothic UI"/>
              </a:rPr>
              <a:t> </a:t>
            </a:r>
            <a:r>
              <a:rPr lang="ja-JP" altLang="en-US" sz="1200" b="1" dirty="0">
                <a:solidFill>
                  <a:srgbClr val="AB7942"/>
                </a:solidFill>
                <a:latin typeface="Calibri Light"/>
                <a:ea typeface="Yu Gothic UI"/>
              </a:rPr>
              <a:t>メタデータ運搬性</a:t>
            </a:r>
          </a:p>
        </p:txBody>
      </p:sp>
      <p:sp>
        <p:nvSpPr>
          <p:cNvPr id="32" name="テキスト ボックス 31">
            <a:extLst>
              <a:ext uri="{FF2B5EF4-FFF2-40B4-BE49-F238E27FC236}">
                <a16:creationId xmlns:a16="http://schemas.microsoft.com/office/drawing/2014/main" id="{597551C3-3B67-C079-0ED3-42CC4582A3C1}"/>
              </a:ext>
            </a:extLst>
          </p:cNvPr>
          <p:cNvSpPr txBox="1"/>
          <p:nvPr/>
        </p:nvSpPr>
        <p:spPr bwMode="gray">
          <a:xfrm>
            <a:off x="3313731" y="2292949"/>
            <a:ext cx="723870" cy="184666"/>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pPr algn="ctr"/>
            <a:r>
              <a:rPr lang="en-US" altLang="ja-JP" dirty="0">
                <a:solidFill>
                  <a:srgbClr val="AB7942"/>
                </a:solidFill>
                <a:latin typeface="Calibri Light"/>
                <a:ea typeface="Yu Gothic UI"/>
              </a:rPr>
              <a:t>⑨ </a:t>
            </a:r>
            <a:r>
              <a:rPr lang="ja-JP" altLang="en-US" dirty="0">
                <a:solidFill>
                  <a:srgbClr val="AB7942"/>
                </a:solidFill>
                <a:latin typeface="Calibri Light"/>
                <a:ea typeface="Yu Gothic UI"/>
              </a:rPr>
              <a:t>鍵操作</a:t>
            </a:r>
          </a:p>
        </p:txBody>
      </p:sp>
      <p:sp>
        <p:nvSpPr>
          <p:cNvPr id="33" name="テキスト ボックス 32">
            <a:extLst>
              <a:ext uri="{FF2B5EF4-FFF2-40B4-BE49-F238E27FC236}">
                <a16:creationId xmlns:a16="http://schemas.microsoft.com/office/drawing/2014/main" id="{07CCF532-1484-E510-CA64-5A8F31A4CDD5}"/>
              </a:ext>
            </a:extLst>
          </p:cNvPr>
          <p:cNvSpPr txBox="1"/>
          <p:nvPr/>
        </p:nvSpPr>
        <p:spPr bwMode="gray">
          <a:xfrm>
            <a:off x="6200260" y="2121220"/>
            <a:ext cx="978533" cy="184666"/>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pPr>
            <a:r>
              <a:rPr lang="en-US" altLang="ja-JP" sz="1200" b="1" dirty="0">
                <a:solidFill>
                  <a:srgbClr val="AB7942"/>
                </a:solidFill>
                <a:latin typeface="Calibri Light"/>
                <a:ea typeface="Yu Gothic UI"/>
              </a:rPr>
              <a:t>⑧ </a:t>
            </a:r>
            <a:r>
              <a:rPr lang="ja-JP" altLang="en-US" sz="1200" b="1" dirty="0">
                <a:solidFill>
                  <a:srgbClr val="AB7942"/>
                </a:solidFill>
                <a:latin typeface="Calibri Light"/>
                <a:ea typeface="Yu Gothic UI"/>
              </a:rPr>
              <a:t>制御リカバリ</a:t>
            </a:r>
          </a:p>
        </p:txBody>
      </p:sp>
      <p:sp>
        <p:nvSpPr>
          <p:cNvPr id="34" name="正方形/長方形 33">
            <a:extLst>
              <a:ext uri="{FF2B5EF4-FFF2-40B4-BE49-F238E27FC236}">
                <a16:creationId xmlns:a16="http://schemas.microsoft.com/office/drawing/2014/main" id="{49CBCAE1-2EB3-5D36-135F-0828B4EBD078}"/>
              </a:ext>
            </a:extLst>
          </p:cNvPr>
          <p:cNvSpPr/>
          <p:nvPr/>
        </p:nvSpPr>
        <p:spPr bwMode="gray">
          <a:xfrm>
            <a:off x="2366425" y="1837385"/>
            <a:ext cx="5196339" cy="1439052"/>
          </a:xfrm>
          <a:prstGeom prst="rect">
            <a:avLst/>
          </a:prstGeom>
          <a:noFill/>
          <a:ln w="28575" algn="ctr">
            <a:solidFill>
              <a:schemeClr val="accent1"/>
            </a:solidFill>
            <a:prstDash val="sys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35" name="四角形: 角を丸くする 34">
            <a:extLst>
              <a:ext uri="{FF2B5EF4-FFF2-40B4-BE49-F238E27FC236}">
                <a16:creationId xmlns:a16="http://schemas.microsoft.com/office/drawing/2014/main" id="{BD8B15D9-B4DD-1CB9-20AC-69D373B4C68B}"/>
              </a:ext>
            </a:extLst>
          </p:cNvPr>
          <p:cNvSpPr/>
          <p:nvPr/>
        </p:nvSpPr>
        <p:spPr bwMode="gray">
          <a:xfrm>
            <a:off x="834699" y="4856000"/>
            <a:ext cx="1337069" cy="1686239"/>
          </a:xfrm>
          <a:prstGeom prst="roundRect">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Calibri Light"/>
                <a:ea typeface="Yu Gothic UI"/>
                <a:cs typeface="Arial" charset="0"/>
              </a:rPr>
              <a:t>Verifiable Credentials</a:t>
            </a: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36" name="四角形: 角を丸くする 35">
            <a:extLst>
              <a:ext uri="{FF2B5EF4-FFF2-40B4-BE49-F238E27FC236}">
                <a16:creationId xmlns:a16="http://schemas.microsoft.com/office/drawing/2014/main" id="{0433FE61-D9CB-1F6E-AF7E-33EBDFA779E1}"/>
              </a:ext>
            </a:extLst>
          </p:cNvPr>
          <p:cNvSpPr/>
          <p:nvPr/>
        </p:nvSpPr>
        <p:spPr bwMode="gray">
          <a:xfrm>
            <a:off x="7798452" y="4848519"/>
            <a:ext cx="1337069" cy="1686239"/>
          </a:xfrm>
          <a:prstGeom prst="roundRect">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1" i="0" u="none" strike="noStrike" kern="0" cap="none" spc="0" normalizeH="0" baseline="0" noProof="0">
                <a:ln>
                  <a:noFill/>
                </a:ln>
                <a:solidFill>
                  <a:prstClr val="white"/>
                </a:solidFill>
                <a:effectLst/>
                <a:uLnTx/>
                <a:uFillTx/>
                <a:latin typeface="Calibri Light"/>
                <a:ea typeface="Yu Gothic UI"/>
                <a:cs typeface="Arial" charset="0"/>
              </a:rPr>
              <a:t>Verifiable Presentation</a:t>
            </a: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cxnSp>
        <p:nvCxnSpPr>
          <p:cNvPr id="37" name="直線コネクタ 36">
            <a:extLst>
              <a:ext uri="{FF2B5EF4-FFF2-40B4-BE49-F238E27FC236}">
                <a16:creationId xmlns:a16="http://schemas.microsoft.com/office/drawing/2014/main" id="{64CBDE4C-1009-2C64-01E9-2F69B526DB26}"/>
              </a:ext>
            </a:extLst>
          </p:cNvPr>
          <p:cNvCxnSpPr>
            <a:cxnSpLocks/>
          </p:cNvCxnSpPr>
          <p:nvPr/>
        </p:nvCxnSpPr>
        <p:spPr bwMode="gray">
          <a:xfrm flipV="1">
            <a:off x="2107796" y="4315359"/>
            <a:ext cx="1608406" cy="365538"/>
          </a:xfrm>
          <a:prstGeom prst="line">
            <a:avLst/>
          </a:prstGeom>
          <a:noFill/>
          <a:ln w="12700" cap="flat" cmpd="sng" algn="ctr">
            <a:solidFill>
              <a:srgbClr val="53565A"/>
            </a:solidFill>
            <a:prstDash val="sysDot"/>
          </a:ln>
          <a:effectLst/>
        </p:spPr>
      </p:cxnSp>
      <p:cxnSp>
        <p:nvCxnSpPr>
          <p:cNvPr id="38" name="直線コネクタ 37">
            <a:extLst>
              <a:ext uri="{FF2B5EF4-FFF2-40B4-BE49-F238E27FC236}">
                <a16:creationId xmlns:a16="http://schemas.microsoft.com/office/drawing/2014/main" id="{90D78E40-AACD-2DB7-B7C2-65E030AB7B3D}"/>
              </a:ext>
            </a:extLst>
          </p:cNvPr>
          <p:cNvCxnSpPr>
            <a:cxnSpLocks/>
          </p:cNvCxnSpPr>
          <p:nvPr/>
        </p:nvCxnSpPr>
        <p:spPr bwMode="gray">
          <a:xfrm flipH="1" flipV="1">
            <a:off x="6339076" y="4308428"/>
            <a:ext cx="1560129" cy="355425"/>
          </a:xfrm>
          <a:prstGeom prst="line">
            <a:avLst/>
          </a:prstGeom>
          <a:noFill/>
          <a:ln w="12700" cap="flat" cmpd="sng" algn="ctr">
            <a:solidFill>
              <a:srgbClr val="53565A"/>
            </a:solidFill>
            <a:prstDash val="sysDot"/>
          </a:ln>
          <a:effectLst/>
        </p:spPr>
      </p:cxnSp>
      <p:sp>
        <p:nvSpPr>
          <p:cNvPr id="39" name="正方形/長方形 38">
            <a:extLst>
              <a:ext uri="{FF2B5EF4-FFF2-40B4-BE49-F238E27FC236}">
                <a16:creationId xmlns:a16="http://schemas.microsoft.com/office/drawing/2014/main" id="{9694B867-CBEB-3506-5FA4-B9232C248091}"/>
              </a:ext>
            </a:extLst>
          </p:cNvPr>
          <p:cNvSpPr/>
          <p:nvPr/>
        </p:nvSpPr>
        <p:spPr bwMode="gray">
          <a:xfrm>
            <a:off x="952631" y="5348431"/>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Credential Metadata</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40" name="正方形/長方形 39">
            <a:extLst>
              <a:ext uri="{FF2B5EF4-FFF2-40B4-BE49-F238E27FC236}">
                <a16:creationId xmlns:a16="http://schemas.microsoft.com/office/drawing/2014/main" id="{2432CBFF-C85A-6F9E-E97F-79998CC64B73}"/>
              </a:ext>
            </a:extLst>
          </p:cNvPr>
          <p:cNvSpPr/>
          <p:nvPr/>
        </p:nvSpPr>
        <p:spPr bwMode="gray">
          <a:xfrm>
            <a:off x="952631" y="5711928"/>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Claim(s)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41" name="正方形/長方形 40">
            <a:extLst>
              <a:ext uri="{FF2B5EF4-FFF2-40B4-BE49-F238E27FC236}">
                <a16:creationId xmlns:a16="http://schemas.microsoft.com/office/drawing/2014/main" id="{08BDA8F4-3931-24A7-8F5D-913DD092CA19}"/>
              </a:ext>
            </a:extLst>
          </p:cNvPr>
          <p:cNvSpPr/>
          <p:nvPr/>
        </p:nvSpPr>
        <p:spPr bwMode="gray">
          <a:xfrm>
            <a:off x="952631" y="6065254"/>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Proof(s)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42" name="正方形/長方形 41">
            <a:extLst>
              <a:ext uri="{FF2B5EF4-FFF2-40B4-BE49-F238E27FC236}">
                <a16:creationId xmlns:a16="http://schemas.microsoft.com/office/drawing/2014/main" id="{FCFFBFDA-CB3B-4204-A83C-7974410593D2}"/>
              </a:ext>
            </a:extLst>
          </p:cNvPr>
          <p:cNvSpPr/>
          <p:nvPr/>
        </p:nvSpPr>
        <p:spPr bwMode="gray">
          <a:xfrm>
            <a:off x="7925909" y="5340950"/>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Presentation Metadata</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43" name="正方形/長方形 42">
            <a:extLst>
              <a:ext uri="{FF2B5EF4-FFF2-40B4-BE49-F238E27FC236}">
                <a16:creationId xmlns:a16="http://schemas.microsoft.com/office/drawing/2014/main" id="{E4AB089E-9491-6DF3-9F92-5CB073F25024}"/>
              </a:ext>
            </a:extLst>
          </p:cNvPr>
          <p:cNvSpPr/>
          <p:nvPr/>
        </p:nvSpPr>
        <p:spPr bwMode="gray">
          <a:xfrm>
            <a:off x="7925909" y="5712914"/>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Verifiable Credential(s)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44" name="正方形/長方形 43">
            <a:extLst>
              <a:ext uri="{FF2B5EF4-FFF2-40B4-BE49-F238E27FC236}">
                <a16:creationId xmlns:a16="http://schemas.microsoft.com/office/drawing/2014/main" id="{BD3CB7D6-3643-E273-FA3D-66F1D1545C38}"/>
              </a:ext>
            </a:extLst>
          </p:cNvPr>
          <p:cNvSpPr/>
          <p:nvPr/>
        </p:nvSpPr>
        <p:spPr bwMode="gray">
          <a:xfrm>
            <a:off x="7925909" y="6057773"/>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Proof(s)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grpSp>
        <p:nvGrpSpPr>
          <p:cNvPr id="3" name="グループ化 2">
            <a:extLst>
              <a:ext uri="{FF2B5EF4-FFF2-40B4-BE49-F238E27FC236}">
                <a16:creationId xmlns:a16="http://schemas.microsoft.com/office/drawing/2014/main" id="{E8F445BB-6767-BC0D-5123-CF4E9A04FACE}"/>
              </a:ext>
            </a:extLst>
          </p:cNvPr>
          <p:cNvGrpSpPr/>
          <p:nvPr/>
        </p:nvGrpSpPr>
        <p:grpSpPr>
          <a:xfrm>
            <a:off x="5867005" y="137240"/>
            <a:ext cx="2322246" cy="301997"/>
            <a:chOff x="5867005" y="137240"/>
            <a:chExt cx="2322246" cy="552560"/>
          </a:xfrm>
        </p:grpSpPr>
        <p:sp>
          <p:nvSpPr>
            <p:cNvPr id="45" name="正方形/長方形 44">
              <a:extLst>
                <a:ext uri="{FF2B5EF4-FFF2-40B4-BE49-F238E27FC236}">
                  <a16:creationId xmlns:a16="http://schemas.microsoft.com/office/drawing/2014/main" id="{A0F37A99-55C7-E579-2968-5D2DAD660421}"/>
                </a:ext>
              </a:extLst>
            </p:cNvPr>
            <p:cNvSpPr/>
            <p:nvPr/>
          </p:nvSpPr>
          <p:spPr>
            <a:xfrm>
              <a:off x="5867005" y="511582"/>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Public Trust Layer</a:t>
              </a:r>
              <a:endParaRPr lang="ja-JP" altLang="en-US" sz="800" dirty="0">
                <a:solidFill>
                  <a:schemeClr val="tx2"/>
                </a:solidFill>
              </a:endParaRPr>
            </a:p>
          </p:txBody>
        </p:sp>
        <p:sp>
          <p:nvSpPr>
            <p:cNvPr id="46" name="正方形/長方形 45">
              <a:extLst>
                <a:ext uri="{FF2B5EF4-FFF2-40B4-BE49-F238E27FC236}">
                  <a16:creationId xmlns:a16="http://schemas.microsoft.com/office/drawing/2014/main" id="{CF675E02-3414-41BB-583D-4A81EAE7604A}"/>
                </a:ext>
              </a:extLst>
            </p:cNvPr>
            <p:cNvSpPr/>
            <p:nvPr/>
          </p:nvSpPr>
          <p:spPr>
            <a:xfrm>
              <a:off x="5867005" y="324411"/>
              <a:ext cx="1554312" cy="178218"/>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Agent Layer</a:t>
              </a:r>
              <a:endParaRPr lang="ja-JP" altLang="en-US" sz="800" b="1" dirty="0">
                <a:solidFill>
                  <a:schemeClr val="accent1"/>
                </a:solidFill>
              </a:endParaRPr>
            </a:p>
          </p:txBody>
        </p:sp>
        <p:sp>
          <p:nvSpPr>
            <p:cNvPr id="47" name="正方形/長方形 46">
              <a:extLst>
                <a:ext uri="{FF2B5EF4-FFF2-40B4-BE49-F238E27FC236}">
                  <a16:creationId xmlns:a16="http://schemas.microsoft.com/office/drawing/2014/main" id="{FBDB3CD9-0092-A334-FBCC-51B5B3ABE512}"/>
                </a:ext>
              </a:extLst>
            </p:cNvPr>
            <p:cNvSpPr/>
            <p:nvPr/>
          </p:nvSpPr>
          <p:spPr>
            <a:xfrm>
              <a:off x="5867005" y="137240"/>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Credential Layer</a:t>
              </a:r>
              <a:endParaRPr lang="ja-JP" altLang="en-US" sz="800" dirty="0">
                <a:solidFill>
                  <a:schemeClr val="tx2"/>
                </a:solidFill>
              </a:endParaRPr>
            </a:p>
          </p:txBody>
        </p:sp>
        <p:sp>
          <p:nvSpPr>
            <p:cNvPr id="48" name="正方形/長方形 47">
              <a:extLst>
                <a:ext uri="{FF2B5EF4-FFF2-40B4-BE49-F238E27FC236}">
                  <a16:creationId xmlns:a16="http://schemas.microsoft.com/office/drawing/2014/main" id="{514A9AE7-679B-9CA6-B419-6B3A314A040D}"/>
                </a:ext>
              </a:extLst>
            </p:cNvPr>
            <p:cNvSpPr/>
            <p:nvPr/>
          </p:nvSpPr>
          <p:spPr>
            <a:xfrm>
              <a:off x="7424690" y="137240"/>
              <a:ext cx="764561" cy="55256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Vertical / </a:t>
              </a:r>
            </a:p>
            <a:p>
              <a:pPr algn="ctr"/>
              <a:r>
                <a:rPr lang="en-US" altLang="ja-JP" sz="800" dirty="0">
                  <a:solidFill>
                    <a:schemeClr val="tx2"/>
                  </a:solidFill>
                </a:rPr>
                <a:t>Cross-cutting</a:t>
              </a:r>
              <a:endParaRPr lang="ja-JP" altLang="en-US" sz="800" dirty="0">
                <a:solidFill>
                  <a:schemeClr val="tx2"/>
                </a:solidFill>
              </a:endParaRPr>
            </a:p>
          </p:txBody>
        </p:sp>
      </p:grpSp>
    </p:spTree>
    <p:extLst>
      <p:ext uri="{BB962C8B-B14F-4D97-AF65-F5344CB8AC3E}">
        <p14:creationId xmlns:p14="http://schemas.microsoft.com/office/powerpoint/2010/main" val="1485830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B5F548-CD51-6B80-63F8-A3AC2C77BD12}"/>
              </a:ext>
            </a:extLst>
          </p:cNvPr>
          <p:cNvSpPr>
            <a:spLocks noGrp="1"/>
          </p:cNvSpPr>
          <p:nvPr>
            <p:ph type="title"/>
          </p:nvPr>
        </p:nvSpPr>
        <p:spPr>
          <a:xfrm>
            <a:off x="273050" y="447475"/>
            <a:ext cx="7848302" cy="246221"/>
          </a:xfrm>
        </p:spPr>
        <p:txBody>
          <a:bodyPr/>
          <a:lstStyle/>
          <a:p>
            <a:r>
              <a:rPr kumimoji="1" lang="en-US" altLang="ja-JP" dirty="0"/>
              <a:t>4.2. </a:t>
            </a:r>
            <a:r>
              <a:rPr kumimoji="1" lang="ja-JP" altLang="en-US" dirty="0"/>
              <a:t>各規格の概要・代表的な仕様 </a:t>
            </a:r>
            <a:r>
              <a:rPr kumimoji="1" lang="en-US" altLang="ja-JP" sz="1600" dirty="0"/>
              <a:t>- (2) </a:t>
            </a:r>
            <a:r>
              <a:rPr kumimoji="1" lang="en-US" altLang="ja-JP" dirty="0"/>
              <a:t>Agent</a:t>
            </a:r>
            <a:r>
              <a:rPr kumimoji="1" lang="ja-JP" altLang="en-US" dirty="0"/>
              <a:t> </a:t>
            </a:r>
            <a:r>
              <a:rPr kumimoji="1" lang="en-US" altLang="ja-JP" dirty="0"/>
              <a:t>Layer</a:t>
            </a:r>
            <a:r>
              <a:rPr kumimoji="1" lang="ja-JP" altLang="en-US" dirty="0"/>
              <a:t> </a:t>
            </a:r>
            <a:r>
              <a:rPr kumimoji="1" lang="en-US" altLang="ja-JP" dirty="0"/>
              <a:t>(2/2)</a:t>
            </a:r>
            <a:r>
              <a:rPr kumimoji="1" lang="ja-JP" altLang="en-US" dirty="0"/>
              <a:t>　　</a:t>
            </a:r>
          </a:p>
        </p:txBody>
      </p:sp>
      <p:sp>
        <p:nvSpPr>
          <p:cNvPr id="4" name="テキスト プレースホルダー 3">
            <a:extLst>
              <a:ext uri="{FF2B5EF4-FFF2-40B4-BE49-F238E27FC236}">
                <a16:creationId xmlns:a16="http://schemas.microsoft.com/office/drawing/2014/main" id="{B700014F-772E-D250-B702-32BDDBCF66E9}"/>
              </a:ext>
            </a:extLst>
          </p:cNvPr>
          <p:cNvSpPr>
            <a:spLocks noGrp="1"/>
          </p:cNvSpPr>
          <p:nvPr>
            <p:ph type="body" sz="quarter" idx="10"/>
          </p:nvPr>
        </p:nvSpPr>
        <p:spPr>
          <a:xfrm>
            <a:off x="273050" y="188913"/>
            <a:ext cx="7848600" cy="161583"/>
          </a:xfrm>
        </p:spPr>
        <p:txBody>
          <a:bodyPr/>
          <a:lstStyle/>
          <a:p>
            <a:r>
              <a:rPr kumimoji="1" lang="en-US" altLang="zh-TW" dirty="0"/>
              <a:t>4.</a:t>
            </a:r>
            <a:r>
              <a:rPr lang="zh-TW" altLang="en-US" dirty="0"/>
              <a:t> </a:t>
            </a:r>
            <a:r>
              <a:rPr kumimoji="1" lang="zh-TW" altLang="en-US" dirty="0"/>
              <a:t>規格実態調査</a:t>
            </a:r>
          </a:p>
        </p:txBody>
      </p:sp>
      <p:graphicFrame>
        <p:nvGraphicFramePr>
          <p:cNvPr id="8" name="表 7">
            <a:extLst>
              <a:ext uri="{FF2B5EF4-FFF2-40B4-BE49-F238E27FC236}">
                <a16:creationId xmlns:a16="http://schemas.microsoft.com/office/drawing/2014/main" id="{A3ECA3F5-8CE2-94B5-8664-8FDA9164A874}"/>
              </a:ext>
            </a:extLst>
          </p:cNvPr>
          <p:cNvGraphicFramePr>
            <a:graphicFrameLocks noGrp="1"/>
          </p:cNvGraphicFramePr>
          <p:nvPr>
            <p:extLst>
              <p:ext uri="{D42A27DB-BD31-4B8C-83A1-F6EECF244321}">
                <p14:modId xmlns:p14="http://schemas.microsoft.com/office/powerpoint/2010/main" val="1760603105"/>
              </p:ext>
            </p:extLst>
          </p:nvPr>
        </p:nvGraphicFramePr>
        <p:xfrm>
          <a:off x="273050" y="1266267"/>
          <a:ext cx="9359900" cy="4835672"/>
        </p:xfrm>
        <a:graphic>
          <a:graphicData uri="http://schemas.openxmlformats.org/drawingml/2006/table">
            <a:tbl>
              <a:tblPr firstRow="1" bandRow="1">
                <a:tableStyleId>{5940675A-B579-460E-94D1-54222C63F5DA}</a:tableStyleId>
              </a:tblPr>
              <a:tblGrid>
                <a:gridCol w="1272946">
                  <a:extLst>
                    <a:ext uri="{9D8B030D-6E8A-4147-A177-3AD203B41FA5}">
                      <a16:colId xmlns:a16="http://schemas.microsoft.com/office/drawing/2014/main" val="2445896061"/>
                    </a:ext>
                  </a:extLst>
                </a:gridCol>
                <a:gridCol w="5382705">
                  <a:extLst>
                    <a:ext uri="{9D8B030D-6E8A-4147-A177-3AD203B41FA5}">
                      <a16:colId xmlns:a16="http://schemas.microsoft.com/office/drawing/2014/main" val="2208212938"/>
                    </a:ext>
                  </a:extLst>
                </a:gridCol>
                <a:gridCol w="2704249">
                  <a:extLst>
                    <a:ext uri="{9D8B030D-6E8A-4147-A177-3AD203B41FA5}">
                      <a16:colId xmlns:a16="http://schemas.microsoft.com/office/drawing/2014/main" val="3445175591"/>
                    </a:ext>
                  </a:extLst>
                </a:gridCol>
              </a:tblGrid>
              <a:tr h="239091">
                <a:tc>
                  <a:txBody>
                    <a:bodyPr/>
                    <a:lstStyle/>
                    <a:p>
                      <a:pPr algn="ctr" fontAlgn="ctr"/>
                      <a:r>
                        <a:rPr lang="ja-JP" altLang="en-US" sz="1400" b="1" i="0" u="none" strike="noStrike" dirty="0">
                          <a:solidFill>
                            <a:schemeClr val="bg1"/>
                          </a:solidFill>
                          <a:effectLst/>
                          <a:latin typeface="+mn-ea"/>
                          <a:ea typeface="+mn-ea"/>
                        </a:rPr>
                        <a:t>分類</a:t>
                      </a:r>
                      <a:endParaRPr lang="en-US" sz="1400" b="1" i="0" u="none" strike="noStrike" dirty="0">
                        <a:solidFill>
                          <a:schemeClr val="bg1"/>
                        </a:solidFill>
                        <a:effectLst/>
                        <a:latin typeface="+mn-ea"/>
                        <a:ea typeface="+mn-ea"/>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fontAlgn="ctr"/>
                      <a:endParaRPr lang="en-US" sz="1400" b="1" i="0" u="none" strike="noStrike" dirty="0">
                        <a:solidFill>
                          <a:schemeClr val="bg1"/>
                        </a:solidFill>
                        <a:effectLst/>
                        <a:latin typeface="+mn-ea"/>
                        <a:ea typeface="+mn-ea"/>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400" b="1" i="0" u="none" strike="noStrike">
                          <a:solidFill>
                            <a:schemeClr val="bg1"/>
                          </a:solidFill>
                          <a:effectLst/>
                          <a:latin typeface="+mn-ea"/>
                          <a:ea typeface="+mn-ea"/>
                        </a:rPr>
                        <a:t>(</a:t>
                      </a:r>
                      <a:r>
                        <a:rPr lang="ja-JP" altLang="en-US" sz="1400" b="1" i="0" u="none" strike="noStrike">
                          <a:solidFill>
                            <a:schemeClr val="bg1"/>
                          </a:solidFill>
                          <a:effectLst/>
                          <a:latin typeface="+mn-ea"/>
                          <a:ea typeface="+mn-ea"/>
                        </a:rPr>
                        <a:t>参考</a:t>
                      </a:r>
                      <a:r>
                        <a:rPr lang="en-US" altLang="ja-JP" sz="1400" b="1" i="0" u="none" strike="noStrike">
                          <a:solidFill>
                            <a:schemeClr val="bg1"/>
                          </a:solidFill>
                          <a:effectLst/>
                          <a:latin typeface="+mn-ea"/>
                          <a:ea typeface="+mn-ea"/>
                        </a:rPr>
                        <a:t>)</a:t>
                      </a:r>
                      <a:r>
                        <a:rPr lang="ja-JP" altLang="en-US" sz="1400" b="1" i="0" u="none" strike="noStrike">
                          <a:solidFill>
                            <a:schemeClr val="bg1"/>
                          </a:solidFill>
                          <a:effectLst/>
                          <a:latin typeface="+mn-ea"/>
                          <a:ea typeface="+mn-ea"/>
                        </a:rPr>
                        <a:t>代表的な技術仕様の</a:t>
                      </a:r>
                      <a:r>
                        <a:rPr lang="en-US" altLang="ja-JP" sz="1400" b="1" i="0" u="none" strike="noStrike">
                          <a:solidFill>
                            <a:schemeClr val="bg1"/>
                          </a:solidFill>
                          <a:effectLst/>
                          <a:latin typeface="+mn-ea"/>
                          <a:ea typeface="+mn-ea"/>
                        </a:rPr>
                        <a:t>URL</a:t>
                      </a:r>
                      <a:endParaRPr lang="en-US" altLang="ja-JP" sz="1400" b="1" i="0" u="none" strike="noStrike" dirty="0">
                        <a:solidFill>
                          <a:schemeClr val="bg1"/>
                        </a:solidFill>
                        <a:effectLst/>
                        <a:latin typeface="+mn-ea"/>
                        <a:ea typeface="+mn-ea"/>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5938599"/>
                  </a:ext>
                </a:extLst>
              </a:tr>
              <a:tr h="387693">
                <a:tc rowSpan="2">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chemeClr val="accent1"/>
                          </a:solidFill>
                          <a:effectLst/>
                          <a:uLnTx/>
                          <a:uFillTx/>
                          <a:latin typeface="+mn-ea"/>
                          <a:ea typeface="+mn-ea"/>
                          <a:cs typeface="+mn-cs"/>
                        </a:rPr>
                        <a:t>⑥</a:t>
                      </a:r>
                      <a:endParaRPr kumimoji="1" lang="en-US" altLang="ja-JP" sz="1400" b="1" i="0" u="none" strike="noStrike" kern="1200" cap="none" spc="0" normalizeH="0" baseline="0" noProof="0">
                        <a:ln>
                          <a:noFill/>
                        </a:ln>
                        <a:solidFill>
                          <a:schemeClr val="accent1"/>
                        </a:solidFill>
                        <a:effectLst/>
                        <a:uLnTx/>
                        <a:uFillTx/>
                        <a:latin typeface="+mn-ea"/>
                        <a:ea typeface="+mn-ea"/>
                        <a:cs typeface="+mn-cs"/>
                      </a:endParaRP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chemeClr val="accent1"/>
                          </a:solidFill>
                          <a:effectLst/>
                          <a:uLnTx/>
                          <a:uFillTx/>
                          <a:latin typeface="+mn-ea"/>
                          <a:ea typeface="+mn-ea"/>
                          <a:cs typeface="+mn-cs"/>
                        </a:rPr>
                        <a:t>Envelope</a:t>
                      </a: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chemeClr val="accent1"/>
                          </a:solidFill>
                          <a:effectLst/>
                          <a:uLnTx/>
                          <a:uFillTx/>
                          <a:latin typeface="+mn-ea"/>
                          <a:ea typeface="+mn-ea"/>
                          <a:cs typeface="+mn-cs"/>
                        </a:rPr>
                        <a:t>(P2P-Communication)</a:t>
                      </a:r>
                      <a:endParaRPr kumimoji="1" lang="en-US" altLang="ja-JP" sz="1200" b="1" i="0" u="none" strike="noStrike" kern="1200" cap="none" spc="0" normalizeH="0" baseline="0" noProof="0" dirty="0">
                        <a:ln>
                          <a:noFill/>
                        </a:ln>
                        <a:solidFill>
                          <a:schemeClr val="accent1"/>
                        </a:solidFill>
                        <a:effectLst/>
                        <a:uLnTx/>
                        <a:uFillTx/>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rowSpan="2">
                  <a:txBody>
                    <a:bodyPr/>
                    <a:lstStyle/>
                    <a:p>
                      <a:pPr marL="179388" indent="-179388">
                        <a:buFont typeface="Arial" panose="020B0604020202020204" pitchFamily="34" charset="0"/>
                        <a:buChar char="•"/>
                      </a:pPr>
                      <a:r>
                        <a:rPr kumimoji="1" lang="ja-JP" altLang="en-US" sz="1200" dirty="0">
                          <a:solidFill>
                            <a:schemeClr val="tx1"/>
                          </a:solidFill>
                          <a:latin typeface="+mn-ea"/>
                          <a:ea typeface="+mn-ea"/>
                        </a:rPr>
                        <a:t>エージェント間で証明書を連携する際の通信プロトコル、エンコード方式等を定義</a:t>
                      </a: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IETF</a:t>
                      </a:r>
                      <a:r>
                        <a:rPr kumimoji="1" lang="ja-JP" altLang="en-US" sz="1200" dirty="0">
                          <a:solidFill>
                            <a:schemeClr val="tx1"/>
                          </a:solidFill>
                          <a:latin typeface="+mn-ea"/>
                          <a:ea typeface="+mn-ea"/>
                        </a:rPr>
                        <a:t>が定義している</a:t>
                      </a:r>
                      <a:r>
                        <a:rPr kumimoji="1" lang="en-US" altLang="ja-JP" sz="1200" dirty="0">
                          <a:solidFill>
                            <a:schemeClr val="tx1"/>
                          </a:solidFill>
                          <a:latin typeface="+mn-ea"/>
                          <a:ea typeface="+mn-ea"/>
                        </a:rPr>
                        <a:t>JSON Web Message</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DIF</a:t>
                      </a:r>
                      <a:r>
                        <a:rPr kumimoji="1" lang="ja-JP" altLang="en-US" sz="1200" dirty="0">
                          <a:solidFill>
                            <a:schemeClr val="tx1"/>
                          </a:solidFill>
                          <a:latin typeface="+mn-ea"/>
                          <a:ea typeface="+mn-ea"/>
                        </a:rPr>
                        <a:t>で定義している</a:t>
                      </a:r>
                      <a:r>
                        <a:rPr kumimoji="1" lang="en-US" altLang="ja-JP" sz="1200" dirty="0">
                          <a:solidFill>
                            <a:schemeClr val="tx1"/>
                          </a:solidFill>
                          <a:latin typeface="+mn-ea"/>
                          <a:ea typeface="+mn-ea"/>
                        </a:rPr>
                        <a:t>DID Comm</a:t>
                      </a:r>
                      <a:r>
                        <a:rPr kumimoji="1" lang="ja-JP" altLang="en-US" sz="1200" dirty="0">
                          <a:solidFill>
                            <a:schemeClr val="tx1"/>
                          </a:solidFill>
                          <a:latin typeface="+mn-ea"/>
                          <a:ea typeface="+mn-ea"/>
                        </a:rPr>
                        <a:t>や</a:t>
                      </a:r>
                      <a:r>
                        <a:rPr kumimoji="1" lang="en-US" altLang="ja-JP" sz="1200" dirty="0">
                          <a:solidFill>
                            <a:schemeClr val="tx1"/>
                          </a:solidFill>
                          <a:latin typeface="+mn-ea"/>
                          <a:ea typeface="+mn-ea"/>
                        </a:rPr>
                        <a:t>Self-Issued OpenID Connect Provider DID Profile v0.1</a:t>
                      </a:r>
                      <a:r>
                        <a:rPr kumimoji="1" lang="ja-JP" altLang="en-US" sz="1200" dirty="0">
                          <a:solidFill>
                            <a:schemeClr val="tx1"/>
                          </a:solidFill>
                          <a:latin typeface="+mn-ea"/>
                          <a:ea typeface="+mn-ea"/>
                        </a:rPr>
                        <a:t>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kumimoji="1" lang="en-US" altLang="ja-JP" sz="1000">
                          <a:latin typeface="+mn-ea"/>
                          <a:ea typeface="+mn-ea"/>
                          <a:hlinkClick r:id="rId2"/>
                        </a:rPr>
                        <a:t>DIDComm Messaging v2</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24474211"/>
                  </a:ext>
                </a:extLst>
              </a:tr>
              <a:tr h="387693">
                <a:tc vMerge="1">
                  <a:txBody>
                    <a:bodyPr/>
                    <a:lstStyle/>
                    <a:p>
                      <a:endParaRPr kumimoji="1" lang="ja-JP" altLang="en-US"/>
                    </a:p>
                  </a:txBody>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kern="1200" dirty="0">
                        <a:solidFill>
                          <a:schemeClr val="tx1"/>
                        </a:solidFill>
                        <a:latin typeface="+mn-ea"/>
                        <a:ea typeface="+mn-ea"/>
                        <a:cs typeface="+mn-cs"/>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kern="1200" dirty="0">
                          <a:solidFill>
                            <a:schemeClr val="tx1"/>
                          </a:solidFill>
                          <a:latin typeface="+mn-ea"/>
                          <a:ea typeface="+mn-ea"/>
                          <a:cs typeface="+mn-cs"/>
                          <a:hlinkClick r:id="rId3"/>
                        </a:rPr>
                        <a:t>Self-Issued OpenID Provider v2(SIOPv2)</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596173010"/>
                  </a:ext>
                </a:extLst>
              </a:tr>
              <a:tr h="188015">
                <a:tc rowSpan="5">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chemeClr val="accent1"/>
                          </a:solidFill>
                          <a:effectLst/>
                          <a:uLnTx/>
                          <a:uFillTx/>
                          <a:latin typeface="+mn-ea"/>
                          <a:ea typeface="+mn-ea"/>
                          <a:cs typeface="+mn-cs"/>
                        </a:rPr>
                        <a:t>⑦</a:t>
                      </a:r>
                      <a:endParaRPr kumimoji="1" lang="en-US" altLang="ja-JP" sz="1400" b="1" i="0" u="none" strike="noStrike" kern="1200" cap="none" spc="0" normalizeH="0" baseline="0" noProof="0" dirty="0">
                        <a:ln>
                          <a:noFill/>
                        </a:ln>
                        <a:solidFill>
                          <a:schemeClr val="accent1"/>
                        </a:solidFill>
                        <a:effectLst/>
                        <a:uLnTx/>
                        <a:uFillTx/>
                        <a:latin typeface="+mn-ea"/>
                        <a:ea typeface="+mn-ea"/>
                        <a:cs typeface="+mn-cs"/>
                      </a:endParaRP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Transport</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rowSpan="5">
                  <a:txBody>
                    <a:bodyPr/>
                    <a:lstStyle/>
                    <a:p>
                      <a:pPr marL="179388" indent="-179388" algn="l" defTabSz="990564" rtl="0" eaLnBrk="1" latinLnBrk="0" hangingPunct="1">
                        <a:buFont typeface="Arial" panose="020B0604020202020204" pitchFamily="34" charset="0"/>
                        <a:buChar char="•"/>
                      </a:pPr>
                      <a:r>
                        <a:rPr kumimoji="1" lang="ja-JP" altLang="en-US" sz="1200" kern="1200" dirty="0">
                          <a:solidFill>
                            <a:schemeClr val="tx1"/>
                          </a:solidFill>
                          <a:latin typeface="+mn-ea"/>
                          <a:ea typeface="+mn-ea"/>
                          <a:cs typeface="+mn-cs"/>
                        </a:rPr>
                        <a:t>異なるデバイス間で証明書やアイデンティティ情報の格納先などを連携する方法を定義</a:t>
                      </a:r>
                      <a:endParaRPr kumimoji="1" lang="en-US" altLang="ja-JP" sz="1200" kern="1200" dirty="0">
                        <a:solidFill>
                          <a:schemeClr val="tx1"/>
                        </a:solidFill>
                        <a:latin typeface="+mn-ea"/>
                        <a:ea typeface="+mn-ea"/>
                        <a:cs typeface="+mn-cs"/>
                      </a:endParaRPr>
                    </a:p>
                    <a:p>
                      <a:pPr marL="179388" indent="-179388" algn="l" defTabSz="990564" rtl="0" eaLnBrk="1" latinLnBrk="0" hangingPunct="1">
                        <a:buFont typeface="Arial" panose="020B0604020202020204" pitchFamily="34" charset="0"/>
                        <a:buChar char="•"/>
                      </a:pPr>
                      <a:r>
                        <a:rPr kumimoji="1" lang="ja-JP" altLang="en-US" sz="1200" kern="1200" dirty="0">
                          <a:solidFill>
                            <a:schemeClr val="tx1"/>
                          </a:solidFill>
                          <a:latin typeface="+mn-ea"/>
                          <a:ea typeface="+mn-ea"/>
                          <a:cs typeface="+mn-cs"/>
                        </a:rPr>
                        <a:t>代表的な規格として近距離無線通信規格の</a:t>
                      </a:r>
                      <a:r>
                        <a:rPr kumimoji="1" lang="en-US" altLang="ja-JP" sz="1200" kern="1200" dirty="0">
                          <a:solidFill>
                            <a:schemeClr val="tx1"/>
                          </a:solidFill>
                          <a:latin typeface="+mn-ea"/>
                          <a:ea typeface="+mn-ea"/>
                          <a:cs typeface="+mn-cs"/>
                        </a:rPr>
                        <a:t>NFC</a:t>
                      </a:r>
                      <a:r>
                        <a:rPr kumimoji="1" lang="ja-JP" altLang="en-US" sz="1200" kern="1200" dirty="0">
                          <a:solidFill>
                            <a:schemeClr val="tx1"/>
                          </a:solidFill>
                          <a:latin typeface="+mn-ea"/>
                          <a:ea typeface="+mn-ea"/>
                          <a:cs typeface="+mn-cs"/>
                        </a:rPr>
                        <a:t>や</a:t>
                      </a:r>
                      <a:r>
                        <a:rPr kumimoji="1" lang="en-US" altLang="ja-JP" sz="1200" kern="1200" dirty="0">
                          <a:solidFill>
                            <a:schemeClr val="tx1"/>
                          </a:solidFill>
                          <a:latin typeface="+mn-ea"/>
                          <a:ea typeface="+mn-ea"/>
                          <a:cs typeface="+mn-cs"/>
                        </a:rPr>
                        <a:t>Bluetooth</a:t>
                      </a:r>
                      <a:r>
                        <a:rPr kumimoji="1" lang="ja-JP" altLang="en-US" sz="1200" kern="1200" dirty="0">
                          <a:solidFill>
                            <a:schemeClr val="tx1"/>
                          </a:solidFill>
                          <a:latin typeface="+mn-ea"/>
                          <a:ea typeface="+mn-ea"/>
                          <a:cs typeface="+mn-cs"/>
                        </a:rPr>
                        <a:t>、</a:t>
                      </a:r>
                      <a:r>
                        <a:rPr kumimoji="1" lang="en-US" altLang="ja-JP" sz="1200" kern="1200" dirty="0">
                          <a:solidFill>
                            <a:schemeClr val="tx1"/>
                          </a:solidFill>
                          <a:latin typeface="+mn-ea"/>
                          <a:ea typeface="+mn-ea"/>
                          <a:cs typeface="+mn-cs"/>
                        </a:rPr>
                        <a:t>QR</a:t>
                      </a:r>
                      <a:r>
                        <a:rPr kumimoji="1" lang="ja-JP" altLang="en-US" sz="1200" kern="1200" dirty="0">
                          <a:solidFill>
                            <a:schemeClr val="tx1"/>
                          </a:solidFill>
                          <a:latin typeface="+mn-ea"/>
                          <a:ea typeface="+mn-ea"/>
                          <a:cs typeface="+mn-cs"/>
                        </a:rPr>
                        <a:t>コード、</a:t>
                      </a:r>
                      <a:r>
                        <a:rPr kumimoji="1" lang="en-US" altLang="ja-JP" sz="1200" kern="1200" dirty="0">
                          <a:solidFill>
                            <a:schemeClr val="tx1"/>
                          </a:solidFill>
                          <a:latin typeface="+mn-ea"/>
                          <a:ea typeface="+mn-ea"/>
                          <a:cs typeface="+mn-cs"/>
                        </a:rPr>
                        <a:t>HTTP</a:t>
                      </a:r>
                      <a:r>
                        <a:rPr kumimoji="1" lang="ja-JP" altLang="en-US" sz="1200" kern="1200" dirty="0">
                          <a:solidFill>
                            <a:schemeClr val="tx1"/>
                          </a:solidFill>
                          <a:latin typeface="+mn-ea"/>
                          <a:ea typeface="+mn-ea"/>
                          <a:cs typeface="+mn-cs"/>
                        </a:rPr>
                        <a:t>等が挙げられる</a:t>
                      </a:r>
                      <a:endParaRPr kumimoji="1" lang="en-US" altLang="ja-JP" sz="1200" kern="1200" dirty="0">
                        <a:solidFill>
                          <a:schemeClr val="tx1"/>
                        </a:solidFill>
                        <a:highlight>
                          <a:srgbClr val="FFFF00"/>
                        </a:highlight>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85725" indent="-85725" algn="l" defTabSz="990564" rtl="0" eaLnBrk="1" latinLnBrk="0" hangingPunct="1">
                        <a:buFont typeface="Arial" panose="020B0604020202020204" pitchFamily="34" charset="0"/>
                        <a:buChar char="•"/>
                      </a:pPr>
                      <a:r>
                        <a:rPr kumimoji="1" lang="en-US" altLang="ja-JP" sz="1000" kern="1200">
                          <a:solidFill>
                            <a:schemeClr val="tx1"/>
                          </a:solidFill>
                          <a:latin typeface="+mn-ea"/>
                          <a:ea typeface="+mn-ea"/>
                          <a:cs typeface="+mn-cs"/>
                          <a:hlinkClick r:id="rId4"/>
                        </a:rPr>
                        <a:t>OAuth 2.0 Device Flow</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668162923"/>
                  </a:ext>
                </a:extLst>
              </a:tr>
              <a:tr h="188015">
                <a:tc vMerge="1">
                  <a:txBody>
                    <a:bodyPr/>
                    <a:lstStyle/>
                    <a:p>
                      <a:endParaRPr kumimoji="1" lang="ja-JP" altLang="en-US"/>
                    </a:p>
                  </a:txBody>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kern="1200" dirty="0">
                        <a:solidFill>
                          <a:schemeClr val="tx1"/>
                        </a:solidFill>
                        <a:latin typeface="+mn-ea"/>
                        <a:ea typeface="+mn-ea"/>
                        <a:cs typeface="+mn-cs"/>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kern="1200" dirty="0">
                          <a:solidFill>
                            <a:schemeClr val="tx1"/>
                          </a:solidFill>
                          <a:latin typeface="+mn-ea"/>
                          <a:ea typeface="+mn-ea"/>
                          <a:cs typeface="+mn-cs"/>
                          <a:hlinkClick r:id="rId5"/>
                        </a:rPr>
                        <a:t>OpenID Connect CIBA Flow</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0891345"/>
                  </a:ext>
                </a:extLst>
              </a:tr>
              <a:tr h="188015">
                <a:tc vMerge="1">
                  <a:txBody>
                    <a:bodyPr/>
                    <a:lstStyle/>
                    <a:p>
                      <a:endParaRPr kumimoji="1" lang="ja-JP" altLang="en-US"/>
                    </a:p>
                  </a:txBody>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kern="1200">
                        <a:solidFill>
                          <a:schemeClr val="tx1"/>
                        </a:solidFill>
                        <a:latin typeface="+mn-ea"/>
                        <a:ea typeface="+mn-ea"/>
                        <a:cs typeface="+mn-cs"/>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kern="1200" dirty="0">
                          <a:solidFill>
                            <a:schemeClr val="tx1"/>
                          </a:solidFill>
                          <a:latin typeface="+mn-ea"/>
                          <a:ea typeface="+mn-ea"/>
                          <a:cs typeface="+mn-cs"/>
                          <a:hlinkClick r:id="rId6"/>
                        </a:rPr>
                        <a:t>OID4VP(Cross Device Flow)</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970258"/>
                  </a:ext>
                </a:extLst>
              </a:tr>
              <a:tr h="188015">
                <a:tc vMerge="1">
                  <a:txBody>
                    <a:bodyPr/>
                    <a:lstStyle/>
                    <a:p>
                      <a:endParaRPr kumimoji="1" lang="ja-JP" altLang="en-US"/>
                    </a:p>
                  </a:txBody>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kern="1200" dirty="0">
                        <a:solidFill>
                          <a:schemeClr val="tx1"/>
                        </a:solidFill>
                        <a:latin typeface="+mn-ea"/>
                        <a:ea typeface="+mn-ea"/>
                        <a:cs typeface="+mn-cs"/>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kern="1200">
                          <a:solidFill>
                            <a:schemeClr val="tx1"/>
                          </a:solidFill>
                          <a:latin typeface="+mn-ea"/>
                          <a:ea typeface="+mn-ea"/>
                          <a:cs typeface="+mn-cs"/>
                          <a:hlinkClick r:id="rId7"/>
                        </a:rPr>
                        <a:t>SIOPv2(Cross-Device Self-Issued OP)</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36425606"/>
                  </a:ext>
                </a:extLst>
              </a:tr>
              <a:tr h="188469">
                <a:tc vMerge="1">
                  <a:txBody>
                    <a:bodyPr/>
                    <a:lstStyle/>
                    <a:p>
                      <a:endParaRPr kumimoji="1" lang="ja-JP" altLang="en-US"/>
                    </a:p>
                  </a:txBody>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kern="1200" dirty="0">
                        <a:solidFill>
                          <a:schemeClr val="tx1"/>
                        </a:solidFill>
                        <a:latin typeface="+mn-ea"/>
                        <a:ea typeface="+mn-ea"/>
                        <a:cs typeface="+mn-cs"/>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kern="1200">
                          <a:solidFill>
                            <a:schemeClr val="tx1"/>
                          </a:solidFill>
                          <a:latin typeface="+mn-ea"/>
                          <a:ea typeface="+mn-ea"/>
                          <a:cs typeface="+mn-cs"/>
                          <a:hlinkClick r:id="rId8"/>
                        </a:rPr>
                        <a:t>CTAP v2.2(Hybrid transports)</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74204616"/>
                  </a:ext>
                </a:extLst>
              </a:tr>
              <a:tr h="238538">
                <a:tc rowSpan="4">
                  <a:txBody>
                    <a:bodyPr/>
                    <a:lstStyle/>
                    <a:p>
                      <a:r>
                        <a:rPr kumimoji="1" lang="ja-JP" altLang="en-US" sz="1400" b="1" dirty="0">
                          <a:solidFill>
                            <a:schemeClr val="accent1"/>
                          </a:solidFill>
                          <a:latin typeface="+mn-ea"/>
                          <a:ea typeface="+mn-ea"/>
                        </a:rPr>
                        <a:t>⑧</a:t>
                      </a:r>
                      <a:endParaRPr kumimoji="1" lang="en-US" altLang="ja-JP" sz="1400" b="1" dirty="0">
                        <a:solidFill>
                          <a:schemeClr val="accent1"/>
                        </a:solidFill>
                        <a:latin typeface="+mn-ea"/>
                        <a:ea typeface="+mn-ea"/>
                      </a:endParaRPr>
                    </a:p>
                    <a:p>
                      <a:r>
                        <a:rPr kumimoji="1" lang="en-US" altLang="ja-JP" sz="1400" b="1" dirty="0">
                          <a:solidFill>
                            <a:schemeClr val="accent1"/>
                          </a:solidFill>
                          <a:latin typeface="+mn-ea"/>
                          <a:ea typeface="+mn-ea"/>
                        </a:rPr>
                        <a:t>Control Recovery</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rowSpan="4">
                  <a:txBody>
                    <a:bodyPr/>
                    <a:lstStyle/>
                    <a:p>
                      <a:pPr marL="179388" indent="-179388">
                        <a:buFont typeface="Arial" panose="020B0604020202020204" pitchFamily="34" charset="0"/>
                        <a:buChar char="•"/>
                      </a:pPr>
                      <a:r>
                        <a:rPr kumimoji="1" lang="ja-JP" altLang="en-US" sz="1200" dirty="0">
                          <a:latin typeface="+mn-ea"/>
                          <a:ea typeface="+mn-ea"/>
                        </a:rPr>
                        <a:t>証明書やそれに関連する鍵情報などを</a:t>
                      </a:r>
                      <a:r>
                        <a:rPr kumimoji="1" lang="ja-JP" altLang="en-US" sz="1200" dirty="0">
                          <a:solidFill>
                            <a:schemeClr val="tx1"/>
                          </a:solidFill>
                          <a:latin typeface="+mn-ea"/>
                          <a:ea typeface="+mn-ea"/>
                        </a:rPr>
                        <a:t>紛失した</a:t>
                      </a:r>
                      <a:r>
                        <a:rPr kumimoji="1" lang="ja-JP" altLang="en-US" sz="1200" dirty="0">
                          <a:latin typeface="+mn-ea"/>
                          <a:ea typeface="+mn-ea"/>
                        </a:rPr>
                        <a:t>場合のリカバリ方法について定義</a:t>
                      </a:r>
                    </a:p>
                    <a:p>
                      <a:pPr marL="179388" indent="-179388">
                        <a:buFont typeface="Arial" panose="020B0604020202020204" pitchFamily="34" charset="0"/>
                        <a:buChar char="•"/>
                      </a:pPr>
                      <a:r>
                        <a:rPr kumimoji="1" lang="ja-JP" altLang="en-US" sz="1200" dirty="0">
                          <a:latin typeface="+mn-ea"/>
                          <a:ea typeface="+mn-ea"/>
                        </a:rPr>
                        <a:t>代表的な規格としてブロックチェーンのウォレットのバックアップ用として用いられる</a:t>
                      </a:r>
                      <a:r>
                        <a:rPr kumimoji="1" lang="en-US" altLang="ja-JP" sz="1200" dirty="0">
                          <a:latin typeface="+mn-ea"/>
                          <a:ea typeface="+mn-ea"/>
                        </a:rPr>
                        <a:t>BIP-39</a:t>
                      </a:r>
                      <a:r>
                        <a:rPr kumimoji="1" lang="ja-JP" altLang="en-US" sz="1200" dirty="0">
                          <a:latin typeface="+mn-ea"/>
                          <a:ea typeface="+mn-ea"/>
                        </a:rPr>
                        <a:t>や生体認証と組み合わせてバックアップする</a:t>
                      </a:r>
                      <a:r>
                        <a:rPr kumimoji="1" lang="en-US" altLang="ja-JP" sz="1200" dirty="0">
                          <a:latin typeface="+mn-ea"/>
                          <a:ea typeface="+mn-ea"/>
                        </a:rPr>
                        <a:t>Horcrux Protocol</a:t>
                      </a:r>
                      <a:r>
                        <a:rPr kumimoji="1" lang="ja-JP" altLang="en-US" sz="1200" dirty="0">
                          <a:latin typeface="+mn-ea"/>
                          <a:ea typeface="+mn-ea"/>
                        </a:rPr>
                        <a:t>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kumimoji="1" lang="en-US" altLang="ja-JP" sz="1000">
                          <a:latin typeface="+mn-ea"/>
                          <a:ea typeface="+mn-ea"/>
                          <a:hlinkClick r:id="rId9"/>
                        </a:rPr>
                        <a:t>BIP-39</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4750674"/>
                  </a:ext>
                </a:extLst>
              </a:tr>
              <a:tr h="238538">
                <a:tc vMerge="1">
                  <a:txBody>
                    <a:bodyPr/>
                    <a:lstStyle/>
                    <a:p>
                      <a:endParaRPr kumimoji="1" lang="ja-JP" altLang="en-US"/>
                    </a:p>
                  </a:txBody>
                  <a:tcPr/>
                </a:tc>
                <a:tc vMerge="1">
                  <a:txBody>
                    <a:bodyPr/>
                    <a:lstStyle/>
                    <a:p>
                      <a:pPr marL="85725" indent="-85725">
                        <a:buFont typeface="Arial" panose="020B0604020202020204" pitchFamily="34" charset="0"/>
                        <a:buChar char="•"/>
                      </a:pPr>
                      <a:endParaRPr kumimoji="1" lang="en-US" altLang="ja-JP" sz="110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a:latin typeface="+mn-ea"/>
                          <a:ea typeface="+mn-ea"/>
                          <a:hlinkClick r:id="rId10"/>
                        </a:rPr>
                        <a:t>DKMS</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18525167"/>
                  </a:ext>
                </a:extLst>
              </a:tr>
              <a:tr h="238538">
                <a:tc vMerge="1">
                  <a:txBody>
                    <a:bodyPr/>
                    <a:lstStyle/>
                    <a:p>
                      <a:endParaRPr kumimoji="1" lang="ja-JP" altLang="en-US"/>
                    </a:p>
                  </a:txBody>
                  <a:tcPr/>
                </a:tc>
                <a:tc vMerge="1">
                  <a:txBody>
                    <a:bodyPr/>
                    <a:lstStyle/>
                    <a:p>
                      <a:pPr marL="85725" indent="-85725">
                        <a:buFont typeface="Arial" panose="020B0604020202020204" pitchFamily="34" charset="0"/>
                        <a:buChar char="•"/>
                      </a:pPr>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indent="-85725">
                        <a:buFont typeface="Arial" panose="020B0604020202020204" pitchFamily="34" charset="0"/>
                        <a:buChar char="•"/>
                      </a:pPr>
                      <a:r>
                        <a:rPr kumimoji="1" lang="en-US" altLang="ja-JP" sz="1000">
                          <a:latin typeface="+mn-ea"/>
                          <a:ea typeface="+mn-ea"/>
                          <a:hlinkClick r:id="rId11"/>
                        </a:rPr>
                        <a:t>Horcrux Protocol</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11003889"/>
                  </a:ext>
                </a:extLst>
              </a:tr>
              <a:tr h="238538">
                <a:tc vMerge="1">
                  <a:txBody>
                    <a:bodyPr/>
                    <a:lstStyle/>
                    <a:p>
                      <a:endParaRPr kumimoji="1" lang="ja-JP" altLang="en-US"/>
                    </a:p>
                  </a:txBody>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a:latin typeface="+mn-ea"/>
                          <a:ea typeface="+mn-ea"/>
                          <a:hlinkClick r:id="rId12"/>
                        </a:rPr>
                        <a:t>Universal Wallet 2020</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76782487"/>
                  </a:ext>
                </a:extLst>
              </a:tr>
              <a:tr h="188015">
                <a:tc rowSpan="4">
                  <a:txBody>
                    <a:bodyPr/>
                    <a:lstStyle/>
                    <a:p>
                      <a:r>
                        <a:rPr kumimoji="1" lang="en-US" altLang="ja-JP" sz="1400" b="1" dirty="0">
                          <a:solidFill>
                            <a:schemeClr val="accent1"/>
                          </a:solidFill>
                          <a:latin typeface="+mn-ea"/>
                          <a:ea typeface="+mn-ea"/>
                        </a:rPr>
                        <a:t>⑨</a:t>
                      </a:r>
                    </a:p>
                    <a:p>
                      <a:r>
                        <a:rPr kumimoji="1" lang="en-US" altLang="ja-JP" sz="1400" b="1" dirty="0">
                          <a:solidFill>
                            <a:schemeClr val="accent1"/>
                          </a:solidFill>
                          <a:latin typeface="+mn-ea"/>
                          <a:ea typeface="+mn-ea"/>
                        </a:rPr>
                        <a:t>Key Operations</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rowSpan="4">
                  <a:txBody>
                    <a:bodyPr/>
                    <a:lstStyle/>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a:latin typeface="+mn-ea"/>
                          <a:ea typeface="+mn-ea"/>
                        </a:rPr>
                        <a:t>鍵情報をセキュアに格納する方式について定義</a:t>
                      </a:r>
                    </a:p>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a:latin typeface="+mn-ea"/>
                          <a:ea typeface="+mn-ea"/>
                        </a:rPr>
                        <a:t>代表的な規格としてハードウェアに鍵を格納する</a:t>
                      </a:r>
                      <a:r>
                        <a:rPr kumimoji="1" lang="en-US" altLang="ja-JP" sz="1200">
                          <a:latin typeface="+mn-ea"/>
                          <a:ea typeface="+mn-ea"/>
                        </a:rPr>
                        <a:t>Cloud/Local HSM</a:t>
                      </a:r>
                      <a:r>
                        <a:rPr kumimoji="1" lang="ja-JP" altLang="en-US" sz="1200">
                          <a:latin typeface="+mn-ea"/>
                          <a:ea typeface="+mn-ea"/>
                        </a:rPr>
                        <a:t>や</a:t>
                      </a:r>
                      <a:r>
                        <a:rPr kumimoji="1" lang="en-US" altLang="ja-JP" sz="1200">
                          <a:latin typeface="+mn-ea"/>
                          <a:ea typeface="+mn-ea"/>
                        </a:rPr>
                        <a:t>TEE Cips</a:t>
                      </a:r>
                      <a:r>
                        <a:rPr kumimoji="1" lang="ja-JP" altLang="en-US" sz="1200">
                          <a:latin typeface="+mn-ea"/>
                          <a:ea typeface="+mn-ea"/>
                        </a:rPr>
                        <a:t>等が挙げられる</a:t>
                      </a:r>
                      <a:endParaRPr kumimoji="1" lang="ja-JP" altLang="en-US" sz="12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tabLst>
                          <a:tab pos="85725" algn="l"/>
                        </a:tabLst>
                      </a:pPr>
                      <a:r>
                        <a:rPr kumimoji="1" lang="en-US" altLang="ja-JP" sz="1000">
                          <a:latin typeface="+mn-ea"/>
                          <a:ea typeface="+mn-ea"/>
                          <a:hlinkClick r:id="rId13"/>
                        </a:rPr>
                        <a:t>HSM(cloud/local)</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80238854"/>
                  </a:ext>
                </a:extLst>
              </a:tr>
              <a:tr h="188015">
                <a:tc vMerge="1">
                  <a:txBody>
                    <a:bodyPr/>
                    <a:lstStyle/>
                    <a:p>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indent="-85725">
                        <a:buFont typeface="Arial" panose="020B0604020202020204" pitchFamily="34" charset="0"/>
                        <a:buChar char="•"/>
                      </a:pPr>
                      <a:r>
                        <a:rPr kumimoji="1" lang="en-US" altLang="ja-JP" sz="1000">
                          <a:latin typeface="+mn-ea"/>
                          <a:ea typeface="+mn-ea"/>
                          <a:hlinkClick r:id="rId14"/>
                        </a:rPr>
                        <a:t>Secure Element</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48604802"/>
                  </a:ext>
                </a:extLst>
              </a:tr>
              <a:tr h="188015">
                <a:tc vMerge="1">
                  <a:txBody>
                    <a:bodyPr/>
                    <a:lstStyle/>
                    <a:p>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indent="-85725">
                        <a:buFont typeface="Arial" panose="020B0604020202020204" pitchFamily="34" charset="0"/>
                        <a:buChar char="•"/>
                      </a:pPr>
                      <a:r>
                        <a:rPr kumimoji="1" lang="en-US" altLang="ja-JP" sz="1000">
                          <a:latin typeface="+mn-ea"/>
                          <a:ea typeface="+mn-ea"/>
                          <a:hlinkClick r:id="rId15"/>
                        </a:rPr>
                        <a:t>TEE Chips</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7040531"/>
                  </a:ext>
                </a:extLst>
              </a:tr>
              <a:tr h="188015">
                <a:tc vMerge="1">
                  <a:txBody>
                    <a:bodyPr/>
                    <a:lstStyle/>
                    <a:p>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a:latin typeface="+mn-ea"/>
                          <a:ea typeface="+mn-ea"/>
                          <a:hlinkClick r:id="rId16"/>
                        </a:rPr>
                        <a:t>Smart Cards</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88530436"/>
                  </a:ext>
                </a:extLst>
              </a:tr>
              <a:tr h="596621">
                <a:tc>
                  <a:txBody>
                    <a:bodyPr/>
                    <a:lstStyle/>
                    <a:p>
                      <a:r>
                        <a:rPr kumimoji="1" lang="ja-JP" altLang="en-US" sz="1400" b="1" dirty="0">
                          <a:solidFill>
                            <a:schemeClr val="accent1"/>
                          </a:solidFill>
                          <a:latin typeface="+mn-ea"/>
                          <a:ea typeface="+mn-ea"/>
                        </a:rPr>
                        <a:t>⑩</a:t>
                      </a:r>
                      <a:endParaRPr kumimoji="1" lang="en-US" altLang="ja-JP" sz="1400" b="1" dirty="0">
                        <a:solidFill>
                          <a:schemeClr val="accent1"/>
                        </a:solidFill>
                        <a:latin typeface="+mn-ea"/>
                        <a:ea typeface="+mn-ea"/>
                      </a:endParaRPr>
                    </a:p>
                    <a:p>
                      <a:r>
                        <a:rPr kumimoji="1" lang="en-US" altLang="ja-JP" sz="1400" b="1" dirty="0">
                          <a:solidFill>
                            <a:schemeClr val="accent1"/>
                          </a:solidFill>
                          <a:latin typeface="+mn-ea"/>
                          <a:ea typeface="+mn-ea"/>
                        </a:rPr>
                        <a:t>Meta data</a:t>
                      </a:r>
                    </a:p>
                    <a:p>
                      <a:r>
                        <a:rPr kumimoji="1" lang="en-US" altLang="ja-JP" sz="1400" b="1" dirty="0">
                          <a:solidFill>
                            <a:schemeClr val="accent1"/>
                          </a:solidFill>
                          <a:latin typeface="+mn-ea"/>
                          <a:ea typeface="+mn-ea"/>
                        </a:rPr>
                        <a:t>Portability</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a:latin typeface="+mn-ea"/>
                          <a:ea typeface="+mn-ea"/>
                        </a:rPr>
                        <a:t>エージェント間でデータを運搬する方式について定義</a:t>
                      </a:r>
                    </a:p>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a:latin typeface="+mn-ea"/>
                          <a:ea typeface="+mn-ea"/>
                        </a:rPr>
                        <a:t>代表的な規格として</a:t>
                      </a:r>
                      <a:r>
                        <a:rPr kumimoji="1" lang="en-US" altLang="ja-JP" sz="1200">
                          <a:latin typeface="+mn-ea"/>
                          <a:ea typeface="+mn-ea"/>
                        </a:rPr>
                        <a:t>W3C</a:t>
                      </a:r>
                      <a:r>
                        <a:rPr kumimoji="1" lang="ja-JP" altLang="en-US" sz="1200">
                          <a:latin typeface="+mn-ea"/>
                          <a:ea typeface="+mn-ea"/>
                        </a:rPr>
                        <a:t>で定義している</a:t>
                      </a:r>
                      <a:r>
                        <a:rPr kumimoji="1" lang="en-US" altLang="ja-JP" sz="1200">
                          <a:latin typeface="+mn-ea"/>
                          <a:ea typeface="+mn-ea"/>
                        </a:rPr>
                        <a:t>Universal Wallet 2020</a:t>
                      </a:r>
                      <a:r>
                        <a:rPr kumimoji="1" lang="ja-JP" altLang="en-US" sz="1200">
                          <a:latin typeface="+mn-ea"/>
                          <a:ea typeface="+mn-ea"/>
                        </a:rPr>
                        <a:t>が挙げられる</a:t>
                      </a:r>
                      <a:endParaRPr kumimoji="1" lang="ja-JP" altLang="en-US" sz="12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000" dirty="0">
                          <a:latin typeface="+mn-ea"/>
                          <a:ea typeface="+mn-ea"/>
                          <a:hlinkClick r:id="rId12"/>
                        </a:rPr>
                        <a:t>Universal Wallet 2020</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41096125"/>
                  </a:ext>
                </a:extLst>
              </a:tr>
            </a:tbl>
          </a:graphicData>
        </a:graphic>
      </p:graphicFrame>
      <p:grpSp>
        <p:nvGrpSpPr>
          <p:cNvPr id="3" name="グループ化 2">
            <a:extLst>
              <a:ext uri="{FF2B5EF4-FFF2-40B4-BE49-F238E27FC236}">
                <a16:creationId xmlns:a16="http://schemas.microsoft.com/office/drawing/2014/main" id="{96CCA4F5-1D6C-1643-BE0A-069971F9EBA4}"/>
              </a:ext>
            </a:extLst>
          </p:cNvPr>
          <p:cNvGrpSpPr/>
          <p:nvPr/>
        </p:nvGrpSpPr>
        <p:grpSpPr>
          <a:xfrm>
            <a:off x="5867005" y="137240"/>
            <a:ext cx="2322246" cy="301997"/>
            <a:chOff x="5867005" y="137240"/>
            <a:chExt cx="2322246" cy="552560"/>
          </a:xfrm>
        </p:grpSpPr>
        <p:sp>
          <p:nvSpPr>
            <p:cNvPr id="6" name="正方形/長方形 5">
              <a:extLst>
                <a:ext uri="{FF2B5EF4-FFF2-40B4-BE49-F238E27FC236}">
                  <a16:creationId xmlns:a16="http://schemas.microsoft.com/office/drawing/2014/main" id="{24D16ACB-B34E-76B2-E179-1499CEF3944C}"/>
                </a:ext>
              </a:extLst>
            </p:cNvPr>
            <p:cNvSpPr/>
            <p:nvPr/>
          </p:nvSpPr>
          <p:spPr>
            <a:xfrm>
              <a:off x="5867005" y="511582"/>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Public Trust Layer</a:t>
              </a:r>
              <a:endParaRPr lang="ja-JP" altLang="en-US" sz="800" dirty="0">
                <a:solidFill>
                  <a:schemeClr val="tx2"/>
                </a:solidFill>
              </a:endParaRPr>
            </a:p>
          </p:txBody>
        </p:sp>
        <p:sp>
          <p:nvSpPr>
            <p:cNvPr id="7" name="正方形/長方形 6">
              <a:extLst>
                <a:ext uri="{FF2B5EF4-FFF2-40B4-BE49-F238E27FC236}">
                  <a16:creationId xmlns:a16="http://schemas.microsoft.com/office/drawing/2014/main" id="{BFBDD810-5297-BDCD-7592-7A81583C8F9E}"/>
                </a:ext>
              </a:extLst>
            </p:cNvPr>
            <p:cNvSpPr/>
            <p:nvPr/>
          </p:nvSpPr>
          <p:spPr>
            <a:xfrm>
              <a:off x="5867005" y="324411"/>
              <a:ext cx="1554312" cy="178218"/>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Agent Layer</a:t>
              </a:r>
              <a:endParaRPr lang="ja-JP" altLang="en-US" sz="800" b="1" dirty="0">
                <a:solidFill>
                  <a:schemeClr val="accent1"/>
                </a:solidFill>
              </a:endParaRPr>
            </a:p>
          </p:txBody>
        </p:sp>
        <p:sp>
          <p:nvSpPr>
            <p:cNvPr id="9" name="正方形/長方形 8">
              <a:extLst>
                <a:ext uri="{FF2B5EF4-FFF2-40B4-BE49-F238E27FC236}">
                  <a16:creationId xmlns:a16="http://schemas.microsoft.com/office/drawing/2014/main" id="{6640EED0-C279-60B7-BA57-64FEA11F20CB}"/>
                </a:ext>
              </a:extLst>
            </p:cNvPr>
            <p:cNvSpPr/>
            <p:nvPr/>
          </p:nvSpPr>
          <p:spPr>
            <a:xfrm>
              <a:off x="5867005" y="137240"/>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Credential Layer</a:t>
              </a:r>
              <a:endParaRPr lang="ja-JP" altLang="en-US" sz="800" dirty="0">
                <a:solidFill>
                  <a:schemeClr val="tx2"/>
                </a:solidFill>
              </a:endParaRPr>
            </a:p>
          </p:txBody>
        </p:sp>
        <p:sp>
          <p:nvSpPr>
            <p:cNvPr id="10" name="正方形/長方形 9">
              <a:extLst>
                <a:ext uri="{FF2B5EF4-FFF2-40B4-BE49-F238E27FC236}">
                  <a16:creationId xmlns:a16="http://schemas.microsoft.com/office/drawing/2014/main" id="{4A8FA94F-9600-DF30-6CAA-7B90A3E976CB}"/>
                </a:ext>
              </a:extLst>
            </p:cNvPr>
            <p:cNvSpPr/>
            <p:nvPr/>
          </p:nvSpPr>
          <p:spPr>
            <a:xfrm>
              <a:off x="7424690" y="137240"/>
              <a:ext cx="764561" cy="55256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Vertical / </a:t>
              </a:r>
            </a:p>
            <a:p>
              <a:pPr algn="ctr"/>
              <a:r>
                <a:rPr lang="en-US" altLang="ja-JP" sz="800" dirty="0">
                  <a:solidFill>
                    <a:schemeClr val="tx2"/>
                  </a:solidFill>
                </a:rPr>
                <a:t>Cross-cutting</a:t>
              </a:r>
              <a:endParaRPr lang="ja-JP" altLang="en-US" sz="800" dirty="0">
                <a:solidFill>
                  <a:schemeClr val="tx2"/>
                </a:solidFill>
              </a:endParaRPr>
            </a:p>
          </p:txBody>
        </p:sp>
      </p:grpSp>
      <p:sp>
        <p:nvSpPr>
          <p:cNvPr id="5" name="コンテンツ プレースホルダー 2">
            <a:extLst>
              <a:ext uri="{FF2B5EF4-FFF2-40B4-BE49-F238E27FC236}">
                <a16:creationId xmlns:a16="http://schemas.microsoft.com/office/drawing/2014/main" id="{69DB94C7-567A-49AA-B5B5-F364627B3250}"/>
              </a:ext>
            </a:extLst>
          </p:cNvPr>
          <p:cNvSpPr>
            <a:spLocks noGrp="1"/>
          </p:cNvSpPr>
          <p:nvPr>
            <p:ph idx="1"/>
          </p:nvPr>
        </p:nvSpPr>
        <p:spPr>
          <a:xfrm>
            <a:off x="273050" y="927444"/>
            <a:ext cx="9359900" cy="215444"/>
          </a:xfrm>
        </p:spPr>
        <p:txBody>
          <a:bodyPr/>
          <a:lstStyle/>
          <a:p>
            <a:r>
              <a:rPr lang="en-US" altLang="ja-JP" dirty="0"/>
              <a:t>(</a:t>
            </a:r>
            <a:r>
              <a:rPr lang="ja-JP" altLang="en-US" dirty="0"/>
              <a:t>続き</a:t>
            </a:r>
            <a:r>
              <a:rPr lang="en-US" altLang="ja-JP" dirty="0"/>
              <a:t>)</a:t>
            </a:r>
            <a:endParaRPr kumimoji="1" lang="en-US" altLang="ja-JP" dirty="0"/>
          </a:p>
        </p:txBody>
      </p:sp>
    </p:spTree>
    <p:extLst>
      <p:ext uri="{BB962C8B-B14F-4D97-AF65-F5344CB8AC3E}">
        <p14:creationId xmlns:p14="http://schemas.microsoft.com/office/powerpoint/2010/main" val="2135103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2C0AAF36-CFC9-82AE-1DCB-E100984BBC27}"/>
              </a:ext>
            </a:extLst>
          </p:cNvPr>
          <p:cNvSpPr>
            <a:spLocks noGrp="1"/>
          </p:cNvSpPr>
          <p:nvPr>
            <p:ph type="body" sz="quarter" idx="10"/>
          </p:nvPr>
        </p:nvSpPr>
        <p:spPr>
          <a:xfrm>
            <a:off x="273050" y="188913"/>
            <a:ext cx="7848600" cy="161583"/>
          </a:xfrm>
        </p:spPr>
        <p:txBody>
          <a:bodyPr/>
          <a:lstStyle/>
          <a:p>
            <a:r>
              <a:rPr kumimoji="1" lang="en-US" altLang="zh-TW" dirty="0"/>
              <a:t>4. </a:t>
            </a:r>
            <a:r>
              <a:rPr kumimoji="1" lang="zh-TW" altLang="en-US" dirty="0"/>
              <a:t>規格実態調査</a:t>
            </a:r>
          </a:p>
        </p:txBody>
      </p:sp>
      <p:sp>
        <p:nvSpPr>
          <p:cNvPr id="5" name="四角形: 角を丸くする 4">
            <a:extLst>
              <a:ext uri="{FF2B5EF4-FFF2-40B4-BE49-F238E27FC236}">
                <a16:creationId xmlns:a16="http://schemas.microsoft.com/office/drawing/2014/main" id="{2E4E71CD-8F88-B5D9-07F1-9776671A4A4E}"/>
              </a:ext>
            </a:extLst>
          </p:cNvPr>
          <p:cNvSpPr/>
          <p:nvPr/>
        </p:nvSpPr>
        <p:spPr bwMode="gray">
          <a:xfrm>
            <a:off x="4062226" y="1807413"/>
            <a:ext cx="1783533" cy="434404"/>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　ウォレット</a:t>
            </a:r>
          </a:p>
        </p:txBody>
      </p:sp>
      <p:sp>
        <p:nvSpPr>
          <p:cNvPr id="6" name="正方形/長方形 5">
            <a:extLst>
              <a:ext uri="{FF2B5EF4-FFF2-40B4-BE49-F238E27FC236}">
                <a16:creationId xmlns:a16="http://schemas.microsoft.com/office/drawing/2014/main" id="{5A87E275-31D0-07B8-DB4E-85C6A9B6145A}"/>
              </a:ext>
            </a:extLst>
          </p:cNvPr>
          <p:cNvSpPr/>
          <p:nvPr/>
        </p:nvSpPr>
        <p:spPr bwMode="gray">
          <a:xfrm>
            <a:off x="1489759" y="2686282"/>
            <a:ext cx="1783533" cy="646346"/>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発行者</a:t>
            </a:r>
            <a:endParaRPr lang="en-US" altLang="ja-JP" sz="1200" dirty="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(Issuer)</a:t>
            </a:r>
          </a:p>
        </p:txBody>
      </p:sp>
      <p:sp>
        <p:nvSpPr>
          <p:cNvPr id="7" name="正方形/長方形 6">
            <a:extLst>
              <a:ext uri="{FF2B5EF4-FFF2-40B4-BE49-F238E27FC236}">
                <a16:creationId xmlns:a16="http://schemas.microsoft.com/office/drawing/2014/main" id="{98CBD5AF-CA1D-09EC-871E-5957907234C9}"/>
              </a:ext>
            </a:extLst>
          </p:cNvPr>
          <p:cNvSpPr/>
          <p:nvPr/>
        </p:nvSpPr>
        <p:spPr bwMode="gray">
          <a:xfrm>
            <a:off x="6656742" y="2686282"/>
            <a:ext cx="1783533" cy="646346"/>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検証者</a:t>
            </a:r>
            <a:endParaRPr lang="en-US" altLang="ja-JP" sz="1200" dirty="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(Verifier)</a:t>
            </a:r>
          </a:p>
        </p:txBody>
      </p:sp>
      <p:sp>
        <p:nvSpPr>
          <p:cNvPr id="8" name="正方形/長方形 7">
            <a:extLst>
              <a:ext uri="{FF2B5EF4-FFF2-40B4-BE49-F238E27FC236}">
                <a16:creationId xmlns:a16="http://schemas.microsoft.com/office/drawing/2014/main" id="{A3A075F2-8542-D04C-079A-727122157964}"/>
              </a:ext>
            </a:extLst>
          </p:cNvPr>
          <p:cNvSpPr/>
          <p:nvPr/>
        </p:nvSpPr>
        <p:spPr bwMode="gray">
          <a:xfrm>
            <a:off x="4062226" y="2686282"/>
            <a:ext cx="1783533" cy="646346"/>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所有者</a:t>
            </a:r>
            <a:endParaRPr lang="en-US" altLang="ja-JP" sz="1200" dirty="0">
              <a:solidFill>
                <a:prstClr val="black"/>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(Holder)</a:t>
            </a:r>
          </a:p>
        </p:txBody>
      </p:sp>
      <p:sp>
        <p:nvSpPr>
          <p:cNvPr id="9" name="正方形/長方形 8">
            <a:extLst>
              <a:ext uri="{FF2B5EF4-FFF2-40B4-BE49-F238E27FC236}">
                <a16:creationId xmlns:a16="http://schemas.microsoft.com/office/drawing/2014/main" id="{F34D2DAA-FC2B-E376-985F-3411406D7987}"/>
              </a:ext>
            </a:extLst>
          </p:cNvPr>
          <p:cNvSpPr/>
          <p:nvPr/>
        </p:nvSpPr>
        <p:spPr bwMode="gray">
          <a:xfrm>
            <a:off x="4062226" y="4330929"/>
            <a:ext cx="1783533" cy="642796"/>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b="1" dirty="0">
                <a:solidFill>
                  <a:srgbClr val="AB7942"/>
                </a:solidFill>
                <a:latin typeface="Calibri Light"/>
                <a:ea typeface="Yu Gothic UI"/>
                <a:cs typeface="Arial" charset="0"/>
              </a:rPr>
              <a:t>⑭ 検証可能データレジストリ</a:t>
            </a:r>
            <a:endParaRPr lang="en-US" altLang="ja-JP" sz="1200" b="1" dirty="0">
              <a:solidFill>
                <a:srgbClr val="AB7942"/>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b="1" dirty="0">
                <a:solidFill>
                  <a:srgbClr val="AB7942"/>
                </a:solidFill>
                <a:latin typeface="Calibri Light"/>
                <a:ea typeface="Yu Gothic UI"/>
                <a:cs typeface="Arial" charset="0"/>
              </a:rPr>
              <a:t>(Verifiable Data Registry)</a:t>
            </a:r>
          </a:p>
        </p:txBody>
      </p:sp>
      <p:cxnSp>
        <p:nvCxnSpPr>
          <p:cNvPr id="10" name="直線矢印コネクタ 9">
            <a:extLst>
              <a:ext uri="{FF2B5EF4-FFF2-40B4-BE49-F238E27FC236}">
                <a16:creationId xmlns:a16="http://schemas.microsoft.com/office/drawing/2014/main" id="{F85A7AAF-1BA0-A61E-FF32-C913BF3C26D7}"/>
              </a:ext>
            </a:extLst>
          </p:cNvPr>
          <p:cNvCxnSpPr>
            <a:cxnSpLocks/>
            <a:stCxn id="8" idx="2"/>
            <a:endCxn id="9" idx="0"/>
          </p:cNvCxnSpPr>
          <p:nvPr/>
        </p:nvCxnSpPr>
        <p:spPr bwMode="gray">
          <a:xfrm>
            <a:off x="4953993" y="3332628"/>
            <a:ext cx="0" cy="998301"/>
          </a:xfrm>
          <a:prstGeom prst="straightConnector1">
            <a:avLst/>
          </a:prstGeom>
          <a:noFill/>
          <a:ln w="12700" cap="flat" cmpd="sng" algn="ctr">
            <a:solidFill>
              <a:srgbClr val="53565A"/>
            </a:solidFill>
            <a:prstDash val="solid"/>
            <a:tailEnd type="triangle"/>
          </a:ln>
          <a:effectLst/>
        </p:spPr>
      </p:cxnSp>
      <p:cxnSp>
        <p:nvCxnSpPr>
          <p:cNvPr id="11" name="コネクタ: カギ線 10">
            <a:extLst>
              <a:ext uri="{FF2B5EF4-FFF2-40B4-BE49-F238E27FC236}">
                <a16:creationId xmlns:a16="http://schemas.microsoft.com/office/drawing/2014/main" id="{F8F3AC72-CDF2-7D8E-2B82-9E42B52A3408}"/>
              </a:ext>
            </a:extLst>
          </p:cNvPr>
          <p:cNvCxnSpPr>
            <a:cxnSpLocks/>
            <a:stCxn id="6" idx="2"/>
            <a:endCxn id="9" idx="1"/>
          </p:cNvCxnSpPr>
          <p:nvPr/>
        </p:nvCxnSpPr>
        <p:spPr bwMode="gray">
          <a:xfrm rot="16200000" flipH="1">
            <a:off x="2562027" y="3152127"/>
            <a:ext cx="1319699" cy="1680700"/>
          </a:xfrm>
          <a:prstGeom prst="bentConnector2">
            <a:avLst/>
          </a:prstGeom>
          <a:noFill/>
          <a:ln w="12700" cap="flat" cmpd="sng" algn="ctr">
            <a:solidFill>
              <a:srgbClr val="53565A"/>
            </a:solidFill>
            <a:prstDash val="solid"/>
            <a:tailEnd type="triangle"/>
          </a:ln>
          <a:effectLst/>
        </p:spPr>
      </p:cxnSp>
      <p:sp>
        <p:nvSpPr>
          <p:cNvPr id="12" name="テキスト ボックス 11">
            <a:extLst>
              <a:ext uri="{FF2B5EF4-FFF2-40B4-BE49-F238E27FC236}">
                <a16:creationId xmlns:a16="http://schemas.microsoft.com/office/drawing/2014/main" id="{BD5EF2D6-7958-F7D4-26E5-74088A2F560C}"/>
              </a:ext>
            </a:extLst>
          </p:cNvPr>
          <p:cNvSpPr txBox="1"/>
          <p:nvPr/>
        </p:nvSpPr>
        <p:spPr bwMode="gray">
          <a:xfrm>
            <a:off x="5614915" y="3344086"/>
            <a:ext cx="1272671" cy="184666"/>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クレデンシャルの提示</a:t>
            </a:r>
          </a:p>
        </p:txBody>
      </p:sp>
      <p:cxnSp>
        <p:nvCxnSpPr>
          <p:cNvPr id="13" name="直線矢印コネクタ 12">
            <a:extLst>
              <a:ext uri="{FF2B5EF4-FFF2-40B4-BE49-F238E27FC236}">
                <a16:creationId xmlns:a16="http://schemas.microsoft.com/office/drawing/2014/main" id="{5863411D-5384-F777-4A3E-E94F79342E61}"/>
              </a:ext>
            </a:extLst>
          </p:cNvPr>
          <p:cNvCxnSpPr>
            <a:cxnSpLocks/>
            <a:stCxn id="6" idx="3"/>
            <a:endCxn id="8" idx="1"/>
          </p:cNvCxnSpPr>
          <p:nvPr/>
        </p:nvCxnSpPr>
        <p:spPr bwMode="gray">
          <a:xfrm>
            <a:off x="3273292" y="3009455"/>
            <a:ext cx="788934" cy="0"/>
          </a:xfrm>
          <a:prstGeom prst="straightConnector1">
            <a:avLst/>
          </a:prstGeom>
          <a:noFill/>
          <a:ln w="12700" cap="flat" cmpd="sng" algn="ctr">
            <a:solidFill>
              <a:srgbClr val="53565A"/>
            </a:solidFill>
            <a:prstDash val="solid"/>
            <a:tailEnd type="triangle"/>
          </a:ln>
          <a:effectLst/>
        </p:spPr>
      </p:cxnSp>
      <p:cxnSp>
        <p:nvCxnSpPr>
          <p:cNvPr id="14" name="直線矢印コネクタ 13">
            <a:extLst>
              <a:ext uri="{FF2B5EF4-FFF2-40B4-BE49-F238E27FC236}">
                <a16:creationId xmlns:a16="http://schemas.microsoft.com/office/drawing/2014/main" id="{0EAA021B-6915-62EB-B53B-A6297C973C20}"/>
              </a:ext>
            </a:extLst>
          </p:cNvPr>
          <p:cNvCxnSpPr>
            <a:cxnSpLocks/>
            <a:stCxn id="8" idx="3"/>
            <a:endCxn id="7" idx="1"/>
          </p:cNvCxnSpPr>
          <p:nvPr/>
        </p:nvCxnSpPr>
        <p:spPr bwMode="gray">
          <a:xfrm>
            <a:off x="5845759" y="3009455"/>
            <a:ext cx="810983" cy="0"/>
          </a:xfrm>
          <a:prstGeom prst="straightConnector1">
            <a:avLst/>
          </a:prstGeom>
          <a:noFill/>
          <a:ln w="12700" cap="flat" cmpd="sng" algn="ctr">
            <a:solidFill>
              <a:srgbClr val="53565A"/>
            </a:solidFill>
            <a:prstDash val="solid"/>
            <a:tailEnd type="triangle"/>
          </a:ln>
          <a:effectLst/>
        </p:spPr>
      </p:cxnSp>
      <p:sp>
        <p:nvSpPr>
          <p:cNvPr id="15" name="テキスト ボックス 14">
            <a:extLst>
              <a:ext uri="{FF2B5EF4-FFF2-40B4-BE49-F238E27FC236}">
                <a16:creationId xmlns:a16="http://schemas.microsoft.com/office/drawing/2014/main" id="{F0D2C521-17DB-3298-7CFE-F2C37A8957E0}"/>
              </a:ext>
            </a:extLst>
          </p:cNvPr>
          <p:cNvSpPr txBox="1"/>
          <p:nvPr/>
        </p:nvSpPr>
        <p:spPr bwMode="gray">
          <a:xfrm>
            <a:off x="3020581" y="3333271"/>
            <a:ext cx="1278752" cy="184666"/>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クレデンシャルの発行</a:t>
            </a:r>
          </a:p>
        </p:txBody>
      </p:sp>
      <p:sp>
        <p:nvSpPr>
          <p:cNvPr id="16" name="テキスト ボックス 15">
            <a:extLst>
              <a:ext uri="{FF2B5EF4-FFF2-40B4-BE49-F238E27FC236}">
                <a16:creationId xmlns:a16="http://schemas.microsoft.com/office/drawing/2014/main" id="{5A8A1182-F5C8-6EEB-EFD0-55DF6A7A9CA6}"/>
              </a:ext>
            </a:extLst>
          </p:cNvPr>
          <p:cNvSpPr txBox="1"/>
          <p:nvPr/>
        </p:nvSpPr>
        <p:spPr bwMode="gray">
          <a:xfrm>
            <a:off x="4356602" y="2362103"/>
            <a:ext cx="1250342" cy="184666"/>
          </a:xfrm>
          <a:prstGeom prst="rect">
            <a:avLst/>
          </a:prstGeom>
          <a:noFill/>
        </p:spPr>
        <p:txBody>
          <a:bodyPr wrap="non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Calibri Light"/>
                <a:ea typeface="Yu Gothic UI"/>
                <a:cs typeface="Arial" charset="0"/>
              </a:rPr>
              <a:t>クレデンシャルの保存</a:t>
            </a:r>
          </a:p>
        </p:txBody>
      </p:sp>
      <p:cxnSp>
        <p:nvCxnSpPr>
          <p:cNvPr id="17" name="直線コネクタ 16">
            <a:extLst>
              <a:ext uri="{FF2B5EF4-FFF2-40B4-BE49-F238E27FC236}">
                <a16:creationId xmlns:a16="http://schemas.microsoft.com/office/drawing/2014/main" id="{6CEAB937-F012-1549-6FF1-CC2B84714EED}"/>
              </a:ext>
            </a:extLst>
          </p:cNvPr>
          <p:cNvCxnSpPr>
            <a:cxnSpLocks/>
            <a:stCxn id="5" idx="2"/>
            <a:endCxn id="8" idx="0"/>
          </p:cNvCxnSpPr>
          <p:nvPr/>
        </p:nvCxnSpPr>
        <p:spPr bwMode="gray">
          <a:xfrm>
            <a:off x="4953993" y="2241817"/>
            <a:ext cx="0" cy="444465"/>
          </a:xfrm>
          <a:prstGeom prst="line">
            <a:avLst/>
          </a:prstGeom>
          <a:noFill/>
          <a:ln w="12700" cap="flat" cmpd="sng" algn="ctr">
            <a:solidFill>
              <a:srgbClr val="53565A"/>
            </a:solidFill>
            <a:prstDash val="dash"/>
          </a:ln>
          <a:effectLst/>
        </p:spPr>
      </p:cxnSp>
      <p:sp>
        <p:nvSpPr>
          <p:cNvPr id="18" name="四角形: 角を丸くする 17">
            <a:extLst>
              <a:ext uri="{FF2B5EF4-FFF2-40B4-BE49-F238E27FC236}">
                <a16:creationId xmlns:a16="http://schemas.microsoft.com/office/drawing/2014/main" id="{E8279561-B8F2-D27D-4F56-7B1BCD96AFEC}"/>
              </a:ext>
            </a:extLst>
          </p:cNvPr>
          <p:cNvSpPr/>
          <p:nvPr/>
        </p:nvSpPr>
        <p:spPr bwMode="gray">
          <a:xfrm>
            <a:off x="821224" y="4154500"/>
            <a:ext cx="1337069" cy="1686239"/>
          </a:xfrm>
          <a:prstGeom prst="roundRect">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Calibri Light"/>
                <a:ea typeface="Yu Gothic UI"/>
                <a:cs typeface="Arial" charset="0"/>
              </a:rPr>
              <a:t>Verifiable Credentials</a:t>
            </a: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19" name="正方形/長方形 18">
            <a:extLst>
              <a:ext uri="{FF2B5EF4-FFF2-40B4-BE49-F238E27FC236}">
                <a16:creationId xmlns:a16="http://schemas.microsoft.com/office/drawing/2014/main" id="{54E197C4-4019-CF38-4ED9-0240CC160667}"/>
              </a:ext>
            </a:extLst>
          </p:cNvPr>
          <p:cNvSpPr/>
          <p:nvPr/>
        </p:nvSpPr>
        <p:spPr bwMode="gray">
          <a:xfrm>
            <a:off x="920106" y="4646931"/>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Credential Metadata</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20" name="正方形/長方形 19">
            <a:extLst>
              <a:ext uri="{FF2B5EF4-FFF2-40B4-BE49-F238E27FC236}">
                <a16:creationId xmlns:a16="http://schemas.microsoft.com/office/drawing/2014/main" id="{6D59557C-798C-FE96-2117-86BCDA03FEA7}"/>
              </a:ext>
            </a:extLst>
          </p:cNvPr>
          <p:cNvSpPr/>
          <p:nvPr/>
        </p:nvSpPr>
        <p:spPr bwMode="gray">
          <a:xfrm>
            <a:off x="920106" y="5010428"/>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Claim(s)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21" name="正方形/長方形 20">
            <a:extLst>
              <a:ext uri="{FF2B5EF4-FFF2-40B4-BE49-F238E27FC236}">
                <a16:creationId xmlns:a16="http://schemas.microsoft.com/office/drawing/2014/main" id="{60730F36-E9F8-3FB1-8B1C-F193F6F97BB4}"/>
              </a:ext>
            </a:extLst>
          </p:cNvPr>
          <p:cNvSpPr/>
          <p:nvPr/>
        </p:nvSpPr>
        <p:spPr bwMode="gray">
          <a:xfrm>
            <a:off x="920106" y="5363754"/>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Proof(s)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22" name="四角形: 角を丸くする 21">
            <a:extLst>
              <a:ext uri="{FF2B5EF4-FFF2-40B4-BE49-F238E27FC236}">
                <a16:creationId xmlns:a16="http://schemas.microsoft.com/office/drawing/2014/main" id="{51869D34-0A32-74BF-0CBE-E896EDF0F070}"/>
              </a:ext>
            </a:extLst>
          </p:cNvPr>
          <p:cNvSpPr/>
          <p:nvPr/>
        </p:nvSpPr>
        <p:spPr bwMode="gray">
          <a:xfrm>
            <a:off x="7765927" y="4185119"/>
            <a:ext cx="1337069" cy="1686239"/>
          </a:xfrm>
          <a:prstGeom prst="roundRect">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1" i="0" u="none" strike="noStrike" kern="0" cap="none" spc="0" normalizeH="0" baseline="0" noProof="0">
                <a:ln>
                  <a:noFill/>
                </a:ln>
                <a:solidFill>
                  <a:prstClr val="white"/>
                </a:solidFill>
                <a:effectLst/>
                <a:uLnTx/>
                <a:uFillTx/>
                <a:latin typeface="Calibri Light"/>
                <a:ea typeface="Yu Gothic UI"/>
                <a:cs typeface="Arial" charset="0"/>
              </a:rPr>
              <a:t>Verifiable Presentation</a:t>
            </a: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23" name="正方形/長方形 22">
            <a:extLst>
              <a:ext uri="{FF2B5EF4-FFF2-40B4-BE49-F238E27FC236}">
                <a16:creationId xmlns:a16="http://schemas.microsoft.com/office/drawing/2014/main" id="{46686450-274B-D3C7-67E9-C503A6F656C9}"/>
              </a:ext>
            </a:extLst>
          </p:cNvPr>
          <p:cNvSpPr/>
          <p:nvPr/>
        </p:nvSpPr>
        <p:spPr bwMode="gray">
          <a:xfrm>
            <a:off x="7902517" y="4677550"/>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Presentation Metadata</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24" name="正方形/長方形 23">
            <a:extLst>
              <a:ext uri="{FF2B5EF4-FFF2-40B4-BE49-F238E27FC236}">
                <a16:creationId xmlns:a16="http://schemas.microsoft.com/office/drawing/2014/main" id="{056D7396-6609-9432-C684-FF1ED72DACF4}"/>
              </a:ext>
            </a:extLst>
          </p:cNvPr>
          <p:cNvSpPr/>
          <p:nvPr/>
        </p:nvSpPr>
        <p:spPr bwMode="gray">
          <a:xfrm>
            <a:off x="7902517" y="5049514"/>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Verifiable Credential(s)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25" name="正方形/長方形 24">
            <a:extLst>
              <a:ext uri="{FF2B5EF4-FFF2-40B4-BE49-F238E27FC236}">
                <a16:creationId xmlns:a16="http://schemas.microsoft.com/office/drawing/2014/main" id="{F5FA8E8C-230B-0555-64C5-95A670AC34A4}"/>
              </a:ext>
            </a:extLst>
          </p:cNvPr>
          <p:cNvSpPr/>
          <p:nvPr/>
        </p:nvSpPr>
        <p:spPr bwMode="gray">
          <a:xfrm>
            <a:off x="7902517" y="5394373"/>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Proof(s)</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26" name="正方形/長方形 25">
            <a:extLst>
              <a:ext uri="{FF2B5EF4-FFF2-40B4-BE49-F238E27FC236}">
                <a16:creationId xmlns:a16="http://schemas.microsoft.com/office/drawing/2014/main" id="{FC068987-C3D1-2412-0D0E-81222FDF8C12}"/>
              </a:ext>
            </a:extLst>
          </p:cNvPr>
          <p:cNvSpPr/>
          <p:nvPr/>
        </p:nvSpPr>
        <p:spPr bwMode="gray">
          <a:xfrm>
            <a:off x="4068767" y="2695419"/>
            <a:ext cx="161372" cy="161372"/>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a:solidFill>
                <a:prstClr val="black"/>
              </a:solidFill>
              <a:latin typeface="Calibri Light"/>
              <a:ea typeface="Yu Gothic UI"/>
              <a:cs typeface="Arial" charset="0"/>
            </a:endParaRPr>
          </a:p>
        </p:txBody>
      </p:sp>
      <p:cxnSp>
        <p:nvCxnSpPr>
          <p:cNvPr id="27" name="コネクタ: 曲線 26">
            <a:extLst>
              <a:ext uri="{FF2B5EF4-FFF2-40B4-BE49-F238E27FC236}">
                <a16:creationId xmlns:a16="http://schemas.microsoft.com/office/drawing/2014/main" id="{8F7F169B-7130-E6B0-C4FE-07837842C3A2}"/>
              </a:ext>
            </a:extLst>
          </p:cNvPr>
          <p:cNvCxnSpPr>
            <a:cxnSpLocks/>
            <a:stCxn id="26" idx="1"/>
            <a:endCxn id="26" idx="0"/>
          </p:cNvCxnSpPr>
          <p:nvPr/>
        </p:nvCxnSpPr>
        <p:spPr bwMode="gray">
          <a:xfrm rot="10800000" flipH="1">
            <a:off x="4068767" y="2695419"/>
            <a:ext cx="80686" cy="80686"/>
          </a:xfrm>
          <a:prstGeom prst="curvedConnector4">
            <a:avLst>
              <a:gd name="adj1" fmla="val -283321"/>
              <a:gd name="adj2" fmla="val 383321"/>
            </a:avLst>
          </a:prstGeom>
          <a:noFill/>
          <a:ln w="12700" cap="flat" cmpd="sng" algn="ctr">
            <a:solidFill>
              <a:srgbClr val="53565A"/>
            </a:solidFill>
            <a:prstDash val="solid"/>
            <a:tailEnd type="triangle"/>
          </a:ln>
          <a:effectLst/>
        </p:spPr>
      </p:cxnSp>
      <p:cxnSp>
        <p:nvCxnSpPr>
          <p:cNvPr id="28" name="直線コネクタ 27">
            <a:extLst>
              <a:ext uri="{FF2B5EF4-FFF2-40B4-BE49-F238E27FC236}">
                <a16:creationId xmlns:a16="http://schemas.microsoft.com/office/drawing/2014/main" id="{1020E383-004E-B467-AEA9-A27411077FB1}"/>
              </a:ext>
            </a:extLst>
          </p:cNvPr>
          <p:cNvCxnSpPr>
            <a:cxnSpLocks/>
            <a:endCxn id="15" idx="2"/>
          </p:cNvCxnSpPr>
          <p:nvPr/>
        </p:nvCxnSpPr>
        <p:spPr bwMode="gray">
          <a:xfrm flipV="1">
            <a:off x="2077198" y="3517937"/>
            <a:ext cx="1582759" cy="636562"/>
          </a:xfrm>
          <a:prstGeom prst="line">
            <a:avLst/>
          </a:prstGeom>
          <a:noFill/>
          <a:ln w="12700" cap="flat" cmpd="sng" algn="ctr">
            <a:solidFill>
              <a:srgbClr val="53565A"/>
            </a:solidFill>
            <a:prstDash val="sysDot"/>
          </a:ln>
          <a:effectLst/>
        </p:spPr>
      </p:cxnSp>
      <p:cxnSp>
        <p:nvCxnSpPr>
          <p:cNvPr id="29" name="直線コネクタ 28">
            <a:extLst>
              <a:ext uri="{FF2B5EF4-FFF2-40B4-BE49-F238E27FC236}">
                <a16:creationId xmlns:a16="http://schemas.microsoft.com/office/drawing/2014/main" id="{66301D19-121F-D0F8-C59A-EECFCF63848D}"/>
              </a:ext>
            </a:extLst>
          </p:cNvPr>
          <p:cNvCxnSpPr>
            <a:cxnSpLocks/>
            <a:endCxn id="12" idx="2"/>
          </p:cNvCxnSpPr>
          <p:nvPr/>
        </p:nvCxnSpPr>
        <p:spPr bwMode="gray">
          <a:xfrm flipH="1" flipV="1">
            <a:off x="6251251" y="3528752"/>
            <a:ext cx="1661183" cy="656367"/>
          </a:xfrm>
          <a:prstGeom prst="line">
            <a:avLst/>
          </a:prstGeom>
          <a:noFill/>
          <a:ln w="12700" cap="flat" cmpd="sng" algn="ctr">
            <a:solidFill>
              <a:srgbClr val="53565A"/>
            </a:solidFill>
            <a:prstDash val="sysDot"/>
          </a:ln>
          <a:effectLst/>
        </p:spPr>
      </p:cxnSp>
      <p:sp>
        <p:nvSpPr>
          <p:cNvPr id="30" name="正方形/長方形 29">
            <a:extLst>
              <a:ext uri="{FF2B5EF4-FFF2-40B4-BE49-F238E27FC236}">
                <a16:creationId xmlns:a16="http://schemas.microsoft.com/office/drawing/2014/main" id="{D5393803-88B9-94BD-C26C-56DDD1390B49}"/>
              </a:ext>
            </a:extLst>
          </p:cNvPr>
          <p:cNvSpPr/>
          <p:nvPr/>
        </p:nvSpPr>
        <p:spPr bwMode="gray">
          <a:xfrm>
            <a:off x="4289681" y="1894829"/>
            <a:ext cx="341270" cy="115285"/>
          </a:xfrm>
          <a:prstGeom prst="rect">
            <a:avLst/>
          </a:prstGeom>
          <a:no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700" err="1">
                <a:solidFill>
                  <a:prstClr val="black"/>
                </a:solidFill>
                <a:latin typeface="Calibri Light"/>
                <a:ea typeface="Yu Gothic UI"/>
                <a:cs typeface="Arial" charset="0"/>
              </a:rPr>
              <a:t>SKey</a:t>
            </a:r>
            <a:endParaRPr lang="ja-JP" altLang="en-US" sz="700">
              <a:solidFill>
                <a:prstClr val="black"/>
              </a:solidFill>
              <a:latin typeface="Calibri Light"/>
              <a:ea typeface="Yu Gothic UI"/>
              <a:cs typeface="Arial" charset="0"/>
            </a:endParaRPr>
          </a:p>
        </p:txBody>
      </p:sp>
      <p:sp>
        <p:nvSpPr>
          <p:cNvPr id="31" name="正方形/長方形 30">
            <a:extLst>
              <a:ext uri="{FF2B5EF4-FFF2-40B4-BE49-F238E27FC236}">
                <a16:creationId xmlns:a16="http://schemas.microsoft.com/office/drawing/2014/main" id="{8A70F858-FD73-2138-7845-CC8C4EB83DC5}"/>
              </a:ext>
            </a:extLst>
          </p:cNvPr>
          <p:cNvSpPr/>
          <p:nvPr/>
        </p:nvSpPr>
        <p:spPr bwMode="gray">
          <a:xfrm>
            <a:off x="4289681" y="2044554"/>
            <a:ext cx="341270" cy="115285"/>
          </a:xfrm>
          <a:prstGeom prst="rect">
            <a:avLst/>
          </a:prstGeom>
          <a:no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700">
                <a:solidFill>
                  <a:prstClr val="black"/>
                </a:solidFill>
                <a:latin typeface="Calibri Light"/>
                <a:ea typeface="Yu Gothic UI"/>
                <a:cs typeface="Arial" charset="0"/>
              </a:rPr>
              <a:t>VC</a:t>
            </a:r>
            <a:endParaRPr lang="ja-JP" altLang="en-US" sz="700">
              <a:solidFill>
                <a:prstClr val="black"/>
              </a:solidFill>
              <a:latin typeface="Calibri Light"/>
              <a:ea typeface="Yu Gothic UI"/>
              <a:cs typeface="Arial" charset="0"/>
            </a:endParaRPr>
          </a:p>
        </p:txBody>
      </p:sp>
      <p:sp>
        <p:nvSpPr>
          <p:cNvPr id="32" name="正方形/長方形 31">
            <a:extLst>
              <a:ext uri="{FF2B5EF4-FFF2-40B4-BE49-F238E27FC236}">
                <a16:creationId xmlns:a16="http://schemas.microsoft.com/office/drawing/2014/main" id="{1EC4E8E1-BF71-15AA-0A06-95208CDE2765}"/>
              </a:ext>
            </a:extLst>
          </p:cNvPr>
          <p:cNvSpPr/>
          <p:nvPr/>
        </p:nvSpPr>
        <p:spPr bwMode="gray">
          <a:xfrm>
            <a:off x="4142132" y="1856093"/>
            <a:ext cx="513629" cy="345910"/>
          </a:xfrm>
          <a:prstGeom prst="rect">
            <a:avLst/>
          </a:prstGeom>
          <a:noFill/>
          <a:ln w="12700" algn="ctr">
            <a:solidFill>
              <a:srgbClr val="BBBCBC"/>
            </a:solidFill>
            <a:miter lim="800000"/>
            <a:headEnd/>
            <a:tailEnd/>
          </a:ln>
        </p:spPr>
        <p:txBody>
          <a:bodyPr rot="0" spcFirstLastPara="0" vertOverflow="overflow" horzOverflow="overflow" vert="horz" wrap="square" lIns="36000" tIns="0" rIns="108000" bIns="0" numCol="1" spcCol="0" rtlCol="0" fromWordArt="0" anchor="ctr" anchorCtr="0" forceAA="0" compatLnSpc="1">
            <a:prstTxWarp prst="textNoShape">
              <a:avLst/>
            </a:prstTxWarp>
            <a:no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700">
                <a:solidFill>
                  <a:prstClr val="black"/>
                </a:solidFill>
                <a:latin typeface="Calibri Light"/>
                <a:ea typeface="Yu Gothic UI"/>
                <a:cs typeface="Arial" charset="0"/>
              </a:rPr>
              <a:t>SE</a:t>
            </a:r>
            <a:endParaRPr lang="ja-JP" altLang="en-US" sz="700">
              <a:solidFill>
                <a:prstClr val="black"/>
              </a:solidFill>
              <a:latin typeface="Calibri Light"/>
              <a:ea typeface="Yu Gothic UI"/>
              <a:cs typeface="Arial" charset="0"/>
            </a:endParaRPr>
          </a:p>
        </p:txBody>
      </p:sp>
      <p:sp>
        <p:nvSpPr>
          <p:cNvPr id="33" name="四角形: 角を丸くする 32">
            <a:extLst>
              <a:ext uri="{FF2B5EF4-FFF2-40B4-BE49-F238E27FC236}">
                <a16:creationId xmlns:a16="http://schemas.microsoft.com/office/drawing/2014/main" id="{D522155C-4B6D-A24E-B15F-F3181581571B}"/>
              </a:ext>
            </a:extLst>
          </p:cNvPr>
          <p:cNvSpPr/>
          <p:nvPr/>
        </p:nvSpPr>
        <p:spPr bwMode="gray">
          <a:xfrm>
            <a:off x="4349284" y="5043093"/>
            <a:ext cx="1337069" cy="1084900"/>
          </a:xfrm>
          <a:prstGeom prst="roundRect">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Calibri Light"/>
                <a:ea typeface="Yu Gothic UI"/>
                <a:cs typeface="Arial" charset="0"/>
              </a:rPr>
              <a:t>DID Document</a:t>
            </a: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34" name="正方形/長方形 33">
            <a:extLst>
              <a:ext uri="{FF2B5EF4-FFF2-40B4-BE49-F238E27FC236}">
                <a16:creationId xmlns:a16="http://schemas.microsoft.com/office/drawing/2014/main" id="{A12178D8-7FC2-72C7-20D8-11675AA75BC9}"/>
              </a:ext>
            </a:extLst>
          </p:cNvPr>
          <p:cNvSpPr/>
          <p:nvPr/>
        </p:nvSpPr>
        <p:spPr bwMode="gray">
          <a:xfrm>
            <a:off x="4476758" y="5274455"/>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Verification Method</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35" name="正方形/長方形 34">
            <a:extLst>
              <a:ext uri="{FF2B5EF4-FFF2-40B4-BE49-F238E27FC236}">
                <a16:creationId xmlns:a16="http://schemas.microsoft.com/office/drawing/2014/main" id="{C148AE4A-A6EC-6742-8060-D8D0B70D06E2}"/>
              </a:ext>
            </a:extLst>
          </p:cNvPr>
          <p:cNvSpPr/>
          <p:nvPr/>
        </p:nvSpPr>
        <p:spPr bwMode="gray">
          <a:xfrm>
            <a:off x="4478243" y="5676712"/>
            <a:ext cx="1082120" cy="365542"/>
          </a:xfrm>
          <a:prstGeom prst="rect">
            <a:avLst/>
          </a:prstGeom>
          <a:solidFill>
            <a:sysClr val="window" lastClr="FFFFFF"/>
          </a:solidFill>
          <a:ln w="25400" cap="flat" cmpd="sng" algn="ctr">
            <a:solidFill>
              <a:srgbClr val="007CB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Public Key</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36" name="フリーフォーム: 図形 35">
            <a:extLst>
              <a:ext uri="{FF2B5EF4-FFF2-40B4-BE49-F238E27FC236}">
                <a16:creationId xmlns:a16="http://schemas.microsoft.com/office/drawing/2014/main" id="{9F9F8F9F-8C0C-D618-769B-418D2607D9A6}"/>
              </a:ext>
            </a:extLst>
          </p:cNvPr>
          <p:cNvSpPr/>
          <p:nvPr/>
        </p:nvSpPr>
        <p:spPr bwMode="gray">
          <a:xfrm>
            <a:off x="3331849" y="3867236"/>
            <a:ext cx="3327400" cy="1570181"/>
          </a:xfrm>
          <a:custGeom>
            <a:avLst/>
            <a:gdLst>
              <a:gd name="connsiteX0" fmla="*/ 0 w 3592945"/>
              <a:gd name="connsiteY0" fmla="*/ 240145 h 1754909"/>
              <a:gd name="connsiteX1" fmla="*/ 0 w 3592945"/>
              <a:gd name="connsiteY1" fmla="*/ 1560945 h 1754909"/>
              <a:gd name="connsiteX2" fmla="*/ 480291 w 3592945"/>
              <a:gd name="connsiteY2" fmla="*/ 1560945 h 1754909"/>
              <a:gd name="connsiteX3" fmla="*/ 480291 w 3592945"/>
              <a:gd name="connsiteY3" fmla="*/ 424872 h 1754909"/>
              <a:gd name="connsiteX4" fmla="*/ 2715491 w 3592945"/>
              <a:gd name="connsiteY4" fmla="*/ 424872 h 1754909"/>
              <a:gd name="connsiteX5" fmla="*/ 2715491 w 3592945"/>
              <a:gd name="connsiteY5" fmla="*/ 1754909 h 1754909"/>
              <a:gd name="connsiteX6" fmla="*/ 2817091 w 3592945"/>
              <a:gd name="connsiteY6" fmla="*/ 1745672 h 1754909"/>
              <a:gd name="connsiteX7" fmla="*/ 3592945 w 3592945"/>
              <a:gd name="connsiteY7" fmla="*/ 1745672 h 1754909"/>
              <a:gd name="connsiteX8" fmla="*/ 3592945 w 3592945"/>
              <a:gd name="connsiteY8" fmla="*/ 0 h 1754909"/>
              <a:gd name="connsiteX9" fmla="*/ 193964 w 3592945"/>
              <a:gd name="connsiteY9" fmla="*/ 0 h 1754909"/>
              <a:gd name="connsiteX0" fmla="*/ 0 w 3592945"/>
              <a:gd name="connsiteY0" fmla="*/ 0 h 1764145"/>
              <a:gd name="connsiteX1" fmla="*/ 0 w 3592945"/>
              <a:gd name="connsiteY1" fmla="*/ 1570181 h 1764145"/>
              <a:gd name="connsiteX2" fmla="*/ 480291 w 3592945"/>
              <a:gd name="connsiteY2" fmla="*/ 1570181 h 1764145"/>
              <a:gd name="connsiteX3" fmla="*/ 480291 w 3592945"/>
              <a:gd name="connsiteY3" fmla="*/ 434108 h 1764145"/>
              <a:gd name="connsiteX4" fmla="*/ 2715491 w 3592945"/>
              <a:gd name="connsiteY4" fmla="*/ 434108 h 1764145"/>
              <a:gd name="connsiteX5" fmla="*/ 2715491 w 3592945"/>
              <a:gd name="connsiteY5" fmla="*/ 1764145 h 1764145"/>
              <a:gd name="connsiteX6" fmla="*/ 2817091 w 3592945"/>
              <a:gd name="connsiteY6" fmla="*/ 1754908 h 1764145"/>
              <a:gd name="connsiteX7" fmla="*/ 3592945 w 3592945"/>
              <a:gd name="connsiteY7" fmla="*/ 1754908 h 1764145"/>
              <a:gd name="connsiteX8" fmla="*/ 3592945 w 3592945"/>
              <a:gd name="connsiteY8" fmla="*/ 9236 h 1764145"/>
              <a:gd name="connsiteX9" fmla="*/ 193964 w 3592945"/>
              <a:gd name="connsiteY9" fmla="*/ 9236 h 1764145"/>
              <a:gd name="connsiteX0" fmla="*/ 0 w 3592945"/>
              <a:gd name="connsiteY0" fmla="*/ 0 h 1764145"/>
              <a:gd name="connsiteX1" fmla="*/ 0 w 3592945"/>
              <a:gd name="connsiteY1" fmla="*/ 1570181 h 1764145"/>
              <a:gd name="connsiteX2" fmla="*/ 480291 w 3592945"/>
              <a:gd name="connsiteY2" fmla="*/ 1570181 h 1764145"/>
              <a:gd name="connsiteX3" fmla="*/ 480291 w 3592945"/>
              <a:gd name="connsiteY3" fmla="*/ 434108 h 1764145"/>
              <a:gd name="connsiteX4" fmla="*/ 2715491 w 3592945"/>
              <a:gd name="connsiteY4" fmla="*/ 434108 h 1764145"/>
              <a:gd name="connsiteX5" fmla="*/ 2715491 w 3592945"/>
              <a:gd name="connsiteY5" fmla="*/ 1764145 h 1764145"/>
              <a:gd name="connsiteX6" fmla="*/ 2817091 w 3592945"/>
              <a:gd name="connsiteY6" fmla="*/ 1754908 h 1764145"/>
              <a:gd name="connsiteX7" fmla="*/ 3592945 w 3592945"/>
              <a:gd name="connsiteY7" fmla="*/ 1754908 h 1764145"/>
              <a:gd name="connsiteX8" fmla="*/ 3592945 w 3592945"/>
              <a:gd name="connsiteY8" fmla="*/ 9236 h 1764145"/>
              <a:gd name="connsiteX9" fmla="*/ 27710 w 3592945"/>
              <a:gd name="connsiteY9" fmla="*/ 9236 h 1764145"/>
              <a:gd name="connsiteX0" fmla="*/ 0 w 3592945"/>
              <a:gd name="connsiteY0" fmla="*/ 0 h 1754908"/>
              <a:gd name="connsiteX1" fmla="*/ 0 w 3592945"/>
              <a:gd name="connsiteY1" fmla="*/ 1570181 h 1754908"/>
              <a:gd name="connsiteX2" fmla="*/ 480291 w 3592945"/>
              <a:gd name="connsiteY2" fmla="*/ 1570181 h 1754908"/>
              <a:gd name="connsiteX3" fmla="*/ 480291 w 3592945"/>
              <a:gd name="connsiteY3" fmla="*/ 434108 h 1754908"/>
              <a:gd name="connsiteX4" fmla="*/ 2715491 w 3592945"/>
              <a:gd name="connsiteY4" fmla="*/ 434108 h 1754908"/>
              <a:gd name="connsiteX5" fmla="*/ 2715491 w 3592945"/>
              <a:gd name="connsiteY5" fmla="*/ 1551708 h 1754908"/>
              <a:gd name="connsiteX6" fmla="*/ 2817091 w 3592945"/>
              <a:gd name="connsiteY6" fmla="*/ 1754908 h 1754908"/>
              <a:gd name="connsiteX7" fmla="*/ 3592945 w 3592945"/>
              <a:gd name="connsiteY7" fmla="*/ 1754908 h 1754908"/>
              <a:gd name="connsiteX8" fmla="*/ 3592945 w 3592945"/>
              <a:gd name="connsiteY8" fmla="*/ 9236 h 1754908"/>
              <a:gd name="connsiteX9" fmla="*/ 27710 w 3592945"/>
              <a:gd name="connsiteY9" fmla="*/ 9236 h 1754908"/>
              <a:gd name="connsiteX0" fmla="*/ 0 w 3592945"/>
              <a:gd name="connsiteY0" fmla="*/ 0 h 1754908"/>
              <a:gd name="connsiteX1" fmla="*/ 0 w 3592945"/>
              <a:gd name="connsiteY1" fmla="*/ 1570181 h 1754908"/>
              <a:gd name="connsiteX2" fmla="*/ 480291 w 3592945"/>
              <a:gd name="connsiteY2" fmla="*/ 1570181 h 1754908"/>
              <a:gd name="connsiteX3" fmla="*/ 480291 w 3592945"/>
              <a:gd name="connsiteY3" fmla="*/ 434108 h 1754908"/>
              <a:gd name="connsiteX4" fmla="*/ 2715491 w 3592945"/>
              <a:gd name="connsiteY4" fmla="*/ 434108 h 1754908"/>
              <a:gd name="connsiteX5" fmla="*/ 2715491 w 3592945"/>
              <a:gd name="connsiteY5" fmla="*/ 1551708 h 1754908"/>
              <a:gd name="connsiteX6" fmla="*/ 2890982 w 3592945"/>
              <a:gd name="connsiteY6" fmla="*/ 1551708 h 1754908"/>
              <a:gd name="connsiteX7" fmla="*/ 3592945 w 3592945"/>
              <a:gd name="connsiteY7" fmla="*/ 1754908 h 1754908"/>
              <a:gd name="connsiteX8" fmla="*/ 3592945 w 3592945"/>
              <a:gd name="connsiteY8" fmla="*/ 9236 h 1754908"/>
              <a:gd name="connsiteX9" fmla="*/ 27710 w 3592945"/>
              <a:gd name="connsiteY9" fmla="*/ 9236 h 1754908"/>
              <a:gd name="connsiteX0" fmla="*/ 0 w 3592945"/>
              <a:gd name="connsiteY0" fmla="*/ 0 h 1754908"/>
              <a:gd name="connsiteX1" fmla="*/ 0 w 3592945"/>
              <a:gd name="connsiteY1" fmla="*/ 1570181 h 1754908"/>
              <a:gd name="connsiteX2" fmla="*/ 480291 w 3592945"/>
              <a:gd name="connsiteY2" fmla="*/ 1570181 h 1754908"/>
              <a:gd name="connsiteX3" fmla="*/ 480291 w 3592945"/>
              <a:gd name="connsiteY3" fmla="*/ 434108 h 1754908"/>
              <a:gd name="connsiteX4" fmla="*/ 2715491 w 3592945"/>
              <a:gd name="connsiteY4" fmla="*/ 434108 h 1754908"/>
              <a:gd name="connsiteX5" fmla="*/ 2752436 w 3592945"/>
              <a:gd name="connsiteY5" fmla="*/ 1551708 h 1754908"/>
              <a:gd name="connsiteX6" fmla="*/ 2890982 w 3592945"/>
              <a:gd name="connsiteY6" fmla="*/ 1551708 h 1754908"/>
              <a:gd name="connsiteX7" fmla="*/ 3592945 w 3592945"/>
              <a:gd name="connsiteY7" fmla="*/ 1754908 h 1754908"/>
              <a:gd name="connsiteX8" fmla="*/ 3592945 w 3592945"/>
              <a:gd name="connsiteY8" fmla="*/ 9236 h 1754908"/>
              <a:gd name="connsiteX9" fmla="*/ 27710 w 3592945"/>
              <a:gd name="connsiteY9" fmla="*/ 9236 h 1754908"/>
              <a:gd name="connsiteX0" fmla="*/ 0 w 3611417"/>
              <a:gd name="connsiteY0" fmla="*/ 0 h 1579417"/>
              <a:gd name="connsiteX1" fmla="*/ 0 w 3611417"/>
              <a:gd name="connsiteY1" fmla="*/ 1570181 h 1579417"/>
              <a:gd name="connsiteX2" fmla="*/ 480291 w 3611417"/>
              <a:gd name="connsiteY2" fmla="*/ 1570181 h 1579417"/>
              <a:gd name="connsiteX3" fmla="*/ 480291 w 3611417"/>
              <a:gd name="connsiteY3" fmla="*/ 434108 h 1579417"/>
              <a:gd name="connsiteX4" fmla="*/ 2715491 w 3611417"/>
              <a:gd name="connsiteY4" fmla="*/ 434108 h 1579417"/>
              <a:gd name="connsiteX5" fmla="*/ 2752436 w 3611417"/>
              <a:gd name="connsiteY5" fmla="*/ 1551708 h 1579417"/>
              <a:gd name="connsiteX6" fmla="*/ 2890982 w 3611417"/>
              <a:gd name="connsiteY6" fmla="*/ 1551708 h 1579417"/>
              <a:gd name="connsiteX7" fmla="*/ 3611417 w 3611417"/>
              <a:gd name="connsiteY7" fmla="*/ 1579417 h 1579417"/>
              <a:gd name="connsiteX8" fmla="*/ 3592945 w 3611417"/>
              <a:gd name="connsiteY8" fmla="*/ 9236 h 1579417"/>
              <a:gd name="connsiteX9" fmla="*/ 27710 w 3611417"/>
              <a:gd name="connsiteY9" fmla="*/ 9236 h 1579417"/>
              <a:gd name="connsiteX0" fmla="*/ 0 w 3611417"/>
              <a:gd name="connsiteY0" fmla="*/ 0 h 1579417"/>
              <a:gd name="connsiteX1" fmla="*/ 0 w 3611417"/>
              <a:gd name="connsiteY1" fmla="*/ 1570181 h 1579417"/>
              <a:gd name="connsiteX2" fmla="*/ 480291 w 3611417"/>
              <a:gd name="connsiteY2" fmla="*/ 1570181 h 1579417"/>
              <a:gd name="connsiteX3" fmla="*/ 480291 w 3611417"/>
              <a:gd name="connsiteY3" fmla="*/ 434108 h 1579417"/>
              <a:gd name="connsiteX4" fmla="*/ 2715491 w 3611417"/>
              <a:gd name="connsiteY4" fmla="*/ 434108 h 1579417"/>
              <a:gd name="connsiteX5" fmla="*/ 2890982 w 3611417"/>
              <a:gd name="connsiteY5" fmla="*/ 1551708 h 1579417"/>
              <a:gd name="connsiteX6" fmla="*/ 3611417 w 3611417"/>
              <a:gd name="connsiteY6" fmla="*/ 1579417 h 1579417"/>
              <a:gd name="connsiteX7" fmla="*/ 3592945 w 3611417"/>
              <a:gd name="connsiteY7" fmla="*/ 9236 h 1579417"/>
              <a:gd name="connsiteX8" fmla="*/ 27710 w 3611417"/>
              <a:gd name="connsiteY8" fmla="*/ 9236 h 1579417"/>
              <a:gd name="connsiteX0" fmla="*/ 0 w 3611417"/>
              <a:gd name="connsiteY0" fmla="*/ 0 h 1579417"/>
              <a:gd name="connsiteX1" fmla="*/ 0 w 3611417"/>
              <a:gd name="connsiteY1" fmla="*/ 1570181 h 1579417"/>
              <a:gd name="connsiteX2" fmla="*/ 480291 w 3611417"/>
              <a:gd name="connsiteY2" fmla="*/ 1570181 h 1579417"/>
              <a:gd name="connsiteX3" fmla="*/ 480291 w 3611417"/>
              <a:gd name="connsiteY3" fmla="*/ 434108 h 1579417"/>
              <a:gd name="connsiteX4" fmla="*/ 2715491 w 3611417"/>
              <a:gd name="connsiteY4" fmla="*/ 434108 h 1579417"/>
              <a:gd name="connsiteX5" fmla="*/ 2724727 w 3611417"/>
              <a:gd name="connsiteY5" fmla="*/ 1551708 h 1579417"/>
              <a:gd name="connsiteX6" fmla="*/ 3611417 w 3611417"/>
              <a:gd name="connsiteY6" fmla="*/ 1579417 h 1579417"/>
              <a:gd name="connsiteX7" fmla="*/ 3592945 w 3611417"/>
              <a:gd name="connsiteY7" fmla="*/ 9236 h 1579417"/>
              <a:gd name="connsiteX8" fmla="*/ 27710 w 3611417"/>
              <a:gd name="connsiteY8" fmla="*/ 9236 h 1579417"/>
              <a:gd name="connsiteX0" fmla="*/ 0 w 3592945"/>
              <a:gd name="connsiteY0" fmla="*/ 0 h 1570181"/>
              <a:gd name="connsiteX1" fmla="*/ 0 w 3592945"/>
              <a:gd name="connsiteY1" fmla="*/ 1570181 h 1570181"/>
              <a:gd name="connsiteX2" fmla="*/ 480291 w 3592945"/>
              <a:gd name="connsiteY2" fmla="*/ 1570181 h 1570181"/>
              <a:gd name="connsiteX3" fmla="*/ 480291 w 3592945"/>
              <a:gd name="connsiteY3" fmla="*/ 434108 h 1570181"/>
              <a:gd name="connsiteX4" fmla="*/ 2715491 w 3592945"/>
              <a:gd name="connsiteY4" fmla="*/ 434108 h 1570181"/>
              <a:gd name="connsiteX5" fmla="*/ 2724727 w 3592945"/>
              <a:gd name="connsiteY5" fmla="*/ 1551708 h 1570181"/>
              <a:gd name="connsiteX6" fmla="*/ 3297380 w 3592945"/>
              <a:gd name="connsiteY6" fmla="*/ 1551708 h 1570181"/>
              <a:gd name="connsiteX7" fmla="*/ 3592945 w 3592945"/>
              <a:gd name="connsiteY7" fmla="*/ 9236 h 1570181"/>
              <a:gd name="connsiteX8" fmla="*/ 27710 w 3592945"/>
              <a:gd name="connsiteY8" fmla="*/ 9236 h 1570181"/>
              <a:gd name="connsiteX0" fmla="*/ 0 w 3297380"/>
              <a:gd name="connsiteY0" fmla="*/ 0 h 1570181"/>
              <a:gd name="connsiteX1" fmla="*/ 0 w 3297380"/>
              <a:gd name="connsiteY1" fmla="*/ 1570181 h 1570181"/>
              <a:gd name="connsiteX2" fmla="*/ 480291 w 3297380"/>
              <a:gd name="connsiteY2" fmla="*/ 1570181 h 1570181"/>
              <a:gd name="connsiteX3" fmla="*/ 480291 w 3297380"/>
              <a:gd name="connsiteY3" fmla="*/ 434108 h 1570181"/>
              <a:gd name="connsiteX4" fmla="*/ 2715491 w 3297380"/>
              <a:gd name="connsiteY4" fmla="*/ 434108 h 1570181"/>
              <a:gd name="connsiteX5" fmla="*/ 2724727 w 3297380"/>
              <a:gd name="connsiteY5" fmla="*/ 1551708 h 1570181"/>
              <a:gd name="connsiteX6" fmla="*/ 3297380 w 3297380"/>
              <a:gd name="connsiteY6" fmla="*/ 1551708 h 1570181"/>
              <a:gd name="connsiteX7" fmla="*/ 3269672 w 3297380"/>
              <a:gd name="connsiteY7" fmla="*/ 9236 h 1570181"/>
              <a:gd name="connsiteX8" fmla="*/ 27710 w 3297380"/>
              <a:gd name="connsiteY8" fmla="*/ 9236 h 1570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97380" h="1570181">
                <a:moveTo>
                  <a:pt x="0" y="0"/>
                </a:moveTo>
                <a:lnTo>
                  <a:pt x="0" y="1570181"/>
                </a:lnTo>
                <a:lnTo>
                  <a:pt x="480291" y="1570181"/>
                </a:lnTo>
                <a:lnTo>
                  <a:pt x="480291" y="434108"/>
                </a:lnTo>
                <a:lnTo>
                  <a:pt x="2715491" y="434108"/>
                </a:lnTo>
                <a:cubicBezTo>
                  <a:pt x="2718570" y="806641"/>
                  <a:pt x="2721648" y="1179175"/>
                  <a:pt x="2724727" y="1551708"/>
                </a:cubicBezTo>
                <a:lnTo>
                  <a:pt x="3297380" y="1551708"/>
                </a:lnTo>
                <a:lnTo>
                  <a:pt x="3269672" y="9236"/>
                </a:lnTo>
                <a:lnTo>
                  <a:pt x="27710" y="9236"/>
                </a:lnTo>
              </a:path>
            </a:pathLst>
          </a:custGeom>
          <a:noFill/>
          <a:ln w="28575" algn="ctr">
            <a:solidFill>
              <a:schemeClr val="accent1"/>
            </a:solidFill>
            <a:prstDash val="sys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37" name="テキスト ボックス 36">
            <a:extLst>
              <a:ext uri="{FF2B5EF4-FFF2-40B4-BE49-F238E27FC236}">
                <a16:creationId xmlns:a16="http://schemas.microsoft.com/office/drawing/2014/main" id="{A1EDC057-C71F-1C34-78D3-4AB6CEABDAA1}"/>
              </a:ext>
            </a:extLst>
          </p:cNvPr>
          <p:cNvSpPr txBox="1"/>
          <p:nvPr/>
        </p:nvSpPr>
        <p:spPr bwMode="gray">
          <a:xfrm>
            <a:off x="3636543" y="4033495"/>
            <a:ext cx="1337069" cy="184666"/>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r>
              <a:rPr lang="ja-JP" altLang="en-US" dirty="0">
                <a:solidFill>
                  <a:srgbClr val="AB7942"/>
                </a:solidFill>
                <a:latin typeface="Calibri Light"/>
                <a:ea typeface="Yu Gothic UI"/>
              </a:rPr>
              <a:t>⑫</a:t>
            </a:r>
            <a:r>
              <a:rPr lang="en-US" altLang="ja-JP" dirty="0">
                <a:solidFill>
                  <a:srgbClr val="AB7942"/>
                </a:solidFill>
                <a:latin typeface="Calibri Light"/>
                <a:ea typeface="Yu Gothic UI"/>
              </a:rPr>
              <a:t> </a:t>
            </a:r>
            <a:r>
              <a:rPr lang="ja-JP" altLang="en-US" dirty="0">
                <a:solidFill>
                  <a:srgbClr val="AB7942"/>
                </a:solidFill>
                <a:latin typeface="Calibri Light"/>
                <a:ea typeface="Yu Gothic UI"/>
              </a:rPr>
              <a:t>スケーリング</a:t>
            </a:r>
          </a:p>
        </p:txBody>
      </p:sp>
      <p:sp>
        <p:nvSpPr>
          <p:cNvPr id="38" name="矢印: 下 37">
            <a:extLst>
              <a:ext uri="{FF2B5EF4-FFF2-40B4-BE49-F238E27FC236}">
                <a16:creationId xmlns:a16="http://schemas.microsoft.com/office/drawing/2014/main" id="{BC49E68D-95B9-EFC4-6A94-E33ACEFA5CD6}"/>
              </a:ext>
            </a:extLst>
          </p:cNvPr>
          <p:cNvSpPr/>
          <p:nvPr/>
        </p:nvSpPr>
        <p:spPr bwMode="gray">
          <a:xfrm>
            <a:off x="4820643" y="3332627"/>
            <a:ext cx="281787" cy="960202"/>
          </a:xfrm>
          <a:prstGeom prst="downArrow">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39" name="矢印: 上向き折線 38">
            <a:extLst>
              <a:ext uri="{FF2B5EF4-FFF2-40B4-BE49-F238E27FC236}">
                <a16:creationId xmlns:a16="http://schemas.microsoft.com/office/drawing/2014/main" id="{82D40E9A-A285-2098-3491-581501BD789F}"/>
              </a:ext>
            </a:extLst>
          </p:cNvPr>
          <p:cNvSpPr/>
          <p:nvPr/>
        </p:nvSpPr>
        <p:spPr bwMode="gray">
          <a:xfrm rot="5400000">
            <a:off x="2421855" y="3186624"/>
            <a:ext cx="1534635" cy="1826641"/>
          </a:xfrm>
          <a:prstGeom prst="bentUpArrow">
            <a:avLst>
              <a:gd name="adj1" fmla="val 8529"/>
              <a:gd name="adj2" fmla="val 10882"/>
              <a:gd name="adj3" fmla="val 11471"/>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40" name="矢印: 上向き折線 39">
            <a:extLst>
              <a:ext uri="{FF2B5EF4-FFF2-40B4-BE49-F238E27FC236}">
                <a16:creationId xmlns:a16="http://schemas.microsoft.com/office/drawing/2014/main" id="{A4DC9CB1-E4DD-1AB5-AE3B-FEF9FF44C300}"/>
              </a:ext>
            </a:extLst>
          </p:cNvPr>
          <p:cNvSpPr/>
          <p:nvPr/>
        </p:nvSpPr>
        <p:spPr bwMode="gray">
          <a:xfrm rot="16200000" flipH="1">
            <a:off x="5954830" y="3170202"/>
            <a:ext cx="1526808" cy="1806085"/>
          </a:xfrm>
          <a:prstGeom prst="bentUpArrow">
            <a:avLst>
              <a:gd name="adj1" fmla="val 8529"/>
              <a:gd name="adj2" fmla="val 10882"/>
              <a:gd name="adj3" fmla="val 11471"/>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endParaRPr>
          </a:p>
        </p:txBody>
      </p:sp>
      <p:sp>
        <p:nvSpPr>
          <p:cNvPr id="41" name="テキスト ボックス 40">
            <a:extLst>
              <a:ext uri="{FF2B5EF4-FFF2-40B4-BE49-F238E27FC236}">
                <a16:creationId xmlns:a16="http://schemas.microsoft.com/office/drawing/2014/main" id="{B708B721-4D13-8FF8-A070-32A1A46FC43C}"/>
              </a:ext>
            </a:extLst>
          </p:cNvPr>
          <p:cNvSpPr txBox="1"/>
          <p:nvPr/>
        </p:nvSpPr>
        <p:spPr bwMode="gray">
          <a:xfrm>
            <a:off x="7757147" y="3514728"/>
            <a:ext cx="1337069" cy="369332"/>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r>
              <a:rPr lang="ja-JP" altLang="en-US" dirty="0">
                <a:solidFill>
                  <a:srgbClr val="AB7942"/>
                </a:solidFill>
                <a:latin typeface="Calibri Light"/>
                <a:ea typeface="Yu Gothic UI"/>
              </a:rPr>
              <a:t>⑬</a:t>
            </a:r>
            <a:r>
              <a:rPr lang="en-US" altLang="ja-JP" dirty="0">
                <a:solidFill>
                  <a:srgbClr val="AB7942"/>
                </a:solidFill>
                <a:latin typeface="Calibri Light"/>
                <a:ea typeface="Yu Gothic UI"/>
              </a:rPr>
              <a:t> DID</a:t>
            </a:r>
            <a:r>
              <a:rPr lang="ja-JP" altLang="en-US" dirty="0">
                <a:solidFill>
                  <a:srgbClr val="AB7942"/>
                </a:solidFill>
                <a:latin typeface="Calibri Light"/>
                <a:ea typeface="Yu Gothic UI"/>
              </a:rPr>
              <a:t>メソッド</a:t>
            </a:r>
            <a:endParaRPr lang="en-US" altLang="ja-JP" dirty="0">
              <a:solidFill>
                <a:srgbClr val="AB7942"/>
              </a:solidFill>
              <a:latin typeface="Calibri Light"/>
              <a:ea typeface="Yu Gothic UI"/>
            </a:endParaRPr>
          </a:p>
          <a:p>
            <a:r>
              <a:rPr lang="ja-JP" altLang="en-US" dirty="0">
                <a:solidFill>
                  <a:srgbClr val="AB7942"/>
                </a:solidFill>
                <a:latin typeface="Calibri Light"/>
                <a:ea typeface="Yu Gothic UI"/>
              </a:rPr>
              <a:t>⑮ </a:t>
            </a:r>
            <a:r>
              <a:rPr lang="en-US" altLang="ja-JP" dirty="0">
                <a:solidFill>
                  <a:srgbClr val="AB7942"/>
                </a:solidFill>
                <a:latin typeface="Calibri Light"/>
                <a:ea typeface="Yu Gothic UI"/>
              </a:rPr>
              <a:t>DID</a:t>
            </a:r>
            <a:r>
              <a:rPr lang="ja-JP" altLang="en-US" dirty="0">
                <a:solidFill>
                  <a:srgbClr val="AB7942"/>
                </a:solidFill>
                <a:latin typeface="Calibri Light"/>
                <a:ea typeface="Yu Gothic UI"/>
              </a:rPr>
              <a:t>解決</a:t>
            </a:r>
          </a:p>
        </p:txBody>
      </p:sp>
      <p:sp>
        <p:nvSpPr>
          <p:cNvPr id="42" name="テキスト ボックス 41">
            <a:extLst>
              <a:ext uri="{FF2B5EF4-FFF2-40B4-BE49-F238E27FC236}">
                <a16:creationId xmlns:a16="http://schemas.microsoft.com/office/drawing/2014/main" id="{9287B2E9-8B60-E1DA-5479-DB742A67D2A9}"/>
              </a:ext>
            </a:extLst>
          </p:cNvPr>
          <p:cNvSpPr txBox="1"/>
          <p:nvPr/>
        </p:nvSpPr>
        <p:spPr bwMode="gray">
          <a:xfrm>
            <a:off x="4011111" y="3506566"/>
            <a:ext cx="1337069" cy="369332"/>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r>
              <a:rPr lang="ja-JP" altLang="en-US" dirty="0">
                <a:solidFill>
                  <a:srgbClr val="AB7942"/>
                </a:solidFill>
                <a:latin typeface="Calibri Light"/>
                <a:ea typeface="Yu Gothic UI"/>
              </a:rPr>
              <a:t>⑬</a:t>
            </a:r>
            <a:r>
              <a:rPr lang="en-US" altLang="ja-JP" dirty="0">
                <a:solidFill>
                  <a:srgbClr val="AB7942"/>
                </a:solidFill>
                <a:latin typeface="Calibri Light"/>
                <a:ea typeface="Yu Gothic UI"/>
              </a:rPr>
              <a:t> DID</a:t>
            </a:r>
            <a:r>
              <a:rPr lang="ja-JP" altLang="en-US" dirty="0">
                <a:solidFill>
                  <a:srgbClr val="AB7942"/>
                </a:solidFill>
                <a:latin typeface="Calibri Light"/>
                <a:ea typeface="Yu Gothic UI"/>
              </a:rPr>
              <a:t>メソッド</a:t>
            </a:r>
            <a:endParaRPr lang="en-US" altLang="ja-JP" dirty="0">
              <a:solidFill>
                <a:srgbClr val="AB7942"/>
              </a:solidFill>
              <a:latin typeface="Calibri Light"/>
              <a:ea typeface="Yu Gothic UI"/>
            </a:endParaRPr>
          </a:p>
          <a:p>
            <a:r>
              <a:rPr lang="ja-JP" altLang="en-US" dirty="0">
                <a:solidFill>
                  <a:srgbClr val="AB7942"/>
                </a:solidFill>
                <a:latin typeface="Calibri Light"/>
                <a:ea typeface="Yu Gothic UI"/>
              </a:rPr>
              <a:t>⑮ </a:t>
            </a:r>
            <a:r>
              <a:rPr lang="en-US" altLang="ja-JP" dirty="0">
                <a:solidFill>
                  <a:srgbClr val="AB7942"/>
                </a:solidFill>
                <a:latin typeface="Calibri Light"/>
                <a:ea typeface="Yu Gothic UI"/>
              </a:rPr>
              <a:t>DID</a:t>
            </a:r>
            <a:r>
              <a:rPr lang="ja-JP" altLang="en-US" dirty="0">
                <a:solidFill>
                  <a:srgbClr val="AB7942"/>
                </a:solidFill>
                <a:latin typeface="Calibri Light"/>
                <a:ea typeface="Yu Gothic UI"/>
              </a:rPr>
              <a:t>解決</a:t>
            </a:r>
          </a:p>
        </p:txBody>
      </p:sp>
      <p:sp>
        <p:nvSpPr>
          <p:cNvPr id="43" name="テキスト ボックス 42">
            <a:extLst>
              <a:ext uri="{FF2B5EF4-FFF2-40B4-BE49-F238E27FC236}">
                <a16:creationId xmlns:a16="http://schemas.microsoft.com/office/drawing/2014/main" id="{F4579F11-B452-3155-0E95-B8869CF49D05}"/>
              </a:ext>
            </a:extLst>
          </p:cNvPr>
          <p:cNvSpPr txBox="1"/>
          <p:nvPr/>
        </p:nvSpPr>
        <p:spPr bwMode="gray">
          <a:xfrm>
            <a:off x="1360891" y="3514728"/>
            <a:ext cx="1337069" cy="369332"/>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r>
              <a:rPr lang="ja-JP" altLang="en-US" dirty="0">
                <a:solidFill>
                  <a:srgbClr val="AB7942"/>
                </a:solidFill>
                <a:latin typeface="Calibri Light"/>
                <a:ea typeface="Yu Gothic UI"/>
              </a:rPr>
              <a:t>⑬</a:t>
            </a:r>
            <a:r>
              <a:rPr lang="en-US" altLang="ja-JP" dirty="0">
                <a:solidFill>
                  <a:srgbClr val="AB7942"/>
                </a:solidFill>
                <a:latin typeface="Calibri Light"/>
                <a:ea typeface="Yu Gothic UI"/>
              </a:rPr>
              <a:t> DID</a:t>
            </a:r>
            <a:r>
              <a:rPr lang="ja-JP" altLang="en-US" dirty="0">
                <a:solidFill>
                  <a:srgbClr val="AB7942"/>
                </a:solidFill>
                <a:latin typeface="Calibri Light"/>
                <a:ea typeface="Yu Gothic UI"/>
              </a:rPr>
              <a:t>メソッド</a:t>
            </a:r>
            <a:endParaRPr lang="en-US" altLang="ja-JP" dirty="0">
              <a:solidFill>
                <a:srgbClr val="AB7942"/>
              </a:solidFill>
              <a:latin typeface="Calibri Light"/>
              <a:ea typeface="Yu Gothic UI"/>
            </a:endParaRPr>
          </a:p>
          <a:p>
            <a:r>
              <a:rPr lang="ja-JP" altLang="en-US" dirty="0">
                <a:solidFill>
                  <a:srgbClr val="AB7942"/>
                </a:solidFill>
                <a:latin typeface="Calibri Light"/>
                <a:ea typeface="Yu Gothic UI"/>
              </a:rPr>
              <a:t>⑮ </a:t>
            </a:r>
            <a:r>
              <a:rPr lang="en-US" altLang="ja-JP" dirty="0">
                <a:solidFill>
                  <a:srgbClr val="AB7942"/>
                </a:solidFill>
                <a:latin typeface="Calibri Light"/>
                <a:ea typeface="Yu Gothic UI"/>
              </a:rPr>
              <a:t>DID</a:t>
            </a:r>
            <a:r>
              <a:rPr lang="ja-JP" altLang="en-US" dirty="0">
                <a:solidFill>
                  <a:srgbClr val="AB7942"/>
                </a:solidFill>
                <a:latin typeface="Calibri Light"/>
                <a:ea typeface="Yu Gothic UI"/>
              </a:rPr>
              <a:t>解決</a:t>
            </a:r>
          </a:p>
        </p:txBody>
      </p:sp>
      <p:sp>
        <p:nvSpPr>
          <p:cNvPr id="44" name="円柱 43">
            <a:extLst>
              <a:ext uri="{FF2B5EF4-FFF2-40B4-BE49-F238E27FC236}">
                <a16:creationId xmlns:a16="http://schemas.microsoft.com/office/drawing/2014/main" id="{584B132F-A9C0-8431-E6DE-E1AEBFAE90A2}"/>
              </a:ext>
            </a:extLst>
          </p:cNvPr>
          <p:cNvSpPr/>
          <p:nvPr/>
        </p:nvSpPr>
        <p:spPr bwMode="gray">
          <a:xfrm>
            <a:off x="3884092" y="4881752"/>
            <a:ext cx="436803" cy="454928"/>
          </a:xfrm>
          <a:prstGeom prst="can">
            <a:avLst/>
          </a:prstGeom>
          <a:solidFill>
            <a:schemeClr val="accent1">
              <a:lumMod val="20000"/>
              <a:lumOff val="80000"/>
            </a:schemeClr>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45" name="テキスト ボックス 44">
            <a:extLst>
              <a:ext uri="{FF2B5EF4-FFF2-40B4-BE49-F238E27FC236}">
                <a16:creationId xmlns:a16="http://schemas.microsoft.com/office/drawing/2014/main" id="{8B7306F7-7054-266C-9A0A-DE823A1833A2}"/>
              </a:ext>
            </a:extLst>
          </p:cNvPr>
          <p:cNvSpPr txBox="1"/>
          <p:nvPr/>
        </p:nvSpPr>
        <p:spPr bwMode="gray">
          <a:xfrm>
            <a:off x="3342576" y="5451907"/>
            <a:ext cx="1337069" cy="369332"/>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pPr algn="ctr"/>
            <a:r>
              <a:rPr lang="ja-JP" altLang="en-US" dirty="0">
                <a:solidFill>
                  <a:srgbClr val="AB7942"/>
                </a:solidFill>
                <a:latin typeface="Calibri Light"/>
                <a:ea typeface="Yu Gothic UI"/>
              </a:rPr>
              <a:t>⑯ アンカー</a:t>
            </a:r>
            <a:endParaRPr lang="en-US" altLang="ja-JP" dirty="0">
              <a:solidFill>
                <a:srgbClr val="AB7942"/>
              </a:solidFill>
              <a:latin typeface="Calibri Light"/>
              <a:ea typeface="Yu Gothic UI"/>
            </a:endParaRPr>
          </a:p>
          <a:p>
            <a:pPr algn="ctr"/>
            <a:r>
              <a:rPr lang="ja-JP" altLang="en-US" dirty="0">
                <a:solidFill>
                  <a:srgbClr val="AB7942"/>
                </a:solidFill>
                <a:latin typeface="Calibri Light"/>
                <a:ea typeface="Yu Gothic UI"/>
              </a:rPr>
              <a:t>サービス</a:t>
            </a:r>
            <a:endParaRPr lang="en-US" altLang="ja-JP" dirty="0">
              <a:solidFill>
                <a:srgbClr val="AB7942"/>
              </a:solidFill>
              <a:latin typeface="Calibri Light"/>
              <a:ea typeface="Yu Gothic UI"/>
            </a:endParaRPr>
          </a:p>
        </p:txBody>
      </p:sp>
      <p:sp>
        <p:nvSpPr>
          <p:cNvPr id="46" name="円柱 45">
            <a:extLst>
              <a:ext uri="{FF2B5EF4-FFF2-40B4-BE49-F238E27FC236}">
                <a16:creationId xmlns:a16="http://schemas.microsoft.com/office/drawing/2014/main" id="{ADB92034-4355-11D7-54FB-2231F6EB2F00}"/>
              </a:ext>
            </a:extLst>
          </p:cNvPr>
          <p:cNvSpPr/>
          <p:nvPr/>
        </p:nvSpPr>
        <p:spPr bwMode="gray">
          <a:xfrm>
            <a:off x="870152" y="2391563"/>
            <a:ext cx="436803" cy="454928"/>
          </a:xfrm>
          <a:prstGeom prst="can">
            <a:avLst/>
          </a:prstGeom>
          <a:solidFill>
            <a:schemeClr val="accent1">
              <a:lumMod val="20000"/>
              <a:lumOff val="80000"/>
            </a:schemeClr>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47" name="テキスト ボックス 46">
            <a:extLst>
              <a:ext uri="{FF2B5EF4-FFF2-40B4-BE49-F238E27FC236}">
                <a16:creationId xmlns:a16="http://schemas.microsoft.com/office/drawing/2014/main" id="{B4B0173A-B043-4F4A-614A-E01617CB0213}"/>
              </a:ext>
            </a:extLst>
          </p:cNvPr>
          <p:cNvSpPr txBox="1"/>
          <p:nvPr/>
        </p:nvSpPr>
        <p:spPr bwMode="gray">
          <a:xfrm>
            <a:off x="555496" y="2880044"/>
            <a:ext cx="1053032" cy="369332"/>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pPr algn="ctr"/>
            <a:r>
              <a:rPr lang="ja-JP" altLang="en-US" dirty="0">
                <a:solidFill>
                  <a:srgbClr val="AB7942"/>
                </a:solidFill>
                <a:latin typeface="Calibri Light"/>
                <a:ea typeface="Yu Gothic UI"/>
              </a:rPr>
              <a:t>⑯ アンカー</a:t>
            </a:r>
            <a:endParaRPr lang="en-US" altLang="ja-JP" dirty="0">
              <a:solidFill>
                <a:srgbClr val="AB7942"/>
              </a:solidFill>
              <a:latin typeface="Calibri Light"/>
              <a:ea typeface="Yu Gothic UI"/>
            </a:endParaRPr>
          </a:p>
          <a:p>
            <a:pPr algn="ctr"/>
            <a:r>
              <a:rPr lang="ja-JP" altLang="en-US" dirty="0">
                <a:solidFill>
                  <a:srgbClr val="AB7942"/>
                </a:solidFill>
                <a:latin typeface="Calibri Light"/>
                <a:ea typeface="Yu Gothic UI"/>
              </a:rPr>
              <a:t>サービス</a:t>
            </a:r>
            <a:endParaRPr lang="en-US" altLang="ja-JP" dirty="0">
              <a:solidFill>
                <a:srgbClr val="AB7942"/>
              </a:solidFill>
              <a:latin typeface="Calibri Light"/>
              <a:ea typeface="Yu Gothic UI"/>
            </a:endParaRPr>
          </a:p>
        </p:txBody>
      </p:sp>
      <p:sp>
        <p:nvSpPr>
          <p:cNvPr id="48" name="円柱 47">
            <a:extLst>
              <a:ext uri="{FF2B5EF4-FFF2-40B4-BE49-F238E27FC236}">
                <a16:creationId xmlns:a16="http://schemas.microsoft.com/office/drawing/2014/main" id="{96FFEF29-4B64-352A-A184-219EF218ECAB}"/>
              </a:ext>
            </a:extLst>
          </p:cNvPr>
          <p:cNvSpPr/>
          <p:nvPr/>
        </p:nvSpPr>
        <p:spPr bwMode="gray">
          <a:xfrm>
            <a:off x="8600287" y="2391563"/>
            <a:ext cx="436803" cy="454928"/>
          </a:xfrm>
          <a:prstGeom prst="can">
            <a:avLst/>
          </a:prstGeom>
          <a:solidFill>
            <a:schemeClr val="accent1">
              <a:lumMod val="20000"/>
              <a:lumOff val="80000"/>
            </a:schemeClr>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50" name="円柱 49">
            <a:extLst>
              <a:ext uri="{FF2B5EF4-FFF2-40B4-BE49-F238E27FC236}">
                <a16:creationId xmlns:a16="http://schemas.microsoft.com/office/drawing/2014/main" id="{8E6A2CD0-E9C6-2F52-BFDB-71D2451136AE}"/>
              </a:ext>
            </a:extLst>
          </p:cNvPr>
          <p:cNvSpPr/>
          <p:nvPr/>
        </p:nvSpPr>
        <p:spPr bwMode="gray">
          <a:xfrm>
            <a:off x="5941587" y="1696945"/>
            <a:ext cx="436803" cy="454928"/>
          </a:xfrm>
          <a:prstGeom prst="can">
            <a:avLst/>
          </a:prstGeom>
          <a:solidFill>
            <a:schemeClr val="accent1">
              <a:lumMod val="20000"/>
              <a:lumOff val="80000"/>
            </a:schemeClr>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51" name="テキスト ボックス 50">
            <a:extLst>
              <a:ext uri="{FF2B5EF4-FFF2-40B4-BE49-F238E27FC236}">
                <a16:creationId xmlns:a16="http://schemas.microsoft.com/office/drawing/2014/main" id="{5C2985CC-B2E8-2166-AB02-3599FFCD8AF7}"/>
              </a:ext>
            </a:extLst>
          </p:cNvPr>
          <p:cNvSpPr txBox="1"/>
          <p:nvPr/>
        </p:nvSpPr>
        <p:spPr bwMode="gray">
          <a:xfrm>
            <a:off x="5860810" y="2242215"/>
            <a:ext cx="1337069" cy="184666"/>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pPr algn="ctr"/>
            <a:r>
              <a:rPr lang="ja-JP" altLang="en-US" dirty="0">
                <a:solidFill>
                  <a:srgbClr val="AB7942"/>
                </a:solidFill>
                <a:latin typeface="Calibri Light"/>
                <a:ea typeface="Yu Gothic UI"/>
              </a:rPr>
              <a:t>⑯ アンカーサービス</a:t>
            </a:r>
            <a:endParaRPr lang="en-US" altLang="ja-JP" dirty="0">
              <a:solidFill>
                <a:srgbClr val="AB7942"/>
              </a:solidFill>
              <a:latin typeface="Calibri Light"/>
              <a:ea typeface="Yu Gothic UI"/>
            </a:endParaRPr>
          </a:p>
        </p:txBody>
      </p:sp>
      <p:sp>
        <p:nvSpPr>
          <p:cNvPr id="57" name="コンテンツ プレースホルダー 2">
            <a:extLst>
              <a:ext uri="{FF2B5EF4-FFF2-40B4-BE49-F238E27FC236}">
                <a16:creationId xmlns:a16="http://schemas.microsoft.com/office/drawing/2014/main" id="{2CB8F162-1055-877D-9F3A-D5617BBE5350}"/>
              </a:ext>
            </a:extLst>
          </p:cNvPr>
          <p:cNvSpPr>
            <a:spLocks noGrp="1"/>
          </p:cNvSpPr>
          <p:nvPr>
            <p:ph idx="1"/>
          </p:nvPr>
        </p:nvSpPr>
        <p:spPr>
          <a:xfrm>
            <a:off x="273050" y="904636"/>
            <a:ext cx="9359900" cy="473976"/>
          </a:xfrm>
          <a:solidFill>
            <a:schemeClr val="bg1"/>
          </a:solidFill>
        </p:spPr>
        <p:txBody>
          <a:bodyPr/>
          <a:lstStyle/>
          <a:p>
            <a:r>
              <a:rPr kumimoji="1" lang="en-US" altLang="ja-JP" dirty="0"/>
              <a:t>Public Trust Layer</a:t>
            </a:r>
            <a:r>
              <a:rPr kumimoji="1" lang="ja-JP" altLang="en-US" dirty="0"/>
              <a:t>は、主に分散型</a:t>
            </a:r>
            <a:r>
              <a:rPr kumimoji="1" lang="en-US" altLang="ja-JP" dirty="0"/>
              <a:t>ID</a:t>
            </a:r>
            <a:r>
              <a:rPr kumimoji="1" lang="ja-JP" altLang="en-US" dirty="0"/>
              <a:t>のトラストの基盤となるプラットフォームや情報の格納形式、アクセス方式が定義されている</a:t>
            </a:r>
            <a:endParaRPr kumimoji="1" lang="en-US" altLang="ja-JP" dirty="0"/>
          </a:p>
          <a:p>
            <a:r>
              <a:rPr kumimoji="1" lang="ja-JP" altLang="en-US" dirty="0"/>
              <a:t>証明書連携フローについて</a:t>
            </a:r>
            <a:r>
              <a:rPr kumimoji="1" lang="en-US" altLang="ja-JP" dirty="0"/>
              <a:t>Public Trust Layer</a:t>
            </a:r>
            <a:r>
              <a:rPr kumimoji="1" lang="ja-JP" altLang="en-US" dirty="0"/>
              <a:t>で行われていること概要を図示すると以下のようになる</a:t>
            </a:r>
            <a:endParaRPr kumimoji="1" lang="en-US" altLang="ja-JP" dirty="0"/>
          </a:p>
        </p:txBody>
      </p:sp>
      <p:grpSp>
        <p:nvGrpSpPr>
          <p:cNvPr id="52" name="グループ化 51">
            <a:extLst>
              <a:ext uri="{FF2B5EF4-FFF2-40B4-BE49-F238E27FC236}">
                <a16:creationId xmlns:a16="http://schemas.microsoft.com/office/drawing/2014/main" id="{DB3A1B91-C088-2A47-5DEE-62D06D88208B}"/>
              </a:ext>
            </a:extLst>
          </p:cNvPr>
          <p:cNvGrpSpPr/>
          <p:nvPr/>
        </p:nvGrpSpPr>
        <p:grpSpPr>
          <a:xfrm>
            <a:off x="5867005" y="137240"/>
            <a:ext cx="2322246" cy="301997"/>
            <a:chOff x="5867005" y="137240"/>
            <a:chExt cx="2322246" cy="552560"/>
          </a:xfrm>
        </p:grpSpPr>
        <p:sp>
          <p:nvSpPr>
            <p:cNvPr id="53" name="正方形/長方形 52">
              <a:extLst>
                <a:ext uri="{FF2B5EF4-FFF2-40B4-BE49-F238E27FC236}">
                  <a16:creationId xmlns:a16="http://schemas.microsoft.com/office/drawing/2014/main" id="{8378DB07-E33B-6AE1-9797-B25790B9583C}"/>
                </a:ext>
              </a:extLst>
            </p:cNvPr>
            <p:cNvSpPr/>
            <p:nvPr/>
          </p:nvSpPr>
          <p:spPr>
            <a:xfrm>
              <a:off x="5867005" y="511582"/>
              <a:ext cx="1554312" cy="178218"/>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Public Trust Layer</a:t>
              </a:r>
              <a:endParaRPr lang="ja-JP" altLang="en-US" sz="800" b="1" dirty="0">
                <a:solidFill>
                  <a:schemeClr val="accent1"/>
                </a:solidFill>
              </a:endParaRPr>
            </a:p>
          </p:txBody>
        </p:sp>
        <p:sp>
          <p:nvSpPr>
            <p:cNvPr id="54" name="正方形/長方形 53">
              <a:extLst>
                <a:ext uri="{FF2B5EF4-FFF2-40B4-BE49-F238E27FC236}">
                  <a16:creationId xmlns:a16="http://schemas.microsoft.com/office/drawing/2014/main" id="{9C06C60D-1B03-4DE0-9F47-AC61FD0F93A7}"/>
                </a:ext>
              </a:extLst>
            </p:cNvPr>
            <p:cNvSpPr/>
            <p:nvPr/>
          </p:nvSpPr>
          <p:spPr>
            <a:xfrm>
              <a:off x="5867005" y="324411"/>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Agent Layer</a:t>
              </a:r>
              <a:endParaRPr lang="ja-JP" altLang="en-US" sz="800" dirty="0">
                <a:solidFill>
                  <a:schemeClr val="tx2"/>
                </a:solidFill>
              </a:endParaRPr>
            </a:p>
          </p:txBody>
        </p:sp>
        <p:sp>
          <p:nvSpPr>
            <p:cNvPr id="56" name="正方形/長方形 55">
              <a:extLst>
                <a:ext uri="{FF2B5EF4-FFF2-40B4-BE49-F238E27FC236}">
                  <a16:creationId xmlns:a16="http://schemas.microsoft.com/office/drawing/2014/main" id="{B047FC45-C55E-F24F-BE6F-1F9E301F1089}"/>
                </a:ext>
              </a:extLst>
            </p:cNvPr>
            <p:cNvSpPr/>
            <p:nvPr/>
          </p:nvSpPr>
          <p:spPr>
            <a:xfrm>
              <a:off x="5867005" y="137240"/>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Credential Layer</a:t>
              </a:r>
              <a:endParaRPr lang="ja-JP" altLang="en-US" sz="800" dirty="0">
                <a:solidFill>
                  <a:schemeClr val="tx2"/>
                </a:solidFill>
              </a:endParaRPr>
            </a:p>
          </p:txBody>
        </p:sp>
        <p:sp>
          <p:nvSpPr>
            <p:cNvPr id="63" name="正方形/長方形 62">
              <a:extLst>
                <a:ext uri="{FF2B5EF4-FFF2-40B4-BE49-F238E27FC236}">
                  <a16:creationId xmlns:a16="http://schemas.microsoft.com/office/drawing/2014/main" id="{4B771CA1-DFB3-5A26-9FBF-1122E6F51A2B}"/>
                </a:ext>
              </a:extLst>
            </p:cNvPr>
            <p:cNvSpPr/>
            <p:nvPr/>
          </p:nvSpPr>
          <p:spPr>
            <a:xfrm>
              <a:off x="7424690" y="137240"/>
              <a:ext cx="764561" cy="55256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Vertical / </a:t>
              </a:r>
            </a:p>
            <a:p>
              <a:pPr algn="ctr"/>
              <a:r>
                <a:rPr lang="en-US" altLang="ja-JP" sz="800" dirty="0">
                  <a:solidFill>
                    <a:schemeClr val="tx2"/>
                  </a:solidFill>
                </a:rPr>
                <a:t>Cross-cutting</a:t>
              </a:r>
              <a:endParaRPr lang="ja-JP" altLang="en-US" sz="800" dirty="0">
                <a:solidFill>
                  <a:schemeClr val="tx2"/>
                </a:solidFill>
              </a:endParaRPr>
            </a:p>
          </p:txBody>
        </p:sp>
      </p:grpSp>
      <p:sp>
        <p:nvSpPr>
          <p:cNvPr id="55" name="タイトル 54">
            <a:extLst>
              <a:ext uri="{FF2B5EF4-FFF2-40B4-BE49-F238E27FC236}">
                <a16:creationId xmlns:a16="http://schemas.microsoft.com/office/drawing/2014/main" id="{7831BBE9-A7BA-A182-F98E-9AE3ED5ADE5C}"/>
              </a:ext>
            </a:extLst>
          </p:cNvPr>
          <p:cNvSpPr>
            <a:spLocks noGrp="1"/>
          </p:cNvSpPr>
          <p:nvPr>
            <p:ph type="title"/>
          </p:nvPr>
        </p:nvSpPr>
        <p:spPr>
          <a:xfrm>
            <a:off x="273050" y="447475"/>
            <a:ext cx="7848302" cy="246221"/>
          </a:xfrm>
        </p:spPr>
        <p:txBody>
          <a:bodyPr/>
          <a:lstStyle/>
          <a:p>
            <a:r>
              <a:rPr kumimoji="1" lang="en-US" altLang="ja-JP" dirty="0"/>
              <a:t>4.2. </a:t>
            </a:r>
            <a:r>
              <a:rPr kumimoji="1" lang="ja-JP" altLang="en-US" dirty="0"/>
              <a:t>各規格の概要・代表的な仕様 </a:t>
            </a:r>
            <a:r>
              <a:rPr kumimoji="1" lang="en-US" altLang="ja-JP" dirty="0"/>
              <a:t>- (3) Public Trust Layer</a:t>
            </a:r>
            <a:r>
              <a:rPr kumimoji="1" lang="ja-JP" altLang="en-US" dirty="0"/>
              <a:t> </a:t>
            </a:r>
            <a:r>
              <a:rPr kumimoji="1" lang="en-US" altLang="ja-JP" dirty="0"/>
              <a:t>(1/2)</a:t>
            </a:r>
            <a:r>
              <a:rPr kumimoji="1" lang="ja-JP" altLang="en-US" dirty="0"/>
              <a:t>　　</a:t>
            </a:r>
          </a:p>
        </p:txBody>
      </p:sp>
      <p:sp>
        <p:nvSpPr>
          <p:cNvPr id="2" name="テキスト ボックス 1">
            <a:extLst>
              <a:ext uri="{FF2B5EF4-FFF2-40B4-BE49-F238E27FC236}">
                <a16:creationId xmlns:a16="http://schemas.microsoft.com/office/drawing/2014/main" id="{8A91F4EC-7B2A-8499-7DCC-FCCFE0B477A5}"/>
              </a:ext>
            </a:extLst>
          </p:cNvPr>
          <p:cNvSpPr txBox="1"/>
          <p:nvPr/>
        </p:nvSpPr>
        <p:spPr bwMode="gray">
          <a:xfrm>
            <a:off x="4327014" y="6168132"/>
            <a:ext cx="1337069" cy="184666"/>
          </a:xfrm>
          <a:prstGeom prst="rect">
            <a:avLst/>
          </a:prstGeom>
          <a:noFill/>
        </p:spPr>
        <p:txBody>
          <a:bodyPr wrap="square" lIns="0" tIns="0" rIns="0" bIns="0" rtlCol="0">
            <a:spAutoFit/>
          </a:bodyPr>
          <a:lstStyle>
            <a:defPPr>
              <a:defRPr lang="ja-JP"/>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1" i="0" u="none" strike="noStrike" cap="none" spc="0" normalizeH="0" baseline="0">
                <a:ln>
                  <a:noFill/>
                </a:ln>
                <a:solidFill>
                  <a:schemeClr val="accent3">
                    <a:lumMod val="75000"/>
                  </a:schemeClr>
                </a:solidFill>
                <a:effectLst/>
                <a:uLnTx/>
                <a:uFillTx/>
                <a:latin typeface="Calibri Light"/>
                <a:ea typeface="Yu Gothic UI"/>
              </a:defRPr>
            </a:lvl1pPr>
          </a:lstStyle>
          <a:p>
            <a:r>
              <a:rPr lang="en-US" altLang="ja-JP" dirty="0">
                <a:solidFill>
                  <a:srgbClr val="AB7942"/>
                </a:solidFill>
              </a:rPr>
              <a:t>⑪ DID </a:t>
            </a:r>
            <a:r>
              <a:rPr lang="ja-JP" altLang="en-US" dirty="0">
                <a:solidFill>
                  <a:srgbClr val="AB7942"/>
                </a:solidFill>
              </a:rPr>
              <a:t>ドキュメント</a:t>
            </a:r>
          </a:p>
        </p:txBody>
      </p:sp>
      <p:sp>
        <p:nvSpPr>
          <p:cNvPr id="60" name="テキスト ボックス 59">
            <a:extLst>
              <a:ext uri="{FF2B5EF4-FFF2-40B4-BE49-F238E27FC236}">
                <a16:creationId xmlns:a16="http://schemas.microsoft.com/office/drawing/2014/main" id="{F31A4663-9490-99AA-5EFE-A79C03AA820D}"/>
              </a:ext>
            </a:extLst>
          </p:cNvPr>
          <p:cNvSpPr txBox="1"/>
          <p:nvPr/>
        </p:nvSpPr>
        <p:spPr bwMode="gray">
          <a:xfrm>
            <a:off x="8306943" y="2880044"/>
            <a:ext cx="1053032" cy="369332"/>
          </a:xfrm>
          <a:prstGeom prst="rect">
            <a:avLst/>
          </a:prstGeom>
          <a:noFill/>
        </p:spPr>
        <p:txBody>
          <a:bodyPr wrap="square" lIns="0" tIns="0" rIns="0" bIns="0" rtlCol="0">
            <a:spAutoFit/>
          </a:bodyPr>
          <a:lstStyle>
            <a:defPPr>
              <a:defRPr lang="en-US"/>
            </a:defPPr>
            <a:lvl1pPr marL="0" marR="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b="1" i="0" u="none" strike="noStrike" cap="none" spc="0" normalizeH="0" baseline="0">
                <a:ln>
                  <a:noFill/>
                </a:ln>
                <a:solidFill>
                  <a:schemeClr val="accent6"/>
                </a:solidFill>
                <a:effectLst/>
                <a:uLnTx/>
                <a:uFillTx/>
                <a:latin typeface="+mn-lt"/>
                <a:cs typeface="+mn-cs"/>
              </a:defRPr>
            </a:lvl1pPr>
          </a:lstStyle>
          <a:p>
            <a:pPr algn="ctr"/>
            <a:r>
              <a:rPr lang="ja-JP" altLang="en-US" dirty="0">
                <a:solidFill>
                  <a:srgbClr val="AB7942"/>
                </a:solidFill>
                <a:latin typeface="Calibri Light"/>
                <a:ea typeface="Yu Gothic UI"/>
              </a:rPr>
              <a:t>⑯ アンカー</a:t>
            </a:r>
            <a:endParaRPr lang="en-US" altLang="ja-JP" dirty="0">
              <a:solidFill>
                <a:srgbClr val="AB7942"/>
              </a:solidFill>
              <a:latin typeface="Calibri Light"/>
              <a:ea typeface="Yu Gothic UI"/>
            </a:endParaRPr>
          </a:p>
          <a:p>
            <a:pPr algn="ctr"/>
            <a:r>
              <a:rPr lang="ja-JP" altLang="en-US" dirty="0">
                <a:solidFill>
                  <a:srgbClr val="AB7942"/>
                </a:solidFill>
                <a:latin typeface="Calibri Light"/>
                <a:ea typeface="Yu Gothic UI"/>
              </a:rPr>
              <a:t>サービス</a:t>
            </a:r>
            <a:endParaRPr lang="en-US" altLang="ja-JP" dirty="0">
              <a:solidFill>
                <a:srgbClr val="AB7942"/>
              </a:solidFill>
              <a:latin typeface="Calibri Light"/>
              <a:ea typeface="Yu Gothic UI"/>
            </a:endParaRPr>
          </a:p>
        </p:txBody>
      </p:sp>
    </p:spTree>
    <p:extLst>
      <p:ext uri="{BB962C8B-B14F-4D97-AF65-F5344CB8AC3E}">
        <p14:creationId xmlns:p14="http://schemas.microsoft.com/office/powerpoint/2010/main" val="1073621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A6FD228D-B077-5EAE-45A7-DC0213A28074}"/>
              </a:ext>
            </a:extLst>
          </p:cNvPr>
          <p:cNvSpPr>
            <a:spLocks noGrp="1"/>
          </p:cNvSpPr>
          <p:nvPr>
            <p:ph type="body" sz="quarter" idx="10"/>
          </p:nvPr>
        </p:nvSpPr>
        <p:spPr>
          <a:xfrm>
            <a:off x="273050" y="188913"/>
            <a:ext cx="7848600" cy="161583"/>
          </a:xfrm>
        </p:spPr>
        <p:txBody>
          <a:bodyPr/>
          <a:lstStyle/>
          <a:p>
            <a:r>
              <a:rPr kumimoji="1" lang="en-US" altLang="zh-TW" dirty="0"/>
              <a:t>4.</a:t>
            </a:r>
            <a:r>
              <a:rPr lang="zh-TW" altLang="en-US" dirty="0"/>
              <a:t> </a:t>
            </a:r>
            <a:r>
              <a:rPr kumimoji="1" lang="zh-TW" altLang="en-US" dirty="0"/>
              <a:t>規格実態調査</a:t>
            </a:r>
          </a:p>
        </p:txBody>
      </p:sp>
      <p:grpSp>
        <p:nvGrpSpPr>
          <p:cNvPr id="5" name="グループ化 4">
            <a:extLst>
              <a:ext uri="{FF2B5EF4-FFF2-40B4-BE49-F238E27FC236}">
                <a16:creationId xmlns:a16="http://schemas.microsoft.com/office/drawing/2014/main" id="{FB52D9BA-6BF6-6907-3D98-FC371ED13FC0}"/>
              </a:ext>
            </a:extLst>
          </p:cNvPr>
          <p:cNvGrpSpPr/>
          <p:nvPr/>
        </p:nvGrpSpPr>
        <p:grpSpPr>
          <a:xfrm>
            <a:off x="5867005" y="137240"/>
            <a:ext cx="2322246" cy="301997"/>
            <a:chOff x="5867005" y="137240"/>
            <a:chExt cx="2322246" cy="552560"/>
          </a:xfrm>
        </p:grpSpPr>
        <p:sp>
          <p:nvSpPr>
            <p:cNvPr id="6" name="正方形/長方形 5">
              <a:extLst>
                <a:ext uri="{FF2B5EF4-FFF2-40B4-BE49-F238E27FC236}">
                  <a16:creationId xmlns:a16="http://schemas.microsoft.com/office/drawing/2014/main" id="{996D04B0-AE83-722D-007D-E8B2C32209C5}"/>
                </a:ext>
              </a:extLst>
            </p:cNvPr>
            <p:cNvSpPr/>
            <p:nvPr/>
          </p:nvSpPr>
          <p:spPr>
            <a:xfrm>
              <a:off x="5867005" y="511582"/>
              <a:ext cx="1554312" cy="178218"/>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Public Trust Layer</a:t>
              </a:r>
              <a:endParaRPr lang="ja-JP" altLang="en-US" sz="800" b="1" dirty="0">
                <a:solidFill>
                  <a:schemeClr val="accent1"/>
                </a:solidFill>
              </a:endParaRPr>
            </a:p>
          </p:txBody>
        </p:sp>
        <p:sp>
          <p:nvSpPr>
            <p:cNvPr id="7" name="正方形/長方形 6">
              <a:extLst>
                <a:ext uri="{FF2B5EF4-FFF2-40B4-BE49-F238E27FC236}">
                  <a16:creationId xmlns:a16="http://schemas.microsoft.com/office/drawing/2014/main" id="{188C9F9A-0B53-1814-2266-F64AE7DD2A0F}"/>
                </a:ext>
              </a:extLst>
            </p:cNvPr>
            <p:cNvSpPr/>
            <p:nvPr/>
          </p:nvSpPr>
          <p:spPr>
            <a:xfrm>
              <a:off x="5867005" y="324411"/>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Agent Layer</a:t>
              </a:r>
              <a:endParaRPr lang="ja-JP" altLang="en-US" sz="800" dirty="0">
                <a:solidFill>
                  <a:schemeClr val="tx2"/>
                </a:solidFill>
              </a:endParaRPr>
            </a:p>
          </p:txBody>
        </p:sp>
        <p:sp>
          <p:nvSpPr>
            <p:cNvPr id="8" name="正方形/長方形 7">
              <a:extLst>
                <a:ext uri="{FF2B5EF4-FFF2-40B4-BE49-F238E27FC236}">
                  <a16:creationId xmlns:a16="http://schemas.microsoft.com/office/drawing/2014/main" id="{C21C214A-5CF0-8F05-6F33-CDEFEC03DC0F}"/>
                </a:ext>
              </a:extLst>
            </p:cNvPr>
            <p:cNvSpPr/>
            <p:nvPr/>
          </p:nvSpPr>
          <p:spPr>
            <a:xfrm>
              <a:off x="5867005" y="137240"/>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Credential Layer</a:t>
              </a:r>
              <a:endParaRPr lang="ja-JP" altLang="en-US" sz="800" dirty="0">
                <a:solidFill>
                  <a:schemeClr val="tx2"/>
                </a:solidFill>
              </a:endParaRPr>
            </a:p>
          </p:txBody>
        </p:sp>
        <p:sp>
          <p:nvSpPr>
            <p:cNvPr id="9" name="正方形/長方形 8">
              <a:extLst>
                <a:ext uri="{FF2B5EF4-FFF2-40B4-BE49-F238E27FC236}">
                  <a16:creationId xmlns:a16="http://schemas.microsoft.com/office/drawing/2014/main" id="{D942027A-E2C7-528B-BF48-E8582E1715BD}"/>
                </a:ext>
              </a:extLst>
            </p:cNvPr>
            <p:cNvSpPr/>
            <p:nvPr/>
          </p:nvSpPr>
          <p:spPr>
            <a:xfrm>
              <a:off x="7424690" y="137240"/>
              <a:ext cx="764561" cy="55256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Vertical / </a:t>
              </a:r>
            </a:p>
            <a:p>
              <a:pPr algn="ctr"/>
              <a:r>
                <a:rPr lang="en-US" altLang="ja-JP" sz="800" dirty="0">
                  <a:solidFill>
                    <a:schemeClr val="tx2"/>
                  </a:solidFill>
                </a:rPr>
                <a:t>Cross-cutting</a:t>
              </a:r>
              <a:endParaRPr lang="ja-JP" altLang="en-US" sz="800" dirty="0">
                <a:solidFill>
                  <a:schemeClr val="tx2"/>
                </a:solidFill>
              </a:endParaRPr>
            </a:p>
          </p:txBody>
        </p:sp>
      </p:grpSp>
      <p:graphicFrame>
        <p:nvGraphicFramePr>
          <p:cNvPr id="10" name="表 9">
            <a:extLst>
              <a:ext uri="{FF2B5EF4-FFF2-40B4-BE49-F238E27FC236}">
                <a16:creationId xmlns:a16="http://schemas.microsoft.com/office/drawing/2014/main" id="{B1F5E4A9-3E6D-3669-226F-4F9C11F7BEE3}"/>
              </a:ext>
            </a:extLst>
          </p:cNvPr>
          <p:cNvGraphicFramePr>
            <a:graphicFrameLocks noGrp="1"/>
          </p:cNvGraphicFramePr>
          <p:nvPr>
            <p:extLst>
              <p:ext uri="{D42A27DB-BD31-4B8C-83A1-F6EECF244321}">
                <p14:modId xmlns:p14="http://schemas.microsoft.com/office/powerpoint/2010/main" val="2928154628"/>
              </p:ext>
            </p:extLst>
          </p:nvPr>
        </p:nvGraphicFramePr>
        <p:xfrm>
          <a:off x="272562" y="1247418"/>
          <a:ext cx="9360387" cy="5063737"/>
        </p:xfrm>
        <a:graphic>
          <a:graphicData uri="http://schemas.openxmlformats.org/drawingml/2006/table">
            <a:tbl>
              <a:tblPr firstRow="1" bandRow="1"/>
              <a:tblGrid>
                <a:gridCol w="1254580">
                  <a:extLst>
                    <a:ext uri="{9D8B030D-6E8A-4147-A177-3AD203B41FA5}">
                      <a16:colId xmlns:a16="http://schemas.microsoft.com/office/drawing/2014/main" val="2445896061"/>
                    </a:ext>
                  </a:extLst>
                </a:gridCol>
                <a:gridCol w="5410986">
                  <a:extLst>
                    <a:ext uri="{9D8B030D-6E8A-4147-A177-3AD203B41FA5}">
                      <a16:colId xmlns:a16="http://schemas.microsoft.com/office/drawing/2014/main" val="3445175591"/>
                    </a:ext>
                  </a:extLst>
                </a:gridCol>
                <a:gridCol w="2694821">
                  <a:extLst>
                    <a:ext uri="{9D8B030D-6E8A-4147-A177-3AD203B41FA5}">
                      <a16:colId xmlns:a16="http://schemas.microsoft.com/office/drawing/2014/main" val="2819035242"/>
                    </a:ext>
                  </a:extLst>
                </a:gridCol>
              </a:tblGrid>
              <a:tr h="17658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fontAlgn="ctr"/>
                      <a:r>
                        <a:rPr lang="ja-JP" altLang="en-US" sz="1400" b="1" i="0" u="none" strike="noStrike" dirty="0">
                          <a:solidFill>
                            <a:schemeClr val="bg1"/>
                          </a:solidFill>
                          <a:effectLst/>
                          <a:latin typeface="+mn-ea"/>
                          <a:ea typeface="+mn-ea"/>
                        </a:rPr>
                        <a:t>分類</a:t>
                      </a:r>
                      <a:endParaRPr lang="en-US" sz="1400" b="1" i="0" u="none" strike="noStrike" dirty="0">
                        <a:solidFill>
                          <a:schemeClr val="bg1"/>
                        </a:solidFill>
                        <a:effectLst/>
                        <a:latin typeface="+mn-ea"/>
                        <a:ea typeface="+mn-ea"/>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fontAlgn="ctr"/>
                      <a:r>
                        <a:rPr lang="ja-JP" altLang="en-US" sz="1400" b="1" i="0" u="none" strike="noStrike" dirty="0">
                          <a:solidFill>
                            <a:schemeClr val="bg1"/>
                          </a:solidFill>
                          <a:effectLst/>
                          <a:latin typeface="+mn-ea"/>
                          <a:ea typeface="+mn-ea"/>
                        </a:rPr>
                        <a:t>概要</a:t>
                      </a:r>
                      <a:endParaRPr lang="en-US" sz="1400" b="1" i="0" u="none" strike="noStrike" dirty="0">
                        <a:solidFill>
                          <a:schemeClr val="bg1"/>
                        </a:solidFill>
                        <a:effectLst/>
                        <a:latin typeface="+mn-ea"/>
                        <a:ea typeface="+mn-ea"/>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fontAlgn="ctr"/>
                      <a:r>
                        <a:rPr kumimoji="1" lang="en-US" altLang="ja-JP" sz="1400" b="1" i="0" u="none" strike="noStrike" kern="1200" dirty="0">
                          <a:solidFill>
                            <a:schemeClr val="bg1"/>
                          </a:solidFill>
                          <a:effectLst/>
                          <a:latin typeface="+mn-ea"/>
                          <a:ea typeface="Yu Gothic UI"/>
                          <a:cs typeface="+mn-cs"/>
                        </a:rPr>
                        <a:t>(</a:t>
                      </a:r>
                      <a:r>
                        <a:rPr kumimoji="1" lang="ja-JP" altLang="en-US" sz="1400" b="1" i="0" u="none" strike="noStrike" kern="1200" dirty="0">
                          <a:solidFill>
                            <a:schemeClr val="bg1"/>
                          </a:solidFill>
                          <a:effectLst/>
                          <a:latin typeface="+mn-ea"/>
                          <a:ea typeface="Yu Gothic UI"/>
                          <a:cs typeface="+mn-cs"/>
                        </a:rPr>
                        <a:t>参考</a:t>
                      </a:r>
                      <a:r>
                        <a:rPr kumimoji="1" lang="en-US" altLang="ja-JP" sz="1400" b="1" i="0" u="none" strike="noStrike" kern="1200" dirty="0">
                          <a:solidFill>
                            <a:schemeClr val="bg1"/>
                          </a:solidFill>
                          <a:effectLst/>
                          <a:latin typeface="+mn-ea"/>
                          <a:ea typeface="Yu Gothic UI"/>
                          <a:cs typeface="+mn-cs"/>
                        </a:rPr>
                        <a:t>)</a:t>
                      </a:r>
                      <a:r>
                        <a:rPr kumimoji="1" lang="ja-JP" altLang="en-US" sz="1400" b="1" i="0" u="none" strike="noStrike" kern="1200" dirty="0">
                          <a:solidFill>
                            <a:schemeClr val="bg1"/>
                          </a:solidFill>
                          <a:effectLst/>
                          <a:latin typeface="+mn-ea"/>
                          <a:ea typeface="Yu Gothic UI"/>
                          <a:cs typeface="+mn-cs"/>
                        </a:rPr>
                        <a:t>代表的な技術仕様の</a:t>
                      </a:r>
                      <a:r>
                        <a:rPr kumimoji="1" lang="en-US" altLang="ja-JP" sz="1400" b="1" i="0" u="none" strike="noStrike" kern="1200" dirty="0">
                          <a:solidFill>
                            <a:schemeClr val="bg1"/>
                          </a:solidFill>
                          <a:effectLst/>
                          <a:latin typeface="+mn-ea"/>
                          <a:ea typeface="Yu Gothic UI"/>
                          <a:cs typeface="+mn-cs"/>
                        </a:rPr>
                        <a:t>URL</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5938599"/>
                  </a:ext>
                </a:extLst>
              </a:tr>
              <a:tr h="44065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dirty="0">
                          <a:ln>
                            <a:noFill/>
                          </a:ln>
                          <a:solidFill>
                            <a:schemeClr val="accent1"/>
                          </a:solidFill>
                          <a:effectLst/>
                          <a:uLnTx/>
                          <a:uFillTx/>
                          <a:latin typeface="+mn-ea"/>
                          <a:ea typeface="+mn-ea"/>
                          <a:cs typeface="+mn-cs"/>
                        </a:rPr>
                        <a:t>⑪</a:t>
                      </a:r>
                      <a:endParaRPr kumimoji="1" lang="en-US" altLang="ja-JP" sz="1400" b="1" i="0" u="none" strike="noStrike" kern="1200" cap="none" spc="0" normalizeH="0" baseline="0" noProof="0" dirty="0">
                        <a:ln>
                          <a:noFill/>
                        </a:ln>
                        <a:solidFill>
                          <a:schemeClr val="accent1"/>
                        </a:solidFill>
                        <a:effectLst/>
                        <a:uLnTx/>
                        <a:uFillTx/>
                        <a:latin typeface="+mn-ea"/>
                        <a:ea typeface="+mn-ea"/>
                        <a:cs typeface="+mn-cs"/>
                      </a:endParaRPr>
                    </a:p>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DID Document</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indent="-179388">
                        <a:buFont typeface="Arial" panose="020B0604020202020204" pitchFamily="34" charset="0"/>
                        <a:buChar char="•"/>
                      </a:pPr>
                      <a:r>
                        <a:rPr kumimoji="1" lang="ja-JP" altLang="en-US" sz="1200" dirty="0">
                          <a:solidFill>
                            <a:schemeClr val="tx1"/>
                          </a:solidFill>
                          <a:latin typeface="+mn-ea"/>
                          <a:ea typeface="+mn-ea"/>
                        </a:rPr>
                        <a:t>証明書の発行元を証明する署名検証のための各種情報を格納したデータモデルやそれを活用した検証方法、インターフェイスを定義</a:t>
                      </a: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DID Document</a:t>
                      </a:r>
                      <a:r>
                        <a:rPr kumimoji="1" lang="ja-JP" altLang="en-US" sz="1200" dirty="0">
                          <a:solidFill>
                            <a:schemeClr val="tx1"/>
                          </a:solidFill>
                          <a:latin typeface="+mn-ea"/>
                          <a:ea typeface="+mn-ea"/>
                        </a:rPr>
                        <a:t>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hlinkClick r:id="rId2"/>
                        </a:rPr>
                        <a:t>Decentralized Identifiers (DIDs) v1.0</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474211"/>
                  </a:ext>
                </a:extLst>
              </a:tr>
              <a:tr h="187552">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dirty="0">
                          <a:ln>
                            <a:noFill/>
                          </a:ln>
                          <a:solidFill>
                            <a:schemeClr val="accent1"/>
                          </a:solidFill>
                          <a:effectLst/>
                          <a:uLnTx/>
                          <a:uFillTx/>
                          <a:latin typeface="+mn-ea"/>
                          <a:ea typeface="+mn-ea"/>
                          <a:cs typeface="+mn-cs"/>
                        </a:rPr>
                        <a:t>⑫</a:t>
                      </a:r>
                      <a:endParaRPr kumimoji="1" lang="en-US" altLang="ja-JP" sz="1400" b="1" i="0" u="none" strike="noStrike" kern="1200" cap="none" spc="0" normalizeH="0" baseline="0" noProof="0" dirty="0">
                        <a:ln>
                          <a:noFill/>
                        </a:ln>
                        <a:solidFill>
                          <a:schemeClr val="accent1"/>
                        </a:solidFill>
                        <a:effectLst/>
                        <a:uLnTx/>
                        <a:uFillTx/>
                        <a:latin typeface="+mn-ea"/>
                        <a:ea typeface="+mn-ea"/>
                        <a:cs typeface="+mn-cs"/>
                      </a:endParaRPr>
                    </a:p>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DID Scaling</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indent="-179388">
                        <a:buFont typeface="Arial" panose="020B0604020202020204" pitchFamily="34" charset="0"/>
                        <a:buChar char="•"/>
                      </a:pPr>
                      <a:r>
                        <a:rPr kumimoji="1" lang="ja-JP" altLang="en-US" sz="1200" dirty="0">
                          <a:solidFill>
                            <a:schemeClr val="tx1"/>
                          </a:solidFill>
                          <a:latin typeface="+mn-ea"/>
                          <a:ea typeface="+mn-ea"/>
                        </a:rPr>
                        <a:t>データレジストリに用いられるブロックチェーンのスループット改善の方式等を定義</a:t>
                      </a:r>
                      <a:endParaRPr kumimoji="1" lang="en-US" altLang="ja-JP" sz="1200" dirty="0">
                        <a:solidFill>
                          <a:schemeClr val="tx1"/>
                        </a:solidFill>
                        <a:latin typeface="+mn-ea"/>
                        <a:ea typeface="+mn-ea"/>
                      </a:endParaRP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DIF</a:t>
                      </a:r>
                      <a:r>
                        <a:rPr kumimoji="1" lang="ja-JP" altLang="en-US" sz="1200" dirty="0">
                          <a:solidFill>
                            <a:schemeClr val="tx1"/>
                          </a:solidFill>
                          <a:latin typeface="+mn-ea"/>
                          <a:ea typeface="+mn-ea"/>
                        </a:rPr>
                        <a:t>の</a:t>
                      </a:r>
                      <a:r>
                        <a:rPr kumimoji="1" lang="en-US" altLang="ja-JP" sz="1200" dirty="0" err="1">
                          <a:solidFill>
                            <a:schemeClr val="tx1"/>
                          </a:solidFill>
                          <a:latin typeface="+mn-ea"/>
                          <a:ea typeface="+mn-ea"/>
                        </a:rPr>
                        <a:t>Sidetree</a:t>
                      </a:r>
                      <a:r>
                        <a:rPr kumimoji="1" lang="en-US" altLang="ja-JP" sz="1200" dirty="0">
                          <a:solidFill>
                            <a:schemeClr val="tx1"/>
                          </a:solidFill>
                          <a:latin typeface="+mn-ea"/>
                          <a:ea typeface="+mn-ea"/>
                        </a:rPr>
                        <a:t> Protocol</a:t>
                      </a:r>
                      <a:r>
                        <a:rPr kumimoji="1" lang="ja-JP" altLang="en-US" sz="1200" dirty="0">
                          <a:solidFill>
                            <a:schemeClr val="tx1"/>
                          </a:solidFill>
                          <a:latin typeface="+mn-ea"/>
                          <a:ea typeface="+mn-ea"/>
                        </a:rPr>
                        <a:t>や</a:t>
                      </a:r>
                      <a:r>
                        <a:rPr kumimoji="1" lang="en-US" altLang="ja-JP" sz="1200" dirty="0">
                          <a:solidFill>
                            <a:schemeClr val="tx1"/>
                          </a:solidFill>
                          <a:latin typeface="+mn-ea"/>
                          <a:ea typeface="+mn-ea"/>
                        </a:rPr>
                        <a:t>KERI</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Key Event Receipt Infrastructure</a:t>
                      </a:r>
                      <a:r>
                        <a:rPr kumimoji="1" lang="ja-JP" altLang="en-US" sz="1200" dirty="0">
                          <a:solidFill>
                            <a:schemeClr val="tx1"/>
                          </a:solidFill>
                          <a:latin typeface="+mn-ea"/>
                          <a:ea typeface="+mn-ea"/>
                        </a:rPr>
                        <a:t>）が挙げられる</a:t>
                      </a:r>
                      <a:endParaRPr kumimoji="1" lang="en-US" altLang="ja-JP" sz="1200" dirty="0">
                        <a:solidFill>
                          <a:schemeClr val="tx1"/>
                        </a:solidFill>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err="1">
                          <a:latin typeface="+mn-ea"/>
                          <a:ea typeface="+mn-ea"/>
                          <a:hlinkClick r:id="rId3"/>
                        </a:rPr>
                        <a:t>Sidetree</a:t>
                      </a:r>
                      <a:r>
                        <a:rPr kumimoji="1" lang="en-US" altLang="ja-JP" sz="1000" dirty="0">
                          <a:latin typeface="+mn-ea"/>
                          <a:ea typeface="+mn-ea"/>
                          <a:hlinkClick r:id="rId3"/>
                        </a:rPr>
                        <a:t> v1.0.1</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8162923"/>
                  </a:ext>
                </a:extLst>
              </a:tr>
              <a:tr h="422857">
                <a:tc vMerge="1">
                  <a:txBody>
                    <a:bodyPr/>
                    <a:lstStyle/>
                    <a:p>
                      <a:endParaRPr kumimoji="1" lang="ja-JP" altLang="en-US"/>
                    </a:p>
                  </a:txBody>
                  <a:tcPr/>
                </a:tc>
                <a:tc vMerge="1">
                  <a:txBody>
                    <a:bodyPr/>
                    <a:lstStyle/>
                    <a:p>
                      <a:endParaRPr kumimoji="1" lang="ja-JP" altLang="en-US"/>
                    </a:p>
                  </a:txBody>
                  <a:tcPr/>
                </a:tc>
                <a:tc>
                  <a:txBody>
                    <a:bodyPr/>
                    <a:lstStyle/>
                    <a:p>
                      <a:pPr marL="0" indent="0">
                        <a:buFont typeface="Arial" panose="020B0604020202020204" pitchFamily="34" charset="0"/>
                        <a:buNone/>
                      </a:pPr>
                      <a:r>
                        <a:rPr kumimoji="1" lang="en-US" altLang="ja-JP" sz="1000" dirty="0">
                          <a:latin typeface="+mn-ea"/>
                          <a:ea typeface="+mn-ea"/>
                          <a:hlinkClick r:id="rId4"/>
                        </a:rPr>
                        <a:t>KERI</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7151405"/>
                  </a:ext>
                </a:extLst>
              </a:tr>
              <a:tr h="138864">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400" b="1" dirty="0">
                          <a:solidFill>
                            <a:schemeClr val="accent1"/>
                          </a:solidFill>
                          <a:latin typeface="+mn-ea"/>
                          <a:ea typeface="+mn-ea"/>
                        </a:rPr>
                        <a:t>⑬</a:t>
                      </a:r>
                      <a:endParaRPr kumimoji="1" lang="en-US" altLang="ja-JP" sz="1400" b="1" dirty="0">
                        <a:solidFill>
                          <a:schemeClr val="accent1"/>
                        </a:solidFill>
                        <a:latin typeface="+mn-ea"/>
                        <a:ea typeface="+mn-ea"/>
                      </a:endParaRP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accent1"/>
                          </a:solidFill>
                          <a:latin typeface="+mn-ea"/>
                          <a:ea typeface="+mn-ea"/>
                        </a:rPr>
                        <a:t>DID Method</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dirty="0">
                          <a:solidFill>
                            <a:schemeClr val="tx1"/>
                          </a:solidFill>
                          <a:latin typeface="+mn-ea"/>
                          <a:ea typeface="+mn-ea"/>
                        </a:rPr>
                        <a:t>分散型アイデンティティシステムの相互運用性を高めるための、各方式を識別する方法を定義</a:t>
                      </a:r>
                      <a:endParaRPr kumimoji="1" lang="en-US" altLang="ja-JP" sz="1200" dirty="0">
                        <a:solidFill>
                          <a:schemeClr val="tx1"/>
                        </a:solidFill>
                        <a:latin typeface="+mn-ea"/>
                        <a:ea typeface="+mn-ea"/>
                      </a:endParaRPr>
                    </a:p>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W3C</a:t>
                      </a:r>
                      <a:r>
                        <a:rPr kumimoji="1" lang="ja-JP" altLang="en-US" sz="1200" dirty="0">
                          <a:solidFill>
                            <a:schemeClr val="tx1"/>
                          </a:solidFill>
                          <a:latin typeface="+mn-ea"/>
                          <a:ea typeface="+mn-ea"/>
                        </a:rPr>
                        <a:t>が定義している</a:t>
                      </a:r>
                      <a:r>
                        <a:rPr kumimoji="1" lang="en-US" altLang="ja-JP" sz="1200" dirty="0">
                          <a:solidFill>
                            <a:schemeClr val="tx1"/>
                          </a:solidFill>
                          <a:latin typeface="+mn-ea"/>
                          <a:ea typeface="+mn-ea"/>
                        </a:rPr>
                        <a:t>DID Method</a:t>
                      </a:r>
                      <a:r>
                        <a:rPr kumimoji="1" lang="ja-JP" altLang="en-US" sz="1200" dirty="0">
                          <a:solidFill>
                            <a:schemeClr val="tx1"/>
                          </a:solidFill>
                          <a:latin typeface="+mn-ea"/>
                          <a:ea typeface="+mn-ea"/>
                        </a:rPr>
                        <a:t>が挙げられる。</a:t>
                      </a:r>
                      <a:endParaRPr kumimoji="1" lang="en-US" altLang="ja-JP" sz="1200" dirty="0">
                        <a:solidFill>
                          <a:schemeClr val="tx1"/>
                        </a:solidFill>
                        <a:latin typeface="+mn-ea"/>
                        <a:ea typeface="+mn-ea"/>
                      </a:endParaRPr>
                    </a:p>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dirty="0">
                          <a:solidFill>
                            <a:schemeClr val="tx1"/>
                          </a:solidFill>
                          <a:latin typeface="+mn-ea"/>
                          <a:ea typeface="+mn-ea"/>
                        </a:rPr>
                        <a:t>DID Method</a:t>
                      </a:r>
                      <a:r>
                        <a:rPr kumimoji="1" lang="ja-JP" altLang="en-US" sz="1200" dirty="0">
                          <a:solidFill>
                            <a:schemeClr val="tx1"/>
                          </a:solidFill>
                          <a:latin typeface="+mn-ea"/>
                          <a:ea typeface="+mn-ea"/>
                        </a:rPr>
                        <a:t>にて各方式ごとに定義されており、</a:t>
                      </a:r>
                      <a:r>
                        <a:rPr kumimoji="1" lang="en-US" altLang="ja-JP" sz="1200" dirty="0">
                          <a:solidFill>
                            <a:schemeClr val="tx1"/>
                          </a:solidFill>
                          <a:latin typeface="+mn-ea"/>
                          <a:ea typeface="+mn-ea"/>
                        </a:rPr>
                        <a:t>Ethereum</a:t>
                      </a:r>
                      <a:r>
                        <a:rPr kumimoji="1" lang="ja-JP" altLang="en-US" sz="1200" dirty="0">
                          <a:solidFill>
                            <a:schemeClr val="tx1"/>
                          </a:solidFill>
                          <a:latin typeface="+mn-ea"/>
                          <a:ea typeface="+mn-ea"/>
                        </a:rPr>
                        <a:t>を用いる</a:t>
                      </a:r>
                      <a:r>
                        <a:rPr kumimoji="1" lang="en-US" altLang="ja-JP" sz="1200" dirty="0" err="1">
                          <a:solidFill>
                            <a:schemeClr val="tx1"/>
                          </a:solidFill>
                          <a:latin typeface="+mn-ea"/>
                          <a:ea typeface="+mn-ea"/>
                        </a:rPr>
                        <a:t>did:ethr</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Hyperledger</a:t>
                      </a:r>
                      <a:r>
                        <a:rPr kumimoji="1" lang="ja-JP" altLang="en-US" sz="1200" dirty="0">
                          <a:solidFill>
                            <a:schemeClr val="tx1"/>
                          </a:solidFill>
                          <a:latin typeface="+mn-ea"/>
                          <a:ea typeface="+mn-ea"/>
                        </a:rPr>
                        <a:t>で検討されている</a:t>
                      </a:r>
                      <a:r>
                        <a:rPr kumimoji="1" lang="en-US" altLang="ja-JP" sz="1200" dirty="0" err="1">
                          <a:solidFill>
                            <a:schemeClr val="tx1"/>
                          </a:solidFill>
                          <a:latin typeface="+mn-ea"/>
                          <a:ea typeface="+mn-ea"/>
                        </a:rPr>
                        <a:t>Sovrin</a:t>
                      </a:r>
                      <a:r>
                        <a:rPr kumimoji="1" lang="en-US" altLang="ja-JP" sz="1200" dirty="0">
                          <a:solidFill>
                            <a:schemeClr val="tx1"/>
                          </a:solidFill>
                          <a:latin typeface="+mn-ea"/>
                          <a:ea typeface="+mn-ea"/>
                        </a:rPr>
                        <a:t> Network</a:t>
                      </a:r>
                      <a:r>
                        <a:rPr kumimoji="1" lang="ja-JP" altLang="en-US" sz="1200" dirty="0">
                          <a:solidFill>
                            <a:schemeClr val="tx1"/>
                          </a:solidFill>
                          <a:latin typeface="+mn-ea"/>
                          <a:ea typeface="+mn-ea"/>
                        </a:rPr>
                        <a:t>を用いる</a:t>
                      </a:r>
                      <a:r>
                        <a:rPr kumimoji="1" lang="en-US" altLang="ja-JP" sz="1200" dirty="0" err="1">
                          <a:solidFill>
                            <a:schemeClr val="tx1"/>
                          </a:solidFill>
                          <a:latin typeface="+mn-ea"/>
                          <a:ea typeface="+mn-ea"/>
                        </a:rPr>
                        <a:t>did:sov</a:t>
                      </a:r>
                      <a:r>
                        <a:rPr kumimoji="1" lang="ja-JP" altLang="en-US" sz="1200" dirty="0">
                          <a:solidFill>
                            <a:schemeClr val="tx1"/>
                          </a:solidFill>
                          <a:latin typeface="+mn-ea"/>
                          <a:ea typeface="+mn-ea"/>
                        </a:rPr>
                        <a:t>、データレジストリを挟まず</a:t>
                      </a:r>
                      <a:r>
                        <a:rPr kumimoji="1" lang="en-US" altLang="ja-JP" sz="1200" dirty="0">
                          <a:solidFill>
                            <a:schemeClr val="tx1"/>
                          </a:solidFill>
                          <a:latin typeface="+mn-ea"/>
                          <a:ea typeface="+mn-ea"/>
                        </a:rPr>
                        <a:t>P2P</a:t>
                      </a:r>
                      <a:r>
                        <a:rPr kumimoji="1" lang="ja-JP" altLang="en-US" sz="1200" dirty="0">
                          <a:solidFill>
                            <a:schemeClr val="tx1"/>
                          </a:solidFill>
                          <a:latin typeface="+mn-ea"/>
                          <a:ea typeface="+mn-ea"/>
                        </a:rPr>
                        <a:t>で直接やり取りする</a:t>
                      </a:r>
                      <a:r>
                        <a:rPr kumimoji="1" lang="en-US" altLang="ja-JP" sz="1200" dirty="0" err="1">
                          <a:solidFill>
                            <a:schemeClr val="tx1"/>
                          </a:solidFill>
                          <a:latin typeface="+mn-ea"/>
                          <a:ea typeface="+mn-ea"/>
                        </a:rPr>
                        <a:t>did:key</a:t>
                      </a:r>
                      <a:r>
                        <a:rPr kumimoji="1" lang="ja-JP" altLang="en-US" sz="1200" dirty="0">
                          <a:solidFill>
                            <a:schemeClr val="tx1"/>
                          </a:solidFill>
                          <a:latin typeface="+mn-ea"/>
                          <a:ea typeface="+mn-ea"/>
                        </a:rPr>
                        <a:t>等がある</a:t>
                      </a:r>
                      <a:endParaRPr kumimoji="1" lang="en-US" altLang="ja-JP" sz="1200" dirty="0">
                        <a:solidFill>
                          <a:schemeClr val="tx1"/>
                        </a:solidFill>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2"/>
                        </a:rPr>
                        <a:t>Decentralized Identifiers (DIDs) v1.0</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750674"/>
                  </a:ext>
                </a:extLst>
              </a:tr>
              <a:tr h="584716">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5"/>
                        </a:rPr>
                        <a:t>DID Specification Registries</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2474214"/>
                  </a:ext>
                </a:extLst>
              </a:tr>
              <a:tr h="233173">
                <a:tc rowSpan="3">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400" b="1" dirty="0">
                          <a:solidFill>
                            <a:schemeClr val="accent1"/>
                          </a:solidFill>
                          <a:latin typeface="+mn-ea"/>
                          <a:ea typeface="+mn-ea"/>
                        </a:rPr>
                        <a:t>⑭</a:t>
                      </a:r>
                      <a:endParaRPr kumimoji="1" lang="en-US" altLang="ja-JP" sz="1400" b="1" dirty="0">
                        <a:solidFill>
                          <a:schemeClr val="accent1"/>
                        </a:solidFill>
                        <a:latin typeface="+mn-ea"/>
                        <a:ea typeface="+mn-ea"/>
                      </a:endParaRP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accent1"/>
                          </a:solidFill>
                          <a:latin typeface="+mn-ea"/>
                          <a:ea typeface="+mn-ea"/>
                        </a:rPr>
                        <a:t>Anchor Types</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3">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indent="-179388">
                        <a:buFont typeface="Arial" panose="020B0604020202020204" pitchFamily="34" charset="0"/>
                        <a:buChar char="•"/>
                      </a:pPr>
                      <a:r>
                        <a:rPr kumimoji="1" lang="ja-JP" altLang="en-US" sz="1200" dirty="0">
                          <a:solidFill>
                            <a:schemeClr val="tx1"/>
                          </a:solidFill>
                          <a:latin typeface="+mn-ea"/>
                          <a:ea typeface="+mn-ea"/>
                        </a:rPr>
                        <a:t>各エンティティから信頼され、耐改ざん性があるデータレジストリの具体的な実装基盤を定義</a:t>
                      </a: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Hyperledger Indy</a:t>
                      </a:r>
                      <a:r>
                        <a:rPr kumimoji="1" lang="ja-JP" altLang="en-US" sz="1200" dirty="0">
                          <a:solidFill>
                            <a:schemeClr val="tx1"/>
                          </a:solidFill>
                          <a:latin typeface="+mn-ea"/>
                          <a:ea typeface="+mn-ea"/>
                        </a:rPr>
                        <a:t>を用いるプライベートチェーンである</a:t>
                      </a:r>
                      <a:r>
                        <a:rPr kumimoji="1" lang="en-US" altLang="ja-JP" sz="1200" dirty="0" err="1">
                          <a:solidFill>
                            <a:schemeClr val="tx1"/>
                          </a:solidFill>
                          <a:latin typeface="+mn-ea"/>
                          <a:ea typeface="+mn-ea"/>
                        </a:rPr>
                        <a:t>Sovrin</a:t>
                      </a:r>
                      <a:r>
                        <a:rPr kumimoji="1" lang="en-US" altLang="ja-JP" sz="1200" dirty="0">
                          <a:solidFill>
                            <a:schemeClr val="tx1"/>
                          </a:solidFill>
                          <a:latin typeface="+mn-ea"/>
                          <a:ea typeface="+mn-ea"/>
                        </a:rPr>
                        <a:t> Network</a:t>
                      </a:r>
                      <a:r>
                        <a:rPr kumimoji="1" lang="ja-JP" altLang="en-US" sz="1200" dirty="0">
                          <a:solidFill>
                            <a:schemeClr val="tx1"/>
                          </a:solidFill>
                          <a:latin typeface="+mn-ea"/>
                          <a:ea typeface="+mn-ea"/>
                        </a:rPr>
                        <a:t>や、</a:t>
                      </a:r>
                      <a:r>
                        <a:rPr kumimoji="1" lang="en-US" altLang="ja-JP" sz="1200" dirty="0">
                          <a:solidFill>
                            <a:schemeClr val="tx1"/>
                          </a:solidFill>
                          <a:latin typeface="+mn-ea"/>
                          <a:ea typeface="+mn-ea"/>
                        </a:rPr>
                        <a:t>Ethereum</a:t>
                      </a:r>
                      <a:r>
                        <a:rPr kumimoji="1" lang="ja-JP" altLang="en-US" sz="1200" dirty="0">
                          <a:solidFill>
                            <a:schemeClr val="tx1"/>
                          </a:solidFill>
                          <a:latin typeface="+mn-ea"/>
                          <a:ea typeface="+mn-ea"/>
                        </a:rPr>
                        <a:t>や</a:t>
                      </a:r>
                      <a:r>
                        <a:rPr kumimoji="1" lang="en-US" altLang="ja-JP" sz="1200" dirty="0">
                          <a:solidFill>
                            <a:schemeClr val="tx1"/>
                          </a:solidFill>
                          <a:latin typeface="+mn-ea"/>
                          <a:ea typeface="+mn-ea"/>
                        </a:rPr>
                        <a:t>Bitcoin</a:t>
                      </a:r>
                      <a:r>
                        <a:rPr kumimoji="1" lang="ja-JP" altLang="en-US" sz="1200" dirty="0">
                          <a:solidFill>
                            <a:schemeClr val="tx1"/>
                          </a:solidFill>
                          <a:latin typeface="+mn-ea"/>
                          <a:ea typeface="+mn-ea"/>
                        </a:rPr>
                        <a:t>などのパブリックチェーン等が挙げられる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hlinkClick r:id="rId6"/>
                        </a:rPr>
                        <a:t>Hyperledger Indy</a:t>
                      </a:r>
                      <a:br>
                        <a:rPr kumimoji="1" lang="en-US" altLang="ja-JP" sz="1000" dirty="0">
                          <a:latin typeface="+mn-ea"/>
                          <a:ea typeface="+mn-ea"/>
                        </a:rPr>
                      </a:br>
                      <a:r>
                        <a:rPr kumimoji="1" lang="en-US" altLang="ja-JP" sz="1000" dirty="0">
                          <a:latin typeface="+mn-ea"/>
                          <a:ea typeface="+mn-ea"/>
                        </a:rPr>
                        <a:t>(</a:t>
                      </a:r>
                      <a:r>
                        <a:rPr kumimoji="1" lang="en-US" altLang="ja-JP" sz="1000" dirty="0" err="1">
                          <a:latin typeface="+mn-ea"/>
                          <a:ea typeface="+mn-ea"/>
                          <a:hlinkClick r:id="rId7"/>
                        </a:rPr>
                        <a:t>Sovrin</a:t>
                      </a:r>
                      <a:r>
                        <a:rPr kumimoji="1" lang="en-US" altLang="ja-JP" sz="1000" dirty="0">
                          <a:latin typeface="+mn-ea"/>
                          <a:ea typeface="+mn-ea"/>
                          <a:hlinkClick r:id="rId7"/>
                        </a:rPr>
                        <a:t> Network</a:t>
                      </a:r>
                      <a:r>
                        <a:rPr kumimoji="1" lang="ja-JP" altLang="en-US" sz="1000" dirty="0">
                          <a:latin typeface="+mn-ea"/>
                          <a:ea typeface="+mn-ea"/>
                        </a:rPr>
                        <a:t>等</a:t>
                      </a:r>
                      <a:r>
                        <a:rPr kumimoji="1" lang="en-US" altLang="ja-JP" sz="1000" dirty="0">
                          <a:latin typeface="+mn-ea"/>
                          <a:ea typeface="+mn-ea"/>
                        </a:rPr>
                        <a:t>)</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5468157"/>
                  </a:ext>
                </a:extLst>
              </a:tr>
              <a:tr h="138864">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8"/>
                        </a:rPr>
                        <a:t>ION Network </a:t>
                      </a:r>
                      <a:r>
                        <a:rPr kumimoji="1" lang="en-US" altLang="ja-JP" sz="1000" dirty="0">
                          <a:latin typeface="+mn-ea"/>
                          <a:ea typeface="+mn-ea"/>
                        </a:rPr>
                        <a:t>(Bitcoin)</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8571531"/>
                  </a:ext>
                </a:extLst>
              </a:tr>
              <a:tr h="138864">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latin typeface="+mn-ea"/>
                        <a:ea typeface="+mn-ea"/>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9"/>
                        </a:rPr>
                        <a:t>Element</a:t>
                      </a:r>
                      <a:r>
                        <a:rPr kumimoji="1" lang="en-US" altLang="ja-JP" sz="1000" dirty="0">
                          <a:latin typeface="+mn-ea"/>
                          <a:ea typeface="+mn-ea"/>
                        </a:rPr>
                        <a:t> (Ethereum)</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2901754"/>
                  </a:ext>
                </a:extLst>
              </a:tr>
              <a:tr h="233173">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400" b="1" dirty="0">
                          <a:solidFill>
                            <a:schemeClr val="accent1"/>
                          </a:solidFill>
                          <a:latin typeface="+mn-ea"/>
                          <a:ea typeface="+mn-ea"/>
                        </a:rPr>
                        <a:t>⑮</a:t>
                      </a:r>
                      <a:endParaRPr kumimoji="1" lang="en-US" altLang="ja-JP" sz="1400" b="1" dirty="0">
                        <a:solidFill>
                          <a:schemeClr val="accent1"/>
                        </a:solidFill>
                        <a:latin typeface="+mn-ea"/>
                        <a:ea typeface="+mn-ea"/>
                      </a:endParaRP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accent1"/>
                          </a:solidFill>
                          <a:latin typeface="+mn-ea"/>
                          <a:ea typeface="+mn-ea"/>
                        </a:rPr>
                        <a:t>DID Resolution</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indent="-179388">
                        <a:buFont typeface="Arial" panose="020B0604020202020204" pitchFamily="34" charset="0"/>
                        <a:buChar char="•"/>
                      </a:pPr>
                      <a:r>
                        <a:rPr kumimoji="1" lang="en-US" altLang="ja-JP" sz="1200" dirty="0">
                          <a:solidFill>
                            <a:schemeClr val="tx1"/>
                          </a:solidFill>
                          <a:latin typeface="+mn-ea"/>
                          <a:ea typeface="+mn-ea"/>
                        </a:rPr>
                        <a:t>DID Method</a:t>
                      </a:r>
                      <a:r>
                        <a:rPr kumimoji="1" lang="ja-JP" altLang="en-US" sz="1200" dirty="0">
                          <a:solidFill>
                            <a:schemeClr val="tx1"/>
                          </a:solidFill>
                          <a:latin typeface="+mn-ea"/>
                          <a:ea typeface="+mn-ea"/>
                        </a:rPr>
                        <a:t>を参照してデータレジストリを特定するための名前解決の仕組みを定義</a:t>
                      </a: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W3C</a:t>
                      </a:r>
                      <a:r>
                        <a:rPr kumimoji="1" lang="ja-JP" altLang="en-US" sz="1200" dirty="0">
                          <a:solidFill>
                            <a:schemeClr val="tx1"/>
                          </a:solidFill>
                          <a:latin typeface="+mn-ea"/>
                          <a:ea typeface="+mn-ea"/>
                        </a:rPr>
                        <a:t>が定義している</a:t>
                      </a:r>
                      <a:r>
                        <a:rPr kumimoji="1" lang="en-US" altLang="ja-JP" sz="1200" dirty="0">
                          <a:solidFill>
                            <a:schemeClr val="tx1"/>
                          </a:solidFill>
                          <a:latin typeface="+mn-ea"/>
                          <a:ea typeface="+mn-ea"/>
                        </a:rPr>
                        <a:t>Decentralized Identifier Resolution (DID Resolution) v0.3</a:t>
                      </a:r>
                      <a:r>
                        <a:rPr kumimoji="1" lang="ja-JP" altLang="en-US" sz="1200" dirty="0">
                          <a:solidFill>
                            <a:schemeClr val="tx1"/>
                          </a:solidFill>
                          <a:latin typeface="+mn-ea"/>
                          <a:ea typeface="+mn-ea"/>
                        </a:rPr>
                        <a:t>や</a:t>
                      </a:r>
                      <a:r>
                        <a:rPr kumimoji="1" lang="en-US" altLang="ja-JP" sz="1200" dirty="0">
                          <a:solidFill>
                            <a:schemeClr val="tx1"/>
                          </a:solidFill>
                          <a:latin typeface="+mn-ea"/>
                          <a:ea typeface="+mn-ea"/>
                        </a:rPr>
                        <a:t>DIF</a:t>
                      </a:r>
                      <a:r>
                        <a:rPr kumimoji="1" lang="ja-JP" altLang="en-US" sz="1200" dirty="0">
                          <a:solidFill>
                            <a:schemeClr val="tx1"/>
                          </a:solidFill>
                          <a:latin typeface="+mn-ea"/>
                          <a:ea typeface="+mn-ea"/>
                        </a:rPr>
                        <a:t>で定義している</a:t>
                      </a:r>
                      <a:r>
                        <a:rPr kumimoji="1" lang="en-US" altLang="ja-JP" sz="1200" dirty="0">
                          <a:solidFill>
                            <a:schemeClr val="tx1"/>
                          </a:solidFill>
                          <a:latin typeface="+mn-ea"/>
                          <a:ea typeface="+mn-ea"/>
                        </a:rPr>
                        <a:t>Universal Resolver</a:t>
                      </a:r>
                      <a:r>
                        <a:rPr kumimoji="1" lang="ja-JP" altLang="en-US" sz="1200" dirty="0">
                          <a:solidFill>
                            <a:schemeClr val="tx1"/>
                          </a:solidFill>
                          <a:latin typeface="+mn-ea"/>
                          <a:ea typeface="+mn-ea"/>
                        </a:rPr>
                        <a:t>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hlinkClick r:id="rId10"/>
                        </a:rPr>
                        <a:t>Decentralized Identifier Resolution (DID Resolution) v0.3</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8082330"/>
                  </a:ext>
                </a:extLst>
              </a:tr>
              <a:tr h="207480">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100" dirty="0">
                        <a:latin typeface="+mn-ea"/>
                        <a:ea typeface="+mn-ea"/>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11"/>
                        </a:rPr>
                        <a:t>Universal Resolver</a:t>
                      </a:r>
                      <a:endParaRPr kumimoji="1" lang="ja-JP" altLang="en-US"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6794908"/>
                  </a:ext>
                </a:extLst>
              </a:tr>
              <a:tr h="138864">
                <a:tc rowSpan="3">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400" b="1" dirty="0">
                          <a:solidFill>
                            <a:schemeClr val="accent1"/>
                          </a:solidFill>
                          <a:latin typeface="+mn-ea"/>
                          <a:ea typeface="+mn-ea"/>
                        </a:rPr>
                        <a:t>⑯</a:t>
                      </a:r>
                      <a:endParaRPr kumimoji="1" lang="en-US" altLang="ja-JP" sz="1400" b="1" dirty="0">
                        <a:solidFill>
                          <a:schemeClr val="accent1"/>
                        </a:solidFill>
                        <a:latin typeface="+mn-ea"/>
                        <a:ea typeface="+mn-ea"/>
                      </a:endParaRP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accent1"/>
                          </a:solidFill>
                          <a:latin typeface="+mn-ea"/>
                          <a:ea typeface="+mn-ea"/>
                        </a:rPr>
                        <a:t>DID-Anchored </a:t>
                      </a:r>
                      <a:r>
                        <a:rPr kumimoji="1" lang="en-US" altLang="ja-JP" sz="1400" b="1" dirty="0" err="1">
                          <a:solidFill>
                            <a:schemeClr val="accent1"/>
                          </a:solidFill>
                          <a:latin typeface="+mn-ea"/>
                          <a:ea typeface="+mn-ea"/>
                        </a:rPr>
                        <a:t>Svcs</a:t>
                      </a:r>
                      <a:endParaRPr kumimoji="1" lang="en-US" altLang="ja-JP" sz="1400" b="1" dirty="0">
                        <a:solidFill>
                          <a:schemeClr val="accent1"/>
                        </a:solidFill>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3">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indent="-179388">
                        <a:buFont typeface="Arial" panose="020B0604020202020204" pitchFamily="34" charset="0"/>
                        <a:buChar char="•"/>
                      </a:pPr>
                      <a:r>
                        <a:rPr kumimoji="1" lang="ja-JP" altLang="en-US" sz="1200" dirty="0">
                          <a:solidFill>
                            <a:schemeClr val="tx1"/>
                          </a:solidFill>
                          <a:latin typeface="+mn-ea"/>
                          <a:ea typeface="+mn-ea"/>
                        </a:rPr>
                        <a:t>鍵情報や</a:t>
                      </a:r>
                      <a:r>
                        <a:rPr kumimoji="1" lang="en-US" altLang="ja-JP" sz="1200" dirty="0">
                          <a:solidFill>
                            <a:schemeClr val="tx1"/>
                          </a:solidFill>
                          <a:latin typeface="+mn-ea"/>
                          <a:ea typeface="+mn-ea"/>
                        </a:rPr>
                        <a:t>DID Document</a:t>
                      </a:r>
                      <a:r>
                        <a:rPr kumimoji="1" lang="ja-JP" altLang="en-US" sz="1200" dirty="0">
                          <a:solidFill>
                            <a:schemeClr val="tx1"/>
                          </a:solidFill>
                          <a:latin typeface="+mn-ea"/>
                          <a:ea typeface="+mn-ea"/>
                        </a:rPr>
                        <a:t>を格納するためのセキュアなストレージサービスを定義</a:t>
                      </a: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a:t>
                      </a:r>
                      <a:r>
                        <a:rPr kumimoji="1" lang="en-US" altLang="ja-JP" sz="1200" dirty="0">
                          <a:solidFill>
                            <a:schemeClr val="tx1"/>
                          </a:solidFill>
                          <a:latin typeface="+mn-ea"/>
                          <a:ea typeface="+mn-ea"/>
                        </a:rPr>
                        <a:t>DIF</a:t>
                      </a:r>
                      <a:r>
                        <a:rPr kumimoji="1" lang="ja-JP" altLang="en-US" sz="1200" dirty="0">
                          <a:solidFill>
                            <a:schemeClr val="tx1"/>
                          </a:solidFill>
                          <a:latin typeface="+mn-ea"/>
                          <a:ea typeface="+mn-ea"/>
                        </a:rPr>
                        <a:t>が定義している</a:t>
                      </a:r>
                      <a:r>
                        <a:rPr kumimoji="1" lang="en-US" altLang="ja-JP" sz="1200" dirty="0">
                          <a:solidFill>
                            <a:schemeClr val="tx1"/>
                          </a:solidFill>
                          <a:latin typeface="+mn-ea"/>
                          <a:ea typeface="+mn-ea"/>
                        </a:rPr>
                        <a:t>Identity Hub</a:t>
                      </a:r>
                      <a:r>
                        <a:rPr kumimoji="1" lang="ja-JP" altLang="en-US" sz="1200" dirty="0">
                          <a:solidFill>
                            <a:schemeClr val="tx1"/>
                          </a:solidFill>
                          <a:latin typeface="+mn-ea"/>
                          <a:ea typeface="+mn-ea"/>
                        </a:rPr>
                        <a:t>や</a:t>
                      </a:r>
                      <a:r>
                        <a:rPr kumimoji="1" lang="en-US" altLang="ja-JP" sz="1200" dirty="0">
                          <a:solidFill>
                            <a:schemeClr val="tx1"/>
                          </a:solidFill>
                          <a:latin typeface="+mn-ea"/>
                          <a:ea typeface="+mn-ea"/>
                        </a:rPr>
                        <a:t>Digital Bazaar</a:t>
                      </a:r>
                      <a:r>
                        <a:rPr kumimoji="1" lang="ja-JP" altLang="en-US" sz="1200" dirty="0">
                          <a:solidFill>
                            <a:schemeClr val="tx1"/>
                          </a:solidFill>
                          <a:latin typeface="+mn-ea"/>
                          <a:ea typeface="+mn-ea"/>
                        </a:rPr>
                        <a:t>が定義している</a:t>
                      </a:r>
                      <a:r>
                        <a:rPr kumimoji="1" lang="en-US" altLang="ja-JP" sz="1200" dirty="0">
                          <a:solidFill>
                            <a:schemeClr val="tx1"/>
                          </a:solidFill>
                          <a:latin typeface="+mn-ea"/>
                          <a:ea typeface="+mn-ea"/>
                        </a:rPr>
                        <a:t>Encrypted Data Vaults</a:t>
                      </a:r>
                      <a:r>
                        <a:rPr kumimoji="1" lang="ja-JP" altLang="en-US" sz="1200" dirty="0">
                          <a:solidFill>
                            <a:schemeClr val="tx1"/>
                          </a:solidFill>
                          <a:latin typeface="+mn-ea"/>
                          <a:ea typeface="+mn-ea"/>
                        </a:rPr>
                        <a:t>（</a:t>
                      </a:r>
                      <a:r>
                        <a:rPr kumimoji="1" lang="en-US" altLang="ja-JP" sz="1200" dirty="0">
                          <a:solidFill>
                            <a:schemeClr val="tx1"/>
                          </a:solidFill>
                          <a:latin typeface="+mn-ea"/>
                          <a:ea typeface="+mn-ea"/>
                        </a:rPr>
                        <a:t>EDV</a:t>
                      </a:r>
                      <a:r>
                        <a:rPr kumimoji="1" lang="ja-JP" altLang="en-US" sz="1200" dirty="0">
                          <a:solidFill>
                            <a:schemeClr val="tx1"/>
                          </a:solidFill>
                          <a:latin typeface="+mn-ea"/>
                          <a:ea typeface="+mn-ea"/>
                        </a:rPr>
                        <a:t>）が挙げられる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hlinkClick r:id="rId12"/>
                        </a:rPr>
                        <a:t>Identity Hub</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8698557"/>
                  </a:ext>
                </a:extLst>
              </a:tr>
              <a:tr h="138864">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indent="-85725">
                        <a:buFont typeface="Arial" panose="020B0604020202020204" pitchFamily="34" charset="0"/>
                        <a:buChar char="•"/>
                      </a:pPr>
                      <a:endParaRPr kumimoji="1" lang="en-US" altLang="ja-JP" sz="1100" dirty="0">
                        <a:latin typeface="+mn-ea"/>
                        <a:ea typeface="+mn-ea"/>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hlinkClick r:id="rId13"/>
                        </a:rPr>
                        <a:t>Encrypted Data Vaults 0.1</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4497826"/>
                  </a:ext>
                </a:extLst>
              </a:tr>
              <a:tr h="162924">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indent="-85725">
                        <a:buFont typeface="Arial" panose="020B0604020202020204" pitchFamily="34" charset="0"/>
                        <a:buChar char="•"/>
                      </a:pPr>
                      <a:endParaRPr kumimoji="1" lang="en-US" altLang="ja-JP" sz="1100" dirty="0">
                        <a:latin typeface="+mn-ea"/>
                        <a:ea typeface="+mn-ea"/>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hlinkClick r:id="rId14"/>
                        </a:rPr>
                        <a:t>Decentralized Web Node</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0706243"/>
                  </a:ext>
                </a:extLst>
              </a:tr>
            </a:tbl>
          </a:graphicData>
        </a:graphic>
      </p:graphicFrame>
      <p:sp>
        <p:nvSpPr>
          <p:cNvPr id="11" name="タイトル 1">
            <a:extLst>
              <a:ext uri="{FF2B5EF4-FFF2-40B4-BE49-F238E27FC236}">
                <a16:creationId xmlns:a16="http://schemas.microsoft.com/office/drawing/2014/main" id="{F4BF2243-4489-5ED2-C66D-56BB788114FA}"/>
              </a:ext>
            </a:extLst>
          </p:cNvPr>
          <p:cNvSpPr txBox="1">
            <a:spLocks/>
          </p:cNvSpPr>
          <p:nvPr/>
        </p:nvSpPr>
        <p:spPr bwMode="auto">
          <a:xfrm>
            <a:off x="273050" y="447329"/>
            <a:ext cx="78483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rtl="0" eaLnBrk="0" fontAlgn="base" hangingPunct="0">
              <a:spcBef>
                <a:spcPct val="0"/>
              </a:spcBef>
              <a:spcAft>
                <a:spcPct val="0"/>
              </a:spcAft>
              <a:defRPr sz="1600" b="1" kern="1200">
                <a:solidFill>
                  <a:schemeClr val="tx1"/>
                </a:solidFill>
                <a:latin typeface="+mj-ea"/>
                <a:ea typeface="+mj-ea"/>
                <a:cs typeface="+mj-cs"/>
              </a:defRPr>
            </a:lvl1pPr>
            <a:lvl2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2pPr>
            <a:lvl3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3pPr>
            <a:lvl4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4pPr>
            <a:lvl5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5pPr>
            <a:lvl6pPr marL="4572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6pPr>
            <a:lvl7pPr marL="9144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7pPr>
            <a:lvl8pPr marL="13716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8pPr>
            <a:lvl9pPr marL="18288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9pPr>
          </a:lstStyle>
          <a:p>
            <a:r>
              <a:rPr kumimoji="1" lang="en-US" altLang="ja-JP" dirty="0"/>
              <a:t>4.2. </a:t>
            </a:r>
            <a:r>
              <a:rPr kumimoji="1" lang="ja-JP" altLang="en-US" dirty="0"/>
              <a:t>各規格の概要・代表的な仕様 </a:t>
            </a:r>
            <a:r>
              <a:rPr kumimoji="1" lang="en-US" altLang="ja-JP" dirty="0"/>
              <a:t>- (3) Public Trust Layer</a:t>
            </a:r>
            <a:r>
              <a:rPr kumimoji="1" lang="ja-JP" altLang="en-US" dirty="0"/>
              <a:t> </a:t>
            </a:r>
            <a:r>
              <a:rPr kumimoji="1" lang="en-US" altLang="ja-JP" dirty="0"/>
              <a:t>(2/2)</a:t>
            </a:r>
            <a:r>
              <a:rPr kumimoji="1" lang="ja-JP" altLang="en-US" dirty="0"/>
              <a:t>　　</a:t>
            </a:r>
          </a:p>
        </p:txBody>
      </p:sp>
      <p:sp>
        <p:nvSpPr>
          <p:cNvPr id="2" name="コンテンツ プレースホルダー 2">
            <a:extLst>
              <a:ext uri="{FF2B5EF4-FFF2-40B4-BE49-F238E27FC236}">
                <a16:creationId xmlns:a16="http://schemas.microsoft.com/office/drawing/2014/main" id="{6EBAE4DB-F197-6612-7510-84C1E2FD5F4D}"/>
              </a:ext>
            </a:extLst>
          </p:cNvPr>
          <p:cNvSpPr>
            <a:spLocks noGrp="1"/>
          </p:cNvSpPr>
          <p:nvPr>
            <p:ph idx="1"/>
          </p:nvPr>
        </p:nvSpPr>
        <p:spPr>
          <a:xfrm>
            <a:off x="273050" y="927444"/>
            <a:ext cx="9359900" cy="215444"/>
          </a:xfrm>
        </p:spPr>
        <p:txBody>
          <a:bodyPr/>
          <a:lstStyle/>
          <a:p>
            <a:r>
              <a:rPr lang="en-US" altLang="ja-JP" dirty="0"/>
              <a:t>(</a:t>
            </a:r>
            <a:r>
              <a:rPr lang="ja-JP" altLang="en-US" dirty="0"/>
              <a:t>続き</a:t>
            </a:r>
            <a:r>
              <a:rPr lang="en-US" altLang="ja-JP" dirty="0"/>
              <a:t>)</a:t>
            </a:r>
            <a:endParaRPr kumimoji="1" lang="en-US" altLang="ja-JP" dirty="0"/>
          </a:p>
        </p:txBody>
      </p:sp>
    </p:spTree>
    <p:extLst>
      <p:ext uri="{BB962C8B-B14F-4D97-AF65-F5344CB8AC3E}">
        <p14:creationId xmlns:p14="http://schemas.microsoft.com/office/powerpoint/2010/main" val="436082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2B903F-A5A1-B723-6E22-88D360FA28A2}"/>
              </a:ext>
            </a:extLst>
          </p:cNvPr>
          <p:cNvSpPr>
            <a:spLocks noGrp="1"/>
          </p:cNvSpPr>
          <p:nvPr>
            <p:ph type="title"/>
          </p:nvPr>
        </p:nvSpPr>
        <p:spPr>
          <a:xfrm>
            <a:off x="273050" y="447475"/>
            <a:ext cx="7848302" cy="246221"/>
          </a:xfrm>
        </p:spPr>
        <p:txBody>
          <a:bodyPr/>
          <a:lstStyle/>
          <a:p>
            <a:r>
              <a:rPr kumimoji="1" lang="en-US" altLang="ja-JP" dirty="0"/>
              <a:t>4.2. </a:t>
            </a:r>
            <a:r>
              <a:rPr kumimoji="1" lang="ja-JP" altLang="en-US" dirty="0"/>
              <a:t>各規格の概要・代表的な仕様 </a:t>
            </a:r>
            <a:r>
              <a:rPr kumimoji="1" lang="en-US" altLang="ja-JP" dirty="0"/>
              <a:t>- (4) Vertical / Cross-Cutting</a:t>
            </a:r>
            <a:endParaRPr kumimoji="1" lang="ja-JP" altLang="en-US" dirty="0"/>
          </a:p>
        </p:txBody>
      </p:sp>
      <p:sp>
        <p:nvSpPr>
          <p:cNvPr id="4" name="テキスト プレースホルダー 3">
            <a:extLst>
              <a:ext uri="{FF2B5EF4-FFF2-40B4-BE49-F238E27FC236}">
                <a16:creationId xmlns:a16="http://schemas.microsoft.com/office/drawing/2014/main" id="{E3825137-CE1E-3A13-DE29-6E2F7EA98C81}"/>
              </a:ext>
            </a:extLst>
          </p:cNvPr>
          <p:cNvSpPr>
            <a:spLocks noGrp="1"/>
          </p:cNvSpPr>
          <p:nvPr>
            <p:ph type="body" sz="quarter" idx="10"/>
          </p:nvPr>
        </p:nvSpPr>
        <p:spPr>
          <a:xfrm>
            <a:off x="273050" y="188913"/>
            <a:ext cx="7848600" cy="161583"/>
          </a:xfrm>
        </p:spPr>
        <p:txBody>
          <a:bodyPr/>
          <a:lstStyle/>
          <a:p>
            <a:r>
              <a:rPr kumimoji="1" lang="en-US" altLang="zh-TW" dirty="0"/>
              <a:t>4.</a:t>
            </a:r>
            <a:r>
              <a:rPr lang="zh-TW" altLang="en-US" dirty="0"/>
              <a:t> </a:t>
            </a:r>
            <a:r>
              <a:rPr kumimoji="1" lang="zh-TW" altLang="en-US" dirty="0"/>
              <a:t>規格実態調査</a:t>
            </a:r>
          </a:p>
        </p:txBody>
      </p:sp>
      <p:grpSp>
        <p:nvGrpSpPr>
          <p:cNvPr id="5" name="グループ化 4">
            <a:extLst>
              <a:ext uri="{FF2B5EF4-FFF2-40B4-BE49-F238E27FC236}">
                <a16:creationId xmlns:a16="http://schemas.microsoft.com/office/drawing/2014/main" id="{207C0058-8BBE-E658-630E-19E0FB9C2A88}"/>
              </a:ext>
            </a:extLst>
          </p:cNvPr>
          <p:cNvGrpSpPr/>
          <p:nvPr/>
        </p:nvGrpSpPr>
        <p:grpSpPr>
          <a:xfrm>
            <a:off x="5867005" y="137240"/>
            <a:ext cx="2322246" cy="301997"/>
            <a:chOff x="5867005" y="137240"/>
            <a:chExt cx="2322246" cy="552560"/>
          </a:xfrm>
        </p:grpSpPr>
        <p:sp>
          <p:nvSpPr>
            <p:cNvPr id="6" name="正方形/長方形 5">
              <a:extLst>
                <a:ext uri="{FF2B5EF4-FFF2-40B4-BE49-F238E27FC236}">
                  <a16:creationId xmlns:a16="http://schemas.microsoft.com/office/drawing/2014/main" id="{CB6E67E6-05A9-0C0F-6D75-7B55D4C2772C}"/>
                </a:ext>
              </a:extLst>
            </p:cNvPr>
            <p:cNvSpPr/>
            <p:nvPr/>
          </p:nvSpPr>
          <p:spPr>
            <a:xfrm>
              <a:off x="5867005" y="511582"/>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Public Trust Layer</a:t>
              </a:r>
              <a:endParaRPr lang="ja-JP" altLang="en-US" sz="800" dirty="0">
                <a:solidFill>
                  <a:schemeClr val="tx2"/>
                </a:solidFill>
              </a:endParaRPr>
            </a:p>
          </p:txBody>
        </p:sp>
        <p:sp>
          <p:nvSpPr>
            <p:cNvPr id="7" name="正方形/長方形 6">
              <a:extLst>
                <a:ext uri="{FF2B5EF4-FFF2-40B4-BE49-F238E27FC236}">
                  <a16:creationId xmlns:a16="http://schemas.microsoft.com/office/drawing/2014/main" id="{134A7385-7B11-D2DD-3B92-9F56E7BDCE3C}"/>
                </a:ext>
              </a:extLst>
            </p:cNvPr>
            <p:cNvSpPr/>
            <p:nvPr/>
          </p:nvSpPr>
          <p:spPr>
            <a:xfrm>
              <a:off x="5867005" y="324411"/>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Agent Layer</a:t>
              </a:r>
              <a:endParaRPr lang="ja-JP" altLang="en-US" sz="800" dirty="0">
                <a:solidFill>
                  <a:schemeClr val="tx2"/>
                </a:solidFill>
              </a:endParaRPr>
            </a:p>
          </p:txBody>
        </p:sp>
        <p:sp>
          <p:nvSpPr>
            <p:cNvPr id="8" name="正方形/長方形 7">
              <a:extLst>
                <a:ext uri="{FF2B5EF4-FFF2-40B4-BE49-F238E27FC236}">
                  <a16:creationId xmlns:a16="http://schemas.microsoft.com/office/drawing/2014/main" id="{AF19EBD2-4556-4792-3A6E-2B67335A4323}"/>
                </a:ext>
              </a:extLst>
            </p:cNvPr>
            <p:cNvSpPr/>
            <p:nvPr/>
          </p:nvSpPr>
          <p:spPr>
            <a:xfrm>
              <a:off x="5867005" y="137240"/>
              <a:ext cx="1554312" cy="178218"/>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dirty="0">
                  <a:solidFill>
                    <a:schemeClr val="tx2"/>
                  </a:solidFill>
                </a:rPr>
                <a:t>Credential Layer</a:t>
              </a:r>
              <a:endParaRPr lang="ja-JP" altLang="en-US" sz="800" dirty="0">
                <a:solidFill>
                  <a:schemeClr val="tx2"/>
                </a:solidFill>
              </a:endParaRPr>
            </a:p>
          </p:txBody>
        </p:sp>
        <p:sp>
          <p:nvSpPr>
            <p:cNvPr id="9" name="正方形/長方形 8">
              <a:extLst>
                <a:ext uri="{FF2B5EF4-FFF2-40B4-BE49-F238E27FC236}">
                  <a16:creationId xmlns:a16="http://schemas.microsoft.com/office/drawing/2014/main" id="{D3E2A4DA-D58C-90F4-3352-2D957681B129}"/>
                </a:ext>
              </a:extLst>
            </p:cNvPr>
            <p:cNvSpPr/>
            <p:nvPr/>
          </p:nvSpPr>
          <p:spPr>
            <a:xfrm>
              <a:off x="7424690" y="137240"/>
              <a:ext cx="764561" cy="55256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800" b="1" dirty="0">
                  <a:solidFill>
                    <a:schemeClr val="accent1"/>
                  </a:solidFill>
                </a:rPr>
                <a:t>Vertical / </a:t>
              </a:r>
            </a:p>
            <a:p>
              <a:pPr algn="ctr"/>
              <a:r>
                <a:rPr lang="en-US" altLang="ja-JP" sz="800" b="1" dirty="0">
                  <a:solidFill>
                    <a:schemeClr val="accent1"/>
                  </a:solidFill>
                </a:rPr>
                <a:t>Cross-cutting</a:t>
              </a:r>
              <a:endParaRPr lang="ja-JP" altLang="en-US" sz="800" b="1" dirty="0">
                <a:solidFill>
                  <a:schemeClr val="accent1"/>
                </a:solidFill>
              </a:endParaRPr>
            </a:p>
          </p:txBody>
        </p:sp>
      </p:grpSp>
      <p:graphicFrame>
        <p:nvGraphicFramePr>
          <p:cNvPr id="10" name="表 9">
            <a:extLst>
              <a:ext uri="{FF2B5EF4-FFF2-40B4-BE49-F238E27FC236}">
                <a16:creationId xmlns:a16="http://schemas.microsoft.com/office/drawing/2014/main" id="{6388B9C1-3A75-DBB1-09BA-121C9C2A4C82}"/>
              </a:ext>
            </a:extLst>
          </p:cNvPr>
          <p:cNvGraphicFramePr>
            <a:graphicFrameLocks noGrp="1"/>
          </p:cNvGraphicFramePr>
          <p:nvPr>
            <p:extLst>
              <p:ext uri="{D42A27DB-BD31-4B8C-83A1-F6EECF244321}">
                <p14:modId xmlns:p14="http://schemas.microsoft.com/office/powerpoint/2010/main" val="1084819798"/>
              </p:ext>
            </p:extLst>
          </p:nvPr>
        </p:nvGraphicFramePr>
        <p:xfrm>
          <a:off x="290557" y="1285121"/>
          <a:ext cx="9342392" cy="4430007"/>
        </p:xfrm>
        <a:graphic>
          <a:graphicData uri="http://schemas.openxmlformats.org/drawingml/2006/table">
            <a:tbl>
              <a:tblPr firstRow="1" bandRow="1"/>
              <a:tblGrid>
                <a:gridCol w="1274292">
                  <a:extLst>
                    <a:ext uri="{9D8B030D-6E8A-4147-A177-3AD203B41FA5}">
                      <a16:colId xmlns:a16="http://schemas.microsoft.com/office/drawing/2014/main" val="2445896061"/>
                    </a:ext>
                  </a:extLst>
                </a:gridCol>
                <a:gridCol w="5363852">
                  <a:extLst>
                    <a:ext uri="{9D8B030D-6E8A-4147-A177-3AD203B41FA5}">
                      <a16:colId xmlns:a16="http://schemas.microsoft.com/office/drawing/2014/main" val="3487409522"/>
                    </a:ext>
                  </a:extLst>
                </a:gridCol>
                <a:gridCol w="2704248">
                  <a:extLst>
                    <a:ext uri="{9D8B030D-6E8A-4147-A177-3AD203B41FA5}">
                      <a16:colId xmlns:a16="http://schemas.microsoft.com/office/drawing/2014/main" val="1389618138"/>
                    </a:ext>
                  </a:extLst>
                </a:gridCol>
              </a:tblGrid>
              <a:tr h="22600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fontAlgn="ctr"/>
                      <a:r>
                        <a:rPr lang="ja-JP" altLang="en-US" sz="1400" b="1" i="0" u="none" strike="noStrike" dirty="0">
                          <a:solidFill>
                            <a:schemeClr val="bg1"/>
                          </a:solidFill>
                          <a:effectLst/>
                          <a:latin typeface="+mn-ea"/>
                          <a:ea typeface="+mn-ea"/>
                        </a:rPr>
                        <a:t>分類</a:t>
                      </a:r>
                      <a:endParaRPr lang="en-US" sz="1400" b="1" i="0" u="none" strike="noStrike" dirty="0">
                        <a:solidFill>
                          <a:schemeClr val="bg1"/>
                        </a:solidFill>
                        <a:effectLst/>
                        <a:latin typeface="+mn-ea"/>
                        <a:ea typeface="+mn-ea"/>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fontAlgn="ctr"/>
                      <a:r>
                        <a:rPr lang="ja-JP" altLang="en-US" sz="1400" b="1" i="0" u="none" strike="noStrike" dirty="0">
                          <a:solidFill>
                            <a:schemeClr val="bg1"/>
                          </a:solidFill>
                          <a:effectLst/>
                          <a:latin typeface="+mn-ea"/>
                          <a:ea typeface="+mn-ea"/>
                        </a:rPr>
                        <a:t>概要</a:t>
                      </a:r>
                      <a:endParaRPr lang="en-US" sz="1400" b="1" i="0" u="none" strike="noStrike" dirty="0">
                        <a:solidFill>
                          <a:schemeClr val="bg1"/>
                        </a:solidFill>
                        <a:effectLst/>
                        <a:latin typeface="+mn-ea"/>
                        <a:ea typeface="+mn-ea"/>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fontAlgn="ctr"/>
                      <a:r>
                        <a:rPr lang="en-US" altLang="ja-JP" sz="1400" b="1" i="0" u="none" strike="noStrike" dirty="0">
                          <a:solidFill>
                            <a:schemeClr val="bg1"/>
                          </a:solidFill>
                          <a:effectLst/>
                          <a:latin typeface="+mn-ea"/>
                          <a:ea typeface="+mn-ea"/>
                        </a:rPr>
                        <a:t>(</a:t>
                      </a:r>
                      <a:r>
                        <a:rPr lang="ja-JP" altLang="en-US" sz="1400" b="1" i="0" u="none" strike="noStrike" dirty="0">
                          <a:solidFill>
                            <a:schemeClr val="bg1"/>
                          </a:solidFill>
                          <a:effectLst/>
                          <a:latin typeface="+mn-ea"/>
                          <a:ea typeface="+mn-ea"/>
                        </a:rPr>
                        <a:t>参考</a:t>
                      </a:r>
                      <a:r>
                        <a:rPr lang="en-US" altLang="ja-JP" sz="1400" b="1" i="0" u="none" strike="noStrike" dirty="0">
                          <a:solidFill>
                            <a:schemeClr val="bg1"/>
                          </a:solidFill>
                          <a:effectLst/>
                          <a:latin typeface="+mn-ea"/>
                          <a:ea typeface="+mn-ea"/>
                        </a:rPr>
                        <a:t>)</a:t>
                      </a:r>
                      <a:r>
                        <a:rPr lang="ja-JP" altLang="en-US" sz="1400" b="1" i="0" u="none" strike="noStrike" dirty="0">
                          <a:solidFill>
                            <a:schemeClr val="bg1"/>
                          </a:solidFill>
                          <a:effectLst/>
                          <a:latin typeface="+mn-ea"/>
                          <a:ea typeface="+mn-ea"/>
                        </a:rPr>
                        <a:t>代表的な技術仕様の</a:t>
                      </a:r>
                      <a:r>
                        <a:rPr lang="en-US" altLang="ja-JP" sz="1400" b="1" i="0" u="none" strike="noStrike" dirty="0">
                          <a:solidFill>
                            <a:schemeClr val="bg1"/>
                          </a:solidFill>
                          <a:effectLst/>
                          <a:latin typeface="+mn-ea"/>
                          <a:ea typeface="+mn-ea"/>
                        </a:rPr>
                        <a:t>URL</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5938599"/>
                  </a:ext>
                </a:extLst>
              </a:tr>
              <a:tr h="177727">
                <a:tc rowSpan="3">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Authentication/Authorization</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3">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kern="1200" dirty="0">
                          <a:solidFill>
                            <a:schemeClr val="tx1"/>
                          </a:solidFill>
                          <a:latin typeface="+mn-ea"/>
                          <a:ea typeface="+mn-ea"/>
                          <a:cs typeface="+mn-cs"/>
                        </a:rPr>
                        <a:t>分散型アイデンティティと連携する認証</a:t>
                      </a:r>
                      <a:r>
                        <a:rPr kumimoji="1" lang="en-US" altLang="ja-JP" sz="1200" kern="1200" dirty="0">
                          <a:solidFill>
                            <a:schemeClr val="tx1"/>
                          </a:solidFill>
                          <a:latin typeface="+mn-ea"/>
                          <a:ea typeface="+mn-ea"/>
                          <a:cs typeface="+mn-cs"/>
                        </a:rPr>
                        <a:t>/</a:t>
                      </a:r>
                      <a:r>
                        <a:rPr kumimoji="1" lang="ja-JP" altLang="en-US" sz="1200" kern="1200" dirty="0">
                          <a:solidFill>
                            <a:schemeClr val="tx1"/>
                          </a:solidFill>
                          <a:latin typeface="+mn-ea"/>
                          <a:ea typeface="+mn-ea"/>
                          <a:cs typeface="+mn-cs"/>
                        </a:rPr>
                        <a:t>認可システムを示す</a:t>
                      </a:r>
                    </a:p>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kern="1200" dirty="0">
                          <a:solidFill>
                            <a:schemeClr val="tx1"/>
                          </a:solidFill>
                          <a:latin typeface="+mn-ea"/>
                          <a:ea typeface="+mn-ea"/>
                          <a:cs typeface="+mn-cs"/>
                        </a:rPr>
                        <a:t>代表的な規格として</a:t>
                      </a:r>
                      <a:r>
                        <a:rPr kumimoji="1" lang="en-US" altLang="ja-JP" sz="1200" kern="1200" dirty="0">
                          <a:solidFill>
                            <a:schemeClr val="tx1"/>
                          </a:solidFill>
                          <a:latin typeface="+mn-ea"/>
                          <a:ea typeface="+mn-ea"/>
                          <a:cs typeface="+mn-cs"/>
                        </a:rPr>
                        <a:t>W3C</a:t>
                      </a:r>
                      <a:r>
                        <a:rPr kumimoji="1" lang="ja-JP" altLang="en-US" sz="1200" kern="1200" dirty="0">
                          <a:solidFill>
                            <a:schemeClr val="tx1"/>
                          </a:solidFill>
                          <a:latin typeface="+mn-ea"/>
                          <a:ea typeface="+mn-ea"/>
                          <a:cs typeface="+mn-cs"/>
                        </a:rPr>
                        <a:t>の</a:t>
                      </a:r>
                      <a:r>
                        <a:rPr kumimoji="1" lang="en-US" altLang="ja-JP" sz="1200" kern="1200" dirty="0" err="1">
                          <a:solidFill>
                            <a:schemeClr val="tx1"/>
                          </a:solidFill>
                          <a:latin typeface="+mn-ea"/>
                          <a:ea typeface="+mn-ea"/>
                          <a:cs typeface="+mn-cs"/>
                        </a:rPr>
                        <a:t>WebAuthn</a:t>
                      </a:r>
                      <a:r>
                        <a:rPr kumimoji="1" lang="ja-JP" altLang="en-US" sz="1200" kern="1200" dirty="0">
                          <a:solidFill>
                            <a:schemeClr val="tx1"/>
                          </a:solidFill>
                          <a:latin typeface="+mn-ea"/>
                          <a:ea typeface="+mn-ea"/>
                          <a:cs typeface="+mn-cs"/>
                        </a:rPr>
                        <a:t>や</a:t>
                      </a:r>
                      <a:r>
                        <a:rPr kumimoji="1" lang="en-US" altLang="ja-JP" sz="1200" kern="1200" dirty="0">
                          <a:solidFill>
                            <a:schemeClr val="tx1"/>
                          </a:solidFill>
                          <a:latin typeface="+mn-ea"/>
                          <a:ea typeface="+mn-ea"/>
                          <a:cs typeface="+mn-cs"/>
                        </a:rPr>
                        <a:t>OpenID Foundation</a:t>
                      </a:r>
                      <a:r>
                        <a:rPr kumimoji="1" lang="ja-JP" altLang="en-US" sz="1200" kern="1200" dirty="0">
                          <a:solidFill>
                            <a:schemeClr val="tx1"/>
                          </a:solidFill>
                          <a:latin typeface="+mn-ea"/>
                          <a:ea typeface="+mn-ea"/>
                          <a:cs typeface="+mn-cs"/>
                        </a:rPr>
                        <a:t>の、</a:t>
                      </a:r>
                      <a:r>
                        <a:rPr kumimoji="1" lang="en-US" altLang="ja-JP" sz="1200" kern="1200" dirty="0">
                          <a:solidFill>
                            <a:schemeClr val="tx1"/>
                          </a:solidFill>
                          <a:latin typeface="+mn-ea"/>
                          <a:ea typeface="+mn-ea"/>
                          <a:cs typeface="+mn-cs"/>
                        </a:rPr>
                        <a:t>OpenID Connect</a:t>
                      </a:r>
                      <a:r>
                        <a:rPr kumimoji="1" lang="ja-JP" altLang="en-US" sz="1200" kern="1200" dirty="0">
                          <a:solidFill>
                            <a:schemeClr val="tx1"/>
                          </a:solidFill>
                          <a:latin typeface="+mn-ea"/>
                          <a:ea typeface="+mn-ea"/>
                          <a:cs typeface="+mn-cs"/>
                        </a:rPr>
                        <a:t>、</a:t>
                      </a:r>
                      <a:r>
                        <a:rPr kumimoji="1" lang="en-US" altLang="ja-JP" sz="1200" kern="1200" dirty="0">
                          <a:solidFill>
                            <a:schemeClr val="tx1"/>
                          </a:solidFill>
                          <a:latin typeface="+mn-ea"/>
                          <a:ea typeface="+mn-ea"/>
                          <a:cs typeface="+mn-cs"/>
                        </a:rPr>
                        <a:t>SIOP</a:t>
                      </a:r>
                      <a:r>
                        <a:rPr kumimoji="1" lang="ja-JP" altLang="en-US" sz="1200" kern="1200" dirty="0">
                          <a:solidFill>
                            <a:schemeClr val="tx1"/>
                          </a:solidFill>
                          <a:latin typeface="+mn-ea"/>
                          <a:ea typeface="+mn-ea"/>
                          <a:cs typeface="+mn-cs"/>
                        </a:rPr>
                        <a:t>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hlinkClick r:id="rId2"/>
                        </a:rPr>
                        <a:t>Web Authentication</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474211"/>
                  </a:ext>
                </a:extLst>
              </a:tr>
              <a:tr h="298430">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kern="1200" dirty="0" err="1">
                          <a:solidFill>
                            <a:schemeClr val="tx1"/>
                          </a:solidFill>
                          <a:latin typeface="+mn-ea"/>
                          <a:ea typeface="+mn-ea"/>
                          <a:cs typeface="+mn-cs"/>
                        </a:rPr>
                        <a:t>リソース所有者が自身の判断でデータ利用を制御するOAuthの拡張仕様</a:t>
                      </a:r>
                      <a:endParaRPr kumimoji="1" lang="en-US" altLang="ja-JP" sz="1100" kern="1200" dirty="0">
                        <a:solidFill>
                          <a:schemeClr val="tx1"/>
                        </a:solidFill>
                        <a:latin typeface="+mn-ea"/>
                        <a:ea typeface="+mn-ea"/>
                        <a:cs typeface="+mn-cs"/>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dirty="0">
                          <a:latin typeface="+mn-ea"/>
                          <a:ea typeface="+mn-ea"/>
                          <a:hlinkClick r:id="rId3"/>
                        </a:rPr>
                        <a:t>User-Managed Access (UMA) </a:t>
                      </a:r>
                      <a:r>
                        <a:rPr kumimoji="1" lang="en-US" altLang="ja-JP" sz="1000" kern="1200" dirty="0">
                          <a:solidFill>
                            <a:schemeClr val="tx1"/>
                          </a:solidFill>
                          <a:latin typeface="+mn-ea"/>
                          <a:ea typeface="+mn-ea"/>
                          <a:cs typeface="+mn-cs"/>
                          <a:hlinkClick r:id="rId3"/>
                        </a:rPr>
                        <a:t>Profile of OAuth 2.0</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4779050"/>
                  </a:ext>
                </a:extLst>
              </a:tr>
              <a:tr h="177727">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kern="1200" noProof="0" dirty="0" err="1">
                          <a:solidFill>
                            <a:schemeClr val="tx1"/>
                          </a:solidFill>
                          <a:latin typeface="Yu Gothic UI"/>
                        </a:rPr>
                        <a:t>自己発行型のOpenID</a:t>
                      </a:r>
                      <a:r>
                        <a:rPr lang="ja-JP" altLang="en-US" sz="1100" b="0" i="0" u="none" strike="noStrike" kern="1200" noProof="0" dirty="0">
                          <a:solidFill>
                            <a:schemeClr val="tx1"/>
                          </a:solidFill>
                          <a:latin typeface="Calibri Light"/>
                          <a:ea typeface="+mn-ea"/>
                        </a:rPr>
                        <a:t>プロバイダを可能にするプロトコルを定義</a:t>
                      </a:r>
                      <a:endParaRPr kumimoji="1" lang="en-US" altLang="ja-JP" sz="1100" kern="1200" dirty="0">
                        <a:solidFill>
                          <a:schemeClr val="tx1"/>
                        </a:solidFill>
                        <a:latin typeface="+mn-ea"/>
                        <a:ea typeface="+mn-ea"/>
                        <a:cs typeface="+mn-cs"/>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kern="1200" dirty="0">
                          <a:solidFill>
                            <a:schemeClr val="tx1"/>
                          </a:solidFill>
                          <a:latin typeface="+mn-ea"/>
                          <a:ea typeface="+mn-ea"/>
                          <a:cs typeface="+mn-cs"/>
                          <a:hlinkClick r:id="rId4"/>
                        </a:rPr>
                        <a:t>Self-Issued OpenID Provider v2</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81608"/>
                  </a:ext>
                </a:extLst>
              </a:tr>
              <a:tr h="298430">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Disclosure</a:t>
                      </a: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/ZKP</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indent="-179388">
                        <a:buFont typeface="Arial" panose="020B0604020202020204" pitchFamily="34" charset="0"/>
                        <a:buChar char="•"/>
                      </a:pPr>
                      <a:r>
                        <a:rPr kumimoji="1" lang="ja-JP" altLang="en-US" sz="1200" b="0" i="0" u="none" strike="noStrike" kern="1200" dirty="0">
                          <a:solidFill>
                            <a:schemeClr val="tx1"/>
                          </a:solidFill>
                          <a:latin typeface="Yu Gothic UI"/>
                          <a:ea typeface="+mn-ea"/>
                          <a:cs typeface="+mn-cs"/>
                        </a:rPr>
                        <a:t>所有者が検証者に提供する証明書を必要最低限の情報にすることでプライバシーを担保するため、証明書から開示する情報を選択</a:t>
                      </a:r>
                      <a:r>
                        <a:rPr kumimoji="1" lang="ja-JP" altLang="en-US" sz="1200" b="0" i="0" u="none" strike="noStrike" kern="1200">
                          <a:solidFill>
                            <a:schemeClr val="tx1"/>
                          </a:solidFill>
                          <a:latin typeface="Yu Gothic UI"/>
                          <a:ea typeface="+mn-ea"/>
                          <a:cs typeface="+mn-cs"/>
                        </a:rPr>
                        <a:t>できる方式を示す</a:t>
                      </a:r>
                      <a:endParaRPr kumimoji="1" lang="ja-JP" altLang="en-US" sz="1200" b="0" i="0" u="none" strike="noStrike" kern="1200" dirty="0">
                        <a:solidFill>
                          <a:schemeClr val="tx1"/>
                        </a:solidFill>
                        <a:latin typeface="Yu Gothic UI"/>
                        <a:ea typeface="+mn-ea"/>
                        <a:cs typeface="+mn-cs"/>
                      </a:endParaRPr>
                    </a:p>
                    <a:p>
                      <a:pPr marL="179388" indent="-179388">
                        <a:buFont typeface="Arial" panose="020B0604020202020204" pitchFamily="34" charset="0"/>
                        <a:buChar char="•"/>
                      </a:pPr>
                      <a:r>
                        <a:rPr kumimoji="1" lang="ja-JP" altLang="en-US" sz="1200" b="0" i="0" u="none" strike="noStrike" kern="1200" dirty="0">
                          <a:solidFill>
                            <a:schemeClr val="tx1"/>
                          </a:solidFill>
                          <a:latin typeface="Yu Gothic UI"/>
                          <a:ea typeface="+mn-ea"/>
                          <a:cs typeface="+mn-cs"/>
                        </a:rPr>
                        <a:t>代表的な規格として</a:t>
                      </a:r>
                      <a:r>
                        <a:rPr kumimoji="1" lang="en-US" altLang="ja-JP" sz="1200" b="0" i="0" u="none" strike="noStrike" kern="1200" dirty="0">
                          <a:solidFill>
                            <a:schemeClr val="tx1"/>
                          </a:solidFill>
                          <a:latin typeface="Yu Gothic UI"/>
                          <a:ea typeface="+mn-ea"/>
                          <a:cs typeface="+mn-cs"/>
                        </a:rPr>
                        <a:t>Hyperledger </a:t>
                      </a:r>
                      <a:r>
                        <a:rPr kumimoji="1" lang="ja-JP" altLang="en-US" sz="1200" b="0" i="0" u="none" strike="noStrike" kern="1200" dirty="0">
                          <a:solidFill>
                            <a:schemeClr val="tx1"/>
                          </a:solidFill>
                          <a:latin typeface="Yu Gothic UI"/>
                          <a:ea typeface="+mn-ea"/>
                          <a:cs typeface="+mn-cs"/>
                        </a:rPr>
                        <a:t>で定義している</a:t>
                      </a:r>
                      <a:r>
                        <a:rPr kumimoji="1" lang="en-US" altLang="ja-JP" sz="1200" b="0" i="0" u="none" strike="noStrike" kern="1200" dirty="0" err="1">
                          <a:solidFill>
                            <a:schemeClr val="tx1"/>
                          </a:solidFill>
                          <a:latin typeface="Yu Gothic UI"/>
                          <a:ea typeface="+mn-ea"/>
                          <a:cs typeface="+mn-cs"/>
                        </a:rPr>
                        <a:t>AnonCreds</a:t>
                      </a:r>
                      <a:r>
                        <a:rPr kumimoji="1" lang="en-US" altLang="ja-JP" sz="1200" b="0" i="0" u="none" strike="noStrike" kern="1200" dirty="0">
                          <a:solidFill>
                            <a:schemeClr val="tx1"/>
                          </a:solidFill>
                          <a:latin typeface="Yu Gothic UI"/>
                          <a:ea typeface="+mn-ea"/>
                          <a:cs typeface="+mn-cs"/>
                        </a:rPr>
                        <a:t> ZKPs</a:t>
                      </a:r>
                      <a:r>
                        <a:rPr kumimoji="1" lang="ja-JP" altLang="en-US" sz="1200" b="0" i="0" u="none" strike="noStrike" kern="1200" dirty="0">
                          <a:solidFill>
                            <a:schemeClr val="tx1"/>
                          </a:solidFill>
                          <a:latin typeface="Yu Gothic UI"/>
                          <a:ea typeface="+mn-ea"/>
                          <a:cs typeface="+mn-cs"/>
                        </a:rPr>
                        <a:t>や、</a:t>
                      </a:r>
                      <a:r>
                        <a:rPr kumimoji="1" lang="en-US" altLang="ja-JP" sz="1200" b="0" i="0" u="none" strike="noStrike" kern="1200" dirty="0">
                          <a:solidFill>
                            <a:schemeClr val="tx1"/>
                          </a:solidFill>
                          <a:latin typeface="Yu Gothic UI"/>
                          <a:ea typeface="+mn-ea"/>
                          <a:cs typeface="+mn-cs"/>
                        </a:rPr>
                        <a:t>W3C</a:t>
                      </a:r>
                      <a:r>
                        <a:rPr kumimoji="1" lang="ja-JP" altLang="en-US" sz="1200" b="0" i="0" u="none" strike="noStrike" kern="1200" dirty="0">
                          <a:solidFill>
                            <a:schemeClr val="tx1"/>
                          </a:solidFill>
                          <a:latin typeface="Yu Gothic UI"/>
                          <a:ea typeface="+mn-ea"/>
                          <a:cs typeface="+mn-cs"/>
                        </a:rPr>
                        <a:t>で規定している</a:t>
                      </a:r>
                      <a:r>
                        <a:rPr kumimoji="1" lang="en-US" altLang="ja-JP" sz="1200" b="0" i="0" u="none" strike="noStrike" kern="1200" dirty="0">
                          <a:solidFill>
                            <a:schemeClr val="tx1"/>
                          </a:solidFill>
                          <a:latin typeface="Yu Gothic UI"/>
                          <a:ea typeface="+mn-ea"/>
                          <a:cs typeface="+mn-cs"/>
                        </a:rPr>
                        <a:t>BBS+ Signature</a:t>
                      </a:r>
                      <a:r>
                        <a:rPr kumimoji="1" lang="ja-JP" altLang="en-US" sz="1200" b="0" i="0" u="none" strike="noStrike" kern="1200" dirty="0">
                          <a:solidFill>
                            <a:schemeClr val="tx1"/>
                          </a:solidFill>
                          <a:latin typeface="Yu Gothic UI"/>
                          <a:ea typeface="+mn-ea"/>
                          <a:cs typeface="+mn-cs"/>
                        </a:rPr>
                        <a:t>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err="1">
                          <a:latin typeface="+mn-ea"/>
                          <a:ea typeface="+mn-ea"/>
                          <a:hlinkClick r:id="rId5"/>
                        </a:rPr>
                        <a:t>Anoncreds</a:t>
                      </a:r>
                      <a:r>
                        <a:rPr kumimoji="1" lang="en-US" altLang="ja-JP" sz="1000" dirty="0">
                          <a:latin typeface="+mn-ea"/>
                          <a:ea typeface="+mn-ea"/>
                          <a:hlinkClick r:id="rId5"/>
                        </a:rPr>
                        <a:t> v1 ZKPs</a:t>
                      </a:r>
                      <a:br>
                        <a:rPr kumimoji="1" lang="en-US" altLang="ja-JP" sz="1000" dirty="0">
                          <a:latin typeface="+mn-ea"/>
                          <a:ea typeface="+mn-ea"/>
                        </a:rPr>
                      </a:br>
                      <a:r>
                        <a:rPr kumimoji="1" lang="en-US" altLang="ja-JP" sz="1000" dirty="0">
                          <a:latin typeface="+mn-ea"/>
                          <a:ea typeface="+mn-ea"/>
                        </a:rPr>
                        <a:t>(</a:t>
                      </a:r>
                      <a:r>
                        <a:rPr kumimoji="1" lang="en-US" altLang="ja-JP" sz="1000" dirty="0" err="1">
                          <a:latin typeface="+mn-ea"/>
                          <a:ea typeface="+mn-ea"/>
                        </a:rPr>
                        <a:t>Camenisch-Lysyanskaya</a:t>
                      </a:r>
                      <a:r>
                        <a:rPr kumimoji="1" lang="en-US" altLang="ja-JP" sz="1000" dirty="0">
                          <a:latin typeface="+mn-ea"/>
                          <a:ea typeface="+mn-ea"/>
                        </a:rPr>
                        <a:t>)</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8162923"/>
                  </a:ext>
                </a:extLst>
              </a:tr>
              <a:tr h="337967">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indent="-85725">
                        <a:buFont typeface="Arial" panose="020B0604020202020204" pitchFamily="34" charset="0"/>
                        <a:buChar char="•"/>
                      </a:pPr>
                      <a:r>
                        <a:rPr kumimoji="1" lang="ja-JP" altLang="en-US" sz="1100" b="0" i="0" u="none" strike="noStrike" kern="1200" noProof="0" dirty="0">
                          <a:solidFill>
                            <a:schemeClr val="tx1"/>
                          </a:solidFill>
                          <a:latin typeface="Yu Gothic UI"/>
                          <a:ea typeface="+mn-ea"/>
                          <a:cs typeface="+mn-cs"/>
                        </a:rPr>
                        <a:t>マルチメッセージのデジタル署名の一種。属性ごとに分割して共有・検証が可能</a:t>
                      </a:r>
                      <a:endParaRPr kumimoji="1" lang="ja-JP" altLang="en-US" sz="1100" b="0" i="0" u="none" strike="noStrike" kern="1200" dirty="0">
                        <a:solidFill>
                          <a:schemeClr val="tx1"/>
                        </a:solidFill>
                        <a:latin typeface="Yu Gothic UI"/>
                        <a:ea typeface="+mn-ea"/>
                        <a:cs typeface="+mn-cs"/>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hlinkClick r:id="rId6"/>
                        </a:rPr>
                        <a:t>BBS+ signatures</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336279"/>
                  </a:ext>
                </a:extLst>
              </a:tr>
              <a:tr h="220026">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schemeClr val="accent1"/>
                          </a:solidFill>
                          <a:effectLst/>
                          <a:uLnTx/>
                          <a:uFillTx/>
                          <a:latin typeface="+mn-ea"/>
                          <a:ea typeface="+mn-ea"/>
                          <a:cs typeface="+mn-cs"/>
                        </a:rPr>
                        <a:t>Compliance</a:t>
                      </a:r>
                      <a:endParaRPr kumimoji="1" lang="ja-JP" altLang="en-US" sz="1400" b="1" i="0" u="none" strike="noStrike" kern="1200" cap="none" spc="0" normalizeH="0" baseline="0" noProof="0" dirty="0">
                        <a:ln>
                          <a:noFill/>
                        </a:ln>
                        <a:solidFill>
                          <a:schemeClr val="accent1"/>
                        </a:solidFill>
                        <a:effectLst/>
                        <a:uLnTx/>
                        <a:uFillTx/>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2">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indent="-179388">
                        <a:buFont typeface="Arial" panose="020B0604020202020204" pitchFamily="34" charset="0"/>
                        <a:buChar char="•"/>
                      </a:pPr>
                      <a:r>
                        <a:rPr kumimoji="1" lang="ja-JP" altLang="en-US" sz="1200" dirty="0">
                          <a:solidFill>
                            <a:schemeClr val="tx1"/>
                          </a:solidFill>
                          <a:latin typeface="+mn-ea"/>
                          <a:ea typeface="+mn-ea"/>
                        </a:rPr>
                        <a:t>分散型アイデンティティの実現する上で前提となる国や組織</a:t>
                      </a:r>
                      <a:r>
                        <a:rPr kumimoji="1" lang="ja-JP" altLang="en-US" sz="1200">
                          <a:solidFill>
                            <a:schemeClr val="tx1"/>
                          </a:solidFill>
                          <a:latin typeface="+mn-ea"/>
                          <a:ea typeface="+mn-ea"/>
                        </a:rPr>
                        <a:t>のコンプライアンスを示す</a:t>
                      </a:r>
                      <a:endParaRPr kumimoji="1" lang="en-US" altLang="ja-JP" sz="1200" dirty="0">
                        <a:solidFill>
                          <a:schemeClr val="tx1"/>
                        </a:solidFill>
                        <a:latin typeface="+mn-ea"/>
                        <a:ea typeface="+mn-ea"/>
                      </a:endParaRPr>
                    </a:p>
                    <a:p>
                      <a:pPr marL="179388" indent="-179388">
                        <a:buFont typeface="Arial" panose="020B0604020202020204" pitchFamily="34" charset="0"/>
                        <a:buChar char="•"/>
                      </a:pPr>
                      <a:r>
                        <a:rPr kumimoji="1" lang="ja-JP" altLang="en-US" sz="1200" dirty="0">
                          <a:solidFill>
                            <a:schemeClr val="tx1"/>
                          </a:solidFill>
                          <a:latin typeface="+mn-ea"/>
                          <a:ea typeface="+mn-ea"/>
                        </a:rPr>
                        <a:t>代表的な規格として欧州の</a:t>
                      </a:r>
                      <a:r>
                        <a:rPr kumimoji="1" lang="en-US" altLang="ja-JP" sz="1200" dirty="0">
                          <a:solidFill>
                            <a:schemeClr val="tx1"/>
                          </a:solidFill>
                          <a:latin typeface="+mn-ea"/>
                          <a:ea typeface="+mn-ea"/>
                        </a:rPr>
                        <a:t>GDPR</a:t>
                      </a:r>
                      <a:r>
                        <a:rPr kumimoji="1" lang="ja-JP" altLang="en-US" sz="1200" dirty="0">
                          <a:solidFill>
                            <a:schemeClr val="tx1"/>
                          </a:solidFill>
                          <a:latin typeface="+mn-ea"/>
                          <a:ea typeface="+mn-ea"/>
                        </a:rPr>
                        <a:t>や</a:t>
                      </a:r>
                      <a:r>
                        <a:rPr kumimoji="1" lang="en-US" altLang="ja-JP" sz="1200" dirty="0" err="1">
                          <a:solidFill>
                            <a:schemeClr val="tx1"/>
                          </a:solidFill>
                          <a:latin typeface="+mn-ea"/>
                          <a:ea typeface="+mn-ea"/>
                        </a:rPr>
                        <a:t>eIDAS</a:t>
                      </a:r>
                      <a:r>
                        <a:rPr kumimoji="1" lang="ja-JP" altLang="en-US" sz="1200" dirty="0">
                          <a:solidFill>
                            <a:schemeClr val="tx1"/>
                          </a:solidFill>
                          <a:latin typeface="+mn-ea"/>
                          <a:ea typeface="+mn-ea"/>
                        </a:rPr>
                        <a:t>等が挙げられる</a:t>
                      </a:r>
                      <a:endParaRPr kumimoji="1" lang="en-US" altLang="ja-JP" sz="1200" dirty="0">
                        <a:solidFill>
                          <a:schemeClr val="tx1"/>
                        </a:solidFill>
                        <a:highlight>
                          <a:srgbClr val="FFFF00"/>
                        </a:highlight>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err="1">
                          <a:latin typeface="+mn-ea"/>
                          <a:ea typeface="+mn-ea"/>
                          <a:hlinkClick r:id="rId7"/>
                        </a:rPr>
                        <a:t>eIDAS</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750674"/>
                  </a:ext>
                </a:extLst>
              </a:tr>
              <a:tr h="271527">
                <a:tc vMerge="1">
                  <a:txBody>
                    <a:bodyPr/>
                    <a:lstStyle/>
                    <a:p>
                      <a:endParaRPr kumimoji="1" lang="ja-JP" altLang="en-US"/>
                    </a:p>
                  </a:txBody>
                  <a:tcPr/>
                </a:tc>
                <a:tc vMerge="1">
                  <a:txBody>
                    <a:bodyPr/>
                    <a:lstStyle/>
                    <a:p>
                      <a:endParaRPr kumimoji="1" lang="ja-JP" altLang="en-US"/>
                    </a:p>
                  </a:txBody>
                  <a:tcPr/>
                </a:tc>
                <a:tc>
                  <a:txBody>
                    <a:bodyPr/>
                    <a:lstStyle/>
                    <a:p>
                      <a:pPr marL="0" indent="0">
                        <a:buFont typeface="Arial" panose="020B0604020202020204" pitchFamily="34" charset="0"/>
                        <a:buNone/>
                      </a:pPr>
                      <a:r>
                        <a:rPr kumimoji="1" lang="en-US" altLang="ja-JP" sz="1000" dirty="0">
                          <a:latin typeface="+mn-ea"/>
                          <a:ea typeface="+mn-ea"/>
                          <a:hlinkClick r:id="rId8"/>
                        </a:rPr>
                        <a:t>GDPR</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6624930"/>
                  </a:ext>
                </a:extLst>
              </a:tr>
              <a:tr h="177727">
                <a:tc rowSpan="4">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400" b="1" dirty="0">
                          <a:solidFill>
                            <a:schemeClr val="accent1"/>
                          </a:solidFill>
                          <a:latin typeface="+mn-ea"/>
                          <a:ea typeface="+mn-ea"/>
                        </a:rPr>
                        <a:t>Storage</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4">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dirty="0">
                          <a:solidFill>
                            <a:schemeClr val="tx1"/>
                          </a:solidFill>
                          <a:latin typeface="Yu Gothic UI"/>
                          <a:ea typeface="+mn-ea"/>
                          <a:cs typeface="+mn-cs"/>
                        </a:rPr>
                        <a:t>各種データを格納するためのデータベース、分散型ストレージ等を示す</a:t>
                      </a:r>
                    </a:p>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dirty="0">
                          <a:solidFill>
                            <a:schemeClr val="tx1"/>
                          </a:solidFill>
                          <a:latin typeface="Yu Gothic UI"/>
                          <a:ea typeface="+mn-ea"/>
                          <a:cs typeface="+mn-cs"/>
                        </a:rPr>
                        <a:t>代表的な規格としてデータベースの</a:t>
                      </a:r>
                      <a:r>
                        <a:rPr kumimoji="1" lang="en-US" altLang="ja-JP" sz="1200" b="0" i="0" u="none" strike="noStrike" kern="1200" dirty="0">
                          <a:solidFill>
                            <a:schemeClr val="tx1"/>
                          </a:solidFill>
                          <a:latin typeface="Yu Gothic UI"/>
                          <a:ea typeface="+mn-ea"/>
                          <a:cs typeface="+mn-cs"/>
                        </a:rPr>
                        <a:t>MySQL</a:t>
                      </a:r>
                      <a:r>
                        <a:rPr kumimoji="1" lang="ja-JP" altLang="en-US" sz="1200" b="0" i="0" u="none" strike="noStrike" kern="1200" dirty="0">
                          <a:solidFill>
                            <a:schemeClr val="tx1"/>
                          </a:solidFill>
                          <a:latin typeface="Yu Gothic UI"/>
                          <a:ea typeface="+mn-ea"/>
                          <a:cs typeface="+mn-cs"/>
                        </a:rPr>
                        <a:t>、</a:t>
                      </a:r>
                      <a:r>
                        <a:rPr kumimoji="1" lang="en-US" altLang="ja-JP" sz="1200" b="0" i="0" u="none" strike="noStrike" kern="1200" dirty="0">
                          <a:solidFill>
                            <a:schemeClr val="tx1"/>
                          </a:solidFill>
                          <a:latin typeface="Yu Gothic UI"/>
                          <a:ea typeface="+mn-ea"/>
                          <a:cs typeface="+mn-cs"/>
                        </a:rPr>
                        <a:t>CouchDB</a:t>
                      </a:r>
                      <a:r>
                        <a:rPr kumimoji="1" lang="ja-JP" altLang="en-US" sz="1200" b="0" i="0" u="none" strike="noStrike" kern="1200" dirty="0">
                          <a:solidFill>
                            <a:schemeClr val="tx1"/>
                          </a:solidFill>
                          <a:latin typeface="Yu Gothic UI"/>
                          <a:ea typeface="+mn-ea"/>
                          <a:cs typeface="+mn-cs"/>
                        </a:rPr>
                        <a:t>、</a:t>
                      </a:r>
                      <a:r>
                        <a:rPr kumimoji="1" lang="en-US" altLang="ja-JP" sz="1200" b="0" i="0" u="none" strike="noStrike" kern="1200" dirty="0">
                          <a:solidFill>
                            <a:schemeClr val="tx1"/>
                          </a:solidFill>
                          <a:latin typeface="Yu Gothic UI"/>
                          <a:ea typeface="+mn-ea"/>
                          <a:cs typeface="+mn-cs"/>
                        </a:rPr>
                        <a:t>MongoDB</a:t>
                      </a:r>
                      <a:r>
                        <a:rPr kumimoji="1" lang="ja-JP" altLang="en-US" sz="1200" b="0" i="0" u="none" strike="noStrike" kern="1200" dirty="0">
                          <a:solidFill>
                            <a:schemeClr val="tx1"/>
                          </a:solidFill>
                          <a:latin typeface="Yu Gothic UI"/>
                          <a:ea typeface="+mn-ea"/>
                          <a:cs typeface="+mn-cs"/>
                        </a:rPr>
                        <a:t>や分散型ストレージの</a:t>
                      </a:r>
                      <a:r>
                        <a:rPr kumimoji="1" lang="en-US" altLang="ja-JP" sz="1200" b="0" i="0" u="none" strike="noStrike" kern="1200" dirty="0">
                          <a:solidFill>
                            <a:schemeClr val="tx1"/>
                          </a:solidFill>
                          <a:latin typeface="Yu Gothic UI"/>
                          <a:ea typeface="+mn-ea"/>
                          <a:cs typeface="+mn-cs"/>
                        </a:rPr>
                        <a:t>IPFS</a:t>
                      </a:r>
                      <a:r>
                        <a:rPr kumimoji="1" lang="ja-JP" altLang="en-US" sz="1200" b="0" i="0" u="none" strike="noStrike" kern="1200" dirty="0">
                          <a:solidFill>
                            <a:schemeClr val="tx1"/>
                          </a:solidFill>
                          <a:latin typeface="Yu Gothic UI"/>
                          <a:ea typeface="+mn-ea"/>
                          <a:cs typeface="+mn-cs"/>
                        </a:rPr>
                        <a:t>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kern="1200" dirty="0">
                          <a:solidFill>
                            <a:schemeClr val="tx1"/>
                          </a:solidFill>
                          <a:latin typeface="+mn-ea"/>
                          <a:ea typeface="+mn-ea"/>
                          <a:cs typeface="+mn-cs"/>
                          <a:hlinkClick r:id="rId9"/>
                        </a:rPr>
                        <a:t>Confidential Storage 0.1</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5468157"/>
                  </a:ext>
                </a:extLst>
              </a:tr>
              <a:tr h="177727">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indent="-85725" algn="l" defTabSz="990564" rtl="0" eaLnBrk="1" latinLnBrk="0" hangingPunct="1">
                        <a:buFont typeface="Arial" panose="020B0604020202020204" pitchFamily="34" charset="0"/>
                        <a:buChar char="•"/>
                      </a:pPr>
                      <a:r>
                        <a:rPr kumimoji="1" lang="en-US" altLang="ja-JP" sz="1100" b="0" i="0" u="none" strike="noStrike" kern="1200" dirty="0" err="1">
                          <a:solidFill>
                            <a:schemeClr val="tx1"/>
                          </a:solidFill>
                          <a:latin typeface="Yu Gothic UI"/>
                          <a:ea typeface="+mn-ea"/>
                          <a:cs typeface="+mn-cs"/>
                        </a:rPr>
                        <a:t>ブロックチェーンに直接DID</a:t>
                      </a:r>
                      <a:r>
                        <a:rPr kumimoji="1" lang="en-US" altLang="ja-JP" sz="1100" b="0" i="0" u="none" strike="noStrike" kern="1200" dirty="0">
                          <a:solidFill>
                            <a:schemeClr val="tx1"/>
                          </a:solidFill>
                          <a:latin typeface="Yu Gothic UI"/>
                          <a:ea typeface="+mn-ea"/>
                          <a:cs typeface="+mn-cs"/>
                        </a:rPr>
                        <a:t> </a:t>
                      </a:r>
                      <a:r>
                        <a:rPr kumimoji="1" lang="en-US" altLang="ja-JP" sz="1100" b="0" i="0" u="none" strike="noStrike" kern="1200" dirty="0" err="1">
                          <a:solidFill>
                            <a:schemeClr val="tx1"/>
                          </a:solidFill>
                          <a:latin typeface="Yu Gothic UI"/>
                          <a:ea typeface="+mn-ea"/>
                          <a:cs typeface="+mn-cs"/>
                        </a:rPr>
                        <a:t>Documentを格納する方式</a:t>
                      </a:r>
                      <a:endParaRPr kumimoji="1" lang="en-US" altLang="ja-JP" sz="1100" b="0" i="0" u="none" strike="noStrike" kern="1200" dirty="0">
                        <a:solidFill>
                          <a:schemeClr val="tx1"/>
                        </a:solidFill>
                        <a:latin typeface="Yu Gothic UI"/>
                        <a:ea typeface="+mn-ea"/>
                        <a:cs typeface="+mn-cs"/>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rPr>
                        <a:t>On-Chain (Public/Private)</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4668997"/>
                  </a:ext>
                </a:extLst>
              </a:tr>
              <a:tr h="177727">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indent="-85725" algn="l" defTabSz="990564" rtl="0" eaLnBrk="1" latinLnBrk="0" hangingPunct="1">
                        <a:buFont typeface="Arial" panose="020B0604020202020204" pitchFamily="34" charset="0"/>
                        <a:buChar char="•"/>
                      </a:pPr>
                      <a:r>
                        <a:rPr kumimoji="1" lang="en-US" altLang="ja-JP" sz="1100" b="0" i="0" u="none" strike="noStrike" kern="1200" dirty="0">
                          <a:solidFill>
                            <a:schemeClr val="tx1"/>
                          </a:solidFill>
                          <a:latin typeface="Yu Gothic UI"/>
                          <a:ea typeface="+mn-ea"/>
                          <a:cs typeface="+mn-cs"/>
                        </a:rPr>
                        <a:t>DID </a:t>
                      </a:r>
                      <a:r>
                        <a:rPr kumimoji="1" lang="en-US" altLang="ja-JP" sz="1100" b="0" i="0" u="none" strike="noStrike" kern="1200" dirty="0" err="1">
                          <a:solidFill>
                            <a:schemeClr val="tx1"/>
                          </a:solidFill>
                          <a:latin typeface="Yu Gothic UI"/>
                          <a:ea typeface="+mn-ea"/>
                          <a:cs typeface="+mn-cs"/>
                        </a:rPr>
                        <a:t>Documentの格納先をWebサーバにする方式</a:t>
                      </a:r>
                      <a:endParaRPr kumimoji="1" lang="en-US" altLang="ja-JP" sz="1100" b="0" i="0" u="none" strike="noStrike" kern="1200" dirty="0">
                        <a:solidFill>
                          <a:schemeClr val="tx1"/>
                        </a:solidFill>
                        <a:latin typeface="Yu Gothic UI"/>
                        <a:ea typeface="+mn-ea"/>
                        <a:cs typeface="+mn-cs"/>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buFont typeface="Arial" panose="020B0604020202020204" pitchFamily="34" charset="0"/>
                        <a:buNone/>
                      </a:pPr>
                      <a:r>
                        <a:rPr kumimoji="1" lang="en-US" altLang="ja-JP" sz="1000" dirty="0">
                          <a:latin typeface="+mn-ea"/>
                          <a:ea typeface="+mn-ea"/>
                        </a:rPr>
                        <a:t>Web </a:t>
                      </a:r>
                      <a:r>
                        <a:rPr kumimoji="1" lang="en-US" altLang="ja-JP" sz="1000" dirty="0" err="1">
                          <a:latin typeface="+mn-ea"/>
                          <a:ea typeface="+mn-ea"/>
                        </a:rPr>
                        <a:t>seriver</a:t>
                      </a:r>
                      <a:endParaRPr kumimoji="1" lang="en-US" altLang="ja-JP" sz="1000" dirty="0">
                        <a:latin typeface="+mn-ea"/>
                        <a:ea typeface="+mn-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1005803"/>
                  </a:ext>
                </a:extLst>
              </a:tr>
              <a:tr h="177727">
                <a:tc vMerge="1">
                  <a:txBody>
                    <a:bodyPr/>
                    <a:lstStyle/>
                    <a:p>
                      <a:endParaRPr kumimoji="1" lang="ja-JP" altLang="en-US"/>
                    </a:p>
                  </a:txBody>
                  <a:tcPr/>
                </a:tc>
                <a:tc vMerge="1">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i="0" u="none" strike="noStrike" kern="1200" dirty="0" err="1">
                          <a:solidFill>
                            <a:schemeClr val="tx1"/>
                          </a:solidFill>
                          <a:latin typeface="Yu Gothic UI"/>
                          <a:ea typeface="+mn-ea"/>
                          <a:cs typeface="+mn-cs"/>
                        </a:rPr>
                        <a:t>オフチェーン（ブロックチェーン外にデータを格納する方式）として一般に利用される分散ストレージプロトコル</a:t>
                      </a:r>
                      <a:endParaRPr kumimoji="1" lang="en-US" altLang="ja-JP" sz="1100" b="0" i="0" u="none" strike="noStrike" kern="1200" dirty="0">
                        <a:solidFill>
                          <a:schemeClr val="tx1"/>
                        </a:solidFill>
                        <a:latin typeface="Yu Gothic UI"/>
                        <a:ea typeface="+mn-ea"/>
                        <a:cs typeface="+mn-cs"/>
                      </a:endParaRPr>
                    </a:p>
                  </a:txBody>
                  <a:tcPr marL="36000" marR="36000" marT="0" marB="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1" lang="en-US" altLang="ja-JP" sz="1000" dirty="0">
                          <a:latin typeface="+mn-ea"/>
                          <a:ea typeface="+mn-ea"/>
                          <a:hlinkClick r:id="rId10"/>
                        </a:rPr>
                        <a:t>IPFS</a:t>
                      </a:r>
                      <a:r>
                        <a:rPr kumimoji="1" lang="en-US" altLang="ja-JP" sz="1000" kern="1200" dirty="0">
                          <a:solidFill>
                            <a:schemeClr val="tx1"/>
                          </a:solidFill>
                          <a:latin typeface="+mn-ea"/>
                          <a:ea typeface="+mn-ea"/>
                          <a:cs typeface="+mn-cs"/>
                          <a:hlinkClick r:id="rId10"/>
                        </a:rPr>
                        <a:t> (</a:t>
                      </a:r>
                      <a:r>
                        <a:rPr kumimoji="1" lang="en-US" sz="1000" kern="1200" noProof="0" dirty="0" err="1">
                          <a:solidFill>
                            <a:schemeClr val="tx1"/>
                          </a:solidFill>
                          <a:latin typeface="+mn-ea"/>
                          <a:ea typeface="+mn-ea"/>
                          <a:cs typeface="+mn-cs"/>
                          <a:hlinkClick r:id="rId10"/>
                        </a:rPr>
                        <a:t>InterPlanetary</a:t>
                      </a:r>
                      <a:r>
                        <a:rPr kumimoji="1" lang="en-US" sz="1000" kern="1200" noProof="0" dirty="0">
                          <a:solidFill>
                            <a:schemeClr val="tx1"/>
                          </a:solidFill>
                          <a:latin typeface="+mn-ea"/>
                          <a:ea typeface="+mn-ea"/>
                          <a:cs typeface="+mn-cs"/>
                          <a:hlinkClick r:id="rId10"/>
                        </a:rPr>
                        <a:t> File System</a:t>
                      </a:r>
                      <a:r>
                        <a:rPr kumimoji="1" lang="en-US" altLang="ja-JP" sz="1000" kern="1200" dirty="0">
                          <a:solidFill>
                            <a:schemeClr val="tx1"/>
                          </a:solidFill>
                          <a:latin typeface="+mn-ea"/>
                          <a:ea typeface="+mn-ea"/>
                          <a:cs typeface="+mn-cs"/>
                          <a:hlinkClick r:id="rId10"/>
                        </a:rPr>
                        <a:t>)</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1040579"/>
                  </a:ext>
                </a:extLst>
              </a:tr>
              <a:tr h="177727">
                <a:tc rowSpan="2">
                  <a:txBody>
                    <a:bodyPr/>
                    <a:lstStyle/>
                    <a:p>
                      <a:r>
                        <a:rPr kumimoji="1" lang="en-US" altLang="ja-JP" sz="1400" b="1" dirty="0">
                          <a:solidFill>
                            <a:schemeClr val="accent1"/>
                          </a:solidFill>
                          <a:latin typeface="+mn-ea"/>
                          <a:ea typeface="+mn-ea"/>
                        </a:rPr>
                        <a:t>Data Formats</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2">
                  <a:txBody>
                    <a:bodyPr/>
                    <a:lstStyle/>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dirty="0">
                          <a:solidFill>
                            <a:schemeClr val="tx1"/>
                          </a:solidFill>
                          <a:latin typeface="+mn-lt"/>
                          <a:ea typeface="+mn-ea"/>
                          <a:cs typeface="+mn-cs"/>
                        </a:rPr>
                        <a:t>各種データを表現するデータフォーマットを示す</a:t>
                      </a:r>
                    </a:p>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dirty="0">
                          <a:solidFill>
                            <a:schemeClr val="tx1"/>
                          </a:solidFill>
                          <a:latin typeface="+mn-lt"/>
                          <a:ea typeface="+mn-ea"/>
                          <a:cs typeface="+mn-cs"/>
                        </a:rPr>
                        <a:t>代表的な規格として</a:t>
                      </a:r>
                      <a:r>
                        <a:rPr kumimoji="1" lang="en-US" altLang="ja-JP" sz="1200" b="0" i="0" u="none" strike="noStrike" kern="1200" dirty="0">
                          <a:solidFill>
                            <a:schemeClr val="tx1"/>
                          </a:solidFill>
                          <a:latin typeface="+mn-lt"/>
                          <a:ea typeface="+mn-ea"/>
                          <a:cs typeface="+mn-cs"/>
                        </a:rPr>
                        <a:t>JSON</a:t>
                      </a:r>
                      <a:r>
                        <a:rPr kumimoji="1" lang="ja-JP" altLang="en-US" sz="1200" b="0" i="0" u="none" strike="noStrike" kern="1200" dirty="0">
                          <a:solidFill>
                            <a:schemeClr val="tx1"/>
                          </a:solidFill>
                          <a:latin typeface="+mn-lt"/>
                          <a:ea typeface="+mn-ea"/>
                          <a:cs typeface="+mn-cs"/>
                        </a:rPr>
                        <a:t>、</a:t>
                      </a:r>
                      <a:r>
                        <a:rPr kumimoji="1" lang="en-US" altLang="ja-JP" sz="1200" b="0" i="0" u="none" strike="noStrike" kern="1200" dirty="0">
                          <a:solidFill>
                            <a:schemeClr val="tx1"/>
                          </a:solidFill>
                          <a:latin typeface="+mn-lt"/>
                          <a:ea typeface="+mn-ea"/>
                          <a:cs typeface="+mn-cs"/>
                        </a:rPr>
                        <a:t>XML</a:t>
                      </a:r>
                      <a:r>
                        <a:rPr kumimoji="1" lang="ja-JP" altLang="en-US" sz="1200" b="0" i="0" u="none" strike="noStrike" kern="1200" dirty="0">
                          <a:solidFill>
                            <a:schemeClr val="tx1"/>
                          </a:solidFill>
                          <a:latin typeface="+mn-lt"/>
                          <a:ea typeface="+mn-ea"/>
                          <a:cs typeface="+mn-cs"/>
                        </a:rPr>
                        <a:t>、</a:t>
                      </a:r>
                      <a:r>
                        <a:rPr kumimoji="1" lang="en-US" altLang="ja-JP" sz="1200" b="0" i="0" u="none" strike="noStrike" kern="1200" dirty="0">
                          <a:solidFill>
                            <a:schemeClr val="tx1"/>
                          </a:solidFill>
                          <a:latin typeface="+mn-lt"/>
                          <a:ea typeface="+mn-ea"/>
                          <a:cs typeface="+mn-cs"/>
                        </a:rPr>
                        <a:t>CBOR</a:t>
                      </a:r>
                      <a:r>
                        <a:rPr kumimoji="1" lang="ja-JP" altLang="en-US" sz="1200" b="0" i="0" u="none" strike="noStrike" kern="1200" dirty="0">
                          <a:solidFill>
                            <a:schemeClr val="tx1"/>
                          </a:solidFill>
                          <a:latin typeface="+mn-lt"/>
                          <a:ea typeface="+mn-ea"/>
                          <a:cs typeface="+mn-cs"/>
                        </a:rPr>
                        <a:t>等が挙げられる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1" lang="en-US" altLang="ja-JP" sz="1000" kern="1200" dirty="0">
                          <a:solidFill>
                            <a:schemeClr val="tx1"/>
                          </a:solidFill>
                          <a:latin typeface="+mn-ea"/>
                          <a:ea typeface="+mn-ea"/>
                          <a:cs typeface="+mn-cs"/>
                          <a:hlinkClick r:id="rId11"/>
                        </a:rPr>
                        <a:t>JSON</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8144305"/>
                  </a:ext>
                </a:extLst>
              </a:tr>
              <a:tr h="177727">
                <a:tc vMerge="1">
                  <a:txBody>
                    <a:bodyPr/>
                    <a:lstStyle/>
                    <a:p>
                      <a:endParaRPr kumimoji="1" lang="ja-JP" altLang="en-US" sz="14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400" b="0" i="0" u="none" strike="noStrike" kern="1200" dirty="0">
                        <a:solidFill>
                          <a:schemeClr val="tx1"/>
                        </a:solidFill>
                        <a:latin typeface="Yu Gothic UI"/>
                        <a:ea typeface="+mn-ea"/>
                        <a:cs typeface="+mn-cs"/>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1" lang="en-US" altLang="ja-JP" sz="1000" kern="1200" dirty="0">
                          <a:solidFill>
                            <a:schemeClr val="tx1"/>
                          </a:solidFill>
                          <a:latin typeface="+mn-ea"/>
                          <a:ea typeface="+mn-ea"/>
                          <a:cs typeface="+mn-cs"/>
                          <a:hlinkClick r:id="rId12"/>
                        </a:rPr>
                        <a:t>CBOR</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4057273"/>
                  </a:ext>
                </a:extLst>
              </a:tr>
              <a:tr h="177727">
                <a:tc rowSpan="3">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accent1"/>
                          </a:solidFill>
                          <a:latin typeface="+mn-ea"/>
                          <a:ea typeface="+mn-ea"/>
                        </a:rPr>
                        <a:t>Crypto Primitives</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rowSpan="3">
                  <a:txBody>
                    <a:bodyPr/>
                    <a:lstStyle/>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dirty="0">
                          <a:solidFill>
                            <a:schemeClr val="tx1"/>
                          </a:solidFill>
                          <a:latin typeface="+mn-lt"/>
                          <a:ea typeface="+mn-ea"/>
                          <a:cs typeface="+mn-cs"/>
                        </a:rPr>
                        <a:t>分散型アイデンティティで使用される証明書の署名方式や暗号方式を示す</a:t>
                      </a:r>
                    </a:p>
                    <a:p>
                      <a:pPr marL="179388" marR="0" lvl="0" indent="-179388"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dirty="0">
                          <a:solidFill>
                            <a:schemeClr val="tx1"/>
                          </a:solidFill>
                          <a:latin typeface="+mn-lt"/>
                          <a:ea typeface="+mn-ea"/>
                          <a:cs typeface="+mn-cs"/>
                        </a:rPr>
                        <a:t>代表的な規格として</a:t>
                      </a:r>
                      <a:r>
                        <a:rPr kumimoji="1" lang="en-US" altLang="ja-JP" sz="1200" b="0" i="0" u="none" strike="noStrike" kern="1200" dirty="0">
                          <a:solidFill>
                            <a:schemeClr val="tx1"/>
                          </a:solidFill>
                          <a:latin typeface="+mn-lt"/>
                          <a:ea typeface="+mn-ea"/>
                          <a:cs typeface="+mn-cs"/>
                        </a:rPr>
                        <a:t>ECDSA</a:t>
                      </a:r>
                      <a:r>
                        <a:rPr kumimoji="1" lang="ja-JP" altLang="en-US" sz="1200" b="0" i="0" u="none" strike="noStrike" kern="1200" dirty="0">
                          <a:solidFill>
                            <a:schemeClr val="tx1"/>
                          </a:solidFill>
                          <a:latin typeface="+mn-lt"/>
                          <a:ea typeface="+mn-ea"/>
                          <a:cs typeface="+mn-cs"/>
                        </a:rPr>
                        <a:t>、</a:t>
                      </a:r>
                      <a:r>
                        <a:rPr kumimoji="1" lang="en-US" altLang="ja-JP" sz="1200" b="0" i="0" u="none" strike="noStrike" kern="1200" dirty="0" err="1">
                          <a:solidFill>
                            <a:schemeClr val="tx1"/>
                          </a:solidFill>
                          <a:latin typeface="+mn-lt"/>
                          <a:ea typeface="+mn-ea"/>
                          <a:cs typeface="+mn-cs"/>
                        </a:rPr>
                        <a:t>EdDSA</a:t>
                      </a:r>
                      <a:r>
                        <a:rPr kumimoji="1" lang="ja-JP" altLang="en-US" sz="1200" b="0" i="0" u="none" strike="noStrike" kern="1200" dirty="0">
                          <a:solidFill>
                            <a:schemeClr val="tx1"/>
                          </a:solidFill>
                          <a:latin typeface="+mn-lt"/>
                          <a:ea typeface="+mn-ea"/>
                          <a:cs typeface="+mn-cs"/>
                        </a:rPr>
                        <a:t>や</a:t>
                      </a:r>
                      <a:r>
                        <a:rPr kumimoji="1" lang="en-US" altLang="ja-JP" sz="1200" b="0" i="0" u="none" strike="noStrike" kern="1200" dirty="0">
                          <a:solidFill>
                            <a:schemeClr val="tx1"/>
                          </a:solidFill>
                          <a:latin typeface="+mn-lt"/>
                          <a:ea typeface="+mn-ea"/>
                          <a:cs typeface="+mn-cs"/>
                        </a:rPr>
                        <a:t>secp256k1</a:t>
                      </a:r>
                      <a:r>
                        <a:rPr kumimoji="1" lang="ja-JP" altLang="en-US" sz="1200" b="0" i="0" u="none" strike="noStrike" kern="1200" dirty="0">
                          <a:solidFill>
                            <a:schemeClr val="tx1"/>
                          </a:solidFill>
                          <a:latin typeface="+mn-lt"/>
                          <a:ea typeface="+mn-ea"/>
                          <a:cs typeface="+mn-cs"/>
                        </a:rPr>
                        <a:t>が挙げられる。</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kern="1200" dirty="0">
                          <a:solidFill>
                            <a:schemeClr val="tx1"/>
                          </a:solidFill>
                          <a:latin typeface="+mn-ea"/>
                          <a:ea typeface="+mn-ea"/>
                          <a:cs typeface="+mn-cs"/>
                        </a:rPr>
                        <a:t>ECDSA</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8658419"/>
                  </a:ext>
                </a:extLst>
              </a:tr>
              <a:tr h="177727">
                <a:tc vMerge="1">
                  <a:txBody>
                    <a:bodyPr/>
                    <a:lstStyle/>
                    <a:p>
                      <a:endParaRPr kumimoji="1" lang="ja-JP" altLang="en-US"/>
                    </a:p>
                  </a:txBody>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400" b="0" i="0" u="none" strike="noStrike" kern="1200" dirty="0">
                        <a:solidFill>
                          <a:schemeClr val="tx1"/>
                        </a:solidFill>
                        <a:latin typeface="Yu Gothic UI"/>
                        <a:ea typeface="+mn-ea"/>
                        <a:cs typeface="+mn-cs"/>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1" lang="en-US" altLang="ja-JP" sz="1000" kern="1200" dirty="0" err="1">
                          <a:solidFill>
                            <a:schemeClr val="tx1"/>
                          </a:solidFill>
                          <a:latin typeface="+mn-ea"/>
                          <a:ea typeface="+mn-ea"/>
                          <a:cs typeface="+mn-cs"/>
                        </a:rPr>
                        <a:t>EdDSA</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2386207"/>
                  </a:ext>
                </a:extLst>
              </a:tr>
              <a:tr h="177727">
                <a:tc vMerge="1">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endParaRPr kumimoji="1" lang="en-US" altLang="ja-JP" sz="140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85725" marR="0" lvl="0" indent="-85725"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400" b="0" i="0" u="none" strike="noStrike" kern="1200" dirty="0">
                        <a:solidFill>
                          <a:schemeClr val="tx1"/>
                        </a:solidFill>
                        <a:latin typeface="Yu Gothic UI"/>
                        <a:ea typeface="+mn-ea"/>
                        <a:cs typeface="+mn-cs"/>
                      </a:endParaRPr>
                    </a:p>
                  </a:txBody>
                  <a:tcPr marL="36000" marR="3600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000" b="0" i="0" u="none" strike="noStrike" kern="1200" dirty="0">
                          <a:solidFill>
                            <a:schemeClr val="tx1"/>
                          </a:solidFill>
                          <a:latin typeface="+mn-lt"/>
                          <a:ea typeface="+mn-ea"/>
                          <a:cs typeface="+mn-cs"/>
                        </a:rPr>
                        <a:t>secp256k1</a:t>
                      </a:r>
                      <a:endParaRPr kumimoji="1" lang="en-US" altLang="ja-JP" sz="1000" kern="1200" dirty="0">
                        <a:solidFill>
                          <a:schemeClr val="tx1"/>
                        </a:solidFill>
                        <a:latin typeface="+mn-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378385"/>
                  </a:ext>
                </a:extLst>
              </a:tr>
            </a:tbl>
          </a:graphicData>
        </a:graphic>
      </p:graphicFrame>
      <p:sp>
        <p:nvSpPr>
          <p:cNvPr id="12" name="コンテンツ プレースホルダー 2">
            <a:extLst>
              <a:ext uri="{FF2B5EF4-FFF2-40B4-BE49-F238E27FC236}">
                <a16:creationId xmlns:a16="http://schemas.microsoft.com/office/drawing/2014/main" id="{C8F471EB-9074-B9CB-D92B-CF8B03AAB139}"/>
              </a:ext>
            </a:extLst>
          </p:cNvPr>
          <p:cNvSpPr>
            <a:spLocks noGrp="1"/>
          </p:cNvSpPr>
          <p:nvPr>
            <p:ph idx="1"/>
          </p:nvPr>
        </p:nvSpPr>
        <p:spPr>
          <a:xfrm>
            <a:off x="273050" y="927444"/>
            <a:ext cx="9359900" cy="215444"/>
          </a:xfrm>
        </p:spPr>
        <p:txBody>
          <a:bodyPr/>
          <a:lstStyle/>
          <a:p>
            <a:r>
              <a:rPr kumimoji="1" lang="en-US" altLang="ja-JP" dirty="0"/>
              <a:t>Vertical / Cross-cutting</a:t>
            </a:r>
            <a:r>
              <a:rPr lang="ja-JP" altLang="en-US" dirty="0"/>
              <a:t>では、</a:t>
            </a:r>
            <a:r>
              <a:rPr kumimoji="1" lang="ja-JP" altLang="en-US" dirty="0"/>
              <a:t>暗号方式や選択的開示方式等のレイヤーを横断する要素技術・取組等について</a:t>
            </a:r>
            <a:r>
              <a:rPr lang="ja-JP" altLang="en-US"/>
              <a:t>記載され</a:t>
            </a:r>
            <a:r>
              <a:rPr kumimoji="1" lang="ja-JP" altLang="en-US"/>
              <a:t>て</a:t>
            </a:r>
            <a:r>
              <a:rPr kumimoji="1" lang="ja-JP" altLang="en-US" dirty="0"/>
              <a:t>いる</a:t>
            </a:r>
          </a:p>
        </p:txBody>
      </p:sp>
    </p:spTree>
    <p:extLst>
      <p:ext uri="{BB962C8B-B14F-4D97-AF65-F5344CB8AC3E}">
        <p14:creationId xmlns:p14="http://schemas.microsoft.com/office/powerpoint/2010/main" val="4227176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52469-8278-E139-B92C-AB5FBC903378}"/>
              </a:ext>
            </a:extLst>
          </p:cNvPr>
          <p:cNvSpPr>
            <a:spLocks noGrp="1"/>
          </p:cNvSpPr>
          <p:nvPr>
            <p:ph type="title"/>
          </p:nvPr>
        </p:nvSpPr>
        <p:spPr>
          <a:xfrm>
            <a:off x="273050" y="446857"/>
            <a:ext cx="7848302" cy="246221"/>
          </a:xfrm>
        </p:spPr>
        <p:txBody>
          <a:bodyPr/>
          <a:lstStyle/>
          <a:p>
            <a:r>
              <a:rPr lang="en-US" altLang="ja-JP" b="1" dirty="0">
                <a:latin typeface="+mn-ea"/>
                <a:ea typeface="+mn-ea"/>
              </a:rPr>
              <a:t>(</a:t>
            </a:r>
            <a:r>
              <a:rPr lang="ja-JP" altLang="en-US" b="1" dirty="0">
                <a:latin typeface="+mn-ea"/>
                <a:ea typeface="+mn-ea"/>
              </a:rPr>
              <a:t>参考</a:t>
            </a:r>
            <a:r>
              <a:rPr lang="en-US" altLang="ja-JP" b="1" dirty="0">
                <a:latin typeface="+mn-ea"/>
                <a:ea typeface="+mn-ea"/>
              </a:rPr>
              <a:t>)</a:t>
            </a:r>
            <a:r>
              <a:rPr kumimoji="1" lang="en-US" altLang="ja-JP" b="1" dirty="0">
                <a:latin typeface="+mn-ea"/>
                <a:ea typeface="+mn-ea"/>
              </a:rPr>
              <a:t> </a:t>
            </a:r>
            <a:r>
              <a:rPr kumimoji="1" lang="en-US" altLang="ja-JP" dirty="0" err="1">
                <a:latin typeface="+mn-ea"/>
                <a:ea typeface="+mn-ea"/>
              </a:rPr>
              <a:t>mDL</a:t>
            </a:r>
            <a:r>
              <a:rPr kumimoji="1" lang="ja-JP" altLang="en-US" dirty="0">
                <a:latin typeface="+mn-ea"/>
                <a:ea typeface="+mn-ea"/>
              </a:rPr>
              <a:t>に関する</a:t>
            </a:r>
            <a:r>
              <a:rPr lang="ja-JP" altLang="en-US" b="1" dirty="0">
                <a:latin typeface="+mn-ea"/>
                <a:ea typeface="+mn-ea"/>
              </a:rPr>
              <a:t>標準策定状況</a:t>
            </a:r>
            <a:endParaRPr kumimoji="1" lang="ja-JP" altLang="en-US" sz="1200" dirty="0"/>
          </a:p>
        </p:txBody>
      </p:sp>
      <p:sp>
        <p:nvSpPr>
          <p:cNvPr id="3" name="コンテンツ プレースホルダー 2">
            <a:extLst>
              <a:ext uri="{FF2B5EF4-FFF2-40B4-BE49-F238E27FC236}">
                <a16:creationId xmlns:a16="http://schemas.microsoft.com/office/drawing/2014/main" id="{5B858F3A-1197-C0AB-B8A0-CF17B30F1BD3}"/>
              </a:ext>
            </a:extLst>
          </p:cNvPr>
          <p:cNvSpPr>
            <a:spLocks noGrp="1"/>
          </p:cNvSpPr>
          <p:nvPr>
            <p:ph idx="1"/>
          </p:nvPr>
        </p:nvSpPr>
        <p:spPr>
          <a:xfrm>
            <a:off x="273050" y="908050"/>
            <a:ext cx="9359900" cy="215444"/>
          </a:xfrm>
        </p:spPr>
        <p:txBody>
          <a:bodyPr/>
          <a:lstStyle/>
          <a:p>
            <a:r>
              <a:rPr lang="en-US" altLang="ja-JP" dirty="0" err="1"/>
              <a:t>mDL</a:t>
            </a:r>
            <a:r>
              <a:rPr lang="ja-JP" altLang="en-US" dirty="0"/>
              <a:t>は</a:t>
            </a:r>
            <a:r>
              <a:rPr lang="en-US" altLang="ja-JP" dirty="0"/>
              <a:t>ISO/IEC18013</a:t>
            </a:r>
            <a:r>
              <a:rPr lang="ja-JP" altLang="en-US" dirty="0"/>
              <a:t>シリーズ、</a:t>
            </a:r>
            <a:r>
              <a:rPr lang="en-US" altLang="ja-JP" dirty="0"/>
              <a:t>23220</a:t>
            </a:r>
            <a:r>
              <a:rPr lang="ja-JP" altLang="en-US" dirty="0"/>
              <a:t>シリーズで標準化が進んでおり、一部規格は策定途中である</a:t>
            </a:r>
            <a:endParaRPr kumimoji="1" lang="ja-JP" altLang="en-US" dirty="0"/>
          </a:p>
        </p:txBody>
      </p:sp>
      <p:sp>
        <p:nvSpPr>
          <p:cNvPr id="4" name="テキスト プレースホルダー 3">
            <a:extLst>
              <a:ext uri="{FF2B5EF4-FFF2-40B4-BE49-F238E27FC236}">
                <a16:creationId xmlns:a16="http://schemas.microsoft.com/office/drawing/2014/main" id="{AAACB07A-AA19-796A-FAFC-90D51DB14022}"/>
              </a:ext>
            </a:extLst>
          </p:cNvPr>
          <p:cNvSpPr>
            <a:spLocks noGrp="1"/>
          </p:cNvSpPr>
          <p:nvPr>
            <p:ph type="body" sz="quarter" idx="10"/>
          </p:nvPr>
        </p:nvSpPr>
        <p:spPr>
          <a:xfrm>
            <a:off x="273050" y="188913"/>
            <a:ext cx="7848600" cy="161583"/>
          </a:xfrm>
        </p:spPr>
        <p:txBody>
          <a:bodyPr/>
          <a:lstStyle/>
          <a:p>
            <a:r>
              <a:rPr kumimoji="1" lang="en-US" altLang="zh-TW" dirty="0"/>
              <a:t>4.</a:t>
            </a:r>
            <a:r>
              <a:rPr lang="zh-TW" altLang="en-US" dirty="0"/>
              <a:t> </a:t>
            </a:r>
            <a:r>
              <a:rPr kumimoji="1" lang="zh-TW" altLang="en-US" dirty="0"/>
              <a:t>規格実態調査</a:t>
            </a:r>
          </a:p>
        </p:txBody>
      </p:sp>
      <p:graphicFrame>
        <p:nvGraphicFramePr>
          <p:cNvPr id="5" name="表 4">
            <a:extLst>
              <a:ext uri="{FF2B5EF4-FFF2-40B4-BE49-F238E27FC236}">
                <a16:creationId xmlns:a16="http://schemas.microsoft.com/office/drawing/2014/main" id="{D120504B-8A3C-612C-00A5-E666085B132F}"/>
              </a:ext>
            </a:extLst>
          </p:cNvPr>
          <p:cNvGraphicFramePr>
            <a:graphicFrameLocks noGrp="1"/>
          </p:cNvGraphicFramePr>
          <p:nvPr>
            <p:extLst>
              <p:ext uri="{D42A27DB-BD31-4B8C-83A1-F6EECF244321}">
                <p14:modId xmlns:p14="http://schemas.microsoft.com/office/powerpoint/2010/main" val="1164167885"/>
              </p:ext>
            </p:extLst>
          </p:nvPr>
        </p:nvGraphicFramePr>
        <p:xfrm>
          <a:off x="273049" y="1275023"/>
          <a:ext cx="9359899" cy="5012640"/>
        </p:xfrm>
        <a:graphic>
          <a:graphicData uri="http://schemas.openxmlformats.org/drawingml/2006/table">
            <a:tbl>
              <a:tblPr/>
              <a:tblGrid>
                <a:gridCol w="1210109">
                  <a:extLst>
                    <a:ext uri="{9D8B030D-6E8A-4147-A177-3AD203B41FA5}">
                      <a16:colId xmlns:a16="http://schemas.microsoft.com/office/drawing/2014/main" val="2170039671"/>
                    </a:ext>
                  </a:extLst>
                </a:gridCol>
                <a:gridCol w="694201">
                  <a:extLst>
                    <a:ext uri="{9D8B030D-6E8A-4147-A177-3AD203B41FA5}">
                      <a16:colId xmlns:a16="http://schemas.microsoft.com/office/drawing/2014/main" val="1135510579"/>
                    </a:ext>
                  </a:extLst>
                </a:gridCol>
                <a:gridCol w="2838261">
                  <a:extLst>
                    <a:ext uri="{9D8B030D-6E8A-4147-A177-3AD203B41FA5}">
                      <a16:colId xmlns:a16="http://schemas.microsoft.com/office/drawing/2014/main" val="3140412666"/>
                    </a:ext>
                  </a:extLst>
                </a:gridCol>
                <a:gridCol w="3045117">
                  <a:extLst>
                    <a:ext uri="{9D8B030D-6E8A-4147-A177-3AD203B41FA5}">
                      <a16:colId xmlns:a16="http://schemas.microsoft.com/office/drawing/2014/main" val="3195007111"/>
                    </a:ext>
                  </a:extLst>
                </a:gridCol>
                <a:gridCol w="1572211">
                  <a:extLst>
                    <a:ext uri="{9D8B030D-6E8A-4147-A177-3AD203B41FA5}">
                      <a16:colId xmlns:a16="http://schemas.microsoft.com/office/drawing/2014/main" val="3217722742"/>
                    </a:ext>
                  </a:extLst>
                </a:gridCol>
              </a:tblGrid>
              <a:tr h="145932">
                <a:tc gridSpan="3">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ja-JP" altLang="en-US" sz="1200" b="1" i="0" u="none" strike="noStrike" dirty="0">
                          <a:solidFill>
                            <a:srgbClr val="FFFFFF"/>
                          </a:solidFill>
                          <a:effectLst/>
                          <a:latin typeface="+mn-ea"/>
                          <a:ea typeface="+mn-ea"/>
                        </a:rPr>
                        <a:t>標準化項目</a:t>
                      </a:r>
                      <a:endParaRPr lang="en-US" sz="1200" b="1" i="0" u="none" strike="noStrike" dirty="0">
                        <a:solidFill>
                          <a:srgbClr val="FFFFFF"/>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l" fontAlgn="ctr"/>
                      <a:r>
                        <a:rPr lang="ja-JP" altLang="en-US" sz="1050" b="0" i="0" u="none" strike="noStrike">
                          <a:solidFill>
                            <a:srgbClr val="FFFFFF"/>
                          </a:solidFill>
                          <a:effectLst/>
                          <a:latin typeface="+mn-ea"/>
                          <a:ea typeface="+mn-ea"/>
                        </a:rPr>
                        <a:t>　</a:t>
                      </a:r>
                    </a:p>
                  </a:txBody>
                  <a:tcPr marL="7519" marR="7519" marT="75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CB0"/>
                    </a:solidFill>
                  </a:tcPr>
                </a:tc>
                <a:tc hMerge="1">
                  <a:txBody>
                    <a:bodyPr/>
                    <a:lstStyle/>
                    <a:p>
                      <a:pPr algn="l" fontAlgn="ctr"/>
                      <a:r>
                        <a:rPr lang="ja-JP" altLang="en-US" sz="1050" b="0" i="0" u="none" strike="noStrike">
                          <a:solidFill>
                            <a:srgbClr val="FFFFFF"/>
                          </a:solidFill>
                          <a:effectLst/>
                          <a:latin typeface="+mn-ea"/>
                          <a:ea typeface="+mn-ea"/>
                        </a:rPr>
                        <a:t>　</a:t>
                      </a:r>
                    </a:p>
                  </a:txBody>
                  <a:tcPr marL="7519" marR="7519" marT="7519" marB="0" anchor="ctr">
                    <a:lnL>
                      <a:noFill/>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CB0"/>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1" i="0" u="none" strike="noStrike" dirty="0">
                          <a:solidFill>
                            <a:srgbClr val="FFFFFF"/>
                          </a:solidFill>
                          <a:effectLst/>
                          <a:latin typeface="+mn-ea"/>
                          <a:ea typeface="+mn-ea"/>
                        </a:rPr>
                        <a:t>概要</a:t>
                      </a:r>
                      <a:endParaRPr lang="en-US" sz="1200" b="1" i="0" u="none" strike="noStrike" dirty="0">
                        <a:solidFill>
                          <a:srgbClr val="FFFFFF"/>
                        </a:solidFill>
                        <a:effectLst/>
                        <a:latin typeface="+mn-ea"/>
                        <a:ea typeface="+mn-ea"/>
                      </a:endParaRPr>
                    </a:p>
                  </a:txBody>
                  <a:tcPr marL="36000" marR="36000" marT="28800" marB="28800" anchor="ctr">
                    <a:lnL w="6350">
                      <a:solidFill>
                        <a:srgbClr val="FFFFFF"/>
                      </a:solidFill>
                    </a:lnL>
                    <a:lnR w="6350">
                      <a:solidFill>
                        <a:srgbClr val="FFFFFF"/>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ja-JP" altLang="en-US" sz="1200" b="1" i="0" u="none" strike="noStrike" dirty="0">
                          <a:solidFill>
                            <a:srgbClr val="FFFFFF"/>
                          </a:solidFill>
                          <a:effectLst/>
                          <a:latin typeface="+mn-ea"/>
                          <a:ea typeface="+mn-ea"/>
                        </a:rPr>
                        <a:t>ステータス</a:t>
                      </a:r>
                      <a:endParaRPr lang="en-US" sz="1200" b="1" i="0" u="none" strike="noStrike" dirty="0">
                        <a:solidFill>
                          <a:srgbClr val="FFFFFF"/>
                        </a:solidFill>
                        <a:effectLst/>
                        <a:latin typeface="+mn-ea"/>
                        <a:ea typeface="+mn-ea"/>
                      </a:endParaRPr>
                    </a:p>
                  </a:txBody>
                  <a:tcPr marL="36000" marR="36000" marT="28800" marB="288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161762224"/>
                  </a:ext>
                </a:extLst>
              </a:tr>
              <a:tr h="250641">
                <a:tc rowSpan="7">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1" i="0" u="none" strike="noStrike">
                          <a:solidFill>
                            <a:srgbClr val="000000"/>
                          </a:solidFill>
                          <a:effectLst/>
                          <a:latin typeface="+mn-ea"/>
                          <a:ea typeface="+mn-ea"/>
                        </a:rPr>
                        <a:t>ISO/IEC18013 series</a:t>
                      </a:r>
                    </a:p>
                    <a:p>
                      <a:pPr algn="l" fontAlgn="ctr"/>
                      <a:r>
                        <a:rPr lang="en-US" altLang="ja-JP" sz="1200" b="1" i="0" u="none" strike="noStrike">
                          <a:solidFill>
                            <a:srgbClr val="000000"/>
                          </a:solidFill>
                          <a:effectLst/>
                          <a:latin typeface="+mn-ea"/>
                          <a:ea typeface="+mn-ea"/>
                        </a:rPr>
                        <a:t>(</a:t>
                      </a:r>
                      <a:r>
                        <a:rPr lang="ja-JP" altLang="en-US" sz="1200" b="1" i="0" u="none" strike="noStrike">
                          <a:solidFill>
                            <a:srgbClr val="000000"/>
                          </a:solidFill>
                          <a:effectLst/>
                          <a:latin typeface="+mn-ea"/>
                          <a:ea typeface="+mn-ea"/>
                        </a:rPr>
                        <a:t>運転免許証にかかる標準化</a:t>
                      </a:r>
                      <a:r>
                        <a:rPr lang="en-US" altLang="ja-JP" sz="1200" b="1" i="0" u="none" strike="noStrike">
                          <a:solidFill>
                            <a:srgbClr val="000000"/>
                          </a:solidFill>
                          <a:effectLst/>
                          <a:latin typeface="+mn-ea"/>
                          <a:ea typeface="+mn-ea"/>
                        </a:rPr>
                        <a:t>)</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dirty="0">
                          <a:solidFill>
                            <a:srgbClr val="000000"/>
                          </a:solidFill>
                          <a:effectLst/>
                          <a:latin typeface="+mn-ea"/>
                          <a:ea typeface="+mn-ea"/>
                        </a:rPr>
                        <a:t>18013-1</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2"/>
                        </a:rPr>
                        <a:t>Physical characteristics and basic data set</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dirty="0">
                          <a:solidFill>
                            <a:srgbClr val="000000"/>
                          </a:solidFill>
                          <a:effectLst/>
                          <a:latin typeface="+mn-ea"/>
                          <a:ea typeface="+mn-ea"/>
                        </a:rPr>
                        <a:t>免許証の物理特性と基本的なデータセットを定義</a:t>
                      </a: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Published</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218442463"/>
                  </a:ext>
                </a:extLst>
              </a:tr>
              <a:tr h="250641">
                <a:tc vMerge="1">
                  <a:txBody>
                    <a:bodyPr/>
                    <a:lstStyle/>
                    <a:p>
                      <a:pPr algn="l" fontAlgn="ctr"/>
                      <a:r>
                        <a:rPr lang="en-US" altLang="ja-JP" sz="1050" b="0" i="0" u="none" strike="noStrike">
                          <a:solidFill>
                            <a:srgbClr val="000000"/>
                          </a:solidFill>
                          <a:effectLst/>
                          <a:latin typeface="+mn-ea"/>
                          <a:ea typeface="+mn-ea"/>
                        </a:rPr>
                        <a:t>(</a:t>
                      </a:r>
                      <a:r>
                        <a:rPr lang="ja-JP" altLang="en-US" sz="1050" b="0" i="0" u="none" strike="noStrike">
                          <a:solidFill>
                            <a:srgbClr val="000000"/>
                          </a:solidFill>
                          <a:effectLst/>
                          <a:latin typeface="+mn-ea"/>
                          <a:ea typeface="+mn-ea"/>
                        </a:rPr>
                        <a:t>運転免許証にかかる標準化</a:t>
                      </a:r>
                      <a:r>
                        <a:rPr lang="en-US" altLang="ja-JP" sz="1050" b="0" i="0" u="none" strike="noStrike">
                          <a:solidFill>
                            <a:srgbClr val="000000"/>
                          </a:solidFill>
                          <a:effectLst/>
                          <a:latin typeface="+mn-ea"/>
                          <a:ea typeface="+mn-ea"/>
                        </a:rPr>
                        <a:t>)</a:t>
                      </a:r>
                      <a:endParaRPr lang="ja-JP" altLang="en-US" sz="1050" b="0" i="0" u="none" strike="noStrike">
                        <a:solidFill>
                          <a:srgbClr val="000000"/>
                        </a:solidFill>
                        <a:effectLst/>
                        <a:latin typeface="+mn-ea"/>
                        <a:ea typeface="+mn-ea"/>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18013-2</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3"/>
                        </a:rPr>
                        <a:t>Machine-readable technologies</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a:solidFill>
                            <a:srgbClr val="000000"/>
                          </a:solidFill>
                          <a:effectLst/>
                          <a:latin typeface="+mn-ea"/>
                          <a:ea typeface="+mn-ea"/>
                        </a:rPr>
                        <a:t>免許証の機械読取部分のデータ構造や読取方法を定義</a:t>
                      </a:r>
                      <a:endParaRPr lang="en-US" sz="1200" b="0" i="0" u="none" strike="noStrike">
                        <a:solidFill>
                          <a:srgbClr val="000000"/>
                        </a:solidFill>
                        <a:effectLst/>
                        <a:latin typeface="+mn-ea"/>
                        <a:ea typeface="+mn-ea"/>
                      </a:endParaRP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Published</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981674541"/>
                  </a:ext>
                </a:extLst>
              </a:tr>
              <a:tr h="250641">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18013-3</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4"/>
                        </a:rPr>
                        <a:t>Access control, authentication and integrity validation</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a:solidFill>
                            <a:srgbClr val="000000"/>
                          </a:solidFill>
                          <a:effectLst/>
                          <a:latin typeface="+mn-ea"/>
                          <a:ea typeface="+mn-ea"/>
                        </a:rPr>
                        <a:t>機械読取部分のアクセス制御、整合性検証方法を定義</a:t>
                      </a: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Published</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200538712"/>
                  </a:ext>
                </a:extLst>
              </a:tr>
              <a:tr h="145932">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18013-4</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5"/>
                        </a:rPr>
                        <a:t>Test methods</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a:solidFill>
                            <a:srgbClr val="000000"/>
                          </a:solidFill>
                          <a:effectLst/>
                          <a:latin typeface="+mn-ea"/>
                          <a:ea typeface="+mn-ea"/>
                        </a:rPr>
                        <a:t>適合性テストに使用される方法を定義</a:t>
                      </a:r>
                      <a:endParaRPr lang="en-US" sz="1200" b="0" i="0" u="none" strike="noStrike">
                        <a:solidFill>
                          <a:srgbClr val="000000"/>
                        </a:solidFill>
                        <a:effectLst/>
                        <a:latin typeface="+mn-ea"/>
                        <a:ea typeface="+mn-ea"/>
                      </a:endParaRP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Published</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201762690"/>
                  </a:ext>
                </a:extLst>
              </a:tr>
              <a:tr h="145932">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18013-5</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6"/>
                        </a:rPr>
                        <a:t>Mobile driving </a:t>
                      </a:r>
                      <a:r>
                        <a:rPr lang="en-US" sz="1200" b="0" i="0" u="none" strike="noStrike" dirty="0" err="1">
                          <a:solidFill>
                            <a:srgbClr val="000000"/>
                          </a:solidFill>
                          <a:effectLst/>
                          <a:latin typeface="+mn-ea"/>
                          <a:ea typeface="+mn-ea"/>
                          <a:hlinkClick r:id="rId6"/>
                        </a:rPr>
                        <a:t>licence</a:t>
                      </a:r>
                      <a:r>
                        <a:rPr lang="en-US" sz="1200" b="0" i="0" u="none" strike="noStrike" dirty="0">
                          <a:solidFill>
                            <a:srgbClr val="000000"/>
                          </a:solidFill>
                          <a:effectLst/>
                          <a:latin typeface="+mn-ea"/>
                          <a:ea typeface="+mn-ea"/>
                          <a:hlinkClick r:id="rId6"/>
                        </a:rPr>
                        <a:t> (</a:t>
                      </a:r>
                      <a:r>
                        <a:rPr lang="en-US" sz="1200" b="0" i="0" u="none" strike="noStrike" dirty="0" err="1">
                          <a:solidFill>
                            <a:srgbClr val="000000"/>
                          </a:solidFill>
                          <a:effectLst/>
                          <a:latin typeface="+mn-ea"/>
                          <a:ea typeface="+mn-ea"/>
                          <a:hlinkClick r:id="rId6"/>
                        </a:rPr>
                        <a:t>mDL</a:t>
                      </a:r>
                      <a:r>
                        <a:rPr lang="en-US" sz="1200" b="0" i="0" u="none" strike="noStrike" dirty="0">
                          <a:solidFill>
                            <a:srgbClr val="000000"/>
                          </a:solidFill>
                          <a:effectLst/>
                          <a:latin typeface="+mn-ea"/>
                          <a:ea typeface="+mn-ea"/>
                          <a:hlinkClick r:id="rId6"/>
                        </a:rPr>
                        <a:t>) application</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en-US" sz="1200" b="0" i="0" u="none" strike="noStrike" dirty="0" err="1">
                          <a:solidFill>
                            <a:srgbClr val="000000"/>
                          </a:solidFill>
                          <a:effectLst/>
                          <a:latin typeface="+mn-ea"/>
                          <a:ea typeface="+mn-ea"/>
                        </a:rPr>
                        <a:t>mDL</a:t>
                      </a:r>
                      <a:r>
                        <a:rPr lang="ja-JP" altLang="en-US" sz="1200" b="0" i="0" u="none" strike="noStrike" dirty="0">
                          <a:solidFill>
                            <a:srgbClr val="000000"/>
                          </a:solidFill>
                          <a:effectLst/>
                          <a:latin typeface="+mn-ea"/>
                          <a:ea typeface="+mn-ea"/>
                        </a:rPr>
                        <a:t>実装のためのインターフェイス仕様を定義</a:t>
                      </a: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Published</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524526"/>
                  </a:ext>
                </a:extLst>
              </a:tr>
              <a:tr h="145932">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18013-6</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err="1">
                          <a:solidFill>
                            <a:srgbClr val="000000"/>
                          </a:solidFill>
                          <a:effectLst/>
                          <a:latin typeface="+mn-ea"/>
                          <a:ea typeface="+mn-ea"/>
                          <a:hlinkClick r:id="rId7"/>
                        </a:rPr>
                        <a:t>mDL</a:t>
                      </a:r>
                      <a:r>
                        <a:rPr lang="en-US" sz="1200" b="0" i="0" u="none" strike="noStrike" dirty="0">
                          <a:solidFill>
                            <a:srgbClr val="000000"/>
                          </a:solidFill>
                          <a:effectLst/>
                          <a:latin typeface="+mn-ea"/>
                          <a:ea typeface="+mn-ea"/>
                          <a:hlinkClick r:id="rId7"/>
                        </a:rPr>
                        <a:t> test methods</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en-US" sz="1200" b="0" i="0" u="none" strike="noStrike">
                          <a:solidFill>
                            <a:srgbClr val="000000"/>
                          </a:solidFill>
                          <a:effectLst/>
                          <a:latin typeface="+mn-ea"/>
                          <a:ea typeface="+mn-ea"/>
                        </a:rPr>
                        <a:t>mDL</a:t>
                      </a:r>
                      <a:r>
                        <a:rPr lang="ja-JP" altLang="en-US" sz="1200" b="0" i="0" u="none" strike="noStrike">
                          <a:solidFill>
                            <a:srgbClr val="000000"/>
                          </a:solidFill>
                          <a:effectLst/>
                          <a:latin typeface="+mn-ea"/>
                          <a:ea typeface="+mn-ea"/>
                        </a:rPr>
                        <a:t>のテスト方法について定義</a:t>
                      </a:r>
                      <a:endParaRPr lang="en-US" sz="1200" b="0" i="0" u="none" strike="noStrike">
                        <a:solidFill>
                          <a:srgbClr val="000000"/>
                        </a:solidFill>
                        <a:effectLst/>
                        <a:latin typeface="+mn-ea"/>
                        <a:ea typeface="+mn-ea"/>
                      </a:endParaRP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Under development</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29919222"/>
                  </a:ext>
                </a:extLst>
              </a:tr>
              <a:tr h="250641">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18013-7</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8"/>
                        </a:rPr>
                        <a:t>Mobile driving </a:t>
                      </a:r>
                      <a:r>
                        <a:rPr lang="en-US" sz="1200" b="0" i="0" u="none" strike="noStrike" dirty="0" err="1">
                          <a:solidFill>
                            <a:srgbClr val="000000"/>
                          </a:solidFill>
                          <a:effectLst/>
                          <a:latin typeface="+mn-ea"/>
                          <a:ea typeface="+mn-ea"/>
                          <a:hlinkClick r:id="rId8"/>
                        </a:rPr>
                        <a:t>licence</a:t>
                      </a:r>
                      <a:r>
                        <a:rPr lang="en-US" sz="1200" b="0" i="0" u="none" strike="noStrike" dirty="0">
                          <a:solidFill>
                            <a:srgbClr val="000000"/>
                          </a:solidFill>
                          <a:effectLst/>
                          <a:latin typeface="+mn-ea"/>
                          <a:ea typeface="+mn-ea"/>
                          <a:hlinkClick r:id="rId8"/>
                        </a:rPr>
                        <a:t> (</a:t>
                      </a:r>
                      <a:r>
                        <a:rPr lang="en-US" sz="1200" b="0" i="0" u="none" strike="noStrike" dirty="0" err="1">
                          <a:solidFill>
                            <a:srgbClr val="000000"/>
                          </a:solidFill>
                          <a:effectLst/>
                          <a:latin typeface="+mn-ea"/>
                          <a:ea typeface="+mn-ea"/>
                          <a:hlinkClick r:id="rId8"/>
                        </a:rPr>
                        <a:t>mDL</a:t>
                      </a:r>
                      <a:r>
                        <a:rPr lang="en-US" sz="1200" b="0" i="0" u="none" strike="noStrike" dirty="0">
                          <a:solidFill>
                            <a:srgbClr val="000000"/>
                          </a:solidFill>
                          <a:effectLst/>
                          <a:latin typeface="+mn-ea"/>
                          <a:ea typeface="+mn-ea"/>
                          <a:hlinkClick r:id="rId8"/>
                        </a:rPr>
                        <a:t>) add-on functions</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en-US" sz="1200" b="0" i="0" u="none" strike="noStrike">
                          <a:solidFill>
                            <a:srgbClr val="000000"/>
                          </a:solidFill>
                          <a:effectLst/>
                          <a:latin typeface="+mn-ea"/>
                          <a:ea typeface="+mn-ea"/>
                        </a:rPr>
                        <a:t>mDL</a:t>
                      </a:r>
                      <a:r>
                        <a:rPr lang="ja-JP" altLang="en-US" sz="1200" b="0" i="0" u="none" strike="noStrike">
                          <a:solidFill>
                            <a:srgbClr val="000000"/>
                          </a:solidFill>
                          <a:effectLst/>
                          <a:latin typeface="+mn-ea"/>
                          <a:ea typeface="+mn-ea"/>
                        </a:rPr>
                        <a:t>のアドオン機能を定義</a:t>
                      </a:r>
                      <a:endParaRPr lang="en-US" sz="1200" b="0" i="0" u="none" strike="noStrike">
                        <a:solidFill>
                          <a:srgbClr val="000000"/>
                        </a:solidFill>
                        <a:effectLst/>
                        <a:latin typeface="+mn-ea"/>
                        <a:ea typeface="+mn-ea"/>
                      </a:endParaRP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Under development</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63054663"/>
                  </a:ext>
                </a:extLst>
              </a:tr>
              <a:tr h="250641">
                <a:tc rowSpan="6">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1" i="0" u="none" strike="noStrike">
                          <a:solidFill>
                            <a:srgbClr val="000000"/>
                          </a:solidFill>
                          <a:effectLst/>
                          <a:latin typeface="+mn-ea"/>
                          <a:ea typeface="+mn-ea"/>
                        </a:rPr>
                        <a:t>ISO/IEC23220 series</a:t>
                      </a:r>
                    </a:p>
                    <a:p>
                      <a:pPr algn="l" fontAlgn="ctr"/>
                      <a:r>
                        <a:rPr lang="en-US" altLang="ja-JP" sz="1200" b="1" i="0" u="none" strike="noStrike">
                          <a:solidFill>
                            <a:srgbClr val="000000"/>
                          </a:solidFill>
                          <a:effectLst/>
                          <a:latin typeface="+mn-ea"/>
                          <a:ea typeface="+mn-ea"/>
                        </a:rPr>
                        <a:t>(</a:t>
                      </a:r>
                      <a:r>
                        <a:rPr lang="ja-JP" altLang="en-US" sz="1200" b="1" i="0" u="none" strike="noStrike">
                          <a:solidFill>
                            <a:srgbClr val="000000"/>
                          </a:solidFill>
                          <a:effectLst/>
                          <a:latin typeface="+mn-ea"/>
                          <a:ea typeface="+mn-ea"/>
                        </a:rPr>
                        <a:t>デジタル</a:t>
                      </a:r>
                      <a:r>
                        <a:rPr lang="en-US" altLang="ja-JP" sz="1200" b="1" i="0" u="none" strike="noStrike">
                          <a:solidFill>
                            <a:srgbClr val="000000"/>
                          </a:solidFill>
                          <a:effectLst/>
                          <a:latin typeface="+mn-ea"/>
                          <a:ea typeface="+mn-ea"/>
                        </a:rPr>
                        <a:t>ID</a:t>
                      </a:r>
                      <a:r>
                        <a:rPr lang="ja-JP" altLang="en-US" sz="1200" b="1" i="0" u="none" strike="noStrike">
                          <a:solidFill>
                            <a:srgbClr val="000000"/>
                          </a:solidFill>
                          <a:effectLst/>
                          <a:latin typeface="+mn-ea"/>
                          <a:ea typeface="+mn-ea"/>
                        </a:rPr>
                        <a:t>にかかる標準化</a:t>
                      </a:r>
                      <a:r>
                        <a:rPr lang="en-US" altLang="ja-JP" sz="1200" b="1" i="0" u="none" strike="noStrike">
                          <a:solidFill>
                            <a:srgbClr val="000000"/>
                          </a:solidFill>
                          <a:effectLst/>
                          <a:latin typeface="+mn-ea"/>
                          <a:ea typeface="+mn-ea"/>
                        </a:rPr>
                        <a:t>)</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23220-1</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9"/>
                        </a:rPr>
                        <a:t>Generic system architectures of mobile </a:t>
                      </a:r>
                      <a:r>
                        <a:rPr lang="en-US" sz="1200" b="0" i="0" u="none" strike="noStrike" dirty="0" err="1">
                          <a:solidFill>
                            <a:srgbClr val="000000"/>
                          </a:solidFill>
                          <a:effectLst/>
                          <a:latin typeface="+mn-ea"/>
                          <a:ea typeface="+mn-ea"/>
                          <a:hlinkClick r:id="rId9"/>
                        </a:rPr>
                        <a:t>eID</a:t>
                      </a:r>
                      <a:r>
                        <a:rPr lang="en-US" sz="1200" b="0" i="0" u="none" strike="noStrike" dirty="0">
                          <a:solidFill>
                            <a:srgbClr val="000000"/>
                          </a:solidFill>
                          <a:effectLst/>
                          <a:latin typeface="+mn-ea"/>
                          <a:ea typeface="+mn-ea"/>
                          <a:hlinkClick r:id="rId9"/>
                        </a:rPr>
                        <a:t> systems</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dirty="0">
                          <a:solidFill>
                            <a:srgbClr val="000000"/>
                          </a:solidFill>
                          <a:effectLst/>
                          <a:latin typeface="+mn-ea"/>
                          <a:ea typeface="+mn-ea"/>
                        </a:rPr>
                        <a:t>モバイルID管理のアーキテクチャとライフサイクルを定義</a:t>
                      </a: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Published</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31708629"/>
                  </a:ext>
                </a:extLst>
              </a:tr>
              <a:tr h="250641">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23220-2</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10"/>
                        </a:rPr>
                        <a:t>Data objects and encoding rules for generic </a:t>
                      </a:r>
                      <a:r>
                        <a:rPr lang="en-US" sz="1200" b="0" i="0" u="none" strike="noStrike" dirty="0" err="1">
                          <a:solidFill>
                            <a:srgbClr val="000000"/>
                          </a:solidFill>
                          <a:effectLst/>
                          <a:latin typeface="+mn-ea"/>
                          <a:ea typeface="+mn-ea"/>
                          <a:hlinkClick r:id="rId10"/>
                        </a:rPr>
                        <a:t>eID</a:t>
                      </a:r>
                      <a:r>
                        <a:rPr lang="en-US" sz="1200" b="0" i="0" u="none" strike="noStrike" dirty="0">
                          <a:solidFill>
                            <a:srgbClr val="000000"/>
                          </a:solidFill>
                          <a:effectLst/>
                          <a:latin typeface="+mn-ea"/>
                          <a:ea typeface="+mn-ea"/>
                          <a:hlinkClick r:id="rId10"/>
                        </a:rPr>
                        <a:t> systems</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dirty="0">
                          <a:solidFill>
                            <a:srgbClr val="000000"/>
                          </a:solidFill>
                          <a:effectLst/>
                          <a:latin typeface="+mn-ea"/>
                          <a:ea typeface="+mn-ea"/>
                        </a:rPr>
                        <a:t>汎用</a:t>
                      </a:r>
                      <a:r>
                        <a:rPr lang="en-US" altLang="ja-JP" sz="1200" b="0" i="0" u="none" strike="noStrike" dirty="0" err="1">
                          <a:solidFill>
                            <a:srgbClr val="000000"/>
                          </a:solidFill>
                          <a:effectLst/>
                          <a:latin typeface="+mn-ea"/>
                          <a:ea typeface="+mn-ea"/>
                        </a:rPr>
                        <a:t>IDのデータ構造とエンコード規則を定義</a:t>
                      </a:r>
                      <a:endParaRPr lang="en-US" sz="1200" b="0" i="0" u="none" strike="noStrike" dirty="0">
                        <a:solidFill>
                          <a:srgbClr val="000000"/>
                        </a:solidFill>
                        <a:effectLst/>
                        <a:latin typeface="+mn-ea"/>
                        <a:ea typeface="+mn-ea"/>
                      </a:endParaRP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Under development</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93009024"/>
                  </a:ext>
                </a:extLst>
              </a:tr>
              <a:tr h="145932">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23220-3</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11"/>
                        </a:rPr>
                        <a:t>Protocols and services for issuing phase</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dirty="0">
                          <a:solidFill>
                            <a:srgbClr val="000000"/>
                          </a:solidFill>
                          <a:effectLst/>
                          <a:latin typeface="+mn-ea"/>
                          <a:ea typeface="+mn-ea"/>
                        </a:rPr>
                        <a:t>発行フェーズのプロトコルとサービスを定義</a:t>
                      </a:r>
                      <a:endParaRPr lang="en-US" sz="1200" b="0" i="0" u="none" strike="noStrike" dirty="0">
                        <a:solidFill>
                          <a:srgbClr val="000000"/>
                        </a:solidFill>
                        <a:effectLst/>
                        <a:latin typeface="+mn-ea"/>
                        <a:ea typeface="+mn-ea"/>
                      </a:endParaRP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Under development</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448552742"/>
                  </a:ext>
                </a:extLst>
              </a:tr>
              <a:tr h="250641">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23220-4</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12"/>
                        </a:rPr>
                        <a:t>Protocols and services for operational phase</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noProof="0" dirty="0">
                          <a:solidFill>
                            <a:srgbClr val="000000"/>
                          </a:solidFill>
                          <a:effectLst/>
                          <a:latin typeface="+mn-ea"/>
                          <a:ea typeface="+mn-ea"/>
                        </a:rPr>
                        <a:t>運用フェーズのプロトコルとサービスを定義</a:t>
                      </a:r>
                      <a:endParaRPr lang="ja-JP" altLang="en-US" sz="1200" dirty="0">
                        <a:latin typeface="+mn-ea"/>
                        <a:ea typeface="+mn-ea"/>
                      </a:endParaRP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Under development</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82533801"/>
                  </a:ext>
                </a:extLst>
              </a:tr>
              <a:tr h="250641">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23220-5</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13"/>
                        </a:rPr>
                        <a:t>Trust models and confidence level assessment</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dirty="0">
                          <a:solidFill>
                            <a:srgbClr val="000000"/>
                          </a:solidFill>
                          <a:effectLst/>
                          <a:latin typeface="+mn-ea"/>
                          <a:ea typeface="+mn-ea"/>
                        </a:rPr>
                        <a:t>信頼モデルと信頼度評価を定義</a:t>
                      </a:r>
                      <a:endParaRPr lang="en-US" sz="1200" b="0" i="0" u="none" strike="noStrike" dirty="0">
                        <a:solidFill>
                          <a:srgbClr val="000000"/>
                        </a:solidFill>
                        <a:effectLst/>
                        <a:latin typeface="+mn-ea"/>
                        <a:ea typeface="+mn-ea"/>
                      </a:endParaRP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Under development</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41432479"/>
                  </a:ext>
                </a:extLst>
              </a:tr>
              <a:tr h="250641">
                <a:tc vMerge="1">
                  <a:txBody>
                    <a:bodyPr/>
                    <a:lstStyle/>
                    <a:p>
                      <a:pPr algn="l" fontAlgn="ctr"/>
                      <a:r>
                        <a:rPr lang="ja-JP" altLang="en-US" sz="1050" b="0" i="0" u="none" strike="noStrike">
                          <a:solidFill>
                            <a:srgbClr val="000000"/>
                          </a:solidFill>
                          <a:effectLst/>
                          <a:latin typeface="+mn-ea"/>
                          <a:ea typeface="+mn-ea"/>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altLang="ja-JP" sz="1200" b="0" i="0" u="none" strike="noStrike">
                          <a:solidFill>
                            <a:srgbClr val="000000"/>
                          </a:solidFill>
                          <a:effectLst/>
                          <a:latin typeface="+mn-ea"/>
                          <a:ea typeface="+mn-ea"/>
                        </a:rPr>
                        <a:t>23220-6</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hlinkClick r:id="rId14"/>
                        </a:rPr>
                        <a:t>Mechanism for use of certification on trustworthiness of secure area</a:t>
                      </a:r>
                      <a:endParaRPr lang="en-US" sz="1200" b="0" i="0" u="none" strike="noStrike" dirty="0">
                        <a:solidFill>
                          <a:srgbClr val="000000"/>
                        </a:solidFill>
                        <a:effectLst/>
                        <a:latin typeface="+mn-ea"/>
                        <a:ea typeface="+mn-ea"/>
                      </a:endParaRP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lvl="0" algn="l">
                        <a:buNone/>
                      </a:pPr>
                      <a:r>
                        <a:rPr lang="ja-JP" altLang="en-US" sz="1200" b="0" i="0" u="none" strike="noStrike" baseline="0" noProof="0" dirty="0">
                          <a:solidFill>
                            <a:srgbClr val="000000"/>
                          </a:solidFill>
                          <a:effectLst/>
                          <a:latin typeface="+mn-ea"/>
                          <a:ea typeface="+mn-ea"/>
                        </a:rPr>
                        <a:t>セキュアエリア（=SE）の信頼度に関する認証利用の仕組み（日本から提案）</a:t>
                      </a:r>
                      <a:endParaRPr lang="en-US" sz="1200" dirty="0">
                        <a:latin typeface="+mn-ea"/>
                        <a:ea typeface="+mn-ea"/>
                      </a:endParaRPr>
                    </a:p>
                  </a:txBody>
                  <a:tcPr marL="36000" marR="36000" marT="28800" marB="28800" anchor="ctr">
                    <a:lnL w="6350">
                      <a:solidFill>
                        <a:srgbClr val="000000"/>
                      </a:solidFill>
                    </a:lnL>
                    <a:lnR w="6350">
                      <a:solidFill>
                        <a:srgbClr val="000000"/>
                      </a:solidFill>
                    </a:lnR>
                    <a:lnT w="6350">
                      <a:solidFill>
                        <a:srgbClr val="000000"/>
                      </a:solidFill>
                    </a:lnT>
                    <a:lnB w="6350">
                      <a:solidFill>
                        <a:srgbClr val="000000"/>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fontAlgn="ctr"/>
                      <a:r>
                        <a:rPr lang="en-US" sz="1200" b="0" i="0" u="none" strike="noStrike" dirty="0">
                          <a:solidFill>
                            <a:srgbClr val="000000"/>
                          </a:solidFill>
                          <a:effectLst/>
                          <a:latin typeface="+mn-ea"/>
                          <a:ea typeface="+mn-ea"/>
                        </a:rPr>
                        <a:t>Under development</a:t>
                      </a:r>
                    </a:p>
                  </a:txBody>
                  <a:tcPr marL="36000" marR="36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25563600"/>
                  </a:ext>
                </a:extLst>
              </a:tr>
            </a:tbl>
          </a:graphicData>
        </a:graphic>
      </p:graphicFrame>
    </p:spTree>
    <p:extLst>
      <p:ext uri="{BB962C8B-B14F-4D97-AF65-F5344CB8AC3E}">
        <p14:creationId xmlns:p14="http://schemas.microsoft.com/office/powerpoint/2010/main" val="368077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9510D7-E189-E678-D332-A7F52DCA35D2}"/>
              </a:ext>
            </a:extLst>
          </p:cNvPr>
          <p:cNvSpPr>
            <a:spLocks noGrp="1"/>
          </p:cNvSpPr>
          <p:nvPr>
            <p:ph type="title"/>
          </p:nvPr>
        </p:nvSpPr>
        <p:spPr>
          <a:xfrm>
            <a:off x="273050" y="449363"/>
            <a:ext cx="7848302" cy="246221"/>
          </a:xfrm>
        </p:spPr>
        <p:txBody>
          <a:bodyPr/>
          <a:lstStyle/>
          <a:p>
            <a:r>
              <a:rPr lang="en-US" altLang="ja-JP" sz="1600" u="none" strike="noStrike" cap="none" dirty="0">
                <a:solidFill>
                  <a:schemeClr val="dk1"/>
                </a:solidFill>
                <a:latin typeface="+mn-ea"/>
                <a:ea typeface="+mn-ea"/>
                <a:cs typeface="Arial"/>
                <a:sym typeface="Arial"/>
              </a:rPr>
              <a:t>5.</a:t>
            </a:r>
            <a:r>
              <a:rPr lang="en-US" altLang="ja-JP" sz="1600" dirty="0">
                <a:solidFill>
                  <a:schemeClr val="dk1"/>
                </a:solidFill>
                <a:latin typeface="+mn-ea"/>
                <a:ea typeface="+mn-ea"/>
                <a:cs typeface="Arial"/>
                <a:sym typeface="Arial"/>
              </a:rPr>
              <a:t>1.</a:t>
            </a:r>
            <a:r>
              <a:rPr lang="ja-JP" altLang="en-US" sz="1600" dirty="0">
                <a:solidFill>
                  <a:schemeClr val="dk1"/>
                </a:solidFill>
                <a:latin typeface="+mn-ea"/>
                <a:ea typeface="+mn-ea"/>
                <a:cs typeface="Arial"/>
                <a:sym typeface="Arial"/>
              </a:rPr>
              <a:t> 調査対象</a:t>
            </a:r>
            <a:endParaRPr kumimoji="1" lang="ja-JP" altLang="en-US" sz="1600" dirty="0"/>
          </a:p>
        </p:txBody>
      </p:sp>
      <p:sp>
        <p:nvSpPr>
          <p:cNvPr id="3" name="テキスト プレースホルダー 2">
            <a:extLst>
              <a:ext uri="{FF2B5EF4-FFF2-40B4-BE49-F238E27FC236}">
                <a16:creationId xmlns:a16="http://schemas.microsoft.com/office/drawing/2014/main" id="{A618C6B7-D2FF-AA09-1B69-C75F741F2849}"/>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grpSp>
        <p:nvGrpSpPr>
          <p:cNvPr id="109" name="グループ化 108">
            <a:extLst>
              <a:ext uri="{FF2B5EF4-FFF2-40B4-BE49-F238E27FC236}">
                <a16:creationId xmlns:a16="http://schemas.microsoft.com/office/drawing/2014/main" id="{EBCADFE9-4B89-EF7A-8BC1-9772CB18DF34}"/>
              </a:ext>
            </a:extLst>
          </p:cNvPr>
          <p:cNvGrpSpPr/>
          <p:nvPr/>
        </p:nvGrpSpPr>
        <p:grpSpPr>
          <a:xfrm>
            <a:off x="273050" y="1895735"/>
            <a:ext cx="9359900" cy="3871366"/>
            <a:chOff x="273050" y="1363653"/>
            <a:chExt cx="9359900" cy="4922416"/>
          </a:xfrm>
        </p:grpSpPr>
        <p:sp>
          <p:nvSpPr>
            <p:cNvPr id="56" name="正方形/長方形 55">
              <a:extLst>
                <a:ext uri="{FF2B5EF4-FFF2-40B4-BE49-F238E27FC236}">
                  <a16:creationId xmlns:a16="http://schemas.microsoft.com/office/drawing/2014/main" id="{073F826B-D513-5F92-3D09-06B963BB71DC}"/>
                </a:ext>
              </a:extLst>
            </p:cNvPr>
            <p:cNvSpPr/>
            <p:nvPr/>
          </p:nvSpPr>
          <p:spPr bwMode="gray">
            <a:xfrm>
              <a:off x="273050" y="4925539"/>
              <a:ext cx="6530546" cy="1360530"/>
            </a:xfrm>
            <a:prstGeom prst="rect">
              <a:avLst/>
            </a:prstGeom>
            <a:solidFill>
              <a:schemeClr val="accent1">
                <a:lumMod val="20000"/>
                <a:lumOff val="80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lang="en-US" altLang="ja-JP" sz="1400" b="1" dirty="0">
                  <a:solidFill>
                    <a:schemeClr val="accent1"/>
                  </a:solidFill>
                  <a:latin typeface="+mn-ea"/>
                  <a:ea typeface="+mn-ea"/>
                </a:rPr>
                <a:t>Public Trust Layer</a:t>
              </a:r>
              <a:r>
                <a:rPr lang="ja-JP" altLang="en-US" sz="1400" b="1" dirty="0">
                  <a:solidFill>
                    <a:schemeClr val="accent1"/>
                  </a:solidFill>
                  <a:latin typeface="+mn-ea"/>
                  <a:ea typeface="+mn-ea"/>
                </a:rPr>
                <a:t>：トラストアンカー、データレジストリ</a:t>
              </a:r>
            </a:p>
          </p:txBody>
        </p:sp>
        <p:sp>
          <p:nvSpPr>
            <p:cNvPr id="57" name="正方形/長方形 56">
              <a:extLst>
                <a:ext uri="{FF2B5EF4-FFF2-40B4-BE49-F238E27FC236}">
                  <a16:creationId xmlns:a16="http://schemas.microsoft.com/office/drawing/2014/main" id="{61B520D1-5C96-231A-78D0-EF66076EACBA}"/>
                </a:ext>
              </a:extLst>
            </p:cNvPr>
            <p:cNvSpPr/>
            <p:nvPr/>
          </p:nvSpPr>
          <p:spPr bwMode="gray">
            <a:xfrm>
              <a:off x="273050" y="1794452"/>
              <a:ext cx="6530546" cy="1360530"/>
            </a:xfrm>
            <a:prstGeom prst="rect">
              <a:avLst/>
            </a:prstGeom>
            <a:solidFill>
              <a:schemeClr val="accent1">
                <a:lumMod val="20000"/>
                <a:lumOff val="80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lang="en-US" altLang="ja-JP" sz="1400" b="1" dirty="0">
                  <a:solidFill>
                    <a:schemeClr val="accent1"/>
                  </a:solidFill>
                  <a:latin typeface="+mn-ea"/>
                  <a:ea typeface="+mn-ea"/>
                </a:rPr>
                <a:t>Credential Layer</a:t>
              </a:r>
              <a:r>
                <a:rPr lang="ja-JP" altLang="en-US" sz="1400" b="1" dirty="0">
                  <a:solidFill>
                    <a:schemeClr val="accent1"/>
                  </a:solidFill>
                  <a:latin typeface="+mn-ea"/>
                  <a:ea typeface="+mn-ea"/>
                </a:rPr>
                <a:t>：証明書フォーマット、交換、バインディング</a:t>
              </a:r>
            </a:p>
          </p:txBody>
        </p:sp>
        <p:sp>
          <p:nvSpPr>
            <p:cNvPr id="58" name="正方形/長方形 57">
              <a:extLst>
                <a:ext uri="{FF2B5EF4-FFF2-40B4-BE49-F238E27FC236}">
                  <a16:creationId xmlns:a16="http://schemas.microsoft.com/office/drawing/2014/main" id="{AE12D2AA-7AF5-B7BB-C1CB-1EC86AA1F12C}"/>
                </a:ext>
              </a:extLst>
            </p:cNvPr>
            <p:cNvSpPr/>
            <p:nvPr/>
          </p:nvSpPr>
          <p:spPr bwMode="gray">
            <a:xfrm>
              <a:off x="273050" y="3323030"/>
              <a:ext cx="6530546" cy="1360530"/>
            </a:xfrm>
            <a:prstGeom prst="rect">
              <a:avLst/>
            </a:prstGeom>
            <a:solidFill>
              <a:schemeClr val="accent1">
                <a:lumMod val="20000"/>
                <a:lumOff val="80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lang="en-US" altLang="ja-JP" sz="1400" b="1" dirty="0">
                  <a:solidFill>
                    <a:schemeClr val="accent1"/>
                  </a:solidFill>
                  <a:latin typeface="+mn-ea"/>
                  <a:ea typeface="+mn-ea"/>
                </a:rPr>
                <a:t>Agent Layer</a:t>
              </a:r>
              <a:r>
                <a:rPr lang="ja-JP" altLang="en-US" sz="1400" b="1" dirty="0">
                  <a:solidFill>
                    <a:schemeClr val="accent1"/>
                  </a:solidFill>
                  <a:latin typeface="+mn-ea"/>
                  <a:ea typeface="+mn-ea"/>
                </a:rPr>
                <a:t>：通信プロトコル、ストレージ、鍵アクセス</a:t>
              </a:r>
            </a:p>
          </p:txBody>
        </p:sp>
        <p:sp>
          <p:nvSpPr>
            <p:cNvPr id="59" name="正方形/長方形 58">
              <a:extLst>
                <a:ext uri="{FF2B5EF4-FFF2-40B4-BE49-F238E27FC236}">
                  <a16:creationId xmlns:a16="http://schemas.microsoft.com/office/drawing/2014/main" id="{C2C12F4A-6D52-C972-978B-3FF0264FF59C}"/>
                </a:ext>
              </a:extLst>
            </p:cNvPr>
            <p:cNvSpPr/>
            <p:nvPr/>
          </p:nvSpPr>
          <p:spPr bwMode="gray">
            <a:xfrm>
              <a:off x="273050" y="1363654"/>
              <a:ext cx="6530546" cy="327238"/>
            </a:xfrm>
            <a:prstGeom prst="rect">
              <a:avLst/>
            </a:prstGeom>
            <a:solidFill>
              <a:schemeClr val="bg1">
                <a:lumMod val="95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kumimoji="1" lang="en-US" altLang="ja-JP" sz="1400" b="1" dirty="0">
                  <a:solidFill>
                    <a:schemeClr val="tx2"/>
                  </a:solidFill>
                  <a:latin typeface="+mn-ea"/>
                  <a:ea typeface="+mn-ea"/>
                  <a:cs typeface="+mn-cs"/>
                </a:rPr>
                <a:t>Application Layer</a:t>
              </a:r>
              <a:r>
                <a:rPr kumimoji="1" lang="ja-JP" altLang="en-US" sz="1400" b="1" dirty="0">
                  <a:solidFill>
                    <a:schemeClr val="tx2"/>
                  </a:solidFill>
                  <a:latin typeface="+mn-ea"/>
                  <a:ea typeface="+mn-ea"/>
                  <a:cs typeface="+mn-cs"/>
                </a:rPr>
                <a:t>：ユーザアプリケーション</a:t>
              </a:r>
            </a:p>
          </p:txBody>
        </p:sp>
        <p:sp>
          <p:nvSpPr>
            <p:cNvPr id="60" name="正方形/長方形 59">
              <a:extLst>
                <a:ext uri="{FF2B5EF4-FFF2-40B4-BE49-F238E27FC236}">
                  <a16:creationId xmlns:a16="http://schemas.microsoft.com/office/drawing/2014/main" id="{C4FAC6CA-3EDE-1914-29B6-493BE0FA8E65}"/>
                </a:ext>
              </a:extLst>
            </p:cNvPr>
            <p:cNvSpPr/>
            <p:nvPr/>
          </p:nvSpPr>
          <p:spPr bwMode="gray">
            <a:xfrm>
              <a:off x="7044486" y="1363653"/>
              <a:ext cx="2588464" cy="4917128"/>
            </a:xfrm>
            <a:prstGeom prst="rect">
              <a:avLst/>
            </a:prstGeom>
            <a:solidFill>
              <a:schemeClr val="accent1">
                <a:lumMod val="20000"/>
                <a:lumOff val="80000"/>
              </a:schemeClr>
            </a:solidFill>
            <a:ln w="12700" algn="ctr">
              <a:no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90564" fontAlgn="auto">
                <a:spcBef>
                  <a:spcPts val="0"/>
                </a:spcBef>
                <a:spcAft>
                  <a:spcPts val="0"/>
                </a:spcAft>
                <a:buSzPct val="100000"/>
              </a:pPr>
              <a:r>
                <a:rPr kumimoji="1" lang="en-US" altLang="ja-JP" sz="1400" b="1" dirty="0">
                  <a:solidFill>
                    <a:schemeClr val="accent1"/>
                  </a:solidFill>
                  <a:latin typeface="+mn-ea"/>
                  <a:ea typeface="+mn-ea"/>
                  <a:cs typeface="+mn-cs"/>
                </a:rPr>
                <a:t>Vertical / Cross-cutting</a:t>
              </a:r>
              <a:endParaRPr kumimoji="1" lang="ja-JP" altLang="en-US" sz="1400" b="1" dirty="0">
                <a:solidFill>
                  <a:schemeClr val="accent1"/>
                </a:solidFill>
                <a:latin typeface="+mn-ea"/>
                <a:ea typeface="+mn-ea"/>
                <a:cs typeface="+mn-cs"/>
              </a:endParaRPr>
            </a:p>
          </p:txBody>
        </p:sp>
        <p:sp>
          <p:nvSpPr>
            <p:cNvPr id="62" name="四角形: 角を丸くする 61">
              <a:extLst>
                <a:ext uri="{FF2B5EF4-FFF2-40B4-BE49-F238E27FC236}">
                  <a16:creationId xmlns:a16="http://schemas.microsoft.com/office/drawing/2014/main" id="{C958F591-A837-18F5-7DE6-1C3AB96CF1A9}"/>
                </a:ext>
              </a:extLst>
            </p:cNvPr>
            <p:cNvSpPr/>
            <p:nvPr/>
          </p:nvSpPr>
          <p:spPr bwMode="gray">
            <a:xfrm>
              <a:off x="7774507" y="1845908"/>
              <a:ext cx="1166169" cy="583084"/>
            </a:xfrm>
            <a:prstGeom prst="roundRect">
              <a:avLst/>
            </a:prstGeom>
            <a:solidFill>
              <a:schemeClr val="bg1">
                <a:lumMod val="85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Authentication/</a:t>
              </a:r>
            </a:p>
            <a:p>
              <a:pPr algn="ctr"/>
              <a:r>
                <a:rPr kumimoji="1" lang="en-US" altLang="ja-JP" sz="1100" b="1" dirty="0">
                  <a:latin typeface="+mn-ea"/>
                </a:rPr>
                <a:t>Authorization</a:t>
              </a:r>
              <a:endParaRPr kumimoji="1" lang="ja-JP" altLang="en-US" sz="1100" b="1" dirty="0">
                <a:latin typeface="+mn-ea"/>
              </a:endParaRPr>
            </a:p>
          </p:txBody>
        </p:sp>
        <p:sp>
          <p:nvSpPr>
            <p:cNvPr id="65" name="四角形: 角を丸くする 64">
              <a:extLst>
                <a:ext uri="{FF2B5EF4-FFF2-40B4-BE49-F238E27FC236}">
                  <a16:creationId xmlns:a16="http://schemas.microsoft.com/office/drawing/2014/main" id="{4BADE1C7-006B-11CF-3E19-E38BE2F69410}"/>
                </a:ext>
              </a:extLst>
            </p:cNvPr>
            <p:cNvSpPr/>
            <p:nvPr/>
          </p:nvSpPr>
          <p:spPr bwMode="gray">
            <a:xfrm>
              <a:off x="7774507" y="2592144"/>
              <a:ext cx="1166169" cy="583084"/>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Disclosure</a:t>
              </a:r>
              <a:br>
                <a:rPr kumimoji="1" lang="en-US" altLang="ja-JP" sz="1100" b="1" dirty="0">
                  <a:latin typeface="+mn-ea"/>
                </a:rPr>
              </a:br>
              <a:r>
                <a:rPr kumimoji="1" lang="en-US" altLang="ja-JP" sz="1100" b="1" dirty="0">
                  <a:latin typeface="+mn-ea"/>
                </a:rPr>
                <a:t>/ZKP</a:t>
              </a:r>
              <a:endParaRPr kumimoji="1" lang="ja-JP" altLang="en-US" sz="1100" b="1" dirty="0">
                <a:latin typeface="+mn-ea"/>
              </a:endParaRPr>
            </a:p>
          </p:txBody>
        </p:sp>
        <p:sp>
          <p:nvSpPr>
            <p:cNvPr id="68" name="四角形: 角を丸くする 67">
              <a:extLst>
                <a:ext uri="{FF2B5EF4-FFF2-40B4-BE49-F238E27FC236}">
                  <a16:creationId xmlns:a16="http://schemas.microsoft.com/office/drawing/2014/main" id="{17E2013F-F472-931A-DA6C-B0ED6D31936B}"/>
                </a:ext>
              </a:extLst>
            </p:cNvPr>
            <p:cNvSpPr/>
            <p:nvPr/>
          </p:nvSpPr>
          <p:spPr bwMode="gray">
            <a:xfrm>
              <a:off x="7774507" y="3338383"/>
              <a:ext cx="1166169" cy="583084"/>
            </a:xfrm>
            <a:prstGeom prst="roundRect">
              <a:avLst/>
            </a:prstGeom>
            <a:solidFill>
              <a:schemeClr val="bg1">
                <a:lumMod val="85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prstClr val="black"/>
                  </a:solidFill>
                  <a:effectLst/>
                  <a:uLnTx/>
                  <a:uFillTx/>
                  <a:latin typeface="+mn-ea"/>
                  <a:cs typeface="+mn-cs"/>
                </a:rPr>
                <a:t>Compliance</a:t>
              </a:r>
              <a:endParaRPr kumimoji="1" lang="ja-JP" altLang="en-US" sz="1100" b="1" i="0" u="none" strike="noStrike" kern="1200" cap="none" spc="0" normalizeH="0" baseline="0" noProof="0" dirty="0">
                <a:ln>
                  <a:noFill/>
                </a:ln>
                <a:solidFill>
                  <a:prstClr val="black"/>
                </a:solidFill>
                <a:effectLst/>
                <a:uLnTx/>
                <a:uFillTx/>
                <a:latin typeface="+mn-ea"/>
                <a:cs typeface="+mn-cs"/>
              </a:endParaRPr>
            </a:p>
          </p:txBody>
        </p:sp>
        <p:sp>
          <p:nvSpPr>
            <p:cNvPr id="71" name="四角形: 角を丸くする 70">
              <a:extLst>
                <a:ext uri="{FF2B5EF4-FFF2-40B4-BE49-F238E27FC236}">
                  <a16:creationId xmlns:a16="http://schemas.microsoft.com/office/drawing/2014/main" id="{F3F561F6-19D4-37F6-1360-51A70D424038}"/>
                </a:ext>
              </a:extLst>
            </p:cNvPr>
            <p:cNvSpPr/>
            <p:nvPr/>
          </p:nvSpPr>
          <p:spPr bwMode="gray">
            <a:xfrm>
              <a:off x="7774507" y="4084619"/>
              <a:ext cx="1166169" cy="583084"/>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Storage</a:t>
              </a:r>
              <a:endParaRPr kumimoji="1" lang="ja-JP" altLang="en-US" sz="1100" b="1" dirty="0">
                <a:latin typeface="+mn-ea"/>
              </a:endParaRPr>
            </a:p>
          </p:txBody>
        </p:sp>
        <p:sp>
          <p:nvSpPr>
            <p:cNvPr id="74" name="四角形: 角を丸くする 73">
              <a:extLst>
                <a:ext uri="{FF2B5EF4-FFF2-40B4-BE49-F238E27FC236}">
                  <a16:creationId xmlns:a16="http://schemas.microsoft.com/office/drawing/2014/main" id="{8FCD2E61-A3E6-7259-535E-3BA54AFDF8BB}"/>
                </a:ext>
              </a:extLst>
            </p:cNvPr>
            <p:cNvSpPr/>
            <p:nvPr/>
          </p:nvSpPr>
          <p:spPr bwMode="gray">
            <a:xfrm>
              <a:off x="7774507" y="4830856"/>
              <a:ext cx="1166169" cy="583084"/>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prstClr val="black"/>
                  </a:solidFill>
                  <a:effectLst/>
                  <a:uLnTx/>
                  <a:uFillTx/>
                  <a:latin typeface="+mn-ea"/>
                  <a:cs typeface="+mn-cs"/>
                </a:rPr>
                <a:t>Data Formats</a:t>
              </a:r>
            </a:p>
          </p:txBody>
        </p:sp>
        <p:sp>
          <p:nvSpPr>
            <p:cNvPr id="77" name="四角形: 角を丸くする 76">
              <a:extLst>
                <a:ext uri="{FF2B5EF4-FFF2-40B4-BE49-F238E27FC236}">
                  <a16:creationId xmlns:a16="http://schemas.microsoft.com/office/drawing/2014/main" id="{649BAD26-9972-5439-51BC-3A96B79C0FEE}"/>
                </a:ext>
              </a:extLst>
            </p:cNvPr>
            <p:cNvSpPr/>
            <p:nvPr/>
          </p:nvSpPr>
          <p:spPr bwMode="gray">
            <a:xfrm>
              <a:off x="7765049" y="5577093"/>
              <a:ext cx="1166169" cy="583084"/>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schemeClr val="tx1"/>
                  </a:solidFill>
                  <a:effectLst/>
                  <a:uLnTx/>
                  <a:uFillTx/>
                  <a:latin typeface="+mn-ea"/>
                  <a:cs typeface="+mn-cs"/>
                </a:rPr>
                <a:t>Crypto Primitives</a:t>
              </a:r>
              <a:endParaRPr kumimoji="1" lang="ja-JP" altLang="en-US" sz="1100" b="1" i="0" u="none" strike="noStrike" kern="1200" cap="none" spc="0" normalizeH="0" baseline="0" noProof="0" dirty="0">
                <a:ln>
                  <a:noFill/>
                </a:ln>
                <a:solidFill>
                  <a:schemeClr val="tx1"/>
                </a:solidFill>
                <a:effectLst/>
                <a:uLnTx/>
                <a:uFillTx/>
                <a:latin typeface="+mn-ea"/>
                <a:cs typeface="+mn-cs"/>
              </a:endParaRPr>
            </a:p>
          </p:txBody>
        </p:sp>
        <p:sp>
          <p:nvSpPr>
            <p:cNvPr id="79" name="四角形: 角を丸くする 78">
              <a:extLst>
                <a:ext uri="{FF2B5EF4-FFF2-40B4-BE49-F238E27FC236}">
                  <a16:creationId xmlns:a16="http://schemas.microsoft.com/office/drawing/2014/main" id="{38122CBD-3DBE-C57A-7709-94041C0A531F}"/>
                </a:ext>
              </a:extLst>
            </p:cNvPr>
            <p:cNvSpPr/>
            <p:nvPr/>
          </p:nvSpPr>
          <p:spPr bwMode="gray">
            <a:xfrm>
              <a:off x="363416" y="2353367"/>
              <a:ext cx="1166169" cy="592286"/>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Credential</a:t>
              </a:r>
            </a:p>
            <a:p>
              <a:pPr algn="ctr"/>
              <a:r>
                <a:rPr kumimoji="1" lang="en-US" altLang="ja-JP" sz="1100" b="1" dirty="0">
                  <a:latin typeface="+mn-ea"/>
                </a:rPr>
                <a:t>Format</a:t>
              </a:r>
              <a:endParaRPr kumimoji="1" lang="ja-JP" altLang="en-US" sz="1100" b="1" dirty="0">
                <a:latin typeface="+mn-ea"/>
              </a:endParaRPr>
            </a:p>
          </p:txBody>
        </p:sp>
        <p:sp>
          <p:nvSpPr>
            <p:cNvPr id="80" name="四角形: 角を丸くする 79">
              <a:extLst>
                <a:ext uri="{FF2B5EF4-FFF2-40B4-BE49-F238E27FC236}">
                  <a16:creationId xmlns:a16="http://schemas.microsoft.com/office/drawing/2014/main" id="{4A22EBB8-C0FB-5CD5-B167-ECA1F90BCD7D}"/>
                </a:ext>
              </a:extLst>
            </p:cNvPr>
            <p:cNvSpPr/>
            <p:nvPr/>
          </p:nvSpPr>
          <p:spPr bwMode="gray">
            <a:xfrm>
              <a:off x="1666177" y="2353367"/>
              <a:ext cx="1166169" cy="592286"/>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Credential</a:t>
              </a:r>
            </a:p>
            <a:p>
              <a:pPr algn="ctr"/>
              <a:r>
                <a:rPr kumimoji="1" lang="en-US" altLang="ja-JP" sz="1100" b="1" dirty="0">
                  <a:latin typeface="+mn-ea"/>
                </a:rPr>
                <a:t>Proofing</a:t>
              </a:r>
            </a:p>
          </p:txBody>
        </p:sp>
        <p:sp>
          <p:nvSpPr>
            <p:cNvPr id="81" name="四角形: 角を丸くする 80">
              <a:extLst>
                <a:ext uri="{FF2B5EF4-FFF2-40B4-BE49-F238E27FC236}">
                  <a16:creationId xmlns:a16="http://schemas.microsoft.com/office/drawing/2014/main" id="{2082EAF1-7D42-9EAC-0136-D515C6ECC078}"/>
                </a:ext>
              </a:extLst>
            </p:cNvPr>
            <p:cNvSpPr/>
            <p:nvPr/>
          </p:nvSpPr>
          <p:spPr bwMode="gray">
            <a:xfrm>
              <a:off x="2968938" y="2353367"/>
              <a:ext cx="1166169" cy="592286"/>
            </a:xfrm>
            <a:prstGeom prst="roundRect">
              <a:avLst/>
            </a:prstGeom>
            <a:solidFill>
              <a:schemeClr val="bg1">
                <a:lumMod val="85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prstClr val="black"/>
                  </a:solidFill>
                  <a:effectLst/>
                  <a:uLnTx/>
                  <a:uFillTx/>
                  <a:latin typeface="+mn-ea"/>
                  <a:cs typeface="+mn-cs"/>
                </a:rPr>
                <a:t>Credential</a:t>
              </a: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prstClr val="black"/>
                  </a:solidFill>
                  <a:effectLst/>
                  <a:uLnTx/>
                  <a:uFillTx/>
                  <a:latin typeface="+mn-ea"/>
                  <a:cs typeface="+mn-cs"/>
                </a:rPr>
                <a:t>Revocation</a:t>
              </a:r>
            </a:p>
          </p:txBody>
        </p:sp>
        <p:sp>
          <p:nvSpPr>
            <p:cNvPr id="82" name="四角形: 角を丸くする 81">
              <a:extLst>
                <a:ext uri="{FF2B5EF4-FFF2-40B4-BE49-F238E27FC236}">
                  <a16:creationId xmlns:a16="http://schemas.microsoft.com/office/drawing/2014/main" id="{032B45EF-3105-1F6E-25F2-F23FAE25817F}"/>
                </a:ext>
              </a:extLst>
            </p:cNvPr>
            <p:cNvSpPr/>
            <p:nvPr/>
          </p:nvSpPr>
          <p:spPr bwMode="gray">
            <a:xfrm>
              <a:off x="4271699" y="2353367"/>
              <a:ext cx="1166169" cy="592286"/>
            </a:xfrm>
            <a:prstGeom prst="roundRect">
              <a:avLst/>
            </a:prstGeom>
            <a:solidFill>
              <a:schemeClr val="bg1">
                <a:lumMod val="85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Credential</a:t>
              </a:r>
            </a:p>
            <a:p>
              <a:pPr algn="ctr"/>
              <a:r>
                <a:rPr kumimoji="1" lang="en-US" altLang="ja-JP" sz="1100" b="1" dirty="0">
                  <a:latin typeface="+mn-ea"/>
                </a:rPr>
                <a:t>Exchange</a:t>
              </a:r>
            </a:p>
          </p:txBody>
        </p:sp>
        <p:sp>
          <p:nvSpPr>
            <p:cNvPr id="83" name="四角形: 角を丸くする 82">
              <a:extLst>
                <a:ext uri="{FF2B5EF4-FFF2-40B4-BE49-F238E27FC236}">
                  <a16:creationId xmlns:a16="http://schemas.microsoft.com/office/drawing/2014/main" id="{2C3076A1-6862-2016-B538-203CDC790A26}"/>
                </a:ext>
              </a:extLst>
            </p:cNvPr>
            <p:cNvSpPr/>
            <p:nvPr/>
          </p:nvSpPr>
          <p:spPr bwMode="gray">
            <a:xfrm>
              <a:off x="5550627" y="2353367"/>
              <a:ext cx="1166169" cy="592286"/>
            </a:xfrm>
            <a:prstGeom prst="roundRect">
              <a:avLst/>
            </a:prstGeom>
            <a:solidFill>
              <a:schemeClr val="bg1">
                <a:lumMod val="85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prstClr val="black"/>
                  </a:solidFill>
                  <a:effectLst/>
                  <a:uLnTx/>
                  <a:uFillTx/>
                  <a:latin typeface="+mn-ea"/>
                  <a:cs typeface="+mn-cs"/>
                </a:rPr>
                <a:t>Credential</a:t>
              </a: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dirty="0">
                  <a:solidFill>
                    <a:prstClr val="black"/>
                  </a:solidFill>
                  <a:latin typeface="+mn-ea"/>
                </a:rPr>
                <a:t>Binding</a:t>
              </a:r>
              <a:endParaRPr kumimoji="1" lang="ja-JP" altLang="en-US" sz="1100" b="1" i="0" u="none" strike="noStrike" kern="1200" cap="none" spc="0" normalizeH="0" baseline="0" noProof="0" dirty="0">
                <a:ln>
                  <a:noFill/>
                </a:ln>
                <a:solidFill>
                  <a:prstClr val="black"/>
                </a:solidFill>
                <a:effectLst/>
                <a:uLnTx/>
                <a:uFillTx/>
                <a:latin typeface="+mn-ea"/>
                <a:cs typeface="+mn-cs"/>
              </a:endParaRPr>
            </a:p>
          </p:txBody>
        </p:sp>
        <p:sp>
          <p:nvSpPr>
            <p:cNvPr id="84" name="四角形: 角を丸くする 83">
              <a:extLst>
                <a:ext uri="{FF2B5EF4-FFF2-40B4-BE49-F238E27FC236}">
                  <a16:creationId xmlns:a16="http://schemas.microsoft.com/office/drawing/2014/main" id="{73606949-AB53-038B-751B-2F7946E5DB78}"/>
                </a:ext>
              </a:extLst>
            </p:cNvPr>
            <p:cNvSpPr/>
            <p:nvPr/>
          </p:nvSpPr>
          <p:spPr bwMode="gray">
            <a:xfrm>
              <a:off x="363416" y="3837673"/>
              <a:ext cx="1166169" cy="592286"/>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Envelope</a:t>
              </a:r>
            </a:p>
            <a:p>
              <a:pPr algn="ctr"/>
              <a:r>
                <a:rPr kumimoji="1" lang="en-US" altLang="ja-JP" sz="900" b="1" dirty="0">
                  <a:latin typeface="+mn-ea"/>
                </a:rPr>
                <a:t>(P2P-Communication)</a:t>
              </a:r>
            </a:p>
          </p:txBody>
        </p:sp>
        <p:sp>
          <p:nvSpPr>
            <p:cNvPr id="85" name="四角形: 角を丸くする 84">
              <a:extLst>
                <a:ext uri="{FF2B5EF4-FFF2-40B4-BE49-F238E27FC236}">
                  <a16:creationId xmlns:a16="http://schemas.microsoft.com/office/drawing/2014/main" id="{E5FECC7D-E387-656C-DB71-33028220B095}"/>
                </a:ext>
              </a:extLst>
            </p:cNvPr>
            <p:cNvSpPr/>
            <p:nvPr/>
          </p:nvSpPr>
          <p:spPr bwMode="gray">
            <a:xfrm>
              <a:off x="1666177" y="3837673"/>
              <a:ext cx="1166169" cy="592286"/>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Transport</a:t>
              </a:r>
              <a:endParaRPr kumimoji="1" lang="ja-JP" altLang="en-US" sz="1100" b="1" dirty="0">
                <a:latin typeface="+mn-ea"/>
              </a:endParaRPr>
            </a:p>
          </p:txBody>
        </p:sp>
        <p:sp>
          <p:nvSpPr>
            <p:cNvPr id="86" name="四角形: 角を丸くする 85">
              <a:extLst>
                <a:ext uri="{FF2B5EF4-FFF2-40B4-BE49-F238E27FC236}">
                  <a16:creationId xmlns:a16="http://schemas.microsoft.com/office/drawing/2014/main" id="{271599F9-4F72-A14D-9E44-344C85D80D5D}"/>
                </a:ext>
              </a:extLst>
            </p:cNvPr>
            <p:cNvSpPr/>
            <p:nvPr/>
          </p:nvSpPr>
          <p:spPr bwMode="gray">
            <a:xfrm>
              <a:off x="2968938" y="3837673"/>
              <a:ext cx="1166169" cy="592286"/>
            </a:xfrm>
            <a:prstGeom prst="roundRect">
              <a:avLst/>
            </a:prstGeom>
            <a:solidFill>
              <a:schemeClr val="bg1">
                <a:lumMod val="85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Control Recovery</a:t>
              </a:r>
              <a:endParaRPr kumimoji="1" lang="ja-JP" altLang="en-US" sz="1100" b="1" dirty="0">
                <a:latin typeface="+mn-ea"/>
              </a:endParaRPr>
            </a:p>
          </p:txBody>
        </p:sp>
        <p:sp>
          <p:nvSpPr>
            <p:cNvPr id="87" name="四角形: 角を丸くする 86">
              <a:extLst>
                <a:ext uri="{FF2B5EF4-FFF2-40B4-BE49-F238E27FC236}">
                  <a16:creationId xmlns:a16="http://schemas.microsoft.com/office/drawing/2014/main" id="{34C51173-FC28-1C21-7CC3-4F90F3511696}"/>
                </a:ext>
              </a:extLst>
            </p:cNvPr>
            <p:cNvSpPr/>
            <p:nvPr/>
          </p:nvSpPr>
          <p:spPr bwMode="gray">
            <a:xfrm>
              <a:off x="4271699" y="3837673"/>
              <a:ext cx="1166169" cy="592286"/>
            </a:xfrm>
            <a:prstGeom prst="roundRect">
              <a:avLst/>
            </a:prstGeom>
            <a:solidFill>
              <a:schemeClr val="bg1">
                <a:lumMod val="85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Key Operations</a:t>
              </a:r>
              <a:endParaRPr kumimoji="1" lang="ja-JP" altLang="en-US" sz="1100" b="1" dirty="0">
                <a:latin typeface="+mn-ea"/>
              </a:endParaRPr>
            </a:p>
          </p:txBody>
        </p:sp>
        <p:sp>
          <p:nvSpPr>
            <p:cNvPr id="88" name="四角形: 角を丸くする 87">
              <a:extLst>
                <a:ext uri="{FF2B5EF4-FFF2-40B4-BE49-F238E27FC236}">
                  <a16:creationId xmlns:a16="http://schemas.microsoft.com/office/drawing/2014/main" id="{0F385C15-F55E-9DE5-9CC0-2D4DD0558C3D}"/>
                </a:ext>
              </a:extLst>
            </p:cNvPr>
            <p:cNvSpPr/>
            <p:nvPr/>
          </p:nvSpPr>
          <p:spPr bwMode="gray">
            <a:xfrm>
              <a:off x="5550627" y="3837673"/>
              <a:ext cx="1166169" cy="592286"/>
            </a:xfrm>
            <a:prstGeom prst="roundRect">
              <a:avLst/>
            </a:prstGeom>
            <a:solidFill>
              <a:schemeClr val="bg1">
                <a:lumMod val="85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dirty="0">
                  <a:latin typeface="+mn-ea"/>
                </a:rPr>
                <a:t>Meta data</a:t>
              </a:r>
            </a:p>
            <a:p>
              <a:pPr algn="ctr"/>
              <a:r>
                <a:rPr kumimoji="1" lang="en-US" altLang="ja-JP" sz="1100" b="1" dirty="0">
                  <a:latin typeface="+mn-ea"/>
                </a:rPr>
                <a:t>Portability</a:t>
              </a:r>
              <a:endParaRPr kumimoji="1" lang="ja-JP" altLang="en-US" sz="1100" b="1" dirty="0">
                <a:latin typeface="+mn-ea"/>
              </a:endParaRPr>
            </a:p>
          </p:txBody>
        </p:sp>
        <p:sp>
          <p:nvSpPr>
            <p:cNvPr id="89" name="四角形: 角を丸くする 88">
              <a:extLst>
                <a:ext uri="{FF2B5EF4-FFF2-40B4-BE49-F238E27FC236}">
                  <a16:creationId xmlns:a16="http://schemas.microsoft.com/office/drawing/2014/main" id="{F50CA11E-C8D4-8CE8-FA49-36B116EF438F}"/>
                </a:ext>
              </a:extLst>
            </p:cNvPr>
            <p:cNvSpPr/>
            <p:nvPr/>
          </p:nvSpPr>
          <p:spPr bwMode="gray">
            <a:xfrm>
              <a:off x="363416" y="5413940"/>
              <a:ext cx="1166169" cy="592286"/>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prstClr val="black"/>
                  </a:solidFill>
                  <a:effectLst/>
                  <a:uLnTx/>
                  <a:uFillTx/>
                  <a:latin typeface="+mn-ea"/>
                  <a:cs typeface="+mn-cs"/>
                </a:rPr>
                <a:t>DID Document</a:t>
              </a:r>
              <a:br>
                <a:rPr kumimoji="1" lang="en-US" altLang="ja-JP" sz="1100" b="1" i="0" u="none" strike="noStrike" kern="1200" cap="none" spc="0" normalizeH="0" baseline="0" noProof="0" dirty="0">
                  <a:ln>
                    <a:noFill/>
                  </a:ln>
                  <a:solidFill>
                    <a:prstClr val="black"/>
                  </a:solidFill>
                  <a:effectLst/>
                  <a:uLnTx/>
                  <a:uFillTx/>
                  <a:latin typeface="+mn-ea"/>
                  <a:cs typeface="+mn-cs"/>
                </a:rPr>
              </a:br>
              <a:r>
                <a:rPr kumimoji="1" lang="en-US" altLang="ja-JP" sz="1100" b="1" i="0" u="none" strike="noStrike" kern="1200" cap="none" spc="0" normalizeH="0" baseline="0" noProof="0" dirty="0">
                  <a:ln>
                    <a:noFill/>
                  </a:ln>
                  <a:solidFill>
                    <a:prstClr val="black"/>
                  </a:solidFill>
                  <a:effectLst/>
                  <a:uLnTx/>
                  <a:uFillTx/>
                  <a:latin typeface="+mn-ea"/>
                  <a:cs typeface="+mn-cs"/>
                </a:rPr>
                <a:t>/DID Scaling</a:t>
              </a:r>
            </a:p>
          </p:txBody>
        </p:sp>
        <p:sp>
          <p:nvSpPr>
            <p:cNvPr id="90" name="四角形: 角を丸くする 89">
              <a:extLst>
                <a:ext uri="{FF2B5EF4-FFF2-40B4-BE49-F238E27FC236}">
                  <a16:creationId xmlns:a16="http://schemas.microsoft.com/office/drawing/2014/main" id="{A09CBD25-5153-CBEB-8D9C-369A160F223C}"/>
                </a:ext>
              </a:extLst>
            </p:cNvPr>
            <p:cNvSpPr/>
            <p:nvPr/>
          </p:nvSpPr>
          <p:spPr bwMode="gray">
            <a:xfrm>
              <a:off x="1666177" y="5413940"/>
              <a:ext cx="1166169" cy="592286"/>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dirty="0">
                  <a:solidFill>
                    <a:prstClr val="black"/>
                  </a:solidFill>
                  <a:latin typeface="+mn-ea"/>
                </a:rPr>
                <a:t>DID Method</a:t>
              </a:r>
            </a:p>
          </p:txBody>
        </p:sp>
        <p:sp>
          <p:nvSpPr>
            <p:cNvPr id="91" name="四角形: 角を丸くする 90">
              <a:extLst>
                <a:ext uri="{FF2B5EF4-FFF2-40B4-BE49-F238E27FC236}">
                  <a16:creationId xmlns:a16="http://schemas.microsoft.com/office/drawing/2014/main" id="{ED812992-4F70-8EBD-C6A9-1E52B8329A53}"/>
                </a:ext>
              </a:extLst>
            </p:cNvPr>
            <p:cNvSpPr/>
            <p:nvPr/>
          </p:nvSpPr>
          <p:spPr bwMode="gray">
            <a:xfrm>
              <a:off x="2968938" y="5413940"/>
              <a:ext cx="1166169" cy="592286"/>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dirty="0">
                  <a:solidFill>
                    <a:prstClr val="black"/>
                  </a:solidFill>
                  <a:latin typeface="+mn-ea"/>
                </a:rPr>
                <a:t>Anchor Types</a:t>
              </a:r>
            </a:p>
          </p:txBody>
        </p:sp>
        <p:sp>
          <p:nvSpPr>
            <p:cNvPr id="92" name="四角形: 角を丸くする 91">
              <a:extLst>
                <a:ext uri="{FF2B5EF4-FFF2-40B4-BE49-F238E27FC236}">
                  <a16:creationId xmlns:a16="http://schemas.microsoft.com/office/drawing/2014/main" id="{C0271FD7-C052-D656-146D-79F40EFE6CB8}"/>
                </a:ext>
              </a:extLst>
            </p:cNvPr>
            <p:cNvSpPr/>
            <p:nvPr/>
          </p:nvSpPr>
          <p:spPr bwMode="gray">
            <a:xfrm>
              <a:off x="4271699" y="5413940"/>
              <a:ext cx="1166169" cy="592286"/>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dirty="0">
                  <a:solidFill>
                    <a:prstClr val="black"/>
                  </a:solidFill>
                  <a:latin typeface="+mn-ea"/>
                </a:rPr>
                <a:t>DID Resolution</a:t>
              </a:r>
            </a:p>
          </p:txBody>
        </p:sp>
        <p:sp>
          <p:nvSpPr>
            <p:cNvPr id="93" name="四角形: 角を丸くする 92">
              <a:extLst>
                <a:ext uri="{FF2B5EF4-FFF2-40B4-BE49-F238E27FC236}">
                  <a16:creationId xmlns:a16="http://schemas.microsoft.com/office/drawing/2014/main" id="{3B90573E-106A-E45C-0112-6BD5485C7D4E}"/>
                </a:ext>
              </a:extLst>
            </p:cNvPr>
            <p:cNvSpPr/>
            <p:nvPr/>
          </p:nvSpPr>
          <p:spPr bwMode="gray">
            <a:xfrm>
              <a:off x="5550627" y="5413940"/>
              <a:ext cx="1166169" cy="592286"/>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100" b="1" i="0" u="none" strike="noStrike" kern="1200" cap="none" spc="0" normalizeH="0" baseline="0" noProof="0" dirty="0">
                  <a:ln>
                    <a:noFill/>
                  </a:ln>
                  <a:solidFill>
                    <a:prstClr val="black"/>
                  </a:solidFill>
                  <a:effectLst/>
                  <a:uLnTx/>
                  <a:uFillTx/>
                  <a:latin typeface="+mn-ea"/>
                  <a:cs typeface="+mn-cs"/>
                </a:rPr>
                <a:t>DID-Anchored </a:t>
              </a:r>
              <a:r>
                <a:rPr kumimoji="1" lang="en-US" altLang="ja-JP" sz="1100" b="1" i="0" u="none" strike="noStrike" kern="1200" cap="none" spc="0" normalizeH="0" baseline="0" noProof="0" dirty="0" err="1">
                  <a:ln>
                    <a:noFill/>
                  </a:ln>
                  <a:solidFill>
                    <a:prstClr val="black"/>
                  </a:solidFill>
                  <a:effectLst/>
                  <a:uLnTx/>
                  <a:uFillTx/>
                  <a:latin typeface="+mn-ea"/>
                  <a:cs typeface="+mn-cs"/>
                </a:rPr>
                <a:t>Svcs</a:t>
              </a:r>
              <a:endParaRPr kumimoji="1" lang="en-US" altLang="ja-JP" sz="1100" b="1" i="0" u="none" strike="noStrike" kern="1200" cap="none" spc="0" normalizeH="0" baseline="0" noProof="0" dirty="0">
                <a:ln>
                  <a:noFill/>
                </a:ln>
                <a:solidFill>
                  <a:prstClr val="black"/>
                </a:solidFill>
                <a:effectLst/>
                <a:uLnTx/>
                <a:uFillTx/>
                <a:latin typeface="+mn-ea"/>
                <a:cs typeface="+mn-cs"/>
              </a:endParaRPr>
            </a:p>
          </p:txBody>
        </p:sp>
      </p:grpSp>
      <p:sp>
        <p:nvSpPr>
          <p:cNvPr id="119" name="テキスト ボックス 118">
            <a:extLst>
              <a:ext uri="{FF2B5EF4-FFF2-40B4-BE49-F238E27FC236}">
                <a16:creationId xmlns:a16="http://schemas.microsoft.com/office/drawing/2014/main" id="{5825D779-3D4A-C85C-EBB5-22798C1A156A}"/>
              </a:ext>
            </a:extLst>
          </p:cNvPr>
          <p:cNvSpPr txBox="1"/>
          <p:nvPr/>
        </p:nvSpPr>
        <p:spPr bwMode="gray">
          <a:xfrm>
            <a:off x="273049" y="5822332"/>
            <a:ext cx="9359900" cy="80791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050" dirty="0">
                <a:solidFill>
                  <a:prstClr val="black"/>
                </a:solidFill>
                <a:latin typeface="Calibri Light"/>
                <a:ea typeface="Yu Gothic UI"/>
                <a:cs typeface="Arial" charset="0"/>
              </a:rPr>
              <a:t>*調査対象外とした理由</a:t>
            </a:r>
            <a:endParaRPr lang="en-US" altLang="ja-JP" sz="1050" dirty="0">
              <a:solidFill>
                <a:prstClr val="black"/>
              </a:solidFill>
              <a:latin typeface="Calibri Light"/>
              <a:ea typeface="Yu Gothic UI"/>
              <a:cs typeface="Arial" charset="0"/>
            </a:endParaRPr>
          </a:p>
          <a:p>
            <a:pPr defTabSz="990564" eaLnBrk="1" fontAlgn="auto" hangingPunct="1">
              <a:spcBef>
                <a:spcPts val="0"/>
              </a:spcBef>
              <a:spcAft>
                <a:spcPts val="0"/>
              </a:spcAft>
              <a:buSzPct val="100000"/>
              <a:buFont typeface="Wingdings" panose="05000000000000000000" pitchFamily="2" charset="2"/>
              <a:buNone/>
            </a:pPr>
            <a:r>
              <a:rPr lang="en-US" altLang="ja-JP" sz="1050" dirty="0">
                <a:solidFill>
                  <a:prstClr val="black"/>
                </a:solidFill>
                <a:latin typeface="Calibri Light"/>
                <a:ea typeface="Yu Gothic UI"/>
                <a:cs typeface="Arial" charset="0"/>
              </a:rPr>
              <a:t>Credential Layer (Revocation / Exchange / Binding)</a:t>
            </a:r>
            <a:r>
              <a:rPr lang="ja-JP" altLang="en-US" sz="1050" dirty="0">
                <a:solidFill>
                  <a:prstClr val="black"/>
                </a:solidFill>
                <a:latin typeface="Calibri Light"/>
                <a:ea typeface="Yu Gothic UI"/>
                <a:cs typeface="Arial" charset="0"/>
              </a:rPr>
              <a:t>：仕様が十分に定まっていないため調査対象外</a:t>
            </a:r>
            <a:endParaRPr lang="en-US" altLang="ja-JP" sz="1050" dirty="0">
              <a:solidFill>
                <a:prstClr val="black"/>
              </a:solidFill>
              <a:latin typeface="Calibri Light"/>
              <a:ea typeface="Yu Gothic UI"/>
              <a:cs typeface="Arial" charset="0"/>
            </a:endParaRPr>
          </a:p>
          <a:p>
            <a:pPr defTabSz="990564" eaLnBrk="1" fontAlgn="auto" hangingPunct="1">
              <a:spcBef>
                <a:spcPts val="0"/>
              </a:spcBef>
              <a:spcAft>
                <a:spcPts val="0"/>
              </a:spcAft>
              <a:buSzPct val="100000"/>
              <a:buFont typeface="Wingdings" panose="05000000000000000000" pitchFamily="2" charset="2"/>
              <a:buNone/>
            </a:pPr>
            <a:r>
              <a:rPr lang="en-US" altLang="ja-JP" sz="1050" dirty="0">
                <a:solidFill>
                  <a:prstClr val="black"/>
                </a:solidFill>
                <a:latin typeface="Calibri Light"/>
                <a:ea typeface="Yu Gothic UI"/>
                <a:cs typeface="Arial" charset="0"/>
              </a:rPr>
              <a:t>Agent Layer</a:t>
            </a:r>
            <a:r>
              <a:rPr lang="ja-JP" altLang="en-US" sz="1050" dirty="0">
                <a:solidFill>
                  <a:prstClr val="black"/>
                </a:solidFill>
                <a:latin typeface="Calibri Light"/>
                <a:ea typeface="Yu Gothic UI"/>
                <a:cs typeface="Arial" charset="0"/>
              </a:rPr>
              <a:t> </a:t>
            </a:r>
            <a:r>
              <a:rPr lang="en-US" altLang="ja-JP" sz="1050" dirty="0">
                <a:solidFill>
                  <a:prstClr val="black"/>
                </a:solidFill>
                <a:latin typeface="Calibri Light"/>
                <a:ea typeface="Yu Gothic UI"/>
                <a:cs typeface="Arial" charset="0"/>
              </a:rPr>
              <a:t>(Control Recovery / Key Operations / Meta data Portability )</a:t>
            </a:r>
            <a:r>
              <a:rPr lang="ja-JP" altLang="en-US" sz="1050" dirty="0">
                <a:solidFill>
                  <a:prstClr val="black"/>
                </a:solidFill>
                <a:latin typeface="Calibri Light"/>
                <a:ea typeface="Yu Gothic UI"/>
                <a:cs typeface="Arial" charset="0"/>
              </a:rPr>
              <a:t>：ハードウェア仕様がまだ定まっていないため不確定要素が大きいため調査対象外</a:t>
            </a:r>
            <a:endParaRPr lang="en-US" altLang="ja-JP" sz="1050" dirty="0">
              <a:solidFill>
                <a:prstClr val="black"/>
              </a:solidFill>
              <a:latin typeface="Calibri Light"/>
              <a:ea typeface="Yu Gothic UI"/>
              <a:cs typeface="Arial" charset="0"/>
            </a:endParaRPr>
          </a:p>
          <a:p>
            <a:pPr defTabSz="990564" eaLnBrk="1" fontAlgn="auto" hangingPunct="1">
              <a:spcBef>
                <a:spcPts val="0"/>
              </a:spcBef>
              <a:spcAft>
                <a:spcPts val="0"/>
              </a:spcAft>
              <a:buSzPct val="100000"/>
              <a:buFont typeface="Wingdings" panose="05000000000000000000" pitchFamily="2" charset="2"/>
              <a:buNone/>
            </a:pPr>
            <a:r>
              <a:rPr lang="en-US" altLang="ja-JP" sz="1050" dirty="0">
                <a:solidFill>
                  <a:prstClr val="black"/>
                </a:solidFill>
                <a:latin typeface="Calibri Light"/>
                <a:ea typeface="Yu Gothic UI"/>
                <a:cs typeface="Arial" charset="0"/>
              </a:rPr>
              <a:t>Authentication / Authorization </a:t>
            </a:r>
            <a:r>
              <a:rPr lang="ja-JP" altLang="en-US" sz="1050" dirty="0">
                <a:solidFill>
                  <a:prstClr val="black"/>
                </a:solidFill>
                <a:latin typeface="Calibri Light"/>
                <a:ea typeface="Yu Gothic UI"/>
                <a:cs typeface="Arial" charset="0"/>
              </a:rPr>
              <a:t>：アプリレイヤーのため、相互運用性に影響ないため調査対象外</a:t>
            </a:r>
            <a:endParaRPr lang="en-US" altLang="ja-JP" sz="1050" dirty="0">
              <a:solidFill>
                <a:prstClr val="black"/>
              </a:solidFill>
              <a:latin typeface="Calibri Light"/>
              <a:ea typeface="Yu Gothic UI"/>
              <a:cs typeface="Arial" charset="0"/>
            </a:endParaRPr>
          </a:p>
          <a:p>
            <a:pPr defTabSz="990564" eaLnBrk="1" fontAlgn="auto" hangingPunct="1">
              <a:spcBef>
                <a:spcPts val="0"/>
              </a:spcBef>
              <a:spcAft>
                <a:spcPts val="0"/>
              </a:spcAft>
              <a:buSzPct val="100000"/>
              <a:buFont typeface="Wingdings" panose="05000000000000000000" pitchFamily="2" charset="2"/>
              <a:buNone/>
            </a:pPr>
            <a:r>
              <a:rPr lang="en-US" altLang="ja-JP" sz="1050" dirty="0">
                <a:solidFill>
                  <a:prstClr val="black"/>
                </a:solidFill>
                <a:latin typeface="Calibri Light"/>
                <a:ea typeface="Yu Gothic UI"/>
                <a:cs typeface="Arial" charset="0"/>
              </a:rPr>
              <a:t>Compliance</a:t>
            </a:r>
            <a:r>
              <a:rPr lang="ja-JP" altLang="en-US" sz="1050" dirty="0">
                <a:solidFill>
                  <a:prstClr val="black"/>
                </a:solidFill>
                <a:latin typeface="Calibri Light"/>
                <a:ea typeface="Yu Gothic UI"/>
                <a:cs typeface="Arial" charset="0"/>
              </a:rPr>
              <a:t>：技術スタックとは関係ないため調査対象外</a:t>
            </a:r>
            <a:endParaRPr lang="en-US" altLang="ja-JP" sz="1050" dirty="0">
              <a:solidFill>
                <a:prstClr val="black"/>
              </a:solidFill>
              <a:latin typeface="Calibri Light"/>
              <a:ea typeface="Yu Gothic UI"/>
              <a:cs typeface="Arial" charset="0"/>
            </a:endParaRPr>
          </a:p>
        </p:txBody>
      </p:sp>
      <p:sp>
        <p:nvSpPr>
          <p:cNvPr id="110" name="正方形/長方形 109">
            <a:extLst>
              <a:ext uri="{FF2B5EF4-FFF2-40B4-BE49-F238E27FC236}">
                <a16:creationId xmlns:a16="http://schemas.microsoft.com/office/drawing/2014/main" id="{8D90CC38-2E9C-461D-69F2-D1AC5F28C0B4}"/>
              </a:ext>
            </a:extLst>
          </p:cNvPr>
          <p:cNvSpPr/>
          <p:nvPr/>
        </p:nvSpPr>
        <p:spPr bwMode="gray">
          <a:xfrm>
            <a:off x="4907406" y="1478174"/>
            <a:ext cx="4703999" cy="419759"/>
          </a:xfrm>
          <a:prstGeom prst="rect">
            <a:avLst/>
          </a:prstGeom>
          <a:no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200" b="0" i="0" u="none" strike="noStrike" kern="1200" cap="none" spc="0" normalizeH="0" baseline="0" noProof="0">
              <a:ln>
                <a:noFill/>
              </a:ln>
              <a:solidFill>
                <a:prstClr val="black"/>
              </a:solidFill>
              <a:effectLst/>
              <a:uLnTx/>
              <a:uFillTx/>
              <a:latin typeface="+mn-ea"/>
              <a:ea typeface="+mn-ea"/>
              <a:cs typeface="+mn-cs"/>
            </a:endParaRPr>
          </a:p>
        </p:txBody>
      </p:sp>
      <p:sp>
        <p:nvSpPr>
          <p:cNvPr id="111" name="テキスト ボックス 110">
            <a:extLst>
              <a:ext uri="{FF2B5EF4-FFF2-40B4-BE49-F238E27FC236}">
                <a16:creationId xmlns:a16="http://schemas.microsoft.com/office/drawing/2014/main" id="{9AFD04EC-ACB6-5C2C-46B7-D66930E9C82E}"/>
              </a:ext>
            </a:extLst>
          </p:cNvPr>
          <p:cNvSpPr txBox="1"/>
          <p:nvPr/>
        </p:nvSpPr>
        <p:spPr bwMode="gray">
          <a:xfrm>
            <a:off x="4960794" y="1616057"/>
            <a:ext cx="307777" cy="184666"/>
          </a:xfrm>
          <a:prstGeom prst="rect">
            <a:avLst/>
          </a:prstGeom>
          <a:noFill/>
        </p:spPr>
        <p:txBody>
          <a:bodyPr wrap="none" lIns="0" tIns="0" rIns="0" bIns="0" rtlCol="0">
            <a:spAutoFit/>
          </a:bodyPr>
          <a:lstStyle/>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a:solidFill>
                  <a:prstClr val="black"/>
                </a:solidFill>
                <a:latin typeface="+mn-ea"/>
                <a:ea typeface="+mn-ea"/>
                <a:cs typeface="+mn-cs"/>
              </a:rPr>
              <a:t>凡例</a:t>
            </a:r>
            <a:endParaRPr kumimoji="1" lang="ja-JP" altLang="en-US" sz="1200" b="0" i="0" u="none" strike="noStrike" kern="1200" cap="none" spc="0" normalizeH="0" baseline="0" noProof="0">
              <a:ln>
                <a:noFill/>
              </a:ln>
              <a:solidFill>
                <a:prstClr val="black"/>
              </a:solidFill>
              <a:effectLst/>
              <a:uLnTx/>
              <a:uFillTx/>
              <a:latin typeface="+mn-ea"/>
              <a:ea typeface="+mn-ea"/>
              <a:cs typeface="+mn-cs"/>
            </a:endParaRPr>
          </a:p>
        </p:txBody>
      </p:sp>
      <p:sp>
        <p:nvSpPr>
          <p:cNvPr id="112" name="四角形: 角を丸くする 111">
            <a:extLst>
              <a:ext uri="{FF2B5EF4-FFF2-40B4-BE49-F238E27FC236}">
                <a16:creationId xmlns:a16="http://schemas.microsoft.com/office/drawing/2014/main" id="{64CA1CD2-6034-AC3C-3647-251AA7DC348D}"/>
              </a:ext>
            </a:extLst>
          </p:cNvPr>
          <p:cNvSpPr/>
          <p:nvPr/>
        </p:nvSpPr>
        <p:spPr bwMode="gray">
          <a:xfrm>
            <a:off x="5622055" y="1545670"/>
            <a:ext cx="1704082" cy="286032"/>
          </a:xfrm>
          <a:prstGeom prst="roundRect">
            <a:avLst/>
          </a:prstGeom>
          <a:solidFill>
            <a:schemeClr val="accent2">
              <a:lumMod val="20000"/>
              <a:lumOff val="80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ja-JP" altLang="en-US" sz="1100" b="1" dirty="0">
                <a:latin typeface="+mn-ea"/>
              </a:rPr>
              <a:t>調査対象</a:t>
            </a:r>
          </a:p>
        </p:txBody>
      </p:sp>
      <p:sp>
        <p:nvSpPr>
          <p:cNvPr id="113" name="四角形: 角を丸くする 112">
            <a:extLst>
              <a:ext uri="{FF2B5EF4-FFF2-40B4-BE49-F238E27FC236}">
                <a16:creationId xmlns:a16="http://schemas.microsoft.com/office/drawing/2014/main" id="{9E7D5D2F-79E2-C919-C9BE-EECA575A32CE}"/>
              </a:ext>
            </a:extLst>
          </p:cNvPr>
          <p:cNvSpPr/>
          <p:nvPr/>
        </p:nvSpPr>
        <p:spPr bwMode="gray">
          <a:xfrm>
            <a:off x="7560249" y="1545670"/>
            <a:ext cx="1704082" cy="286032"/>
          </a:xfrm>
          <a:prstGeom prst="roundRect">
            <a:avLst/>
          </a:prstGeom>
          <a:solidFill>
            <a:schemeClr val="bg1">
              <a:lumMod val="85000"/>
            </a:schemeClr>
          </a:solidFill>
          <a:ln>
            <a:solidFill>
              <a:schemeClr val="accent6"/>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ja-JP" altLang="en-US" sz="1100" b="1" dirty="0">
                <a:latin typeface="+mn-ea"/>
              </a:rPr>
              <a:t>調査対象外*</a:t>
            </a:r>
          </a:p>
        </p:txBody>
      </p:sp>
      <p:sp>
        <p:nvSpPr>
          <p:cNvPr id="4" name="コンテンツ プレースホルダー 2">
            <a:extLst>
              <a:ext uri="{FF2B5EF4-FFF2-40B4-BE49-F238E27FC236}">
                <a16:creationId xmlns:a16="http://schemas.microsoft.com/office/drawing/2014/main" id="{697738A9-99B3-93D1-68B0-AB8D85CDFA8C}"/>
              </a:ext>
            </a:extLst>
          </p:cNvPr>
          <p:cNvSpPr txBox="1">
            <a:spLocks/>
          </p:cNvSpPr>
          <p:nvPr/>
        </p:nvSpPr>
        <p:spPr>
          <a:xfrm>
            <a:off x="273050" y="919067"/>
            <a:ext cx="9442450" cy="282054"/>
          </a:xfrm>
          <a:prstGeom prst="rect">
            <a:avLst/>
          </a:prstGeom>
          <a:ln>
            <a:solidFill>
              <a:schemeClr val="bg1"/>
            </a:solid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4</a:t>
            </a:r>
            <a:r>
              <a:rPr lang="ja-JP" altLang="en-US" dirty="0"/>
              <a:t>章で整理した技術スタックのうち、現時点で仕様がある程度固まっているかつ実装パターンに影響が出る範囲を調査対象とした*</a:t>
            </a:r>
            <a:endParaRPr lang="en-US" altLang="ja-JP" dirty="0"/>
          </a:p>
          <a:p>
            <a:r>
              <a:rPr lang="ja-JP" altLang="en-US" dirty="0"/>
              <a:t>各技術要素で、実装手法が複数選択肢がある場合は主要なものの特徴を比較・整理した</a:t>
            </a:r>
            <a:endParaRPr lang="en-US" altLang="ja-JP" dirty="0"/>
          </a:p>
          <a:p>
            <a:endParaRPr lang="ja-JP" altLang="en-US" dirty="0"/>
          </a:p>
        </p:txBody>
      </p:sp>
    </p:spTree>
    <p:extLst>
      <p:ext uri="{BB962C8B-B14F-4D97-AF65-F5344CB8AC3E}">
        <p14:creationId xmlns:p14="http://schemas.microsoft.com/office/powerpoint/2010/main" val="2855563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7BABD578-8144-04C5-C497-4C9C40A00973}"/>
              </a:ext>
            </a:extLst>
          </p:cNvPr>
          <p:cNvGraphicFramePr>
            <a:graphicFrameLocks noChangeAspect="1"/>
          </p:cNvGraphicFramePr>
          <p:nvPr>
            <p:custDataLst>
              <p:tags r:id="rId1"/>
            </p:custDataLst>
            <p:extLst>
              <p:ext uri="{D42A27DB-BD31-4B8C-83A1-F6EECF244321}">
                <p14:modId xmlns:p14="http://schemas.microsoft.com/office/powerpoint/2010/main" val="1689715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10" name="think-cell data - do not delete" hidden="1">
                        <a:extLst>
                          <a:ext uri="{FF2B5EF4-FFF2-40B4-BE49-F238E27FC236}">
                            <a16:creationId xmlns:a16="http://schemas.microsoft.com/office/drawing/2014/main" id="{7BABD578-8144-04C5-C497-4C9C40A009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44850A1B-B080-0745-B049-5E16DD651AF5}"/>
              </a:ext>
            </a:extLst>
          </p:cNvPr>
          <p:cNvSpPr>
            <a:spLocks noGrp="1"/>
          </p:cNvSpPr>
          <p:nvPr>
            <p:ph type="title"/>
          </p:nvPr>
        </p:nvSpPr>
        <p:spPr>
          <a:xfrm>
            <a:off x="273049" y="446754"/>
            <a:ext cx="7865913" cy="246221"/>
          </a:xfrm>
        </p:spPr>
        <p:txBody>
          <a:bodyPr vert="horz"/>
          <a:lstStyle/>
          <a:p>
            <a:r>
              <a:rPr kumimoji="1" lang="en-US" altLang="ja-JP" sz="1600" dirty="0"/>
              <a:t>5.2.</a:t>
            </a:r>
            <a:r>
              <a:rPr kumimoji="1" lang="ja-JP" altLang="en-US" dirty="0"/>
              <a:t> </a:t>
            </a:r>
            <a:r>
              <a:rPr kumimoji="1" lang="ja-JP" altLang="en-US" sz="1600" dirty="0"/>
              <a:t>規格・実装方式の詳細 </a:t>
            </a:r>
            <a:r>
              <a:rPr kumimoji="1" lang="en-US" altLang="ja-JP" sz="1600" dirty="0"/>
              <a:t>- (1) </a:t>
            </a:r>
            <a:r>
              <a:rPr kumimoji="1" lang="ja-JP" altLang="en-US" sz="1600" dirty="0"/>
              <a:t>証明書を表現する際に利用されるデータフォーマットの規格</a:t>
            </a:r>
          </a:p>
        </p:txBody>
      </p:sp>
      <p:sp>
        <p:nvSpPr>
          <p:cNvPr id="3" name="テキスト プレースホルダー 2">
            <a:extLst>
              <a:ext uri="{FF2B5EF4-FFF2-40B4-BE49-F238E27FC236}">
                <a16:creationId xmlns:a16="http://schemas.microsoft.com/office/drawing/2014/main" id="{C22DC195-F99A-B28E-2BEA-3611672BF5DC}"/>
              </a:ext>
            </a:extLst>
          </p:cNvPr>
          <p:cNvSpPr>
            <a:spLocks noGrp="1"/>
          </p:cNvSpPr>
          <p:nvPr>
            <p:ph type="body" sz="quarter" idx="10"/>
          </p:nvPr>
        </p:nvSpPr>
        <p:spPr>
          <a:xfrm>
            <a:off x="273050" y="188913"/>
            <a:ext cx="3129171"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9" name="正方形/長方形 8">
            <a:extLst>
              <a:ext uri="{FF2B5EF4-FFF2-40B4-BE49-F238E27FC236}">
                <a16:creationId xmlns:a16="http://schemas.microsoft.com/office/drawing/2014/main" id="{E2EA21D3-289E-56FF-D153-881E06800A39}"/>
              </a:ext>
            </a:extLst>
          </p:cNvPr>
          <p:cNvSpPr/>
          <p:nvPr/>
        </p:nvSpPr>
        <p:spPr>
          <a:xfrm>
            <a:off x="1875716" y="135476"/>
            <a:ext cx="980645"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14" name="正方形/長方形 13">
            <a:extLst>
              <a:ext uri="{FF2B5EF4-FFF2-40B4-BE49-F238E27FC236}">
                <a16:creationId xmlns:a16="http://schemas.microsoft.com/office/drawing/2014/main" id="{F752822B-699B-CB4A-C607-455A92576D6E}"/>
              </a:ext>
            </a:extLst>
          </p:cNvPr>
          <p:cNvSpPr/>
          <p:nvPr/>
        </p:nvSpPr>
        <p:spPr>
          <a:xfrm>
            <a:off x="1875716" y="242366"/>
            <a:ext cx="491226" cy="169526"/>
          </a:xfrm>
          <a:prstGeom prst="rect">
            <a:avLst/>
          </a:prstGeom>
          <a:solidFill>
            <a:schemeClr val="accent1">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21" name="正方形/長方形 20">
            <a:extLst>
              <a:ext uri="{FF2B5EF4-FFF2-40B4-BE49-F238E27FC236}">
                <a16:creationId xmlns:a16="http://schemas.microsoft.com/office/drawing/2014/main" id="{B6A31F11-0C9F-D33A-4689-374DC1FE8BA6}"/>
              </a:ext>
            </a:extLst>
          </p:cNvPr>
          <p:cNvSpPr/>
          <p:nvPr/>
        </p:nvSpPr>
        <p:spPr>
          <a:xfrm>
            <a:off x="2366942" y="242366"/>
            <a:ext cx="491226" cy="169526"/>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kumimoji="1" lang="en-US" altLang="ja-JP" sz="500" dirty="0"/>
              <a:t>Proofing</a:t>
            </a:r>
            <a:endParaRPr kumimoji="1" lang="ja-JP" altLang="en-US" sz="500" dirty="0"/>
          </a:p>
        </p:txBody>
      </p:sp>
      <p:sp>
        <p:nvSpPr>
          <p:cNvPr id="22" name="正方形/長方形 21">
            <a:extLst>
              <a:ext uri="{FF2B5EF4-FFF2-40B4-BE49-F238E27FC236}">
                <a16:creationId xmlns:a16="http://schemas.microsoft.com/office/drawing/2014/main" id="{B6903466-5EB7-8CE4-C262-A64A3882E3EA}"/>
              </a:ext>
            </a:extLst>
          </p:cNvPr>
          <p:cNvSpPr/>
          <p:nvPr/>
        </p:nvSpPr>
        <p:spPr>
          <a:xfrm>
            <a:off x="285816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Envelope</a:t>
            </a:r>
            <a:endParaRPr kumimoji="1" lang="ja-JP" altLang="en-US" sz="600" dirty="0"/>
          </a:p>
        </p:txBody>
      </p:sp>
      <p:sp>
        <p:nvSpPr>
          <p:cNvPr id="23" name="正方形/長方形 22">
            <a:extLst>
              <a:ext uri="{FF2B5EF4-FFF2-40B4-BE49-F238E27FC236}">
                <a16:creationId xmlns:a16="http://schemas.microsoft.com/office/drawing/2014/main" id="{0424906D-7148-8136-A75E-2058A8488B0E}"/>
              </a:ext>
            </a:extLst>
          </p:cNvPr>
          <p:cNvSpPr/>
          <p:nvPr/>
        </p:nvSpPr>
        <p:spPr>
          <a:xfrm>
            <a:off x="2856361" y="135476"/>
            <a:ext cx="983839"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Agent Layer</a:t>
            </a:r>
            <a:endParaRPr lang="ja-JP" altLang="en-US" sz="600" dirty="0"/>
          </a:p>
        </p:txBody>
      </p:sp>
      <p:sp>
        <p:nvSpPr>
          <p:cNvPr id="24" name="正方形/長方形 23">
            <a:extLst>
              <a:ext uri="{FF2B5EF4-FFF2-40B4-BE49-F238E27FC236}">
                <a16:creationId xmlns:a16="http://schemas.microsoft.com/office/drawing/2014/main" id="{603EE95F-2178-D944-7AB6-E46EB8FC8616}"/>
              </a:ext>
            </a:extLst>
          </p:cNvPr>
          <p:cNvSpPr/>
          <p:nvPr/>
        </p:nvSpPr>
        <p:spPr>
          <a:xfrm>
            <a:off x="3349266"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Transport</a:t>
            </a:r>
            <a:endParaRPr kumimoji="1" lang="ja-JP" altLang="en-US" sz="600" dirty="0"/>
          </a:p>
        </p:txBody>
      </p:sp>
      <p:sp>
        <p:nvSpPr>
          <p:cNvPr id="25" name="正方形/長方形 24">
            <a:extLst>
              <a:ext uri="{FF2B5EF4-FFF2-40B4-BE49-F238E27FC236}">
                <a16:creationId xmlns:a16="http://schemas.microsoft.com/office/drawing/2014/main" id="{314423F2-81A6-47F1-A47F-AC60545C190E}"/>
              </a:ext>
            </a:extLst>
          </p:cNvPr>
          <p:cNvSpPr/>
          <p:nvPr/>
        </p:nvSpPr>
        <p:spPr>
          <a:xfrm>
            <a:off x="3840656"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27" name="正方形/長方形 26">
            <a:extLst>
              <a:ext uri="{FF2B5EF4-FFF2-40B4-BE49-F238E27FC236}">
                <a16:creationId xmlns:a16="http://schemas.microsoft.com/office/drawing/2014/main" id="{CEC3F218-6C13-6F46-149C-B6DDCA7A3C97}"/>
              </a:ext>
            </a:extLst>
          </p:cNvPr>
          <p:cNvSpPr/>
          <p:nvPr/>
        </p:nvSpPr>
        <p:spPr>
          <a:xfrm>
            <a:off x="4824207"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28" name="正方形/長方形 27">
            <a:extLst>
              <a:ext uri="{FF2B5EF4-FFF2-40B4-BE49-F238E27FC236}">
                <a16:creationId xmlns:a16="http://schemas.microsoft.com/office/drawing/2014/main" id="{DF92C733-D824-D67C-8DD8-42E1CFAE13E9}"/>
              </a:ext>
            </a:extLst>
          </p:cNvPr>
          <p:cNvSpPr/>
          <p:nvPr/>
        </p:nvSpPr>
        <p:spPr>
          <a:xfrm>
            <a:off x="5315306"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29" name="正方形/長方形 28">
            <a:extLst>
              <a:ext uri="{FF2B5EF4-FFF2-40B4-BE49-F238E27FC236}">
                <a16:creationId xmlns:a16="http://schemas.microsoft.com/office/drawing/2014/main" id="{2B5F1A99-8203-8BEB-E851-6F858445B39D}"/>
              </a:ext>
            </a:extLst>
          </p:cNvPr>
          <p:cNvSpPr/>
          <p:nvPr/>
        </p:nvSpPr>
        <p:spPr>
          <a:xfrm>
            <a:off x="5806532"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30" name="正方形/長方形 29">
            <a:extLst>
              <a:ext uri="{FF2B5EF4-FFF2-40B4-BE49-F238E27FC236}">
                <a16:creationId xmlns:a16="http://schemas.microsoft.com/office/drawing/2014/main" id="{F10D1614-001A-EE2E-A7FA-87D04076D7CE}"/>
              </a:ext>
            </a:extLst>
          </p:cNvPr>
          <p:cNvSpPr/>
          <p:nvPr/>
        </p:nvSpPr>
        <p:spPr>
          <a:xfrm>
            <a:off x="6297630"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Disclosure</a:t>
            </a:r>
            <a:br>
              <a:rPr kumimoji="1" lang="en-US" altLang="ja-JP" sz="500" dirty="0"/>
            </a:br>
            <a:r>
              <a:rPr kumimoji="1" lang="en-US" altLang="ja-JP" sz="500" dirty="0"/>
              <a:t>/ZKP</a:t>
            </a:r>
          </a:p>
        </p:txBody>
      </p:sp>
      <p:sp>
        <p:nvSpPr>
          <p:cNvPr id="31" name="正方形/長方形 30">
            <a:extLst>
              <a:ext uri="{FF2B5EF4-FFF2-40B4-BE49-F238E27FC236}">
                <a16:creationId xmlns:a16="http://schemas.microsoft.com/office/drawing/2014/main" id="{CEA3AD0D-1AD3-CFC5-FFC0-D6F11EC1799A}"/>
              </a:ext>
            </a:extLst>
          </p:cNvPr>
          <p:cNvSpPr/>
          <p:nvPr/>
        </p:nvSpPr>
        <p:spPr>
          <a:xfrm>
            <a:off x="6788856"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32" name="正方形/長方形 31">
            <a:extLst>
              <a:ext uri="{FF2B5EF4-FFF2-40B4-BE49-F238E27FC236}">
                <a16:creationId xmlns:a16="http://schemas.microsoft.com/office/drawing/2014/main" id="{EF890881-72AB-606B-6DCB-A5A0AF35FDC1}"/>
              </a:ext>
            </a:extLst>
          </p:cNvPr>
          <p:cNvSpPr/>
          <p:nvPr/>
        </p:nvSpPr>
        <p:spPr>
          <a:xfrm>
            <a:off x="7279955" y="242366"/>
            <a:ext cx="491226" cy="169526"/>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Data Formats</a:t>
            </a:r>
          </a:p>
        </p:txBody>
      </p:sp>
      <p:sp>
        <p:nvSpPr>
          <p:cNvPr id="33" name="正方形/長方形 32">
            <a:extLst>
              <a:ext uri="{FF2B5EF4-FFF2-40B4-BE49-F238E27FC236}">
                <a16:creationId xmlns:a16="http://schemas.microsoft.com/office/drawing/2014/main" id="{C47D3322-ADA2-DCFF-502B-6DC83BF2B99E}"/>
              </a:ext>
            </a:extLst>
          </p:cNvPr>
          <p:cNvSpPr/>
          <p:nvPr/>
        </p:nvSpPr>
        <p:spPr>
          <a:xfrm>
            <a:off x="7771053"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34" name="正方形/長方形 33">
            <a:extLst>
              <a:ext uri="{FF2B5EF4-FFF2-40B4-BE49-F238E27FC236}">
                <a16:creationId xmlns:a16="http://schemas.microsoft.com/office/drawing/2014/main" id="{345BB581-9575-0A6B-77D7-545BE8A1F1EC}"/>
              </a:ext>
            </a:extLst>
          </p:cNvPr>
          <p:cNvSpPr/>
          <p:nvPr/>
        </p:nvSpPr>
        <p:spPr>
          <a:xfrm>
            <a:off x="3837006" y="135476"/>
            <a:ext cx="2461601"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35" name="正方形/長方形 34">
            <a:extLst>
              <a:ext uri="{FF2B5EF4-FFF2-40B4-BE49-F238E27FC236}">
                <a16:creationId xmlns:a16="http://schemas.microsoft.com/office/drawing/2014/main" id="{70DEB6A0-0B19-66F6-3A3D-B148618FE1B7}"/>
              </a:ext>
            </a:extLst>
          </p:cNvPr>
          <p:cNvSpPr/>
          <p:nvPr/>
        </p:nvSpPr>
        <p:spPr>
          <a:xfrm>
            <a:off x="6297503" y="135476"/>
            <a:ext cx="1964776"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4" name="正方形/長方形 3">
            <a:extLst>
              <a:ext uri="{FF2B5EF4-FFF2-40B4-BE49-F238E27FC236}">
                <a16:creationId xmlns:a16="http://schemas.microsoft.com/office/drawing/2014/main" id="{3AA38247-F82D-612E-F963-B8DD82436D23}"/>
              </a:ext>
            </a:extLst>
          </p:cNvPr>
          <p:cNvSpPr/>
          <p:nvPr/>
        </p:nvSpPr>
        <p:spPr>
          <a:xfrm>
            <a:off x="433291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
        <p:nvSpPr>
          <p:cNvPr id="6" name="コンテンツ プレースホルダー 2">
            <a:extLst>
              <a:ext uri="{FF2B5EF4-FFF2-40B4-BE49-F238E27FC236}">
                <a16:creationId xmlns:a16="http://schemas.microsoft.com/office/drawing/2014/main" id="{3B7D0B12-B499-B06B-E447-228967FB5576}"/>
              </a:ext>
            </a:extLst>
          </p:cNvPr>
          <p:cNvSpPr txBox="1">
            <a:spLocks/>
          </p:cNvSpPr>
          <p:nvPr/>
        </p:nvSpPr>
        <p:spPr>
          <a:xfrm>
            <a:off x="273050" y="908050"/>
            <a:ext cx="9359900" cy="215444"/>
          </a:xfrm>
          <a:prstGeom prst="rect">
            <a:avLst/>
          </a:prstGeom>
          <a:ln>
            <a:solidFill>
              <a:schemeClr val="bg1"/>
            </a:solid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コンピュータ黎明期には低容量で高速なバイナリが一般的であったが、次第に可読性の高いテキストに置き換わっていった</a:t>
            </a:r>
            <a:endParaRPr lang="en-US" altLang="ja-JP" dirty="0"/>
          </a:p>
          <a:p>
            <a:r>
              <a:rPr lang="ja-JP" altLang="en-US" dirty="0"/>
              <a:t>証明書の利用としては</a:t>
            </a:r>
            <a:r>
              <a:rPr lang="en-US" altLang="ja-JP" dirty="0"/>
              <a:t>JSON</a:t>
            </a:r>
            <a:r>
              <a:rPr lang="ja-JP" altLang="en-US" dirty="0"/>
              <a:t>、</a:t>
            </a:r>
            <a:r>
              <a:rPr lang="en-US" altLang="ja-JP" dirty="0"/>
              <a:t>JSON-LD</a:t>
            </a:r>
            <a:r>
              <a:rPr lang="ja-JP" altLang="en-US" dirty="0"/>
              <a:t>が</a:t>
            </a:r>
            <a:r>
              <a:rPr lang="en-US" altLang="ja-JP" dirty="0"/>
              <a:t>Web</a:t>
            </a:r>
            <a:r>
              <a:rPr lang="ja-JP" altLang="en-US" dirty="0"/>
              <a:t>アプリで多用される</a:t>
            </a:r>
            <a:r>
              <a:rPr lang="en-US" altLang="ja-JP" dirty="0"/>
              <a:t>JavaScript</a:t>
            </a:r>
            <a:r>
              <a:rPr lang="ja-JP" altLang="en-US" dirty="0"/>
              <a:t>との親和性が高く利用されている。また、リソースの小さい</a:t>
            </a:r>
            <a:r>
              <a:rPr lang="en-US" altLang="ja-JP" dirty="0"/>
              <a:t>IoT</a:t>
            </a:r>
            <a:r>
              <a:rPr lang="ja-JP" altLang="en-US" dirty="0"/>
              <a:t>機器等で利用する場合には</a:t>
            </a:r>
            <a:r>
              <a:rPr lang="en-US" altLang="ja-JP" dirty="0"/>
              <a:t>CBOR</a:t>
            </a:r>
            <a:r>
              <a:rPr lang="ja-JP" altLang="en-US" dirty="0"/>
              <a:t>の導入が進んでいる</a:t>
            </a:r>
            <a:endParaRPr lang="en-US" altLang="ja-JP" dirty="0"/>
          </a:p>
        </p:txBody>
      </p:sp>
      <p:graphicFrame>
        <p:nvGraphicFramePr>
          <p:cNvPr id="8" name="表 6">
            <a:extLst>
              <a:ext uri="{FF2B5EF4-FFF2-40B4-BE49-F238E27FC236}">
                <a16:creationId xmlns:a16="http://schemas.microsoft.com/office/drawing/2014/main" id="{0BF6319F-7585-AA44-DB8D-8FB7E5327617}"/>
              </a:ext>
            </a:extLst>
          </p:cNvPr>
          <p:cNvGraphicFramePr>
            <a:graphicFrameLocks noGrp="1"/>
          </p:cNvGraphicFramePr>
          <p:nvPr>
            <p:extLst>
              <p:ext uri="{D42A27DB-BD31-4B8C-83A1-F6EECF244321}">
                <p14:modId xmlns:p14="http://schemas.microsoft.com/office/powerpoint/2010/main" val="803324949"/>
              </p:ext>
            </p:extLst>
          </p:nvPr>
        </p:nvGraphicFramePr>
        <p:xfrm>
          <a:off x="273050" y="1749654"/>
          <a:ext cx="9359899" cy="4783800"/>
        </p:xfrm>
        <a:graphic>
          <a:graphicData uri="http://schemas.openxmlformats.org/drawingml/2006/table">
            <a:tbl>
              <a:tblPr firstRow="1" bandRow="1"/>
              <a:tblGrid>
                <a:gridCol w="853024">
                  <a:extLst>
                    <a:ext uri="{9D8B030D-6E8A-4147-A177-3AD203B41FA5}">
                      <a16:colId xmlns:a16="http://schemas.microsoft.com/office/drawing/2014/main" val="231522409"/>
                    </a:ext>
                  </a:extLst>
                </a:gridCol>
                <a:gridCol w="1701375">
                  <a:extLst>
                    <a:ext uri="{9D8B030D-6E8A-4147-A177-3AD203B41FA5}">
                      <a16:colId xmlns:a16="http://schemas.microsoft.com/office/drawing/2014/main" val="1818454742"/>
                    </a:ext>
                  </a:extLst>
                </a:gridCol>
                <a:gridCol w="1701375">
                  <a:extLst>
                    <a:ext uri="{9D8B030D-6E8A-4147-A177-3AD203B41FA5}">
                      <a16:colId xmlns:a16="http://schemas.microsoft.com/office/drawing/2014/main" val="3834251373"/>
                    </a:ext>
                  </a:extLst>
                </a:gridCol>
                <a:gridCol w="1701375">
                  <a:extLst>
                    <a:ext uri="{9D8B030D-6E8A-4147-A177-3AD203B41FA5}">
                      <a16:colId xmlns:a16="http://schemas.microsoft.com/office/drawing/2014/main" val="3733280666"/>
                    </a:ext>
                  </a:extLst>
                </a:gridCol>
                <a:gridCol w="1701375">
                  <a:extLst>
                    <a:ext uri="{9D8B030D-6E8A-4147-A177-3AD203B41FA5}">
                      <a16:colId xmlns:a16="http://schemas.microsoft.com/office/drawing/2014/main" val="3276187179"/>
                    </a:ext>
                  </a:extLst>
                </a:gridCol>
                <a:gridCol w="1701375">
                  <a:extLst>
                    <a:ext uri="{9D8B030D-6E8A-4147-A177-3AD203B41FA5}">
                      <a16:colId xmlns:a16="http://schemas.microsoft.com/office/drawing/2014/main" val="1572137941"/>
                    </a:ext>
                  </a:extLst>
                </a:gridCol>
              </a:tblGrid>
              <a:tr h="23837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endParaRPr kumimoji="1" lang="ja-JP" altLang="en-US" sz="1200" dirty="0">
                        <a:latin typeface="+mj-ea"/>
                        <a:ea typeface="+mj-ea"/>
                      </a:endParaRPr>
                    </a:p>
                  </a:txBody>
                  <a:tcPr>
                    <a:lnL w="12700"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a:r>
                        <a:rPr kumimoji="1" lang="en-US" altLang="ja-JP" sz="1400" b="1" dirty="0">
                          <a:solidFill>
                            <a:schemeClr val="bg1"/>
                          </a:solidFill>
                          <a:latin typeface="+mn-ea"/>
                          <a:ea typeface="+mn-ea"/>
                        </a:rPr>
                        <a:t>ASN.1</a:t>
                      </a:r>
                      <a:endParaRPr kumimoji="1" lang="ja-JP" altLang="en-US" sz="1400" b="1" dirty="0">
                        <a:solidFill>
                          <a:schemeClr val="bg1"/>
                        </a:solidFill>
                        <a:latin typeface="+mn-ea"/>
                        <a:ea typeface="+mn-ea"/>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a:r>
                        <a:rPr kumimoji="1" lang="en-US" altLang="ja-JP" sz="1400" b="1" dirty="0">
                          <a:solidFill>
                            <a:schemeClr val="bg1"/>
                          </a:solidFill>
                          <a:latin typeface="+mn-ea"/>
                          <a:ea typeface="+mn-ea"/>
                        </a:rPr>
                        <a:t>XML</a:t>
                      </a:r>
                      <a:endParaRPr kumimoji="1" lang="ja-JP" altLang="en-US" sz="1400" b="1" dirty="0">
                        <a:solidFill>
                          <a:schemeClr val="bg1"/>
                        </a:solidFill>
                        <a:latin typeface="+mn-ea"/>
                        <a:ea typeface="+mn-ea"/>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a:r>
                        <a:rPr kumimoji="1" lang="en-US" altLang="ja-JP" sz="1400" b="1" dirty="0">
                          <a:solidFill>
                            <a:schemeClr val="bg1"/>
                          </a:solidFill>
                          <a:latin typeface="+mn-ea"/>
                          <a:ea typeface="+mn-ea"/>
                        </a:rPr>
                        <a:t>JSON</a:t>
                      </a:r>
                      <a:endParaRPr kumimoji="1" lang="ja-JP" altLang="en-US" sz="1400" b="1" dirty="0">
                        <a:solidFill>
                          <a:schemeClr val="bg1"/>
                        </a:solidFill>
                        <a:latin typeface="+mn-ea"/>
                        <a:ea typeface="+mn-ea"/>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1" dirty="0">
                          <a:solidFill>
                            <a:schemeClr val="bg1"/>
                          </a:solidFill>
                          <a:latin typeface="+mn-ea"/>
                          <a:ea typeface="+mn-ea"/>
                        </a:rPr>
                        <a:t>JSON-LD</a:t>
                      </a:r>
                      <a:endParaRPr kumimoji="1" lang="ja-JP" altLang="en-US" sz="1400" b="1" dirty="0">
                        <a:solidFill>
                          <a:schemeClr val="bg1"/>
                        </a:solidFill>
                        <a:latin typeface="+mn-ea"/>
                        <a:ea typeface="+mn-ea"/>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ctr"/>
                      <a:r>
                        <a:rPr kumimoji="1" lang="en-US" altLang="ja-JP" sz="1400" b="1" dirty="0">
                          <a:solidFill>
                            <a:schemeClr val="bg1"/>
                          </a:solidFill>
                          <a:latin typeface="+mn-ea"/>
                          <a:ea typeface="+mn-ea"/>
                        </a:rPr>
                        <a:t>CBOR</a:t>
                      </a:r>
                      <a:endParaRPr kumimoji="1" lang="ja-JP" altLang="en-US" sz="1400" b="1" dirty="0">
                        <a:solidFill>
                          <a:schemeClr val="bg1"/>
                        </a:solidFill>
                        <a:latin typeface="+mn-ea"/>
                        <a:ea typeface="+mn-ea"/>
                      </a:endParaRPr>
                    </a:p>
                  </a:txBody>
                  <a:tcPr>
                    <a:lnL w="12700" cap="flat" cmpd="sng" algn="ctr">
                      <a:solidFill>
                        <a:schemeClr val="bg1"/>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409234771"/>
                  </a:ext>
                </a:extLst>
              </a:tr>
              <a:tr h="333729">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t>名称</a:t>
                      </a:r>
                      <a:endParaRPr kumimoji="1" lang="ja-JP" altLang="en-US" sz="1100" dirty="0">
                        <a:latin typeface="+mj-ea"/>
                        <a:ea typeface="+mj-ea"/>
                      </a:endParaRPr>
                    </a:p>
                  </a:txBody>
                  <a:tcPr marL="36000" marR="36000" marT="18000" marB="18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7CB0">
                        <a:lumMod val="20000"/>
                        <a:lumOff val="80000"/>
                      </a:srgb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dk1"/>
                          </a:solidFill>
                          <a:latin typeface="+mn-ea"/>
                          <a:ea typeface="+mn-ea"/>
                          <a:hlinkClick r:id="rId5"/>
                        </a:rPr>
                        <a:t>Abstract Syntax Notation One</a:t>
                      </a:r>
                      <a:endParaRPr kumimoji="1" lang="en-US" altLang="ja-JP" sz="1100" kern="1200" dirty="0">
                        <a:solidFill>
                          <a:schemeClr val="dk1"/>
                        </a:solidFill>
                        <a:latin typeface="+mn-ea"/>
                        <a:ea typeface="+mn-ea"/>
                        <a:cs typeface="+mn-cs"/>
                      </a:endParaRPr>
                    </a:p>
                  </a:txBody>
                  <a:tcPr marL="36000" marR="36000" marT="18000" marB="18000">
                    <a:lnL w="12700" cap="flat" cmpd="sng" algn="ctr">
                      <a:solidFill>
                        <a:schemeClr val="bg1">
                          <a:lumMod val="50000"/>
                        </a:scheme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100" kern="1200" dirty="0" err="1">
                          <a:solidFill>
                            <a:schemeClr val="dk1"/>
                          </a:solidFill>
                          <a:latin typeface="+mn-ea"/>
                          <a:ea typeface="+mn-ea"/>
                          <a:hlinkClick r:id="rId6"/>
                        </a:rPr>
                        <a:t>eXtensible</a:t>
                      </a:r>
                      <a:r>
                        <a:rPr kumimoji="1" lang="en-US" altLang="ja-JP" sz="1100" kern="1200" dirty="0">
                          <a:solidFill>
                            <a:schemeClr val="dk1"/>
                          </a:solidFill>
                          <a:latin typeface="+mn-ea"/>
                          <a:ea typeface="+mn-ea"/>
                          <a:hlinkClick r:id="rId6"/>
                        </a:rPr>
                        <a:t> Markup Language</a:t>
                      </a:r>
                      <a:endParaRPr kumimoji="1" lang="en-US" altLang="ja-JP" sz="1100" kern="1200" dirty="0">
                        <a:solidFill>
                          <a:schemeClr val="dk1"/>
                        </a:solidFill>
                        <a:latin typeface="+mn-ea"/>
                        <a:ea typeface="+mn-ea"/>
                        <a:cs typeface="+mn-cs"/>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dk1"/>
                          </a:solidFill>
                          <a:latin typeface="+mn-ea"/>
                          <a:ea typeface="+mn-ea"/>
                          <a:hlinkClick r:id="rId7"/>
                        </a:rPr>
                        <a:t>JavaScript Object Notation</a:t>
                      </a:r>
                      <a:endParaRPr kumimoji="1" lang="en-US" altLang="ja-JP" sz="1100" kern="1200" dirty="0">
                        <a:solidFill>
                          <a:schemeClr val="dk1"/>
                        </a:solidFill>
                        <a:latin typeface="+mn-ea"/>
                        <a:ea typeface="+mn-ea"/>
                        <a:cs typeface="+mn-cs"/>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dk1"/>
                          </a:solidFill>
                          <a:latin typeface="+mn-ea"/>
                          <a:ea typeface="+mn-ea"/>
                          <a:cs typeface="+mn-cs"/>
                          <a:hlinkClick r:id="rId8"/>
                        </a:rPr>
                        <a:t>JavaScript Object Notation</a:t>
                      </a:r>
                      <a:r>
                        <a:rPr kumimoji="1" lang="ja-JP" altLang="en-US" sz="1100" kern="1200" dirty="0">
                          <a:solidFill>
                            <a:schemeClr val="dk1"/>
                          </a:solidFill>
                          <a:latin typeface="+mn-ea"/>
                          <a:ea typeface="+mn-ea"/>
                          <a:cs typeface="+mn-cs"/>
                          <a:hlinkClick r:id="rId8"/>
                        </a:rPr>
                        <a:t> </a:t>
                      </a:r>
                      <a:r>
                        <a:rPr kumimoji="1" lang="en-US" altLang="ja-JP" sz="1100" kern="1200" dirty="0">
                          <a:solidFill>
                            <a:schemeClr val="dk1"/>
                          </a:solidFill>
                          <a:latin typeface="+mn-ea"/>
                          <a:ea typeface="+mn-ea"/>
                          <a:cs typeface="+mn-cs"/>
                          <a:hlinkClick r:id="rId8"/>
                        </a:rPr>
                        <a:t>Linked</a:t>
                      </a:r>
                      <a:r>
                        <a:rPr kumimoji="1" lang="ja-JP" altLang="en-US" sz="1100" kern="1200" dirty="0">
                          <a:solidFill>
                            <a:schemeClr val="dk1"/>
                          </a:solidFill>
                          <a:latin typeface="+mn-ea"/>
                          <a:ea typeface="+mn-ea"/>
                          <a:cs typeface="+mn-cs"/>
                          <a:hlinkClick r:id="rId8"/>
                        </a:rPr>
                        <a:t> </a:t>
                      </a:r>
                      <a:r>
                        <a:rPr kumimoji="1" lang="en-US" altLang="ja-JP" sz="1100" kern="1200" dirty="0">
                          <a:solidFill>
                            <a:schemeClr val="dk1"/>
                          </a:solidFill>
                          <a:latin typeface="+mn-ea"/>
                          <a:ea typeface="+mn-ea"/>
                          <a:cs typeface="+mn-cs"/>
                          <a:hlinkClick r:id="rId8"/>
                        </a:rPr>
                        <a:t>Data</a:t>
                      </a:r>
                      <a:endParaRPr kumimoji="1" lang="en-US" altLang="ja-JP" sz="1100" kern="1200" dirty="0">
                        <a:solidFill>
                          <a:schemeClr val="dk1"/>
                        </a:solidFill>
                        <a:latin typeface="+mn-ea"/>
                        <a:ea typeface="+mn-ea"/>
                        <a:cs typeface="+mn-cs"/>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dk1"/>
                          </a:solidFill>
                          <a:latin typeface="+mn-ea"/>
                          <a:ea typeface="+mn-ea"/>
                          <a:hlinkClick r:id="rId9"/>
                        </a:rPr>
                        <a:t>Concise Binary Object Representation</a:t>
                      </a:r>
                      <a:endParaRPr kumimoji="1" lang="en-US" altLang="ja-JP" sz="1100" kern="1200" dirty="0">
                        <a:solidFill>
                          <a:schemeClr val="dk1"/>
                        </a:solidFill>
                        <a:latin typeface="+mn-ea"/>
                        <a:ea typeface="+mn-ea"/>
                        <a:cs typeface="+mn-cs"/>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2248045"/>
                  </a:ext>
                </a:extLst>
              </a:tr>
              <a:tr h="72705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a:t>概要</a:t>
                      </a:r>
                      <a:endParaRPr kumimoji="1" lang="ja-JP" altLang="en-US" sz="110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007CB0">
                        <a:lumMod val="20000"/>
                        <a:lumOff val="80000"/>
                      </a:srgb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en-US" altLang="ja-JP" sz="1100" dirty="0"/>
                        <a:t>1988</a:t>
                      </a:r>
                      <a:r>
                        <a:rPr kumimoji="1" lang="ja-JP" altLang="en-US" sz="1100" dirty="0"/>
                        <a:t>年に</a:t>
                      </a:r>
                      <a:r>
                        <a:rPr kumimoji="1" lang="en-US" altLang="ja-JP" sz="1100" dirty="0"/>
                        <a:t>ITU</a:t>
                      </a:r>
                      <a:r>
                        <a:rPr kumimoji="1" lang="ja-JP" altLang="en-US" sz="1100" dirty="0"/>
                        <a:t>と</a:t>
                      </a:r>
                      <a:r>
                        <a:rPr kumimoji="1" lang="en-US" altLang="ja-JP" sz="1100" dirty="0"/>
                        <a:t>ISO</a:t>
                      </a:r>
                      <a:r>
                        <a:rPr kumimoji="1" lang="ja-JP" altLang="en-US" sz="1100" dirty="0"/>
                        <a:t>共同で策定された通信プロトコル用のデータフォーマット</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en-US" altLang="ja-JP" sz="1100" dirty="0"/>
                        <a:t>SGML</a:t>
                      </a:r>
                      <a:r>
                        <a:rPr kumimoji="1" lang="ja-JP" altLang="en-US" sz="1100" dirty="0"/>
                        <a:t>の拡張言語で、タグで挟むことで、データを表す。データ構造は</a:t>
                      </a:r>
                      <a:r>
                        <a:rPr kumimoji="1" lang="en-US" altLang="ja-JP" sz="1100" dirty="0"/>
                        <a:t>XML Schema</a:t>
                      </a:r>
                      <a:r>
                        <a:rPr kumimoji="1" lang="ja-JP" altLang="en-US" sz="1100" dirty="0"/>
                        <a:t>で定義</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en-US" altLang="ja-JP" sz="1100" dirty="0"/>
                        <a:t>JavaScript</a:t>
                      </a:r>
                      <a:r>
                        <a:rPr kumimoji="1" lang="ja-JP" altLang="en-US" sz="1100" dirty="0"/>
                        <a:t>のオブジェクト表記法のためフロントエンドでシームレスに利用できる。構造は</a:t>
                      </a:r>
                      <a:r>
                        <a:rPr kumimoji="1" lang="en-US" altLang="ja-JP" sz="1100" dirty="0"/>
                        <a:t>JSON Schema</a:t>
                      </a:r>
                      <a:r>
                        <a:rPr kumimoji="1" lang="ja-JP" altLang="en-US" sz="1100" dirty="0"/>
                        <a:t>等で定義</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l"/>
                      <a:r>
                        <a:rPr kumimoji="1" lang="en-US" altLang="ja-JP" sz="1100" kern="1200" dirty="0">
                          <a:solidFill>
                            <a:schemeClr val="tx1"/>
                          </a:solidFill>
                          <a:latin typeface="Calibri Light"/>
                          <a:ea typeface="Yu Gothic UI"/>
                          <a:cs typeface="+mn-cs"/>
                        </a:rPr>
                        <a:t>JSON</a:t>
                      </a:r>
                      <a:r>
                        <a:rPr kumimoji="1" lang="ja-JP" altLang="en-US" sz="1100" kern="1200" dirty="0">
                          <a:solidFill>
                            <a:schemeClr val="tx1"/>
                          </a:solidFill>
                          <a:latin typeface="Calibri Light"/>
                          <a:ea typeface="Yu Gothic UI"/>
                          <a:cs typeface="+mn-cs"/>
                        </a:rPr>
                        <a:t>を利用したデータ形式で、</a:t>
                      </a:r>
                      <a:r>
                        <a:rPr kumimoji="1" lang="en-US" altLang="ja-JP" sz="1100" kern="1200" dirty="0">
                          <a:solidFill>
                            <a:schemeClr val="tx1"/>
                          </a:solidFill>
                          <a:latin typeface="Calibri Light"/>
                          <a:ea typeface="Yu Gothic UI"/>
                          <a:cs typeface="+mn-cs"/>
                        </a:rPr>
                        <a:t>Web</a:t>
                      </a:r>
                      <a:r>
                        <a:rPr kumimoji="1" lang="ja-JP" altLang="en-US" sz="1100" kern="1200" dirty="0">
                          <a:solidFill>
                            <a:schemeClr val="tx1"/>
                          </a:solidFill>
                          <a:latin typeface="Calibri Light"/>
                          <a:ea typeface="Yu Gothic UI"/>
                          <a:cs typeface="+mn-cs"/>
                        </a:rPr>
                        <a:t>上のデータを構造化し、データ定義や関連性を明確に表現できる。</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en-US" altLang="ja-JP" sz="1100" dirty="0"/>
                        <a:t>JSON</a:t>
                      </a:r>
                      <a:r>
                        <a:rPr kumimoji="1" lang="ja-JP" altLang="en-US" sz="1100" dirty="0"/>
                        <a:t>と互換性があり、データフォーマット。認証器とクライアントを接続するプロトコルにも用いられる。構造は</a:t>
                      </a:r>
                      <a:r>
                        <a:rPr kumimoji="1" lang="en-US" altLang="ja-JP" sz="1100" dirty="0"/>
                        <a:t>CDDL</a:t>
                      </a:r>
                      <a:r>
                        <a:rPr kumimoji="1" lang="ja-JP" altLang="en-US" sz="1100" dirty="0"/>
                        <a:t>で定義</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181925439"/>
                  </a:ext>
                </a:extLst>
              </a:tr>
              <a:tr h="595945">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latin typeface="+mj-ea"/>
                          <a:ea typeface="+mj-ea"/>
                        </a:rPr>
                        <a:t>利用実態</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007CB0">
                        <a:lumMod val="20000"/>
                        <a:lumOff val="80000"/>
                      </a:srgb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en-US" altLang="ja-JP" sz="1100">
                          <a:solidFill>
                            <a:schemeClr val="tx1"/>
                          </a:solidFill>
                          <a:latin typeface="+mj-ea"/>
                          <a:ea typeface="+mj-ea"/>
                        </a:rPr>
                        <a:t>(</a:t>
                      </a:r>
                      <a:r>
                        <a:rPr kumimoji="1" lang="ja-JP" altLang="en-US" sz="1100">
                          <a:solidFill>
                            <a:schemeClr val="tx1"/>
                          </a:solidFill>
                          <a:latin typeface="+mj-ea"/>
                          <a:ea typeface="+mj-ea"/>
                        </a:rPr>
                        <a:t>低データ量で処理が高速な</a:t>
                      </a:r>
                      <a:r>
                        <a:rPr kumimoji="1" lang="en-US" altLang="ja-JP" sz="1100">
                          <a:solidFill>
                            <a:schemeClr val="tx1"/>
                          </a:solidFill>
                          <a:latin typeface="+mj-ea"/>
                          <a:ea typeface="+mj-ea"/>
                        </a:rPr>
                        <a:t>)</a:t>
                      </a:r>
                      <a:r>
                        <a:rPr kumimoji="1" lang="ja-JP" altLang="en-US" sz="1100">
                          <a:solidFill>
                            <a:schemeClr val="tx1"/>
                          </a:solidFill>
                          <a:latin typeface="+mj-ea"/>
                          <a:ea typeface="+mj-ea"/>
                        </a:rPr>
                        <a:t>バイナリデータが特徴、黎明期において利用されていた</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en-US" altLang="ja-JP" sz="1100" dirty="0">
                          <a:solidFill>
                            <a:schemeClr val="tx1"/>
                          </a:solidFill>
                          <a:latin typeface="+mj-ea"/>
                          <a:ea typeface="+mj-ea"/>
                        </a:rPr>
                        <a:t>ASN.1</a:t>
                      </a:r>
                      <a:r>
                        <a:rPr kumimoji="1" lang="ja-JP" altLang="en-US" sz="1100" dirty="0">
                          <a:solidFill>
                            <a:schemeClr val="tx1"/>
                          </a:solidFill>
                          <a:latin typeface="+mj-ea"/>
                          <a:ea typeface="+mj-ea"/>
                        </a:rPr>
                        <a:t>よりは可読性が高く、</a:t>
                      </a:r>
                      <a:r>
                        <a:rPr kumimoji="1" lang="en-US" altLang="ja-JP" sz="1100" dirty="0">
                          <a:solidFill>
                            <a:schemeClr val="tx1"/>
                          </a:solidFill>
                          <a:latin typeface="+mj-ea"/>
                          <a:ea typeface="+mj-ea"/>
                        </a:rPr>
                        <a:t>JSON</a:t>
                      </a:r>
                      <a:r>
                        <a:rPr kumimoji="1" lang="ja-JP" altLang="en-US" sz="1100" dirty="0">
                          <a:solidFill>
                            <a:schemeClr val="tx1"/>
                          </a:solidFill>
                          <a:latin typeface="+mj-ea"/>
                          <a:ea typeface="+mj-ea"/>
                        </a:rPr>
                        <a:t>普及前に一般的に利用されていた</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solidFill>
                            <a:schemeClr val="tx1"/>
                          </a:solidFill>
                          <a:latin typeface="+mj-ea"/>
                          <a:ea typeface="+mj-ea"/>
                        </a:rPr>
                        <a:t>可読性が高く、フロントエンドとの接続と相性が良く、現在主流のフォーマット</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l"/>
                      <a:r>
                        <a:rPr kumimoji="1" lang="en-US" altLang="ja-JP" sz="1100">
                          <a:solidFill>
                            <a:schemeClr val="tx1"/>
                          </a:solidFill>
                          <a:latin typeface="+mj-ea"/>
                          <a:ea typeface="+mj-ea"/>
                        </a:rPr>
                        <a:t>Web</a:t>
                      </a:r>
                      <a:r>
                        <a:rPr kumimoji="1" lang="ja-JP" altLang="en-US" sz="1100">
                          <a:solidFill>
                            <a:schemeClr val="tx1"/>
                          </a:solidFill>
                          <a:latin typeface="+mj-ea"/>
                          <a:ea typeface="+mj-ea"/>
                        </a:rPr>
                        <a:t>ページのデータを構造化することで、</a:t>
                      </a:r>
                      <a:r>
                        <a:rPr kumimoji="1" lang="en-US" altLang="ja-JP" sz="1100">
                          <a:solidFill>
                            <a:schemeClr val="tx1"/>
                          </a:solidFill>
                          <a:latin typeface="+mj-ea"/>
                          <a:ea typeface="+mj-ea"/>
                        </a:rPr>
                        <a:t>SEO</a:t>
                      </a:r>
                      <a:r>
                        <a:rPr kumimoji="1" lang="ja-JP" altLang="en-US" sz="1100">
                          <a:solidFill>
                            <a:schemeClr val="tx1"/>
                          </a:solidFill>
                          <a:latin typeface="+mj-ea"/>
                          <a:ea typeface="+mj-ea"/>
                        </a:rPr>
                        <a:t>対策に利用されている（</a:t>
                      </a:r>
                      <a:r>
                        <a:rPr kumimoji="1" lang="en-US" altLang="ja-JP" sz="1100">
                          <a:solidFill>
                            <a:schemeClr val="tx1"/>
                          </a:solidFill>
                          <a:latin typeface="+mj-ea"/>
                          <a:ea typeface="+mj-ea"/>
                        </a:rPr>
                        <a:t>Google</a:t>
                      </a:r>
                      <a:r>
                        <a:rPr kumimoji="1" lang="ja-JP" altLang="en-US" sz="1100">
                          <a:solidFill>
                            <a:schemeClr val="tx1"/>
                          </a:solidFill>
                          <a:latin typeface="+mj-ea"/>
                          <a:ea typeface="+mj-ea"/>
                        </a:rPr>
                        <a:t>検索で推奨）</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en-US" altLang="ja-JP" sz="1100">
                          <a:solidFill>
                            <a:schemeClr val="tx1"/>
                          </a:solidFill>
                          <a:latin typeface="+mj-ea"/>
                          <a:ea typeface="+mj-ea"/>
                        </a:rPr>
                        <a:t>IoT</a:t>
                      </a:r>
                      <a:r>
                        <a:rPr kumimoji="1" lang="ja-JP" altLang="en-US" sz="1100">
                          <a:solidFill>
                            <a:schemeClr val="tx1"/>
                          </a:solidFill>
                          <a:latin typeface="+mj-ea"/>
                          <a:ea typeface="+mj-ea"/>
                        </a:rPr>
                        <a:t>領域やスマートフォンのセキュア領域等低レイヤへの書き込みに利用されている</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249659799"/>
                  </a:ext>
                </a:extLst>
              </a:tr>
              <a:tr h="595945">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t>可読性</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007CB0">
                        <a:lumMod val="20000"/>
                        <a:lumOff val="80000"/>
                      </a:srgb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100" kern="1200">
                          <a:solidFill>
                            <a:schemeClr val="dk1"/>
                          </a:solidFill>
                        </a:rPr>
                        <a:t>独自色が強く、バイナリ形式のため可読性は低い</a:t>
                      </a:r>
                      <a:endParaRPr kumimoji="1" lang="ja-JP" altLang="en-US" sz="1100" kern="1200" dirty="0">
                        <a:solidFill>
                          <a:schemeClr val="dk1"/>
                        </a:solidFill>
                        <a:latin typeface="+mj-ea"/>
                        <a:ea typeface="+mj-ea"/>
                        <a:cs typeface="+mn-cs"/>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a:t>テキスト形式であり、項目名のタグで囲むため、可読性が高いが容量が大きくなりやすい</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t>テキスト形式であり、項目と値をコンパクトに定義できるため、可読性が高く容量が小さい</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100"/>
                        <a:t>テキスト形式であり、特定のデータの意味付けや関係性を定義できるため、</a:t>
                      </a:r>
                      <a:r>
                        <a:rPr kumimoji="1" lang="en-US" altLang="ja-JP" sz="1100"/>
                        <a:t>JSON</a:t>
                      </a:r>
                      <a:r>
                        <a:rPr kumimoji="1" lang="ja-JP" altLang="en-US" sz="1100"/>
                        <a:t>と比較して表現度が高い</a:t>
                      </a:r>
                      <a:endParaRPr kumimoji="1" lang="ja-JP" altLang="en-US" sz="1100" kern="1200">
                        <a:solidFill>
                          <a:schemeClr val="tx1"/>
                        </a:solidFill>
                        <a:latin typeface="+mj-ea"/>
                        <a:ea typeface="+mn-ea"/>
                        <a:cs typeface="+mn-cs"/>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100" kern="1200" dirty="0">
                          <a:solidFill>
                            <a:schemeClr val="dk1"/>
                          </a:solidFill>
                        </a:rPr>
                        <a:t>バイナリ形式のため可読性は低いが、コンパクトにまとめることが出来るためリソースの小さい</a:t>
                      </a:r>
                      <a:r>
                        <a:rPr kumimoji="1" lang="en-US" altLang="ja-JP" sz="1100" kern="1200" dirty="0">
                          <a:solidFill>
                            <a:schemeClr val="dk1"/>
                          </a:solidFill>
                        </a:rPr>
                        <a:t>IoT</a:t>
                      </a:r>
                      <a:r>
                        <a:rPr kumimoji="1" lang="ja-JP" altLang="en-US" sz="1100" kern="1200" dirty="0">
                          <a:solidFill>
                            <a:schemeClr val="dk1"/>
                          </a:solidFill>
                        </a:rPr>
                        <a:t>等に適する</a:t>
                      </a:r>
                      <a:endParaRPr kumimoji="1" lang="ja-JP" altLang="en-US" sz="1100" kern="1200" dirty="0">
                        <a:solidFill>
                          <a:schemeClr val="dk1"/>
                        </a:solidFill>
                        <a:latin typeface="+mj-ea"/>
                        <a:ea typeface="+mj-ea"/>
                        <a:cs typeface="+mn-cs"/>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4333936"/>
                  </a:ext>
                </a:extLst>
              </a:tr>
              <a:tr h="464837">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t>可用性</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007CB0">
                        <a:lumMod val="20000"/>
                        <a:lumOff val="80000"/>
                      </a:srgb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t>通信プロトコル等に使用されることが多く対応言語を選ぶ</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t>ほぼ全ての言語でサポート</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t>ほぼ全ての言語でサポート</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dirty="0"/>
                        <a:t>JSON-LD</a:t>
                      </a:r>
                      <a:r>
                        <a:rPr kumimoji="1" lang="ja-JP" altLang="en-US" sz="1100" dirty="0"/>
                        <a:t>固有のライブラリが必要、多くの言語で対応されている</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a:t>サポートは増えつつあるが、現時点では中程度</a:t>
                      </a:r>
                      <a:endParaRPr kumimoji="1" lang="ja-JP" altLang="en-US" sz="110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57506386"/>
                  </a:ext>
                </a:extLst>
              </a:tr>
              <a:tr h="464837">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t>パフォーマンス</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007CB0">
                        <a:lumMod val="20000"/>
                        <a:lumOff val="80000"/>
                      </a:srgb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a:t>高速に処理可能</a:t>
                      </a:r>
                      <a:br>
                        <a:rPr kumimoji="1" lang="en-US" altLang="ja-JP" sz="1100"/>
                      </a:br>
                      <a:r>
                        <a:rPr kumimoji="1" lang="ja-JP" altLang="en-US" sz="1100"/>
                        <a:t>（バイナリエンコードの場合）</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a:latin typeface="+mj-ea"/>
                          <a:ea typeface="+mj-ea"/>
                        </a:rPr>
                        <a:t>構造解析に時間がかかる</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a:latin typeface="+mj-ea"/>
                          <a:ea typeface="+mj-ea"/>
                        </a:rPr>
                        <a:t>バイナリ形式に劣るが</a:t>
                      </a:r>
                      <a:r>
                        <a:rPr kumimoji="1" lang="en-US" altLang="ja-JP" sz="1100">
                          <a:latin typeface="+mj-ea"/>
                          <a:ea typeface="+mj-ea"/>
                        </a:rPr>
                        <a:t>XML</a:t>
                      </a:r>
                      <a:r>
                        <a:rPr kumimoji="1" lang="ja-JP" altLang="en-US" sz="1100">
                          <a:latin typeface="+mj-ea"/>
                          <a:ea typeface="+mj-ea"/>
                        </a:rPr>
                        <a:t>よりも高速に処理可能</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en-US" altLang="ja-JP" sz="1100" dirty="0">
                          <a:latin typeface="+mj-ea"/>
                          <a:ea typeface="+mj-ea"/>
                        </a:rPr>
                        <a:t>JSON</a:t>
                      </a:r>
                      <a:r>
                        <a:rPr kumimoji="1" lang="ja-JP" altLang="en-US" sz="1100" dirty="0">
                          <a:latin typeface="+mj-ea"/>
                          <a:ea typeface="+mj-ea"/>
                        </a:rPr>
                        <a:t>と比較して構造が複雑化しやすいがパフォーマンス的な差異は小さい</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t>高速に処理可能</a:t>
                      </a:r>
                      <a:endParaRPr kumimoji="1" lang="ja-JP" altLang="en-US" sz="1100" dirty="0">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2768614"/>
                  </a:ext>
                </a:extLst>
              </a:tr>
              <a:tr h="333729">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solidFill>
                            <a:schemeClr val="tx1"/>
                          </a:solidFill>
                        </a:rPr>
                        <a:t>利用ケース</a:t>
                      </a:r>
                      <a:endParaRPr kumimoji="1" lang="ja-JP" altLang="en-US" sz="1100" dirty="0">
                        <a:solidFill>
                          <a:schemeClr val="tx1"/>
                        </a:solidFill>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007CB0">
                        <a:lumMod val="20000"/>
                        <a:lumOff val="80000"/>
                      </a:srgb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solidFill>
                            <a:schemeClr val="tx1"/>
                          </a:solidFill>
                        </a:rPr>
                        <a:t>通信プロトコル</a:t>
                      </a:r>
                      <a:r>
                        <a:rPr kumimoji="1" lang="en-US" altLang="ja-JP" sz="1100" dirty="0">
                          <a:solidFill>
                            <a:schemeClr val="tx1"/>
                          </a:solidFill>
                        </a:rPr>
                        <a:t>(SMTP</a:t>
                      </a:r>
                      <a:r>
                        <a:rPr kumimoji="1" lang="ja-JP" altLang="en-US" sz="1100" dirty="0">
                          <a:solidFill>
                            <a:schemeClr val="tx1"/>
                          </a:solidFill>
                        </a:rPr>
                        <a:t>、</a:t>
                      </a:r>
                      <a:r>
                        <a:rPr kumimoji="1" lang="en-US" altLang="ja-JP" sz="1100" dirty="0">
                          <a:solidFill>
                            <a:schemeClr val="tx1"/>
                          </a:solidFill>
                        </a:rPr>
                        <a:t>LDAP)</a:t>
                      </a:r>
                      <a:r>
                        <a:rPr kumimoji="1" lang="ja-JP" altLang="en-US" sz="1100" dirty="0">
                          <a:solidFill>
                            <a:schemeClr val="tx1"/>
                          </a:solidFill>
                        </a:rPr>
                        <a:t>、データ交換</a:t>
                      </a:r>
                      <a:endParaRPr kumimoji="1" lang="ja-JP" altLang="en-US" sz="1100" dirty="0">
                        <a:solidFill>
                          <a:schemeClr val="tx1"/>
                        </a:solidFill>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ja-JP" altLang="en-US" sz="1100" dirty="0">
                          <a:solidFill>
                            <a:schemeClr val="tx1"/>
                          </a:solidFill>
                        </a:rPr>
                        <a:t>複雑な文書、</a:t>
                      </a:r>
                      <a:r>
                        <a:rPr kumimoji="1" lang="en-US" altLang="ja-JP" sz="1100" dirty="0">
                          <a:solidFill>
                            <a:schemeClr val="tx1"/>
                          </a:solidFill>
                        </a:rPr>
                        <a:t>SOAP</a:t>
                      </a:r>
                      <a:r>
                        <a:rPr kumimoji="1" lang="ja-JP" altLang="en-US" sz="1100" dirty="0">
                          <a:solidFill>
                            <a:schemeClr val="tx1"/>
                          </a:solidFill>
                        </a:rPr>
                        <a:t>、設定ファイル</a:t>
                      </a:r>
                      <a:endParaRPr kumimoji="1" lang="ja-JP" altLang="en-US" sz="1100" dirty="0">
                        <a:solidFill>
                          <a:schemeClr val="tx1"/>
                        </a:solidFill>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en-US" altLang="ja-JP" sz="1100" dirty="0">
                          <a:solidFill>
                            <a:schemeClr val="tx1"/>
                          </a:solidFill>
                        </a:rPr>
                        <a:t>Web API</a:t>
                      </a:r>
                      <a:r>
                        <a:rPr kumimoji="1" lang="ja-JP" altLang="en-US" sz="1100" dirty="0">
                          <a:solidFill>
                            <a:schemeClr val="tx1"/>
                          </a:solidFill>
                        </a:rPr>
                        <a:t>、設定ファイル、データ交換</a:t>
                      </a:r>
                      <a:endParaRPr kumimoji="1" lang="ja-JP" altLang="en-US" sz="1100" dirty="0">
                        <a:solidFill>
                          <a:schemeClr val="tx1"/>
                        </a:solidFill>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100" kern="1200" dirty="0">
                          <a:solidFill>
                            <a:schemeClr val="tx1"/>
                          </a:solidFill>
                        </a:rPr>
                        <a:t>検索エンジン、データ連携、セマンティック</a:t>
                      </a:r>
                      <a:r>
                        <a:rPr kumimoji="1" lang="en-US" altLang="ja-JP" sz="1100" kern="1200" dirty="0">
                          <a:solidFill>
                            <a:schemeClr val="tx1"/>
                          </a:solidFill>
                        </a:rPr>
                        <a:t>Web</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algn="l"/>
                      <a:r>
                        <a:rPr kumimoji="1" lang="en-US" altLang="ja-JP" sz="1100" kern="1200" dirty="0">
                          <a:solidFill>
                            <a:schemeClr val="tx1"/>
                          </a:solidFill>
                        </a:rPr>
                        <a:t>IoT</a:t>
                      </a:r>
                      <a:r>
                        <a:rPr kumimoji="1" lang="ja-JP" altLang="en-US" sz="1100" kern="1200" dirty="0">
                          <a:solidFill>
                            <a:schemeClr val="tx1"/>
                          </a:solidFill>
                        </a:rPr>
                        <a:t>デバイス、</a:t>
                      </a:r>
                      <a:r>
                        <a:rPr kumimoji="1" lang="en-US" altLang="ja-JP" sz="1100" kern="1200" dirty="0" err="1">
                          <a:solidFill>
                            <a:schemeClr val="tx1"/>
                          </a:solidFill>
                        </a:rPr>
                        <a:t>WebAuthn</a:t>
                      </a:r>
                      <a:r>
                        <a:rPr kumimoji="1" lang="ja-JP" altLang="en-US" sz="1100" kern="1200" dirty="0">
                          <a:solidFill>
                            <a:schemeClr val="tx1"/>
                          </a:solidFill>
                        </a:rPr>
                        <a:t>、</a:t>
                      </a:r>
                      <a:r>
                        <a:rPr kumimoji="1" lang="en-US" altLang="ja-JP" sz="1100" kern="1200" dirty="0">
                          <a:solidFill>
                            <a:schemeClr val="tx1"/>
                          </a:solidFill>
                        </a:rPr>
                        <a:t>CTAP</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8735"/>
                  </a:ext>
                </a:extLst>
              </a:tr>
              <a:tr h="333729">
                <a:tc>
                  <a:txBody>
                    <a:bodyPr/>
                    <a:lstStyle/>
                    <a:p>
                      <a:pPr algn="l"/>
                      <a:r>
                        <a:rPr kumimoji="1" lang="ja-JP" altLang="en-US" sz="1100" dirty="0">
                          <a:solidFill>
                            <a:schemeClr val="tx1"/>
                          </a:solidFill>
                          <a:latin typeface="+mj-ea"/>
                          <a:ea typeface="+mj-ea"/>
                        </a:rPr>
                        <a:t>証明書利用</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007CB0">
                        <a:lumMod val="20000"/>
                        <a:lumOff val="80000"/>
                      </a:srgbClr>
                    </a:solidFill>
                  </a:tcPr>
                </a:tc>
                <a:tc>
                  <a:txBody>
                    <a:bodyPr/>
                    <a:lstStyle/>
                    <a:p>
                      <a:pPr algn="ctr"/>
                      <a:r>
                        <a:rPr kumimoji="1" lang="en-US" altLang="ja-JP" sz="1100" dirty="0">
                          <a:solidFill>
                            <a:schemeClr val="tx1"/>
                          </a:solidFill>
                          <a:latin typeface="+mj-ea"/>
                          <a:ea typeface="+mj-ea"/>
                        </a:rPr>
                        <a:t>×</a:t>
                      </a:r>
                      <a:endParaRPr kumimoji="1" lang="ja-JP" altLang="en-US" sz="1100" dirty="0">
                        <a:solidFill>
                          <a:schemeClr val="tx1"/>
                        </a:solidFill>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100" dirty="0">
                          <a:solidFill>
                            <a:schemeClr val="tx1"/>
                          </a:solidFill>
                          <a:latin typeface="+mj-ea"/>
                          <a:ea typeface="+mj-ea"/>
                        </a:rPr>
                        <a:t>×</a:t>
                      </a:r>
                      <a:endParaRPr kumimoji="1" lang="ja-JP" altLang="en-US" sz="1100" dirty="0">
                        <a:solidFill>
                          <a:schemeClr val="tx1"/>
                        </a:solidFill>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100" dirty="0">
                          <a:solidFill>
                            <a:schemeClr val="tx1"/>
                          </a:solidFill>
                          <a:latin typeface="+mj-ea"/>
                          <a:ea typeface="+mj-ea"/>
                        </a:rPr>
                        <a:t>〇</a:t>
                      </a:r>
                      <a:endParaRPr kumimoji="1" lang="en-US" altLang="ja-JP" sz="1100" dirty="0">
                        <a:solidFill>
                          <a:schemeClr val="tx1"/>
                        </a:solidFill>
                        <a:latin typeface="+mj-ea"/>
                        <a:ea typeface="+mj-ea"/>
                      </a:endParaRPr>
                    </a:p>
                    <a:p>
                      <a:pPr algn="ctr"/>
                      <a:r>
                        <a:rPr kumimoji="1" lang="en-US" altLang="ja-JP" sz="1100" dirty="0">
                          <a:solidFill>
                            <a:schemeClr val="tx1"/>
                          </a:solidFill>
                          <a:latin typeface="+mj-ea"/>
                          <a:ea typeface="+mj-ea"/>
                        </a:rPr>
                        <a:t>(</a:t>
                      </a:r>
                      <a:r>
                        <a:rPr kumimoji="1" lang="ja-JP" altLang="en-US" sz="1100" dirty="0">
                          <a:solidFill>
                            <a:schemeClr val="tx1"/>
                          </a:solidFill>
                          <a:latin typeface="+mj-ea"/>
                          <a:ea typeface="+mj-ea"/>
                        </a:rPr>
                        <a:t>主に</a:t>
                      </a:r>
                      <a:r>
                        <a:rPr kumimoji="1" lang="en-US" altLang="ja-JP" sz="1100" dirty="0">
                          <a:solidFill>
                            <a:schemeClr val="tx1"/>
                          </a:solidFill>
                          <a:latin typeface="+mj-ea"/>
                          <a:ea typeface="+mj-ea"/>
                        </a:rPr>
                        <a:t>VC</a:t>
                      </a:r>
                      <a:r>
                        <a:rPr kumimoji="1" lang="ja-JP" altLang="en-US" sz="1100" dirty="0">
                          <a:solidFill>
                            <a:schemeClr val="tx1"/>
                          </a:solidFill>
                          <a:latin typeface="+mj-ea"/>
                          <a:ea typeface="+mj-ea"/>
                        </a:rPr>
                        <a:t>で活用</a:t>
                      </a:r>
                      <a:r>
                        <a:rPr kumimoji="1" lang="en-US" altLang="ja-JP" sz="1100" dirty="0">
                          <a:solidFill>
                            <a:schemeClr val="tx1"/>
                          </a:solidFill>
                          <a:latin typeface="+mj-ea"/>
                          <a:ea typeface="+mj-ea"/>
                        </a:rPr>
                        <a:t>)</a:t>
                      </a:r>
                      <a:endParaRPr kumimoji="1" lang="ja-JP" altLang="en-US" sz="1100" dirty="0">
                        <a:solidFill>
                          <a:schemeClr val="tx1"/>
                        </a:solidFill>
                        <a:latin typeface="+mj-ea"/>
                        <a:ea typeface="+mj-ea"/>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100" kern="1200">
                          <a:solidFill>
                            <a:schemeClr val="tx1"/>
                          </a:solidFill>
                          <a:latin typeface="+mj-ea"/>
                          <a:ea typeface="+mn-ea"/>
                          <a:cs typeface="+mn-cs"/>
                        </a:rPr>
                        <a:t>〇</a:t>
                      </a:r>
                      <a:endParaRPr kumimoji="1" lang="en-US" altLang="ja-JP" sz="1100" kern="1200">
                        <a:solidFill>
                          <a:schemeClr val="tx1"/>
                        </a:solidFill>
                        <a:latin typeface="+mj-ea"/>
                        <a:ea typeface="+mn-ea"/>
                        <a:cs typeface="+mn-cs"/>
                      </a:endParaRPr>
                    </a:p>
                    <a:p>
                      <a:pPr algn="ctr"/>
                      <a:r>
                        <a:rPr kumimoji="1" lang="en-US" altLang="ja-JP" sz="1100" kern="1200">
                          <a:solidFill>
                            <a:schemeClr val="tx1"/>
                          </a:solidFill>
                          <a:latin typeface="+mj-ea"/>
                          <a:ea typeface="+mn-ea"/>
                          <a:cs typeface="+mn-cs"/>
                        </a:rPr>
                        <a:t>(</a:t>
                      </a:r>
                      <a:r>
                        <a:rPr kumimoji="1" lang="ja-JP" altLang="en-US" sz="1100" kern="1200">
                          <a:solidFill>
                            <a:schemeClr val="tx1"/>
                          </a:solidFill>
                          <a:latin typeface="+mj-ea"/>
                          <a:ea typeface="+mn-ea"/>
                          <a:cs typeface="+mn-cs"/>
                        </a:rPr>
                        <a:t>主に</a:t>
                      </a:r>
                      <a:r>
                        <a:rPr kumimoji="1" lang="en-US" altLang="ja-JP" sz="1100" kern="1200">
                          <a:solidFill>
                            <a:schemeClr val="tx1"/>
                          </a:solidFill>
                          <a:latin typeface="+mj-ea"/>
                          <a:ea typeface="+mn-ea"/>
                          <a:cs typeface="+mn-cs"/>
                        </a:rPr>
                        <a:t>SEO</a:t>
                      </a:r>
                      <a:r>
                        <a:rPr kumimoji="1" lang="ja-JP" altLang="en-US" sz="1100" kern="1200">
                          <a:solidFill>
                            <a:schemeClr val="tx1"/>
                          </a:solidFill>
                          <a:latin typeface="+mj-ea"/>
                          <a:ea typeface="+mn-ea"/>
                          <a:cs typeface="+mn-cs"/>
                        </a:rPr>
                        <a:t>対策</a:t>
                      </a:r>
                      <a:r>
                        <a:rPr kumimoji="1" lang="en-US" altLang="ja-JP" sz="1100" kern="1200">
                          <a:solidFill>
                            <a:schemeClr val="tx1"/>
                          </a:solidFill>
                          <a:latin typeface="+mj-ea"/>
                          <a:ea typeface="+mn-ea"/>
                          <a:cs typeface="+mn-cs"/>
                        </a:rPr>
                        <a:t>,VC</a:t>
                      </a:r>
                      <a:r>
                        <a:rPr kumimoji="1" lang="ja-JP" altLang="en-US" sz="1100" kern="1200">
                          <a:solidFill>
                            <a:schemeClr val="tx1"/>
                          </a:solidFill>
                          <a:latin typeface="+mj-ea"/>
                          <a:ea typeface="+mn-ea"/>
                          <a:cs typeface="+mn-cs"/>
                        </a:rPr>
                        <a:t>で活用</a:t>
                      </a:r>
                      <a:r>
                        <a:rPr kumimoji="1" lang="en-US" altLang="ja-JP" sz="1100" kern="1200">
                          <a:solidFill>
                            <a:schemeClr val="tx1"/>
                          </a:solidFill>
                          <a:latin typeface="+mj-ea"/>
                          <a:ea typeface="+mn-ea"/>
                          <a:cs typeface="+mn-cs"/>
                        </a:rPr>
                        <a:t>)</a:t>
                      </a:r>
                      <a:endParaRPr kumimoji="1" lang="en-US" altLang="ja-JP" sz="1100" kern="1200" dirty="0">
                        <a:solidFill>
                          <a:schemeClr val="tx1"/>
                        </a:solidFill>
                      </a:endParaRP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100" kern="1200" dirty="0">
                          <a:solidFill>
                            <a:schemeClr val="tx1"/>
                          </a:solidFill>
                        </a:rPr>
                        <a:t>〇</a:t>
                      </a:r>
                      <a:endParaRPr kumimoji="1" lang="en-US" altLang="ja-JP" sz="1100" kern="1200" dirty="0">
                        <a:solidFill>
                          <a:schemeClr val="tx1"/>
                        </a:solidFill>
                      </a:endParaRPr>
                    </a:p>
                    <a:p>
                      <a:pPr algn="ctr"/>
                      <a:r>
                        <a:rPr kumimoji="1" lang="en-US" altLang="ja-JP" sz="1100" kern="1200" dirty="0">
                          <a:solidFill>
                            <a:schemeClr val="tx1"/>
                          </a:solidFill>
                        </a:rPr>
                        <a:t>(</a:t>
                      </a:r>
                      <a:r>
                        <a:rPr kumimoji="1" lang="ja-JP" altLang="en-US" sz="1100" kern="1200" dirty="0">
                          <a:solidFill>
                            <a:schemeClr val="tx1"/>
                          </a:solidFill>
                        </a:rPr>
                        <a:t>主にｍ</a:t>
                      </a:r>
                      <a:r>
                        <a:rPr kumimoji="1" lang="en-US" altLang="ja-JP" sz="1100" kern="1200" dirty="0">
                          <a:solidFill>
                            <a:schemeClr val="tx1"/>
                          </a:solidFill>
                        </a:rPr>
                        <a:t>DL</a:t>
                      </a:r>
                      <a:r>
                        <a:rPr kumimoji="1" lang="ja-JP" altLang="en-US" sz="1100" kern="1200" dirty="0">
                          <a:solidFill>
                            <a:schemeClr val="tx1"/>
                          </a:solidFill>
                        </a:rPr>
                        <a:t>で活用</a:t>
                      </a:r>
                      <a:r>
                        <a:rPr kumimoji="1" lang="en-US" altLang="ja-JP" sz="1100" kern="1200" dirty="0">
                          <a:solidFill>
                            <a:schemeClr val="tx1"/>
                          </a:solidFill>
                        </a:rPr>
                        <a:t>)</a:t>
                      </a:r>
                    </a:p>
                  </a:txBody>
                  <a:tcPr marL="36000" marR="36000" marT="18000" marB="18000">
                    <a:lnL w="12700" cap="flat" cmpd="sng" algn="ctr">
                      <a:solidFill>
                        <a:sysClr val="window" lastClr="FFFFFF">
                          <a:lumMod val="50000"/>
                        </a:sysClr>
                      </a:solidFill>
                      <a:prstDash val="solid"/>
                      <a:round/>
                      <a:headEnd type="none" w="med" len="med"/>
                      <a:tailEnd type="none" w="med" len="med"/>
                    </a:lnL>
                    <a:lnR w="12700" cap="flat" cmpd="sng" algn="ctr">
                      <a:solidFill>
                        <a:sysClr val="window" lastClr="FFFFFF">
                          <a:lumMod val="50000"/>
                        </a:sysClr>
                      </a:solidFill>
                      <a:prstDash val="solid"/>
                      <a:round/>
                      <a:headEnd type="none" w="med" len="med"/>
                      <a:tailEnd type="none" w="med" len="med"/>
                    </a:lnR>
                    <a:lnT w="12700" cap="flat" cmpd="sng" algn="ctr">
                      <a:solidFill>
                        <a:sysClr val="window" lastClr="FFFFFF">
                          <a:lumMod val="50000"/>
                        </a:sysClr>
                      </a:solidFill>
                      <a:prstDash val="solid"/>
                      <a:round/>
                      <a:headEnd type="none" w="med" len="med"/>
                      <a:tailEnd type="none" w="med" len="med"/>
                    </a:lnT>
                    <a:lnB w="1270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1486605"/>
                  </a:ext>
                </a:extLst>
              </a:tr>
            </a:tbl>
          </a:graphicData>
        </a:graphic>
      </p:graphicFrame>
    </p:spTree>
    <p:extLst>
      <p:ext uri="{BB962C8B-B14F-4D97-AF65-F5344CB8AC3E}">
        <p14:creationId xmlns:p14="http://schemas.microsoft.com/office/powerpoint/2010/main" val="2847068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FDF59F3-F0AD-2B75-50D3-C12AB438FDA0}"/>
              </a:ext>
            </a:extLst>
          </p:cNvPr>
          <p:cNvGraphicFramePr>
            <a:graphicFrameLocks noChangeAspect="1"/>
          </p:cNvGraphicFramePr>
          <p:nvPr>
            <p:custDataLst>
              <p:tags r:id="rId1"/>
            </p:custDataLst>
            <p:extLst>
              <p:ext uri="{D42A27DB-BD31-4B8C-83A1-F6EECF244321}">
                <p14:modId xmlns:p14="http://schemas.microsoft.com/office/powerpoint/2010/main" val="3584831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360" imgH="360" progId="TCLayout.ActiveDocument.1">
                  <p:embed/>
                </p:oleObj>
              </mc:Choice>
              <mc:Fallback>
                <p:oleObj name="think-cell スライド" r:id="rId4" imgW="360" imgH="360" progId="TCLayout.ActiveDocument.1">
                  <p:embed/>
                  <p:pic>
                    <p:nvPicPr>
                      <p:cNvPr id="7" name="think-cell data - do not delete" hidden="1">
                        <a:extLst>
                          <a:ext uri="{FF2B5EF4-FFF2-40B4-BE49-F238E27FC236}">
                            <a16:creationId xmlns:a16="http://schemas.microsoft.com/office/drawing/2014/main" id="{8FDF59F3-F0AD-2B75-50D3-C12AB438FD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BB0EFA94-41E3-2B9A-F343-AC37A14FF8B5}"/>
              </a:ext>
            </a:extLst>
          </p:cNvPr>
          <p:cNvSpPr>
            <a:spLocks noGrp="1"/>
          </p:cNvSpPr>
          <p:nvPr>
            <p:ph type="title"/>
          </p:nvPr>
        </p:nvSpPr>
        <p:spPr>
          <a:xfrm>
            <a:off x="273049" y="447475"/>
            <a:ext cx="9275397" cy="246221"/>
          </a:xfrm>
        </p:spPr>
        <p:txBody>
          <a:bodyPr vert="horz"/>
          <a:lstStyle/>
          <a:p>
            <a:r>
              <a:rPr kumimoji="1" lang="en-US" altLang="ja-JP" sz="1600" dirty="0"/>
              <a:t>5.2. </a:t>
            </a:r>
            <a:r>
              <a:rPr kumimoji="1" lang="ja-JP" altLang="en-US" sz="1600" dirty="0"/>
              <a:t>規格・実装方式の詳細 </a:t>
            </a:r>
            <a:r>
              <a:rPr kumimoji="1" lang="en-US" altLang="ja-JP" sz="1600" dirty="0"/>
              <a:t>- (2)</a:t>
            </a:r>
            <a:r>
              <a:rPr kumimoji="1" lang="ja-JP" altLang="en-US" sz="1600" dirty="0"/>
              <a:t> アイデンティティサービスを構築する場合に基準とされる証書モデル</a:t>
            </a:r>
            <a:r>
              <a:rPr kumimoji="1" lang="ja-JP" altLang="en-US" dirty="0"/>
              <a:t>の</a:t>
            </a:r>
            <a:r>
              <a:rPr kumimoji="1" lang="ja-JP" altLang="en-US" sz="1600" dirty="0"/>
              <a:t>規格</a:t>
            </a:r>
            <a:r>
              <a:rPr kumimoji="1" lang="en-US" altLang="ja-JP" sz="1600" dirty="0"/>
              <a:t>(1/2)</a:t>
            </a:r>
            <a:endParaRPr kumimoji="1" lang="ja-JP" altLang="en-US" dirty="0"/>
          </a:p>
        </p:txBody>
      </p:sp>
      <p:sp>
        <p:nvSpPr>
          <p:cNvPr id="3" name="テキスト プレースホルダー 2">
            <a:extLst>
              <a:ext uri="{FF2B5EF4-FFF2-40B4-BE49-F238E27FC236}">
                <a16:creationId xmlns:a16="http://schemas.microsoft.com/office/drawing/2014/main" id="{1C632408-D9C9-6738-8945-7CDBB6FDD4E8}"/>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44" name="テキスト ボックス 43">
            <a:extLst>
              <a:ext uri="{FF2B5EF4-FFF2-40B4-BE49-F238E27FC236}">
                <a16:creationId xmlns:a16="http://schemas.microsoft.com/office/drawing/2014/main" id="{9BD9E967-59AC-7A0C-D5E7-E5A160A1B1F5}"/>
              </a:ext>
            </a:extLst>
          </p:cNvPr>
          <p:cNvSpPr txBox="1"/>
          <p:nvPr/>
        </p:nvSpPr>
        <p:spPr>
          <a:xfrm>
            <a:off x="645183" y="1503934"/>
            <a:ext cx="2053447" cy="215444"/>
          </a:xfrm>
          <a:prstGeom prst="rect">
            <a:avLst/>
          </a:prstGeom>
          <a:noFill/>
        </p:spPr>
        <p:txBody>
          <a:bodyPr wrap="none" lIns="0" tIns="0" rIns="0" bIns="0" rtlCol="0">
            <a:spAutoFit/>
          </a:bodyPr>
          <a:lstStyle/>
          <a:p>
            <a:r>
              <a:rPr kumimoji="1" lang="en-US" altLang="ja-JP" sz="1400" b="1" dirty="0">
                <a:latin typeface="+mn-ea"/>
                <a:ea typeface="+mn-ea"/>
              </a:rPr>
              <a:t>VC</a:t>
            </a:r>
            <a:r>
              <a:rPr lang="ja-JP" altLang="en-US" sz="1400" b="1" dirty="0">
                <a:latin typeface="+mn-ea"/>
                <a:ea typeface="+mn-ea"/>
              </a:rPr>
              <a:t> </a:t>
            </a:r>
            <a:r>
              <a:rPr lang="en-US" altLang="ja-JP" sz="1400" b="1" dirty="0">
                <a:latin typeface="+mn-ea"/>
                <a:ea typeface="+mn-ea"/>
              </a:rPr>
              <a:t>(Verifiable Credential)</a:t>
            </a:r>
            <a:endParaRPr kumimoji="1" lang="ja-JP" altLang="en-US" sz="1400" b="1" dirty="0">
              <a:latin typeface="+mn-ea"/>
              <a:ea typeface="+mn-ea"/>
            </a:endParaRPr>
          </a:p>
        </p:txBody>
      </p:sp>
      <p:sp>
        <p:nvSpPr>
          <p:cNvPr id="45" name="テキスト ボックス 44">
            <a:extLst>
              <a:ext uri="{FF2B5EF4-FFF2-40B4-BE49-F238E27FC236}">
                <a16:creationId xmlns:a16="http://schemas.microsoft.com/office/drawing/2014/main" id="{1A7C1758-C626-7365-C0C4-68A107A5428B}"/>
              </a:ext>
            </a:extLst>
          </p:cNvPr>
          <p:cNvSpPr txBox="1"/>
          <p:nvPr/>
        </p:nvSpPr>
        <p:spPr>
          <a:xfrm>
            <a:off x="5818676" y="1503934"/>
            <a:ext cx="2236190" cy="215444"/>
          </a:xfrm>
          <a:prstGeom prst="rect">
            <a:avLst/>
          </a:prstGeom>
          <a:noFill/>
        </p:spPr>
        <p:txBody>
          <a:bodyPr wrap="none" lIns="0" tIns="0" rIns="0" bIns="0" rtlCol="0">
            <a:spAutoFit/>
          </a:bodyPr>
          <a:lstStyle/>
          <a:p>
            <a:r>
              <a:rPr kumimoji="1" lang="en-US" altLang="ja-JP" sz="1400" b="1" dirty="0">
                <a:latin typeface="+mn-ea"/>
                <a:ea typeface="+mn-ea"/>
              </a:rPr>
              <a:t>VP</a:t>
            </a:r>
            <a:r>
              <a:rPr lang="ja-JP" altLang="en-US" sz="1400" b="1" dirty="0">
                <a:latin typeface="+mn-ea"/>
                <a:ea typeface="+mn-ea"/>
              </a:rPr>
              <a:t> </a:t>
            </a:r>
            <a:r>
              <a:rPr lang="en-US" altLang="ja-JP" sz="1400" b="1" dirty="0">
                <a:latin typeface="+mn-ea"/>
                <a:ea typeface="+mn-ea"/>
              </a:rPr>
              <a:t>(Verifiable Presentation)</a:t>
            </a:r>
            <a:endParaRPr kumimoji="1" lang="ja-JP" altLang="en-US" sz="1400" b="1" dirty="0">
              <a:latin typeface="+mn-ea"/>
              <a:ea typeface="+mn-ea"/>
            </a:endParaRPr>
          </a:p>
        </p:txBody>
      </p:sp>
      <p:sp>
        <p:nvSpPr>
          <p:cNvPr id="46" name="テキスト ボックス 45">
            <a:extLst>
              <a:ext uri="{FF2B5EF4-FFF2-40B4-BE49-F238E27FC236}">
                <a16:creationId xmlns:a16="http://schemas.microsoft.com/office/drawing/2014/main" id="{F892A8FA-7C9D-10A0-356A-D86EE0EED44B}"/>
              </a:ext>
            </a:extLst>
          </p:cNvPr>
          <p:cNvSpPr txBox="1"/>
          <p:nvPr/>
        </p:nvSpPr>
        <p:spPr>
          <a:xfrm>
            <a:off x="730686" y="1769723"/>
            <a:ext cx="3796436" cy="553998"/>
          </a:xfrm>
          <a:prstGeom prst="rect">
            <a:avLst/>
          </a:prstGeom>
          <a:noFill/>
        </p:spPr>
        <p:txBody>
          <a:bodyPr wrap="square" lIns="0" tIns="0" rIns="0" bIns="0" rtlCol="0">
            <a:spAutoFit/>
          </a:bodyPr>
          <a:lstStyle/>
          <a:p>
            <a:r>
              <a:rPr kumimoji="1" lang="ja-JP" altLang="en-US" sz="1200" dirty="0">
                <a:latin typeface="+mn-ea"/>
                <a:ea typeface="+mn-ea"/>
              </a:rPr>
              <a:t>特定の主張（例えば、個人の名前や年齢、組織の所在地等）について、それが信頼できる発行者から発行されたものであることを証明するデジタル証明書の</a:t>
            </a:r>
            <a:r>
              <a:rPr lang="ja-JP" altLang="en-US" sz="1200" dirty="0">
                <a:latin typeface="+mn-ea"/>
                <a:ea typeface="+mn-ea"/>
              </a:rPr>
              <a:t>一種</a:t>
            </a:r>
            <a:endParaRPr kumimoji="1" lang="ja-JP" altLang="en-US" sz="1200" dirty="0">
              <a:latin typeface="+mn-ea"/>
              <a:ea typeface="+mn-ea"/>
            </a:endParaRPr>
          </a:p>
        </p:txBody>
      </p:sp>
      <p:sp>
        <p:nvSpPr>
          <p:cNvPr id="47" name="テキスト ボックス 46">
            <a:extLst>
              <a:ext uri="{FF2B5EF4-FFF2-40B4-BE49-F238E27FC236}">
                <a16:creationId xmlns:a16="http://schemas.microsoft.com/office/drawing/2014/main" id="{BF501512-60CE-A4AB-56D9-EE1AFD356099}"/>
              </a:ext>
            </a:extLst>
          </p:cNvPr>
          <p:cNvSpPr txBox="1"/>
          <p:nvPr/>
        </p:nvSpPr>
        <p:spPr>
          <a:xfrm>
            <a:off x="5819515" y="1729491"/>
            <a:ext cx="3796436" cy="553998"/>
          </a:xfrm>
          <a:prstGeom prst="rect">
            <a:avLst/>
          </a:prstGeom>
          <a:noFill/>
        </p:spPr>
        <p:txBody>
          <a:bodyPr wrap="square" lIns="0" tIns="0" rIns="0" bIns="0" rtlCol="0">
            <a:spAutoFit/>
          </a:bodyPr>
          <a:lstStyle/>
          <a:p>
            <a:r>
              <a:rPr kumimoji="1" lang="ja-JP" altLang="en-US" sz="1200" dirty="0">
                <a:latin typeface="+mn-ea"/>
                <a:ea typeface="+mn-ea"/>
              </a:rPr>
              <a:t>一つまたは複数の</a:t>
            </a:r>
            <a:r>
              <a:rPr kumimoji="1" lang="en-US" altLang="ja-JP" sz="1200" dirty="0">
                <a:latin typeface="+mn-ea"/>
                <a:ea typeface="+mn-ea"/>
              </a:rPr>
              <a:t>VC</a:t>
            </a:r>
            <a:r>
              <a:rPr kumimoji="1" lang="ja-JP" altLang="en-US" sz="1200" dirty="0">
                <a:latin typeface="+mn-ea"/>
                <a:ea typeface="+mn-ea"/>
              </a:rPr>
              <a:t>を保持し、それを他のエンティティに提示するためのパッケージ。</a:t>
            </a:r>
            <a:r>
              <a:rPr kumimoji="1" lang="en-US" altLang="ja-JP" sz="1200" dirty="0">
                <a:latin typeface="+mn-ea"/>
                <a:ea typeface="+mn-ea"/>
              </a:rPr>
              <a:t>VP</a:t>
            </a:r>
            <a:r>
              <a:rPr kumimoji="1" lang="ja-JP" altLang="en-US" sz="1200" dirty="0">
                <a:latin typeface="+mn-ea"/>
                <a:ea typeface="+mn-ea"/>
              </a:rPr>
              <a:t>は、提示者</a:t>
            </a:r>
            <a:r>
              <a:rPr kumimoji="1" lang="en-US" altLang="ja-JP" sz="1200" dirty="0">
                <a:latin typeface="+mn-ea"/>
                <a:ea typeface="+mn-ea"/>
              </a:rPr>
              <a:t>(</a:t>
            </a:r>
            <a:r>
              <a:rPr kumimoji="1" lang="ja-JP" altLang="en-US" sz="1200" dirty="0">
                <a:latin typeface="+mn-ea"/>
                <a:ea typeface="+mn-ea"/>
              </a:rPr>
              <a:t>通常は</a:t>
            </a:r>
            <a:r>
              <a:rPr kumimoji="1" lang="en-US" altLang="ja-JP" sz="1200" dirty="0">
                <a:latin typeface="+mn-ea"/>
                <a:ea typeface="+mn-ea"/>
              </a:rPr>
              <a:t>Holder</a:t>
            </a:r>
            <a:r>
              <a:rPr lang="en-US" altLang="ja-JP" sz="1200" dirty="0">
                <a:latin typeface="+mn-ea"/>
                <a:ea typeface="+mn-ea"/>
              </a:rPr>
              <a:t>)</a:t>
            </a:r>
            <a:r>
              <a:rPr lang="ja-JP" altLang="en-US" sz="1200" dirty="0">
                <a:latin typeface="+mn-ea"/>
                <a:ea typeface="+mn-ea"/>
              </a:rPr>
              <a:t>に</a:t>
            </a:r>
            <a:r>
              <a:rPr kumimoji="1" lang="ja-JP" altLang="en-US" sz="1200" dirty="0">
                <a:latin typeface="+mn-ea"/>
                <a:ea typeface="+mn-ea"/>
              </a:rPr>
              <a:t>よってデジタル署名され、その署名で提示者と</a:t>
            </a:r>
            <a:r>
              <a:rPr kumimoji="1" lang="en-US" altLang="ja-JP" sz="1200" dirty="0">
                <a:latin typeface="+mn-ea"/>
                <a:ea typeface="+mn-ea"/>
              </a:rPr>
              <a:t>VC</a:t>
            </a:r>
            <a:r>
              <a:rPr kumimoji="1" lang="ja-JP" altLang="en-US" sz="1200" dirty="0">
                <a:latin typeface="+mn-ea"/>
                <a:ea typeface="+mn-ea"/>
              </a:rPr>
              <a:t>の真正性が確認できる</a:t>
            </a:r>
            <a:endParaRPr kumimoji="1" lang="en-US" altLang="ja-JP" sz="1200" dirty="0">
              <a:latin typeface="+mn-ea"/>
              <a:ea typeface="+mn-ea"/>
            </a:endParaRPr>
          </a:p>
        </p:txBody>
      </p:sp>
      <p:sp>
        <p:nvSpPr>
          <p:cNvPr id="48" name="コンテンツ プレースホルダー 2">
            <a:extLst>
              <a:ext uri="{FF2B5EF4-FFF2-40B4-BE49-F238E27FC236}">
                <a16:creationId xmlns:a16="http://schemas.microsoft.com/office/drawing/2014/main" id="{C6C0FA3F-699F-D5BC-BCE6-B974F17F5F04}"/>
              </a:ext>
            </a:extLst>
          </p:cNvPr>
          <p:cNvSpPr txBox="1">
            <a:spLocks/>
          </p:cNvSpPr>
          <p:nvPr/>
        </p:nvSpPr>
        <p:spPr>
          <a:xfrm>
            <a:off x="273050" y="843523"/>
            <a:ext cx="9359900" cy="215444"/>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Verifiable Credential (VC) </a:t>
            </a:r>
            <a:r>
              <a:rPr lang="ja-JP" altLang="en-US" dirty="0"/>
              <a:t>と</a:t>
            </a:r>
            <a:r>
              <a:rPr lang="en-US" altLang="ja-JP" dirty="0"/>
              <a:t>Verifiable Presentation (VP) </a:t>
            </a:r>
            <a:r>
              <a:rPr lang="ja-JP" altLang="en-US" dirty="0"/>
              <a:t>は、デジタルアイデンティティを確認し、信頼性を担保するための概念で、これらは</a:t>
            </a:r>
            <a:r>
              <a:rPr lang="en-US" altLang="ja-JP" dirty="0"/>
              <a:t>W3C</a:t>
            </a:r>
            <a:r>
              <a:rPr lang="ja-JP" altLang="en-US" dirty="0"/>
              <a:t> </a:t>
            </a:r>
            <a:r>
              <a:rPr lang="en-US" altLang="ja-JP" dirty="0"/>
              <a:t>(World Wide Web Consortium)</a:t>
            </a:r>
            <a:r>
              <a:rPr lang="ja-JP" altLang="en-US" dirty="0"/>
              <a:t> により仕様が標準化</a:t>
            </a:r>
            <a:r>
              <a:rPr lang="en-US" altLang="ja-JP" dirty="0"/>
              <a:t>*</a:t>
            </a:r>
            <a:r>
              <a:rPr lang="ja-JP" altLang="en-US" dirty="0"/>
              <a:t>されている</a:t>
            </a:r>
          </a:p>
        </p:txBody>
      </p:sp>
      <p:pic>
        <p:nvPicPr>
          <p:cNvPr id="51" name="図 50">
            <a:extLst>
              <a:ext uri="{FF2B5EF4-FFF2-40B4-BE49-F238E27FC236}">
                <a16:creationId xmlns:a16="http://schemas.microsoft.com/office/drawing/2014/main" id="{B42862B9-717F-6A1D-A99E-48DD093104BA}"/>
              </a:ext>
            </a:extLst>
          </p:cNvPr>
          <p:cNvPicPr>
            <a:picLocks noChangeAspect="1"/>
          </p:cNvPicPr>
          <p:nvPr/>
        </p:nvPicPr>
        <p:blipFill>
          <a:blip r:embed="rId6"/>
          <a:stretch>
            <a:fillRect/>
          </a:stretch>
        </p:blipFill>
        <p:spPr>
          <a:xfrm>
            <a:off x="1474659" y="2320037"/>
            <a:ext cx="1912489" cy="1372945"/>
          </a:xfrm>
          <a:prstGeom prst="rect">
            <a:avLst/>
          </a:prstGeom>
        </p:spPr>
      </p:pic>
      <p:pic>
        <p:nvPicPr>
          <p:cNvPr id="53" name="図 52">
            <a:extLst>
              <a:ext uri="{FF2B5EF4-FFF2-40B4-BE49-F238E27FC236}">
                <a16:creationId xmlns:a16="http://schemas.microsoft.com/office/drawing/2014/main" id="{BB96F39C-64C9-080A-D104-9F099D1E293B}"/>
              </a:ext>
            </a:extLst>
          </p:cNvPr>
          <p:cNvPicPr>
            <a:picLocks noChangeAspect="1"/>
          </p:cNvPicPr>
          <p:nvPr/>
        </p:nvPicPr>
        <p:blipFill>
          <a:blip r:embed="rId7"/>
          <a:stretch>
            <a:fillRect/>
          </a:stretch>
        </p:blipFill>
        <p:spPr>
          <a:xfrm>
            <a:off x="6696712" y="2273182"/>
            <a:ext cx="1898037" cy="1382580"/>
          </a:xfrm>
          <a:prstGeom prst="rect">
            <a:avLst/>
          </a:prstGeom>
        </p:spPr>
      </p:pic>
      <p:sp>
        <p:nvSpPr>
          <p:cNvPr id="54" name="テキスト ボックス 53">
            <a:extLst>
              <a:ext uri="{FF2B5EF4-FFF2-40B4-BE49-F238E27FC236}">
                <a16:creationId xmlns:a16="http://schemas.microsoft.com/office/drawing/2014/main" id="{105F035C-54DD-8A1C-692F-286A1D206A4F}"/>
              </a:ext>
            </a:extLst>
          </p:cNvPr>
          <p:cNvSpPr txBox="1"/>
          <p:nvPr/>
        </p:nvSpPr>
        <p:spPr>
          <a:xfrm>
            <a:off x="1844877" y="3693976"/>
            <a:ext cx="1227397" cy="369332"/>
          </a:xfrm>
          <a:prstGeom prst="rect">
            <a:avLst/>
          </a:prstGeom>
          <a:noFill/>
        </p:spPr>
        <p:txBody>
          <a:bodyPr wrap="square" lIns="0" tIns="0" rIns="0" bIns="0" rtlCol="0">
            <a:spAutoFit/>
          </a:bodyPr>
          <a:lstStyle/>
          <a:p>
            <a:pPr algn="ctr"/>
            <a:r>
              <a:rPr kumimoji="1" lang="en-US" altLang="ja-JP" sz="1200" dirty="0">
                <a:latin typeface="+mn-ea"/>
                <a:ea typeface="+mn-ea"/>
              </a:rPr>
              <a:t>W3C</a:t>
            </a:r>
            <a:r>
              <a:rPr kumimoji="1" lang="ja-JP" altLang="en-US" sz="1200" dirty="0">
                <a:latin typeface="+mn-ea"/>
                <a:ea typeface="+mn-ea"/>
              </a:rPr>
              <a:t>で定義している</a:t>
            </a:r>
            <a:r>
              <a:rPr kumimoji="1" lang="en-US" altLang="ja-JP" sz="1200" dirty="0">
                <a:latin typeface="+mn-ea"/>
                <a:ea typeface="+mn-ea"/>
              </a:rPr>
              <a:t>VC</a:t>
            </a:r>
            <a:r>
              <a:rPr kumimoji="1" lang="ja-JP" altLang="en-US" sz="1200" dirty="0">
                <a:latin typeface="+mn-ea"/>
                <a:ea typeface="+mn-ea"/>
              </a:rPr>
              <a:t>の基本構成</a:t>
            </a:r>
          </a:p>
        </p:txBody>
      </p:sp>
      <p:sp>
        <p:nvSpPr>
          <p:cNvPr id="55" name="テキスト ボックス 54">
            <a:extLst>
              <a:ext uri="{FF2B5EF4-FFF2-40B4-BE49-F238E27FC236}">
                <a16:creationId xmlns:a16="http://schemas.microsoft.com/office/drawing/2014/main" id="{824F19B9-11A3-D36B-7B2E-F4C688C7B35D}"/>
              </a:ext>
            </a:extLst>
          </p:cNvPr>
          <p:cNvSpPr txBox="1"/>
          <p:nvPr/>
        </p:nvSpPr>
        <p:spPr>
          <a:xfrm>
            <a:off x="7104034" y="3693976"/>
            <a:ext cx="1227397" cy="369332"/>
          </a:xfrm>
          <a:prstGeom prst="rect">
            <a:avLst/>
          </a:prstGeom>
          <a:noFill/>
        </p:spPr>
        <p:txBody>
          <a:bodyPr wrap="square" lIns="0" tIns="0" rIns="0" bIns="0" rtlCol="0">
            <a:spAutoFit/>
          </a:bodyPr>
          <a:lstStyle/>
          <a:p>
            <a:pPr algn="ctr"/>
            <a:r>
              <a:rPr kumimoji="1" lang="en-US" altLang="ja-JP" sz="1200" dirty="0">
                <a:latin typeface="+mn-ea"/>
                <a:ea typeface="+mn-ea"/>
              </a:rPr>
              <a:t>W3C</a:t>
            </a:r>
            <a:r>
              <a:rPr kumimoji="1" lang="ja-JP" altLang="en-US" sz="1200" dirty="0">
                <a:latin typeface="+mn-ea"/>
                <a:ea typeface="+mn-ea"/>
              </a:rPr>
              <a:t>で定義している</a:t>
            </a:r>
            <a:r>
              <a:rPr kumimoji="1" lang="en-US" altLang="ja-JP" sz="1200" dirty="0">
                <a:latin typeface="+mn-ea"/>
                <a:ea typeface="+mn-ea"/>
              </a:rPr>
              <a:t>VP</a:t>
            </a:r>
            <a:r>
              <a:rPr kumimoji="1" lang="ja-JP" altLang="en-US" sz="1200" dirty="0">
                <a:latin typeface="+mn-ea"/>
                <a:ea typeface="+mn-ea"/>
              </a:rPr>
              <a:t>の基本構成</a:t>
            </a:r>
          </a:p>
        </p:txBody>
      </p:sp>
      <p:sp>
        <p:nvSpPr>
          <p:cNvPr id="87" name="コンテンツ プレースホルダー 2">
            <a:extLst>
              <a:ext uri="{FF2B5EF4-FFF2-40B4-BE49-F238E27FC236}">
                <a16:creationId xmlns:a16="http://schemas.microsoft.com/office/drawing/2014/main" id="{A4C05245-BFF0-2B73-74CD-811104EF6A6C}"/>
              </a:ext>
            </a:extLst>
          </p:cNvPr>
          <p:cNvSpPr txBox="1">
            <a:spLocks/>
          </p:cNvSpPr>
          <p:nvPr/>
        </p:nvSpPr>
        <p:spPr>
          <a:xfrm>
            <a:off x="273050" y="4224556"/>
            <a:ext cx="9359900" cy="215444"/>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OpenID Foundation</a:t>
            </a:r>
            <a:r>
              <a:rPr lang="ja-JP" altLang="en-US" dirty="0"/>
              <a:t>で策定が進められている、</a:t>
            </a:r>
            <a:r>
              <a:rPr lang="en-US" altLang="ja-JP" dirty="0"/>
              <a:t>OpenID for Verifiable Credential (OID4VC) </a:t>
            </a:r>
            <a:r>
              <a:rPr lang="ja-JP" altLang="en-US" dirty="0"/>
              <a:t>は以下の</a:t>
            </a:r>
            <a:r>
              <a:rPr lang="en-US" altLang="ja-JP" dirty="0"/>
              <a:t>3</a:t>
            </a:r>
            <a:r>
              <a:rPr lang="ja-JP" altLang="en-US" dirty="0"/>
              <a:t>つの仕様で構成されている</a:t>
            </a:r>
            <a:r>
              <a:rPr lang="en-US" altLang="ja-JP" dirty="0"/>
              <a:t>**</a:t>
            </a:r>
            <a:r>
              <a:rPr lang="ja-JP" altLang="en-US" dirty="0"/>
              <a:t>。</a:t>
            </a:r>
            <a:r>
              <a:rPr lang="en-US" altLang="ja-JP" dirty="0"/>
              <a:t>W3C</a:t>
            </a:r>
            <a:r>
              <a:rPr lang="ja-JP" altLang="en-US" dirty="0"/>
              <a:t>で定義されている仕様はエンティティ間のプロトコルまで定義されておらず、実装者にゆだねられているため、プロトコルの標準化を進めている</a:t>
            </a:r>
            <a:endParaRPr lang="en-US" altLang="ja-JP" dirty="0"/>
          </a:p>
        </p:txBody>
      </p:sp>
      <p:sp>
        <p:nvSpPr>
          <p:cNvPr id="88" name="正方形/長方形 87">
            <a:extLst>
              <a:ext uri="{FF2B5EF4-FFF2-40B4-BE49-F238E27FC236}">
                <a16:creationId xmlns:a16="http://schemas.microsoft.com/office/drawing/2014/main" id="{B07AD201-3C54-85C2-131B-DF6A503FB618}"/>
              </a:ext>
            </a:extLst>
          </p:cNvPr>
          <p:cNvSpPr/>
          <p:nvPr/>
        </p:nvSpPr>
        <p:spPr bwMode="gray">
          <a:xfrm>
            <a:off x="3716202" y="5443201"/>
            <a:ext cx="5538028" cy="430887"/>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OAuth2.0</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上にプロトコルフローの一部として検証可能な資格情報の形式でクレームを定義できるようにするメカニズムを定義</a:t>
            </a:r>
            <a:endParaRPr kumimoji="0" lang="ja-JP"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89" name="正方形/長方形 88">
            <a:extLst>
              <a:ext uri="{FF2B5EF4-FFF2-40B4-BE49-F238E27FC236}">
                <a16:creationId xmlns:a16="http://schemas.microsoft.com/office/drawing/2014/main" id="{F05239A7-FAC6-FC6D-2BA5-97F52F4FFF6D}"/>
              </a:ext>
            </a:extLst>
          </p:cNvPr>
          <p:cNvSpPr/>
          <p:nvPr/>
        </p:nvSpPr>
        <p:spPr bwMode="gray">
          <a:xfrm>
            <a:off x="952632" y="5443201"/>
            <a:ext cx="2664180" cy="430887"/>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1" i="0" u="none" strike="noStrike" kern="0" cap="none" spc="0" normalizeH="0" baseline="0" noProof="0" dirty="0">
                <a:ln>
                  <a:noFill/>
                </a:ln>
                <a:solidFill>
                  <a:schemeClr val="accent1"/>
                </a:solidFill>
                <a:effectLst/>
                <a:uLnTx/>
                <a:uFillTx/>
                <a:latin typeface="+mn-ea"/>
                <a:ea typeface="+mn-ea"/>
                <a:cs typeface="Arial" charset="0"/>
              </a:rPr>
              <a:t>OpenID for Verifiable Presentations(OID4VP)</a:t>
            </a:r>
            <a:endParaRPr kumimoji="0" lang="ja-JP" altLang="en-US" sz="1200" b="1" i="0" u="none" strike="noStrike" kern="0" cap="none" spc="0" normalizeH="0" baseline="0" noProof="0" dirty="0">
              <a:ln>
                <a:noFill/>
              </a:ln>
              <a:solidFill>
                <a:schemeClr val="accent1"/>
              </a:solidFill>
              <a:effectLst/>
              <a:uLnTx/>
              <a:uFillTx/>
              <a:latin typeface="+mn-ea"/>
              <a:ea typeface="+mn-ea"/>
              <a:cs typeface="Arial" charset="0"/>
            </a:endParaRPr>
          </a:p>
        </p:txBody>
      </p:sp>
      <p:sp>
        <p:nvSpPr>
          <p:cNvPr id="90" name="正方形/長方形 89">
            <a:extLst>
              <a:ext uri="{FF2B5EF4-FFF2-40B4-BE49-F238E27FC236}">
                <a16:creationId xmlns:a16="http://schemas.microsoft.com/office/drawing/2014/main" id="{969DD387-1FC7-D5E6-637C-6760AA34F9FB}"/>
              </a:ext>
            </a:extLst>
          </p:cNvPr>
          <p:cNvSpPr/>
          <p:nvPr/>
        </p:nvSpPr>
        <p:spPr bwMode="gray">
          <a:xfrm>
            <a:off x="3716202" y="5921496"/>
            <a:ext cx="5538028" cy="430887"/>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en-US" sz="1200" kern="0" dirty="0">
                <a:solidFill>
                  <a:prstClr val="black"/>
                </a:solidFill>
                <a:latin typeface="+mn-ea"/>
                <a:ea typeface="+mn-ea"/>
                <a:cs typeface="Arial" charset="0"/>
              </a:rPr>
              <a:t>自己主権型アイデンティティとして</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エンドユーザーが自分で管理する</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OpenID</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プロバイダーを使用できるようにする</a:t>
            </a:r>
          </a:p>
        </p:txBody>
      </p:sp>
      <p:sp>
        <p:nvSpPr>
          <p:cNvPr id="91" name="正方形/長方形 90">
            <a:extLst>
              <a:ext uri="{FF2B5EF4-FFF2-40B4-BE49-F238E27FC236}">
                <a16:creationId xmlns:a16="http://schemas.microsoft.com/office/drawing/2014/main" id="{4CA0CE55-EBE5-9729-1BF7-C0D472B75701}"/>
              </a:ext>
            </a:extLst>
          </p:cNvPr>
          <p:cNvSpPr/>
          <p:nvPr/>
        </p:nvSpPr>
        <p:spPr bwMode="gray">
          <a:xfrm>
            <a:off x="952632" y="5921496"/>
            <a:ext cx="2664180" cy="430887"/>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1" i="0" u="none" strike="noStrike" kern="0" cap="none" spc="0" normalizeH="0" baseline="0" noProof="0" dirty="0">
                <a:ln>
                  <a:noFill/>
                </a:ln>
                <a:solidFill>
                  <a:schemeClr val="accent1"/>
                </a:solidFill>
                <a:effectLst/>
                <a:uLnTx/>
                <a:uFillTx/>
                <a:latin typeface="+mn-ea"/>
                <a:ea typeface="+mn-ea"/>
                <a:cs typeface="Arial" charset="0"/>
              </a:rPr>
              <a:t>Self-Issued OpenID Provider v2</a:t>
            </a:r>
          </a:p>
        </p:txBody>
      </p:sp>
      <p:sp>
        <p:nvSpPr>
          <p:cNvPr id="92" name="正方形/長方形 91">
            <a:extLst>
              <a:ext uri="{FF2B5EF4-FFF2-40B4-BE49-F238E27FC236}">
                <a16:creationId xmlns:a16="http://schemas.microsoft.com/office/drawing/2014/main" id="{07E23B16-40E2-1909-FF43-96C93CCA633B}"/>
              </a:ext>
            </a:extLst>
          </p:cNvPr>
          <p:cNvSpPr/>
          <p:nvPr/>
        </p:nvSpPr>
        <p:spPr bwMode="gray">
          <a:xfrm>
            <a:off x="3716202" y="4969451"/>
            <a:ext cx="5538028" cy="430887"/>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検証可能な資格情報（</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VC</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）を発行するための</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API</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と対応する</a:t>
            </a:r>
            <a:r>
              <a:rPr kumimoji="0" lang="en-US" altLang="ja-JP" sz="1200" kern="0" dirty="0">
                <a:solidFill>
                  <a:prstClr val="black"/>
                </a:solidFill>
                <a:latin typeface="+mn-ea"/>
                <a:ea typeface="+mn-ea"/>
                <a:cs typeface="Arial" charset="0"/>
              </a:rPr>
              <a:t>OAuth</a:t>
            </a:r>
            <a:r>
              <a:rPr kumimoji="0" lang="ja-JP" altLang="en-US" sz="1200" kern="0" dirty="0">
                <a:solidFill>
                  <a:prstClr val="black"/>
                </a:solidFill>
                <a:latin typeface="+mn-ea"/>
                <a:ea typeface="+mn-ea"/>
                <a:cs typeface="Arial" charset="0"/>
              </a:rPr>
              <a:t>ベースの認定メカニズムを定義</a:t>
            </a: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93" name="正方形/長方形 92">
            <a:extLst>
              <a:ext uri="{FF2B5EF4-FFF2-40B4-BE49-F238E27FC236}">
                <a16:creationId xmlns:a16="http://schemas.microsoft.com/office/drawing/2014/main" id="{9F63C0B1-7FBA-7BD0-775D-33FF49F7B596}"/>
              </a:ext>
            </a:extLst>
          </p:cNvPr>
          <p:cNvSpPr/>
          <p:nvPr/>
        </p:nvSpPr>
        <p:spPr bwMode="gray">
          <a:xfrm>
            <a:off x="952632" y="4969451"/>
            <a:ext cx="2664180" cy="430887"/>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1" i="0" u="none" strike="noStrike" kern="0" cap="none" spc="0" normalizeH="0" baseline="0" noProof="0" dirty="0">
                <a:ln>
                  <a:noFill/>
                </a:ln>
                <a:solidFill>
                  <a:schemeClr val="accent1"/>
                </a:solidFill>
                <a:effectLst/>
                <a:uLnTx/>
                <a:uFillTx/>
                <a:latin typeface="+mn-ea"/>
                <a:ea typeface="+mn-ea"/>
                <a:cs typeface="Arial" charset="0"/>
              </a:rPr>
              <a:t>OpenID for Verifiable Credential Issuance(OID4VCI)</a:t>
            </a:r>
            <a:endParaRPr kumimoji="0" lang="ja-JP" altLang="en-US" sz="1200" b="1" i="0" u="none" strike="noStrike" kern="0" cap="none" spc="0" normalizeH="0" baseline="0" noProof="0" dirty="0">
              <a:ln>
                <a:noFill/>
              </a:ln>
              <a:solidFill>
                <a:schemeClr val="accent1"/>
              </a:solidFill>
              <a:effectLst/>
              <a:uLnTx/>
              <a:uFillTx/>
              <a:latin typeface="+mn-ea"/>
              <a:ea typeface="+mn-ea"/>
              <a:cs typeface="Arial" charset="0"/>
            </a:endParaRPr>
          </a:p>
        </p:txBody>
      </p:sp>
      <p:sp>
        <p:nvSpPr>
          <p:cNvPr id="94" name="テキスト ボックス 93">
            <a:extLst>
              <a:ext uri="{FF2B5EF4-FFF2-40B4-BE49-F238E27FC236}">
                <a16:creationId xmlns:a16="http://schemas.microsoft.com/office/drawing/2014/main" id="{7B907614-0492-FE59-06EE-ECB87BE9385E}"/>
              </a:ext>
            </a:extLst>
          </p:cNvPr>
          <p:cNvSpPr txBox="1"/>
          <p:nvPr/>
        </p:nvSpPr>
        <p:spPr>
          <a:xfrm>
            <a:off x="207308" y="6427605"/>
            <a:ext cx="6775141" cy="230832"/>
          </a:xfrm>
          <a:prstGeom prst="rect">
            <a:avLst/>
          </a:prstGeom>
          <a:noFill/>
        </p:spPr>
        <p:txBody>
          <a:bodyPr wrap="square">
            <a:spAutoFit/>
          </a:bodyPr>
          <a:lstStyle/>
          <a:p>
            <a:r>
              <a:rPr lang="ja-JP" altLang="en-US" sz="900" dirty="0">
                <a:latin typeface="+mn-ea"/>
                <a:ea typeface="+mn-ea"/>
              </a:rPr>
              <a:t>出所　</a:t>
            </a:r>
            <a:r>
              <a:rPr lang="en-US" altLang="ja-JP" sz="900" dirty="0">
                <a:latin typeface="+mn-ea"/>
                <a:ea typeface="+mn-ea"/>
              </a:rPr>
              <a:t>* </a:t>
            </a:r>
            <a:r>
              <a:rPr lang="en-US" altLang="ja-JP" sz="900" dirty="0">
                <a:latin typeface="+mn-ea"/>
                <a:ea typeface="+mn-ea"/>
                <a:hlinkClick r:id="rId8"/>
              </a:rPr>
              <a:t>https://www.w3.org/TR/vc-data-model/</a:t>
            </a:r>
            <a:r>
              <a:rPr lang="ja-JP" altLang="en-US" sz="900" dirty="0">
                <a:latin typeface="+mn-ea"/>
                <a:ea typeface="+mn-ea"/>
              </a:rPr>
              <a:t>　</a:t>
            </a:r>
            <a:r>
              <a:rPr lang="en-US" altLang="ja-JP" sz="900" dirty="0">
                <a:latin typeface="+mn-ea"/>
                <a:ea typeface="+mn-ea"/>
              </a:rPr>
              <a:t>** </a:t>
            </a:r>
            <a:r>
              <a:rPr lang="en-US" altLang="ja-JP" sz="900" dirty="0">
                <a:latin typeface="+mn-ea"/>
                <a:ea typeface="+mn-ea"/>
                <a:hlinkClick r:id="rId9"/>
              </a:rPr>
              <a:t>https://openid.net/sg/openid4vc/</a:t>
            </a:r>
            <a:endParaRPr lang="en-US" altLang="ja-JP" sz="900" dirty="0">
              <a:latin typeface="+mn-ea"/>
              <a:ea typeface="+mn-ea"/>
            </a:endParaRPr>
          </a:p>
        </p:txBody>
      </p:sp>
      <p:sp>
        <p:nvSpPr>
          <p:cNvPr id="5" name="正方形/長方形 4">
            <a:extLst>
              <a:ext uri="{FF2B5EF4-FFF2-40B4-BE49-F238E27FC236}">
                <a16:creationId xmlns:a16="http://schemas.microsoft.com/office/drawing/2014/main" id="{457850A8-5230-DA5E-060C-35B825FEE589}"/>
              </a:ext>
            </a:extLst>
          </p:cNvPr>
          <p:cNvSpPr/>
          <p:nvPr/>
        </p:nvSpPr>
        <p:spPr>
          <a:xfrm>
            <a:off x="1875716" y="135476"/>
            <a:ext cx="980645"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6" name="正方形/長方形 5">
            <a:extLst>
              <a:ext uri="{FF2B5EF4-FFF2-40B4-BE49-F238E27FC236}">
                <a16:creationId xmlns:a16="http://schemas.microsoft.com/office/drawing/2014/main" id="{F584E707-BD8D-1DD6-59D7-92CE0531F0D6}"/>
              </a:ext>
            </a:extLst>
          </p:cNvPr>
          <p:cNvSpPr/>
          <p:nvPr/>
        </p:nvSpPr>
        <p:spPr>
          <a:xfrm>
            <a:off x="1875716" y="242366"/>
            <a:ext cx="491226" cy="172800"/>
          </a:xfrm>
          <a:prstGeom prst="rect">
            <a:avLst/>
          </a:prstGeom>
          <a:solidFill>
            <a:schemeClr val="accent1">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8" name="正方形/長方形 7">
            <a:extLst>
              <a:ext uri="{FF2B5EF4-FFF2-40B4-BE49-F238E27FC236}">
                <a16:creationId xmlns:a16="http://schemas.microsoft.com/office/drawing/2014/main" id="{05DA7EC8-123A-7965-A0C3-C19C3B18D105}"/>
              </a:ext>
            </a:extLst>
          </p:cNvPr>
          <p:cNvSpPr/>
          <p:nvPr/>
        </p:nvSpPr>
        <p:spPr>
          <a:xfrm>
            <a:off x="2366942" y="242366"/>
            <a:ext cx="491226" cy="172800"/>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kumimoji="1" lang="en-US" altLang="ja-JP" sz="500" dirty="0"/>
              <a:t>Proofing</a:t>
            </a:r>
            <a:endParaRPr kumimoji="1" lang="ja-JP" altLang="en-US" sz="500" dirty="0"/>
          </a:p>
        </p:txBody>
      </p:sp>
      <p:sp>
        <p:nvSpPr>
          <p:cNvPr id="9" name="正方形/長方形 8">
            <a:extLst>
              <a:ext uri="{FF2B5EF4-FFF2-40B4-BE49-F238E27FC236}">
                <a16:creationId xmlns:a16="http://schemas.microsoft.com/office/drawing/2014/main" id="{5887E330-6E25-3615-17C1-C03C0D5901E8}"/>
              </a:ext>
            </a:extLst>
          </p:cNvPr>
          <p:cNvSpPr/>
          <p:nvPr/>
        </p:nvSpPr>
        <p:spPr>
          <a:xfrm>
            <a:off x="2858168"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Envelope</a:t>
            </a:r>
            <a:endParaRPr kumimoji="1" lang="ja-JP" altLang="en-US" sz="600" dirty="0"/>
          </a:p>
        </p:txBody>
      </p:sp>
      <p:sp>
        <p:nvSpPr>
          <p:cNvPr id="10" name="正方形/長方形 9">
            <a:extLst>
              <a:ext uri="{FF2B5EF4-FFF2-40B4-BE49-F238E27FC236}">
                <a16:creationId xmlns:a16="http://schemas.microsoft.com/office/drawing/2014/main" id="{CEB12BAE-A87C-5349-9769-EA535205CB77}"/>
              </a:ext>
            </a:extLst>
          </p:cNvPr>
          <p:cNvSpPr/>
          <p:nvPr/>
        </p:nvSpPr>
        <p:spPr>
          <a:xfrm>
            <a:off x="2856361" y="135476"/>
            <a:ext cx="983839"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Agent Layer</a:t>
            </a:r>
            <a:endParaRPr lang="ja-JP" altLang="en-US" sz="600" dirty="0"/>
          </a:p>
        </p:txBody>
      </p:sp>
      <p:sp>
        <p:nvSpPr>
          <p:cNvPr id="11" name="正方形/長方形 10">
            <a:extLst>
              <a:ext uri="{FF2B5EF4-FFF2-40B4-BE49-F238E27FC236}">
                <a16:creationId xmlns:a16="http://schemas.microsoft.com/office/drawing/2014/main" id="{CC66ECDF-78DD-BA4B-BBCC-25688D8C0D54}"/>
              </a:ext>
            </a:extLst>
          </p:cNvPr>
          <p:cNvSpPr/>
          <p:nvPr/>
        </p:nvSpPr>
        <p:spPr>
          <a:xfrm>
            <a:off x="334926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Transport</a:t>
            </a:r>
            <a:endParaRPr kumimoji="1" lang="ja-JP" altLang="en-US" sz="600" dirty="0"/>
          </a:p>
        </p:txBody>
      </p:sp>
      <p:sp>
        <p:nvSpPr>
          <p:cNvPr id="12" name="正方形/長方形 11">
            <a:extLst>
              <a:ext uri="{FF2B5EF4-FFF2-40B4-BE49-F238E27FC236}">
                <a16:creationId xmlns:a16="http://schemas.microsoft.com/office/drawing/2014/main" id="{BCBEFE90-C860-A795-DC0A-8C1D1709AAD5}"/>
              </a:ext>
            </a:extLst>
          </p:cNvPr>
          <p:cNvSpPr/>
          <p:nvPr/>
        </p:nvSpPr>
        <p:spPr>
          <a:xfrm>
            <a:off x="38406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13" name="正方形/長方形 12">
            <a:extLst>
              <a:ext uri="{FF2B5EF4-FFF2-40B4-BE49-F238E27FC236}">
                <a16:creationId xmlns:a16="http://schemas.microsoft.com/office/drawing/2014/main" id="{FB72A39E-3C03-675A-A8BD-C1D188682584}"/>
              </a:ext>
            </a:extLst>
          </p:cNvPr>
          <p:cNvSpPr/>
          <p:nvPr/>
        </p:nvSpPr>
        <p:spPr>
          <a:xfrm>
            <a:off x="4824207"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14" name="正方形/長方形 13">
            <a:extLst>
              <a:ext uri="{FF2B5EF4-FFF2-40B4-BE49-F238E27FC236}">
                <a16:creationId xmlns:a16="http://schemas.microsoft.com/office/drawing/2014/main" id="{AFAF7738-A811-462E-B0CB-1A3C2637A265}"/>
              </a:ext>
            </a:extLst>
          </p:cNvPr>
          <p:cNvSpPr/>
          <p:nvPr/>
        </p:nvSpPr>
        <p:spPr>
          <a:xfrm>
            <a:off x="531530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15" name="正方形/長方形 14">
            <a:extLst>
              <a:ext uri="{FF2B5EF4-FFF2-40B4-BE49-F238E27FC236}">
                <a16:creationId xmlns:a16="http://schemas.microsoft.com/office/drawing/2014/main" id="{0098FC4B-188E-AB43-8171-08BE07F419E9}"/>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16" name="正方形/長方形 15">
            <a:extLst>
              <a:ext uri="{FF2B5EF4-FFF2-40B4-BE49-F238E27FC236}">
                <a16:creationId xmlns:a16="http://schemas.microsoft.com/office/drawing/2014/main" id="{3DBAAB7B-5AAE-540C-826C-AA7F3393A2BC}"/>
              </a:ext>
            </a:extLst>
          </p:cNvPr>
          <p:cNvSpPr/>
          <p:nvPr/>
        </p:nvSpPr>
        <p:spPr>
          <a:xfrm>
            <a:off x="6297630"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Disclosure</a:t>
            </a:r>
            <a:br>
              <a:rPr kumimoji="1" lang="en-US" altLang="ja-JP" sz="500" dirty="0"/>
            </a:br>
            <a:r>
              <a:rPr kumimoji="1" lang="en-US" altLang="ja-JP" sz="500" dirty="0"/>
              <a:t>/ZKP</a:t>
            </a:r>
          </a:p>
        </p:txBody>
      </p:sp>
      <p:sp>
        <p:nvSpPr>
          <p:cNvPr id="17" name="正方形/長方形 16">
            <a:extLst>
              <a:ext uri="{FF2B5EF4-FFF2-40B4-BE49-F238E27FC236}">
                <a16:creationId xmlns:a16="http://schemas.microsoft.com/office/drawing/2014/main" id="{F6099B22-6F20-B274-6817-A04368262C91}"/>
              </a:ext>
            </a:extLst>
          </p:cNvPr>
          <p:cNvSpPr/>
          <p:nvPr/>
        </p:nvSpPr>
        <p:spPr>
          <a:xfrm>
            <a:off x="67888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18" name="正方形/長方形 17">
            <a:extLst>
              <a:ext uri="{FF2B5EF4-FFF2-40B4-BE49-F238E27FC236}">
                <a16:creationId xmlns:a16="http://schemas.microsoft.com/office/drawing/2014/main" id="{7296DF42-CBBC-6B83-4E3D-A3B60541E39C}"/>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19" name="正方形/長方形 18">
            <a:extLst>
              <a:ext uri="{FF2B5EF4-FFF2-40B4-BE49-F238E27FC236}">
                <a16:creationId xmlns:a16="http://schemas.microsoft.com/office/drawing/2014/main" id="{E35BE70B-9722-A677-3011-580A08825EC2}"/>
              </a:ext>
            </a:extLst>
          </p:cNvPr>
          <p:cNvSpPr/>
          <p:nvPr/>
        </p:nvSpPr>
        <p:spPr>
          <a:xfrm>
            <a:off x="7771053"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20" name="正方形/長方形 19">
            <a:extLst>
              <a:ext uri="{FF2B5EF4-FFF2-40B4-BE49-F238E27FC236}">
                <a16:creationId xmlns:a16="http://schemas.microsoft.com/office/drawing/2014/main" id="{C256C7C7-280D-40E2-4932-B9679CC905E1}"/>
              </a:ext>
            </a:extLst>
          </p:cNvPr>
          <p:cNvSpPr/>
          <p:nvPr/>
        </p:nvSpPr>
        <p:spPr>
          <a:xfrm>
            <a:off x="3837006" y="135476"/>
            <a:ext cx="2461601"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21" name="正方形/長方形 20">
            <a:extLst>
              <a:ext uri="{FF2B5EF4-FFF2-40B4-BE49-F238E27FC236}">
                <a16:creationId xmlns:a16="http://schemas.microsoft.com/office/drawing/2014/main" id="{5CD86FCB-E78D-9799-7ED3-59B8099303BF}"/>
              </a:ext>
            </a:extLst>
          </p:cNvPr>
          <p:cNvSpPr/>
          <p:nvPr/>
        </p:nvSpPr>
        <p:spPr>
          <a:xfrm>
            <a:off x="6297503" y="135476"/>
            <a:ext cx="1964776"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4" name="正方形/長方形 3">
            <a:extLst>
              <a:ext uri="{FF2B5EF4-FFF2-40B4-BE49-F238E27FC236}">
                <a16:creationId xmlns:a16="http://schemas.microsoft.com/office/drawing/2014/main" id="{5BF8A41A-22CF-9249-8F40-9DB6E676D945}"/>
              </a:ext>
            </a:extLst>
          </p:cNvPr>
          <p:cNvSpPr/>
          <p:nvPr/>
        </p:nvSpPr>
        <p:spPr>
          <a:xfrm>
            <a:off x="433291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2505761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 name="think-cell data - do not delete" hidden="1">
            <a:extLst>
              <a:ext uri="{FF2B5EF4-FFF2-40B4-BE49-F238E27FC236}">
                <a16:creationId xmlns:a16="http://schemas.microsoft.com/office/drawing/2014/main" id="{57F6C281-8FF6-F78A-A534-E2533B23B19C}"/>
              </a:ext>
            </a:extLst>
          </p:cNvPr>
          <p:cNvGraphicFramePr>
            <a:graphicFrameLocks noChangeAspect="1"/>
          </p:cNvGraphicFramePr>
          <p:nvPr>
            <p:custDataLst>
              <p:tags r:id="rId1"/>
            </p:custDataLst>
            <p:extLst>
              <p:ext uri="{D42A27DB-BD31-4B8C-83A1-F6EECF244321}">
                <p14:modId xmlns:p14="http://schemas.microsoft.com/office/powerpoint/2010/main" val="525709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76" name="think-cell data - do not delete" hidden="1">
                        <a:extLst>
                          <a:ext uri="{FF2B5EF4-FFF2-40B4-BE49-F238E27FC236}">
                            <a16:creationId xmlns:a16="http://schemas.microsoft.com/office/drawing/2014/main" id="{57F6C281-8FF6-F78A-A534-E2533B23B1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2DE094EF-3A05-4F89-9F68-2FBF43A7518D}"/>
              </a:ext>
            </a:extLst>
          </p:cNvPr>
          <p:cNvSpPr>
            <a:spLocks noGrp="1"/>
          </p:cNvSpPr>
          <p:nvPr>
            <p:ph type="title"/>
          </p:nvPr>
        </p:nvSpPr>
        <p:spPr>
          <a:xfrm>
            <a:off x="273049" y="445768"/>
            <a:ext cx="9632951" cy="492443"/>
          </a:xfrm>
        </p:spPr>
        <p:txBody>
          <a:bodyPr vert="horz"/>
          <a:lstStyle/>
          <a:p>
            <a:r>
              <a:rPr kumimoji="1" lang="en-US" altLang="ja-JP" sz="1600" dirty="0"/>
              <a:t>5.2. </a:t>
            </a:r>
            <a:r>
              <a:rPr kumimoji="1" lang="ja-JP" altLang="en-US" sz="1600" dirty="0"/>
              <a:t>規格・実装方式の詳細 </a:t>
            </a:r>
            <a:r>
              <a:rPr kumimoji="1" lang="en-US" altLang="ja-JP" sz="1600" dirty="0"/>
              <a:t>- (2)</a:t>
            </a:r>
            <a:r>
              <a:rPr kumimoji="1" lang="ja-JP" altLang="en-US" sz="1600" dirty="0"/>
              <a:t> アイデンティティサービスを構築する場合に基準とされる証明書モデル</a:t>
            </a:r>
            <a:r>
              <a:rPr kumimoji="1" lang="ja-JP" altLang="en-US" dirty="0"/>
              <a:t>の</a:t>
            </a:r>
            <a:r>
              <a:rPr kumimoji="1" lang="ja-JP" altLang="en-US" sz="1600" dirty="0"/>
              <a:t>規格</a:t>
            </a:r>
            <a:r>
              <a:rPr kumimoji="1" lang="en-US" altLang="ja-JP" sz="1600" dirty="0"/>
              <a:t>(2/2)</a:t>
            </a:r>
            <a:endParaRPr kumimoji="1" lang="ja-JP" altLang="en-US" dirty="0"/>
          </a:p>
        </p:txBody>
      </p:sp>
      <p:sp>
        <p:nvSpPr>
          <p:cNvPr id="3" name="テキスト プレースホルダー 2">
            <a:extLst>
              <a:ext uri="{FF2B5EF4-FFF2-40B4-BE49-F238E27FC236}">
                <a16:creationId xmlns:a16="http://schemas.microsoft.com/office/drawing/2014/main" id="{13EE486E-FA69-4E9E-890F-04BF4C7723B4}"/>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5" name="正方形/長方形 4">
            <a:extLst>
              <a:ext uri="{FF2B5EF4-FFF2-40B4-BE49-F238E27FC236}">
                <a16:creationId xmlns:a16="http://schemas.microsoft.com/office/drawing/2014/main" id="{E1325D61-02F2-1D18-5795-401CB05248E2}"/>
              </a:ext>
            </a:extLst>
          </p:cNvPr>
          <p:cNvSpPr/>
          <p:nvPr/>
        </p:nvSpPr>
        <p:spPr bwMode="gray">
          <a:xfrm>
            <a:off x="271550" y="1966872"/>
            <a:ext cx="720189" cy="427273"/>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dirty="0">
                <a:ln>
                  <a:noFill/>
                </a:ln>
                <a:solidFill>
                  <a:prstClr val="white"/>
                </a:solidFill>
                <a:effectLst/>
                <a:uLnTx/>
                <a:uFillTx/>
                <a:latin typeface="Calibri Light"/>
                <a:ea typeface="Yu Gothic UI"/>
                <a:cs typeface="Arial" charset="0"/>
              </a:rPr>
              <a:t>規格主体</a:t>
            </a:r>
          </a:p>
        </p:txBody>
      </p:sp>
      <p:sp>
        <p:nvSpPr>
          <p:cNvPr id="6" name="正方形/長方形 5">
            <a:extLst>
              <a:ext uri="{FF2B5EF4-FFF2-40B4-BE49-F238E27FC236}">
                <a16:creationId xmlns:a16="http://schemas.microsoft.com/office/drawing/2014/main" id="{09948FF4-C26E-D26B-3FE0-D154730B7105}"/>
              </a:ext>
            </a:extLst>
          </p:cNvPr>
          <p:cNvSpPr/>
          <p:nvPr/>
        </p:nvSpPr>
        <p:spPr bwMode="gray">
          <a:xfrm>
            <a:off x="1056627" y="1966872"/>
            <a:ext cx="2081680" cy="427273"/>
          </a:xfrm>
          <a:prstGeom prst="rect">
            <a:avLst/>
          </a:prstGeom>
          <a:solidFill>
            <a:sysClr val="window" lastClr="FFFFFF">
              <a:lumMod val="50000"/>
            </a:sysClr>
          </a:solidFill>
          <a:ln w="12700" algn="ctr">
            <a:solidFill>
              <a:sysClr val="window" lastClr="FFFFFF">
                <a:lumMod val="75000"/>
              </a:sys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Yu Gothic UI"/>
                <a:ea typeface="Yu Gothic UI"/>
                <a:cs typeface="Arial" charset="0"/>
              </a:rPr>
              <a:t>W3C</a:t>
            </a:r>
            <a:endParaRPr kumimoji="0" lang="ja-JP" altLang="en-US" sz="1200" b="1" i="0" u="none" strike="noStrike" kern="0" cap="none" spc="0" normalizeH="0" baseline="0" noProof="0">
              <a:ln>
                <a:noFill/>
              </a:ln>
              <a:solidFill>
                <a:prstClr val="white"/>
              </a:solidFill>
              <a:effectLst/>
              <a:uLnTx/>
              <a:uFillTx/>
              <a:latin typeface="Yu Gothic UI"/>
              <a:ea typeface="Yu Gothic UI"/>
              <a:cs typeface="Arial" charset="0"/>
            </a:endParaRPr>
          </a:p>
        </p:txBody>
      </p:sp>
      <p:sp>
        <p:nvSpPr>
          <p:cNvPr id="7" name="正方形/長方形 6">
            <a:extLst>
              <a:ext uri="{FF2B5EF4-FFF2-40B4-BE49-F238E27FC236}">
                <a16:creationId xmlns:a16="http://schemas.microsoft.com/office/drawing/2014/main" id="{3DFCBCA3-A289-971B-9C07-CAD42589C2B0}"/>
              </a:ext>
            </a:extLst>
          </p:cNvPr>
          <p:cNvSpPr/>
          <p:nvPr/>
        </p:nvSpPr>
        <p:spPr bwMode="gray">
          <a:xfrm>
            <a:off x="3203195" y="1966872"/>
            <a:ext cx="2081680" cy="427273"/>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Yu Gothic UI"/>
                <a:ea typeface="Yu Gothic UI"/>
                <a:cs typeface="Arial" charset="0"/>
              </a:rPr>
              <a:t>OpenID</a:t>
            </a:r>
            <a:r>
              <a:rPr kumimoji="0" lang="ja-JP" altLang="en-US" sz="1200" b="1" i="0" u="none" strike="noStrike" kern="0" cap="none" spc="0" normalizeH="0" baseline="0" noProof="0" dirty="0">
                <a:ln>
                  <a:noFill/>
                </a:ln>
                <a:solidFill>
                  <a:prstClr val="white"/>
                </a:solidFill>
                <a:effectLst/>
                <a:uLnTx/>
                <a:uFillTx/>
                <a:latin typeface="Yu Gothic UI"/>
                <a:ea typeface="Yu Gothic UI"/>
                <a:cs typeface="Arial" charset="0"/>
              </a:rPr>
              <a:t> </a:t>
            </a:r>
            <a:r>
              <a:rPr kumimoji="0" lang="en-US" altLang="ja-JP" sz="1200" b="1" i="0" u="none" strike="noStrike" kern="0" cap="none" spc="0" normalizeH="0" baseline="0" noProof="0" dirty="0">
                <a:ln>
                  <a:noFill/>
                </a:ln>
                <a:solidFill>
                  <a:prstClr val="white"/>
                </a:solidFill>
                <a:effectLst/>
                <a:uLnTx/>
                <a:uFillTx/>
                <a:latin typeface="Yu Gothic UI"/>
                <a:ea typeface="Yu Gothic UI"/>
                <a:cs typeface="Arial" charset="0"/>
              </a:rPr>
              <a:t>Foundation</a:t>
            </a:r>
            <a:endParaRPr kumimoji="0" lang="ja-JP" altLang="en-US" sz="1200" b="1" i="0" u="none" strike="noStrike" kern="0" cap="none" spc="0" normalizeH="0" baseline="0" noProof="0" dirty="0">
              <a:ln>
                <a:noFill/>
              </a:ln>
              <a:solidFill>
                <a:prstClr val="white"/>
              </a:solidFill>
              <a:effectLst/>
              <a:uLnTx/>
              <a:uFillTx/>
              <a:latin typeface="Yu Gothic UI"/>
              <a:ea typeface="Yu Gothic UI"/>
              <a:cs typeface="Arial" charset="0"/>
            </a:endParaRPr>
          </a:p>
        </p:txBody>
      </p:sp>
      <p:sp>
        <p:nvSpPr>
          <p:cNvPr id="8" name="正方形/長方形 7">
            <a:extLst>
              <a:ext uri="{FF2B5EF4-FFF2-40B4-BE49-F238E27FC236}">
                <a16:creationId xmlns:a16="http://schemas.microsoft.com/office/drawing/2014/main" id="{37F8A628-6114-B349-CF3A-773B75A38DAD}"/>
              </a:ext>
            </a:extLst>
          </p:cNvPr>
          <p:cNvSpPr/>
          <p:nvPr/>
        </p:nvSpPr>
        <p:spPr bwMode="gray">
          <a:xfrm>
            <a:off x="1056627" y="4770796"/>
            <a:ext cx="2081680" cy="1560072"/>
          </a:xfrm>
          <a:prstGeom prst="rect">
            <a:avLst/>
          </a:prstGeom>
          <a:solidFill>
            <a:sysClr val="window" lastClr="FFFFFF">
              <a:lumMod val="95000"/>
            </a:sysClr>
          </a:solidFill>
          <a:ln w="12700" algn="ctr">
            <a:solidFill>
              <a:srgbClr val="BBBCBC"/>
            </a:solidFill>
            <a:miter lim="800000"/>
            <a:headEnd/>
            <a:tailEnd/>
          </a:ln>
        </p:spPr>
        <p:txBody>
          <a:bodyPr rot="0" spcFirstLastPara="0" vertOverflow="overflow" horzOverflow="overflow" vert="horz" wrap="square" lIns="72000" tIns="0" rIns="108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100" b="0" i="0" u="none" strike="noStrike" kern="0" cap="none" spc="0" normalizeH="0" baseline="0" noProof="0" dirty="0">
                <a:ln>
                  <a:noFill/>
                </a:ln>
                <a:solidFill>
                  <a:prstClr val="black"/>
                </a:solidFill>
                <a:effectLst/>
                <a:uLnTx/>
                <a:uFillTx/>
                <a:latin typeface="-apple-system"/>
                <a:ea typeface="Yu Gothic UI"/>
                <a:cs typeface="Arial" charset="0"/>
              </a:rPr>
              <a:t>Verifiable Credential</a:t>
            </a:r>
            <a:r>
              <a:rPr kumimoji="0" lang="ja-JP" altLang="en-US" sz="1100" b="0" i="0" u="none" strike="noStrike" kern="0" cap="none" spc="0" normalizeH="0" baseline="0" noProof="0" dirty="0">
                <a:ln>
                  <a:noFill/>
                </a:ln>
                <a:solidFill>
                  <a:prstClr val="black"/>
                </a:solidFill>
                <a:effectLst/>
                <a:uLnTx/>
                <a:uFillTx/>
                <a:latin typeface="-apple-system"/>
                <a:ea typeface="Yu Gothic UI"/>
                <a:cs typeface="Arial" charset="0"/>
              </a:rPr>
              <a:t>からのデータを含み、検証者に共有するデータ形式</a:t>
            </a:r>
            <a:endParaRPr kumimoji="0" lang="en-US" altLang="ja-JP" sz="1100" b="0" i="0" u="none" strike="noStrike" kern="0" cap="none" spc="0" normalizeH="0" baseline="0" noProof="0" dirty="0">
              <a:ln>
                <a:noFill/>
              </a:ln>
              <a:solidFill>
                <a:prstClr val="black"/>
              </a:solidFill>
              <a:effectLst/>
              <a:uLnTx/>
              <a:uFillTx/>
              <a:latin typeface="-apple-system"/>
              <a:ea typeface="Yu Gothic UI"/>
              <a:cs typeface="Arial" charset="0"/>
            </a:endParaRP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100" b="0" i="0" u="none" strike="noStrike" kern="0" cap="none" spc="0" normalizeH="0" baseline="0" noProof="0" dirty="0">
                <a:ln>
                  <a:noFill/>
                </a:ln>
                <a:solidFill>
                  <a:prstClr val="black"/>
                </a:solidFill>
                <a:effectLst/>
                <a:uLnTx/>
                <a:uFillTx/>
                <a:latin typeface="-apple-system"/>
                <a:ea typeface="Yu Gothic UI"/>
                <a:cs typeface="Arial" charset="0"/>
              </a:rPr>
              <a:t>VC</a:t>
            </a:r>
            <a:r>
              <a:rPr kumimoji="0" lang="ja-JP" altLang="en-US" sz="1100" b="0" i="0" u="none" strike="noStrike" kern="0" cap="none" spc="0" normalizeH="0" baseline="0" noProof="0" dirty="0">
                <a:ln>
                  <a:noFill/>
                </a:ln>
                <a:solidFill>
                  <a:prstClr val="black"/>
                </a:solidFill>
                <a:effectLst/>
                <a:uLnTx/>
                <a:uFillTx/>
                <a:latin typeface="-apple-system"/>
                <a:ea typeface="Yu Gothic UI"/>
                <a:cs typeface="Arial" charset="0"/>
              </a:rPr>
              <a:t>の保持者が相手に情報の内容まで知られたくない場合にゼロ知識証明などによって選択的な開示が可能</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9" name="正方形/長方形 8">
            <a:extLst>
              <a:ext uri="{FF2B5EF4-FFF2-40B4-BE49-F238E27FC236}">
                <a16:creationId xmlns:a16="http://schemas.microsoft.com/office/drawing/2014/main" id="{1C567CFB-4349-155A-1A39-F88B927249C9}"/>
              </a:ext>
            </a:extLst>
          </p:cNvPr>
          <p:cNvSpPr/>
          <p:nvPr/>
        </p:nvSpPr>
        <p:spPr bwMode="gray">
          <a:xfrm>
            <a:off x="3203195" y="4770795"/>
            <a:ext cx="2081680" cy="1560071"/>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72000" tIns="0" rIns="108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rPr>
              <a:t>OAuth2.0</a:t>
            </a:r>
            <a:r>
              <a:rPr kumimoji="0" lang="ja-JP" altLang="en-US" sz="1100" b="0" i="0" u="none" strike="noStrike" kern="0" cap="none" spc="0" normalizeH="0" baseline="0" noProof="0" dirty="0">
                <a:ln>
                  <a:noFill/>
                </a:ln>
                <a:solidFill>
                  <a:prstClr val="black"/>
                </a:solidFill>
                <a:effectLst/>
                <a:uLnTx/>
                <a:uFillTx/>
                <a:latin typeface="Arial" charset="0"/>
                <a:ea typeface="Yu Gothic UI"/>
                <a:cs typeface="Arial" charset="0"/>
              </a:rPr>
              <a:t>及び</a:t>
            </a:r>
            <a:r>
              <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rPr>
              <a:t>OpenID Connect</a:t>
            </a:r>
            <a:r>
              <a:rPr kumimoji="0" lang="ja-JP" altLang="en-US" sz="1100" b="0" i="0" u="none" strike="noStrike" kern="0" cap="none" spc="0" normalizeH="0" baseline="0" noProof="0" dirty="0">
                <a:ln>
                  <a:noFill/>
                </a:ln>
                <a:solidFill>
                  <a:prstClr val="black"/>
                </a:solidFill>
                <a:effectLst/>
                <a:uLnTx/>
                <a:uFillTx/>
                <a:latin typeface="Arial" charset="0"/>
                <a:ea typeface="Yu Gothic UI"/>
                <a:cs typeface="Arial" charset="0"/>
              </a:rPr>
              <a:t>のプロトコルフロー上において、検証可能なプレゼン テーションの形式で要求を提示するメカニズムを定義</a:t>
            </a:r>
            <a:endPar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endParaRP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en-US" sz="1100" b="0" i="0" u="none" strike="noStrike" kern="0" cap="none" spc="0" normalizeH="0" baseline="0" noProof="0" dirty="0">
                <a:ln>
                  <a:noFill/>
                </a:ln>
                <a:solidFill>
                  <a:prstClr val="black"/>
                </a:solidFill>
                <a:effectLst/>
                <a:uLnTx/>
                <a:uFillTx/>
                <a:latin typeface="Arial" charset="0"/>
                <a:ea typeface="Yu Gothic UI"/>
                <a:cs typeface="Arial" charset="0"/>
              </a:rPr>
              <a:t>既存の</a:t>
            </a:r>
            <a:r>
              <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rPr>
              <a:t>OIDC</a:t>
            </a:r>
            <a:r>
              <a:rPr kumimoji="0" lang="ja-JP" altLang="en-US" sz="1100" b="0" i="0" u="none" strike="noStrike" kern="0" cap="none" spc="0" normalizeH="0" baseline="0" noProof="0" dirty="0">
                <a:ln>
                  <a:noFill/>
                </a:ln>
                <a:solidFill>
                  <a:prstClr val="black"/>
                </a:solidFill>
                <a:effectLst/>
                <a:uLnTx/>
                <a:uFillTx/>
                <a:latin typeface="Arial" charset="0"/>
                <a:ea typeface="Yu Gothic UI"/>
                <a:cs typeface="Arial" charset="0"/>
              </a:rPr>
              <a:t>のフローに近く、標準化の検討が進んでいる</a:t>
            </a:r>
            <a:endPar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endParaRPr>
          </a:p>
        </p:txBody>
      </p:sp>
      <p:sp>
        <p:nvSpPr>
          <p:cNvPr id="10" name="正方形/長方形 9">
            <a:extLst>
              <a:ext uri="{FF2B5EF4-FFF2-40B4-BE49-F238E27FC236}">
                <a16:creationId xmlns:a16="http://schemas.microsoft.com/office/drawing/2014/main" id="{8F012271-A391-F270-6A1F-A001BDF19B91}"/>
              </a:ext>
            </a:extLst>
          </p:cNvPr>
          <p:cNvSpPr/>
          <p:nvPr/>
        </p:nvSpPr>
        <p:spPr bwMode="gray">
          <a:xfrm>
            <a:off x="1056627" y="2813538"/>
            <a:ext cx="2081680" cy="1543089"/>
          </a:xfrm>
          <a:prstGeom prst="rect">
            <a:avLst/>
          </a:prstGeom>
          <a:solidFill>
            <a:sysClr val="window" lastClr="FFFFFF">
              <a:lumMod val="95000"/>
            </a:sysClr>
          </a:solidFill>
          <a:ln w="12700" algn="ctr">
            <a:solidFill>
              <a:srgbClr val="BBBCBC"/>
            </a:solidFill>
            <a:miter lim="800000"/>
            <a:headEnd/>
            <a:tailEnd/>
          </a:ln>
        </p:spPr>
        <p:txBody>
          <a:bodyPr rot="0" spcFirstLastPara="0" vertOverflow="overflow" horzOverflow="overflow" vert="horz" wrap="square" lIns="72000" tIns="0" rIns="108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en-US" sz="1100" b="0" i="0" u="none" strike="noStrike" kern="0" cap="none" spc="0" normalizeH="0" baseline="0" noProof="0" dirty="0">
                <a:ln>
                  <a:noFill/>
                </a:ln>
                <a:solidFill>
                  <a:prstClr val="black"/>
                </a:solidFill>
                <a:effectLst/>
                <a:uLnTx/>
                <a:uFillTx/>
                <a:latin typeface="-apple-system"/>
                <a:ea typeface="Yu Gothic UI"/>
                <a:cs typeface="Arial" charset="0"/>
              </a:rPr>
              <a:t>運転免許証や学歴証明書、資格証明書、その他の機密データなどの物理的に存在する個人の属性を表す情報をデジタル化し、オンライン上で検証可能にした証明書</a:t>
            </a:r>
            <a:endPar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11" name="正方形/長方形 10">
            <a:extLst>
              <a:ext uri="{FF2B5EF4-FFF2-40B4-BE49-F238E27FC236}">
                <a16:creationId xmlns:a16="http://schemas.microsoft.com/office/drawing/2014/main" id="{610DA5FC-54B9-A0BA-38B1-1372D7499AEE}"/>
              </a:ext>
            </a:extLst>
          </p:cNvPr>
          <p:cNvSpPr/>
          <p:nvPr/>
        </p:nvSpPr>
        <p:spPr bwMode="gray">
          <a:xfrm>
            <a:off x="3203195" y="2487153"/>
            <a:ext cx="2081680" cy="295149"/>
          </a:xfrm>
          <a:prstGeom prst="rect">
            <a:avLst/>
          </a:prstGeom>
          <a:solidFill>
            <a:schemeClr val="accent1">
              <a:lumMod val="40000"/>
              <a:lumOff val="6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Yu Gothic UI"/>
                <a:ea typeface="Yu Gothic UI"/>
                <a:cs typeface="Arial" charset="0"/>
              </a:rPr>
              <a:t>OID4VCI</a:t>
            </a:r>
            <a:endParaRPr kumimoji="0" lang="ja-JP" altLang="en-US" sz="1200" b="0" i="0" u="none" strike="noStrike" kern="0" cap="none" spc="0" normalizeH="0" baseline="0" noProof="0">
              <a:ln>
                <a:noFill/>
              </a:ln>
              <a:solidFill>
                <a:prstClr val="black"/>
              </a:solidFill>
              <a:effectLst/>
              <a:uLnTx/>
              <a:uFillTx/>
              <a:latin typeface="Yu Gothic UI"/>
              <a:ea typeface="Yu Gothic UI"/>
              <a:cs typeface="Arial" charset="0"/>
            </a:endParaRPr>
          </a:p>
        </p:txBody>
      </p:sp>
      <p:sp>
        <p:nvSpPr>
          <p:cNvPr id="12" name="正方形/長方形 11">
            <a:extLst>
              <a:ext uri="{FF2B5EF4-FFF2-40B4-BE49-F238E27FC236}">
                <a16:creationId xmlns:a16="http://schemas.microsoft.com/office/drawing/2014/main" id="{AC47B4E3-9571-2964-781C-9A53A85AE12F}"/>
              </a:ext>
            </a:extLst>
          </p:cNvPr>
          <p:cNvSpPr/>
          <p:nvPr/>
        </p:nvSpPr>
        <p:spPr bwMode="gray">
          <a:xfrm>
            <a:off x="3203195" y="2813538"/>
            <a:ext cx="2081680" cy="1543089"/>
          </a:xfrm>
          <a:prstGeom prst="rect">
            <a:avLst/>
          </a:prstGeom>
          <a:solidFill>
            <a:schemeClr val="accent1">
              <a:lumMod val="20000"/>
              <a:lumOff val="80000"/>
            </a:schemeClr>
          </a:solidFill>
          <a:ln w="12700" algn="ctr">
            <a:solidFill>
              <a:schemeClr val="bg1">
                <a:lumMod val="75000"/>
              </a:schemeClr>
            </a:solidFill>
            <a:miter lim="800000"/>
            <a:headEnd/>
            <a:tailEnd/>
          </a:ln>
        </p:spPr>
        <p:txBody>
          <a:bodyPr rot="0" spcFirstLastPara="0" vertOverflow="overflow" horzOverflow="overflow" vert="horz" wrap="square" lIns="72000" tIns="0" rIns="108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en-US" sz="1100" b="0" i="0" u="none" strike="noStrike" kern="0" cap="none" spc="0" normalizeH="0" baseline="0" noProof="0" dirty="0">
                <a:ln>
                  <a:noFill/>
                </a:ln>
                <a:solidFill>
                  <a:prstClr val="black"/>
                </a:solidFill>
                <a:effectLst/>
                <a:uLnTx/>
                <a:uFillTx/>
                <a:latin typeface="Arial" charset="0"/>
                <a:ea typeface="Yu Gothic UI"/>
                <a:cs typeface="Arial" charset="0"/>
              </a:rPr>
              <a:t>既存の</a:t>
            </a:r>
            <a:r>
              <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rPr>
              <a:t>OAuth 2.0</a:t>
            </a:r>
            <a:r>
              <a:rPr kumimoji="0" lang="ja-JP" altLang="en-US" sz="1100" b="0" i="0" u="none" strike="noStrike" kern="0" cap="none" spc="0" normalizeH="0" baseline="0" noProof="0" dirty="0">
                <a:ln>
                  <a:noFill/>
                </a:ln>
                <a:solidFill>
                  <a:prstClr val="black"/>
                </a:solidFill>
                <a:effectLst/>
                <a:uLnTx/>
                <a:uFillTx/>
                <a:latin typeface="Arial" charset="0"/>
                <a:ea typeface="Yu Gothic UI"/>
                <a:cs typeface="Arial" charset="0"/>
              </a:rPr>
              <a:t>実装と</a:t>
            </a:r>
            <a:r>
              <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rPr>
              <a:t>OpenID Provider</a:t>
            </a:r>
            <a:r>
              <a:rPr kumimoji="0" lang="ja-JP" altLang="en-US" sz="1100" b="0" i="0" u="none" strike="noStrike" kern="0" cap="none" spc="0" normalizeH="0" baseline="0" noProof="0" dirty="0">
                <a:ln>
                  <a:noFill/>
                </a:ln>
                <a:solidFill>
                  <a:prstClr val="black"/>
                </a:solidFill>
                <a:effectLst/>
                <a:uLnTx/>
                <a:uFillTx/>
                <a:latin typeface="Arial" charset="0"/>
                <a:ea typeface="Yu Gothic UI"/>
                <a:cs typeface="Arial" charset="0"/>
              </a:rPr>
              <a:t>のサービスを拡張し、</a:t>
            </a:r>
            <a:r>
              <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rPr>
              <a:t>Verifiable Credential</a:t>
            </a:r>
            <a:r>
              <a:rPr kumimoji="0" lang="ja-JP" altLang="en-US" sz="1100" b="0" i="0" u="none" strike="noStrike" kern="0" cap="none" spc="0" normalizeH="0" baseline="0" noProof="0" dirty="0">
                <a:ln>
                  <a:noFill/>
                </a:ln>
                <a:solidFill>
                  <a:prstClr val="black"/>
                </a:solidFill>
                <a:effectLst/>
                <a:uLnTx/>
                <a:uFillTx/>
                <a:latin typeface="Arial" charset="0"/>
                <a:ea typeface="Yu Gothic UI"/>
                <a:cs typeface="Arial" charset="0"/>
              </a:rPr>
              <a:t>を発行することが可能</a:t>
            </a:r>
            <a:br>
              <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rPr>
            </a:br>
            <a:r>
              <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rPr>
              <a:t>(</a:t>
            </a:r>
            <a:r>
              <a:rPr kumimoji="0" lang="ja-JP" altLang="en-US" sz="1100" b="0" i="0" u="none" strike="noStrike" kern="0" cap="none" spc="0" normalizeH="0" baseline="0" noProof="0" dirty="0">
                <a:ln>
                  <a:noFill/>
                </a:ln>
                <a:solidFill>
                  <a:prstClr val="black"/>
                </a:solidFill>
                <a:effectLst/>
                <a:uLnTx/>
                <a:uFillTx/>
                <a:latin typeface="Arial" charset="0"/>
                <a:ea typeface="Yu Gothic UI"/>
                <a:cs typeface="Arial" charset="0"/>
              </a:rPr>
              <a:t>新規フローなので標準化に時間を要す</a:t>
            </a:r>
            <a:r>
              <a:rPr kumimoji="0" lang="en-US" altLang="ja-JP" sz="1100" b="0" i="0" u="none" strike="noStrike" kern="0" cap="none" spc="0" normalizeH="0" baseline="0" noProof="0" dirty="0">
                <a:ln>
                  <a:noFill/>
                </a:ln>
                <a:solidFill>
                  <a:prstClr val="black"/>
                </a:solidFill>
                <a:effectLst/>
                <a:uLnTx/>
                <a:uFillTx/>
                <a:latin typeface="Arial" charset="0"/>
                <a:ea typeface="Yu Gothic UI"/>
                <a:cs typeface="Arial" charset="0"/>
              </a:rPr>
              <a:t>)</a:t>
            </a:r>
          </a:p>
        </p:txBody>
      </p:sp>
      <p:grpSp>
        <p:nvGrpSpPr>
          <p:cNvPr id="13" name="グループ化 12">
            <a:extLst>
              <a:ext uri="{FF2B5EF4-FFF2-40B4-BE49-F238E27FC236}">
                <a16:creationId xmlns:a16="http://schemas.microsoft.com/office/drawing/2014/main" id="{B0424E5C-D4B5-8B7F-EABE-51745F98EEE0}"/>
              </a:ext>
            </a:extLst>
          </p:cNvPr>
          <p:cNvGrpSpPr/>
          <p:nvPr/>
        </p:nvGrpSpPr>
        <p:grpSpPr>
          <a:xfrm>
            <a:off x="271550" y="2471783"/>
            <a:ext cx="699228" cy="3851256"/>
            <a:chOff x="415925" y="1881083"/>
            <a:chExt cx="1269687" cy="1547918"/>
          </a:xfrm>
        </p:grpSpPr>
        <p:sp>
          <p:nvSpPr>
            <p:cNvPr id="17" name="正方形/長方形 16">
              <a:extLst>
                <a:ext uri="{FF2B5EF4-FFF2-40B4-BE49-F238E27FC236}">
                  <a16:creationId xmlns:a16="http://schemas.microsoft.com/office/drawing/2014/main" id="{BE39E260-BF38-1536-6187-01FDD4D316D7}"/>
                </a:ext>
              </a:extLst>
            </p:cNvPr>
            <p:cNvSpPr/>
            <p:nvPr/>
          </p:nvSpPr>
          <p:spPr bwMode="gray">
            <a:xfrm>
              <a:off x="982378" y="2670615"/>
              <a:ext cx="703234" cy="758386"/>
            </a:xfrm>
            <a:prstGeom prst="rect">
              <a:avLst/>
            </a:prstGeom>
            <a:solidFill>
              <a:sysClr val="window" lastClr="FFFFFF"/>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Yu Gothic UI"/>
                  <a:ea typeface="Yu Gothic UI"/>
                  <a:cs typeface="Arial" charset="0"/>
                </a:rPr>
                <a:t>VP</a:t>
              </a:r>
            </a:p>
          </p:txBody>
        </p:sp>
        <p:sp>
          <p:nvSpPr>
            <p:cNvPr id="18" name="正方形/長方形 17">
              <a:extLst>
                <a:ext uri="{FF2B5EF4-FFF2-40B4-BE49-F238E27FC236}">
                  <a16:creationId xmlns:a16="http://schemas.microsoft.com/office/drawing/2014/main" id="{3E2FD8D0-6D08-0397-025F-910413A06E6F}"/>
                </a:ext>
              </a:extLst>
            </p:cNvPr>
            <p:cNvSpPr/>
            <p:nvPr/>
          </p:nvSpPr>
          <p:spPr bwMode="gray">
            <a:xfrm>
              <a:off x="982379" y="1881083"/>
              <a:ext cx="703233" cy="758327"/>
            </a:xfrm>
            <a:prstGeom prst="rect">
              <a:avLst/>
            </a:prstGeom>
            <a:solidFill>
              <a:sysClr val="window" lastClr="FFFFFF"/>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Yu Gothic UI"/>
                  <a:ea typeface="Yu Gothic UI"/>
                  <a:cs typeface="Arial" charset="0"/>
                </a:rPr>
                <a:t>VC</a:t>
              </a:r>
            </a:p>
          </p:txBody>
        </p:sp>
        <p:sp>
          <p:nvSpPr>
            <p:cNvPr id="19" name="正方形/長方形 18">
              <a:extLst>
                <a:ext uri="{FF2B5EF4-FFF2-40B4-BE49-F238E27FC236}">
                  <a16:creationId xmlns:a16="http://schemas.microsoft.com/office/drawing/2014/main" id="{0608BAD0-42EC-90F9-5E7F-5AFF5B23ED07}"/>
                </a:ext>
              </a:extLst>
            </p:cNvPr>
            <p:cNvSpPr/>
            <p:nvPr/>
          </p:nvSpPr>
          <p:spPr bwMode="gray">
            <a:xfrm>
              <a:off x="415925" y="1882684"/>
              <a:ext cx="406935" cy="1546316"/>
            </a:xfrm>
            <a:prstGeom prst="rect">
              <a:avLst/>
            </a:prstGeom>
            <a:solidFill>
              <a:srgbClr val="53565A"/>
            </a:solidFill>
            <a:ln w="12700" algn="ctr">
              <a:solidFill>
                <a:srgbClr val="53565A"/>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prstClr val="white"/>
                  </a:solidFill>
                  <a:effectLst/>
                  <a:uLnTx/>
                  <a:uFillTx/>
                  <a:latin typeface="Calibri Light"/>
                  <a:ea typeface="Yu Gothic UI"/>
                  <a:cs typeface="Arial" charset="0"/>
                </a:rPr>
                <a:t>規格・特徴</a:t>
              </a:r>
            </a:p>
          </p:txBody>
        </p:sp>
      </p:grpSp>
      <p:sp>
        <p:nvSpPr>
          <p:cNvPr id="14" name="正方形/長方形 13">
            <a:extLst>
              <a:ext uri="{FF2B5EF4-FFF2-40B4-BE49-F238E27FC236}">
                <a16:creationId xmlns:a16="http://schemas.microsoft.com/office/drawing/2014/main" id="{0FBEB25A-CDA1-E2D7-3F69-B5D3C6E7B9A7}"/>
              </a:ext>
            </a:extLst>
          </p:cNvPr>
          <p:cNvSpPr/>
          <p:nvPr/>
        </p:nvSpPr>
        <p:spPr bwMode="gray">
          <a:xfrm>
            <a:off x="1056627" y="2471044"/>
            <a:ext cx="2081680" cy="295149"/>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rPr>
              <a:t>W3C-VC</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15" name="正方形/長方形 14">
            <a:extLst>
              <a:ext uri="{FF2B5EF4-FFF2-40B4-BE49-F238E27FC236}">
                <a16:creationId xmlns:a16="http://schemas.microsoft.com/office/drawing/2014/main" id="{659C73E9-1BA7-0462-7ADA-CE689B68A654}"/>
              </a:ext>
            </a:extLst>
          </p:cNvPr>
          <p:cNvSpPr/>
          <p:nvPr/>
        </p:nvSpPr>
        <p:spPr bwMode="gray">
          <a:xfrm>
            <a:off x="1056627" y="4436586"/>
            <a:ext cx="2081680" cy="295149"/>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rPr>
              <a:t>W3C-VP</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16" name="正方形/長方形 15">
            <a:extLst>
              <a:ext uri="{FF2B5EF4-FFF2-40B4-BE49-F238E27FC236}">
                <a16:creationId xmlns:a16="http://schemas.microsoft.com/office/drawing/2014/main" id="{8722D537-A329-718E-334E-C7B64CD9D48C}"/>
              </a:ext>
            </a:extLst>
          </p:cNvPr>
          <p:cNvSpPr/>
          <p:nvPr/>
        </p:nvSpPr>
        <p:spPr bwMode="gray">
          <a:xfrm>
            <a:off x="3203195" y="4436586"/>
            <a:ext cx="2081680" cy="295149"/>
          </a:xfrm>
          <a:prstGeom prst="rect">
            <a:avLst/>
          </a:prstGeom>
          <a:solidFill>
            <a:schemeClr val="accent1">
              <a:lumMod val="40000"/>
              <a:lumOff val="6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Yu Gothic UI"/>
                <a:ea typeface="Yu Gothic UI"/>
                <a:cs typeface="Arial" charset="0"/>
              </a:rPr>
              <a:t>OID4VP</a:t>
            </a:r>
            <a:endParaRPr kumimoji="0" lang="ja-JP" altLang="en-US" sz="1200" b="0" i="0" u="none" strike="noStrike" kern="0" cap="none" spc="0" normalizeH="0" baseline="0" noProof="0" dirty="0">
              <a:ln>
                <a:noFill/>
              </a:ln>
              <a:solidFill>
                <a:prstClr val="black"/>
              </a:solidFill>
              <a:effectLst/>
              <a:uLnTx/>
              <a:uFillTx/>
              <a:latin typeface="Yu Gothic UI"/>
              <a:ea typeface="Yu Gothic UI"/>
              <a:cs typeface="Arial" charset="0"/>
            </a:endParaRPr>
          </a:p>
        </p:txBody>
      </p:sp>
      <p:sp>
        <p:nvSpPr>
          <p:cNvPr id="20" name="正方形/長方形 19">
            <a:extLst>
              <a:ext uri="{FF2B5EF4-FFF2-40B4-BE49-F238E27FC236}">
                <a16:creationId xmlns:a16="http://schemas.microsoft.com/office/drawing/2014/main" id="{1C5DC172-FA56-6BDF-3816-D8017D47826E}"/>
              </a:ext>
            </a:extLst>
          </p:cNvPr>
          <p:cNvSpPr/>
          <p:nvPr/>
        </p:nvSpPr>
        <p:spPr bwMode="gray">
          <a:xfrm>
            <a:off x="5516940" y="2925011"/>
            <a:ext cx="813346" cy="1503838"/>
          </a:xfrm>
          <a:prstGeom prst="rect">
            <a:avLst/>
          </a:prstGeom>
          <a:solidFill>
            <a:srgbClr val="86BC25">
              <a:lumMod val="20000"/>
              <a:lumOff val="80000"/>
            </a:srgb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Light"/>
                <a:ea typeface="Yu Gothic UI"/>
                <a:cs typeface="Arial" charset="0"/>
              </a:rPr>
              <a:t>OpenID </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Light"/>
                <a:ea typeface="Yu Gothic UI"/>
                <a:cs typeface="Arial" charset="0"/>
              </a:rPr>
              <a:t>Provider</a:t>
            </a:r>
            <a:endParaRPr kumimoji="0" lang="ja-JP" altLang="en-US" sz="10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21" name="正方形/長方形 20">
            <a:extLst>
              <a:ext uri="{FF2B5EF4-FFF2-40B4-BE49-F238E27FC236}">
                <a16:creationId xmlns:a16="http://schemas.microsoft.com/office/drawing/2014/main" id="{A163FBD9-E875-C6DB-D338-59D0F60B15D6}"/>
              </a:ext>
            </a:extLst>
          </p:cNvPr>
          <p:cNvSpPr/>
          <p:nvPr/>
        </p:nvSpPr>
        <p:spPr bwMode="gray">
          <a:xfrm>
            <a:off x="7158744" y="3049561"/>
            <a:ext cx="813346" cy="870960"/>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a:ln>
                  <a:noFill/>
                </a:ln>
                <a:solidFill>
                  <a:prstClr val="black"/>
                </a:solidFill>
                <a:effectLst/>
                <a:uLnTx/>
                <a:uFillTx/>
                <a:latin typeface="Calibri Light"/>
                <a:ea typeface="Yu Gothic UI"/>
                <a:cs typeface="Arial" charset="0"/>
              </a:rPr>
              <a:t>User</a:t>
            </a:r>
          </a:p>
        </p:txBody>
      </p:sp>
      <p:sp>
        <p:nvSpPr>
          <p:cNvPr id="22" name="正方形/長方形 21">
            <a:extLst>
              <a:ext uri="{FF2B5EF4-FFF2-40B4-BE49-F238E27FC236}">
                <a16:creationId xmlns:a16="http://schemas.microsoft.com/office/drawing/2014/main" id="{D03C6527-4F5A-628D-CDC4-F449F5E8E6DA}"/>
              </a:ext>
            </a:extLst>
          </p:cNvPr>
          <p:cNvSpPr/>
          <p:nvPr/>
        </p:nvSpPr>
        <p:spPr bwMode="gray">
          <a:xfrm>
            <a:off x="8800548" y="2925012"/>
            <a:ext cx="813346" cy="1503838"/>
          </a:xfrm>
          <a:prstGeom prst="rect">
            <a:avLst/>
          </a:prstGeom>
          <a:solidFill>
            <a:srgbClr val="007CB0">
              <a:lumMod val="20000"/>
              <a:lumOff val="80000"/>
            </a:srgb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a:ln>
                  <a:noFill/>
                </a:ln>
                <a:solidFill>
                  <a:prstClr val="black"/>
                </a:solidFill>
                <a:effectLst/>
                <a:uLnTx/>
                <a:uFillTx/>
                <a:latin typeface="Calibri Light"/>
                <a:ea typeface="Yu Gothic UI"/>
                <a:cs typeface="Arial" charset="0"/>
              </a:rPr>
              <a:t>Relying Party</a:t>
            </a:r>
            <a:endParaRPr kumimoji="0" lang="ja-JP" altLang="en-US" sz="1000" b="0" i="0" u="none" strike="noStrike" kern="0" cap="none" spc="0" normalizeH="0" baseline="0" noProof="0">
              <a:ln>
                <a:noFill/>
              </a:ln>
              <a:solidFill>
                <a:prstClr val="black"/>
              </a:solidFill>
              <a:effectLst/>
              <a:uLnTx/>
              <a:uFillTx/>
              <a:latin typeface="Calibri Light"/>
              <a:ea typeface="Yu Gothic UI"/>
              <a:cs typeface="Arial" charset="0"/>
            </a:endParaRPr>
          </a:p>
        </p:txBody>
      </p:sp>
      <p:cxnSp>
        <p:nvCxnSpPr>
          <p:cNvPr id="23" name="直線矢印コネクタ 22">
            <a:extLst>
              <a:ext uri="{FF2B5EF4-FFF2-40B4-BE49-F238E27FC236}">
                <a16:creationId xmlns:a16="http://schemas.microsoft.com/office/drawing/2014/main" id="{F9AFC02F-1D88-21D6-2760-F15EF7BCED07}"/>
              </a:ext>
            </a:extLst>
          </p:cNvPr>
          <p:cNvCxnSpPr>
            <a:cxnSpLocks/>
          </p:cNvCxnSpPr>
          <p:nvPr/>
        </p:nvCxnSpPr>
        <p:spPr bwMode="gray">
          <a:xfrm flipH="1">
            <a:off x="6330286" y="2992591"/>
            <a:ext cx="2470261" cy="0"/>
          </a:xfrm>
          <a:prstGeom prst="straightConnector1">
            <a:avLst/>
          </a:prstGeom>
          <a:noFill/>
          <a:ln w="12700" cap="flat" cmpd="sng" algn="ctr">
            <a:solidFill>
              <a:srgbClr val="53565A"/>
            </a:solidFill>
            <a:prstDash val="solid"/>
            <a:tailEnd type="triangle"/>
          </a:ln>
          <a:effectLst/>
        </p:spPr>
      </p:cxnSp>
      <p:cxnSp>
        <p:nvCxnSpPr>
          <p:cNvPr id="24" name="直線矢印コネクタ 23">
            <a:extLst>
              <a:ext uri="{FF2B5EF4-FFF2-40B4-BE49-F238E27FC236}">
                <a16:creationId xmlns:a16="http://schemas.microsoft.com/office/drawing/2014/main" id="{10CE9D24-9DFE-C4CB-6522-7DB9321E7574}"/>
              </a:ext>
            </a:extLst>
          </p:cNvPr>
          <p:cNvCxnSpPr>
            <a:cxnSpLocks/>
          </p:cNvCxnSpPr>
          <p:nvPr/>
        </p:nvCxnSpPr>
        <p:spPr bwMode="gray">
          <a:xfrm flipH="1">
            <a:off x="6330286" y="3530121"/>
            <a:ext cx="828458" cy="0"/>
          </a:xfrm>
          <a:prstGeom prst="straightConnector1">
            <a:avLst/>
          </a:prstGeom>
          <a:noFill/>
          <a:ln w="12700" cap="flat" cmpd="sng" algn="ctr">
            <a:solidFill>
              <a:srgbClr val="53565A"/>
            </a:solidFill>
            <a:prstDash val="solid"/>
            <a:headEnd type="triangle"/>
            <a:tailEnd type="triangle"/>
          </a:ln>
          <a:effectLst/>
        </p:spPr>
      </p:cxnSp>
      <p:cxnSp>
        <p:nvCxnSpPr>
          <p:cNvPr id="25" name="直線矢印コネクタ 24">
            <a:extLst>
              <a:ext uri="{FF2B5EF4-FFF2-40B4-BE49-F238E27FC236}">
                <a16:creationId xmlns:a16="http://schemas.microsoft.com/office/drawing/2014/main" id="{3C70438A-C482-715F-8045-ABDA0FFD956F}"/>
              </a:ext>
            </a:extLst>
          </p:cNvPr>
          <p:cNvCxnSpPr>
            <a:cxnSpLocks/>
          </p:cNvCxnSpPr>
          <p:nvPr/>
        </p:nvCxnSpPr>
        <p:spPr bwMode="gray">
          <a:xfrm flipV="1">
            <a:off x="6330286" y="4372020"/>
            <a:ext cx="2470261" cy="1"/>
          </a:xfrm>
          <a:prstGeom prst="straightConnector1">
            <a:avLst/>
          </a:prstGeom>
          <a:noFill/>
          <a:ln w="12700" cap="flat" cmpd="sng" algn="ctr">
            <a:solidFill>
              <a:srgbClr val="53565A"/>
            </a:solidFill>
            <a:prstDash val="solid"/>
            <a:tailEnd type="triangle"/>
          </a:ln>
          <a:effectLst/>
        </p:spPr>
      </p:cxnSp>
      <p:sp>
        <p:nvSpPr>
          <p:cNvPr id="26" name="正方形/長方形 25">
            <a:extLst>
              <a:ext uri="{FF2B5EF4-FFF2-40B4-BE49-F238E27FC236}">
                <a16:creationId xmlns:a16="http://schemas.microsoft.com/office/drawing/2014/main" id="{A36069AC-0FC9-85E6-85DC-EDA8E53C9AB7}"/>
              </a:ext>
            </a:extLst>
          </p:cNvPr>
          <p:cNvSpPr/>
          <p:nvPr/>
        </p:nvSpPr>
        <p:spPr bwMode="gray">
          <a:xfrm>
            <a:off x="7158743" y="5101600"/>
            <a:ext cx="813346" cy="1229266"/>
          </a:xfrm>
          <a:prstGeom prst="rect">
            <a:avLst/>
          </a:prstGeom>
          <a:solidFill>
            <a:srgbClr val="86BC25">
              <a:lumMod val="20000"/>
              <a:lumOff val="80000"/>
            </a:srgb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a:ln>
                  <a:noFill/>
                </a:ln>
                <a:solidFill>
                  <a:prstClr val="black"/>
                </a:solidFill>
                <a:effectLst/>
                <a:uLnTx/>
                <a:uFillTx/>
                <a:latin typeface="Calibri Light"/>
                <a:ea typeface="Yu Gothic UI"/>
                <a:cs typeface="Arial" charset="0"/>
              </a:rPr>
              <a:t>Holder</a:t>
            </a:r>
            <a:endParaRPr kumimoji="0" lang="ja-JP" altLang="en-US" sz="10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27" name="正方形/長方形 26">
            <a:extLst>
              <a:ext uri="{FF2B5EF4-FFF2-40B4-BE49-F238E27FC236}">
                <a16:creationId xmlns:a16="http://schemas.microsoft.com/office/drawing/2014/main" id="{716445B8-B605-7F43-5B8E-4727ED63673C}"/>
              </a:ext>
            </a:extLst>
          </p:cNvPr>
          <p:cNvSpPr/>
          <p:nvPr/>
        </p:nvSpPr>
        <p:spPr bwMode="gray">
          <a:xfrm>
            <a:off x="8800548" y="5101600"/>
            <a:ext cx="813346" cy="1229266"/>
          </a:xfrm>
          <a:prstGeom prst="rect">
            <a:avLst/>
          </a:prstGeom>
          <a:solidFill>
            <a:srgbClr val="007CB0">
              <a:lumMod val="20000"/>
              <a:lumOff val="80000"/>
            </a:srgb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a:ln>
                  <a:noFill/>
                </a:ln>
                <a:solidFill>
                  <a:prstClr val="black"/>
                </a:solidFill>
                <a:effectLst/>
                <a:uLnTx/>
                <a:uFillTx/>
                <a:latin typeface="Calibri Light"/>
                <a:ea typeface="Yu Gothic UI"/>
                <a:cs typeface="Arial" charset="0"/>
              </a:rPr>
              <a:t>Verifier</a:t>
            </a:r>
            <a:endParaRPr kumimoji="0" lang="ja-JP" altLang="en-US" sz="10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28" name="正方形/長方形 27">
            <a:extLst>
              <a:ext uri="{FF2B5EF4-FFF2-40B4-BE49-F238E27FC236}">
                <a16:creationId xmlns:a16="http://schemas.microsoft.com/office/drawing/2014/main" id="{78F1B29D-9DD6-1F27-1F99-5B3F9D809E4F}"/>
              </a:ext>
            </a:extLst>
          </p:cNvPr>
          <p:cNvSpPr/>
          <p:nvPr/>
        </p:nvSpPr>
        <p:spPr bwMode="gray">
          <a:xfrm>
            <a:off x="5516940" y="5101600"/>
            <a:ext cx="813346" cy="1229266"/>
          </a:xfrm>
          <a:prstGeom prst="rect">
            <a:avLst/>
          </a:prstGeom>
          <a:solidFill>
            <a:srgbClr val="007CB0">
              <a:lumMod val="60000"/>
              <a:lumOff val="40000"/>
            </a:srgb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a:ln>
                  <a:noFill/>
                </a:ln>
                <a:solidFill>
                  <a:prstClr val="black"/>
                </a:solidFill>
                <a:effectLst/>
                <a:uLnTx/>
                <a:uFillTx/>
                <a:latin typeface="Calibri Light"/>
                <a:ea typeface="Yu Gothic UI"/>
                <a:cs typeface="Arial" charset="0"/>
              </a:rPr>
              <a:t>Issuer</a:t>
            </a:r>
            <a:endParaRPr kumimoji="0" lang="ja-JP" altLang="en-US" sz="1000" b="0" i="0" u="none" strike="noStrike" kern="0" cap="none" spc="0" normalizeH="0" baseline="0" noProof="0">
              <a:ln>
                <a:noFill/>
              </a:ln>
              <a:solidFill>
                <a:prstClr val="black"/>
              </a:solidFill>
              <a:effectLst/>
              <a:uLnTx/>
              <a:uFillTx/>
              <a:latin typeface="Calibri Light"/>
              <a:ea typeface="Yu Gothic UI"/>
              <a:cs typeface="Arial" charset="0"/>
            </a:endParaRPr>
          </a:p>
        </p:txBody>
      </p:sp>
      <p:cxnSp>
        <p:nvCxnSpPr>
          <p:cNvPr id="29" name="直線コネクタ 28">
            <a:extLst>
              <a:ext uri="{FF2B5EF4-FFF2-40B4-BE49-F238E27FC236}">
                <a16:creationId xmlns:a16="http://schemas.microsoft.com/office/drawing/2014/main" id="{A4983561-740E-54A0-74D9-5D5459CDF2A9}"/>
              </a:ext>
            </a:extLst>
          </p:cNvPr>
          <p:cNvCxnSpPr>
            <a:cxnSpLocks/>
          </p:cNvCxnSpPr>
          <p:nvPr/>
        </p:nvCxnSpPr>
        <p:spPr bwMode="gray">
          <a:xfrm>
            <a:off x="5508832" y="4437036"/>
            <a:ext cx="1649908" cy="664564"/>
          </a:xfrm>
          <a:prstGeom prst="line">
            <a:avLst/>
          </a:prstGeom>
          <a:noFill/>
          <a:ln w="28575" cap="flat" cmpd="sng" algn="ctr">
            <a:solidFill>
              <a:srgbClr val="53565A"/>
            </a:solidFill>
            <a:prstDash val="sysDash"/>
          </a:ln>
          <a:effectLst/>
        </p:spPr>
      </p:cxnSp>
      <p:cxnSp>
        <p:nvCxnSpPr>
          <p:cNvPr id="30" name="直線コネクタ 29">
            <a:extLst>
              <a:ext uri="{FF2B5EF4-FFF2-40B4-BE49-F238E27FC236}">
                <a16:creationId xmlns:a16="http://schemas.microsoft.com/office/drawing/2014/main" id="{743C04D2-7C70-1338-7F2B-7B978123BBFF}"/>
              </a:ext>
            </a:extLst>
          </p:cNvPr>
          <p:cNvCxnSpPr>
            <a:cxnSpLocks/>
          </p:cNvCxnSpPr>
          <p:nvPr/>
        </p:nvCxnSpPr>
        <p:spPr bwMode="gray">
          <a:xfrm>
            <a:off x="9605786" y="4428853"/>
            <a:ext cx="0" cy="672747"/>
          </a:xfrm>
          <a:prstGeom prst="line">
            <a:avLst/>
          </a:prstGeom>
          <a:noFill/>
          <a:ln w="28575" cap="flat" cmpd="sng" algn="ctr">
            <a:solidFill>
              <a:srgbClr val="53565A"/>
            </a:solidFill>
            <a:prstDash val="sysDash"/>
          </a:ln>
          <a:effectLst/>
        </p:spPr>
      </p:cxnSp>
      <p:sp>
        <p:nvSpPr>
          <p:cNvPr id="31" name="テキスト ボックス 30">
            <a:extLst>
              <a:ext uri="{FF2B5EF4-FFF2-40B4-BE49-F238E27FC236}">
                <a16:creationId xmlns:a16="http://schemas.microsoft.com/office/drawing/2014/main" id="{AF8E251B-39E2-B1DA-A2DB-79F0672C0BB3}"/>
              </a:ext>
            </a:extLst>
          </p:cNvPr>
          <p:cNvSpPr txBox="1"/>
          <p:nvPr/>
        </p:nvSpPr>
        <p:spPr bwMode="gray">
          <a:xfrm>
            <a:off x="7137898" y="2870588"/>
            <a:ext cx="852798" cy="153888"/>
          </a:xfrm>
          <a:prstGeom prst="rect">
            <a:avLst/>
          </a:prstGeom>
          <a:noFill/>
        </p:spPr>
        <p:txBody>
          <a:bodyPr wrap="non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000">
                <a:solidFill>
                  <a:prstClr val="black"/>
                </a:solidFill>
                <a:latin typeface="Calibri Light"/>
                <a:ea typeface="Yu Gothic UI"/>
                <a:cs typeface="Arial" charset="0"/>
              </a:rPr>
              <a:t>②認証リクエスト</a:t>
            </a:r>
          </a:p>
        </p:txBody>
      </p:sp>
      <p:sp>
        <p:nvSpPr>
          <p:cNvPr id="32" name="テキスト ボックス 31">
            <a:extLst>
              <a:ext uri="{FF2B5EF4-FFF2-40B4-BE49-F238E27FC236}">
                <a16:creationId xmlns:a16="http://schemas.microsoft.com/office/drawing/2014/main" id="{B68BCC90-837A-899E-5E74-8B05CA54E442}"/>
              </a:ext>
            </a:extLst>
          </p:cNvPr>
          <p:cNvSpPr txBox="1"/>
          <p:nvPr/>
        </p:nvSpPr>
        <p:spPr bwMode="gray">
          <a:xfrm>
            <a:off x="6552154" y="3402677"/>
            <a:ext cx="384721" cy="153888"/>
          </a:xfrm>
          <a:prstGeom prst="rect">
            <a:avLst/>
          </a:prstGeom>
          <a:noFill/>
        </p:spPr>
        <p:txBody>
          <a:bodyPr wrap="non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000">
                <a:solidFill>
                  <a:prstClr val="black"/>
                </a:solidFill>
                <a:latin typeface="Calibri Light"/>
                <a:ea typeface="Yu Gothic UI"/>
                <a:cs typeface="Arial" charset="0"/>
              </a:rPr>
              <a:t>③認証</a:t>
            </a:r>
          </a:p>
        </p:txBody>
      </p:sp>
      <p:sp>
        <p:nvSpPr>
          <p:cNvPr id="33" name="テキスト ボックス 32">
            <a:extLst>
              <a:ext uri="{FF2B5EF4-FFF2-40B4-BE49-F238E27FC236}">
                <a16:creationId xmlns:a16="http://schemas.microsoft.com/office/drawing/2014/main" id="{91C0A47C-3C76-9702-C351-C0B340594A67}"/>
              </a:ext>
            </a:extLst>
          </p:cNvPr>
          <p:cNvSpPr txBox="1"/>
          <p:nvPr/>
        </p:nvSpPr>
        <p:spPr bwMode="gray">
          <a:xfrm>
            <a:off x="7199003" y="4225218"/>
            <a:ext cx="857607" cy="153888"/>
          </a:xfrm>
          <a:prstGeom prst="rect">
            <a:avLst/>
          </a:prstGeom>
          <a:noFill/>
        </p:spPr>
        <p:txBody>
          <a:bodyPr wrap="non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000" dirty="0">
                <a:latin typeface="Calibri Light"/>
                <a:ea typeface="Yu Gothic UI"/>
                <a:cs typeface="Arial" charset="0"/>
              </a:rPr>
              <a:t>⑥ID</a:t>
            </a:r>
            <a:r>
              <a:rPr lang="ja-JP" altLang="en-US" sz="1000" dirty="0">
                <a:latin typeface="Calibri Light"/>
                <a:ea typeface="Yu Gothic UI"/>
                <a:cs typeface="Arial" charset="0"/>
              </a:rPr>
              <a:t>トークン付与</a:t>
            </a:r>
          </a:p>
        </p:txBody>
      </p:sp>
      <p:cxnSp>
        <p:nvCxnSpPr>
          <p:cNvPr id="34" name="直線矢印コネクタ 33">
            <a:extLst>
              <a:ext uri="{FF2B5EF4-FFF2-40B4-BE49-F238E27FC236}">
                <a16:creationId xmlns:a16="http://schemas.microsoft.com/office/drawing/2014/main" id="{0302E7D5-E73D-1BDF-4004-92CC0FC3D9FA}"/>
              </a:ext>
            </a:extLst>
          </p:cNvPr>
          <p:cNvCxnSpPr>
            <a:cxnSpLocks/>
          </p:cNvCxnSpPr>
          <p:nvPr/>
        </p:nvCxnSpPr>
        <p:spPr bwMode="gray">
          <a:xfrm>
            <a:off x="7972090" y="3328282"/>
            <a:ext cx="828458" cy="8413"/>
          </a:xfrm>
          <a:prstGeom prst="straightConnector1">
            <a:avLst/>
          </a:prstGeom>
          <a:noFill/>
          <a:ln w="12700" cap="flat" cmpd="sng" algn="ctr">
            <a:solidFill>
              <a:srgbClr val="53565A"/>
            </a:solidFill>
            <a:prstDash val="solid"/>
            <a:tailEnd type="triangle"/>
          </a:ln>
          <a:effectLst/>
        </p:spPr>
      </p:cxnSp>
      <p:sp>
        <p:nvSpPr>
          <p:cNvPr id="35" name="テキスト ボックス 34">
            <a:extLst>
              <a:ext uri="{FF2B5EF4-FFF2-40B4-BE49-F238E27FC236}">
                <a16:creationId xmlns:a16="http://schemas.microsoft.com/office/drawing/2014/main" id="{238E7138-EAF2-2374-14B5-717CB03FCFEC}"/>
              </a:ext>
            </a:extLst>
          </p:cNvPr>
          <p:cNvSpPr txBox="1"/>
          <p:nvPr/>
        </p:nvSpPr>
        <p:spPr bwMode="gray">
          <a:xfrm>
            <a:off x="7995919" y="3189894"/>
            <a:ext cx="782265" cy="153888"/>
          </a:xfrm>
          <a:prstGeom prst="rect">
            <a:avLst/>
          </a:prstGeom>
          <a:noFill/>
        </p:spPr>
        <p:txBody>
          <a:bodyPr wrap="non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000">
                <a:solidFill>
                  <a:prstClr val="black"/>
                </a:solidFill>
                <a:latin typeface="Calibri Light"/>
                <a:ea typeface="Yu Gothic UI"/>
                <a:cs typeface="Arial" charset="0"/>
              </a:rPr>
              <a:t>①初回アクセス</a:t>
            </a:r>
          </a:p>
        </p:txBody>
      </p:sp>
      <p:cxnSp>
        <p:nvCxnSpPr>
          <p:cNvPr id="36" name="直線矢印コネクタ 35">
            <a:extLst>
              <a:ext uri="{FF2B5EF4-FFF2-40B4-BE49-F238E27FC236}">
                <a16:creationId xmlns:a16="http://schemas.microsoft.com/office/drawing/2014/main" id="{24B4CF05-1695-DCB6-6D73-FC23F6B2AD95}"/>
              </a:ext>
            </a:extLst>
          </p:cNvPr>
          <p:cNvCxnSpPr>
            <a:cxnSpLocks/>
          </p:cNvCxnSpPr>
          <p:nvPr/>
        </p:nvCxnSpPr>
        <p:spPr bwMode="gray">
          <a:xfrm>
            <a:off x="7972091" y="3777163"/>
            <a:ext cx="828457" cy="0"/>
          </a:xfrm>
          <a:prstGeom prst="straightConnector1">
            <a:avLst/>
          </a:prstGeom>
          <a:noFill/>
          <a:ln w="12700" cap="flat" cmpd="sng" algn="ctr">
            <a:solidFill>
              <a:srgbClr val="53565A"/>
            </a:solidFill>
            <a:prstDash val="solid"/>
            <a:tailEnd type="triangle"/>
          </a:ln>
          <a:effectLst/>
        </p:spPr>
      </p:cxnSp>
      <p:sp>
        <p:nvSpPr>
          <p:cNvPr id="37" name="テキスト ボックス 36">
            <a:extLst>
              <a:ext uri="{FF2B5EF4-FFF2-40B4-BE49-F238E27FC236}">
                <a16:creationId xmlns:a16="http://schemas.microsoft.com/office/drawing/2014/main" id="{50154FF1-FF89-EFB0-F99D-08E7DACAFB5E}"/>
              </a:ext>
            </a:extLst>
          </p:cNvPr>
          <p:cNvSpPr txBox="1"/>
          <p:nvPr/>
        </p:nvSpPr>
        <p:spPr bwMode="gray">
          <a:xfrm>
            <a:off x="8020812" y="3630363"/>
            <a:ext cx="642805" cy="153888"/>
          </a:xfrm>
          <a:prstGeom prst="rect">
            <a:avLst/>
          </a:prstGeom>
          <a:noFill/>
        </p:spPr>
        <p:txBody>
          <a:bodyPr wrap="non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000">
                <a:solidFill>
                  <a:prstClr val="black"/>
                </a:solidFill>
                <a:latin typeface="Calibri Light"/>
                <a:ea typeface="Yu Gothic UI"/>
                <a:cs typeface="Arial" charset="0"/>
              </a:rPr>
              <a:t>④認可コード</a:t>
            </a:r>
          </a:p>
        </p:txBody>
      </p:sp>
      <p:sp>
        <p:nvSpPr>
          <p:cNvPr id="40" name="四角形: 角を丸くする 39">
            <a:extLst>
              <a:ext uri="{FF2B5EF4-FFF2-40B4-BE49-F238E27FC236}">
                <a16:creationId xmlns:a16="http://schemas.microsoft.com/office/drawing/2014/main" id="{448D815E-B915-F6F6-21C3-BEAA796FD063}"/>
              </a:ext>
            </a:extLst>
          </p:cNvPr>
          <p:cNvSpPr/>
          <p:nvPr/>
        </p:nvSpPr>
        <p:spPr bwMode="gray">
          <a:xfrm>
            <a:off x="8118314" y="6241257"/>
            <a:ext cx="536008" cy="290768"/>
          </a:xfrm>
          <a:prstGeom prst="roundRect">
            <a:avLst/>
          </a:prstGeom>
          <a:solidFill>
            <a:srgbClr val="86BC25">
              <a:lumMod val="60000"/>
              <a:lumOff val="40000"/>
            </a:srgb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a:ln>
                  <a:noFill/>
                </a:ln>
                <a:solidFill>
                  <a:prstClr val="black"/>
                </a:solidFill>
                <a:effectLst/>
                <a:uLnTx/>
                <a:uFillTx/>
                <a:latin typeface="Calibri Light"/>
                <a:ea typeface="Yu Gothic UI"/>
                <a:cs typeface="Arial" charset="0"/>
              </a:rPr>
              <a:t>OID4VP</a:t>
            </a:r>
            <a:endParaRPr kumimoji="0" lang="ja-JP" altLang="en-US" sz="10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41" name="四角形: 角を丸くする 40">
            <a:extLst>
              <a:ext uri="{FF2B5EF4-FFF2-40B4-BE49-F238E27FC236}">
                <a16:creationId xmlns:a16="http://schemas.microsoft.com/office/drawing/2014/main" id="{138993D8-5D21-FB37-D47C-99CE8D1B0D04}"/>
              </a:ext>
            </a:extLst>
          </p:cNvPr>
          <p:cNvSpPr/>
          <p:nvPr/>
        </p:nvSpPr>
        <p:spPr bwMode="gray">
          <a:xfrm>
            <a:off x="6476510" y="6241257"/>
            <a:ext cx="536008" cy="288471"/>
          </a:xfrm>
          <a:prstGeom prst="roundRect">
            <a:avLst/>
          </a:prstGeom>
          <a:solidFill>
            <a:srgbClr val="86BC25">
              <a:lumMod val="60000"/>
              <a:lumOff val="40000"/>
            </a:srgb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a:ln>
                  <a:noFill/>
                </a:ln>
                <a:solidFill>
                  <a:prstClr val="black"/>
                </a:solidFill>
                <a:effectLst/>
                <a:uLnTx/>
                <a:uFillTx/>
                <a:latin typeface="Calibri Light"/>
                <a:ea typeface="Yu Gothic UI"/>
                <a:cs typeface="Arial" charset="0"/>
              </a:rPr>
              <a:t>OID4VCI</a:t>
            </a:r>
            <a:endParaRPr kumimoji="0" lang="ja-JP" altLang="en-US" sz="1000" b="0" i="0" u="none" strike="noStrike" kern="0" cap="none" spc="0" normalizeH="0" baseline="0" noProof="0">
              <a:ln>
                <a:noFill/>
              </a:ln>
              <a:solidFill>
                <a:prstClr val="black"/>
              </a:solidFill>
              <a:effectLst/>
              <a:uLnTx/>
              <a:uFillTx/>
              <a:latin typeface="Calibri Light"/>
              <a:ea typeface="Yu Gothic UI"/>
              <a:cs typeface="Arial" charset="0"/>
            </a:endParaRPr>
          </a:p>
        </p:txBody>
      </p:sp>
      <p:cxnSp>
        <p:nvCxnSpPr>
          <p:cNvPr id="42" name="直線コネクタ 41">
            <a:extLst>
              <a:ext uri="{FF2B5EF4-FFF2-40B4-BE49-F238E27FC236}">
                <a16:creationId xmlns:a16="http://schemas.microsoft.com/office/drawing/2014/main" id="{FD2B24C3-F03A-9532-E0EE-5AFFF4968DE3}"/>
              </a:ext>
            </a:extLst>
          </p:cNvPr>
          <p:cNvCxnSpPr/>
          <p:nvPr/>
        </p:nvCxnSpPr>
        <p:spPr bwMode="gray">
          <a:xfrm>
            <a:off x="285130" y="1657350"/>
            <a:ext cx="4923545" cy="0"/>
          </a:xfrm>
          <a:prstGeom prst="line">
            <a:avLst/>
          </a:prstGeom>
          <a:noFill/>
          <a:ln w="12700" cap="flat" cmpd="sng" algn="ctr">
            <a:solidFill>
              <a:srgbClr val="53565A"/>
            </a:solidFill>
            <a:prstDash val="solid"/>
          </a:ln>
          <a:effectLst/>
        </p:spPr>
      </p:cxnSp>
      <p:cxnSp>
        <p:nvCxnSpPr>
          <p:cNvPr id="43" name="直線コネクタ 42">
            <a:extLst>
              <a:ext uri="{FF2B5EF4-FFF2-40B4-BE49-F238E27FC236}">
                <a16:creationId xmlns:a16="http://schemas.microsoft.com/office/drawing/2014/main" id="{81066745-0E3C-C6DA-59AA-96891EDE8A3D}"/>
              </a:ext>
            </a:extLst>
          </p:cNvPr>
          <p:cNvCxnSpPr>
            <a:cxnSpLocks/>
          </p:cNvCxnSpPr>
          <p:nvPr/>
        </p:nvCxnSpPr>
        <p:spPr bwMode="gray">
          <a:xfrm>
            <a:off x="5516940" y="1657350"/>
            <a:ext cx="4103573" cy="0"/>
          </a:xfrm>
          <a:prstGeom prst="line">
            <a:avLst/>
          </a:prstGeom>
          <a:noFill/>
          <a:ln w="12700" cap="flat" cmpd="sng" algn="ctr">
            <a:solidFill>
              <a:srgbClr val="53565A"/>
            </a:solidFill>
            <a:prstDash val="solid"/>
          </a:ln>
          <a:effectLst/>
        </p:spPr>
      </p:cxnSp>
      <p:sp>
        <p:nvSpPr>
          <p:cNvPr id="44" name="正方形/長方形 43">
            <a:extLst>
              <a:ext uri="{FF2B5EF4-FFF2-40B4-BE49-F238E27FC236}">
                <a16:creationId xmlns:a16="http://schemas.microsoft.com/office/drawing/2014/main" id="{3D80A25E-F5DA-F9D6-36F0-55528766408D}"/>
              </a:ext>
            </a:extLst>
          </p:cNvPr>
          <p:cNvSpPr/>
          <p:nvPr/>
        </p:nvSpPr>
        <p:spPr bwMode="gray">
          <a:xfrm>
            <a:off x="6313510" y="1476000"/>
            <a:ext cx="2610979" cy="357972"/>
          </a:xfrm>
          <a:prstGeom prst="rect">
            <a:avLst/>
          </a:prstGeom>
          <a:solidFill>
            <a:sysClr val="window" lastClr="FFFFFF"/>
          </a:solidFill>
          <a:ln w="12700" algn="ctr">
            <a:solidFill>
              <a:sysClr val="window" lastClr="FFFFFF"/>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0" i="0" u="none" strike="noStrike" kern="0" cap="none" spc="0" normalizeH="0" baseline="0" noProof="0">
                <a:ln>
                  <a:noFill/>
                </a:ln>
                <a:solidFill>
                  <a:prstClr val="black"/>
                </a:solidFill>
                <a:effectLst/>
                <a:uLnTx/>
                <a:uFillTx/>
                <a:latin typeface="Calibri Light"/>
                <a:ea typeface="Yu Gothic UI"/>
                <a:cs typeface="Arial" charset="0"/>
              </a:rPr>
              <a:t>OID4VCI/OID4VP</a:t>
            </a:r>
            <a:r>
              <a:rPr kumimoji="0" lang="ja-JP" altLang="en-US" sz="1400" b="0" i="0" u="none" strike="noStrike" kern="0" cap="none" spc="0" normalizeH="0" baseline="0" noProof="0">
                <a:ln>
                  <a:noFill/>
                </a:ln>
                <a:solidFill>
                  <a:prstClr val="black"/>
                </a:solidFill>
                <a:effectLst/>
                <a:uLnTx/>
                <a:uFillTx/>
                <a:latin typeface="Calibri Light"/>
                <a:ea typeface="Yu Gothic UI"/>
                <a:cs typeface="Arial" charset="0"/>
              </a:rPr>
              <a:t>の拡張イメージ</a:t>
            </a:r>
          </a:p>
        </p:txBody>
      </p:sp>
      <p:sp>
        <p:nvSpPr>
          <p:cNvPr id="45" name="テキスト ボックス 44">
            <a:extLst>
              <a:ext uri="{FF2B5EF4-FFF2-40B4-BE49-F238E27FC236}">
                <a16:creationId xmlns:a16="http://schemas.microsoft.com/office/drawing/2014/main" id="{D0555AF6-AFEE-1E64-D9CD-D0D2A4F2E7D8}"/>
              </a:ext>
            </a:extLst>
          </p:cNvPr>
          <p:cNvSpPr txBox="1"/>
          <p:nvPr/>
        </p:nvSpPr>
        <p:spPr bwMode="gray">
          <a:xfrm>
            <a:off x="5516940" y="1928296"/>
            <a:ext cx="4103573" cy="553998"/>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Calibri Light"/>
                <a:ea typeface="Yu Gothic UI"/>
                <a:cs typeface="Arial" charset="0"/>
              </a:rPr>
              <a:t>OID4VP</a:t>
            </a:r>
            <a:r>
              <a:rPr lang="ja-JP" altLang="en-US" sz="1200" dirty="0">
                <a:solidFill>
                  <a:prstClr val="black"/>
                </a:solidFill>
                <a:latin typeface="Calibri Light"/>
                <a:ea typeface="Yu Gothic UI"/>
                <a:cs typeface="Arial" charset="0"/>
              </a:rPr>
              <a:t>は既存の</a:t>
            </a:r>
            <a:r>
              <a:rPr lang="en-US" altLang="ja-JP" sz="1200" dirty="0">
                <a:solidFill>
                  <a:prstClr val="black"/>
                </a:solidFill>
                <a:latin typeface="Calibri Light"/>
                <a:ea typeface="Yu Gothic UI"/>
                <a:cs typeface="Arial" charset="0"/>
              </a:rPr>
              <a:t>OpenID Connect</a:t>
            </a:r>
            <a:r>
              <a:rPr lang="ja-JP" altLang="en-US" sz="1200" dirty="0">
                <a:solidFill>
                  <a:prstClr val="black"/>
                </a:solidFill>
                <a:latin typeface="Calibri Light"/>
                <a:ea typeface="Yu Gothic UI"/>
                <a:cs typeface="Arial" charset="0"/>
              </a:rPr>
              <a:t>のフローと類似しており</a:t>
            </a:r>
            <a:r>
              <a:rPr lang="en-US" altLang="ja-JP" sz="1200" dirty="0">
                <a:solidFill>
                  <a:prstClr val="black"/>
                </a:solidFill>
                <a:latin typeface="Calibri Light"/>
                <a:ea typeface="Yu Gothic UI"/>
                <a:cs typeface="Arial" charset="0"/>
              </a:rPr>
              <a:t>(</a:t>
            </a:r>
            <a:r>
              <a:rPr lang="ja-JP" altLang="en-US" sz="1200" dirty="0">
                <a:solidFill>
                  <a:prstClr val="black"/>
                </a:solidFill>
                <a:latin typeface="Calibri Light"/>
                <a:ea typeface="Yu Gothic UI"/>
                <a:cs typeface="Arial" charset="0"/>
              </a:rPr>
              <a:t>アクセストークン付与のプロセスに</a:t>
            </a:r>
            <a:r>
              <a:rPr lang="en-US" altLang="ja-JP" sz="1200" dirty="0">
                <a:solidFill>
                  <a:prstClr val="black"/>
                </a:solidFill>
                <a:latin typeface="Calibri Light"/>
                <a:ea typeface="Yu Gothic UI"/>
                <a:cs typeface="Arial" charset="0"/>
              </a:rPr>
              <a:t>VP</a:t>
            </a:r>
            <a:r>
              <a:rPr lang="ja-JP" altLang="en-US" sz="1200" dirty="0">
                <a:solidFill>
                  <a:prstClr val="black"/>
                </a:solidFill>
                <a:latin typeface="Calibri Light"/>
                <a:ea typeface="Yu Gothic UI"/>
                <a:cs typeface="Arial" charset="0"/>
              </a:rPr>
              <a:t>を追加するイメージ</a:t>
            </a:r>
            <a:r>
              <a:rPr lang="en-US" altLang="ja-JP" sz="1200" dirty="0">
                <a:solidFill>
                  <a:prstClr val="black"/>
                </a:solidFill>
                <a:latin typeface="Calibri Light"/>
                <a:ea typeface="Yu Gothic UI"/>
                <a:cs typeface="Arial" charset="0"/>
              </a:rPr>
              <a:t>)</a:t>
            </a:r>
            <a:r>
              <a:rPr lang="ja-JP" altLang="en-US" sz="1200" dirty="0">
                <a:solidFill>
                  <a:prstClr val="black"/>
                </a:solidFill>
                <a:latin typeface="Calibri Light"/>
                <a:ea typeface="Yu Gothic UI"/>
                <a:cs typeface="Arial" charset="0"/>
              </a:rPr>
              <a:t>、標準化が進んでいるが、</a:t>
            </a:r>
            <a:r>
              <a:rPr lang="en-US" altLang="ja-JP" sz="1200" dirty="0">
                <a:solidFill>
                  <a:prstClr val="black"/>
                </a:solidFill>
                <a:latin typeface="Calibri Light"/>
                <a:ea typeface="Yu Gothic UI"/>
                <a:cs typeface="Arial" charset="0"/>
              </a:rPr>
              <a:t>OID4VCI</a:t>
            </a:r>
            <a:r>
              <a:rPr lang="ja-JP" altLang="en-US" sz="1200" dirty="0">
                <a:solidFill>
                  <a:prstClr val="black"/>
                </a:solidFill>
                <a:latin typeface="Calibri Light"/>
                <a:ea typeface="Yu Gothic UI"/>
                <a:cs typeface="Arial" charset="0"/>
              </a:rPr>
              <a:t>は新規フローであるため、比較的時間を要している</a:t>
            </a:r>
          </a:p>
        </p:txBody>
      </p:sp>
      <p:sp>
        <p:nvSpPr>
          <p:cNvPr id="46" name="テキスト ボックス 45">
            <a:extLst>
              <a:ext uri="{FF2B5EF4-FFF2-40B4-BE49-F238E27FC236}">
                <a16:creationId xmlns:a16="http://schemas.microsoft.com/office/drawing/2014/main" id="{FB153DA9-223C-F5CC-D2E7-C6A932A5E755}"/>
              </a:ext>
            </a:extLst>
          </p:cNvPr>
          <p:cNvSpPr txBox="1"/>
          <p:nvPr/>
        </p:nvSpPr>
        <p:spPr bwMode="gray">
          <a:xfrm>
            <a:off x="5516939" y="2650456"/>
            <a:ext cx="1620957" cy="184666"/>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b="1" u="sng" dirty="0">
                <a:solidFill>
                  <a:prstClr val="black"/>
                </a:solidFill>
                <a:latin typeface="Calibri Light"/>
                <a:ea typeface="Yu Gothic UI"/>
                <a:cs typeface="Arial" charset="0"/>
              </a:rPr>
              <a:t>従来の</a:t>
            </a:r>
            <a:r>
              <a:rPr lang="en-US" altLang="ja-JP" sz="1200" b="1" u="sng" dirty="0">
                <a:solidFill>
                  <a:prstClr val="black"/>
                </a:solidFill>
                <a:latin typeface="Calibri Light"/>
                <a:ea typeface="Yu Gothic UI"/>
                <a:cs typeface="Arial" charset="0"/>
              </a:rPr>
              <a:t>OpenID Connect</a:t>
            </a:r>
            <a:endParaRPr lang="ja-JP" altLang="en-US" sz="1200" b="1" u="sng" dirty="0">
              <a:solidFill>
                <a:prstClr val="black"/>
              </a:solidFill>
              <a:latin typeface="Calibri Light"/>
              <a:ea typeface="Yu Gothic UI"/>
              <a:cs typeface="Arial" charset="0"/>
            </a:endParaRPr>
          </a:p>
        </p:txBody>
      </p:sp>
      <p:sp>
        <p:nvSpPr>
          <p:cNvPr id="47" name="テキスト ボックス 46">
            <a:extLst>
              <a:ext uri="{FF2B5EF4-FFF2-40B4-BE49-F238E27FC236}">
                <a16:creationId xmlns:a16="http://schemas.microsoft.com/office/drawing/2014/main" id="{78B5C14A-BE79-B015-F82E-8684F3549EF2}"/>
              </a:ext>
            </a:extLst>
          </p:cNvPr>
          <p:cNvSpPr txBox="1"/>
          <p:nvPr/>
        </p:nvSpPr>
        <p:spPr bwMode="gray">
          <a:xfrm>
            <a:off x="5516939" y="4881569"/>
            <a:ext cx="1212153" cy="184666"/>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b="1" u="sng">
                <a:solidFill>
                  <a:prstClr val="black"/>
                </a:solidFill>
                <a:latin typeface="Calibri Light"/>
                <a:ea typeface="Yu Gothic UI"/>
                <a:cs typeface="Arial" charset="0"/>
              </a:rPr>
              <a:t>OID4VCI/OID4VP</a:t>
            </a:r>
            <a:endParaRPr lang="ja-JP" altLang="en-US" sz="1200" b="1" u="sng">
              <a:solidFill>
                <a:prstClr val="black"/>
              </a:solidFill>
              <a:latin typeface="Calibri Light"/>
              <a:ea typeface="Yu Gothic UI"/>
              <a:cs typeface="Arial" charset="0"/>
            </a:endParaRPr>
          </a:p>
        </p:txBody>
      </p:sp>
      <p:sp>
        <p:nvSpPr>
          <p:cNvPr id="48" name="正方形/長方形 47">
            <a:extLst>
              <a:ext uri="{FF2B5EF4-FFF2-40B4-BE49-F238E27FC236}">
                <a16:creationId xmlns:a16="http://schemas.microsoft.com/office/drawing/2014/main" id="{7E754F52-46A6-D3B0-FADB-B4D6E825B53D}"/>
              </a:ext>
            </a:extLst>
          </p:cNvPr>
          <p:cNvSpPr/>
          <p:nvPr/>
        </p:nvSpPr>
        <p:spPr bwMode="gray">
          <a:xfrm>
            <a:off x="1904279" y="1463664"/>
            <a:ext cx="1685244" cy="357972"/>
          </a:xfrm>
          <a:prstGeom prst="rect">
            <a:avLst/>
          </a:prstGeom>
          <a:solidFill>
            <a:sysClr val="window" lastClr="FFFFFF"/>
          </a:solidFill>
          <a:ln w="12700" algn="ctr">
            <a:solidFill>
              <a:sysClr val="window" lastClr="FFFFFF"/>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black"/>
                </a:solidFill>
                <a:effectLst/>
                <a:uLnTx/>
                <a:uFillTx/>
                <a:latin typeface="Calibri Light"/>
                <a:ea typeface="Yu Gothic UI"/>
                <a:cs typeface="Arial" charset="0"/>
              </a:rPr>
              <a:t>証明書モデル比較</a:t>
            </a:r>
          </a:p>
        </p:txBody>
      </p:sp>
      <p:cxnSp>
        <p:nvCxnSpPr>
          <p:cNvPr id="49" name="直線矢印コネクタ 48">
            <a:extLst>
              <a:ext uri="{FF2B5EF4-FFF2-40B4-BE49-F238E27FC236}">
                <a16:creationId xmlns:a16="http://schemas.microsoft.com/office/drawing/2014/main" id="{463BD02B-AE4D-26A0-FF24-E92DC8CA57B7}"/>
              </a:ext>
            </a:extLst>
          </p:cNvPr>
          <p:cNvCxnSpPr>
            <a:cxnSpLocks/>
          </p:cNvCxnSpPr>
          <p:nvPr/>
        </p:nvCxnSpPr>
        <p:spPr bwMode="gray">
          <a:xfrm flipH="1" flipV="1">
            <a:off x="6313510" y="4131925"/>
            <a:ext cx="2470261" cy="1"/>
          </a:xfrm>
          <a:prstGeom prst="straightConnector1">
            <a:avLst/>
          </a:prstGeom>
          <a:noFill/>
          <a:ln w="12700" cap="flat" cmpd="sng" algn="ctr">
            <a:solidFill>
              <a:srgbClr val="53565A"/>
            </a:solidFill>
            <a:prstDash val="solid"/>
            <a:tailEnd type="triangle"/>
          </a:ln>
          <a:effectLst/>
        </p:spPr>
      </p:cxnSp>
      <p:sp>
        <p:nvSpPr>
          <p:cNvPr id="50" name="テキスト ボックス 49">
            <a:extLst>
              <a:ext uri="{FF2B5EF4-FFF2-40B4-BE49-F238E27FC236}">
                <a16:creationId xmlns:a16="http://schemas.microsoft.com/office/drawing/2014/main" id="{F92618F6-96D2-1CA5-D663-0BEE13B64FAD}"/>
              </a:ext>
            </a:extLst>
          </p:cNvPr>
          <p:cNvSpPr txBox="1"/>
          <p:nvPr/>
        </p:nvSpPr>
        <p:spPr bwMode="gray">
          <a:xfrm>
            <a:off x="7048653" y="3985123"/>
            <a:ext cx="989053" cy="153888"/>
          </a:xfrm>
          <a:prstGeom prst="rect">
            <a:avLst/>
          </a:prstGeom>
          <a:noFill/>
        </p:spPr>
        <p:txBody>
          <a:bodyPr wrap="non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000">
                <a:solidFill>
                  <a:prstClr val="black"/>
                </a:solidFill>
                <a:latin typeface="Calibri Light"/>
                <a:ea typeface="Yu Gothic UI"/>
                <a:cs typeface="Arial" charset="0"/>
              </a:rPr>
              <a:t>⑤トークンリクエスト</a:t>
            </a:r>
          </a:p>
        </p:txBody>
      </p:sp>
      <p:sp>
        <p:nvSpPr>
          <p:cNvPr id="51" name="正方形/長方形 50">
            <a:extLst>
              <a:ext uri="{FF2B5EF4-FFF2-40B4-BE49-F238E27FC236}">
                <a16:creationId xmlns:a16="http://schemas.microsoft.com/office/drawing/2014/main" id="{E94F1109-F114-78E5-25BB-5129D5867ACF}"/>
              </a:ext>
            </a:extLst>
          </p:cNvPr>
          <p:cNvSpPr/>
          <p:nvPr/>
        </p:nvSpPr>
        <p:spPr bwMode="gray">
          <a:xfrm>
            <a:off x="7207697" y="5278345"/>
            <a:ext cx="727367" cy="184424"/>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a:ln>
                  <a:noFill/>
                </a:ln>
                <a:solidFill>
                  <a:prstClr val="black"/>
                </a:solidFill>
                <a:effectLst/>
                <a:uLnTx/>
                <a:uFillTx/>
                <a:latin typeface="Calibri Light"/>
                <a:ea typeface="Yu Gothic UI"/>
                <a:cs typeface="Arial" charset="0"/>
              </a:rPr>
              <a:t>User</a:t>
            </a:r>
          </a:p>
        </p:txBody>
      </p:sp>
      <p:sp>
        <p:nvSpPr>
          <p:cNvPr id="52" name="正方形/長方形 51">
            <a:extLst>
              <a:ext uri="{FF2B5EF4-FFF2-40B4-BE49-F238E27FC236}">
                <a16:creationId xmlns:a16="http://schemas.microsoft.com/office/drawing/2014/main" id="{69398EB4-0F78-7FDB-5B69-A62DCD8F8522}"/>
              </a:ext>
            </a:extLst>
          </p:cNvPr>
          <p:cNvSpPr/>
          <p:nvPr/>
        </p:nvSpPr>
        <p:spPr bwMode="gray">
          <a:xfrm>
            <a:off x="7207697" y="5576164"/>
            <a:ext cx="727367" cy="665093"/>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a:ln>
                  <a:noFill/>
                </a:ln>
                <a:solidFill>
                  <a:prstClr val="black"/>
                </a:solidFill>
                <a:effectLst/>
                <a:uLnTx/>
                <a:uFillTx/>
                <a:latin typeface="Calibri Light"/>
                <a:ea typeface="Yu Gothic UI"/>
                <a:cs typeface="Arial" charset="0"/>
              </a:rPr>
              <a:t>Wallet</a:t>
            </a:r>
          </a:p>
        </p:txBody>
      </p:sp>
      <p:cxnSp>
        <p:nvCxnSpPr>
          <p:cNvPr id="53" name="直線矢印コネクタ 52">
            <a:extLst>
              <a:ext uri="{FF2B5EF4-FFF2-40B4-BE49-F238E27FC236}">
                <a16:creationId xmlns:a16="http://schemas.microsoft.com/office/drawing/2014/main" id="{E46D47AD-8FE0-BFE5-6BF6-3B57316EF264}"/>
              </a:ext>
            </a:extLst>
          </p:cNvPr>
          <p:cNvCxnSpPr>
            <a:cxnSpLocks/>
            <a:stCxn id="51" idx="2"/>
            <a:endCxn id="52" idx="0"/>
          </p:cNvCxnSpPr>
          <p:nvPr/>
        </p:nvCxnSpPr>
        <p:spPr bwMode="gray">
          <a:xfrm>
            <a:off x="7571381" y="5462769"/>
            <a:ext cx="0" cy="113395"/>
          </a:xfrm>
          <a:prstGeom prst="straightConnector1">
            <a:avLst/>
          </a:prstGeom>
          <a:noFill/>
          <a:ln w="12700" cap="flat" cmpd="sng" algn="ctr">
            <a:solidFill>
              <a:srgbClr val="53565A"/>
            </a:solidFill>
            <a:prstDash val="solid"/>
            <a:tailEnd type="triangle"/>
          </a:ln>
          <a:effectLst/>
        </p:spPr>
      </p:cxnSp>
      <p:cxnSp>
        <p:nvCxnSpPr>
          <p:cNvPr id="54" name="直線矢印コネクタ 53">
            <a:extLst>
              <a:ext uri="{FF2B5EF4-FFF2-40B4-BE49-F238E27FC236}">
                <a16:creationId xmlns:a16="http://schemas.microsoft.com/office/drawing/2014/main" id="{9493E0D0-1BC2-D8CA-EA15-71CC7BD19A22}"/>
              </a:ext>
            </a:extLst>
          </p:cNvPr>
          <p:cNvCxnSpPr>
            <a:cxnSpLocks/>
          </p:cNvCxnSpPr>
          <p:nvPr/>
        </p:nvCxnSpPr>
        <p:spPr bwMode="gray">
          <a:xfrm flipH="1">
            <a:off x="6327417" y="5631665"/>
            <a:ext cx="873911" cy="0"/>
          </a:xfrm>
          <a:prstGeom prst="straightConnector1">
            <a:avLst/>
          </a:prstGeom>
          <a:noFill/>
          <a:ln w="12700" cap="flat" cmpd="sng" algn="ctr">
            <a:solidFill>
              <a:srgbClr val="53565A"/>
            </a:solidFill>
            <a:prstDash val="solid"/>
            <a:headEnd type="triangle" w="med" len="med"/>
            <a:tailEnd type="triangle" w="med" len="med"/>
          </a:ln>
          <a:effectLst/>
        </p:spPr>
      </p:cxnSp>
      <p:sp>
        <p:nvSpPr>
          <p:cNvPr id="55" name="テキスト ボックス 54">
            <a:extLst>
              <a:ext uri="{FF2B5EF4-FFF2-40B4-BE49-F238E27FC236}">
                <a16:creationId xmlns:a16="http://schemas.microsoft.com/office/drawing/2014/main" id="{36D55DA9-AB10-24CC-9C54-06316005480E}"/>
              </a:ext>
            </a:extLst>
          </p:cNvPr>
          <p:cNvSpPr txBox="1"/>
          <p:nvPr/>
        </p:nvSpPr>
        <p:spPr bwMode="gray">
          <a:xfrm>
            <a:off x="6435032" y="5487719"/>
            <a:ext cx="646010" cy="153888"/>
          </a:xfrm>
          <a:prstGeom prst="rect">
            <a:avLst/>
          </a:prstGeom>
          <a:noFill/>
        </p:spPr>
        <p:txBody>
          <a:bodyPr wrap="non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00">
                <a:solidFill>
                  <a:prstClr val="black"/>
                </a:solidFill>
                <a:latin typeface="Calibri Light"/>
                <a:ea typeface="Yu Gothic UI"/>
                <a:cs typeface="Arial" charset="0"/>
              </a:rPr>
              <a:t>②</a:t>
            </a:r>
            <a:r>
              <a:rPr lang="ja-JP" altLang="en-US" sz="1000">
                <a:solidFill>
                  <a:prstClr val="black"/>
                </a:solidFill>
                <a:latin typeface="Calibri Light"/>
                <a:ea typeface="Yu Gothic UI"/>
                <a:cs typeface="Arial" charset="0"/>
              </a:rPr>
              <a:t>認可コード</a:t>
            </a:r>
          </a:p>
        </p:txBody>
      </p:sp>
      <p:cxnSp>
        <p:nvCxnSpPr>
          <p:cNvPr id="56" name="直線矢印コネクタ 55">
            <a:extLst>
              <a:ext uri="{FF2B5EF4-FFF2-40B4-BE49-F238E27FC236}">
                <a16:creationId xmlns:a16="http://schemas.microsoft.com/office/drawing/2014/main" id="{AB819042-9A05-5C5F-16EC-93D53F4EEAC3}"/>
              </a:ext>
            </a:extLst>
          </p:cNvPr>
          <p:cNvCxnSpPr>
            <a:cxnSpLocks/>
          </p:cNvCxnSpPr>
          <p:nvPr/>
        </p:nvCxnSpPr>
        <p:spPr bwMode="gray">
          <a:xfrm flipH="1">
            <a:off x="6333786" y="5375973"/>
            <a:ext cx="873911" cy="0"/>
          </a:xfrm>
          <a:prstGeom prst="straightConnector1">
            <a:avLst/>
          </a:prstGeom>
          <a:noFill/>
          <a:ln w="12700" cap="flat" cmpd="sng" algn="ctr">
            <a:solidFill>
              <a:srgbClr val="53565A"/>
            </a:solidFill>
            <a:prstDash val="solid"/>
            <a:headEnd type="triangle" w="med" len="med"/>
            <a:tailEnd type="triangle" w="med" len="med"/>
          </a:ln>
          <a:effectLst/>
        </p:spPr>
      </p:cxnSp>
      <p:sp>
        <p:nvSpPr>
          <p:cNvPr id="57" name="テキスト ボックス 56">
            <a:extLst>
              <a:ext uri="{FF2B5EF4-FFF2-40B4-BE49-F238E27FC236}">
                <a16:creationId xmlns:a16="http://schemas.microsoft.com/office/drawing/2014/main" id="{3EB495AA-1A70-2FE8-90C4-5C41DDCE350E}"/>
              </a:ext>
            </a:extLst>
          </p:cNvPr>
          <p:cNvSpPr txBox="1"/>
          <p:nvPr/>
        </p:nvSpPr>
        <p:spPr bwMode="gray">
          <a:xfrm>
            <a:off x="6568427" y="5218202"/>
            <a:ext cx="384721" cy="153888"/>
          </a:xfrm>
          <a:prstGeom prst="rect">
            <a:avLst/>
          </a:prstGeom>
          <a:noFill/>
        </p:spPr>
        <p:txBody>
          <a:bodyPr wrap="non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00">
                <a:solidFill>
                  <a:prstClr val="black"/>
                </a:solidFill>
                <a:latin typeface="Calibri Light"/>
                <a:ea typeface="Yu Gothic UI"/>
                <a:cs typeface="Arial" charset="0"/>
              </a:rPr>
              <a:t>①</a:t>
            </a:r>
            <a:r>
              <a:rPr lang="ja-JP" altLang="en-US" sz="1000">
                <a:solidFill>
                  <a:prstClr val="black"/>
                </a:solidFill>
                <a:latin typeface="Calibri Light"/>
                <a:ea typeface="Yu Gothic UI"/>
                <a:cs typeface="Arial" charset="0"/>
              </a:rPr>
              <a:t>認証</a:t>
            </a:r>
          </a:p>
        </p:txBody>
      </p:sp>
      <p:cxnSp>
        <p:nvCxnSpPr>
          <p:cNvPr id="58" name="直線矢印コネクタ 57">
            <a:extLst>
              <a:ext uri="{FF2B5EF4-FFF2-40B4-BE49-F238E27FC236}">
                <a16:creationId xmlns:a16="http://schemas.microsoft.com/office/drawing/2014/main" id="{8EB29D3F-F5D1-B15B-D7B9-E2B24966E394}"/>
              </a:ext>
            </a:extLst>
          </p:cNvPr>
          <p:cNvCxnSpPr>
            <a:cxnSpLocks/>
          </p:cNvCxnSpPr>
          <p:nvPr/>
        </p:nvCxnSpPr>
        <p:spPr bwMode="gray">
          <a:xfrm flipH="1">
            <a:off x="6333786" y="5887357"/>
            <a:ext cx="873911" cy="0"/>
          </a:xfrm>
          <a:prstGeom prst="straightConnector1">
            <a:avLst/>
          </a:prstGeom>
          <a:noFill/>
          <a:ln w="12700" cap="flat" cmpd="sng" algn="ctr">
            <a:solidFill>
              <a:sysClr val="windowText" lastClr="000000"/>
            </a:solidFill>
            <a:prstDash val="solid"/>
            <a:headEnd type="triangle" w="med" len="med"/>
            <a:tailEnd type="triangle" w="med" len="med"/>
          </a:ln>
          <a:effectLst/>
        </p:spPr>
      </p:cxnSp>
      <p:sp>
        <p:nvSpPr>
          <p:cNvPr id="59" name="テキスト ボックス 58">
            <a:extLst>
              <a:ext uri="{FF2B5EF4-FFF2-40B4-BE49-F238E27FC236}">
                <a16:creationId xmlns:a16="http://schemas.microsoft.com/office/drawing/2014/main" id="{F54521AB-DAD6-F76B-1A9D-1D7A7D2D0A4B}"/>
              </a:ext>
            </a:extLst>
          </p:cNvPr>
          <p:cNvSpPr txBox="1"/>
          <p:nvPr/>
        </p:nvSpPr>
        <p:spPr bwMode="gray">
          <a:xfrm>
            <a:off x="6310939" y="5736522"/>
            <a:ext cx="888064" cy="153888"/>
          </a:xfrm>
          <a:prstGeom prst="rect">
            <a:avLst/>
          </a:prstGeom>
          <a:noFill/>
        </p:spPr>
        <p:txBody>
          <a:bodyPr wrap="non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00">
                <a:solidFill>
                  <a:prstClr val="black"/>
                </a:solidFill>
                <a:latin typeface="Calibri Light"/>
                <a:ea typeface="Yu Gothic UI"/>
                <a:cs typeface="Arial" charset="0"/>
              </a:rPr>
              <a:t>③</a:t>
            </a:r>
            <a:r>
              <a:rPr lang="ja-JP" altLang="en-US" sz="1000">
                <a:solidFill>
                  <a:prstClr val="black"/>
                </a:solidFill>
                <a:latin typeface="Calibri Light"/>
                <a:ea typeface="Yu Gothic UI"/>
                <a:cs typeface="Arial" charset="0"/>
              </a:rPr>
              <a:t>アクセストークン</a:t>
            </a:r>
          </a:p>
        </p:txBody>
      </p:sp>
      <p:cxnSp>
        <p:nvCxnSpPr>
          <p:cNvPr id="60" name="直線矢印コネクタ 59">
            <a:extLst>
              <a:ext uri="{FF2B5EF4-FFF2-40B4-BE49-F238E27FC236}">
                <a16:creationId xmlns:a16="http://schemas.microsoft.com/office/drawing/2014/main" id="{21D0DD18-F033-DADE-7703-929EA2B4117F}"/>
              </a:ext>
            </a:extLst>
          </p:cNvPr>
          <p:cNvCxnSpPr>
            <a:cxnSpLocks/>
          </p:cNvCxnSpPr>
          <p:nvPr/>
        </p:nvCxnSpPr>
        <p:spPr bwMode="gray">
          <a:xfrm flipH="1">
            <a:off x="6333786" y="6143048"/>
            <a:ext cx="873911" cy="0"/>
          </a:xfrm>
          <a:prstGeom prst="straightConnector1">
            <a:avLst/>
          </a:prstGeom>
          <a:noFill/>
          <a:ln w="12700" cap="flat" cmpd="sng" algn="ctr">
            <a:solidFill>
              <a:sysClr val="windowText" lastClr="000000"/>
            </a:solidFill>
            <a:prstDash val="solid"/>
            <a:headEnd type="triangle" w="med" len="med"/>
            <a:tailEnd type="triangle" w="med" len="med"/>
          </a:ln>
          <a:effectLst/>
        </p:spPr>
      </p:cxnSp>
      <p:sp>
        <p:nvSpPr>
          <p:cNvPr id="61" name="テキスト ボックス 60">
            <a:extLst>
              <a:ext uri="{FF2B5EF4-FFF2-40B4-BE49-F238E27FC236}">
                <a16:creationId xmlns:a16="http://schemas.microsoft.com/office/drawing/2014/main" id="{1FF8020D-2D8B-F7EB-3872-F26C3B40CC72}"/>
              </a:ext>
            </a:extLst>
          </p:cNvPr>
          <p:cNvSpPr txBox="1"/>
          <p:nvPr/>
        </p:nvSpPr>
        <p:spPr bwMode="gray">
          <a:xfrm>
            <a:off x="6621117" y="5996497"/>
            <a:ext cx="267702" cy="153888"/>
          </a:xfrm>
          <a:prstGeom prst="rect">
            <a:avLst/>
          </a:prstGeom>
          <a:noFill/>
        </p:spPr>
        <p:txBody>
          <a:bodyPr wrap="non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00">
                <a:solidFill>
                  <a:prstClr val="black"/>
                </a:solidFill>
                <a:latin typeface="Calibri Light"/>
                <a:ea typeface="Yu Gothic UI"/>
                <a:cs typeface="Arial" charset="0"/>
              </a:rPr>
              <a:t>④VC</a:t>
            </a:r>
            <a:endParaRPr lang="ja-JP" altLang="en-US" sz="1000">
              <a:solidFill>
                <a:prstClr val="black"/>
              </a:solidFill>
              <a:latin typeface="Calibri Light"/>
              <a:ea typeface="Yu Gothic UI"/>
              <a:cs typeface="Arial" charset="0"/>
            </a:endParaRPr>
          </a:p>
        </p:txBody>
      </p:sp>
      <p:cxnSp>
        <p:nvCxnSpPr>
          <p:cNvPr id="62" name="直線矢印コネクタ 61">
            <a:extLst>
              <a:ext uri="{FF2B5EF4-FFF2-40B4-BE49-F238E27FC236}">
                <a16:creationId xmlns:a16="http://schemas.microsoft.com/office/drawing/2014/main" id="{9844FFCF-AF4D-78A4-DCDF-21147A022673}"/>
              </a:ext>
            </a:extLst>
          </p:cNvPr>
          <p:cNvCxnSpPr>
            <a:cxnSpLocks/>
          </p:cNvCxnSpPr>
          <p:nvPr/>
        </p:nvCxnSpPr>
        <p:spPr bwMode="gray">
          <a:xfrm flipH="1">
            <a:off x="7938371" y="5794651"/>
            <a:ext cx="873911" cy="0"/>
          </a:xfrm>
          <a:prstGeom prst="straightConnector1">
            <a:avLst/>
          </a:prstGeom>
          <a:noFill/>
          <a:ln w="12700" cap="flat" cmpd="sng" algn="ctr">
            <a:solidFill>
              <a:srgbClr val="53565A"/>
            </a:solidFill>
            <a:prstDash val="solid"/>
            <a:headEnd type="none" w="med" len="med"/>
            <a:tailEnd type="triangle" w="med" len="med"/>
          </a:ln>
          <a:effectLst/>
        </p:spPr>
      </p:cxnSp>
      <p:cxnSp>
        <p:nvCxnSpPr>
          <p:cNvPr id="63" name="直線矢印コネクタ 62">
            <a:extLst>
              <a:ext uri="{FF2B5EF4-FFF2-40B4-BE49-F238E27FC236}">
                <a16:creationId xmlns:a16="http://schemas.microsoft.com/office/drawing/2014/main" id="{DAF33FCE-4B09-BA12-E49F-970FE89A50C1}"/>
              </a:ext>
            </a:extLst>
          </p:cNvPr>
          <p:cNvCxnSpPr>
            <a:cxnSpLocks/>
          </p:cNvCxnSpPr>
          <p:nvPr/>
        </p:nvCxnSpPr>
        <p:spPr bwMode="gray">
          <a:xfrm flipH="1">
            <a:off x="7944740" y="5382518"/>
            <a:ext cx="873911" cy="0"/>
          </a:xfrm>
          <a:prstGeom prst="straightConnector1">
            <a:avLst/>
          </a:prstGeom>
          <a:noFill/>
          <a:ln w="12700" cap="flat" cmpd="sng" algn="ctr">
            <a:solidFill>
              <a:sysClr val="windowText" lastClr="000000"/>
            </a:solidFill>
            <a:prstDash val="solid"/>
            <a:headEnd type="triangle" w="med" len="med"/>
            <a:tailEnd type="triangle" w="med" len="med"/>
          </a:ln>
          <a:effectLst/>
        </p:spPr>
      </p:cxnSp>
      <p:sp>
        <p:nvSpPr>
          <p:cNvPr id="64" name="テキスト ボックス 63">
            <a:extLst>
              <a:ext uri="{FF2B5EF4-FFF2-40B4-BE49-F238E27FC236}">
                <a16:creationId xmlns:a16="http://schemas.microsoft.com/office/drawing/2014/main" id="{458632A0-2365-C06B-1EF7-E8538B68AE4B}"/>
              </a:ext>
            </a:extLst>
          </p:cNvPr>
          <p:cNvSpPr txBox="1"/>
          <p:nvPr/>
        </p:nvSpPr>
        <p:spPr bwMode="gray">
          <a:xfrm>
            <a:off x="7948549" y="5224747"/>
            <a:ext cx="846386" cy="153888"/>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00">
                <a:solidFill>
                  <a:prstClr val="black"/>
                </a:solidFill>
                <a:latin typeface="Calibri Light"/>
                <a:ea typeface="Yu Gothic UI"/>
                <a:cs typeface="Arial" charset="0"/>
              </a:rPr>
              <a:t>①</a:t>
            </a:r>
            <a:r>
              <a:rPr lang="ja-JP" altLang="en-US" sz="1000">
                <a:solidFill>
                  <a:prstClr val="black"/>
                </a:solidFill>
                <a:latin typeface="Calibri Light"/>
                <a:ea typeface="Yu Gothic UI"/>
                <a:cs typeface="Arial" charset="0"/>
              </a:rPr>
              <a:t>認証</a:t>
            </a:r>
          </a:p>
        </p:txBody>
      </p:sp>
      <p:cxnSp>
        <p:nvCxnSpPr>
          <p:cNvPr id="65" name="直線矢印コネクタ 64">
            <a:extLst>
              <a:ext uri="{FF2B5EF4-FFF2-40B4-BE49-F238E27FC236}">
                <a16:creationId xmlns:a16="http://schemas.microsoft.com/office/drawing/2014/main" id="{002B93E9-0D3C-E1AA-8726-CBD8649C5200}"/>
              </a:ext>
            </a:extLst>
          </p:cNvPr>
          <p:cNvCxnSpPr>
            <a:cxnSpLocks/>
          </p:cNvCxnSpPr>
          <p:nvPr/>
        </p:nvCxnSpPr>
        <p:spPr bwMode="gray">
          <a:xfrm flipH="1">
            <a:off x="7944740" y="6061563"/>
            <a:ext cx="873911" cy="0"/>
          </a:xfrm>
          <a:prstGeom prst="straightConnector1">
            <a:avLst/>
          </a:prstGeom>
          <a:noFill/>
          <a:ln w="12700" cap="flat" cmpd="sng" algn="ctr">
            <a:solidFill>
              <a:sysClr val="windowText" lastClr="000000"/>
            </a:solidFill>
            <a:prstDash val="solid"/>
            <a:headEnd type="triangle" w="med" len="med"/>
            <a:tailEnd type="none" w="med" len="med"/>
          </a:ln>
          <a:effectLst/>
        </p:spPr>
      </p:cxnSp>
      <p:sp>
        <p:nvSpPr>
          <p:cNvPr id="66" name="テキスト ボックス 65">
            <a:extLst>
              <a:ext uri="{FF2B5EF4-FFF2-40B4-BE49-F238E27FC236}">
                <a16:creationId xmlns:a16="http://schemas.microsoft.com/office/drawing/2014/main" id="{212DC8CB-1005-4D3B-5A61-0B2149777176}"/>
              </a:ext>
            </a:extLst>
          </p:cNvPr>
          <p:cNvSpPr txBox="1"/>
          <p:nvPr/>
        </p:nvSpPr>
        <p:spPr bwMode="gray">
          <a:xfrm>
            <a:off x="7921893" y="5910728"/>
            <a:ext cx="888064" cy="153888"/>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00">
                <a:solidFill>
                  <a:prstClr val="black"/>
                </a:solidFill>
                <a:latin typeface="Calibri Light"/>
                <a:ea typeface="Yu Gothic UI"/>
                <a:cs typeface="Arial" charset="0"/>
              </a:rPr>
              <a:t>③VP</a:t>
            </a:r>
            <a:endParaRPr lang="ja-JP" altLang="en-US" sz="1000">
              <a:solidFill>
                <a:prstClr val="black"/>
              </a:solidFill>
              <a:latin typeface="Calibri Light"/>
              <a:ea typeface="Yu Gothic UI"/>
              <a:cs typeface="Arial" charset="0"/>
            </a:endParaRPr>
          </a:p>
        </p:txBody>
      </p:sp>
      <p:sp>
        <p:nvSpPr>
          <p:cNvPr id="67" name="テキスト ボックス 66">
            <a:extLst>
              <a:ext uri="{FF2B5EF4-FFF2-40B4-BE49-F238E27FC236}">
                <a16:creationId xmlns:a16="http://schemas.microsoft.com/office/drawing/2014/main" id="{CF1A776B-197F-E57F-774C-B7DDA454AA7C}"/>
              </a:ext>
            </a:extLst>
          </p:cNvPr>
          <p:cNvSpPr txBox="1"/>
          <p:nvPr/>
        </p:nvSpPr>
        <p:spPr bwMode="gray">
          <a:xfrm>
            <a:off x="7943614" y="5655380"/>
            <a:ext cx="846386" cy="153888"/>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00">
                <a:solidFill>
                  <a:prstClr val="black"/>
                </a:solidFill>
                <a:latin typeface="Calibri Light"/>
                <a:ea typeface="Yu Gothic UI"/>
                <a:cs typeface="Arial" charset="0"/>
              </a:rPr>
              <a:t>②VP</a:t>
            </a:r>
            <a:r>
              <a:rPr lang="ja-JP" altLang="en-US" sz="1000">
                <a:solidFill>
                  <a:prstClr val="black"/>
                </a:solidFill>
                <a:latin typeface="Calibri Light"/>
                <a:ea typeface="Yu Gothic UI"/>
                <a:cs typeface="Arial" charset="0"/>
              </a:rPr>
              <a:t>定義</a:t>
            </a:r>
          </a:p>
        </p:txBody>
      </p:sp>
      <p:sp>
        <p:nvSpPr>
          <p:cNvPr id="70" name="コンテンツ プレースホルダー 2">
            <a:extLst>
              <a:ext uri="{FF2B5EF4-FFF2-40B4-BE49-F238E27FC236}">
                <a16:creationId xmlns:a16="http://schemas.microsoft.com/office/drawing/2014/main" id="{20DB3C17-529A-72F3-8022-DC66811FEF62}"/>
              </a:ext>
            </a:extLst>
          </p:cNvPr>
          <p:cNvSpPr txBox="1">
            <a:spLocks/>
          </p:cNvSpPr>
          <p:nvPr/>
        </p:nvSpPr>
        <p:spPr>
          <a:xfrm>
            <a:off x="273050" y="908050"/>
            <a:ext cx="9359900" cy="303324"/>
          </a:xfrm>
          <a:prstGeom prst="rect">
            <a:avLst/>
          </a:prstGeom>
          <a:ln>
            <a:solidFill>
              <a:schemeClr val="bg1"/>
            </a:solid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現時点でアイデンティティサービスを構築する場合、基準とされる証明書モデルの規格は、</a:t>
            </a:r>
            <a:r>
              <a:rPr lang="en-US" altLang="ja-JP" dirty="0"/>
              <a:t>W3C</a:t>
            </a:r>
            <a:r>
              <a:rPr lang="ja-JP" altLang="en-US" dirty="0"/>
              <a:t>で標準化された</a:t>
            </a:r>
            <a:r>
              <a:rPr lang="en-US" altLang="ja-JP" dirty="0"/>
              <a:t>VC/VP</a:t>
            </a:r>
            <a:r>
              <a:rPr lang="ja-JP" altLang="en-US" dirty="0"/>
              <a:t>と、</a:t>
            </a:r>
            <a:r>
              <a:rPr lang="en-US" altLang="ja-JP" dirty="0"/>
              <a:t>OpenID Connect</a:t>
            </a:r>
            <a:r>
              <a:rPr lang="ja-JP" altLang="en-US" dirty="0"/>
              <a:t>の通信</a:t>
            </a:r>
            <a:r>
              <a:rPr lang="en-US" altLang="ja-JP" dirty="0"/>
              <a:t>/</a:t>
            </a:r>
            <a:r>
              <a:rPr lang="ja-JP" altLang="en-US" dirty="0"/>
              <a:t>認証プロトコルに対応している</a:t>
            </a:r>
            <a:r>
              <a:rPr lang="en-US" altLang="ja-JP" dirty="0"/>
              <a:t>OID4VCI/OID4VP</a:t>
            </a:r>
            <a:r>
              <a:rPr lang="ja-JP" altLang="en-US" dirty="0"/>
              <a:t>の</a:t>
            </a:r>
            <a:r>
              <a:rPr lang="en-US" altLang="ja-JP" dirty="0"/>
              <a:t>2</a:t>
            </a:r>
            <a:r>
              <a:rPr lang="ja-JP" altLang="en-US" dirty="0"/>
              <a:t>つに大別される</a:t>
            </a:r>
          </a:p>
        </p:txBody>
      </p:sp>
      <p:sp>
        <p:nvSpPr>
          <p:cNvPr id="4" name="正方形/長方形 3">
            <a:extLst>
              <a:ext uri="{FF2B5EF4-FFF2-40B4-BE49-F238E27FC236}">
                <a16:creationId xmlns:a16="http://schemas.microsoft.com/office/drawing/2014/main" id="{FB00BFF3-8D2D-7D63-14D1-1512E561C1A6}"/>
              </a:ext>
            </a:extLst>
          </p:cNvPr>
          <p:cNvSpPr/>
          <p:nvPr/>
        </p:nvSpPr>
        <p:spPr>
          <a:xfrm>
            <a:off x="1875716" y="135476"/>
            <a:ext cx="980645"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68" name="正方形/長方形 67">
            <a:extLst>
              <a:ext uri="{FF2B5EF4-FFF2-40B4-BE49-F238E27FC236}">
                <a16:creationId xmlns:a16="http://schemas.microsoft.com/office/drawing/2014/main" id="{912E80F6-63EB-111C-D793-6D0467E3867D}"/>
              </a:ext>
            </a:extLst>
          </p:cNvPr>
          <p:cNvSpPr/>
          <p:nvPr/>
        </p:nvSpPr>
        <p:spPr>
          <a:xfrm>
            <a:off x="1875716" y="242366"/>
            <a:ext cx="491226" cy="172800"/>
          </a:xfrm>
          <a:prstGeom prst="rect">
            <a:avLst/>
          </a:prstGeom>
          <a:solidFill>
            <a:schemeClr val="accent1">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69" name="正方形/長方形 68">
            <a:extLst>
              <a:ext uri="{FF2B5EF4-FFF2-40B4-BE49-F238E27FC236}">
                <a16:creationId xmlns:a16="http://schemas.microsoft.com/office/drawing/2014/main" id="{FFD6AA23-D94F-9CCC-899E-C650A96C0039}"/>
              </a:ext>
            </a:extLst>
          </p:cNvPr>
          <p:cNvSpPr/>
          <p:nvPr/>
        </p:nvSpPr>
        <p:spPr>
          <a:xfrm>
            <a:off x="2366942" y="242366"/>
            <a:ext cx="491226" cy="172800"/>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kumimoji="1" lang="en-US" altLang="ja-JP" sz="500" dirty="0"/>
              <a:t>Proofing</a:t>
            </a:r>
            <a:endParaRPr kumimoji="1" lang="ja-JP" altLang="en-US" sz="500" dirty="0"/>
          </a:p>
        </p:txBody>
      </p:sp>
      <p:sp>
        <p:nvSpPr>
          <p:cNvPr id="87" name="正方形/長方形 86">
            <a:extLst>
              <a:ext uri="{FF2B5EF4-FFF2-40B4-BE49-F238E27FC236}">
                <a16:creationId xmlns:a16="http://schemas.microsoft.com/office/drawing/2014/main" id="{E9025C7E-3207-764D-07D0-E2C7F475B963}"/>
              </a:ext>
            </a:extLst>
          </p:cNvPr>
          <p:cNvSpPr/>
          <p:nvPr/>
        </p:nvSpPr>
        <p:spPr>
          <a:xfrm>
            <a:off x="2858168"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Envelope</a:t>
            </a:r>
            <a:endParaRPr kumimoji="1" lang="ja-JP" altLang="en-US" sz="600" dirty="0"/>
          </a:p>
        </p:txBody>
      </p:sp>
      <p:sp>
        <p:nvSpPr>
          <p:cNvPr id="88" name="正方形/長方形 87">
            <a:extLst>
              <a:ext uri="{FF2B5EF4-FFF2-40B4-BE49-F238E27FC236}">
                <a16:creationId xmlns:a16="http://schemas.microsoft.com/office/drawing/2014/main" id="{6CFA7C17-46AD-02EC-C910-09E6DF064769}"/>
              </a:ext>
            </a:extLst>
          </p:cNvPr>
          <p:cNvSpPr/>
          <p:nvPr/>
        </p:nvSpPr>
        <p:spPr>
          <a:xfrm>
            <a:off x="2856361" y="135476"/>
            <a:ext cx="983839"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Agent Layer</a:t>
            </a:r>
            <a:endParaRPr lang="ja-JP" altLang="en-US" sz="600" dirty="0"/>
          </a:p>
        </p:txBody>
      </p:sp>
      <p:sp>
        <p:nvSpPr>
          <p:cNvPr id="89" name="正方形/長方形 88">
            <a:extLst>
              <a:ext uri="{FF2B5EF4-FFF2-40B4-BE49-F238E27FC236}">
                <a16:creationId xmlns:a16="http://schemas.microsoft.com/office/drawing/2014/main" id="{9B493B94-49BF-AC6F-5493-D9DF6861BF4C}"/>
              </a:ext>
            </a:extLst>
          </p:cNvPr>
          <p:cNvSpPr/>
          <p:nvPr/>
        </p:nvSpPr>
        <p:spPr>
          <a:xfrm>
            <a:off x="334926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Transport</a:t>
            </a:r>
            <a:endParaRPr kumimoji="1" lang="ja-JP" altLang="en-US" sz="600" dirty="0"/>
          </a:p>
        </p:txBody>
      </p:sp>
      <p:sp>
        <p:nvSpPr>
          <p:cNvPr id="90" name="正方形/長方形 89">
            <a:extLst>
              <a:ext uri="{FF2B5EF4-FFF2-40B4-BE49-F238E27FC236}">
                <a16:creationId xmlns:a16="http://schemas.microsoft.com/office/drawing/2014/main" id="{6BB3C4CC-F131-64E4-920C-88F754E075FF}"/>
              </a:ext>
            </a:extLst>
          </p:cNvPr>
          <p:cNvSpPr/>
          <p:nvPr/>
        </p:nvSpPr>
        <p:spPr>
          <a:xfrm>
            <a:off x="38406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91" name="正方形/長方形 90">
            <a:extLst>
              <a:ext uri="{FF2B5EF4-FFF2-40B4-BE49-F238E27FC236}">
                <a16:creationId xmlns:a16="http://schemas.microsoft.com/office/drawing/2014/main" id="{2AEBC087-A0AC-C4D7-098F-77E329CE5E86}"/>
              </a:ext>
            </a:extLst>
          </p:cNvPr>
          <p:cNvSpPr/>
          <p:nvPr/>
        </p:nvSpPr>
        <p:spPr>
          <a:xfrm>
            <a:off x="4824207"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92" name="正方形/長方形 91">
            <a:extLst>
              <a:ext uri="{FF2B5EF4-FFF2-40B4-BE49-F238E27FC236}">
                <a16:creationId xmlns:a16="http://schemas.microsoft.com/office/drawing/2014/main" id="{4D38FB5E-46AD-8DBA-90C3-3854A228391A}"/>
              </a:ext>
            </a:extLst>
          </p:cNvPr>
          <p:cNvSpPr/>
          <p:nvPr/>
        </p:nvSpPr>
        <p:spPr>
          <a:xfrm>
            <a:off x="531530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93" name="正方形/長方形 92">
            <a:extLst>
              <a:ext uri="{FF2B5EF4-FFF2-40B4-BE49-F238E27FC236}">
                <a16:creationId xmlns:a16="http://schemas.microsoft.com/office/drawing/2014/main" id="{E252A451-9D05-FB23-ABB6-D83BEB6393BA}"/>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94" name="正方形/長方形 93">
            <a:extLst>
              <a:ext uri="{FF2B5EF4-FFF2-40B4-BE49-F238E27FC236}">
                <a16:creationId xmlns:a16="http://schemas.microsoft.com/office/drawing/2014/main" id="{204D1C95-5CCD-44C4-7CE1-E86DE4D11DCA}"/>
              </a:ext>
            </a:extLst>
          </p:cNvPr>
          <p:cNvSpPr/>
          <p:nvPr/>
        </p:nvSpPr>
        <p:spPr>
          <a:xfrm>
            <a:off x="6297630"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Disclosure</a:t>
            </a:r>
            <a:br>
              <a:rPr kumimoji="1" lang="en-US" altLang="ja-JP" sz="500" dirty="0"/>
            </a:br>
            <a:r>
              <a:rPr kumimoji="1" lang="en-US" altLang="ja-JP" sz="500" dirty="0"/>
              <a:t>/ZKP</a:t>
            </a:r>
          </a:p>
        </p:txBody>
      </p:sp>
      <p:sp>
        <p:nvSpPr>
          <p:cNvPr id="95" name="正方形/長方形 94">
            <a:extLst>
              <a:ext uri="{FF2B5EF4-FFF2-40B4-BE49-F238E27FC236}">
                <a16:creationId xmlns:a16="http://schemas.microsoft.com/office/drawing/2014/main" id="{D67ECA07-26FA-22E5-1EED-0FAF37C860C3}"/>
              </a:ext>
            </a:extLst>
          </p:cNvPr>
          <p:cNvSpPr/>
          <p:nvPr/>
        </p:nvSpPr>
        <p:spPr>
          <a:xfrm>
            <a:off x="67888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96" name="正方形/長方形 95">
            <a:extLst>
              <a:ext uri="{FF2B5EF4-FFF2-40B4-BE49-F238E27FC236}">
                <a16:creationId xmlns:a16="http://schemas.microsoft.com/office/drawing/2014/main" id="{C9BE0486-FF54-885F-9913-65CB8A400BE7}"/>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97" name="正方形/長方形 96">
            <a:extLst>
              <a:ext uri="{FF2B5EF4-FFF2-40B4-BE49-F238E27FC236}">
                <a16:creationId xmlns:a16="http://schemas.microsoft.com/office/drawing/2014/main" id="{DB60C087-6C67-7AAA-6900-30F56321D625}"/>
              </a:ext>
            </a:extLst>
          </p:cNvPr>
          <p:cNvSpPr/>
          <p:nvPr/>
        </p:nvSpPr>
        <p:spPr>
          <a:xfrm>
            <a:off x="7771053"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98" name="正方形/長方形 97">
            <a:extLst>
              <a:ext uri="{FF2B5EF4-FFF2-40B4-BE49-F238E27FC236}">
                <a16:creationId xmlns:a16="http://schemas.microsoft.com/office/drawing/2014/main" id="{F060D49E-BA10-11F9-DBD8-637722D18B6A}"/>
              </a:ext>
            </a:extLst>
          </p:cNvPr>
          <p:cNvSpPr/>
          <p:nvPr/>
        </p:nvSpPr>
        <p:spPr>
          <a:xfrm>
            <a:off x="3837006" y="135476"/>
            <a:ext cx="2461601"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99" name="正方形/長方形 98">
            <a:extLst>
              <a:ext uri="{FF2B5EF4-FFF2-40B4-BE49-F238E27FC236}">
                <a16:creationId xmlns:a16="http://schemas.microsoft.com/office/drawing/2014/main" id="{6C26167D-291D-743D-AB1B-7306F502E872}"/>
              </a:ext>
            </a:extLst>
          </p:cNvPr>
          <p:cNvSpPr/>
          <p:nvPr/>
        </p:nvSpPr>
        <p:spPr>
          <a:xfrm>
            <a:off x="6297503" y="135476"/>
            <a:ext cx="1964776"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38" name="正方形/長方形 37">
            <a:extLst>
              <a:ext uri="{FF2B5EF4-FFF2-40B4-BE49-F238E27FC236}">
                <a16:creationId xmlns:a16="http://schemas.microsoft.com/office/drawing/2014/main" id="{384FCB2A-EC58-4520-BA98-0B32B8293A80}"/>
              </a:ext>
            </a:extLst>
          </p:cNvPr>
          <p:cNvSpPr/>
          <p:nvPr/>
        </p:nvSpPr>
        <p:spPr>
          <a:xfrm>
            <a:off x="433291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3241660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0B86C3F-AAF8-F255-A438-8C1B0876933E}"/>
              </a:ext>
            </a:extLst>
          </p:cNvPr>
          <p:cNvGraphicFramePr>
            <a:graphicFrameLocks noChangeAspect="1"/>
          </p:cNvGraphicFramePr>
          <p:nvPr>
            <p:custDataLst>
              <p:tags r:id="rId1"/>
            </p:custDataLst>
            <p:extLst>
              <p:ext uri="{D42A27DB-BD31-4B8C-83A1-F6EECF244321}">
                <p14:modId xmlns:p14="http://schemas.microsoft.com/office/powerpoint/2010/main" val="7192220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360" imgH="360" progId="TCLayout.ActiveDocument.1">
                  <p:embed/>
                </p:oleObj>
              </mc:Choice>
              <mc:Fallback>
                <p:oleObj name="think-cell スライド" r:id="rId4" imgW="360" imgH="360" progId="TCLayout.ActiveDocument.1">
                  <p:embed/>
                  <p:pic>
                    <p:nvPicPr>
                      <p:cNvPr id="6" name="think-cell data - do not delete" hidden="1">
                        <a:extLst>
                          <a:ext uri="{FF2B5EF4-FFF2-40B4-BE49-F238E27FC236}">
                            <a16:creationId xmlns:a16="http://schemas.microsoft.com/office/drawing/2014/main" id="{A0B86C3F-AAF8-F255-A438-8C1B0876933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FB43402-11AB-F94D-223B-21927009248F}"/>
              </a:ext>
            </a:extLst>
          </p:cNvPr>
          <p:cNvSpPr>
            <a:spLocks noGrp="1"/>
          </p:cNvSpPr>
          <p:nvPr>
            <p:ph type="title"/>
          </p:nvPr>
        </p:nvSpPr>
        <p:spPr>
          <a:xfrm>
            <a:off x="273050" y="443826"/>
            <a:ext cx="7848302" cy="246221"/>
          </a:xfrm>
        </p:spPr>
        <p:txBody>
          <a:bodyPr vert="horz"/>
          <a:lstStyle/>
          <a:p>
            <a:r>
              <a:rPr kumimoji="1" lang="en-US" altLang="ja-JP" sz="1600" dirty="0"/>
              <a:t>5.2. </a:t>
            </a:r>
            <a:r>
              <a:rPr kumimoji="1" lang="ja-JP" altLang="en-US" sz="1600" dirty="0"/>
              <a:t>規格・実装方式の詳細 </a:t>
            </a:r>
            <a:r>
              <a:rPr kumimoji="1" lang="en-US" altLang="ja-JP" sz="1600" dirty="0"/>
              <a:t>- (3) </a:t>
            </a:r>
            <a:r>
              <a:rPr kumimoji="1" lang="ja-JP" altLang="en-US" sz="1600" dirty="0"/>
              <a:t>選択的開示含む</a:t>
            </a:r>
            <a:r>
              <a:rPr kumimoji="1" lang="ja-JP" altLang="en-US" dirty="0"/>
              <a:t>証明書検証のための規格</a:t>
            </a:r>
            <a:endParaRPr kumimoji="1" lang="ja-JP" altLang="en-US" sz="1600" dirty="0"/>
          </a:p>
        </p:txBody>
      </p:sp>
      <p:sp>
        <p:nvSpPr>
          <p:cNvPr id="3" name="テキスト プレースホルダー 2">
            <a:extLst>
              <a:ext uri="{FF2B5EF4-FFF2-40B4-BE49-F238E27FC236}">
                <a16:creationId xmlns:a16="http://schemas.microsoft.com/office/drawing/2014/main" id="{5D2C5650-BE13-E9BD-A921-8E9228167951}"/>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55" name="コンテンツ プレースホルダー 2">
            <a:extLst>
              <a:ext uri="{FF2B5EF4-FFF2-40B4-BE49-F238E27FC236}">
                <a16:creationId xmlns:a16="http://schemas.microsoft.com/office/drawing/2014/main" id="{8D626C05-932B-137E-5066-0A1B45E6F6CD}"/>
              </a:ext>
            </a:extLst>
          </p:cNvPr>
          <p:cNvSpPr txBox="1">
            <a:spLocks/>
          </p:cNvSpPr>
          <p:nvPr/>
        </p:nvSpPr>
        <p:spPr>
          <a:xfrm>
            <a:off x="273050" y="908049"/>
            <a:ext cx="9359900" cy="932291"/>
          </a:xfrm>
          <a:prstGeom prst="rect">
            <a:avLst/>
          </a:prstGeom>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証明書のデータフォーマットとしては、</a:t>
            </a:r>
            <a:r>
              <a:rPr lang="en-US" altLang="ja-JP" dirty="0"/>
              <a:t>JSON</a:t>
            </a:r>
            <a:r>
              <a:rPr lang="ja-JP" altLang="en-US" dirty="0"/>
              <a:t>が大部分を占めており（一部</a:t>
            </a:r>
            <a:r>
              <a:rPr lang="en-US" altLang="ja-JP" dirty="0"/>
              <a:t>JSON</a:t>
            </a:r>
            <a:r>
              <a:rPr lang="ja-JP" altLang="en-US" dirty="0"/>
              <a:t>をバイナリ形式も存在）選択的開示を可能にする拡張仕様が複数規格が存在している</a:t>
            </a:r>
          </a:p>
        </p:txBody>
      </p:sp>
      <p:sp>
        <p:nvSpPr>
          <p:cNvPr id="20" name="正方形/長方形 19">
            <a:extLst>
              <a:ext uri="{FF2B5EF4-FFF2-40B4-BE49-F238E27FC236}">
                <a16:creationId xmlns:a16="http://schemas.microsoft.com/office/drawing/2014/main" id="{5847C903-41DB-142E-6374-CC252A680982}"/>
              </a:ext>
            </a:extLst>
          </p:cNvPr>
          <p:cNvSpPr/>
          <p:nvPr/>
        </p:nvSpPr>
        <p:spPr>
          <a:xfrm>
            <a:off x="1875716" y="135476"/>
            <a:ext cx="980645"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33" name="正方形/長方形 32">
            <a:extLst>
              <a:ext uri="{FF2B5EF4-FFF2-40B4-BE49-F238E27FC236}">
                <a16:creationId xmlns:a16="http://schemas.microsoft.com/office/drawing/2014/main" id="{645E6E77-DF27-A0EB-77AD-75644BBEA00F}"/>
              </a:ext>
            </a:extLst>
          </p:cNvPr>
          <p:cNvSpPr/>
          <p:nvPr/>
        </p:nvSpPr>
        <p:spPr>
          <a:xfrm>
            <a:off x="1875716" y="242366"/>
            <a:ext cx="491226" cy="172800"/>
          </a:xfrm>
          <a:prstGeom prst="rect">
            <a:avLst/>
          </a:prstGeom>
          <a:solidFill>
            <a:schemeClr val="accent1">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53" name="正方形/長方形 52">
            <a:extLst>
              <a:ext uri="{FF2B5EF4-FFF2-40B4-BE49-F238E27FC236}">
                <a16:creationId xmlns:a16="http://schemas.microsoft.com/office/drawing/2014/main" id="{51E41AA8-7FA8-4616-9D46-A25C87F4AB48}"/>
              </a:ext>
            </a:extLst>
          </p:cNvPr>
          <p:cNvSpPr/>
          <p:nvPr/>
        </p:nvSpPr>
        <p:spPr>
          <a:xfrm>
            <a:off x="2366942"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Credential</a:t>
            </a:r>
          </a:p>
          <a:p>
            <a:pPr algn="ctr"/>
            <a:r>
              <a:rPr lang="en-US" altLang="ja-JP" sz="500" dirty="0"/>
              <a:t>Proofing</a:t>
            </a:r>
            <a:endParaRPr lang="ja-JP" altLang="en-US" sz="500" dirty="0"/>
          </a:p>
        </p:txBody>
      </p:sp>
      <p:sp>
        <p:nvSpPr>
          <p:cNvPr id="54" name="正方形/長方形 53">
            <a:extLst>
              <a:ext uri="{FF2B5EF4-FFF2-40B4-BE49-F238E27FC236}">
                <a16:creationId xmlns:a16="http://schemas.microsoft.com/office/drawing/2014/main" id="{6726ADD9-09A8-DF0C-D570-308C1FFA7DC2}"/>
              </a:ext>
            </a:extLst>
          </p:cNvPr>
          <p:cNvSpPr/>
          <p:nvPr/>
        </p:nvSpPr>
        <p:spPr>
          <a:xfrm>
            <a:off x="2858168"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Envelope</a:t>
            </a:r>
            <a:endParaRPr kumimoji="1" lang="ja-JP" altLang="en-US" sz="600" dirty="0"/>
          </a:p>
        </p:txBody>
      </p:sp>
      <p:sp>
        <p:nvSpPr>
          <p:cNvPr id="63" name="正方形/長方形 62">
            <a:extLst>
              <a:ext uri="{FF2B5EF4-FFF2-40B4-BE49-F238E27FC236}">
                <a16:creationId xmlns:a16="http://schemas.microsoft.com/office/drawing/2014/main" id="{28F095A1-C54E-FE11-46C9-BCA7E3035E73}"/>
              </a:ext>
            </a:extLst>
          </p:cNvPr>
          <p:cNvSpPr/>
          <p:nvPr/>
        </p:nvSpPr>
        <p:spPr>
          <a:xfrm>
            <a:off x="2856361" y="135476"/>
            <a:ext cx="983839"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Agent Layer</a:t>
            </a:r>
            <a:endParaRPr lang="ja-JP" altLang="en-US" sz="600" dirty="0"/>
          </a:p>
        </p:txBody>
      </p:sp>
      <p:sp>
        <p:nvSpPr>
          <p:cNvPr id="64" name="正方形/長方形 63">
            <a:extLst>
              <a:ext uri="{FF2B5EF4-FFF2-40B4-BE49-F238E27FC236}">
                <a16:creationId xmlns:a16="http://schemas.microsoft.com/office/drawing/2014/main" id="{8458B1B4-FB55-CE55-B395-0DFCA15EAE55}"/>
              </a:ext>
            </a:extLst>
          </p:cNvPr>
          <p:cNvSpPr/>
          <p:nvPr/>
        </p:nvSpPr>
        <p:spPr>
          <a:xfrm>
            <a:off x="334926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Transport</a:t>
            </a:r>
            <a:endParaRPr kumimoji="1" lang="ja-JP" altLang="en-US" sz="600" dirty="0"/>
          </a:p>
        </p:txBody>
      </p:sp>
      <p:sp>
        <p:nvSpPr>
          <p:cNvPr id="65" name="正方形/長方形 64">
            <a:extLst>
              <a:ext uri="{FF2B5EF4-FFF2-40B4-BE49-F238E27FC236}">
                <a16:creationId xmlns:a16="http://schemas.microsoft.com/office/drawing/2014/main" id="{19AEAA50-1234-8AAA-9E24-A3D1B057AA87}"/>
              </a:ext>
            </a:extLst>
          </p:cNvPr>
          <p:cNvSpPr/>
          <p:nvPr/>
        </p:nvSpPr>
        <p:spPr>
          <a:xfrm>
            <a:off x="38406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66" name="正方形/長方形 65">
            <a:extLst>
              <a:ext uri="{FF2B5EF4-FFF2-40B4-BE49-F238E27FC236}">
                <a16:creationId xmlns:a16="http://schemas.microsoft.com/office/drawing/2014/main" id="{2CEB5F87-069F-5BC1-90C7-B9C85BBB37AC}"/>
              </a:ext>
            </a:extLst>
          </p:cNvPr>
          <p:cNvSpPr/>
          <p:nvPr/>
        </p:nvSpPr>
        <p:spPr>
          <a:xfrm>
            <a:off x="4824207"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67" name="正方形/長方形 66">
            <a:extLst>
              <a:ext uri="{FF2B5EF4-FFF2-40B4-BE49-F238E27FC236}">
                <a16:creationId xmlns:a16="http://schemas.microsoft.com/office/drawing/2014/main" id="{D0500311-28CB-C8CA-B71C-9D58BEEFA7F8}"/>
              </a:ext>
            </a:extLst>
          </p:cNvPr>
          <p:cNvSpPr/>
          <p:nvPr/>
        </p:nvSpPr>
        <p:spPr>
          <a:xfrm>
            <a:off x="531530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68" name="正方形/長方形 67">
            <a:extLst>
              <a:ext uri="{FF2B5EF4-FFF2-40B4-BE49-F238E27FC236}">
                <a16:creationId xmlns:a16="http://schemas.microsoft.com/office/drawing/2014/main" id="{719EDC92-AE2A-A350-960F-C8D7B7B91B23}"/>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69" name="正方形/長方形 68">
            <a:extLst>
              <a:ext uri="{FF2B5EF4-FFF2-40B4-BE49-F238E27FC236}">
                <a16:creationId xmlns:a16="http://schemas.microsoft.com/office/drawing/2014/main" id="{74F3C7C1-7009-6B70-6103-32C9984C7745}"/>
              </a:ext>
            </a:extLst>
          </p:cNvPr>
          <p:cNvSpPr/>
          <p:nvPr/>
        </p:nvSpPr>
        <p:spPr>
          <a:xfrm>
            <a:off x="6297630"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Disclosure</a:t>
            </a:r>
            <a:br>
              <a:rPr lang="en-US" altLang="ja-JP" sz="500" dirty="0"/>
            </a:br>
            <a:r>
              <a:rPr lang="en-US" altLang="ja-JP" sz="500" dirty="0"/>
              <a:t>/ZKP</a:t>
            </a:r>
          </a:p>
        </p:txBody>
      </p:sp>
      <p:sp>
        <p:nvSpPr>
          <p:cNvPr id="70" name="正方形/長方形 69">
            <a:extLst>
              <a:ext uri="{FF2B5EF4-FFF2-40B4-BE49-F238E27FC236}">
                <a16:creationId xmlns:a16="http://schemas.microsoft.com/office/drawing/2014/main" id="{C707AF91-4FB2-61D2-D811-FC0585F2A4EB}"/>
              </a:ext>
            </a:extLst>
          </p:cNvPr>
          <p:cNvSpPr/>
          <p:nvPr/>
        </p:nvSpPr>
        <p:spPr>
          <a:xfrm>
            <a:off x="67888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71" name="正方形/長方形 70">
            <a:extLst>
              <a:ext uri="{FF2B5EF4-FFF2-40B4-BE49-F238E27FC236}">
                <a16:creationId xmlns:a16="http://schemas.microsoft.com/office/drawing/2014/main" id="{AD123E6B-AE85-A181-7DC3-FAF7ED08D3F5}"/>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72" name="正方形/長方形 71">
            <a:extLst>
              <a:ext uri="{FF2B5EF4-FFF2-40B4-BE49-F238E27FC236}">
                <a16:creationId xmlns:a16="http://schemas.microsoft.com/office/drawing/2014/main" id="{4FD499CC-84B6-0047-E3A3-1DC161D99938}"/>
              </a:ext>
            </a:extLst>
          </p:cNvPr>
          <p:cNvSpPr/>
          <p:nvPr/>
        </p:nvSpPr>
        <p:spPr>
          <a:xfrm>
            <a:off x="7771053"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73" name="正方形/長方形 72">
            <a:extLst>
              <a:ext uri="{FF2B5EF4-FFF2-40B4-BE49-F238E27FC236}">
                <a16:creationId xmlns:a16="http://schemas.microsoft.com/office/drawing/2014/main" id="{99F791D5-45FF-A433-4053-8592F2618C1A}"/>
              </a:ext>
            </a:extLst>
          </p:cNvPr>
          <p:cNvSpPr/>
          <p:nvPr/>
        </p:nvSpPr>
        <p:spPr>
          <a:xfrm>
            <a:off x="3837006" y="135476"/>
            <a:ext cx="2461601"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74" name="正方形/長方形 73">
            <a:extLst>
              <a:ext uri="{FF2B5EF4-FFF2-40B4-BE49-F238E27FC236}">
                <a16:creationId xmlns:a16="http://schemas.microsoft.com/office/drawing/2014/main" id="{F6ED71E2-76D6-503C-36F2-A97E6C5BA3A4}"/>
              </a:ext>
            </a:extLst>
          </p:cNvPr>
          <p:cNvSpPr/>
          <p:nvPr/>
        </p:nvSpPr>
        <p:spPr>
          <a:xfrm>
            <a:off x="6297503" y="135476"/>
            <a:ext cx="1964776"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4" name="正方形/長方形 3">
            <a:extLst>
              <a:ext uri="{FF2B5EF4-FFF2-40B4-BE49-F238E27FC236}">
                <a16:creationId xmlns:a16="http://schemas.microsoft.com/office/drawing/2014/main" id="{86AB3B62-A404-9119-1EA9-A7A13C0398DE}"/>
              </a:ext>
            </a:extLst>
          </p:cNvPr>
          <p:cNvSpPr/>
          <p:nvPr/>
        </p:nvSpPr>
        <p:spPr>
          <a:xfrm>
            <a:off x="433291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
        <p:nvSpPr>
          <p:cNvPr id="7" name="正方形/長方形 6">
            <a:extLst>
              <a:ext uri="{FF2B5EF4-FFF2-40B4-BE49-F238E27FC236}">
                <a16:creationId xmlns:a16="http://schemas.microsoft.com/office/drawing/2014/main" id="{175660B7-A7B0-2B5A-BE42-2941D8E46426}"/>
              </a:ext>
            </a:extLst>
          </p:cNvPr>
          <p:cNvSpPr/>
          <p:nvPr/>
        </p:nvSpPr>
        <p:spPr bwMode="gray">
          <a:xfrm>
            <a:off x="1603708" y="1422030"/>
            <a:ext cx="801056" cy="419449"/>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chemeClr val="bg1"/>
                </a:solidFill>
                <a:effectLst/>
                <a:uLnTx/>
                <a:uFillTx/>
                <a:latin typeface="+mn-ea"/>
                <a:ea typeface="+mn-ea"/>
                <a:cs typeface="Arial" charset="0"/>
              </a:rPr>
              <a:t>データ</a:t>
            </a:r>
            <a:endParaRPr kumimoji="0" lang="en-US" altLang="ja-JP" sz="1200" b="1" i="0" u="none" strike="noStrike" kern="0" cap="none" spc="0" normalizeH="0" baseline="0" noProof="0">
              <a:ln>
                <a:noFill/>
              </a:ln>
              <a:solidFill>
                <a:schemeClr val="bg1"/>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chemeClr val="bg1"/>
                </a:solidFill>
                <a:effectLst/>
                <a:uLnTx/>
                <a:uFillTx/>
                <a:latin typeface="+mn-ea"/>
                <a:ea typeface="+mn-ea"/>
                <a:cs typeface="Arial" charset="0"/>
              </a:rPr>
              <a:t>フォーマット</a:t>
            </a:r>
            <a:endParaRPr kumimoji="0" lang="en-US" altLang="ja-JP" sz="1200" b="1" i="0" u="none" strike="noStrike" kern="0" cap="none" spc="0" normalizeH="0" baseline="0" noProof="0">
              <a:ln>
                <a:noFill/>
              </a:ln>
              <a:solidFill>
                <a:schemeClr val="bg1"/>
              </a:solidFill>
              <a:effectLst/>
              <a:uLnTx/>
              <a:uFillTx/>
              <a:latin typeface="+mn-ea"/>
              <a:ea typeface="+mn-ea"/>
              <a:cs typeface="Arial" charset="0"/>
            </a:endParaRPr>
          </a:p>
        </p:txBody>
      </p:sp>
      <p:sp>
        <p:nvSpPr>
          <p:cNvPr id="9" name="正方形/長方形 8">
            <a:extLst>
              <a:ext uri="{FF2B5EF4-FFF2-40B4-BE49-F238E27FC236}">
                <a16:creationId xmlns:a16="http://schemas.microsoft.com/office/drawing/2014/main" id="{5C7814D4-3A5D-E490-C263-C3EBD467C566}"/>
              </a:ext>
            </a:extLst>
          </p:cNvPr>
          <p:cNvSpPr/>
          <p:nvPr/>
        </p:nvSpPr>
        <p:spPr bwMode="gray">
          <a:xfrm>
            <a:off x="3478178" y="1422030"/>
            <a:ext cx="4087403" cy="419449"/>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chemeClr val="bg1"/>
                </a:solidFill>
                <a:effectLst/>
                <a:uLnTx/>
                <a:uFillTx/>
                <a:latin typeface="+mn-ea"/>
                <a:ea typeface="+mn-ea"/>
                <a:cs typeface="Arial" charset="0"/>
              </a:rPr>
              <a:t>特徴</a:t>
            </a:r>
            <a:endParaRPr kumimoji="0" lang="en-US" altLang="ja-JP" sz="1200" b="1" i="0" u="none" strike="noStrike" kern="0" cap="none" spc="0" normalizeH="0" baseline="0" noProof="0">
              <a:ln>
                <a:noFill/>
              </a:ln>
              <a:solidFill>
                <a:schemeClr val="bg1"/>
              </a:solidFill>
              <a:effectLst/>
              <a:uLnTx/>
              <a:uFillTx/>
              <a:latin typeface="+mn-ea"/>
              <a:ea typeface="+mn-ea"/>
              <a:cs typeface="Arial" charset="0"/>
            </a:endParaRPr>
          </a:p>
        </p:txBody>
      </p:sp>
      <p:sp>
        <p:nvSpPr>
          <p:cNvPr id="10" name="正方形/長方形 9">
            <a:extLst>
              <a:ext uri="{FF2B5EF4-FFF2-40B4-BE49-F238E27FC236}">
                <a16:creationId xmlns:a16="http://schemas.microsoft.com/office/drawing/2014/main" id="{2AA6D630-C186-C670-566D-2AD2ED6562FE}"/>
              </a:ext>
            </a:extLst>
          </p:cNvPr>
          <p:cNvSpPr/>
          <p:nvPr/>
        </p:nvSpPr>
        <p:spPr bwMode="gray">
          <a:xfrm>
            <a:off x="282729" y="1422030"/>
            <a:ext cx="1231202" cy="419449"/>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kern="0" dirty="0">
                <a:solidFill>
                  <a:schemeClr val="bg1"/>
                </a:solidFill>
                <a:latin typeface="+mn-ea"/>
                <a:ea typeface="+mn-ea"/>
                <a:cs typeface="Arial" charset="0"/>
              </a:rPr>
              <a:t>証明書</a:t>
            </a:r>
            <a:r>
              <a:rPr kumimoji="0" lang="ja-JP" altLang="en-US" sz="1200" b="1" i="0" u="none" strike="noStrike" kern="0" cap="none" spc="0" normalizeH="0" baseline="0" noProof="0" dirty="0">
                <a:ln>
                  <a:noFill/>
                </a:ln>
                <a:solidFill>
                  <a:schemeClr val="bg1"/>
                </a:solidFill>
                <a:effectLst/>
                <a:uLnTx/>
                <a:uFillTx/>
                <a:latin typeface="+mn-ea"/>
                <a:ea typeface="+mn-ea"/>
                <a:cs typeface="Arial" charset="0"/>
              </a:rPr>
              <a:t>規格</a:t>
            </a:r>
            <a:endParaRPr kumimoji="0" lang="en-US" altLang="ja-JP" sz="1200" b="1" i="0" u="none" strike="noStrike" kern="0" cap="none" spc="0" normalizeH="0" baseline="0" noProof="0" dirty="0">
              <a:ln>
                <a:noFill/>
              </a:ln>
              <a:solidFill>
                <a:schemeClr val="bg1"/>
              </a:solidFill>
              <a:effectLst/>
              <a:uLnTx/>
              <a:uFillTx/>
              <a:latin typeface="+mn-ea"/>
              <a:ea typeface="+mn-ea"/>
              <a:cs typeface="Arial" charset="0"/>
            </a:endParaRPr>
          </a:p>
        </p:txBody>
      </p:sp>
      <p:sp>
        <p:nvSpPr>
          <p:cNvPr id="11" name="正方形/長方形 10">
            <a:extLst>
              <a:ext uri="{FF2B5EF4-FFF2-40B4-BE49-F238E27FC236}">
                <a16:creationId xmlns:a16="http://schemas.microsoft.com/office/drawing/2014/main" id="{FA6DD338-01DA-C921-A53E-E6332AD4B0D1}"/>
              </a:ext>
            </a:extLst>
          </p:cNvPr>
          <p:cNvSpPr/>
          <p:nvPr/>
        </p:nvSpPr>
        <p:spPr bwMode="gray">
          <a:xfrm>
            <a:off x="7645341" y="1422030"/>
            <a:ext cx="1986973" cy="197453"/>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chemeClr val="bg1"/>
                </a:solidFill>
                <a:effectLst/>
                <a:uLnTx/>
                <a:uFillTx/>
                <a:latin typeface="+mn-ea"/>
                <a:ea typeface="+mn-ea"/>
                <a:cs typeface="Arial" charset="0"/>
              </a:rPr>
              <a:t>選択的属性開示</a:t>
            </a:r>
            <a:endParaRPr kumimoji="0" lang="en-US" altLang="ja-JP" sz="1200" b="1" i="0" u="none" strike="noStrike" kern="0" cap="none" spc="0" normalizeH="0" baseline="0" noProof="0">
              <a:ln>
                <a:noFill/>
              </a:ln>
              <a:solidFill>
                <a:schemeClr val="bg1"/>
              </a:solidFill>
              <a:effectLst/>
              <a:uLnTx/>
              <a:uFillTx/>
              <a:latin typeface="+mn-ea"/>
              <a:ea typeface="+mn-ea"/>
              <a:cs typeface="Arial" charset="0"/>
            </a:endParaRPr>
          </a:p>
        </p:txBody>
      </p:sp>
      <p:sp>
        <p:nvSpPr>
          <p:cNvPr id="12" name="正方形/長方形 11">
            <a:extLst>
              <a:ext uri="{FF2B5EF4-FFF2-40B4-BE49-F238E27FC236}">
                <a16:creationId xmlns:a16="http://schemas.microsoft.com/office/drawing/2014/main" id="{2A7BBF2F-3D50-166D-9A28-3BDF098E973F}"/>
              </a:ext>
            </a:extLst>
          </p:cNvPr>
          <p:cNvSpPr/>
          <p:nvPr/>
        </p:nvSpPr>
        <p:spPr bwMode="gray">
          <a:xfrm>
            <a:off x="273050" y="4075340"/>
            <a:ext cx="1239230" cy="975214"/>
          </a:xfrm>
          <a:prstGeom prst="rect">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LDP-VC</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dirty="0">
                <a:ln>
                  <a:noFill/>
                </a:ln>
                <a:solidFill>
                  <a:prstClr val="white"/>
                </a:solidFill>
                <a:effectLst/>
                <a:uLnTx/>
                <a:uFillTx/>
                <a:latin typeface="+mn-ea"/>
                <a:ea typeface="+mn-ea"/>
                <a:cs typeface="Arial" charset="0"/>
              </a:rPr>
              <a:t>（</a:t>
            </a: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Linked Data Proofs</a:t>
            </a:r>
            <a:r>
              <a:rPr kumimoji="0" lang="ja-JP" altLang="en-US" sz="1200" b="1" i="0" u="none" strike="noStrike" kern="0" cap="none" spc="0" normalizeH="0" baseline="0" noProof="0" dirty="0">
                <a:ln>
                  <a:noFill/>
                </a:ln>
                <a:solidFill>
                  <a:prstClr val="white"/>
                </a:solidFill>
                <a:effectLst/>
                <a:uLnTx/>
                <a:uFillTx/>
                <a:latin typeface="+mn-ea"/>
                <a:ea typeface="+mn-ea"/>
                <a:cs typeface="Arial" charset="0"/>
              </a:rPr>
              <a:t>）</a:t>
            </a:r>
          </a:p>
        </p:txBody>
      </p:sp>
      <p:sp>
        <p:nvSpPr>
          <p:cNvPr id="13" name="正方形/長方形 12">
            <a:extLst>
              <a:ext uri="{FF2B5EF4-FFF2-40B4-BE49-F238E27FC236}">
                <a16:creationId xmlns:a16="http://schemas.microsoft.com/office/drawing/2014/main" id="{DA9B1FE3-90E1-6CB7-CB4D-1893018C1A29}"/>
              </a:ext>
            </a:extLst>
          </p:cNvPr>
          <p:cNvSpPr/>
          <p:nvPr/>
        </p:nvSpPr>
        <p:spPr bwMode="gray">
          <a:xfrm>
            <a:off x="1603707" y="4075340"/>
            <a:ext cx="801056" cy="975214"/>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JSON-LD</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4" name="正方形/長方形 13">
            <a:extLst>
              <a:ext uri="{FF2B5EF4-FFF2-40B4-BE49-F238E27FC236}">
                <a16:creationId xmlns:a16="http://schemas.microsoft.com/office/drawing/2014/main" id="{AB931684-B637-0B4C-4E4F-5B3790E29720}"/>
              </a:ext>
            </a:extLst>
          </p:cNvPr>
          <p:cNvSpPr/>
          <p:nvPr/>
        </p:nvSpPr>
        <p:spPr bwMode="gray">
          <a:xfrm>
            <a:off x="273050" y="1926346"/>
            <a:ext cx="1239230" cy="1165137"/>
          </a:xfrm>
          <a:prstGeom prst="rect">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JWT VC</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dirty="0">
                <a:ln>
                  <a:noFill/>
                </a:ln>
                <a:solidFill>
                  <a:prstClr val="white"/>
                </a:solidFill>
                <a:effectLst/>
                <a:uLnTx/>
                <a:uFillTx/>
                <a:latin typeface="+mn-ea"/>
                <a:ea typeface="+mn-ea"/>
                <a:cs typeface="Arial" charset="0"/>
              </a:rPr>
              <a:t>（</a:t>
            </a: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JSON Web</a:t>
            </a:r>
            <a:r>
              <a:rPr kumimoji="0" lang="ja-JP" altLang="en-US" sz="1200" b="1" i="0" u="none" strike="noStrike" kern="0" cap="none" spc="0" normalizeH="0" baseline="0" noProof="0" dirty="0">
                <a:ln>
                  <a:noFill/>
                </a:ln>
                <a:solidFill>
                  <a:prstClr val="white"/>
                </a:solidFill>
                <a:effectLst/>
                <a:uLnTx/>
                <a:uFillTx/>
                <a:latin typeface="+mn-ea"/>
                <a:ea typeface="+mn-ea"/>
                <a:cs typeface="Arial" charset="0"/>
              </a:rPr>
              <a:t>　</a:t>
            </a: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Token</a:t>
            </a:r>
            <a:r>
              <a:rPr kumimoji="0" lang="ja-JP" altLang="en-US" sz="1200" b="1" i="0" u="none" strike="noStrike" kern="0" cap="none" spc="0" normalizeH="0" baseline="0" noProof="0" dirty="0">
                <a:ln>
                  <a:noFill/>
                </a:ln>
                <a:solidFill>
                  <a:prstClr val="white"/>
                </a:solidFill>
                <a:effectLst/>
                <a:uLnTx/>
                <a:uFillTx/>
                <a:latin typeface="+mn-ea"/>
                <a:ea typeface="+mn-ea"/>
                <a:cs typeface="Arial" charset="0"/>
              </a:rPr>
              <a:t>）</a:t>
            </a:r>
          </a:p>
        </p:txBody>
      </p:sp>
      <p:sp>
        <p:nvSpPr>
          <p:cNvPr id="15" name="正方形/長方形 14">
            <a:extLst>
              <a:ext uri="{FF2B5EF4-FFF2-40B4-BE49-F238E27FC236}">
                <a16:creationId xmlns:a16="http://schemas.microsoft.com/office/drawing/2014/main" id="{896F5048-0E7D-8003-DC5A-A5BD7D38F98B}"/>
              </a:ext>
            </a:extLst>
          </p:cNvPr>
          <p:cNvSpPr/>
          <p:nvPr/>
        </p:nvSpPr>
        <p:spPr bwMode="gray">
          <a:xfrm>
            <a:off x="1603707" y="1926344"/>
            <a:ext cx="801056" cy="116513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JSON</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JSON-LD</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6" name="正方形/長方形 15">
            <a:extLst>
              <a:ext uri="{FF2B5EF4-FFF2-40B4-BE49-F238E27FC236}">
                <a16:creationId xmlns:a16="http://schemas.microsoft.com/office/drawing/2014/main" id="{55B56470-0191-D296-AE65-C0CEC43E348C}"/>
              </a:ext>
            </a:extLst>
          </p:cNvPr>
          <p:cNvSpPr/>
          <p:nvPr/>
        </p:nvSpPr>
        <p:spPr bwMode="gray">
          <a:xfrm>
            <a:off x="3478179" y="4072847"/>
            <a:ext cx="4087404" cy="975214"/>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プレーン</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JSON</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では表現が困難なコンテキストを定義可能な形式。</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Linked Data</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によりデータの記述に使用する用語（</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URI</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）を一意に特定できる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選択的開示は</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BBS+</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署名・ゼロ知識証明で実現する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7" name="正方形/長方形 16">
            <a:extLst>
              <a:ext uri="{FF2B5EF4-FFF2-40B4-BE49-F238E27FC236}">
                <a16:creationId xmlns:a16="http://schemas.microsoft.com/office/drawing/2014/main" id="{60B40211-D4F6-9F8A-DF5E-BCD6DA84ED53}"/>
              </a:ext>
            </a:extLst>
          </p:cNvPr>
          <p:cNvSpPr/>
          <p:nvPr/>
        </p:nvSpPr>
        <p:spPr bwMode="gray">
          <a:xfrm>
            <a:off x="3478179" y="1926344"/>
            <a:ext cx="4087404" cy="1165139"/>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srgbClr val="DA291C"/>
                </a:solidFill>
                <a:effectLst/>
                <a:uLnTx/>
                <a:uFillTx/>
                <a:latin typeface="+mn-ea"/>
                <a:ea typeface="+mn-ea"/>
                <a:cs typeface="Arial" charset="0"/>
              </a:rPr>
              <a:t>OAuth2.0</a:t>
            </a:r>
            <a:r>
              <a:rPr kumimoji="0" lang="ja-JP" altLang="en-US" sz="1200" b="0" i="0" u="none" strike="noStrike" kern="0" cap="none" spc="0" normalizeH="0" baseline="0" noProof="0" dirty="0">
                <a:ln>
                  <a:noFill/>
                </a:ln>
                <a:solidFill>
                  <a:srgbClr val="DA291C"/>
                </a:solidFill>
                <a:effectLst/>
                <a:uLnTx/>
                <a:uFillTx/>
                <a:latin typeface="+mn-ea"/>
                <a:ea typeface="+mn-ea"/>
                <a:cs typeface="Arial" charset="0"/>
              </a:rPr>
              <a:t>および</a:t>
            </a:r>
            <a:r>
              <a:rPr kumimoji="0" lang="en-US" altLang="ja-JP" sz="1200" b="0" i="0" u="none" strike="noStrike" kern="0" cap="none" spc="0" normalizeH="0" baseline="0" noProof="0" dirty="0">
                <a:ln>
                  <a:noFill/>
                </a:ln>
                <a:solidFill>
                  <a:srgbClr val="DA291C"/>
                </a:solidFill>
                <a:effectLst/>
                <a:uLnTx/>
                <a:uFillTx/>
                <a:latin typeface="+mn-ea"/>
                <a:ea typeface="+mn-ea"/>
                <a:cs typeface="Arial" charset="0"/>
              </a:rPr>
              <a:t>OpenID </a:t>
            </a:r>
            <a:r>
              <a:rPr kumimoji="0" lang="en-US" altLang="ja-JP" sz="1200" b="0" i="0" u="none" strike="noStrike" kern="0" cap="none" spc="0" normalizeH="0" baseline="0" noProof="0" dirty="0" err="1">
                <a:ln>
                  <a:noFill/>
                </a:ln>
                <a:solidFill>
                  <a:srgbClr val="DA291C"/>
                </a:solidFill>
                <a:effectLst/>
                <a:uLnTx/>
                <a:uFillTx/>
                <a:latin typeface="+mn-ea"/>
                <a:ea typeface="+mn-ea"/>
                <a:cs typeface="Arial" charset="0"/>
              </a:rPr>
              <a:t>Connet</a:t>
            </a:r>
            <a:r>
              <a:rPr kumimoji="0" lang="ja-JP" altLang="en-US" sz="1200" kern="0" dirty="0">
                <a:solidFill>
                  <a:srgbClr val="DA291C"/>
                </a:solidFill>
                <a:latin typeface="+mn-ea"/>
                <a:ea typeface="+mn-ea"/>
                <a:cs typeface="Arial" charset="0"/>
              </a:rPr>
              <a:t>等のフレームワークで認証トークンとして広く使用されている</a:t>
            </a:r>
            <a:r>
              <a:rPr kumimoji="0" lang="en-US" altLang="ja-JP" sz="1200" kern="0" dirty="0">
                <a:solidFill>
                  <a:srgbClr val="DA291C"/>
                </a:solidFill>
                <a:latin typeface="+mn-ea"/>
                <a:ea typeface="+mn-ea"/>
                <a:cs typeface="Arial" charset="0"/>
              </a:rPr>
              <a:t>JWT</a:t>
            </a:r>
            <a:r>
              <a:rPr kumimoji="0" lang="ja-JP" altLang="en-US" sz="1200" kern="0" dirty="0">
                <a:solidFill>
                  <a:srgbClr val="DA291C"/>
                </a:solidFill>
                <a:latin typeface="+mn-ea"/>
                <a:ea typeface="+mn-ea"/>
                <a:cs typeface="Arial" charset="0"/>
              </a:rPr>
              <a:t>をベースにしているため、</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開発者が実装する上で必要なライブラリやツールが豊富に存在する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srgbClr val="DA291C"/>
                </a:solidFill>
                <a:effectLst/>
                <a:uLnTx/>
                <a:uFillTx/>
                <a:latin typeface="+mn-ea"/>
                <a:ea typeface="+mn-ea"/>
                <a:cs typeface="Arial" charset="0"/>
              </a:rPr>
              <a:t>プレーン</a:t>
            </a:r>
            <a:r>
              <a:rPr kumimoji="0" lang="en-US" altLang="ja-JP" sz="1200" b="0" i="0" u="none" strike="noStrike" kern="0" cap="none" spc="0" normalizeH="0" baseline="0" noProof="0" dirty="0">
                <a:ln>
                  <a:noFill/>
                </a:ln>
                <a:solidFill>
                  <a:srgbClr val="DA291C"/>
                </a:solidFill>
                <a:effectLst/>
                <a:uLnTx/>
                <a:uFillTx/>
                <a:latin typeface="+mn-ea"/>
                <a:ea typeface="+mn-ea"/>
                <a:cs typeface="Arial" charset="0"/>
              </a:rPr>
              <a:t>JSON</a:t>
            </a:r>
            <a:r>
              <a:rPr kumimoji="0" lang="ja-JP" altLang="en-US" sz="1200" b="0" i="0" u="none" strike="noStrike" kern="0" cap="none" spc="0" normalizeH="0" baseline="0" noProof="0" dirty="0">
                <a:ln>
                  <a:noFill/>
                </a:ln>
                <a:solidFill>
                  <a:srgbClr val="DA291C"/>
                </a:solidFill>
                <a:effectLst/>
                <a:uLnTx/>
                <a:uFillTx/>
                <a:latin typeface="+mn-ea"/>
                <a:ea typeface="+mn-ea"/>
                <a:cs typeface="Arial" charset="0"/>
              </a:rPr>
              <a:t>を用いた</a:t>
            </a:r>
            <a:r>
              <a:rPr kumimoji="0" lang="en-US" altLang="ja-JP" sz="1200" b="0" i="0" u="none" strike="noStrike" kern="0" cap="none" spc="0" normalizeH="0" baseline="0" noProof="0" dirty="0">
                <a:ln>
                  <a:noFill/>
                </a:ln>
                <a:solidFill>
                  <a:srgbClr val="DA291C"/>
                </a:solidFill>
                <a:effectLst/>
                <a:uLnTx/>
                <a:uFillTx/>
                <a:latin typeface="+mn-ea"/>
                <a:ea typeface="+mn-ea"/>
                <a:cs typeface="Arial" charset="0"/>
              </a:rPr>
              <a:t>JWT</a:t>
            </a:r>
            <a:r>
              <a:rPr kumimoji="0" lang="ja-JP" altLang="en-US" sz="1200" b="0" i="0" u="none" strike="noStrike" kern="0" cap="none" spc="0" normalizeH="0" baseline="0" noProof="0" dirty="0">
                <a:ln>
                  <a:noFill/>
                </a:ln>
                <a:solidFill>
                  <a:srgbClr val="DA291C"/>
                </a:solidFill>
                <a:effectLst/>
                <a:uLnTx/>
                <a:uFillTx/>
                <a:latin typeface="+mn-ea"/>
                <a:ea typeface="+mn-ea"/>
                <a:cs typeface="Arial" charset="0"/>
              </a:rPr>
              <a:t>ベースの</a:t>
            </a:r>
            <a:r>
              <a:rPr kumimoji="0" lang="en-US" altLang="ja-JP" sz="1200" b="0" i="0" u="none" strike="noStrike" kern="0" cap="none" spc="0" normalizeH="0" baseline="0" noProof="0" dirty="0">
                <a:ln>
                  <a:noFill/>
                </a:ln>
                <a:solidFill>
                  <a:srgbClr val="DA291C"/>
                </a:solidFill>
                <a:effectLst/>
                <a:uLnTx/>
                <a:uFillTx/>
                <a:latin typeface="+mn-ea"/>
                <a:ea typeface="+mn-ea"/>
                <a:cs typeface="Arial" charset="0"/>
              </a:rPr>
              <a:t>VC</a:t>
            </a:r>
            <a:r>
              <a:rPr kumimoji="0" lang="ja-JP" altLang="en-US" sz="1200" b="0" i="0" u="none" strike="noStrike" kern="0" cap="none" spc="0" normalizeH="0" baseline="0" noProof="0" dirty="0">
                <a:ln>
                  <a:noFill/>
                </a:ln>
                <a:solidFill>
                  <a:srgbClr val="DA291C"/>
                </a:solidFill>
                <a:effectLst/>
                <a:uLnTx/>
                <a:uFillTx/>
                <a:latin typeface="+mn-ea"/>
                <a:ea typeface="+mn-ea"/>
                <a:cs typeface="Arial" charset="0"/>
              </a:rPr>
              <a:t>は暗号化とセキュリティのために既存の</a:t>
            </a:r>
            <a:r>
              <a:rPr kumimoji="0" lang="en-US" altLang="ja-JP" sz="1200" b="0" i="0" u="none" strike="noStrike" kern="0" cap="none" spc="0" normalizeH="0" baseline="0" noProof="0" dirty="0">
                <a:ln>
                  <a:noFill/>
                </a:ln>
                <a:solidFill>
                  <a:srgbClr val="DA291C"/>
                </a:solidFill>
                <a:effectLst/>
                <a:uLnTx/>
                <a:uFillTx/>
                <a:latin typeface="+mn-ea"/>
                <a:ea typeface="+mn-ea"/>
                <a:cs typeface="Arial" charset="0"/>
              </a:rPr>
              <a:t>JOSE</a:t>
            </a:r>
            <a:r>
              <a:rPr kumimoji="0" lang="ja-JP" altLang="en-US" sz="1200" b="0" i="0" u="none" strike="noStrike" kern="0" cap="none" spc="0" normalizeH="0" baseline="0" noProof="0" dirty="0">
                <a:ln>
                  <a:noFill/>
                </a:ln>
                <a:solidFill>
                  <a:srgbClr val="DA291C"/>
                </a:solidFill>
                <a:effectLst/>
                <a:uLnTx/>
                <a:uFillTx/>
                <a:latin typeface="+mn-ea"/>
                <a:ea typeface="+mn-ea"/>
                <a:cs typeface="Arial" charset="0"/>
              </a:rPr>
              <a:t>フレームワークを使用</a:t>
            </a:r>
            <a:r>
              <a:rPr kumimoji="0" lang="ja-JP" altLang="en-US" sz="1200" kern="0" dirty="0">
                <a:solidFill>
                  <a:srgbClr val="DA291C"/>
                </a:solidFill>
                <a:latin typeface="+mn-ea"/>
                <a:ea typeface="+mn-ea"/>
                <a:cs typeface="Arial" charset="0"/>
              </a:rPr>
              <a:t>しており、</a:t>
            </a:r>
            <a:r>
              <a:rPr kumimoji="0" lang="en-US" altLang="ja-JP" sz="1200" b="0" i="0" u="none" strike="noStrike" kern="0" cap="none" spc="0" normalizeH="0" baseline="0" noProof="0" dirty="0">
                <a:ln>
                  <a:noFill/>
                </a:ln>
                <a:solidFill>
                  <a:srgbClr val="DA291C"/>
                </a:solidFill>
                <a:effectLst/>
                <a:uLnTx/>
                <a:uFillTx/>
                <a:latin typeface="+mn-ea"/>
                <a:ea typeface="+mn-ea"/>
                <a:cs typeface="Arial" charset="0"/>
              </a:rPr>
              <a:t> </a:t>
            </a:r>
            <a:r>
              <a:rPr kumimoji="0" lang="ja-JP" altLang="en-US" sz="1200" b="0" i="0" u="none" strike="noStrike" kern="0" cap="none" spc="0" normalizeH="0" baseline="0" noProof="0" dirty="0">
                <a:ln>
                  <a:noFill/>
                </a:ln>
                <a:solidFill>
                  <a:srgbClr val="DA291C"/>
                </a:solidFill>
                <a:effectLst/>
                <a:uLnTx/>
                <a:uFillTx/>
                <a:latin typeface="+mn-ea"/>
                <a:ea typeface="+mn-ea"/>
                <a:cs typeface="Arial" charset="0"/>
              </a:rPr>
              <a:t>コンテキストをうまく表現できないため、選択的属性開示機能の実装が困難</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8" name="正方形/長方形 17">
            <a:extLst>
              <a:ext uri="{FF2B5EF4-FFF2-40B4-BE49-F238E27FC236}">
                <a16:creationId xmlns:a16="http://schemas.microsoft.com/office/drawing/2014/main" id="{8DD92D98-587F-3CFA-C5E3-49AE9959413A}"/>
              </a:ext>
            </a:extLst>
          </p:cNvPr>
          <p:cNvSpPr/>
          <p:nvPr/>
        </p:nvSpPr>
        <p:spPr bwMode="gray">
          <a:xfrm>
            <a:off x="8679266" y="4065011"/>
            <a:ext cx="953049" cy="975215"/>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2800" b="0" i="0" u="none" strike="noStrike" kern="0" cap="none" spc="0" normalizeH="0" baseline="0" noProof="0">
                <a:ln>
                  <a:noFill/>
                </a:ln>
                <a:solidFill>
                  <a:srgbClr val="007CB0"/>
                </a:solidFill>
                <a:effectLst/>
                <a:uLnTx/>
                <a:uFillTx/>
                <a:latin typeface="+mn-ea"/>
                <a:ea typeface="+mn-ea"/>
                <a:cs typeface="Arial" charset="0"/>
              </a:rPr>
              <a:t>〇</a:t>
            </a:r>
          </a:p>
        </p:txBody>
      </p:sp>
      <p:sp>
        <p:nvSpPr>
          <p:cNvPr id="19" name="正方形/長方形 18">
            <a:extLst>
              <a:ext uri="{FF2B5EF4-FFF2-40B4-BE49-F238E27FC236}">
                <a16:creationId xmlns:a16="http://schemas.microsoft.com/office/drawing/2014/main" id="{B4C02F39-358F-DD71-A2BC-21B85E1B4F04}"/>
              </a:ext>
            </a:extLst>
          </p:cNvPr>
          <p:cNvSpPr/>
          <p:nvPr/>
        </p:nvSpPr>
        <p:spPr bwMode="gray">
          <a:xfrm>
            <a:off x="1603707" y="3178147"/>
            <a:ext cx="801056" cy="823449"/>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JSON</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JSON-LD</a:t>
            </a: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75" name="正方形/長方形 74">
            <a:extLst>
              <a:ext uri="{FF2B5EF4-FFF2-40B4-BE49-F238E27FC236}">
                <a16:creationId xmlns:a16="http://schemas.microsoft.com/office/drawing/2014/main" id="{57F1C8EC-68ED-D2A7-0B5B-F1DF352107AD}"/>
              </a:ext>
            </a:extLst>
          </p:cNvPr>
          <p:cNvSpPr/>
          <p:nvPr/>
        </p:nvSpPr>
        <p:spPr bwMode="gray">
          <a:xfrm>
            <a:off x="3478179" y="3178147"/>
            <a:ext cx="4087404" cy="823449"/>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選択的開示を実現</a:t>
            </a:r>
            <a:r>
              <a:rPr kumimoji="0" lang="ja-JP" altLang="en-US" sz="1200" kern="0" dirty="0">
                <a:solidFill>
                  <a:prstClr val="black"/>
                </a:solidFill>
                <a:latin typeface="+mn-ea"/>
                <a:ea typeface="+mn-ea"/>
                <a:cs typeface="Arial" charset="0"/>
              </a:rPr>
              <a:t>、</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実データにソルトを加えて生成したハッシュ群に対し署名を行うことで、実データ自身を送付せずに、署名</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検証できる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76" name="正方形/長方形 75">
            <a:extLst>
              <a:ext uri="{FF2B5EF4-FFF2-40B4-BE49-F238E27FC236}">
                <a16:creationId xmlns:a16="http://schemas.microsoft.com/office/drawing/2014/main" id="{FA645233-08BB-4702-0AC9-46316CF77938}"/>
              </a:ext>
            </a:extLst>
          </p:cNvPr>
          <p:cNvSpPr/>
          <p:nvPr/>
        </p:nvSpPr>
        <p:spPr bwMode="gray">
          <a:xfrm>
            <a:off x="8679248" y="1926343"/>
            <a:ext cx="953702" cy="1156062"/>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4400" b="0" i="0" u="none" strike="noStrike" kern="0" cap="none" spc="0" normalizeH="0" baseline="0" noProof="0">
                <a:ln>
                  <a:noFill/>
                </a:ln>
                <a:solidFill>
                  <a:prstClr val="white">
                    <a:lumMod val="50000"/>
                  </a:prstClr>
                </a:solidFill>
                <a:effectLst/>
                <a:uLnTx/>
                <a:uFillTx/>
                <a:latin typeface="+mn-ea"/>
                <a:ea typeface="+mn-ea"/>
                <a:cs typeface="Arial" charset="0"/>
              </a:rPr>
              <a:t>×</a:t>
            </a:r>
            <a:endParaRPr kumimoji="0" lang="ja-JP" altLang="en-US" sz="4400" b="0" i="0" u="none" strike="noStrike" kern="0" cap="none" spc="0" normalizeH="0" baseline="0" noProof="0">
              <a:ln>
                <a:noFill/>
              </a:ln>
              <a:solidFill>
                <a:prstClr val="white">
                  <a:lumMod val="50000"/>
                </a:prstClr>
              </a:solidFill>
              <a:effectLst/>
              <a:uLnTx/>
              <a:uFillTx/>
              <a:latin typeface="+mn-ea"/>
              <a:ea typeface="+mn-ea"/>
              <a:cs typeface="Arial" charset="0"/>
            </a:endParaRPr>
          </a:p>
        </p:txBody>
      </p:sp>
      <p:sp>
        <p:nvSpPr>
          <p:cNvPr id="77" name="正方形/長方形 76">
            <a:extLst>
              <a:ext uri="{FF2B5EF4-FFF2-40B4-BE49-F238E27FC236}">
                <a16:creationId xmlns:a16="http://schemas.microsoft.com/office/drawing/2014/main" id="{E558E4B9-197E-F1C9-F133-C7B4491A4E44}"/>
              </a:ext>
            </a:extLst>
          </p:cNvPr>
          <p:cNvSpPr/>
          <p:nvPr/>
        </p:nvSpPr>
        <p:spPr bwMode="gray">
          <a:xfrm>
            <a:off x="273050" y="5121806"/>
            <a:ext cx="1239230" cy="701625"/>
          </a:xfrm>
          <a:prstGeom prst="rect">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err="1">
                <a:ln>
                  <a:noFill/>
                </a:ln>
                <a:solidFill>
                  <a:prstClr val="white"/>
                </a:solidFill>
                <a:effectLst/>
                <a:uLnTx/>
                <a:uFillTx/>
                <a:latin typeface="+mn-ea"/>
                <a:ea typeface="+mn-ea"/>
                <a:cs typeface="Arial" charset="0"/>
              </a:rPr>
              <a:t>AnonCreds</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78" name="正方形/長方形 77">
            <a:extLst>
              <a:ext uri="{FF2B5EF4-FFF2-40B4-BE49-F238E27FC236}">
                <a16:creationId xmlns:a16="http://schemas.microsoft.com/office/drawing/2014/main" id="{25C68833-689A-04D1-B8AF-10C3E8AEEBE5}"/>
              </a:ext>
            </a:extLst>
          </p:cNvPr>
          <p:cNvSpPr/>
          <p:nvPr/>
        </p:nvSpPr>
        <p:spPr bwMode="gray">
          <a:xfrm>
            <a:off x="1603707" y="5121806"/>
            <a:ext cx="801056" cy="701625"/>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AnonCreds</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(JSON)</a:t>
            </a: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79" name="正方形/長方形 78">
            <a:extLst>
              <a:ext uri="{FF2B5EF4-FFF2-40B4-BE49-F238E27FC236}">
                <a16:creationId xmlns:a16="http://schemas.microsoft.com/office/drawing/2014/main" id="{4AC3CBCF-6A8A-786A-6824-2D608BD937E2}"/>
              </a:ext>
            </a:extLst>
          </p:cNvPr>
          <p:cNvSpPr/>
          <p:nvPr/>
        </p:nvSpPr>
        <p:spPr bwMode="gray">
          <a:xfrm>
            <a:off x="3478179" y="5119313"/>
            <a:ext cx="4087404" cy="701625"/>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Hyperledger </a:t>
            </a: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AnonCreds</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プロジェクトで検討している形式</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選択的開示はゼロ知識証明</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+CL(</a:t>
            </a: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Camenisch-Lysyanskaya</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署名を使用する</a:t>
            </a:r>
          </a:p>
        </p:txBody>
      </p:sp>
      <p:sp>
        <p:nvSpPr>
          <p:cNvPr id="80" name="正方形/長方形 79">
            <a:extLst>
              <a:ext uri="{FF2B5EF4-FFF2-40B4-BE49-F238E27FC236}">
                <a16:creationId xmlns:a16="http://schemas.microsoft.com/office/drawing/2014/main" id="{5F154729-05E1-8010-228C-179826CFEC11}"/>
              </a:ext>
            </a:extLst>
          </p:cNvPr>
          <p:cNvSpPr/>
          <p:nvPr/>
        </p:nvSpPr>
        <p:spPr bwMode="gray">
          <a:xfrm>
            <a:off x="8679266" y="5119312"/>
            <a:ext cx="953049" cy="701626"/>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2800" b="0" i="0" u="none" strike="noStrike" kern="0" cap="none" spc="0" normalizeH="0" baseline="0" noProof="0">
                <a:ln>
                  <a:noFill/>
                </a:ln>
                <a:solidFill>
                  <a:srgbClr val="007CB0"/>
                </a:solidFill>
                <a:effectLst/>
                <a:uLnTx/>
                <a:uFillTx/>
                <a:latin typeface="+mn-ea"/>
                <a:ea typeface="+mn-ea"/>
                <a:cs typeface="Arial" charset="0"/>
              </a:rPr>
              <a:t>〇</a:t>
            </a:r>
          </a:p>
        </p:txBody>
      </p:sp>
      <p:sp>
        <p:nvSpPr>
          <p:cNvPr id="81" name="正方形/長方形 80">
            <a:extLst>
              <a:ext uri="{FF2B5EF4-FFF2-40B4-BE49-F238E27FC236}">
                <a16:creationId xmlns:a16="http://schemas.microsoft.com/office/drawing/2014/main" id="{1AB3303A-B8CD-E4E6-063A-B1581BFA3E45}"/>
              </a:ext>
            </a:extLst>
          </p:cNvPr>
          <p:cNvSpPr/>
          <p:nvPr/>
        </p:nvSpPr>
        <p:spPr bwMode="gray">
          <a:xfrm>
            <a:off x="273050" y="5894683"/>
            <a:ext cx="1239230" cy="406448"/>
          </a:xfrm>
          <a:prstGeom prst="rect">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mDL</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82" name="正方形/長方形 81">
            <a:extLst>
              <a:ext uri="{FF2B5EF4-FFF2-40B4-BE49-F238E27FC236}">
                <a16:creationId xmlns:a16="http://schemas.microsoft.com/office/drawing/2014/main" id="{AF7DB7EB-B74B-7F45-709E-13DB604C14F0}"/>
              </a:ext>
            </a:extLst>
          </p:cNvPr>
          <p:cNvSpPr/>
          <p:nvPr/>
        </p:nvSpPr>
        <p:spPr bwMode="gray">
          <a:xfrm>
            <a:off x="1603707" y="5892189"/>
            <a:ext cx="801056" cy="406449"/>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CBOR</a:t>
            </a: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83" name="正方形/長方形 82">
            <a:extLst>
              <a:ext uri="{FF2B5EF4-FFF2-40B4-BE49-F238E27FC236}">
                <a16:creationId xmlns:a16="http://schemas.microsoft.com/office/drawing/2014/main" id="{2C8DEBEB-FAD9-0BBB-4B8B-8739F078B4DE}"/>
              </a:ext>
            </a:extLst>
          </p:cNvPr>
          <p:cNvSpPr/>
          <p:nvPr/>
        </p:nvSpPr>
        <p:spPr bwMode="gray">
          <a:xfrm>
            <a:off x="8679266" y="5892190"/>
            <a:ext cx="953049" cy="40644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2800" kern="0" dirty="0">
                <a:solidFill>
                  <a:schemeClr val="accent2"/>
                </a:solidFill>
                <a:latin typeface="+mn-ea"/>
                <a:ea typeface="+mn-ea"/>
                <a:cs typeface="Arial" charset="0"/>
              </a:rPr>
              <a:t>△</a:t>
            </a:r>
            <a:endParaRPr kumimoji="0" lang="ja-JP" altLang="en-US" sz="2800" b="0" i="0" u="none" strike="noStrike" kern="0" cap="none" spc="0" normalizeH="0" baseline="0" noProof="0" dirty="0">
              <a:ln>
                <a:noFill/>
              </a:ln>
              <a:solidFill>
                <a:schemeClr val="accent2"/>
              </a:solidFill>
              <a:effectLst/>
              <a:uLnTx/>
              <a:uFillTx/>
              <a:latin typeface="+mn-ea"/>
              <a:ea typeface="+mn-ea"/>
              <a:cs typeface="Arial" charset="0"/>
            </a:endParaRPr>
          </a:p>
        </p:txBody>
      </p:sp>
      <p:sp>
        <p:nvSpPr>
          <p:cNvPr id="84" name="正方形/長方形 83">
            <a:extLst>
              <a:ext uri="{FF2B5EF4-FFF2-40B4-BE49-F238E27FC236}">
                <a16:creationId xmlns:a16="http://schemas.microsoft.com/office/drawing/2014/main" id="{066B2BE7-3094-EBA8-2765-00951DE57F77}"/>
              </a:ext>
            </a:extLst>
          </p:cNvPr>
          <p:cNvSpPr/>
          <p:nvPr/>
        </p:nvSpPr>
        <p:spPr bwMode="gray">
          <a:xfrm>
            <a:off x="3478178" y="5894683"/>
            <a:ext cx="4087403" cy="40644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運転免許証の文書形式</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mdoc</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を拡張して、他ユースケースでも活用できるようにしたもの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85" name="正方形/長方形 84">
            <a:extLst>
              <a:ext uri="{FF2B5EF4-FFF2-40B4-BE49-F238E27FC236}">
                <a16:creationId xmlns:a16="http://schemas.microsoft.com/office/drawing/2014/main" id="{37E2B43B-6A65-46CD-ACF9-3DF1BE93B6EB}"/>
              </a:ext>
            </a:extLst>
          </p:cNvPr>
          <p:cNvSpPr/>
          <p:nvPr/>
        </p:nvSpPr>
        <p:spPr bwMode="gray">
          <a:xfrm>
            <a:off x="7645342" y="1653710"/>
            <a:ext cx="953067" cy="197453"/>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kern="0" dirty="0">
                <a:solidFill>
                  <a:schemeClr val="bg1"/>
                </a:solidFill>
                <a:latin typeface="+mn-ea"/>
                <a:ea typeface="+mn-ea"/>
                <a:cs typeface="Arial" charset="0"/>
              </a:rPr>
              <a:t>データ最小化</a:t>
            </a:r>
            <a:endParaRPr kumimoji="0" lang="en-US" altLang="ja-JP" sz="1200" b="1" i="0" u="none" strike="noStrike" kern="0" cap="none" spc="0" normalizeH="0" baseline="0" noProof="0" dirty="0">
              <a:ln>
                <a:noFill/>
              </a:ln>
              <a:solidFill>
                <a:schemeClr val="bg1"/>
              </a:solidFill>
              <a:effectLst/>
              <a:uLnTx/>
              <a:uFillTx/>
              <a:latin typeface="+mn-ea"/>
              <a:ea typeface="+mn-ea"/>
              <a:cs typeface="Arial" charset="0"/>
            </a:endParaRPr>
          </a:p>
        </p:txBody>
      </p:sp>
      <p:sp>
        <p:nvSpPr>
          <p:cNvPr id="86" name="正方形/長方形 85">
            <a:extLst>
              <a:ext uri="{FF2B5EF4-FFF2-40B4-BE49-F238E27FC236}">
                <a16:creationId xmlns:a16="http://schemas.microsoft.com/office/drawing/2014/main" id="{2915F2C8-AD71-CC48-CC1D-47BE2D7D683E}"/>
              </a:ext>
            </a:extLst>
          </p:cNvPr>
          <p:cNvSpPr/>
          <p:nvPr/>
        </p:nvSpPr>
        <p:spPr bwMode="gray">
          <a:xfrm>
            <a:off x="8679247" y="1653710"/>
            <a:ext cx="953067" cy="197453"/>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chemeClr val="bg1"/>
                </a:solidFill>
                <a:effectLst/>
                <a:uLnTx/>
                <a:uFillTx/>
                <a:latin typeface="+mn-ea"/>
                <a:ea typeface="+mn-ea"/>
                <a:cs typeface="Arial" charset="0"/>
              </a:rPr>
              <a:t>ゼロ知識証明</a:t>
            </a:r>
            <a:endParaRPr kumimoji="0" lang="en-US" altLang="ja-JP" sz="1200" b="1" i="0" u="none" strike="noStrike" kern="0" cap="none" spc="0" normalizeH="0" baseline="0" noProof="0">
              <a:ln>
                <a:noFill/>
              </a:ln>
              <a:solidFill>
                <a:schemeClr val="bg1"/>
              </a:solidFill>
              <a:effectLst/>
              <a:uLnTx/>
              <a:uFillTx/>
              <a:latin typeface="+mn-ea"/>
              <a:ea typeface="+mn-ea"/>
              <a:cs typeface="Arial" charset="0"/>
            </a:endParaRPr>
          </a:p>
        </p:txBody>
      </p:sp>
      <p:sp>
        <p:nvSpPr>
          <p:cNvPr id="87" name="正方形/長方形 86">
            <a:extLst>
              <a:ext uri="{FF2B5EF4-FFF2-40B4-BE49-F238E27FC236}">
                <a16:creationId xmlns:a16="http://schemas.microsoft.com/office/drawing/2014/main" id="{0A4EDF71-51E7-CD91-F1CD-174A50D95A78}"/>
              </a:ext>
            </a:extLst>
          </p:cNvPr>
          <p:cNvSpPr/>
          <p:nvPr/>
        </p:nvSpPr>
        <p:spPr bwMode="gray">
          <a:xfrm>
            <a:off x="7644707" y="3178147"/>
            <a:ext cx="953702" cy="823449"/>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2800" b="0" i="0" u="none" strike="noStrike" kern="0" cap="none" spc="0" normalizeH="0" baseline="0" noProof="0" dirty="0">
                <a:ln>
                  <a:noFill/>
                </a:ln>
                <a:solidFill>
                  <a:srgbClr val="007CB0"/>
                </a:solidFill>
                <a:effectLst/>
                <a:uLnTx/>
                <a:uFillTx/>
                <a:latin typeface="+mn-ea"/>
                <a:ea typeface="+mn-ea"/>
                <a:cs typeface="Arial" charset="0"/>
              </a:rPr>
              <a:t>〇</a:t>
            </a:r>
          </a:p>
        </p:txBody>
      </p:sp>
      <p:sp>
        <p:nvSpPr>
          <p:cNvPr id="88" name="正方形/長方形 87">
            <a:extLst>
              <a:ext uri="{FF2B5EF4-FFF2-40B4-BE49-F238E27FC236}">
                <a16:creationId xmlns:a16="http://schemas.microsoft.com/office/drawing/2014/main" id="{B45012CF-DF77-F88A-51BC-3272093E3770}"/>
              </a:ext>
            </a:extLst>
          </p:cNvPr>
          <p:cNvSpPr/>
          <p:nvPr/>
        </p:nvSpPr>
        <p:spPr bwMode="gray">
          <a:xfrm>
            <a:off x="7644725" y="4065011"/>
            <a:ext cx="953049" cy="975215"/>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2800" b="0" i="0" u="none" strike="noStrike" kern="0" cap="none" spc="0" normalizeH="0" baseline="0" noProof="0">
                <a:ln>
                  <a:noFill/>
                </a:ln>
                <a:solidFill>
                  <a:srgbClr val="007CB0"/>
                </a:solidFill>
                <a:effectLst/>
                <a:uLnTx/>
                <a:uFillTx/>
                <a:latin typeface="+mn-ea"/>
                <a:ea typeface="+mn-ea"/>
                <a:cs typeface="Arial" charset="0"/>
              </a:rPr>
              <a:t>〇</a:t>
            </a:r>
          </a:p>
        </p:txBody>
      </p:sp>
      <p:sp>
        <p:nvSpPr>
          <p:cNvPr id="89" name="正方形/長方形 88">
            <a:extLst>
              <a:ext uri="{FF2B5EF4-FFF2-40B4-BE49-F238E27FC236}">
                <a16:creationId xmlns:a16="http://schemas.microsoft.com/office/drawing/2014/main" id="{130C5675-2FBE-A79A-95E1-FC36E29C9780}"/>
              </a:ext>
            </a:extLst>
          </p:cNvPr>
          <p:cNvSpPr/>
          <p:nvPr/>
        </p:nvSpPr>
        <p:spPr bwMode="gray">
          <a:xfrm>
            <a:off x="7644707" y="1926343"/>
            <a:ext cx="953702" cy="1156062"/>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4400" b="0" i="0" u="none" strike="noStrike" kern="0" cap="none" spc="0" normalizeH="0" baseline="0" noProof="0" dirty="0">
                <a:ln>
                  <a:noFill/>
                </a:ln>
                <a:solidFill>
                  <a:prstClr val="white">
                    <a:lumMod val="50000"/>
                  </a:prstClr>
                </a:solidFill>
                <a:effectLst/>
                <a:uLnTx/>
                <a:uFillTx/>
                <a:latin typeface="+mn-ea"/>
                <a:ea typeface="+mn-ea"/>
                <a:cs typeface="Arial" charset="0"/>
              </a:rPr>
              <a:t>×</a:t>
            </a:r>
            <a:endParaRPr kumimoji="0" lang="ja-JP" altLang="en-US" sz="4400" b="0" i="0" u="none" strike="noStrike" kern="0" cap="none" spc="0" normalizeH="0" baseline="0" noProof="0" dirty="0">
              <a:ln>
                <a:noFill/>
              </a:ln>
              <a:solidFill>
                <a:prstClr val="white">
                  <a:lumMod val="50000"/>
                </a:prstClr>
              </a:solidFill>
              <a:effectLst/>
              <a:uLnTx/>
              <a:uFillTx/>
              <a:latin typeface="+mn-ea"/>
              <a:ea typeface="+mn-ea"/>
              <a:cs typeface="Arial" charset="0"/>
            </a:endParaRPr>
          </a:p>
        </p:txBody>
      </p:sp>
      <p:sp>
        <p:nvSpPr>
          <p:cNvPr id="90" name="正方形/長方形 89">
            <a:extLst>
              <a:ext uri="{FF2B5EF4-FFF2-40B4-BE49-F238E27FC236}">
                <a16:creationId xmlns:a16="http://schemas.microsoft.com/office/drawing/2014/main" id="{C46658F6-18F5-23D3-C836-CF5DC724E194}"/>
              </a:ext>
            </a:extLst>
          </p:cNvPr>
          <p:cNvSpPr/>
          <p:nvPr/>
        </p:nvSpPr>
        <p:spPr bwMode="gray">
          <a:xfrm>
            <a:off x="7644725" y="5119312"/>
            <a:ext cx="953049" cy="701626"/>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2800" b="0" i="0" u="none" strike="noStrike" kern="0" cap="none" spc="0" normalizeH="0" baseline="0" noProof="0" dirty="0">
                <a:ln>
                  <a:noFill/>
                </a:ln>
                <a:solidFill>
                  <a:srgbClr val="007CB0"/>
                </a:solidFill>
                <a:effectLst/>
                <a:uLnTx/>
                <a:uFillTx/>
                <a:latin typeface="+mn-ea"/>
                <a:ea typeface="+mn-ea"/>
                <a:cs typeface="Arial" charset="0"/>
              </a:rPr>
              <a:t>〇</a:t>
            </a:r>
          </a:p>
        </p:txBody>
      </p:sp>
      <p:sp>
        <p:nvSpPr>
          <p:cNvPr id="91" name="正方形/長方形 90">
            <a:extLst>
              <a:ext uri="{FF2B5EF4-FFF2-40B4-BE49-F238E27FC236}">
                <a16:creationId xmlns:a16="http://schemas.microsoft.com/office/drawing/2014/main" id="{266BD101-A7B4-83E4-B748-9BC2CB5CFBD8}"/>
              </a:ext>
            </a:extLst>
          </p:cNvPr>
          <p:cNvSpPr/>
          <p:nvPr/>
        </p:nvSpPr>
        <p:spPr bwMode="gray">
          <a:xfrm>
            <a:off x="7644725" y="5892190"/>
            <a:ext cx="953049" cy="40644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2800" b="0" i="0" u="none" strike="noStrike" kern="0" cap="none" spc="0" normalizeH="0" baseline="0" noProof="0">
                <a:ln>
                  <a:noFill/>
                </a:ln>
                <a:solidFill>
                  <a:srgbClr val="007CB0"/>
                </a:solidFill>
                <a:effectLst/>
                <a:uLnTx/>
                <a:uFillTx/>
                <a:latin typeface="+mn-ea"/>
                <a:ea typeface="+mn-ea"/>
                <a:cs typeface="Arial" charset="0"/>
              </a:rPr>
              <a:t>〇</a:t>
            </a:r>
          </a:p>
        </p:txBody>
      </p:sp>
      <p:sp>
        <p:nvSpPr>
          <p:cNvPr id="92" name="正方形/長方形 91">
            <a:extLst>
              <a:ext uri="{FF2B5EF4-FFF2-40B4-BE49-F238E27FC236}">
                <a16:creationId xmlns:a16="http://schemas.microsoft.com/office/drawing/2014/main" id="{EF933537-B9CB-5A55-C9B3-2915AA41B96E}"/>
              </a:ext>
            </a:extLst>
          </p:cNvPr>
          <p:cNvSpPr/>
          <p:nvPr/>
        </p:nvSpPr>
        <p:spPr bwMode="gray">
          <a:xfrm>
            <a:off x="8679248" y="3175617"/>
            <a:ext cx="953702" cy="835516"/>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4400" b="0" i="0" u="none" strike="noStrike" kern="0" cap="none" spc="0" normalizeH="0" baseline="0" noProof="0" dirty="0">
                <a:ln>
                  <a:noFill/>
                </a:ln>
                <a:solidFill>
                  <a:prstClr val="white">
                    <a:lumMod val="50000"/>
                  </a:prstClr>
                </a:solidFill>
                <a:effectLst/>
                <a:uLnTx/>
                <a:uFillTx/>
                <a:latin typeface="+mn-ea"/>
                <a:ea typeface="+mn-ea"/>
                <a:cs typeface="Arial" charset="0"/>
              </a:rPr>
              <a:t>×</a:t>
            </a:r>
            <a:endParaRPr kumimoji="0" lang="ja-JP" altLang="en-US" sz="4400" b="0" i="0" u="none" strike="noStrike" kern="0" cap="none" spc="0" normalizeH="0" baseline="0" noProof="0" dirty="0">
              <a:ln>
                <a:noFill/>
              </a:ln>
              <a:solidFill>
                <a:prstClr val="white">
                  <a:lumMod val="50000"/>
                </a:prstClr>
              </a:solidFill>
              <a:effectLst/>
              <a:uLnTx/>
              <a:uFillTx/>
              <a:latin typeface="+mn-ea"/>
              <a:ea typeface="+mn-ea"/>
              <a:cs typeface="Arial" charset="0"/>
            </a:endParaRPr>
          </a:p>
        </p:txBody>
      </p:sp>
      <p:sp>
        <p:nvSpPr>
          <p:cNvPr id="93" name="正方形/長方形 92">
            <a:extLst>
              <a:ext uri="{FF2B5EF4-FFF2-40B4-BE49-F238E27FC236}">
                <a16:creationId xmlns:a16="http://schemas.microsoft.com/office/drawing/2014/main" id="{20A8027A-F450-D361-74DB-3BAD1597DBFF}"/>
              </a:ext>
            </a:extLst>
          </p:cNvPr>
          <p:cNvSpPr/>
          <p:nvPr/>
        </p:nvSpPr>
        <p:spPr bwMode="gray">
          <a:xfrm>
            <a:off x="282729" y="3175616"/>
            <a:ext cx="1229551" cy="823449"/>
          </a:xfrm>
          <a:prstGeom prst="rect">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en-US" altLang="ja-JP" sz="1200" b="1" kern="0" dirty="0">
                <a:solidFill>
                  <a:prstClr val="white"/>
                </a:solidFill>
                <a:latin typeface="+mn-ea"/>
                <a:ea typeface="+mn-ea"/>
                <a:cs typeface="Arial" charset="0"/>
              </a:rPr>
              <a:t>SD-JWT VC</a:t>
            </a:r>
            <a:endParaRPr kumimoji="0" lang="ja-JP" altLang="en-US" sz="1200" b="1" kern="0" dirty="0">
              <a:solidFill>
                <a:prstClr val="white"/>
              </a:solidFill>
              <a:latin typeface="+mn-ea"/>
              <a:ea typeface="+mn-ea"/>
              <a:cs typeface="Arial" charset="0"/>
            </a:endParaRPr>
          </a:p>
        </p:txBody>
      </p:sp>
      <p:sp>
        <p:nvSpPr>
          <p:cNvPr id="94" name="正方形/長方形 93">
            <a:extLst>
              <a:ext uri="{FF2B5EF4-FFF2-40B4-BE49-F238E27FC236}">
                <a16:creationId xmlns:a16="http://schemas.microsoft.com/office/drawing/2014/main" id="{4E0ED211-4606-E149-7BF2-F24F95F46C43}"/>
              </a:ext>
            </a:extLst>
          </p:cNvPr>
          <p:cNvSpPr/>
          <p:nvPr/>
        </p:nvSpPr>
        <p:spPr bwMode="gray">
          <a:xfrm>
            <a:off x="2472263" y="1419111"/>
            <a:ext cx="925077" cy="42203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900" b="1" kern="0" dirty="0">
                <a:solidFill>
                  <a:schemeClr val="bg1"/>
                </a:solidFill>
                <a:latin typeface="+mn-ea"/>
                <a:ea typeface="+mn-ea"/>
                <a:cs typeface="Arial" charset="0"/>
              </a:rPr>
              <a:t>通常採用される</a:t>
            </a:r>
            <a:endParaRPr kumimoji="0" lang="en-US" altLang="ja-JP" sz="900" b="1" kern="0" dirty="0">
              <a:solidFill>
                <a:schemeClr val="bg1"/>
              </a:solidFill>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900" b="1" i="0" u="none" strike="noStrike" kern="0" cap="none" spc="0" normalizeH="0" baseline="0" noProof="0" dirty="0">
                <a:ln>
                  <a:noFill/>
                </a:ln>
                <a:solidFill>
                  <a:schemeClr val="bg1"/>
                </a:solidFill>
                <a:effectLst/>
                <a:uLnTx/>
                <a:uFillTx/>
                <a:latin typeface="+mn-ea"/>
                <a:ea typeface="+mn-ea"/>
                <a:cs typeface="Arial" charset="0"/>
              </a:rPr>
              <a:t>署名アルゴリズム*</a:t>
            </a:r>
            <a:endParaRPr kumimoji="0" lang="en-US" altLang="ja-JP" sz="900" b="1" i="0" u="none" strike="noStrike" kern="0" cap="none" spc="0" normalizeH="0" baseline="0" noProof="0" dirty="0">
              <a:ln>
                <a:noFill/>
              </a:ln>
              <a:solidFill>
                <a:schemeClr val="bg1"/>
              </a:solidFill>
              <a:effectLst/>
              <a:uLnTx/>
              <a:uFillTx/>
              <a:latin typeface="+mn-ea"/>
              <a:ea typeface="+mn-ea"/>
              <a:cs typeface="Arial" charset="0"/>
            </a:endParaRPr>
          </a:p>
        </p:txBody>
      </p:sp>
      <p:sp>
        <p:nvSpPr>
          <p:cNvPr id="95" name="正方形/長方形 94">
            <a:extLst>
              <a:ext uri="{FF2B5EF4-FFF2-40B4-BE49-F238E27FC236}">
                <a16:creationId xmlns:a16="http://schemas.microsoft.com/office/drawing/2014/main" id="{CF30EE43-0F93-DE7B-D51C-FBF3DBFA95BB}"/>
              </a:ext>
            </a:extLst>
          </p:cNvPr>
          <p:cNvSpPr/>
          <p:nvPr/>
        </p:nvSpPr>
        <p:spPr bwMode="gray">
          <a:xfrm>
            <a:off x="2472125" y="4088794"/>
            <a:ext cx="925077" cy="974962"/>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en-US" altLang="ja-JP" sz="1200" kern="0">
                <a:solidFill>
                  <a:prstClr val="black"/>
                </a:solidFill>
                <a:latin typeface="+mn-ea"/>
                <a:ea typeface="+mn-ea"/>
                <a:cs typeface="Arial" charset="0"/>
              </a:rPr>
              <a:t>BBS+</a:t>
            </a:r>
          </a:p>
        </p:txBody>
      </p:sp>
      <p:sp>
        <p:nvSpPr>
          <p:cNvPr id="96" name="正方形/長方形 95">
            <a:extLst>
              <a:ext uri="{FF2B5EF4-FFF2-40B4-BE49-F238E27FC236}">
                <a16:creationId xmlns:a16="http://schemas.microsoft.com/office/drawing/2014/main" id="{03806FCF-8E6F-DA08-CA86-23ADFD19B06C}"/>
              </a:ext>
            </a:extLst>
          </p:cNvPr>
          <p:cNvSpPr/>
          <p:nvPr/>
        </p:nvSpPr>
        <p:spPr bwMode="gray">
          <a:xfrm>
            <a:off x="2472125" y="1926537"/>
            <a:ext cx="925077" cy="1164945"/>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en-US" altLang="ja-JP" sz="1200" kern="0" dirty="0">
                <a:solidFill>
                  <a:prstClr val="black"/>
                </a:solidFill>
                <a:latin typeface="+mn-ea"/>
                <a:ea typeface="+mn-ea"/>
                <a:cs typeface="Arial" charset="0"/>
              </a:rPr>
              <a:t>ECDSA</a:t>
            </a:r>
          </a:p>
          <a:p>
            <a:pPr algn="ctr" defTabSz="990564" eaLnBrk="1" fontAlgn="auto" hangingPunct="1">
              <a:spcBef>
                <a:spcPts val="0"/>
              </a:spcBef>
              <a:spcAft>
                <a:spcPts val="0"/>
              </a:spcAft>
              <a:buSzPct val="100000"/>
            </a:pPr>
            <a:r>
              <a:rPr kumimoji="0" lang="en-US" altLang="ja-JP" sz="1200" kern="0" dirty="0" err="1">
                <a:solidFill>
                  <a:prstClr val="black"/>
                </a:solidFill>
                <a:latin typeface="+mn-ea"/>
                <a:ea typeface="+mn-ea"/>
                <a:cs typeface="Arial" charset="0"/>
              </a:rPr>
              <a:t>EdDSA</a:t>
            </a:r>
            <a:endParaRPr kumimoji="0" lang="ja-JP" altLang="en-US" sz="1200" kern="0" dirty="0">
              <a:solidFill>
                <a:prstClr val="black"/>
              </a:solidFill>
              <a:latin typeface="+mn-ea"/>
              <a:ea typeface="+mn-ea"/>
              <a:cs typeface="Arial" charset="0"/>
            </a:endParaRPr>
          </a:p>
        </p:txBody>
      </p:sp>
      <p:sp>
        <p:nvSpPr>
          <p:cNvPr id="97" name="正方形/長方形 96">
            <a:extLst>
              <a:ext uri="{FF2B5EF4-FFF2-40B4-BE49-F238E27FC236}">
                <a16:creationId xmlns:a16="http://schemas.microsoft.com/office/drawing/2014/main" id="{594A2F02-AB99-1853-74B1-AEFE717E9CB7}"/>
              </a:ext>
            </a:extLst>
          </p:cNvPr>
          <p:cNvSpPr/>
          <p:nvPr/>
        </p:nvSpPr>
        <p:spPr bwMode="gray">
          <a:xfrm>
            <a:off x="2472125" y="3175616"/>
            <a:ext cx="925077" cy="835517"/>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en-US" altLang="ja-JP" sz="1200" kern="0" dirty="0">
                <a:solidFill>
                  <a:prstClr val="black"/>
                </a:solidFill>
                <a:latin typeface="+mn-ea"/>
                <a:ea typeface="+mn-ea"/>
                <a:cs typeface="Arial" charset="0"/>
              </a:rPr>
              <a:t>ECDSA</a:t>
            </a:r>
            <a:endParaRPr kumimoji="0" lang="ja-JP" altLang="en-US" sz="1200" kern="0" dirty="0">
              <a:solidFill>
                <a:prstClr val="black"/>
              </a:solidFill>
              <a:latin typeface="+mn-ea"/>
              <a:ea typeface="+mn-ea"/>
              <a:cs typeface="Arial" charset="0"/>
            </a:endParaRPr>
          </a:p>
        </p:txBody>
      </p:sp>
      <p:sp>
        <p:nvSpPr>
          <p:cNvPr id="98" name="正方形/長方形 97">
            <a:extLst>
              <a:ext uri="{FF2B5EF4-FFF2-40B4-BE49-F238E27FC236}">
                <a16:creationId xmlns:a16="http://schemas.microsoft.com/office/drawing/2014/main" id="{70E88AB3-AB05-9AA1-F3BA-D57885E7547F}"/>
              </a:ext>
            </a:extLst>
          </p:cNvPr>
          <p:cNvSpPr/>
          <p:nvPr/>
        </p:nvSpPr>
        <p:spPr bwMode="gray">
          <a:xfrm>
            <a:off x="2472125" y="5120911"/>
            <a:ext cx="925077" cy="702800"/>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en-US" altLang="ja-JP" sz="1200" kern="0">
                <a:solidFill>
                  <a:prstClr val="black"/>
                </a:solidFill>
                <a:latin typeface="+mn-ea"/>
                <a:ea typeface="+mn-ea"/>
                <a:cs typeface="Arial" charset="0"/>
              </a:rPr>
              <a:t>CL</a:t>
            </a:r>
            <a:endParaRPr kumimoji="0" lang="ja-JP" altLang="en-US" sz="1200" kern="0">
              <a:solidFill>
                <a:prstClr val="black"/>
              </a:solidFill>
              <a:latin typeface="+mn-ea"/>
              <a:ea typeface="+mn-ea"/>
              <a:cs typeface="Arial" charset="0"/>
            </a:endParaRPr>
          </a:p>
        </p:txBody>
      </p:sp>
      <p:sp>
        <p:nvSpPr>
          <p:cNvPr id="99" name="正方形/長方形 98">
            <a:extLst>
              <a:ext uri="{FF2B5EF4-FFF2-40B4-BE49-F238E27FC236}">
                <a16:creationId xmlns:a16="http://schemas.microsoft.com/office/drawing/2014/main" id="{80277772-CCB6-BFF5-3363-49AC42C54C98}"/>
              </a:ext>
            </a:extLst>
          </p:cNvPr>
          <p:cNvSpPr/>
          <p:nvPr/>
        </p:nvSpPr>
        <p:spPr bwMode="gray">
          <a:xfrm>
            <a:off x="2472125" y="5894610"/>
            <a:ext cx="925077" cy="406521"/>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en-US" altLang="ja-JP" sz="1200" kern="0" dirty="0">
                <a:solidFill>
                  <a:prstClr val="black"/>
                </a:solidFill>
                <a:latin typeface="+mn-ea"/>
                <a:ea typeface="+mn-ea"/>
                <a:cs typeface="Arial" charset="0"/>
              </a:rPr>
              <a:t>ECDSA</a:t>
            </a:r>
            <a:endParaRPr kumimoji="0" lang="ja-JP" altLang="en-US" sz="1200" kern="0" dirty="0">
              <a:solidFill>
                <a:prstClr val="black"/>
              </a:solidFill>
              <a:latin typeface="+mn-ea"/>
              <a:ea typeface="+mn-ea"/>
              <a:cs typeface="Arial" charset="0"/>
            </a:endParaRPr>
          </a:p>
        </p:txBody>
      </p:sp>
      <p:sp>
        <p:nvSpPr>
          <p:cNvPr id="100" name="正方形/長方形 99">
            <a:extLst>
              <a:ext uri="{FF2B5EF4-FFF2-40B4-BE49-F238E27FC236}">
                <a16:creationId xmlns:a16="http://schemas.microsoft.com/office/drawing/2014/main" id="{AAC907C3-2DC3-2302-3181-050EF8949534}"/>
              </a:ext>
            </a:extLst>
          </p:cNvPr>
          <p:cNvSpPr/>
          <p:nvPr/>
        </p:nvSpPr>
        <p:spPr>
          <a:xfrm>
            <a:off x="282729" y="6361720"/>
            <a:ext cx="9359901" cy="253914"/>
          </a:xfrm>
          <a:prstGeom prst="rect">
            <a:avLst/>
          </a:prstGeom>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lIns="0" rtlCol="0" anchor="ctr"/>
          <a:lstStyle/>
          <a:p>
            <a:r>
              <a:rPr kumimoji="1" lang="ja-JP" altLang="en-US" sz="900" dirty="0"/>
              <a:t>*</a:t>
            </a:r>
            <a:r>
              <a:rPr lang="ja-JP" altLang="en-US" sz="900" dirty="0"/>
              <a:t>出所：</a:t>
            </a:r>
            <a:r>
              <a:rPr lang="en-US" altLang="ja-JP" sz="900" dirty="0">
                <a:hlinkClick r:id="rId6"/>
              </a:rPr>
              <a:t>https://github.com/vcstuff/credential-profile-comparison?tab=readme-ov-file</a:t>
            </a:r>
            <a:endParaRPr lang="en-US" altLang="ja-JP" sz="900" dirty="0"/>
          </a:p>
          <a:p>
            <a:r>
              <a:rPr lang="ja-JP" altLang="en-US" sz="900" dirty="0"/>
              <a:t>**</a:t>
            </a:r>
            <a:r>
              <a:rPr lang="en-US" altLang="ja-JP" sz="900" dirty="0" err="1"/>
              <a:t>mDL</a:t>
            </a:r>
            <a:r>
              <a:rPr lang="ja-JP" altLang="en-US" sz="900" dirty="0"/>
              <a:t>にゼロ知識証明を活用した事例は現在確認例が少なく一般的でないが、</a:t>
            </a:r>
            <a:r>
              <a:rPr lang="en-US" altLang="ja-JP" sz="900" dirty="0"/>
              <a:t>CYBERNETICA</a:t>
            </a:r>
            <a:r>
              <a:rPr lang="ja-JP" altLang="en-US" sz="900" dirty="0"/>
              <a:t>社の取組を確認している </a:t>
            </a:r>
            <a:r>
              <a:rPr lang="en-US" altLang="ja-JP" sz="900" dirty="0">
                <a:hlinkClick r:id="rId7"/>
              </a:rPr>
              <a:t>https://cyber.ee/uploads/Zero_Knowledge_Proofs_report_89d6bc5438.pdf</a:t>
            </a:r>
            <a:endParaRPr lang="en-US" altLang="ja-JP" sz="900" dirty="0"/>
          </a:p>
        </p:txBody>
      </p:sp>
      <p:sp>
        <p:nvSpPr>
          <p:cNvPr id="101" name="テキスト ボックス 100">
            <a:extLst>
              <a:ext uri="{FF2B5EF4-FFF2-40B4-BE49-F238E27FC236}">
                <a16:creationId xmlns:a16="http://schemas.microsoft.com/office/drawing/2014/main" id="{8947ADA5-1EE4-6EC0-A30C-902D3AED6429}"/>
              </a:ext>
            </a:extLst>
          </p:cNvPr>
          <p:cNvSpPr txBox="1"/>
          <p:nvPr/>
        </p:nvSpPr>
        <p:spPr>
          <a:xfrm>
            <a:off x="9222182" y="5882746"/>
            <a:ext cx="491625" cy="184666"/>
          </a:xfrm>
          <a:prstGeom prst="rect">
            <a:avLst/>
          </a:prstGeom>
          <a:noFill/>
        </p:spPr>
        <p:txBody>
          <a:bodyPr wrap="square" lIns="0" tIns="0" rIns="0" bIns="0" rtlCol="0">
            <a:spAutoFit/>
          </a:bodyPr>
          <a:lstStyle/>
          <a:p>
            <a:r>
              <a:rPr kumimoji="1" lang="ja-JP" altLang="en-US" sz="1200" dirty="0">
                <a:latin typeface="+mn-ea"/>
                <a:ea typeface="+mn-ea"/>
              </a:rPr>
              <a:t>**</a:t>
            </a:r>
          </a:p>
        </p:txBody>
      </p:sp>
    </p:spTree>
    <p:extLst>
      <p:ext uri="{BB962C8B-B14F-4D97-AF65-F5344CB8AC3E}">
        <p14:creationId xmlns:p14="http://schemas.microsoft.com/office/powerpoint/2010/main" val="3531117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6FA4BF6-6633-CD65-32DF-F19ECA6D99D0}"/>
              </a:ext>
            </a:extLst>
          </p:cNvPr>
          <p:cNvGraphicFramePr>
            <a:graphicFrameLocks noChangeAspect="1"/>
          </p:cNvGraphicFramePr>
          <p:nvPr>
            <p:custDataLst>
              <p:tags r:id="rId1"/>
            </p:custDataLst>
            <p:extLst>
              <p:ext uri="{D42A27DB-BD31-4B8C-83A1-F6EECF244321}">
                <p14:modId xmlns:p14="http://schemas.microsoft.com/office/powerpoint/2010/main" val="1988180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5" name="think-cell data - do not delete" hidden="1">
                        <a:extLst>
                          <a:ext uri="{FF2B5EF4-FFF2-40B4-BE49-F238E27FC236}">
                            <a16:creationId xmlns:a16="http://schemas.microsoft.com/office/drawing/2014/main" id="{36FA4BF6-6633-CD65-32DF-F19ECA6D99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FB43402-11AB-F94D-223B-21927009248F}"/>
              </a:ext>
            </a:extLst>
          </p:cNvPr>
          <p:cNvSpPr>
            <a:spLocks noGrp="1"/>
          </p:cNvSpPr>
          <p:nvPr>
            <p:ph type="title"/>
          </p:nvPr>
        </p:nvSpPr>
        <p:spPr>
          <a:xfrm>
            <a:off x="273050" y="443826"/>
            <a:ext cx="7848302" cy="246221"/>
          </a:xfrm>
        </p:spPr>
        <p:txBody>
          <a:bodyPr vert="horz"/>
          <a:lstStyle/>
          <a:p>
            <a:r>
              <a:rPr kumimoji="1" lang="en-US" altLang="ja-JP" sz="1600" dirty="0"/>
              <a:t>5.2. </a:t>
            </a:r>
            <a:r>
              <a:rPr kumimoji="1" lang="ja-JP" altLang="en-US" sz="1600" dirty="0"/>
              <a:t>規格・実装方式の詳細 </a:t>
            </a:r>
            <a:r>
              <a:rPr kumimoji="1" lang="en-US" altLang="ja-JP" sz="1600" dirty="0"/>
              <a:t>- (4</a:t>
            </a:r>
            <a:r>
              <a:rPr kumimoji="1" lang="en-US" altLang="ja-JP" dirty="0"/>
              <a:t>) </a:t>
            </a:r>
            <a:r>
              <a:rPr kumimoji="1" lang="ja-JP" altLang="en-US" sz="1600" dirty="0"/>
              <a:t>選択的開示方式の規格</a:t>
            </a:r>
          </a:p>
        </p:txBody>
      </p:sp>
      <p:sp>
        <p:nvSpPr>
          <p:cNvPr id="3" name="テキスト プレースホルダー 2">
            <a:extLst>
              <a:ext uri="{FF2B5EF4-FFF2-40B4-BE49-F238E27FC236}">
                <a16:creationId xmlns:a16="http://schemas.microsoft.com/office/drawing/2014/main" id="{5D2C5650-BE13-E9BD-A921-8E9228167951}"/>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55" name="コンテンツ プレースホルダー 2">
            <a:extLst>
              <a:ext uri="{FF2B5EF4-FFF2-40B4-BE49-F238E27FC236}">
                <a16:creationId xmlns:a16="http://schemas.microsoft.com/office/drawing/2014/main" id="{8D626C05-932B-137E-5066-0A1B45E6F6CD}"/>
              </a:ext>
            </a:extLst>
          </p:cNvPr>
          <p:cNvSpPr txBox="1">
            <a:spLocks/>
          </p:cNvSpPr>
          <p:nvPr/>
        </p:nvSpPr>
        <p:spPr>
          <a:xfrm>
            <a:off x="273050" y="908050"/>
            <a:ext cx="9359900" cy="303324"/>
          </a:xfrm>
          <a:prstGeom prst="rect">
            <a:avLst/>
          </a:prstGeom>
          <a:solidFill>
            <a:schemeClr val="bg1"/>
          </a:solidFill>
          <a:ln>
            <a:solidFill>
              <a:schemeClr val="bg1"/>
            </a:solidFill>
          </a:ln>
        </p:spPr>
        <p:txBody>
          <a:bodyPr lIns="91440" tIns="45720" rIns="91440" bIns="45720" anchor="t"/>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選択的属性開示手法として適用のし易さを重視したSD-JWT、厳密性と拡張性を重視したJSON-LD＋BBS+署名が代表的</a:t>
            </a:r>
            <a:endParaRPr lang="en-US" altLang="ja-JP" dirty="0"/>
          </a:p>
        </p:txBody>
      </p:sp>
      <p:sp>
        <p:nvSpPr>
          <p:cNvPr id="20" name="正方形/長方形 19">
            <a:extLst>
              <a:ext uri="{FF2B5EF4-FFF2-40B4-BE49-F238E27FC236}">
                <a16:creationId xmlns:a16="http://schemas.microsoft.com/office/drawing/2014/main" id="{9A9D1303-107C-7B4A-AAC9-BEEA672D6FEF}"/>
              </a:ext>
            </a:extLst>
          </p:cNvPr>
          <p:cNvSpPr/>
          <p:nvPr/>
        </p:nvSpPr>
        <p:spPr bwMode="gray">
          <a:xfrm>
            <a:off x="273049" y="1568213"/>
            <a:ext cx="218451" cy="1114526"/>
          </a:xfrm>
          <a:prstGeom prst="rect">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mn-ea"/>
                <a:ea typeface="+mn-ea"/>
                <a:cs typeface="Arial" charset="0"/>
              </a:rPr>
              <a:t>概要</a:t>
            </a:r>
          </a:p>
        </p:txBody>
      </p:sp>
      <p:sp>
        <p:nvSpPr>
          <p:cNvPr id="33" name="正方形/長方形 32">
            <a:extLst>
              <a:ext uri="{FF2B5EF4-FFF2-40B4-BE49-F238E27FC236}">
                <a16:creationId xmlns:a16="http://schemas.microsoft.com/office/drawing/2014/main" id="{D9720027-A726-C919-03F2-1FB27B94D03A}"/>
              </a:ext>
            </a:extLst>
          </p:cNvPr>
          <p:cNvSpPr/>
          <p:nvPr/>
        </p:nvSpPr>
        <p:spPr bwMode="gray">
          <a:xfrm>
            <a:off x="273048" y="2739393"/>
            <a:ext cx="218451" cy="3059389"/>
          </a:xfrm>
          <a:prstGeom prst="rect">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dirty="0">
                <a:solidFill>
                  <a:prstClr val="black"/>
                </a:solidFill>
                <a:latin typeface="+mn-ea"/>
                <a:ea typeface="+mn-ea"/>
                <a:cs typeface="Arial" charset="0"/>
              </a:rPr>
              <a:t>イメージ</a:t>
            </a:r>
          </a:p>
        </p:txBody>
      </p:sp>
      <p:sp>
        <p:nvSpPr>
          <p:cNvPr id="53" name="正方形/長方形 52">
            <a:extLst>
              <a:ext uri="{FF2B5EF4-FFF2-40B4-BE49-F238E27FC236}">
                <a16:creationId xmlns:a16="http://schemas.microsoft.com/office/drawing/2014/main" id="{BEFE2AB6-86D4-7E90-1918-CD8E89B44580}"/>
              </a:ext>
            </a:extLst>
          </p:cNvPr>
          <p:cNvSpPr/>
          <p:nvPr/>
        </p:nvSpPr>
        <p:spPr bwMode="gray">
          <a:xfrm>
            <a:off x="273049" y="5846835"/>
            <a:ext cx="218451" cy="685823"/>
          </a:xfrm>
          <a:prstGeom prst="rect">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mn-ea"/>
                <a:ea typeface="+mn-ea"/>
                <a:cs typeface="Arial" charset="0"/>
              </a:rPr>
              <a:t>評価</a:t>
            </a:r>
          </a:p>
        </p:txBody>
      </p:sp>
      <p:grpSp>
        <p:nvGrpSpPr>
          <p:cNvPr id="56" name="グループ化 55">
            <a:extLst>
              <a:ext uri="{FF2B5EF4-FFF2-40B4-BE49-F238E27FC236}">
                <a16:creationId xmlns:a16="http://schemas.microsoft.com/office/drawing/2014/main" id="{D2800CFA-BEF6-FA35-0382-E1F0B68927FD}"/>
              </a:ext>
            </a:extLst>
          </p:cNvPr>
          <p:cNvGrpSpPr/>
          <p:nvPr/>
        </p:nvGrpSpPr>
        <p:grpSpPr>
          <a:xfrm>
            <a:off x="516835" y="1260150"/>
            <a:ext cx="9116115" cy="258229"/>
            <a:chOff x="1570903" y="1016000"/>
            <a:chExt cx="7171851" cy="290108"/>
          </a:xfrm>
        </p:grpSpPr>
        <p:sp>
          <p:nvSpPr>
            <p:cNvPr id="57" name="正方形/長方形 56">
              <a:extLst>
                <a:ext uri="{FF2B5EF4-FFF2-40B4-BE49-F238E27FC236}">
                  <a16:creationId xmlns:a16="http://schemas.microsoft.com/office/drawing/2014/main" id="{17FF7411-B734-6AFA-1C43-ABD0C7B60DA4}"/>
                </a:ext>
              </a:extLst>
            </p:cNvPr>
            <p:cNvSpPr/>
            <p:nvPr/>
          </p:nvSpPr>
          <p:spPr bwMode="gray">
            <a:xfrm>
              <a:off x="1570903" y="1016000"/>
              <a:ext cx="3554016" cy="290108"/>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a:ln>
                    <a:noFill/>
                  </a:ln>
                  <a:solidFill>
                    <a:prstClr val="white"/>
                  </a:solidFill>
                  <a:effectLst/>
                  <a:uLnTx/>
                  <a:uFillTx/>
                  <a:latin typeface="+mn-ea"/>
                  <a:ea typeface="+mn-ea"/>
                  <a:cs typeface="Arial" charset="0"/>
                </a:rPr>
                <a:t>SD-JWT</a:t>
              </a:r>
              <a:endParaRPr kumimoji="0" lang="ja-JP" altLang="en-US" sz="1400" b="1" i="0" u="none" strike="noStrike" kern="0" cap="none" spc="0" normalizeH="0" baseline="0" noProof="0">
                <a:ln>
                  <a:noFill/>
                </a:ln>
                <a:solidFill>
                  <a:prstClr val="white"/>
                </a:solidFill>
                <a:effectLst/>
                <a:uLnTx/>
                <a:uFillTx/>
                <a:latin typeface="+mn-ea"/>
                <a:ea typeface="+mn-ea"/>
                <a:cs typeface="Arial" charset="0"/>
              </a:endParaRPr>
            </a:p>
          </p:txBody>
        </p:sp>
        <p:sp>
          <p:nvSpPr>
            <p:cNvPr id="58" name="正方形/長方形 57">
              <a:extLst>
                <a:ext uri="{FF2B5EF4-FFF2-40B4-BE49-F238E27FC236}">
                  <a16:creationId xmlns:a16="http://schemas.microsoft.com/office/drawing/2014/main" id="{A62EDA6E-9D7B-B6EF-691D-58B9A76E291F}"/>
                </a:ext>
              </a:extLst>
            </p:cNvPr>
            <p:cNvSpPr/>
            <p:nvPr/>
          </p:nvSpPr>
          <p:spPr bwMode="gray">
            <a:xfrm>
              <a:off x="5188738" y="1016000"/>
              <a:ext cx="3554016" cy="290108"/>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dirty="0">
                  <a:ln>
                    <a:noFill/>
                  </a:ln>
                  <a:solidFill>
                    <a:prstClr val="white"/>
                  </a:solidFill>
                  <a:effectLst/>
                  <a:uLnTx/>
                  <a:uFillTx/>
                  <a:latin typeface="+mn-ea"/>
                  <a:ea typeface="+mn-ea"/>
                  <a:cs typeface="Arial" charset="0"/>
                </a:rPr>
                <a:t>JSON-LD </a:t>
              </a:r>
              <a:r>
                <a:rPr kumimoji="0" lang="ja-JP" altLang="en-US" sz="1400" b="1" i="0" u="none" strike="noStrike" kern="0" cap="none" spc="0" normalizeH="0" baseline="0" noProof="0" dirty="0">
                  <a:ln>
                    <a:noFill/>
                  </a:ln>
                  <a:solidFill>
                    <a:prstClr val="white"/>
                  </a:solidFill>
                  <a:effectLst/>
                  <a:uLnTx/>
                  <a:uFillTx/>
                  <a:latin typeface="+mn-ea"/>
                  <a:ea typeface="+mn-ea"/>
                  <a:cs typeface="Arial" charset="0"/>
                </a:rPr>
                <a:t>＋ </a:t>
              </a:r>
              <a:r>
                <a:rPr kumimoji="0" lang="en-US" altLang="ja-JP" sz="1400" b="1" i="0" u="none" strike="noStrike" kern="0" cap="none" spc="0" normalizeH="0" baseline="0" noProof="0" dirty="0">
                  <a:ln>
                    <a:noFill/>
                  </a:ln>
                  <a:solidFill>
                    <a:prstClr val="white"/>
                  </a:solidFill>
                  <a:effectLst/>
                  <a:uLnTx/>
                  <a:uFillTx/>
                  <a:latin typeface="+mn-ea"/>
                  <a:ea typeface="+mn-ea"/>
                  <a:cs typeface="Arial" charset="0"/>
                </a:rPr>
                <a:t>BBS+</a:t>
              </a:r>
              <a:r>
                <a:rPr kumimoji="0" lang="ja-JP" altLang="en-US" sz="1400" b="1" i="0" u="none" strike="noStrike" kern="0" cap="none" spc="0" normalizeH="0" baseline="0" noProof="0" dirty="0">
                  <a:ln>
                    <a:noFill/>
                  </a:ln>
                  <a:solidFill>
                    <a:prstClr val="white"/>
                  </a:solidFill>
                  <a:effectLst/>
                  <a:uLnTx/>
                  <a:uFillTx/>
                  <a:latin typeface="+mn-ea"/>
                  <a:ea typeface="+mn-ea"/>
                  <a:cs typeface="Arial" charset="0"/>
                </a:rPr>
                <a:t>署名</a:t>
              </a:r>
            </a:p>
          </p:txBody>
        </p:sp>
      </p:grpSp>
      <p:cxnSp>
        <p:nvCxnSpPr>
          <p:cNvPr id="59" name="直線矢印コネクタ 58">
            <a:extLst>
              <a:ext uri="{FF2B5EF4-FFF2-40B4-BE49-F238E27FC236}">
                <a16:creationId xmlns:a16="http://schemas.microsoft.com/office/drawing/2014/main" id="{2B116A15-26CA-F6D5-F665-2680DF0EA800}"/>
              </a:ext>
            </a:extLst>
          </p:cNvPr>
          <p:cNvCxnSpPr>
            <a:cxnSpLocks/>
            <a:stCxn id="113" idx="3"/>
            <a:endCxn id="114" idx="1"/>
          </p:cNvCxnSpPr>
          <p:nvPr/>
        </p:nvCxnSpPr>
        <p:spPr bwMode="gray">
          <a:xfrm>
            <a:off x="7754356" y="2872809"/>
            <a:ext cx="941942" cy="0"/>
          </a:xfrm>
          <a:prstGeom prst="straightConnector1">
            <a:avLst/>
          </a:prstGeom>
          <a:noFill/>
          <a:ln w="12700" cap="flat" cmpd="sng" algn="ctr">
            <a:solidFill>
              <a:srgbClr val="53565A"/>
            </a:solidFill>
            <a:prstDash val="solid"/>
            <a:tailEnd type="triangle"/>
          </a:ln>
          <a:effectLst/>
        </p:spPr>
      </p:cxnSp>
      <p:sp>
        <p:nvSpPr>
          <p:cNvPr id="60" name="四角形: メモ 59">
            <a:extLst>
              <a:ext uri="{FF2B5EF4-FFF2-40B4-BE49-F238E27FC236}">
                <a16:creationId xmlns:a16="http://schemas.microsoft.com/office/drawing/2014/main" id="{59DBF4A9-E362-8BD5-5A1A-3BCF0B1408AB}"/>
              </a:ext>
            </a:extLst>
          </p:cNvPr>
          <p:cNvSpPr/>
          <p:nvPr/>
        </p:nvSpPr>
        <p:spPr bwMode="gray">
          <a:xfrm>
            <a:off x="7976915" y="2722121"/>
            <a:ext cx="496823" cy="309145"/>
          </a:xfrm>
          <a:prstGeom prst="foldedCorner">
            <a:avLst/>
          </a:prstGeom>
          <a:solidFill>
            <a:srgbClr val="0D8390">
              <a:lumMod val="20000"/>
              <a:lumOff val="80000"/>
            </a:srgbClr>
          </a:solidFill>
          <a:ln w="31750" algn="ctr">
            <a:solidFill>
              <a:srgbClr val="007CB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VP</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61" name="吹き出し: 線 60">
            <a:extLst>
              <a:ext uri="{FF2B5EF4-FFF2-40B4-BE49-F238E27FC236}">
                <a16:creationId xmlns:a16="http://schemas.microsoft.com/office/drawing/2014/main" id="{D1A2C6FD-A405-3F0C-7A90-F593D7ABADE4}"/>
              </a:ext>
            </a:extLst>
          </p:cNvPr>
          <p:cNvSpPr/>
          <p:nvPr/>
        </p:nvSpPr>
        <p:spPr bwMode="gray">
          <a:xfrm>
            <a:off x="7391299" y="3156911"/>
            <a:ext cx="2187688" cy="2621993"/>
          </a:xfrm>
          <a:prstGeom prst="borderCallout1">
            <a:avLst>
              <a:gd name="adj1" fmla="val -171"/>
              <a:gd name="adj2" fmla="val 19044"/>
              <a:gd name="adj3" fmla="val -7333"/>
              <a:gd name="adj4" fmla="val 26332"/>
            </a:avLst>
          </a:prstGeom>
          <a:solidFill>
            <a:srgbClr val="0D8390">
              <a:lumMod val="20000"/>
              <a:lumOff val="80000"/>
              <a:alpha val="30000"/>
            </a:srgbClr>
          </a:solidFill>
          <a:ln w="31750" algn="ctr">
            <a:solidFill>
              <a:srgbClr val="007CB0"/>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90564" eaLnBrk="1" fontAlgn="auto" latinLnBrk="0" hangingPunct="1">
              <a:lnSpc>
                <a:spcPct val="100000"/>
              </a:lnSpc>
              <a:spcBef>
                <a:spcPts val="0"/>
              </a:spcBef>
              <a:spcAft>
                <a:spcPts val="0"/>
              </a:spcAft>
              <a:buClrTx/>
              <a:buSzPct val="100000"/>
              <a:buFontTx/>
              <a:buNone/>
              <a:tabLst/>
              <a:defRPr/>
            </a:pPr>
            <a:endParaRPr kumimoji="0" lang="en-US" altLang="ja-JP" sz="900" b="0" i="0" u="none" strike="noStrike" kern="0" cap="none" spc="0" normalizeH="0" baseline="0" noProof="0">
              <a:ln>
                <a:noFill/>
              </a:ln>
              <a:solidFill>
                <a:prstClr val="black"/>
              </a:solidFill>
              <a:effectLst/>
              <a:uLnTx/>
              <a:uFillTx/>
              <a:latin typeface="+mn-ea"/>
              <a:ea typeface="+mn-ea"/>
              <a:cs typeface="Arial" charset="0"/>
            </a:endParaRPr>
          </a:p>
        </p:txBody>
      </p:sp>
      <p:sp>
        <p:nvSpPr>
          <p:cNvPr id="62" name="吹き出し: 線 61">
            <a:extLst>
              <a:ext uri="{FF2B5EF4-FFF2-40B4-BE49-F238E27FC236}">
                <a16:creationId xmlns:a16="http://schemas.microsoft.com/office/drawing/2014/main" id="{8FDC7D88-DA4C-7EC1-8CBA-A64A12FFECBA}"/>
              </a:ext>
            </a:extLst>
          </p:cNvPr>
          <p:cNvSpPr/>
          <p:nvPr/>
        </p:nvSpPr>
        <p:spPr bwMode="gray">
          <a:xfrm>
            <a:off x="5130345" y="3156911"/>
            <a:ext cx="2187688" cy="2621993"/>
          </a:xfrm>
          <a:prstGeom prst="borderCallout1">
            <a:avLst>
              <a:gd name="adj1" fmla="val 571"/>
              <a:gd name="adj2" fmla="val 30844"/>
              <a:gd name="adj3" fmla="val -7333"/>
              <a:gd name="adj4" fmla="val 52765"/>
            </a:avLst>
          </a:prstGeom>
          <a:solidFill>
            <a:srgbClr val="86BC25">
              <a:lumMod val="20000"/>
              <a:lumOff val="80000"/>
              <a:alpha val="30000"/>
            </a:srgbClr>
          </a:solidFill>
          <a:ln w="31750" algn="ctr">
            <a:solidFill>
              <a:srgbClr val="86BC25"/>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90564" eaLnBrk="1" fontAlgn="auto" latinLnBrk="0" hangingPunct="1">
              <a:lnSpc>
                <a:spcPct val="100000"/>
              </a:lnSpc>
              <a:spcBef>
                <a:spcPts val="0"/>
              </a:spcBef>
              <a:spcAft>
                <a:spcPts val="0"/>
              </a:spcAft>
              <a:buClrTx/>
              <a:buSzPct val="100000"/>
              <a:buFontTx/>
              <a:buNone/>
              <a:tabLst/>
              <a:defRPr/>
            </a:pPr>
            <a:endParaRPr kumimoji="0" lang="en-US" altLang="ja-JP" sz="900" b="0" i="0" u="none" strike="noStrike" kern="0" cap="none" spc="0" normalizeH="0" baseline="0" noProof="0">
              <a:ln>
                <a:noFill/>
              </a:ln>
              <a:solidFill>
                <a:prstClr val="black"/>
              </a:solidFill>
              <a:effectLst/>
              <a:uLnTx/>
              <a:uFillTx/>
              <a:latin typeface="+mn-ea"/>
              <a:ea typeface="+mn-ea"/>
              <a:cs typeface="Arial" charset="0"/>
            </a:endParaRPr>
          </a:p>
        </p:txBody>
      </p:sp>
      <p:cxnSp>
        <p:nvCxnSpPr>
          <p:cNvPr id="63" name="直線矢印コネクタ 62">
            <a:extLst>
              <a:ext uri="{FF2B5EF4-FFF2-40B4-BE49-F238E27FC236}">
                <a16:creationId xmlns:a16="http://schemas.microsoft.com/office/drawing/2014/main" id="{A7935B4A-E986-DD22-DB2B-E75DC0423CF4}"/>
              </a:ext>
            </a:extLst>
          </p:cNvPr>
          <p:cNvCxnSpPr>
            <a:cxnSpLocks/>
            <a:stCxn id="102" idx="3"/>
            <a:endCxn id="103" idx="1"/>
          </p:cNvCxnSpPr>
          <p:nvPr/>
        </p:nvCxnSpPr>
        <p:spPr bwMode="gray">
          <a:xfrm>
            <a:off x="3204217" y="2872809"/>
            <a:ext cx="941942" cy="0"/>
          </a:xfrm>
          <a:prstGeom prst="straightConnector1">
            <a:avLst/>
          </a:prstGeom>
          <a:noFill/>
          <a:ln w="12700" cap="flat" cmpd="sng" algn="ctr">
            <a:solidFill>
              <a:srgbClr val="53565A"/>
            </a:solidFill>
            <a:prstDash val="solid"/>
            <a:tailEnd type="triangle"/>
          </a:ln>
          <a:effectLst/>
        </p:spPr>
      </p:cxnSp>
      <p:sp>
        <p:nvSpPr>
          <p:cNvPr id="64" name="四角形: メモ 63">
            <a:extLst>
              <a:ext uri="{FF2B5EF4-FFF2-40B4-BE49-F238E27FC236}">
                <a16:creationId xmlns:a16="http://schemas.microsoft.com/office/drawing/2014/main" id="{D2163C1E-6D76-8F95-412E-FBD8CA812B3E}"/>
              </a:ext>
            </a:extLst>
          </p:cNvPr>
          <p:cNvSpPr/>
          <p:nvPr/>
        </p:nvSpPr>
        <p:spPr bwMode="gray">
          <a:xfrm>
            <a:off x="3426777" y="2722121"/>
            <a:ext cx="496823" cy="309145"/>
          </a:xfrm>
          <a:prstGeom prst="foldedCorner">
            <a:avLst/>
          </a:prstGeom>
          <a:solidFill>
            <a:srgbClr val="0D8390">
              <a:lumMod val="20000"/>
              <a:lumOff val="80000"/>
            </a:srgbClr>
          </a:solidFill>
          <a:ln w="31750" algn="ctr">
            <a:solidFill>
              <a:srgbClr val="007CB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VP</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65" name="吹き出し: 線 64">
            <a:extLst>
              <a:ext uri="{FF2B5EF4-FFF2-40B4-BE49-F238E27FC236}">
                <a16:creationId xmlns:a16="http://schemas.microsoft.com/office/drawing/2014/main" id="{19169034-69A8-3E35-52BC-FAAFF1518120}"/>
              </a:ext>
            </a:extLst>
          </p:cNvPr>
          <p:cNvSpPr/>
          <p:nvPr/>
        </p:nvSpPr>
        <p:spPr bwMode="gray">
          <a:xfrm>
            <a:off x="2841161" y="3156911"/>
            <a:ext cx="2187688" cy="2621993"/>
          </a:xfrm>
          <a:prstGeom prst="borderCallout1">
            <a:avLst>
              <a:gd name="adj1" fmla="val -7433"/>
              <a:gd name="adj2" fmla="val 26124"/>
              <a:gd name="adj3" fmla="val 241"/>
              <a:gd name="adj4" fmla="val 17364"/>
            </a:avLst>
          </a:prstGeom>
          <a:solidFill>
            <a:srgbClr val="0D8390">
              <a:lumMod val="20000"/>
              <a:lumOff val="80000"/>
              <a:alpha val="30000"/>
            </a:srgbClr>
          </a:solidFill>
          <a:ln w="31750" algn="ctr">
            <a:solidFill>
              <a:srgbClr val="007CB0"/>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90564" eaLnBrk="1" fontAlgn="auto" latinLnBrk="0" hangingPunct="1">
              <a:lnSpc>
                <a:spcPct val="100000"/>
              </a:lnSpc>
              <a:spcBef>
                <a:spcPts val="0"/>
              </a:spcBef>
              <a:spcAft>
                <a:spcPts val="0"/>
              </a:spcAft>
              <a:buClrTx/>
              <a:buSzPct val="100000"/>
              <a:buFontTx/>
              <a:buNone/>
              <a:tabLst/>
              <a:defRPr/>
            </a:pPr>
            <a:endParaRPr kumimoji="0" lang="en-US" altLang="ja-JP" sz="900" b="0" i="0" u="none" strike="noStrike" kern="0" cap="none" spc="0" normalizeH="0" baseline="0" noProof="0">
              <a:ln>
                <a:noFill/>
              </a:ln>
              <a:solidFill>
                <a:prstClr val="black"/>
              </a:solidFill>
              <a:effectLst/>
              <a:uLnTx/>
              <a:uFillTx/>
              <a:latin typeface="+mn-ea"/>
              <a:ea typeface="+mn-ea"/>
              <a:cs typeface="Arial" charset="0"/>
            </a:endParaRPr>
          </a:p>
        </p:txBody>
      </p:sp>
      <p:sp>
        <p:nvSpPr>
          <p:cNvPr id="66" name="吹き出し: 線 65">
            <a:extLst>
              <a:ext uri="{FF2B5EF4-FFF2-40B4-BE49-F238E27FC236}">
                <a16:creationId xmlns:a16="http://schemas.microsoft.com/office/drawing/2014/main" id="{38812C9F-218E-EFCD-F903-CD6150481103}"/>
              </a:ext>
            </a:extLst>
          </p:cNvPr>
          <p:cNvSpPr/>
          <p:nvPr/>
        </p:nvSpPr>
        <p:spPr bwMode="gray">
          <a:xfrm>
            <a:off x="580206" y="3156911"/>
            <a:ext cx="2187688" cy="2621993"/>
          </a:xfrm>
          <a:prstGeom prst="borderCallout1">
            <a:avLst>
              <a:gd name="adj1" fmla="val 330"/>
              <a:gd name="adj2" fmla="val 33677"/>
              <a:gd name="adj3" fmla="val -6874"/>
              <a:gd name="adj4" fmla="val 51821"/>
            </a:avLst>
          </a:prstGeom>
          <a:solidFill>
            <a:srgbClr val="86BC25">
              <a:lumMod val="20000"/>
              <a:lumOff val="80000"/>
              <a:alpha val="30000"/>
            </a:srgbClr>
          </a:solidFill>
          <a:ln w="31750" algn="ctr">
            <a:solidFill>
              <a:srgbClr val="86BC25"/>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90564" eaLnBrk="1" fontAlgn="auto" latinLnBrk="0" hangingPunct="1">
              <a:lnSpc>
                <a:spcPct val="100000"/>
              </a:lnSpc>
              <a:spcBef>
                <a:spcPts val="0"/>
              </a:spcBef>
              <a:spcAft>
                <a:spcPts val="0"/>
              </a:spcAft>
              <a:buClrTx/>
              <a:buSzPct val="100000"/>
              <a:buFontTx/>
              <a:buNone/>
              <a:tabLst/>
              <a:defRPr/>
            </a:pPr>
            <a:endParaRPr kumimoji="0" lang="en-US" altLang="ja-JP" sz="900" b="0" i="0" u="none" strike="noStrike" kern="0" cap="none" spc="0" normalizeH="0" baseline="0" noProof="0">
              <a:ln>
                <a:noFill/>
              </a:ln>
              <a:solidFill>
                <a:prstClr val="black"/>
              </a:solidFill>
              <a:effectLst/>
              <a:uLnTx/>
              <a:uFillTx/>
              <a:latin typeface="+mn-ea"/>
              <a:ea typeface="+mn-ea"/>
              <a:cs typeface="Arial" charset="0"/>
            </a:endParaRPr>
          </a:p>
        </p:txBody>
      </p:sp>
      <p:cxnSp>
        <p:nvCxnSpPr>
          <p:cNvPr id="67" name="直線矢印コネクタ 66">
            <a:extLst>
              <a:ext uri="{FF2B5EF4-FFF2-40B4-BE49-F238E27FC236}">
                <a16:creationId xmlns:a16="http://schemas.microsoft.com/office/drawing/2014/main" id="{FA9BA5CB-8EE7-CDFE-F52A-C4D6AD74561B}"/>
              </a:ext>
            </a:extLst>
          </p:cNvPr>
          <p:cNvCxnSpPr>
            <a:cxnSpLocks/>
            <a:stCxn id="101" idx="3"/>
            <a:endCxn id="102" idx="1"/>
          </p:cNvCxnSpPr>
          <p:nvPr/>
        </p:nvCxnSpPr>
        <p:spPr bwMode="gray">
          <a:xfrm>
            <a:off x="1473612" y="2872809"/>
            <a:ext cx="941943" cy="0"/>
          </a:xfrm>
          <a:prstGeom prst="straightConnector1">
            <a:avLst/>
          </a:prstGeom>
          <a:noFill/>
          <a:ln w="12700" cap="flat" cmpd="sng" algn="ctr">
            <a:solidFill>
              <a:srgbClr val="53565A"/>
            </a:solidFill>
            <a:prstDash val="solid"/>
            <a:tailEnd type="triangle"/>
          </a:ln>
          <a:effectLst/>
        </p:spPr>
      </p:cxnSp>
      <p:sp>
        <p:nvSpPr>
          <p:cNvPr id="68" name="正方形/長方形 67">
            <a:extLst>
              <a:ext uri="{FF2B5EF4-FFF2-40B4-BE49-F238E27FC236}">
                <a16:creationId xmlns:a16="http://schemas.microsoft.com/office/drawing/2014/main" id="{DFD89DA2-0995-E589-62A1-13C5C200A24B}"/>
              </a:ext>
            </a:extLst>
          </p:cNvPr>
          <p:cNvSpPr/>
          <p:nvPr/>
        </p:nvSpPr>
        <p:spPr bwMode="gray">
          <a:xfrm>
            <a:off x="1444209" y="3384678"/>
            <a:ext cx="1095901" cy="1223903"/>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900" b="0" i="0" u="none" strike="noStrike" kern="0" cap="none" spc="0" normalizeH="0" baseline="0" noProof="0">
              <a:ln>
                <a:noFill/>
              </a:ln>
              <a:solidFill>
                <a:prstClr val="black"/>
              </a:solidFill>
              <a:effectLst/>
              <a:uLnTx/>
              <a:uFillTx/>
              <a:latin typeface="+mn-ea"/>
              <a:ea typeface="+mn-ea"/>
              <a:cs typeface="+mn-cs"/>
            </a:endParaRPr>
          </a:p>
        </p:txBody>
      </p:sp>
      <p:sp>
        <p:nvSpPr>
          <p:cNvPr id="69" name="正方形/長方形 68">
            <a:extLst>
              <a:ext uri="{FF2B5EF4-FFF2-40B4-BE49-F238E27FC236}">
                <a16:creationId xmlns:a16="http://schemas.microsoft.com/office/drawing/2014/main" id="{9445FB5C-451F-F937-0F91-7F8D482107F5}"/>
              </a:ext>
            </a:extLst>
          </p:cNvPr>
          <p:cNvSpPr/>
          <p:nvPr/>
        </p:nvSpPr>
        <p:spPr bwMode="gray">
          <a:xfrm>
            <a:off x="1532051" y="3467499"/>
            <a:ext cx="921030" cy="653225"/>
          </a:xfrm>
          <a:prstGeom prst="rect">
            <a:avLst/>
          </a:prstGeom>
          <a:solidFill>
            <a:sysClr val="window" lastClr="FFFFFF">
              <a:lumMod val="8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Hash(C1+S1)</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Hash(C2+S2)</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Hash(C3+S3)</a:t>
            </a:r>
            <a:endParaRPr kumimoji="0" lang="ja-JP" altLang="en-US" sz="900" b="0" i="0" u="none" strike="noStrike" kern="0" cap="none" spc="0" normalizeH="0" baseline="0" noProof="0">
              <a:ln>
                <a:noFill/>
              </a:ln>
              <a:solidFill>
                <a:prstClr val="black"/>
              </a:solidFill>
              <a:effectLst/>
              <a:uLnTx/>
              <a:uFillTx/>
              <a:latin typeface="+mn-ea"/>
              <a:ea typeface="+mn-ea"/>
              <a:cs typeface="Arial" charset="0"/>
            </a:endParaRPr>
          </a:p>
        </p:txBody>
      </p:sp>
      <p:sp>
        <p:nvSpPr>
          <p:cNvPr id="70" name="正方形/長方形 69">
            <a:extLst>
              <a:ext uri="{FF2B5EF4-FFF2-40B4-BE49-F238E27FC236}">
                <a16:creationId xmlns:a16="http://schemas.microsoft.com/office/drawing/2014/main" id="{6C75E463-3667-F9B4-B563-43E86944D756}"/>
              </a:ext>
            </a:extLst>
          </p:cNvPr>
          <p:cNvSpPr/>
          <p:nvPr/>
        </p:nvSpPr>
        <p:spPr bwMode="gray">
          <a:xfrm>
            <a:off x="1532051" y="4272142"/>
            <a:ext cx="921030" cy="236845"/>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a:solidFill>
                  <a:prstClr val="black"/>
                </a:solidFill>
                <a:latin typeface="+mn-ea"/>
                <a:ea typeface="+mn-ea"/>
                <a:cs typeface="Arial" charset="0"/>
              </a:rPr>
              <a:t>署名</a:t>
            </a:r>
            <a:r>
              <a:rPr lang="en-US" altLang="ja-JP" sz="900">
                <a:solidFill>
                  <a:prstClr val="black"/>
                </a:solidFill>
                <a:latin typeface="+mn-ea"/>
                <a:ea typeface="+mn-ea"/>
                <a:cs typeface="Arial" charset="0"/>
              </a:rPr>
              <a:t>(Issuer)</a:t>
            </a:r>
            <a:endParaRPr lang="ja-JP" altLang="en-US" sz="900">
              <a:solidFill>
                <a:prstClr val="black"/>
              </a:solidFill>
              <a:latin typeface="+mn-ea"/>
              <a:ea typeface="+mn-ea"/>
              <a:cs typeface="Arial" charset="0"/>
            </a:endParaRPr>
          </a:p>
        </p:txBody>
      </p:sp>
      <p:sp>
        <p:nvSpPr>
          <p:cNvPr id="71" name="テキスト ボックス 70">
            <a:extLst>
              <a:ext uri="{FF2B5EF4-FFF2-40B4-BE49-F238E27FC236}">
                <a16:creationId xmlns:a16="http://schemas.microsoft.com/office/drawing/2014/main" id="{DE7418A2-1A8F-67B4-5A96-BCBB9D7056AF}"/>
              </a:ext>
            </a:extLst>
          </p:cNvPr>
          <p:cNvSpPr txBox="1"/>
          <p:nvPr/>
        </p:nvSpPr>
        <p:spPr bwMode="gray">
          <a:xfrm>
            <a:off x="1788469" y="3196775"/>
            <a:ext cx="476685" cy="138499"/>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900" b="1">
                <a:solidFill>
                  <a:prstClr val="black"/>
                </a:solidFill>
                <a:latin typeface="+mn-ea"/>
                <a:ea typeface="+mn-ea"/>
                <a:cs typeface="Arial" charset="0"/>
              </a:rPr>
              <a:t>SD-JWT</a:t>
            </a:r>
            <a:endParaRPr lang="ja-JP" altLang="en-US" sz="900" b="1">
              <a:solidFill>
                <a:prstClr val="black"/>
              </a:solidFill>
              <a:latin typeface="+mn-ea"/>
              <a:ea typeface="+mn-ea"/>
              <a:cs typeface="Arial" charset="0"/>
            </a:endParaRPr>
          </a:p>
        </p:txBody>
      </p:sp>
      <p:sp>
        <p:nvSpPr>
          <p:cNvPr id="72" name="正方形/長方形 71">
            <a:extLst>
              <a:ext uri="{FF2B5EF4-FFF2-40B4-BE49-F238E27FC236}">
                <a16:creationId xmlns:a16="http://schemas.microsoft.com/office/drawing/2014/main" id="{E046BE72-C844-26F4-D5A1-3B3B289EA806}"/>
              </a:ext>
            </a:extLst>
          </p:cNvPr>
          <p:cNvSpPr/>
          <p:nvPr/>
        </p:nvSpPr>
        <p:spPr bwMode="gray">
          <a:xfrm>
            <a:off x="1444209" y="4872701"/>
            <a:ext cx="1095901" cy="825527"/>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900" b="0" i="0" u="none" strike="noStrike" kern="0" cap="none" spc="0" normalizeH="0" baseline="0" noProof="0">
              <a:ln>
                <a:noFill/>
              </a:ln>
              <a:solidFill>
                <a:prstClr val="black"/>
              </a:solidFill>
              <a:effectLst/>
              <a:uLnTx/>
              <a:uFillTx/>
              <a:latin typeface="+mn-ea"/>
              <a:ea typeface="+mn-ea"/>
              <a:cs typeface="+mn-cs"/>
            </a:endParaRPr>
          </a:p>
        </p:txBody>
      </p:sp>
      <p:sp>
        <p:nvSpPr>
          <p:cNvPr id="73" name="正方形/長方形 72">
            <a:extLst>
              <a:ext uri="{FF2B5EF4-FFF2-40B4-BE49-F238E27FC236}">
                <a16:creationId xmlns:a16="http://schemas.microsoft.com/office/drawing/2014/main" id="{DBDE0A81-DD3E-8FE7-E01D-524CC159D65F}"/>
              </a:ext>
            </a:extLst>
          </p:cNvPr>
          <p:cNvSpPr/>
          <p:nvPr/>
        </p:nvSpPr>
        <p:spPr bwMode="gray">
          <a:xfrm>
            <a:off x="1532051" y="4955520"/>
            <a:ext cx="921030" cy="653225"/>
          </a:xfrm>
          <a:prstGeom prst="rect">
            <a:avLst/>
          </a:prstGeom>
          <a:solidFill>
            <a:sysClr val="window" lastClr="FFFFFF">
              <a:lumMod val="8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C1, S1</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C2, S2</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C3, S3</a:t>
            </a:r>
          </a:p>
        </p:txBody>
      </p:sp>
      <p:sp>
        <p:nvSpPr>
          <p:cNvPr id="74" name="テキスト ボックス 73">
            <a:extLst>
              <a:ext uri="{FF2B5EF4-FFF2-40B4-BE49-F238E27FC236}">
                <a16:creationId xmlns:a16="http://schemas.microsoft.com/office/drawing/2014/main" id="{77821355-D491-A538-E812-C90BD8676D7B}"/>
              </a:ext>
            </a:extLst>
          </p:cNvPr>
          <p:cNvSpPr txBox="1"/>
          <p:nvPr/>
        </p:nvSpPr>
        <p:spPr bwMode="gray">
          <a:xfrm>
            <a:off x="1716310" y="4672529"/>
            <a:ext cx="476685" cy="138499"/>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900" b="1">
                <a:solidFill>
                  <a:prstClr val="black"/>
                </a:solidFill>
                <a:latin typeface="+mn-ea"/>
                <a:ea typeface="+mn-ea"/>
                <a:cs typeface="Arial" charset="0"/>
              </a:rPr>
              <a:t>SVC</a:t>
            </a:r>
            <a:endParaRPr lang="ja-JP" altLang="en-US" sz="900" b="1">
              <a:solidFill>
                <a:prstClr val="black"/>
              </a:solidFill>
              <a:latin typeface="+mn-ea"/>
              <a:ea typeface="+mn-ea"/>
              <a:cs typeface="Arial" charset="0"/>
            </a:endParaRPr>
          </a:p>
        </p:txBody>
      </p:sp>
      <p:sp>
        <p:nvSpPr>
          <p:cNvPr id="75" name="正方形/長方形 74">
            <a:extLst>
              <a:ext uri="{FF2B5EF4-FFF2-40B4-BE49-F238E27FC236}">
                <a16:creationId xmlns:a16="http://schemas.microsoft.com/office/drawing/2014/main" id="{4C3247C9-F307-B97A-C99C-BDA3A1258D53}"/>
              </a:ext>
            </a:extLst>
          </p:cNvPr>
          <p:cNvSpPr/>
          <p:nvPr/>
        </p:nvSpPr>
        <p:spPr bwMode="gray">
          <a:xfrm>
            <a:off x="3048559" y="3384677"/>
            <a:ext cx="1136146" cy="1223903"/>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900" b="0" i="0" u="none" strike="noStrike" kern="0" cap="none" spc="0" normalizeH="0" baseline="0" noProof="0">
              <a:ln>
                <a:noFill/>
              </a:ln>
              <a:solidFill>
                <a:prstClr val="black"/>
              </a:solidFill>
              <a:effectLst/>
              <a:uLnTx/>
              <a:uFillTx/>
              <a:latin typeface="+mn-ea"/>
              <a:ea typeface="+mn-ea"/>
              <a:cs typeface="+mn-cs"/>
            </a:endParaRPr>
          </a:p>
        </p:txBody>
      </p:sp>
      <p:sp>
        <p:nvSpPr>
          <p:cNvPr id="76" name="正方形/長方形 75">
            <a:extLst>
              <a:ext uri="{FF2B5EF4-FFF2-40B4-BE49-F238E27FC236}">
                <a16:creationId xmlns:a16="http://schemas.microsoft.com/office/drawing/2014/main" id="{5340D60D-66A4-5EAF-B687-A27378BC711D}"/>
              </a:ext>
            </a:extLst>
          </p:cNvPr>
          <p:cNvSpPr/>
          <p:nvPr/>
        </p:nvSpPr>
        <p:spPr bwMode="gray">
          <a:xfrm>
            <a:off x="3151694" y="3467498"/>
            <a:ext cx="921030" cy="653225"/>
          </a:xfrm>
          <a:prstGeom prst="rect">
            <a:avLst/>
          </a:prstGeom>
          <a:solidFill>
            <a:sysClr val="window" lastClr="FFFFFF">
              <a:lumMod val="8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Hash(C1+S1)</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Hash(C2+S2)</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Hash(C3+S3)</a:t>
            </a:r>
            <a:endParaRPr kumimoji="0" lang="ja-JP" altLang="en-US" sz="900" b="0" i="0" u="none" strike="noStrike" kern="0" cap="none" spc="0" normalizeH="0" baseline="0" noProof="0">
              <a:ln>
                <a:noFill/>
              </a:ln>
              <a:solidFill>
                <a:prstClr val="black"/>
              </a:solidFill>
              <a:effectLst/>
              <a:uLnTx/>
              <a:uFillTx/>
              <a:latin typeface="+mn-ea"/>
              <a:ea typeface="+mn-ea"/>
              <a:cs typeface="Arial" charset="0"/>
            </a:endParaRPr>
          </a:p>
        </p:txBody>
      </p:sp>
      <p:sp>
        <p:nvSpPr>
          <p:cNvPr id="77" name="正方形/長方形 76">
            <a:extLst>
              <a:ext uri="{FF2B5EF4-FFF2-40B4-BE49-F238E27FC236}">
                <a16:creationId xmlns:a16="http://schemas.microsoft.com/office/drawing/2014/main" id="{A5BB9041-0129-05E2-98C8-5ECBE58A63EB}"/>
              </a:ext>
            </a:extLst>
          </p:cNvPr>
          <p:cNvSpPr/>
          <p:nvPr/>
        </p:nvSpPr>
        <p:spPr bwMode="gray">
          <a:xfrm>
            <a:off x="3151694" y="4278759"/>
            <a:ext cx="921030" cy="230228"/>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a:solidFill>
                  <a:prstClr val="black"/>
                </a:solidFill>
                <a:latin typeface="+mn-ea"/>
                <a:ea typeface="+mn-ea"/>
                <a:cs typeface="Arial" charset="0"/>
              </a:rPr>
              <a:t>署名</a:t>
            </a:r>
            <a:r>
              <a:rPr lang="en-US" altLang="ja-JP" sz="900">
                <a:solidFill>
                  <a:prstClr val="black"/>
                </a:solidFill>
                <a:latin typeface="+mn-ea"/>
                <a:ea typeface="+mn-ea"/>
                <a:cs typeface="Arial" charset="0"/>
              </a:rPr>
              <a:t>(Issuer)</a:t>
            </a:r>
            <a:endParaRPr lang="ja-JP" altLang="en-US" sz="900">
              <a:solidFill>
                <a:prstClr val="black"/>
              </a:solidFill>
              <a:latin typeface="+mn-ea"/>
              <a:ea typeface="+mn-ea"/>
              <a:cs typeface="Arial" charset="0"/>
            </a:endParaRPr>
          </a:p>
        </p:txBody>
      </p:sp>
      <p:sp>
        <p:nvSpPr>
          <p:cNvPr id="78" name="テキスト ボックス 77">
            <a:extLst>
              <a:ext uri="{FF2B5EF4-FFF2-40B4-BE49-F238E27FC236}">
                <a16:creationId xmlns:a16="http://schemas.microsoft.com/office/drawing/2014/main" id="{ACEDFDEB-B759-B656-7260-CA31A2AA1AF3}"/>
              </a:ext>
            </a:extLst>
          </p:cNvPr>
          <p:cNvSpPr txBox="1"/>
          <p:nvPr/>
        </p:nvSpPr>
        <p:spPr bwMode="gray">
          <a:xfrm>
            <a:off x="3408112" y="3196774"/>
            <a:ext cx="476685" cy="138499"/>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900" b="1">
                <a:solidFill>
                  <a:prstClr val="black"/>
                </a:solidFill>
                <a:latin typeface="+mn-ea"/>
                <a:ea typeface="+mn-ea"/>
                <a:cs typeface="Arial" charset="0"/>
              </a:rPr>
              <a:t>SD-JWT</a:t>
            </a:r>
            <a:endParaRPr lang="ja-JP" altLang="en-US" sz="900" b="1">
              <a:solidFill>
                <a:prstClr val="black"/>
              </a:solidFill>
              <a:latin typeface="+mn-ea"/>
              <a:ea typeface="+mn-ea"/>
              <a:cs typeface="Arial" charset="0"/>
            </a:endParaRPr>
          </a:p>
        </p:txBody>
      </p:sp>
      <p:sp>
        <p:nvSpPr>
          <p:cNvPr id="79" name="正方形/長方形 78">
            <a:extLst>
              <a:ext uri="{FF2B5EF4-FFF2-40B4-BE49-F238E27FC236}">
                <a16:creationId xmlns:a16="http://schemas.microsoft.com/office/drawing/2014/main" id="{ABEE9E24-53E7-0A08-01D4-0D1A36842C84}"/>
              </a:ext>
            </a:extLst>
          </p:cNvPr>
          <p:cNvSpPr/>
          <p:nvPr/>
        </p:nvSpPr>
        <p:spPr bwMode="gray">
          <a:xfrm>
            <a:off x="3038819" y="4881185"/>
            <a:ext cx="1136146" cy="825527"/>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900" b="0" i="0" u="none" strike="noStrike" kern="0" cap="none" spc="0" normalizeH="0" baseline="0" noProof="0">
              <a:ln>
                <a:noFill/>
              </a:ln>
              <a:solidFill>
                <a:prstClr val="black"/>
              </a:solidFill>
              <a:effectLst/>
              <a:uLnTx/>
              <a:uFillTx/>
              <a:latin typeface="+mn-ea"/>
              <a:ea typeface="+mn-ea"/>
              <a:cs typeface="+mn-cs"/>
            </a:endParaRPr>
          </a:p>
        </p:txBody>
      </p:sp>
      <p:sp>
        <p:nvSpPr>
          <p:cNvPr id="80" name="正方形/長方形 79">
            <a:extLst>
              <a:ext uri="{FF2B5EF4-FFF2-40B4-BE49-F238E27FC236}">
                <a16:creationId xmlns:a16="http://schemas.microsoft.com/office/drawing/2014/main" id="{0998AA47-8A2C-ECFD-CE03-EED93FA75430}"/>
              </a:ext>
            </a:extLst>
          </p:cNvPr>
          <p:cNvSpPr/>
          <p:nvPr/>
        </p:nvSpPr>
        <p:spPr bwMode="gray">
          <a:xfrm>
            <a:off x="3150071" y="4951769"/>
            <a:ext cx="921030" cy="309162"/>
          </a:xfrm>
          <a:prstGeom prst="rect">
            <a:avLst/>
          </a:prstGeom>
          <a:solidFill>
            <a:sysClr val="window" lastClr="FFFFFF">
              <a:lumMod val="8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C1, S1</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C3, S3</a:t>
            </a:r>
          </a:p>
        </p:txBody>
      </p:sp>
      <p:sp>
        <p:nvSpPr>
          <p:cNvPr id="81" name="テキスト ボックス 80">
            <a:extLst>
              <a:ext uri="{FF2B5EF4-FFF2-40B4-BE49-F238E27FC236}">
                <a16:creationId xmlns:a16="http://schemas.microsoft.com/office/drawing/2014/main" id="{E448A286-A250-39B3-4A80-0A0FF4FC4402}"/>
              </a:ext>
            </a:extLst>
          </p:cNvPr>
          <p:cNvSpPr txBox="1"/>
          <p:nvPr/>
        </p:nvSpPr>
        <p:spPr bwMode="gray">
          <a:xfrm>
            <a:off x="3300974" y="4681013"/>
            <a:ext cx="620740" cy="138499"/>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900" b="1">
                <a:solidFill>
                  <a:prstClr val="black"/>
                </a:solidFill>
                <a:latin typeface="+mn-ea"/>
                <a:ea typeface="+mn-ea"/>
                <a:cs typeface="Arial" charset="0"/>
              </a:rPr>
              <a:t>SD-JWT-R</a:t>
            </a:r>
            <a:endParaRPr lang="ja-JP" altLang="en-US" sz="900" b="1">
              <a:solidFill>
                <a:prstClr val="black"/>
              </a:solidFill>
              <a:latin typeface="+mn-ea"/>
              <a:ea typeface="+mn-ea"/>
              <a:cs typeface="Arial" charset="0"/>
            </a:endParaRPr>
          </a:p>
        </p:txBody>
      </p:sp>
      <p:sp>
        <p:nvSpPr>
          <p:cNvPr id="82" name="正方形/長方形 81">
            <a:extLst>
              <a:ext uri="{FF2B5EF4-FFF2-40B4-BE49-F238E27FC236}">
                <a16:creationId xmlns:a16="http://schemas.microsoft.com/office/drawing/2014/main" id="{F4AB904F-0097-5E47-1E93-BCD680188C6B}"/>
              </a:ext>
            </a:extLst>
          </p:cNvPr>
          <p:cNvSpPr/>
          <p:nvPr/>
        </p:nvSpPr>
        <p:spPr bwMode="gray">
          <a:xfrm>
            <a:off x="3150071" y="5359162"/>
            <a:ext cx="921030" cy="291713"/>
          </a:xfrm>
          <a:prstGeom prst="rect">
            <a:avLst/>
          </a:prstGeom>
          <a:solidFill>
            <a:srgbClr val="E3E48D"/>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a:solidFill>
                  <a:prstClr val="black"/>
                </a:solidFill>
                <a:latin typeface="+mn-ea"/>
                <a:ea typeface="+mn-ea"/>
                <a:cs typeface="Arial" charset="0"/>
              </a:rPr>
              <a:t>署名</a:t>
            </a:r>
            <a:r>
              <a:rPr lang="en-US" altLang="ja-JP" sz="900">
                <a:solidFill>
                  <a:prstClr val="black"/>
                </a:solidFill>
                <a:latin typeface="+mn-ea"/>
                <a:ea typeface="+mn-ea"/>
                <a:cs typeface="Arial" charset="0"/>
              </a:rPr>
              <a:t>(Holder)</a:t>
            </a:r>
            <a:endParaRPr lang="ja-JP" altLang="en-US" sz="900">
              <a:solidFill>
                <a:prstClr val="black"/>
              </a:solidFill>
              <a:latin typeface="+mn-ea"/>
              <a:ea typeface="+mn-ea"/>
              <a:cs typeface="Arial" charset="0"/>
            </a:endParaRPr>
          </a:p>
        </p:txBody>
      </p:sp>
      <p:cxnSp>
        <p:nvCxnSpPr>
          <p:cNvPr id="83" name="直線矢印コネクタ 82">
            <a:extLst>
              <a:ext uri="{FF2B5EF4-FFF2-40B4-BE49-F238E27FC236}">
                <a16:creationId xmlns:a16="http://schemas.microsoft.com/office/drawing/2014/main" id="{B2B81E77-4710-9060-8647-757B6017F265}"/>
              </a:ext>
            </a:extLst>
          </p:cNvPr>
          <p:cNvCxnSpPr>
            <a:cxnSpLocks/>
            <a:stCxn id="68" idx="3"/>
            <a:endCxn id="75" idx="1"/>
          </p:cNvCxnSpPr>
          <p:nvPr/>
        </p:nvCxnSpPr>
        <p:spPr bwMode="gray">
          <a:xfrm flipV="1">
            <a:off x="2540110" y="3996629"/>
            <a:ext cx="508449" cy="1"/>
          </a:xfrm>
          <a:prstGeom prst="straightConnector1">
            <a:avLst/>
          </a:prstGeom>
          <a:noFill/>
          <a:ln w="12700" cap="flat" cmpd="sng" algn="ctr">
            <a:solidFill>
              <a:srgbClr val="53565A"/>
            </a:solidFill>
            <a:prstDash val="solid"/>
            <a:tailEnd type="triangle"/>
          </a:ln>
          <a:effectLst/>
        </p:spPr>
      </p:cxnSp>
      <p:cxnSp>
        <p:nvCxnSpPr>
          <p:cNvPr id="84" name="直線矢印コネクタ 83">
            <a:extLst>
              <a:ext uri="{FF2B5EF4-FFF2-40B4-BE49-F238E27FC236}">
                <a16:creationId xmlns:a16="http://schemas.microsoft.com/office/drawing/2014/main" id="{63B69520-A4CC-887A-3335-D3B306DDED05}"/>
              </a:ext>
            </a:extLst>
          </p:cNvPr>
          <p:cNvCxnSpPr>
            <a:cxnSpLocks/>
            <a:stCxn id="73" idx="3"/>
          </p:cNvCxnSpPr>
          <p:nvPr/>
        </p:nvCxnSpPr>
        <p:spPr bwMode="gray">
          <a:xfrm flipV="1">
            <a:off x="2453082" y="5155482"/>
            <a:ext cx="696990" cy="126651"/>
          </a:xfrm>
          <a:prstGeom prst="straightConnector1">
            <a:avLst/>
          </a:prstGeom>
          <a:noFill/>
          <a:ln w="12700" cap="flat" cmpd="sng" algn="ctr">
            <a:solidFill>
              <a:srgbClr val="53565A"/>
            </a:solidFill>
            <a:prstDash val="solid"/>
            <a:tailEnd type="triangle"/>
          </a:ln>
          <a:effectLst/>
        </p:spPr>
      </p:cxnSp>
      <p:cxnSp>
        <p:nvCxnSpPr>
          <p:cNvPr id="85" name="直線矢印コネクタ 84">
            <a:extLst>
              <a:ext uri="{FF2B5EF4-FFF2-40B4-BE49-F238E27FC236}">
                <a16:creationId xmlns:a16="http://schemas.microsoft.com/office/drawing/2014/main" id="{C56A7458-C2C5-AFFF-57EA-6CACDD1B2E1F}"/>
              </a:ext>
            </a:extLst>
          </p:cNvPr>
          <p:cNvCxnSpPr>
            <a:cxnSpLocks/>
            <a:stCxn id="69" idx="2"/>
            <a:endCxn id="70" idx="0"/>
          </p:cNvCxnSpPr>
          <p:nvPr/>
        </p:nvCxnSpPr>
        <p:spPr bwMode="gray">
          <a:xfrm>
            <a:off x="1992567" y="4120724"/>
            <a:ext cx="0" cy="151418"/>
          </a:xfrm>
          <a:prstGeom prst="straightConnector1">
            <a:avLst/>
          </a:prstGeom>
          <a:noFill/>
          <a:ln w="12700" cap="flat" cmpd="sng" algn="ctr">
            <a:solidFill>
              <a:srgbClr val="53565A"/>
            </a:solidFill>
            <a:prstDash val="solid"/>
            <a:tailEnd type="triangle"/>
          </a:ln>
          <a:effectLst/>
        </p:spPr>
      </p:cxnSp>
      <p:cxnSp>
        <p:nvCxnSpPr>
          <p:cNvPr id="86" name="直線矢印コネクタ 85">
            <a:extLst>
              <a:ext uri="{FF2B5EF4-FFF2-40B4-BE49-F238E27FC236}">
                <a16:creationId xmlns:a16="http://schemas.microsoft.com/office/drawing/2014/main" id="{DAB91641-4315-7196-65C1-0FB577CB3316}"/>
              </a:ext>
            </a:extLst>
          </p:cNvPr>
          <p:cNvCxnSpPr>
            <a:cxnSpLocks/>
            <a:stCxn id="76" idx="2"/>
            <a:endCxn id="77" idx="0"/>
          </p:cNvCxnSpPr>
          <p:nvPr/>
        </p:nvCxnSpPr>
        <p:spPr bwMode="gray">
          <a:xfrm>
            <a:off x="3612210" y="4120723"/>
            <a:ext cx="0" cy="158036"/>
          </a:xfrm>
          <a:prstGeom prst="straightConnector1">
            <a:avLst/>
          </a:prstGeom>
          <a:noFill/>
          <a:ln w="12700" cap="flat" cmpd="sng" algn="ctr">
            <a:solidFill>
              <a:srgbClr val="53565A"/>
            </a:solidFill>
            <a:prstDash val="solid"/>
            <a:tailEnd type="triangle"/>
          </a:ln>
          <a:effectLst/>
        </p:spPr>
      </p:cxnSp>
      <p:cxnSp>
        <p:nvCxnSpPr>
          <p:cNvPr id="87" name="直線矢印コネクタ 86">
            <a:extLst>
              <a:ext uri="{FF2B5EF4-FFF2-40B4-BE49-F238E27FC236}">
                <a16:creationId xmlns:a16="http://schemas.microsoft.com/office/drawing/2014/main" id="{DCFD00D6-4590-E640-684A-7F25C0C91ED0}"/>
              </a:ext>
            </a:extLst>
          </p:cNvPr>
          <p:cNvCxnSpPr>
            <a:cxnSpLocks/>
            <a:stCxn id="80" idx="2"/>
            <a:endCxn id="82" idx="0"/>
          </p:cNvCxnSpPr>
          <p:nvPr/>
        </p:nvCxnSpPr>
        <p:spPr bwMode="gray">
          <a:xfrm>
            <a:off x="3610587" y="5260931"/>
            <a:ext cx="0" cy="98232"/>
          </a:xfrm>
          <a:prstGeom prst="straightConnector1">
            <a:avLst/>
          </a:prstGeom>
          <a:noFill/>
          <a:ln w="12700" cap="flat" cmpd="sng" algn="ctr">
            <a:solidFill>
              <a:srgbClr val="53565A"/>
            </a:solidFill>
            <a:prstDash val="solid"/>
            <a:tailEnd type="triangle"/>
          </a:ln>
          <a:effectLst/>
        </p:spPr>
      </p:cxnSp>
      <p:sp>
        <p:nvSpPr>
          <p:cNvPr id="88" name="正方形/長方形 87">
            <a:extLst>
              <a:ext uri="{FF2B5EF4-FFF2-40B4-BE49-F238E27FC236}">
                <a16:creationId xmlns:a16="http://schemas.microsoft.com/office/drawing/2014/main" id="{CE70A3BA-FFA0-2754-0E77-7F4ABDB8B277}"/>
              </a:ext>
            </a:extLst>
          </p:cNvPr>
          <p:cNvSpPr/>
          <p:nvPr/>
        </p:nvSpPr>
        <p:spPr bwMode="gray">
          <a:xfrm>
            <a:off x="5993700" y="3434455"/>
            <a:ext cx="1082601" cy="2148550"/>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900" b="0" i="0" u="none" strike="noStrike" kern="0" cap="none" spc="0" normalizeH="0" baseline="0" noProof="0">
              <a:ln>
                <a:noFill/>
              </a:ln>
              <a:solidFill>
                <a:prstClr val="black"/>
              </a:solidFill>
              <a:effectLst/>
              <a:uLnTx/>
              <a:uFillTx/>
              <a:latin typeface="+mn-ea"/>
              <a:ea typeface="+mn-ea"/>
              <a:cs typeface="+mn-cs"/>
            </a:endParaRPr>
          </a:p>
        </p:txBody>
      </p:sp>
      <p:sp>
        <p:nvSpPr>
          <p:cNvPr id="89" name="正方形/長方形 88">
            <a:extLst>
              <a:ext uri="{FF2B5EF4-FFF2-40B4-BE49-F238E27FC236}">
                <a16:creationId xmlns:a16="http://schemas.microsoft.com/office/drawing/2014/main" id="{7B1ACC87-D031-F723-C766-C02D95F35105}"/>
              </a:ext>
            </a:extLst>
          </p:cNvPr>
          <p:cNvSpPr/>
          <p:nvPr/>
        </p:nvSpPr>
        <p:spPr bwMode="gray">
          <a:xfrm>
            <a:off x="6069263" y="4427047"/>
            <a:ext cx="921030" cy="410503"/>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a:solidFill>
                  <a:prstClr val="black"/>
                </a:solidFill>
                <a:latin typeface="+mn-ea"/>
                <a:ea typeface="+mn-ea"/>
                <a:cs typeface="Arial" charset="0"/>
              </a:rPr>
              <a:t>署名</a:t>
            </a:r>
            <a:r>
              <a:rPr lang="en-US" altLang="ja-JP" sz="900">
                <a:solidFill>
                  <a:prstClr val="black"/>
                </a:solidFill>
                <a:latin typeface="+mn-ea"/>
                <a:ea typeface="+mn-ea"/>
                <a:cs typeface="Arial" charset="0"/>
              </a:rPr>
              <a:t>(Issuer)</a:t>
            </a:r>
            <a:endParaRPr lang="ja-JP" altLang="en-US" sz="900">
              <a:solidFill>
                <a:prstClr val="black"/>
              </a:solidFill>
              <a:latin typeface="+mn-ea"/>
              <a:ea typeface="+mn-ea"/>
              <a:cs typeface="Arial" charset="0"/>
            </a:endParaRPr>
          </a:p>
        </p:txBody>
      </p:sp>
      <p:cxnSp>
        <p:nvCxnSpPr>
          <p:cNvPr id="90" name="直線矢印コネクタ 89">
            <a:extLst>
              <a:ext uri="{FF2B5EF4-FFF2-40B4-BE49-F238E27FC236}">
                <a16:creationId xmlns:a16="http://schemas.microsoft.com/office/drawing/2014/main" id="{26AF4280-6EA5-BB8F-45A3-EAF04EDF62E0}"/>
              </a:ext>
            </a:extLst>
          </p:cNvPr>
          <p:cNvCxnSpPr>
            <a:cxnSpLocks/>
            <a:stCxn id="91" idx="2"/>
            <a:endCxn id="89" idx="0"/>
          </p:cNvCxnSpPr>
          <p:nvPr/>
        </p:nvCxnSpPr>
        <p:spPr bwMode="gray">
          <a:xfrm>
            <a:off x="6529779" y="4278759"/>
            <a:ext cx="0" cy="148288"/>
          </a:xfrm>
          <a:prstGeom prst="straightConnector1">
            <a:avLst/>
          </a:prstGeom>
          <a:noFill/>
          <a:ln w="12700" cap="flat" cmpd="sng" algn="ctr">
            <a:solidFill>
              <a:srgbClr val="53565A"/>
            </a:solidFill>
            <a:prstDash val="solid"/>
            <a:tailEnd type="triangle"/>
          </a:ln>
          <a:effectLst/>
        </p:spPr>
      </p:cxnSp>
      <p:sp>
        <p:nvSpPr>
          <p:cNvPr id="91" name="正方形/長方形 90">
            <a:extLst>
              <a:ext uri="{FF2B5EF4-FFF2-40B4-BE49-F238E27FC236}">
                <a16:creationId xmlns:a16="http://schemas.microsoft.com/office/drawing/2014/main" id="{CA9BA336-DD99-CFA0-C4D0-71A7A7A4DBB5}"/>
              </a:ext>
            </a:extLst>
          </p:cNvPr>
          <p:cNvSpPr/>
          <p:nvPr/>
        </p:nvSpPr>
        <p:spPr bwMode="gray">
          <a:xfrm>
            <a:off x="6069263" y="3525004"/>
            <a:ext cx="921030" cy="753755"/>
          </a:xfrm>
          <a:prstGeom prst="rect">
            <a:avLst/>
          </a:prstGeom>
          <a:solidFill>
            <a:sysClr val="window" lastClr="FFFFFF">
              <a:lumMod val="8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@context +C1</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@context + C2</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@context + C3</a:t>
            </a:r>
            <a:endParaRPr kumimoji="0" lang="ja-JP" altLang="en-US" sz="900" b="0" i="0" u="none" strike="noStrike" kern="0" cap="none" spc="0" normalizeH="0" baseline="0" noProof="0">
              <a:ln>
                <a:noFill/>
              </a:ln>
              <a:solidFill>
                <a:prstClr val="black"/>
              </a:solidFill>
              <a:effectLst/>
              <a:uLnTx/>
              <a:uFillTx/>
              <a:latin typeface="+mn-ea"/>
              <a:ea typeface="+mn-ea"/>
              <a:cs typeface="Arial" charset="0"/>
            </a:endParaRPr>
          </a:p>
        </p:txBody>
      </p:sp>
      <p:sp>
        <p:nvSpPr>
          <p:cNvPr id="92" name="正方形/長方形 91">
            <a:extLst>
              <a:ext uri="{FF2B5EF4-FFF2-40B4-BE49-F238E27FC236}">
                <a16:creationId xmlns:a16="http://schemas.microsoft.com/office/drawing/2014/main" id="{317E80E8-7B0E-4A9F-94FE-0BD421CA8FA2}"/>
              </a:ext>
            </a:extLst>
          </p:cNvPr>
          <p:cNvSpPr/>
          <p:nvPr/>
        </p:nvSpPr>
        <p:spPr bwMode="gray">
          <a:xfrm>
            <a:off x="7587504" y="3434455"/>
            <a:ext cx="1140652" cy="2148550"/>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900" b="0" i="0" u="none" strike="noStrike" kern="0" cap="none" spc="0" normalizeH="0" baseline="0" noProof="0">
              <a:ln>
                <a:noFill/>
              </a:ln>
              <a:solidFill>
                <a:prstClr val="black"/>
              </a:solidFill>
              <a:effectLst/>
              <a:uLnTx/>
              <a:uFillTx/>
              <a:latin typeface="+mn-ea"/>
              <a:ea typeface="+mn-ea"/>
              <a:cs typeface="+mn-cs"/>
            </a:endParaRPr>
          </a:p>
        </p:txBody>
      </p:sp>
      <p:sp>
        <p:nvSpPr>
          <p:cNvPr id="93" name="正方形/長方形 92">
            <a:extLst>
              <a:ext uri="{FF2B5EF4-FFF2-40B4-BE49-F238E27FC236}">
                <a16:creationId xmlns:a16="http://schemas.microsoft.com/office/drawing/2014/main" id="{CCAC98FD-D613-EAAC-7EE3-A0E3B8765C72}"/>
              </a:ext>
            </a:extLst>
          </p:cNvPr>
          <p:cNvSpPr/>
          <p:nvPr/>
        </p:nvSpPr>
        <p:spPr bwMode="gray">
          <a:xfrm>
            <a:off x="7702028" y="3517276"/>
            <a:ext cx="921030" cy="753755"/>
          </a:xfrm>
          <a:prstGeom prst="rect">
            <a:avLst/>
          </a:prstGeom>
          <a:solidFill>
            <a:sysClr val="window" lastClr="FFFFFF">
              <a:lumMod val="8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@context</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C1</a:t>
            </a:r>
          </a:p>
        </p:txBody>
      </p:sp>
      <p:sp>
        <p:nvSpPr>
          <p:cNvPr id="94" name="正方形/長方形 93">
            <a:extLst>
              <a:ext uri="{FF2B5EF4-FFF2-40B4-BE49-F238E27FC236}">
                <a16:creationId xmlns:a16="http://schemas.microsoft.com/office/drawing/2014/main" id="{39A2BA4F-6B7E-F0A5-851B-5920FA0C5DC7}"/>
              </a:ext>
            </a:extLst>
          </p:cNvPr>
          <p:cNvSpPr/>
          <p:nvPr/>
        </p:nvSpPr>
        <p:spPr bwMode="gray">
          <a:xfrm>
            <a:off x="7702028" y="4413087"/>
            <a:ext cx="921030" cy="410503"/>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900" dirty="0">
                <a:latin typeface="+mn-ea"/>
                <a:ea typeface="+mn-ea"/>
                <a:cs typeface="Arial" charset="0"/>
              </a:rPr>
              <a:t>Holder</a:t>
            </a:r>
            <a:r>
              <a:rPr lang="ja-JP" altLang="en-US" sz="900" dirty="0">
                <a:latin typeface="+mn-ea"/>
                <a:ea typeface="+mn-ea"/>
                <a:cs typeface="Arial" charset="0"/>
              </a:rPr>
              <a:t>により</a:t>
            </a:r>
            <a:endParaRPr lang="en-US" altLang="ja-JP" sz="900" dirty="0">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900" dirty="0">
                <a:latin typeface="+mn-ea"/>
                <a:ea typeface="+mn-ea"/>
                <a:cs typeface="Arial" charset="0"/>
              </a:rPr>
              <a:t>創出された</a:t>
            </a:r>
            <a:endParaRPr lang="en-US" altLang="ja-JP" sz="900" dirty="0">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900" dirty="0">
                <a:latin typeface="+mn-ea"/>
                <a:ea typeface="+mn-ea"/>
                <a:cs typeface="Arial" charset="0"/>
              </a:rPr>
              <a:t>署名</a:t>
            </a:r>
            <a:r>
              <a:rPr lang="en-US" altLang="ja-JP" sz="900" dirty="0">
                <a:latin typeface="+mn-ea"/>
                <a:ea typeface="+mn-ea"/>
                <a:cs typeface="Arial" charset="0"/>
              </a:rPr>
              <a:t>(Issuer)</a:t>
            </a:r>
            <a:r>
              <a:rPr lang="ja-JP" altLang="en-US" sz="900" dirty="0">
                <a:latin typeface="+mn-ea"/>
                <a:ea typeface="+mn-ea"/>
                <a:cs typeface="Arial" charset="0"/>
              </a:rPr>
              <a:t>‘</a:t>
            </a:r>
            <a:endParaRPr lang="en-US" altLang="ja-JP" sz="900" dirty="0">
              <a:latin typeface="+mn-ea"/>
              <a:ea typeface="+mn-ea"/>
              <a:cs typeface="Arial" charset="0"/>
            </a:endParaRPr>
          </a:p>
        </p:txBody>
      </p:sp>
      <p:cxnSp>
        <p:nvCxnSpPr>
          <p:cNvPr id="95" name="直線矢印コネクタ 94">
            <a:extLst>
              <a:ext uri="{FF2B5EF4-FFF2-40B4-BE49-F238E27FC236}">
                <a16:creationId xmlns:a16="http://schemas.microsoft.com/office/drawing/2014/main" id="{3881DCD4-A3AE-F9EB-BDBB-762E649502B6}"/>
              </a:ext>
            </a:extLst>
          </p:cNvPr>
          <p:cNvCxnSpPr>
            <a:cxnSpLocks/>
            <a:stCxn id="91" idx="3"/>
            <a:endCxn id="93" idx="1"/>
          </p:cNvCxnSpPr>
          <p:nvPr/>
        </p:nvCxnSpPr>
        <p:spPr bwMode="gray">
          <a:xfrm flipV="1">
            <a:off x="6990295" y="3894153"/>
            <a:ext cx="711734" cy="7729"/>
          </a:xfrm>
          <a:prstGeom prst="straightConnector1">
            <a:avLst/>
          </a:prstGeom>
          <a:noFill/>
          <a:ln w="12700" cap="flat" cmpd="sng" algn="ctr">
            <a:solidFill>
              <a:srgbClr val="53565A"/>
            </a:solidFill>
            <a:prstDash val="solid"/>
            <a:tailEnd type="triangle"/>
          </a:ln>
          <a:effectLst/>
        </p:spPr>
      </p:cxnSp>
      <p:sp>
        <p:nvSpPr>
          <p:cNvPr id="97" name="テキスト ボックス 96">
            <a:extLst>
              <a:ext uri="{FF2B5EF4-FFF2-40B4-BE49-F238E27FC236}">
                <a16:creationId xmlns:a16="http://schemas.microsoft.com/office/drawing/2014/main" id="{961E62BA-B6F7-B9B0-50DE-051D00892531}"/>
              </a:ext>
            </a:extLst>
          </p:cNvPr>
          <p:cNvSpPr txBox="1"/>
          <p:nvPr/>
        </p:nvSpPr>
        <p:spPr bwMode="gray">
          <a:xfrm>
            <a:off x="6283800" y="3224843"/>
            <a:ext cx="792500" cy="138499"/>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900" b="1">
                <a:solidFill>
                  <a:prstClr val="black"/>
                </a:solidFill>
                <a:latin typeface="+mn-ea"/>
                <a:ea typeface="+mn-ea"/>
                <a:cs typeface="Arial" charset="0"/>
              </a:rPr>
              <a:t>JSON-LD</a:t>
            </a:r>
          </a:p>
        </p:txBody>
      </p:sp>
      <p:sp>
        <p:nvSpPr>
          <p:cNvPr id="98" name="テキスト ボックス 97">
            <a:extLst>
              <a:ext uri="{FF2B5EF4-FFF2-40B4-BE49-F238E27FC236}">
                <a16:creationId xmlns:a16="http://schemas.microsoft.com/office/drawing/2014/main" id="{3003E869-B9FA-835C-9784-A499D300A3BC}"/>
              </a:ext>
            </a:extLst>
          </p:cNvPr>
          <p:cNvSpPr txBox="1"/>
          <p:nvPr/>
        </p:nvSpPr>
        <p:spPr bwMode="gray">
          <a:xfrm>
            <a:off x="7884157" y="3224843"/>
            <a:ext cx="792500" cy="138499"/>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900" b="1">
                <a:solidFill>
                  <a:prstClr val="black"/>
                </a:solidFill>
                <a:latin typeface="+mn-ea"/>
                <a:ea typeface="+mn-ea"/>
                <a:cs typeface="Arial" charset="0"/>
              </a:rPr>
              <a:t>JSON-LD</a:t>
            </a:r>
          </a:p>
        </p:txBody>
      </p:sp>
      <p:cxnSp>
        <p:nvCxnSpPr>
          <p:cNvPr id="99" name="直線矢印コネクタ 98">
            <a:extLst>
              <a:ext uri="{FF2B5EF4-FFF2-40B4-BE49-F238E27FC236}">
                <a16:creationId xmlns:a16="http://schemas.microsoft.com/office/drawing/2014/main" id="{377EE90B-EF78-F46E-BEF3-416E76BD0929}"/>
              </a:ext>
            </a:extLst>
          </p:cNvPr>
          <p:cNvCxnSpPr>
            <a:cxnSpLocks/>
            <a:stCxn id="93" idx="2"/>
            <a:endCxn id="94" idx="0"/>
          </p:cNvCxnSpPr>
          <p:nvPr/>
        </p:nvCxnSpPr>
        <p:spPr bwMode="gray">
          <a:xfrm>
            <a:off x="8162544" y="4271031"/>
            <a:ext cx="0" cy="142057"/>
          </a:xfrm>
          <a:prstGeom prst="straightConnector1">
            <a:avLst/>
          </a:prstGeom>
          <a:noFill/>
          <a:ln w="12700" cap="flat" cmpd="sng" algn="ctr">
            <a:solidFill>
              <a:srgbClr val="53565A"/>
            </a:solidFill>
            <a:prstDash val="solid"/>
            <a:tailEnd type="triangle"/>
          </a:ln>
          <a:effectLst/>
        </p:spPr>
      </p:cxnSp>
      <p:sp>
        <p:nvSpPr>
          <p:cNvPr id="100" name="正方形/長方形 99">
            <a:extLst>
              <a:ext uri="{FF2B5EF4-FFF2-40B4-BE49-F238E27FC236}">
                <a16:creationId xmlns:a16="http://schemas.microsoft.com/office/drawing/2014/main" id="{8B95102E-432D-E271-C080-1AA53DFAC315}"/>
              </a:ext>
            </a:extLst>
          </p:cNvPr>
          <p:cNvSpPr/>
          <p:nvPr/>
        </p:nvSpPr>
        <p:spPr bwMode="gray">
          <a:xfrm>
            <a:off x="7702028" y="4919685"/>
            <a:ext cx="921030" cy="410503"/>
          </a:xfrm>
          <a:prstGeom prst="rect">
            <a:avLst/>
          </a:prstGeom>
          <a:solidFill>
            <a:srgbClr val="E3E48D"/>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a:solidFill>
                  <a:prstClr val="black"/>
                </a:solidFill>
                <a:latin typeface="+mn-ea"/>
                <a:ea typeface="+mn-ea"/>
                <a:cs typeface="Arial" charset="0"/>
              </a:rPr>
              <a:t>署名</a:t>
            </a:r>
            <a:r>
              <a:rPr lang="en-US" altLang="ja-JP" sz="900">
                <a:solidFill>
                  <a:prstClr val="black"/>
                </a:solidFill>
                <a:latin typeface="+mn-ea"/>
                <a:ea typeface="+mn-ea"/>
                <a:cs typeface="Arial" charset="0"/>
              </a:rPr>
              <a:t>(Holder)</a:t>
            </a:r>
            <a:endParaRPr lang="ja-JP" altLang="en-US" sz="900">
              <a:solidFill>
                <a:prstClr val="black"/>
              </a:solidFill>
              <a:latin typeface="+mn-ea"/>
              <a:ea typeface="+mn-ea"/>
              <a:cs typeface="Arial" charset="0"/>
            </a:endParaRPr>
          </a:p>
        </p:txBody>
      </p:sp>
      <p:sp>
        <p:nvSpPr>
          <p:cNvPr id="101" name="正方形/長方形 100">
            <a:extLst>
              <a:ext uri="{FF2B5EF4-FFF2-40B4-BE49-F238E27FC236}">
                <a16:creationId xmlns:a16="http://schemas.microsoft.com/office/drawing/2014/main" id="{FCB7E976-DC4C-658B-FB23-109DB2395534}"/>
              </a:ext>
            </a:extLst>
          </p:cNvPr>
          <p:cNvSpPr/>
          <p:nvPr/>
        </p:nvSpPr>
        <p:spPr bwMode="gray">
          <a:xfrm>
            <a:off x="684951" y="2719515"/>
            <a:ext cx="788662" cy="306588"/>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Issuer</a:t>
            </a:r>
            <a:endParaRPr lang="ja-JP" altLang="en-US" sz="1200">
              <a:solidFill>
                <a:prstClr val="black"/>
              </a:solidFill>
              <a:latin typeface="+mn-ea"/>
              <a:ea typeface="+mn-ea"/>
              <a:cs typeface="Arial" charset="0"/>
            </a:endParaRPr>
          </a:p>
        </p:txBody>
      </p:sp>
      <p:sp>
        <p:nvSpPr>
          <p:cNvPr id="102" name="正方形/長方形 101">
            <a:extLst>
              <a:ext uri="{FF2B5EF4-FFF2-40B4-BE49-F238E27FC236}">
                <a16:creationId xmlns:a16="http://schemas.microsoft.com/office/drawing/2014/main" id="{59C02AD7-8262-4D45-3C53-FA8C61AE7333}"/>
              </a:ext>
            </a:extLst>
          </p:cNvPr>
          <p:cNvSpPr/>
          <p:nvPr/>
        </p:nvSpPr>
        <p:spPr bwMode="gray">
          <a:xfrm>
            <a:off x="2415555" y="2719515"/>
            <a:ext cx="788662" cy="306588"/>
          </a:xfrm>
          <a:prstGeom prst="rect">
            <a:avLst/>
          </a:prstGeom>
          <a:solidFill>
            <a:srgbClr val="E3E48D"/>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Holder</a:t>
            </a:r>
            <a:endParaRPr lang="ja-JP" altLang="en-US" sz="1200">
              <a:solidFill>
                <a:prstClr val="black"/>
              </a:solidFill>
              <a:latin typeface="+mn-ea"/>
              <a:ea typeface="+mn-ea"/>
              <a:cs typeface="Arial" charset="0"/>
            </a:endParaRPr>
          </a:p>
        </p:txBody>
      </p:sp>
      <p:sp>
        <p:nvSpPr>
          <p:cNvPr id="103" name="正方形/長方形 102">
            <a:extLst>
              <a:ext uri="{FF2B5EF4-FFF2-40B4-BE49-F238E27FC236}">
                <a16:creationId xmlns:a16="http://schemas.microsoft.com/office/drawing/2014/main" id="{E4D5FBFE-DDD0-AB40-7E05-94A5E8E2D03C}"/>
              </a:ext>
            </a:extLst>
          </p:cNvPr>
          <p:cNvSpPr/>
          <p:nvPr/>
        </p:nvSpPr>
        <p:spPr bwMode="gray">
          <a:xfrm>
            <a:off x="4146158" y="2719515"/>
            <a:ext cx="788662" cy="30658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Verifier</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04" name="テキスト ボックス 103">
            <a:extLst>
              <a:ext uri="{FF2B5EF4-FFF2-40B4-BE49-F238E27FC236}">
                <a16:creationId xmlns:a16="http://schemas.microsoft.com/office/drawing/2014/main" id="{54D69910-4FB7-103B-B4DA-2D68B4D5C07E}"/>
              </a:ext>
            </a:extLst>
          </p:cNvPr>
          <p:cNvSpPr txBox="1"/>
          <p:nvPr/>
        </p:nvSpPr>
        <p:spPr bwMode="gray">
          <a:xfrm>
            <a:off x="598403" y="3581917"/>
            <a:ext cx="736100" cy="369332"/>
          </a:xfrm>
          <a:prstGeom prst="rect">
            <a:avLst/>
          </a:prstGeom>
          <a:noFill/>
        </p:spPr>
        <p:txBody>
          <a:bodyPr wrap="none">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分割単位に</a:t>
            </a:r>
            <a:endParaRPr lang="en-US" altLang="ja-JP" sz="900" u="sng">
              <a:solidFill>
                <a:prstClr val="black"/>
              </a:solidFill>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ハッシュ化</a:t>
            </a:r>
          </a:p>
        </p:txBody>
      </p:sp>
      <p:cxnSp>
        <p:nvCxnSpPr>
          <p:cNvPr id="105" name="直線コネクタ 104">
            <a:extLst>
              <a:ext uri="{FF2B5EF4-FFF2-40B4-BE49-F238E27FC236}">
                <a16:creationId xmlns:a16="http://schemas.microsoft.com/office/drawing/2014/main" id="{9EDA577D-0147-9F01-49C7-016EBE44CAB9}"/>
              </a:ext>
            </a:extLst>
          </p:cNvPr>
          <p:cNvCxnSpPr>
            <a:stCxn id="104" idx="3"/>
            <a:endCxn id="69" idx="1"/>
          </p:cNvCxnSpPr>
          <p:nvPr/>
        </p:nvCxnSpPr>
        <p:spPr bwMode="gray">
          <a:xfrm>
            <a:off x="1334503" y="3766583"/>
            <a:ext cx="197548" cy="27529"/>
          </a:xfrm>
          <a:prstGeom prst="line">
            <a:avLst/>
          </a:prstGeom>
          <a:noFill/>
          <a:ln w="12700" cap="flat" cmpd="sng" algn="ctr">
            <a:solidFill>
              <a:srgbClr val="53565A"/>
            </a:solidFill>
            <a:prstDash val="solid"/>
          </a:ln>
          <a:effectLst/>
        </p:spPr>
      </p:cxnSp>
      <p:sp>
        <p:nvSpPr>
          <p:cNvPr id="106" name="テキスト ボックス 105">
            <a:extLst>
              <a:ext uri="{FF2B5EF4-FFF2-40B4-BE49-F238E27FC236}">
                <a16:creationId xmlns:a16="http://schemas.microsoft.com/office/drawing/2014/main" id="{AE6C6400-CF98-D584-7FA0-BA1F14567E7E}"/>
              </a:ext>
            </a:extLst>
          </p:cNvPr>
          <p:cNvSpPr txBox="1"/>
          <p:nvPr/>
        </p:nvSpPr>
        <p:spPr bwMode="gray">
          <a:xfrm>
            <a:off x="562016" y="4977569"/>
            <a:ext cx="779381" cy="369332"/>
          </a:xfrm>
          <a:prstGeom prst="rect">
            <a:avLst/>
          </a:prstGeom>
          <a:noFill/>
        </p:spPr>
        <p:txBody>
          <a:bodyPr wrap="none">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元データを</a:t>
            </a:r>
            <a:endParaRPr lang="en-US" altLang="ja-JP" sz="900" u="sng">
              <a:solidFill>
                <a:prstClr val="black"/>
              </a:solidFill>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別に切り出し</a:t>
            </a:r>
          </a:p>
        </p:txBody>
      </p:sp>
      <p:cxnSp>
        <p:nvCxnSpPr>
          <p:cNvPr id="107" name="直線コネクタ 106">
            <a:extLst>
              <a:ext uri="{FF2B5EF4-FFF2-40B4-BE49-F238E27FC236}">
                <a16:creationId xmlns:a16="http://schemas.microsoft.com/office/drawing/2014/main" id="{8B3FB6D0-4013-B9B8-3E1A-D17F4168CEDD}"/>
              </a:ext>
            </a:extLst>
          </p:cNvPr>
          <p:cNvCxnSpPr>
            <a:cxnSpLocks/>
            <a:stCxn id="106" idx="3"/>
            <a:endCxn id="73" idx="1"/>
          </p:cNvCxnSpPr>
          <p:nvPr/>
        </p:nvCxnSpPr>
        <p:spPr bwMode="gray">
          <a:xfrm>
            <a:off x="1341397" y="5162235"/>
            <a:ext cx="190654" cy="119898"/>
          </a:xfrm>
          <a:prstGeom prst="line">
            <a:avLst/>
          </a:prstGeom>
          <a:noFill/>
          <a:ln w="12700" cap="flat" cmpd="sng" algn="ctr">
            <a:solidFill>
              <a:srgbClr val="53565A"/>
            </a:solidFill>
            <a:prstDash val="solid"/>
          </a:ln>
          <a:effectLst/>
        </p:spPr>
      </p:cxnSp>
      <p:sp>
        <p:nvSpPr>
          <p:cNvPr id="108" name="四角形: メモ 107">
            <a:extLst>
              <a:ext uri="{FF2B5EF4-FFF2-40B4-BE49-F238E27FC236}">
                <a16:creationId xmlns:a16="http://schemas.microsoft.com/office/drawing/2014/main" id="{7B8A438E-6B3E-E64F-A9F7-D44613455F03}"/>
              </a:ext>
            </a:extLst>
          </p:cNvPr>
          <p:cNvSpPr/>
          <p:nvPr/>
        </p:nvSpPr>
        <p:spPr bwMode="gray">
          <a:xfrm>
            <a:off x="1696172" y="2722121"/>
            <a:ext cx="496823" cy="309145"/>
          </a:xfrm>
          <a:prstGeom prst="foldedCorner">
            <a:avLst/>
          </a:prstGeom>
          <a:solidFill>
            <a:srgbClr val="86BC25">
              <a:lumMod val="20000"/>
              <a:lumOff val="80000"/>
            </a:srgbClr>
          </a:solidFill>
          <a:ln w="31750" algn="ctr">
            <a:solidFill>
              <a:srgbClr val="86BC25"/>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VC</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09" name="テキスト ボックス 108">
            <a:extLst>
              <a:ext uri="{FF2B5EF4-FFF2-40B4-BE49-F238E27FC236}">
                <a16:creationId xmlns:a16="http://schemas.microsoft.com/office/drawing/2014/main" id="{BD69E8D1-C7C7-30D4-2AFC-3707959E586A}"/>
              </a:ext>
            </a:extLst>
          </p:cNvPr>
          <p:cNvSpPr txBox="1"/>
          <p:nvPr/>
        </p:nvSpPr>
        <p:spPr bwMode="gray">
          <a:xfrm>
            <a:off x="4215764" y="4947752"/>
            <a:ext cx="891591" cy="369332"/>
          </a:xfrm>
          <a:prstGeom prst="rect">
            <a:avLst/>
          </a:prstGeom>
          <a:noFill/>
        </p:spPr>
        <p:txBody>
          <a:bodyPr wrap="none">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開示項目のみ</a:t>
            </a:r>
            <a:endParaRPr lang="en-US" altLang="ja-JP" sz="900" u="sng">
              <a:solidFill>
                <a:prstClr val="black"/>
              </a:solidFill>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切り出して署名</a:t>
            </a:r>
          </a:p>
        </p:txBody>
      </p:sp>
      <p:cxnSp>
        <p:nvCxnSpPr>
          <p:cNvPr id="110" name="直線コネクタ 109">
            <a:extLst>
              <a:ext uri="{FF2B5EF4-FFF2-40B4-BE49-F238E27FC236}">
                <a16:creationId xmlns:a16="http://schemas.microsoft.com/office/drawing/2014/main" id="{9C6FF372-ABDC-D3C0-EDDA-FF319A44C9A2}"/>
              </a:ext>
            </a:extLst>
          </p:cNvPr>
          <p:cNvCxnSpPr>
            <a:cxnSpLocks/>
            <a:stCxn id="79" idx="3"/>
            <a:endCxn id="109" idx="1"/>
          </p:cNvCxnSpPr>
          <p:nvPr/>
        </p:nvCxnSpPr>
        <p:spPr bwMode="gray">
          <a:xfrm flipV="1">
            <a:off x="4174965" y="5132418"/>
            <a:ext cx="40799" cy="161531"/>
          </a:xfrm>
          <a:prstGeom prst="line">
            <a:avLst/>
          </a:prstGeom>
          <a:noFill/>
          <a:ln w="12700" cap="flat" cmpd="sng" algn="ctr">
            <a:solidFill>
              <a:srgbClr val="53565A"/>
            </a:solidFill>
            <a:prstDash val="solid"/>
          </a:ln>
          <a:effectLst/>
        </p:spPr>
      </p:cxnSp>
      <p:cxnSp>
        <p:nvCxnSpPr>
          <p:cNvPr id="111" name="直線矢印コネクタ 110">
            <a:extLst>
              <a:ext uri="{FF2B5EF4-FFF2-40B4-BE49-F238E27FC236}">
                <a16:creationId xmlns:a16="http://schemas.microsoft.com/office/drawing/2014/main" id="{05D0D9A1-D94F-582C-EDF8-10B0AD64400D}"/>
              </a:ext>
            </a:extLst>
          </p:cNvPr>
          <p:cNvCxnSpPr>
            <a:cxnSpLocks/>
            <a:stCxn id="112" idx="3"/>
            <a:endCxn id="113" idx="1"/>
          </p:cNvCxnSpPr>
          <p:nvPr/>
        </p:nvCxnSpPr>
        <p:spPr bwMode="gray">
          <a:xfrm>
            <a:off x="6023752" y="2872809"/>
            <a:ext cx="941943" cy="0"/>
          </a:xfrm>
          <a:prstGeom prst="straightConnector1">
            <a:avLst/>
          </a:prstGeom>
          <a:noFill/>
          <a:ln w="12700" cap="flat" cmpd="sng" algn="ctr">
            <a:solidFill>
              <a:srgbClr val="53565A"/>
            </a:solidFill>
            <a:prstDash val="solid"/>
            <a:tailEnd type="triangle"/>
          </a:ln>
          <a:effectLst/>
        </p:spPr>
      </p:cxnSp>
      <p:sp>
        <p:nvSpPr>
          <p:cNvPr id="112" name="正方形/長方形 111">
            <a:extLst>
              <a:ext uri="{FF2B5EF4-FFF2-40B4-BE49-F238E27FC236}">
                <a16:creationId xmlns:a16="http://schemas.microsoft.com/office/drawing/2014/main" id="{F97FA1A2-FFBE-0E12-44E7-3DDEA07229DF}"/>
              </a:ext>
            </a:extLst>
          </p:cNvPr>
          <p:cNvSpPr/>
          <p:nvPr/>
        </p:nvSpPr>
        <p:spPr bwMode="gray">
          <a:xfrm>
            <a:off x="5235090" y="2719515"/>
            <a:ext cx="788662" cy="306588"/>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Issuer</a:t>
            </a:r>
            <a:endParaRPr lang="ja-JP" altLang="en-US" sz="1200">
              <a:solidFill>
                <a:prstClr val="black"/>
              </a:solidFill>
              <a:latin typeface="+mn-ea"/>
              <a:ea typeface="+mn-ea"/>
              <a:cs typeface="Arial" charset="0"/>
            </a:endParaRPr>
          </a:p>
        </p:txBody>
      </p:sp>
      <p:sp>
        <p:nvSpPr>
          <p:cNvPr id="113" name="正方形/長方形 112">
            <a:extLst>
              <a:ext uri="{FF2B5EF4-FFF2-40B4-BE49-F238E27FC236}">
                <a16:creationId xmlns:a16="http://schemas.microsoft.com/office/drawing/2014/main" id="{6A54D86F-0355-DD52-214D-58A9D1607E2A}"/>
              </a:ext>
            </a:extLst>
          </p:cNvPr>
          <p:cNvSpPr/>
          <p:nvPr/>
        </p:nvSpPr>
        <p:spPr bwMode="gray">
          <a:xfrm>
            <a:off x="6965695" y="2719515"/>
            <a:ext cx="788662" cy="306588"/>
          </a:xfrm>
          <a:prstGeom prst="rect">
            <a:avLst/>
          </a:prstGeom>
          <a:solidFill>
            <a:srgbClr val="E3E48D"/>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Holder</a:t>
            </a:r>
            <a:endParaRPr lang="ja-JP" altLang="en-US" sz="1200">
              <a:solidFill>
                <a:prstClr val="black"/>
              </a:solidFill>
              <a:latin typeface="+mn-ea"/>
              <a:ea typeface="+mn-ea"/>
              <a:cs typeface="Arial" charset="0"/>
            </a:endParaRPr>
          </a:p>
        </p:txBody>
      </p:sp>
      <p:sp>
        <p:nvSpPr>
          <p:cNvPr id="114" name="正方形/長方形 113">
            <a:extLst>
              <a:ext uri="{FF2B5EF4-FFF2-40B4-BE49-F238E27FC236}">
                <a16:creationId xmlns:a16="http://schemas.microsoft.com/office/drawing/2014/main" id="{C42DEFF1-74B8-6CA5-40AC-6DD4D52D2A3A}"/>
              </a:ext>
            </a:extLst>
          </p:cNvPr>
          <p:cNvSpPr/>
          <p:nvPr/>
        </p:nvSpPr>
        <p:spPr bwMode="gray">
          <a:xfrm>
            <a:off x="8696298" y="2719515"/>
            <a:ext cx="788662" cy="30658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Verifier</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15" name="四角形: メモ 114">
            <a:extLst>
              <a:ext uri="{FF2B5EF4-FFF2-40B4-BE49-F238E27FC236}">
                <a16:creationId xmlns:a16="http://schemas.microsoft.com/office/drawing/2014/main" id="{8174F027-5098-EFD6-38E9-AED0DAA56B8D}"/>
              </a:ext>
            </a:extLst>
          </p:cNvPr>
          <p:cNvSpPr/>
          <p:nvPr/>
        </p:nvSpPr>
        <p:spPr bwMode="gray">
          <a:xfrm>
            <a:off x="6246311" y="2722121"/>
            <a:ext cx="496823" cy="309145"/>
          </a:xfrm>
          <a:prstGeom prst="foldedCorner">
            <a:avLst/>
          </a:prstGeom>
          <a:solidFill>
            <a:srgbClr val="86BC25">
              <a:lumMod val="20000"/>
              <a:lumOff val="80000"/>
            </a:srgbClr>
          </a:solidFill>
          <a:ln w="31750" algn="ctr">
            <a:solidFill>
              <a:srgbClr val="86BC25"/>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VC</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16" name="テキスト ボックス 115">
            <a:extLst>
              <a:ext uri="{FF2B5EF4-FFF2-40B4-BE49-F238E27FC236}">
                <a16:creationId xmlns:a16="http://schemas.microsoft.com/office/drawing/2014/main" id="{F202A253-F6DA-436B-99BB-E9A7C7A90201}"/>
              </a:ext>
            </a:extLst>
          </p:cNvPr>
          <p:cNvSpPr txBox="1"/>
          <p:nvPr/>
        </p:nvSpPr>
        <p:spPr bwMode="gray">
          <a:xfrm>
            <a:off x="5169618" y="3559180"/>
            <a:ext cx="736100" cy="369332"/>
          </a:xfrm>
          <a:prstGeom prst="rect">
            <a:avLst/>
          </a:prstGeom>
          <a:noFill/>
        </p:spPr>
        <p:txBody>
          <a:bodyPr wrap="none">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定義</a:t>
            </a:r>
            <a:r>
              <a:rPr lang="en-US" altLang="ja-JP" sz="900" u="sng">
                <a:solidFill>
                  <a:prstClr val="black"/>
                </a:solidFill>
                <a:latin typeface="+mn-ea"/>
                <a:ea typeface="+mn-ea"/>
                <a:cs typeface="Arial" charset="0"/>
              </a:rPr>
              <a:t>+</a:t>
            </a:r>
            <a:r>
              <a:rPr lang="ja-JP" altLang="en-US" sz="900" u="sng">
                <a:solidFill>
                  <a:prstClr val="black"/>
                </a:solidFill>
                <a:latin typeface="+mn-ea"/>
                <a:ea typeface="+mn-ea"/>
                <a:cs typeface="Arial" charset="0"/>
              </a:rPr>
              <a:t>項目</a:t>
            </a:r>
            <a:endParaRPr lang="en-US" altLang="ja-JP" sz="900" u="sng">
              <a:solidFill>
                <a:prstClr val="black"/>
              </a:solidFill>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単位に変換</a:t>
            </a:r>
          </a:p>
        </p:txBody>
      </p:sp>
      <p:cxnSp>
        <p:nvCxnSpPr>
          <p:cNvPr id="117" name="直線コネクタ 116">
            <a:extLst>
              <a:ext uri="{FF2B5EF4-FFF2-40B4-BE49-F238E27FC236}">
                <a16:creationId xmlns:a16="http://schemas.microsoft.com/office/drawing/2014/main" id="{BE36BE5C-B799-50BF-5E39-9864918A3B68}"/>
              </a:ext>
            </a:extLst>
          </p:cNvPr>
          <p:cNvCxnSpPr>
            <a:cxnSpLocks/>
            <a:stCxn id="116" idx="3"/>
            <a:endCxn id="91" idx="1"/>
          </p:cNvCxnSpPr>
          <p:nvPr/>
        </p:nvCxnSpPr>
        <p:spPr bwMode="gray">
          <a:xfrm>
            <a:off x="5905718" y="3743846"/>
            <a:ext cx="163545" cy="158036"/>
          </a:xfrm>
          <a:prstGeom prst="line">
            <a:avLst/>
          </a:prstGeom>
          <a:noFill/>
          <a:ln w="12700" cap="flat" cmpd="sng" algn="ctr">
            <a:solidFill>
              <a:srgbClr val="53565A"/>
            </a:solidFill>
            <a:prstDash val="solid"/>
          </a:ln>
          <a:effectLst/>
        </p:spPr>
      </p:cxnSp>
      <p:sp>
        <p:nvSpPr>
          <p:cNvPr id="118" name="テキスト ボックス 117">
            <a:extLst>
              <a:ext uri="{FF2B5EF4-FFF2-40B4-BE49-F238E27FC236}">
                <a16:creationId xmlns:a16="http://schemas.microsoft.com/office/drawing/2014/main" id="{C20DF6A0-8F36-0C8C-DBA2-3B331A120A8D}"/>
              </a:ext>
            </a:extLst>
          </p:cNvPr>
          <p:cNvSpPr txBox="1"/>
          <p:nvPr/>
        </p:nvSpPr>
        <p:spPr bwMode="gray">
          <a:xfrm>
            <a:off x="5131146" y="4342952"/>
            <a:ext cx="813043" cy="507831"/>
          </a:xfrm>
          <a:prstGeom prst="rect">
            <a:avLst/>
          </a:prstGeom>
          <a:noFill/>
        </p:spPr>
        <p:txBody>
          <a:bodyPr wrap="none">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項目を</a:t>
            </a:r>
            <a:endParaRPr lang="en-US" altLang="ja-JP" sz="900" u="sng">
              <a:solidFill>
                <a:prstClr val="black"/>
              </a:solidFill>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グループ化して</a:t>
            </a:r>
            <a:endParaRPr lang="en-US" altLang="ja-JP" sz="900" u="sng">
              <a:solidFill>
                <a:prstClr val="black"/>
              </a:solidFill>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署名</a:t>
            </a:r>
          </a:p>
        </p:txBody>
      </p:sp>
      <p:cxnSp>
        <p:nvCxnSpPr>
          <p:cNvPr id="119" name="直線コネクタ 118">
            <a:extLst>
              <a:ext uri="{FF2B5EF4-FFF2-40B4-BE49-F238E27FC236}">
                <a16:creationId xmlns:a16="http://schemas.microsoft.com/office/drawing/2014/main" id="{1E5143A5-8568-EAF5-22A4-C8162B9A9177}"/>
              </a:ext>
            </a:extLst>
          </p:cNvPr>
          <p:cNvCxnSpPr>
            <a:cxnSpLocks/>
            <a:stCxn id="118" idx="3"/>
          </p:cNvCxnSpPr>
          <p:nvPr/>
        </p:nvCxnSpPr>
        <p:spPr bwMode="gray">
          <a:xfrm>
            <a:off x="5944189" y="4596868"/>
            <a:ext cx="125074" cy="88787"/>
          </a:xfrm>
          <a:prstGeom prst="line">
            <a:avLst/>
          </a:prstGeom>
          <a:noFill/>
          <a:ln w="12700" cap="flat" cmpd="sng" algn="ctr">
            <a:solidFill>
              <a:srgbClr val="53565A"/>
            </a:solidFill>
            <a:prstDash val="solid"/>
          </a:ln>
          <a:effectLst/>
        </p:spPr>
      </p:cxnSp>
      <p:sp>
        <p:nvSpPr>
          <p:cNvPr id="120" name="テキスト ボックス 119">
            <a:extLst>
              <a:ext uri="{FF2B5EF4-FFF2-40B4-BE49-F238E27FC236}">
                <a16:creationId xmlns:a16="http://schemas.microsoft.com/office/drawing/2014/main" id="{1EE5EBF7-DA60-3073-2398-D5DD740CB0EC}"/>
              </a:ext>
            </a:extLst>
          </p:cNvPr>
          <p:cNvSpPr txBox="1"/>
          <p:nvPr/>
        </p:nvSpPr>
        <p:spPr bwMode="gray">
          <a:xfrm>
            <a:off x="8823635" y="3612892"/>
            <a:ext cx="748924" cy="507831"/>
          </a:xfrm>
          <a:prstGeom prst="rect">
            <a:avLst/>
          </a:prstGeom>
          <a:noFill/>
        </p:spPr>
        <p:txBody>
          <a:bodyPr wrap="none">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項目単位に</a:t>
            </a:r>
          </a:p>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切り出しても</a:t>
            </a:r>
          </a:p>
          <a:p>
            <a:pPr algn="ctr" defTabSz="990564" eaLnBrk="1" fontAlgn="auto" hangingPunct="1">
              <a:spcBef>
                <a:spcPts val="0"/>
              </a:spcBef>
              <a:spcAft>
                <a:spcPts val="0"/>
              </a:spcAft>
              <a:buSzPct val="100000"/>
              <a:buFont typeface="Wingdings" panose="05000000000000000000" pitchFamily="2" charset="2"/>
              <a:buNone/>
            </a:pPr>
            <a:r>
              <a:rPr lang="ja-JP" altLang="en-US" sz="900" u="sng">
                <a:solidFill>
                  <a:prstClr val="black"/>
                </a:solidFill>
                <a:latin typeface="+mn-ea"/>
                <a:ea typeface="+mn-ea"/>
                <a:cs typeface="Arial" charset="0"/>
              </a:rPr>
              <a:t>検証可能</a:t>
            </a:r>
          </a:p>
        </p:txBody>
      </p:sp>
      <p:cxnSp>
        <p:nvCxnSpPr>
          <p:cNvPr id="121" name="直線コネクタ 120">
            <a:extLst>
              <a:ext uri="{FF2B5EF4-FFF2-40B4-BE49-F238E27FC236}">
                <a16:creationId xmlns:a16="http://schemas.microsoft.com/office/drawing/2014/main" id="{C046D299-390C-427E-4D08-761D33283888}"/>
              </a:ext>
            </a:extLst>
          </p:cNvPr>
          <p:cNvCxnSpPr>
            <a:cxnSpLocks/>
            <a:endCxn id="120" idx="1"/>
          </p:cNvCxnSpPr>
          <p:nvPr/>
        </p:nvCxnSpPr>
        <p:spPr bwMode="gray">
          <a:xfrm flipV="1">
            <a:off x="8623058" y="3866808"/>
            <a:ext cx="200577" cy="21471"/>
          </a:xfrm>
          <a:prstGeom prst="line">
            <a:avLst/>
          </a:prstGeom>
          <a:noFill/>
          <a:ln w="12700" cap="flat" cmpd="sng" algn="ctr">
            <a:solidFill>
              <a:srgbClr val="53565A"/>
            </a:solidFill>
            <a:prstDash val="solid"/>
          </a:ln>
          <a:effectLst/>
        </p:spPr>
      </p:cxnSp>
      <p:sp>
        <p:nvSpPr>
          <p:cNvPr id="122" name="正方形/長方形 121">
            <a:extLst>
              <a:ext uri="{FF2B5EF4-FFF2-40B4-BE49-F238E27FC236}">
                <a16:creationId xmlns:a16="http://schemas.microsoft.com/office/drawing/2014/main" id="{E741D8AB-C796-F604-D1ED-1C3AC829EB6E}"/>
              </a:ext>
            </a:extLst>
          </p:cNvPr>
          <p:cNvSpPr/>
          <p:nvPr/>
        </p:nvSpPr>
        <p:spPr bwMode="gray">
          <a:xfrm>
            <a:off x="516835" y="1568212"/>
            <a:ext cx="4517497" cy="1114527"/>
          </a:xfrm>
          <a:prstGeom prst="rect">
            <a:avLst/>
          </a:prstGeom>
          <a:solidFill>
            <a:sysClr val="window" lastClr="FFFFFF"/>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実データにソルトを加えて生成したハッシュ群に対し署名した</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SD-JWT</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と、実データを格納した</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SVC</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を用意</a:t>
            </a: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SVC</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はそのまま</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Holder</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が保管し、</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Verifier</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に送付する際に</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SVC</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の</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Claim</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を選択し、</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Holder</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の署名をつけて開示する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SD-JWT-R</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のデータのハッシュ値と、</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SD-JWT</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に格納された値の同一性を確認することで真正性を検証</a:t>
            </a:r>
          </a:p>
        </p:txBody>
      </p:sp>
      <p:sp>
        <p:nvSpPr>
          <p:cNvPr id="123" name="正方形/長方形 122">
            <a:extLst>
              <a:ext uri="{FF2B5EF4-FFF2-40B4-BE49-F238E27FC236}">
                <a16:creationId xmlns:a16="http://schemas.microsoft.com/office/drawing/2014/main" id="{C9C27ECD-1F57-18FF-C71E-B72B43C3EACD}"/>
              </a:ext>
            </a:extLst>
          </p:cNvPr>
          <p:cNvSpPr/>
          <p:nvPr/>
        </p:nvSpPr>
        <p:spPr bwMode="gray">
          <a:xfrm>
            <a:off x="5115453" y="1568212"/>
            <a:ext cx="4517497" cy="1114527"/>
          </a:xfrm>
          <a:prstGeom prst="rect">
            <a:avLst/>
          </a:prstGeom>
          <a:solidFill>
            <a:sysClr val="window" lastClr="FFFFFF"/>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マルチメッセージのデジタル署名の一種。通常、秘密鍵を使用してメッセージ全体を署名するが、マルチメッセージシステムでは、秘密鍵で署名されたメッセージをより小さな属性に分割して共有および検証でき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そのため、</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Holder</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は署名されたデータを項目ごとに切り出して開示することが可能。ゼロ知識証明との組み合わせが可能。</a:t>
            </a:r>
          </a:p>
        </p:txBody>
      </p:sp>
      <p:sp>
        <p:nvSpPr>
          <p:cNvPr id="124" name="正方形/長方形 123">
            <a:extLst>
              <a:ext uri="{FF2B5EF4-FFF2-40B4-BE49-F238E27FC236}">
                <a16:creationId xmlns:a16="http://schemas.microsoft.com/office/drawing/2014/main" id="{8FF59CC8-8318-0268-1126-25143350CB81}"/>
              </a:ext>
            </a:extLst>
          </p:cNvPr>
          <p:cNvSpPr/>
          <p:nvPr/>
        </p:nvSpPr>
        <p:spPr bwMode="gray">
          <a:xfrm>
            <a:off x="518187" y="5846836"/>
            <a:ext cx="4517497" cy="685823"/>
          </a:xfrm>
          <a:prstGeom prst="rect">
            <a:avLst/>
          </a:prstGeom>
          <a:solidFill>
            <a:sysClr val="window" lastClr="FFFFFF"/>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200" i="0" u="none" strike="noStrike" kern="0" cap="none" spc="0" normalizeH="0" baseline="0" noProof="0" dirty="0" err="1">
                <a:ln>
                  <a:noFill/>
                </a:ln>
                <a:effectLst/>
                <a:uLnTx/>
                <a:uFillTx/>
                <a:latin typeface="+mn-ea"/>
                <a:ea typeface="+mn-ea"/>
                <a:cs typeface="Arial" charset="0"/>
              </a:rPr>
              <a:t>ユーザが毎回同じ署名を利用するため、複数の検証</a:t>
            </a:r>
            <a:r>
              <a:rPr kumimoji="0" lang="ja-JP" altLang="en-US" sz="1200" i="0" u="none" strike="noStrike" kern="0" cap="none" spc="0" normalizeH="0" baseline="0" noProof="0" dirty="0">
                <a:ln>
                  <a:noFill/>
                </a:ln>
                <a:effectLst/>
                <a:uLnTx/>
                <a:uFillTx/>
                <a:latin typeface="+mn-ea"/>
                <a:ea typeface="+mn-ea"/>
                <a:cs typeface="Arial" charset="0"/>
              </a:rPr>
              <a:t>処理</a:t>
            </a:r>
            <a:r>
              <a:rPr kumimoji="0" lang="en-US" altLang="ja-JP" sz="1200" i="0" u="none" strike="noStrike" kern="0" cap="none" spc="0" normalizeH="0" baseline="0" noProof="0" dirty="0" err="1">
                <a:ln>
                  <a:noFill/>
                </a:ln>
                <a:effectLst/>
                <a:uLnTx/>
                <a:uFillTx/>
                <a:latin typeface="+mn-ea"/>
                <a:ea typeface="+mn-ea"/>
                <a:cs typeface="Arial" charset="0"/>
              </a:rPr>
              <a:t>を照合することで利用者特定が可能であり、Unlinkability</a:t>
            </a:r>
            <a:r>
              <a:rPr kumimoji="0" lang="ja-JP" altLang="en-US" sz="1200" i="0" u="none" strike="noStrike" kern="0" cap="none" spc="0" normalizeH="0" baseline="0" noProof="0" dirty="0">
                <a:ln>
                  <a:noFill/>
                </a:ln>
                <a:effectLst/>
                <a:uLnTx/>
                <a:uFillTx/>
                <a:latin typeface="+mn-ea"/>
                <a:ea typeface="+mn-ea"/>
                <a:cs typeface="Arial" charset="0"/>
              </a:rPr>
              <a:t>を担保できない</a:t>
            </a:r>
            <a:endParaRPr kumimoji="0" lang="en-US" altLang="ja-JP" sz="1200" i="0" u="none" strike="noStrike" kern="0" cap="none" spc="0" normalizeH="0" baseline="0" noProof="0" dirty="0">
              <a:ln>
                <a:noFill/>
              </a:ln>
              <a:effectLst/>
              <a:uLnTx/>
              <a:uFillTx/>
              <a:latin typeface="+mn-ea"/>
              <a:ea typeface="+mn-ea"/>
              <a:cs typeface="Calibri Light"/>
            </a:endParaRP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en-US" sz="1200" i="0" u="none" strike="noStrike" kern="0" cap="none" spc="0" normalizeH="0" baseline="0" noProof="0" dirty="0">
                <a:ln>
                  <a:noFill/>
                </a:ln>
                <a:effectLst/>
                <a:uLnTx/>
                <a:uFillTx/>
                <a:latin typeface="+mn-ea"/>
                <a:ea typeface="+mn-ea"/>
                <a:cs typeface="Arial" charset="0"/>
              </a:rPr>
              <a:t>Webシステムのトークン仕様として、広く普及しているフォーマットのため、システム実装者の理解度、既存システムへの適用性が高い</a:t>
            </a:r>
            <a:endParaRPr kumimoji="0" lang="ja-JP" altLang="en-US" sz="1200" i="0" u="none" strike="noStrike" kern="0" cap="none" spc="0" normalizeH="0" baseline="0" noProof="0" dirty="0">
              <a:ln>
                <a:noFill/>
              </a:ln>
              <a:effectLst/>
              <a:uLnTx/>
              <a:uFillTx/>
              <a:latin typeface="+mn-ea"/>
              <a:ea typeface="+mn-ea"/>
              <a:cs typeface="Calibri Light"/>
            </a:endParaRPr>
          </a:p>
        </p:txBody>
      </p:sp>
      <p:sp>
        <p:nvSpPr>
          <p:cNvPr id="125" name="正方形/長方形 124">
            <a:extLst>
              <a:ext uri="{FF2B5EF4-FFF2-40B4-BE49-F238E27FC236}">
                <a16:creationId xmlns:a16="http://schemas.microsoft.com/office/drawing/2014/main" id="{AAD2B011-9A80-AFCC-A1A3-73A19852B3E8}"/>
              </a:ext>
            </a:extLst>
          </p:cNvPr>
          <p:cNvSpPr/>
          <p:nvPr/>
        </p:nvSpPr>
        <p:spPr bwMode="gray">
          <a:xfrm>
            <a:off x="5061490" y="5846836"/>
            <a:ext cx="4517497" cy="685823"/>
          </a:xfrm>
          <a:prstGeom prst="rect">
            <a:avLst/>
          </a:prstGeom>
          <a:solidFill>
            <a:sysClr val="window" lastClr="FFFFFF"/>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marR="0" lvl="0" indent="-171450" defTabSz="914400" eaLnBrk="1" fontAlgn="auto" latinLnBrk="0" hangingPunct="1">
              <a:lnSpc>
                <a:spcPct val="100000"/>
              </a:lnSpc>
              <a:spcBef>
                <a:spcPts val="0"/>
              </a:spcBef>
              <a:spcAft>
                <a:spcPts val="0"/>
              </a:spcAft>
              <a:buClrTx/>
              <a:buSzTx/>
              <a:buFont typeface="Arial"/>
              <a:buChar char="•"/>
              <a:tabLst/>
              <a:defRPr/>
            </a:pPr>
            <a:r>
              <a:rPr kumimoji="0" lang="ja-JP" altLang="en-US" sz="1200" i="0" u="none" strike="noStrike" kern="0" cap="none" spc="0" normalizeH="0" baseline="0" noProof="0" dirty="0">
                <a:ln>
                  <a:noFill/>
                </a:ln>
                <a:effectLst/>
                <a:uLnTx/>
                <a:uFillTx/>
                <a:latin typeface="+mn-ea"/>
                <a:ea typeface="+mn-ea"/>
                <a:cs typeface="Arial"/>
              </a:rPr>
              <a:t>ゼロ知識証明と組み合わせることで、署名検証の都度新しい証明を作成できるため、Unlinkabilityを担保できる</a:t>
            </a:r>
          </a:p>
          <a:p>
            <a:pPr marL="171450" marR="0" lvl="0" indent="-171450" defTabSz="914400" eaLnBrk="1" fontAlgn="auto" latinLnBrk="0" hangingPunct="1">
              <a:lnSpc>
                <a:spcPct val="100000"/>
              </a:lnSpc>
              <a:spcBef>
                <a:spcPts val="0"/>
              </a:spcBef>
              <a:spcAft>
                <a:spcPts val="0"/>
              </a:spcAft>
              <a:buClrTx/>
              <a:buSzTx/>
              <a:buFont typeface="Arial"/>
              <a:buChar char="•"/>
              <a:tabLst/>
              <a:defRPr/>
            </a:pPr>
            <a:r>
              <a:rPr kumimoji="0" lang="ja-JP" altLang="en-US" sz="1200" i="0" u="none" strike="noStrike" kern="0" cap="none" spc="0" normalizeH="0" baseline="0" noProof="0" dirty="0">
                <a:ln>
                  <a:noFill/>
                </a:ln>
                <a:effectLst/>
                <a:uLnTx/>
                <a:uFillTx/>
                <a:latin typeface="+mn-ea"/>
                <a:ea typeface="+mn-ea"/>
                <a:cs typeface="Arial"/>
              </a:rPr>
              <a:t>新しいフォーマット仕様であるため、普及には時間がかかる可能性が高い</a:t>
            </a:r>
          </a:p>
        </p:txBody>
      </p:sp>
      <p:sp>
        <p:nvSpPr>
          <p:cNvPr id="21" name="正方形/長方形 20">
            <a:extLst>
              <a:ext uri="{FF2B5EF4-FFF2-40B4-BE49-F238E27FC236}">
                <a16:creationId xmlns:a16="http://schemas.microsoft.com/office/drawing/2014/main" id="{707A7CEE-4631-A28D-3B26-2CE9155E544C}"/>
              </a:ext>
            </a:extLst>
          </p:cNvPr>
          <p:cNvSpPr/>
          <p:nvPr/>
        </p:nvSpPr>
        <p:spPr>
          <a:xfrm>
            <a:off x="1875716" y="135476"/>
            <a:ext cx="980645"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22" name="正方形/長方形 21">
            <a:extLst>
              <a:ext uri="{FF2B5EF4-FFF2-40B4-BE49-F238E27FC236}">
                <a16:creationId xmlns:a16="http://schemas.microsoft.com/office/drawing/2014/main" id="{06CFAD34-04A6-4F36-49E5-0389BA1BFCC7}"/>
              </a:ext>
            </a:extLst>
          </p:cNvPr>
          <p:cNvSpPr/>
          <p:nvPr/>
        </p:nvSpPr>
        <p:spPr>
          <a:xfrm>
            <a:off x="1875716" y="242366"/>
            <a:ext cx="491226" cy="172800"/>
          </a:xfrm>
          <a:prstGeom prst="rect">
            <a:avLst/>
          </a:prstGeom>
          <a:solidFill>
            <a:schemeClr val="accent1">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23" name="正方形/長方形 22">
            <a:extLst>
              <a:ext uri="{FF2B5EF4-FFF2-40B4-BE49-F238E27FC236}">
                <a16:creationId xmlns:a16="http://schemas.microsoft.com/office/drawing/2014/main" id="{396DB685-B31D-6F82-38DA-7DBD856F7E89}"/>
              </a:ext>
            </a:extLst>
          </p:cNvPr>
          <p:cNvSpPr/>
          <p:nvPr/>
        </p:nvSpPr>
        <p:spPr>
          <a:xfrm>
            <a:off x="2366942"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Credential</a:t>
            </a:r>
          </a:p>
          <a:p>
            <a:pPr algn="ctr"/>
            <a:r>
              <a:rPr lang="en-US" altLang="ja-JP" sz="500" dirty="0"/>
              <a:t>Proofing</a:t>
            </a:r>
            <a:endParaRPr lang="ja-JP" altLang="en-US" sz="500" dirty="0"/>
          </a:p>
        </p:txBody>
      </p:sp>
      <p:sp>
        <p:nvSpPr>
          <p:cNvPr id="24" name="正方形/長方形 23">
            <a:extLst>
              <a:ext uri="{FF2B5EF4-FFF2-40B4-BE49-F238E27FC236}">
                <a16:creationId xmlns:a16="http://schemas.microsoft.com/office/drawing/2014/main" id="{C86470A2-472A-0F82-F1D8-822F3C094879}"/>
              </a:ext>
            </a:extLst>
          </p:cNvPr>
          <p:cNvSpPr/>
          <p:nvPr/>
        </p:nvSpPr>
        <p:spPr>
          <a:xfrm>
            <a:off x="2858168"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Envelope</a:t>
            </a:r>
            <a:endParaRPr kumimoji="1" lang="ja-JP" altLang="en-US" sz="600" dirty="0"/>
          </a:p>
        </p:txBody>
      </p:sp>
      <p:sp>
        <p:nvSpPr>
          <p:cNvPr id="25" name="正方形/長方形 24">
            <a:extLst>
              <a:ext uri="{FF2B5EF4-FFF2-40B4-BE49-F238E27FC236}">
                <a16:creationId xmlns:a16="http://schemas.microsoft.com/office/drawing/2014/main" id="{2E2D754E-FBDC-F6BE-CF79-374817E0A94E}"/>
              </a:ext>
            </a:extLst>
          </p:cNvPr>
          <p:cNvSpPr/>
          <p:nvPr/>
        </p:nvSpPr>
        <p:spPr>
          <a:xfrm>
            <a:off x="2856361" y="135476"/>
            <a:ext cx="983839"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Agent Layer</a:t>
            </a:r>
            <a:endParaRPr lang="ja-JP" altLang="en-US" sz="600" dirty="0"/>
          </a:p>
        </p:txBody>
      </p:sp>
      <p:sp>
        <p:nvSpPr>
          <p:cNvPr id="26" name="正方形/長方形 25">
            <a:extLst>
              <a:ext uri="{FF2B5EF4-FFF2-40B4-BE49-F238E27FC236}">
                <a16:creationId xmlns:a16="http://schemas.microsoft.com/office/drawing/2014/main" id="{87D68964-FEA9-5D64-DFC3-773E91EDB4F7}"/>
              </a:ext>
            </a:extLst>
          </p:cNvPr>
          <p:cNvSpPr/>
          <p:nvPr/>
        </p:nvSpPr>
        <p:spPr>
          <a:xfrm>
            <a:off x="334926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Transport</a:t>
            </a:r>
            <a:endParaRPr kumimoji="1" lang="ja-JP" altLang="en-US" sz="600" dirty="0"/>
          </a:p>
        </p:txBody>
      </p:sp>
      <p:sp>
        <p:nvSpPr>
          <p:cNvPr id="27" name="正方形/長方形 26">
            <a:extLst>
              <a:ext uri="{FF2B5EF4-FFF2-40B4-BE49-F238E27FC236}">
                <a16:creationId xmlns:a16="http://schemas.microsoft.com/office/drawing/2014/main" id="{26AE7FBC-18A9-41C7-E038-F11ECBBA7C4A}"/>
              </a:ext>
            </a:extLst>
          </p:cNvPr>
          <p:cNvSpPr/>
          <p:nvPr/>
        </p:nvSpPr>
        <p:spPr>
          <a:xfrm>
            <a:off x="38406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28" name="正方形/長方形 27">
            <a:extLst>
              <a:ext uri="{FF2B5EF4-FFF2-40B4-BE49-F238E27FC236}">
                <a16:creationId xmlns:a16="http://schemas.microsoft.com/office/drawing/2014/main" id="{695A1632-C7DD-096F-478A-57D986CBCCB0}"/>
              </a:ext>
            </a:extLst>
          </p:cNvPr>
          <p:cNvSpPr/>
          <p:nvPr/>
        </p:nvSpPr>
        <p:spPr>
          <a:xfrm>
            <a:off x="4824207"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29" name="正方形/長方形 28">
            <a:extLst>
              <a:ext uri="{FF2B5EF4-FFF2-40B4-BE49-F238E27FC236}">
                <a16:creationId xmlns:a16="http://schemas.microsoft.com/office/drawing/2014/main" id="{535453FB-AF0E-32B5-0043-027B9BC61D66}"/>
              </a:ext>
            </a:extLst>
          </p:cNvPr>
          <p:cNvSpPr/>
          <p:nvPr/>
        </p:nvSpPr>
        <p:spPr>
          <a:xfrm>
            <a:off x="531530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30" name="正方形/長方形 29">
            <a:extLst>
              <a:ext uri="{FF2B5EF4-FFF2-40B4-BE49-F238E27FC236}">
                <a16:creationId xmlns:a16="http://schemas.microsoft.com/office/drawing/2014/main" id="{E23D2E90-703A-9384-E47A-A858562E7366}"/>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31" name="正方形/長方形 30">
            <a:extLst>
              <a:ext uri="{FF2B5EF4-FFF2-40B4-BE49-F238E27FC236}">
                <a16:creationId xmlns:a16="http://schemas.microsoft.com/office/drawing/2014/main" id="{E79A6BE0-8AAC-5EA9-EE1A-D9AADB6EE200}"/>
              </a:ext>
            </a:extLst>
          </p:cNvPr>
          <p:cNvSpPr/>
          <p:nvPr/>
        </p:nvSpPr>
        <p:spPr>
          <a:xfrm>
            <a:off x="6297630"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Disclosure</a:t>
            </a:r>
            <a:br>
              <a:rPr lang="en-US" altLang="ja-JP" sz="500" dirty="0"/>
            </a:br>
            <a:r>
              <a:rPr lang="en-US" altLang="ja-JP" sz="500" dirty="0"/>
              <a:t>/ZKP</a:t>
            </a:r>
          </a:p>
        </p:txBody>
      </p:sp>
      <p:sp>
        <p:nvSpPr>
          <p:cNvPr id="32" name="正方形/長方形 31">
            <a:extLst>
              <a:ext uri="{FF2B5EF4-FFF2-40B4-BE49-F238E27FC236}">
                <a16:creationId xmlns:a16="http://schemas.microsoft.com/office/drawing/2014/main" id="{9941F4FD-AB14-910D-98F7-684AAA8CCEC0}"/>
              </a:ext>
            </a:extLst>
          </p:cNvPr>
          <p:cNvSpPr/>
          <p:nvPr/>
        </p:nvSpPr>
        <p:spPr>
          <a:xfrm>
            <a:off x="67888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34" name="正方形/長方形 33">
            <a:extLst>
              <a:ext uri="{FF2B5EF4-FFF2-40B4-BE49-F238E27FC236}">
                <a16:creationId xmlns:a16="http://schemas.microsoft.com/office/drawing/2014/main" id="{98F55C2D-4388-4DE8-7FF4-ED546416A7D5}"/>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35" name="正方形/長方形 34">
            <a:extLst>
              <a:ext uri="{FF2B5EF4-FFF2-40B4-BE49-F238E27FC236}">
                <a16:creationId xmlns:a16="http://schemas.microsoft.com/office/drawing/2014/main" id="{5009B627-500C-8B43-67B9-53525388C246}"/>
              </a:ext>
            </a:extLst>
          </p:cNvPr>
          <p:cNvSpPr/>
          <p:nvPr/>
        </p:nvSpPr>
        <p:spPr>
          <a:xfrm>
            <a:off x="7771053"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36" name="正方形/長方形 35">
            <a:extLst>
              <a:ext uri="{FF2B5EF4-FFF2-40B4-BE49-F238E27FC236}">
                <a16:creationId xmlns:a16="http://schemas.microsoft.com/office/drawing/2014/main" id="{6B9D8E5F-EF0F-7951-C919-AB71AD516140}"/>
              </a:ext>
            </a:extLst>
          </p:cNvPr>
          <p:cNvSpPr/>
          <p:nvPr/>
        </p:nvSpPr>
        <p:spPr>
          <a:xfrm>
            <a:off x="3837006" y="135476"/>
            <a:ext cx="2461601"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37" name="正方形/長方形 36">
            <a:extLst>
              <a:ext uri="{FF2B5EF4-FFF2-40B4-BE49-F238E27FC236}">
                <a16:creationId xmlns:a16="http://schemas.microsoft.com/office/drawing/2014/main" id="{8B6F6B63-C9AC-989A-CE79-903E5F90833C}"/>
              </a:ext>
            </a:extLst>
          </p:cNvPr>
          <p:cNvSpPr/>
          <p:nvPr/>
        </p:nvSpPr>
        <p:spPr>
          <a:xfrm>
            <a:off x="6297503" y="135476"/>
            <a:ext cx="1964776"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10" name="テキスト ボックス 9">
            <a:extLst>
              <a:ext uri="{FF2B5EF4-FFF2-40B4-BE49-F238E27FC236}">
                <a16:creationId xmlns:a16="http://schemas.microsoft.com/office/drawing/2014/main" id="{E7963F19-961D-3B78-C690-E3BA1AC89A6C}"/>
              </a:ext>
            </a:extLst>
          </p:cNvPr>
          <p:cNvSpPr txBox="1"/>
          <p:nvPr/>
        </p:nvSpPr>
        <p:spPr bwMode="gray">
          <a:xfrm>
            <a:off x="8802799" y="4360999"/>
            <a:ext cx="790601" cy="507831"/>
          </a:xfrm>
          <a:prstGeom prst="rect">
            <a:avLst/>
          </a:prstGeom>
          <a:noFill/>
        </p:spPr>
        <p:txBody>
          <a:bodyPr wrap="none">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900" u="sng" dirty="0">
                <a:latin typeface="+mn-ea"/>
                <a:ea typeface="+mn-ea"/>
                <a:cs typeface="Arial" charset="0"/>
              </a:rPr>
              <a:t>元の</a:t>
            </a:r>
            <a:r>
              <a:rPr lang="en-US" altLang="ja-JP" sz="900" u="sng" dirty="0">
                <a:latin typeface="+mn-ea"/>
                <a:ea typeface="+mn-ea"/>
                <a:cs typeface="Arial" charset="0"/>
              </a:rPr>
              <a:t>Issuer</a:t>
            </a:r>
            <a:r>
              <a:rPr lang="ja-JP" altLang="en-US" sz="900" u="sng" dirty="0">
                <a:latin typeface="+mn-ea"/>
                <a:ea typeface="+mn-ea"/>
                <a:cs typeface="Arial" charset="0"/>
              </a:rPr>
              <a:t>の</a:t>
            </a:r>
            <a:endParaRPr lang="en-US" altLang="ja-JP" sz="900" u="sng" dirty="0">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900" u="sng" dirty="0">
                <a:latin typeface="+mn-ea"/>
                <a:ea typeface="+mn-ea"/>
                <a:cs typeface="Arial" charset="0"/>
              </a:rPr>
              <a:t>Proof</a:t>
            </a:r>
            <a:r>
              <a:rPr lang="ja-JP" altLang="en-US" sz="900" u="sng" dirty="0">
                <a:latin typeface="+mn-ea"/>
                <a:ea typeface="+mn-ea"/>
                <a:cs typeface="Arial" charset="0"/>
              </a:rPr>
              <a:t>は開示</a:t>
            </a:r>
            <a:endParaRPr lang="en-US" altLang="ja-JP" sz="900" u="sng" dirty="0">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900" u="sng" dirty="0">
                <a:latin typeface="+mn-ea"/>
                <a:ea typeface="+mn-ea"/>
                <a:cs typeface="Arial" charset="0"/>
              </a:rPr>
              <a:t>されない。</a:t>
            </a:r>
          </a:p>
        </p:txBody>
      </p:sp>
      <p:cxnSp>
        <p:nvCxnSpPr>
          <p:cNvPr id="11" name="直線コネクタ 10">
            <a:extLst>
              <a:ext uri="{FF2B5EF4-FFF2-40B4-BE49-F238E27FC236}">
                <a16:creationId xmlns:a16="http://schemas.microsoft.com/office/drawing/2014/main" id="{4446456E-9C77-1355-C3D9-9A4BA6CAB6A3}"/>
              </a:ext>
            </a:extLst>
          </p:cNvPr>
          <p:cNvCxnSpPr>
            <a:cxnSpLocks/>
            <a:endCxn id="10" idx="1"/>
          </p:cNvCxnSpPr>
          <p:nvPr/>
        </p:nvCxnSpPr>
        <p:spPr bwMode="gray">
          <a:xfrm flipV="1">
            <a:off x="8623058" y="4614915"/>
            <a:ext cx="179741" cy="21471"/>
          </a:xfrm>
          <a:prstGeom prst="line">
            <a:avLst/>
          </a:prstGeom>
          <a:noFill/>
          <a:ln w="12700" cap="flat" cmpd="sng" algn="ctr">
            <a:solidFill>
              <a:srgbClr val="53565A"/>
            </a:solidFill>
            <a:prstDash val="solid"/>
          </a:ln>
          <a:effectLst/>
        </p:spPr>
      </p:cxnSp>
      <p:sp>
        <p:nvSpPr>
          <p:cNvPr id="4" name="正方形/長方形 3">
            <a:extLst>
              <a:ext uri="{FF2B5EF4-FFF2-40B4-BE49-F238E27FC236}">
                <a16:creationId xmlns:a16="http://schemas.microsoft.com/office/drawing/2014/main" id="{4459C5CE-FFEF-FE9E-7AC3-AE3A1DB93836}"/>
              </a:ext>
            </a:extLst>
          </p:cNvPr>
          <p:cNvSpPr/>
          <p:nvPr/>
        </p:nvSpPr>
        <p:spPr>
          <a:xfrm>
            <a:off x="433291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3048865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BF136348-D0DC-4486-C66F-89E0997391E9}"/>
              </a:ext>
            </a:extLst>
          </p:cNvPr>
          <p:cNvGraphicFramePr>
            <a:graphicFrameLocks noChangeAspect="1"/>
          </p:cNvGraphicFramePr>
          <p:nvPr>
            <p:custDataLst>
              <p:tags r:id="rId1"/>
            </p:custDataLst>
            <p:extLst>
              <p:ext uri="{D42A27DB-BD31-4B8C-83A1-F6EECF244321}">
                <p14:modId xmlns:p14="http://schemas.microsoft.com/office/powerpoint/2010/main" val="12994193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2" name="think-cell data - do not delete" hidden="1">
                        <a:extLst>
                          <a:ext uri="{FF2B5EF4-FFF2-40B4-BE49-F238E27FC236}">
                            <a16:creationId xmlns:a16="http://schemas.microsoft.com/office/drawing/2014/main" id="{BF136348-D0DC-4486-C66F-89E0997391E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404F443C-E5C1-E566-6443-C3D788EE0D1A}"/>
              </a:ext>
            </a:extLst>
          </p:cNvPr>
          <p:cNvSpPr>
            <a:spLocks noGrp="1"/>
          </p:cNvSpPr>
          <p:nvPr>
            <p:ph type="title"/>
          </p:nvPr>
        </p:nvSpPr>
        <p:spPr>
          <a:xfrm>
            <a:off x="273050" y="447475"/>
            <a:ext cx="7848302" cy="246221"/>
          </a:xfrm>
        </p:spPr>
        <p:txBody>
          <a:bodyPr vert="horz"/>
          <a:lstStyle/>
          <a:p>
            <a:r>
              <a:rPr kumimoji="1" lang="en-US" altLang="ja-JP" sz="1600" dirty="0"/>
              <a:t>5.2. </a:t>
            </a:r>
            <a:r>
              <a:rPr kumimoji="1" lang="ja-JP" altLang="en-US" sz="1600" dirty="0"/>
              <a:t>規格・実装方式の詳細 </a:t>
            </a:r>
            <a:r>
              <a:rPr kumimoji="1" lang="en-US" altLang="ja-JP" sz="1600" dirty="0"/>
              <a:t>- (5</a:t>
            </a:r>
            <a:r>
              <a:rPr kumimoji="1" lang="en-US" altLang="ja-JP" dirty="0"/>
              <a:t>) </a:t>
            </a:r>
            <a:r>
              <a:rPr kumimoji="1" lang="ja-JP" altLang="en-US" dirty="0"/>
              <a:t>エンティティ間で証明書データを連携する規格</a:t>
            </a:r>
          </a:p>
        </p:txBody>
      </p:sp>
      <p:sp>
        <p:nvSpPr>
          <p:cNvPr id="3" name="テキスト プレースホルダー 2">
            <a:extLst>
              <a:ext uri="{FF2B5EF4-FFF2-40B4-BE49-F238E27FC236}">
                <a16:creationId xmlns:a16="http://schemas.microsoft.com/office/drawing/2014/main" id="{93DBCE47-638A-CE4E-2A92-97827ADCB426}"/>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48" name="正方形/長方形 47">
            <a:extLst>
              <a:ext uri="{FF2B5EF4-FFF2-40B4-BE49-F238E27FC236}">
                <a16:creationId xmlns:a16="http://schemas.microsoft.com/office/drawing/2014/main" id="{ECD7C12F-5AF3-A94D-E93A-EB937118C9E7}"/>
              </a:ext>
            </a:extLst>
          </p:cNvPr>
          <p:cNvSpPr/>
          <p:nvPr/>
        </p:nvSpPr>
        <p:spPr bwMode="gray">
          <a:xfrm>
            <a:off x="2286437" y="1349160"/>
            <a:ext cx="3533130" cy="253726"/>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prstClr val="white"/>
                </a:solidFill>
                <a:effectLst/>
                <a:uLnTx/>
                <a:uFillTx/>
                <a:latin typeface="+mn-ea"/>
                <a:ea typeface="+mn-ea"/>
                <a:cs typeface="Arial" charset="0"/>
              </a:rPr>
              <a:t>特徴</a:t>
            </a:r>
            <a:endParaRPr kumimoji="0" lang="en-US" altLang="ja-JP"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49" name="正方形/長方形 48">
            <a:extLst>
              <a:ext uri="{FF2B5EF4-FFF2-40B4-BE49-F238E27FC236}">
                <a16:creationId xmlns:a16="http://schemas.microsoft.com/office/drawing/2014/main" id="{68AC2914-5760-D85B-E1A2-5DC18B5A0A04}"/>
              </a:ext>
            </a:extLst>
          </p:cNvPr>
          <p:cNvSpPr/>
          <p:nvPr/>
        </p:nvSpPr>
        <p:spPr bwMode="gray">
          <a:xfrm>
            <a:off x="281171" y="1349160"/>
            <a:ext cx="829600" cy="253724"/>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dirty="0">
                <a:ln>
                  <a:noFill/>
                </a:ln>
                <a:solidFill>
                  <a:prstClr val="white"/>
                </a:solidFill>
                <a:effectLst/>
                <a:uLnTx/>
                <a:uFillTx/>
                <a:latin typeface="+mn-ea"/>
                <a:ea typeface="+mn-ea"/>
                <a:cs typeface="Arial" charset="0"/>
              </a:rPr>
              <a:t>規格</a:t>
            </a:r>
            <a:endParaRPr kumimoji="0" lang="en-US" altLang="ja-JP"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50" name="正方形/長方形 49">
            <a:extLst>
              <a:ext uri="{FF2B5EF4-FFF2-40B4-BE49-F238E27FC236}">
                <a16:creationId xmlns:a16="http://schemas.microsoft.com/office/drawing/2014/main" id="{905392A6-89C0-9C77-98A4-31A5E4497B82}"/>
              </a:ext>
            </a:extLst>
          </p:cNvPr>
          <p:cNvSpPr/>
          <p:nvPr/>
        </p:nvSpPr>
        <p:spPr bwMode="gray">
          <a:xfrm>
            <a:off x="2285338" y="4044975"/>
            <a:ext cx="3539729" cy="2241312"/>
          </a:xfrm>
          <a:prstGeom prst="rect">
            <a:avLst/>
          </a:prstGeom>
          <a:solidFill>
            <a:sysClr val="window" lastClr="FFFFFF"/>
          </a:solidFill>
          <a:ln w="12700" algn="ctr">
            <a:no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OpenID Connect</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を拡張し、エンドユーザーによる制御領域を拡大するもの。具体的には、 エンドユーザーが</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Self-Issued OpenID Provider</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SIOP</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）を制御し、エンドユーザーの 制御下にあるキーで暗号化した</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ID</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トークンを自己発行して、自分自身を認証することができる </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エンドユーザーはクライアント（</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RP</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）に発行された識別子（</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ID</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）と資格情報（</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Claim</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）を制御でき、いつ、どのように使用するかをユーザーが決定できる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仕様の中では、発行する識別子や資格情報について</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W3C</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の</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DIDs</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VCs</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を参照している</a:t>
            </a:r>
          </a:p>
        </p:txBody>
      </p:sp>
      <p:sp>
        <p:nvSpPr>
          <p:cNvPr id="51" name="正方形/長方形 50">
            <a:extLst>
              <a:ext uri="{FF2B5EF4-FFF2-40B4-BE49-F238E27FC236}">
                <a16:creationId xmlns:a16="http://schemas.microsoft.com/office/drawing/2014/main" id="{A8D9578F-4E94-AE9E-BCA3-CE635B7762B8}"/>
              </a:ext>
            </a:extLst>
          </p:cNvPr>
          <p:cNvSpPr/>
          <p:nvPr/>
        </p:nvSpPr>
        <p:spPr bwMode="gray">
          <a:xfrm>
            <a:off x="2285338" y="1721229"/>
            <a:ext cx="3539729" cy="2241312"/>
          </a:xfrm>
          <a:prstGeom prst="rect">
            <a:avLst/>
          </a:prstGeom>
          <a:solidFill>
            <a:sysClr val="window" lastClr="FFFFFF"/>
          </a:solidFill>
          <a:ln w="12700" algn="ctr">
            <a:no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DID </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ベースのシステム上でセキュリティで保護されたプライベート通信方法を提供する。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DID</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を宛先とする非同期単方向のメッセージングプロトコル仕様で、</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DID</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の持ち主へのメッセージ配送にはサービスエンドポイントというエンドポイント</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(URI)</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を使用する。このエンドポイントは</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DID Document</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内に任意に設定され、特定のフォーマットのメッセージを通じて</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DID</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の持ち主にメッセージをエンドツーエンドで届ける役割がある。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DIDComm</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の特徴は、具体的な配送方法を規定しておらず、あらゆる方法や中継者を通じての配送が許容される。ただし、メッセージの到達確認や返信保証はない。</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52" name="正方形/長方形 51">
            <a:extLst>
              <a:ext uri="{FF2B5EF4-FFF2-40B4-BE49-F238E27FC236}">
                <a16:creationId xmlns:a16="http://schemas.microsoft.com/office/drawing/2014/main" id="{E04F5262-AC03-B542-C574-84CCBB9ADE5F}"/>
              </a:ext>
            </a:extLst>
          </p:cNvPr>
          <p:cNvSpPr/>
          <p:nvPr/>
        </p:nvSpPr>
        <p:spPr bwMode="gray">
          <a:xfrm>
            <a:off x="281171" y="4044975"/>
            <a:ext cx="829600" cy="2241312"/>
          </a:xfrm>
          <a:prstGeom prst="rect">
            <a:avLst/>
          </a:prstGeom>
          <a:solidFill>
            <a:srgbClr val="007CB0">
              <a:lumMod val="20000"/>
              <a:lumOff val="80000"/>
            </a:srgbClr>
          </a:solidFill>
          <a:ln w="12700" algn="ctr">
            <a:solidFill>
              <a:srgbClr val="007CB0">
                <a:lumMod val="20000"/>
                <a:lumOff val="80000"/>
              </a:srgb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SIOPv2</a:t>
            </a:r>
          </a:p>
        </p:txBody>
      </p:sp>
      <p:sp>
        <p:nvSpPr>
          <p:cNvPr id="53" name="正方形/長方形 52">
            <a:extLst>
              <a:ext uri="{FF2B5EF4-FFF2-40B4-BE49-F238E27FC236}">
                <a16:creationId xmlns:a16="http://schemas.microsoft.com/office/drawing/2014/main" id="{66C879F9-037F-A573-C70B-548BDAC35FDF}"/>
              </a:ext>
            </a:extLst>
          </p:cNvPr>
          <p:cNvSpPr/>
          <p:nvPr/>
        </p:nvSpPr>
        <p:spPr bwMode="gray">
          <a:xfrm>
            <a:off x="281171" y="1721229"/>
            <a:ext cx="829600" cy="2241311"/>
          </a:xfrm>
          <a:prstGeom prst="rect">
            <a:avLst/>
          </a:prstGeom>
          <a:solidFill>
            <a:srgbClr val="007CB0">
              <a:lumMod val="20000"/>
              <a:lumOff val="80000"/>
            </a:srgbClr>
          </a:solidFill>
          <a:ln w="12700" algn="ctr">
            <a:solidFill>
              <a:srgbClr val="007CB0">
                <a:lumMod val="20000"/>
                <a:lumOff val="80000"/>
              </a:srgb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DIDComm</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Message v2</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54" name="正方形/長方形 53">
            <a:extLst>
              <a:ext uri="{FF2B5EF4-FFF2-40B4-BE49-F238E27FC236}">
                <a16:creationId xmlns:a16="http://schemas.microsoft.com/office/drawing/2014/main" id="{5BE4A279-F415-3EF2-55C2-73B08F8D7449}"/>
              </a:ext>
            </a:extLst>
          </p:cNvPr>
          <p:cNvSpPr/>
          <p:nvPr/>
        </p:nvSpPr>
        <p:spPr bwMode="gray">
          <a:xfrm>
            <a:off x="1198385" y="4044975"/>
            <a:ext cx="989406" cy="2241312"/>
          </a:xfrm>
          <a:prstGeom prst="rect">
            <a:avLst/>
          </a:prstGeom>
          <a:solidFill>
            <a:sysClr val="window" lastClr="FFFFFF"/>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300"/>
              </a:spcBef>
              <a:spcAft>
                <a:spcPts val="0"/>
              </a:spcAft>
              <a:buClrTx/>
              <a:buSzPct val="100000"/>
              <a:buFontTx/>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OpenID</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 </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Foundation</a:t>
            </a: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55" name="正方形/長方形 54">
            <a:extLst>
              <a:ext uri="{FF2B5EF4-FFF2-40B4-BE49-F238E27FC236}">
                <a16:creationId xmlns:a16="http://schemas.microsoft.com/office/drawing/2014/main" id="{270CA3B2-D8EE-6C3F-16C2-F61D9A02A400}"/>
              </a:ext>
            </a:extLst>
          </p:cNvPr>
          <p:cNvSpPr/>
          <p:nvPr/>
        </p:nvSpPr>
        <p:spPr bwMode="gray">
          <a:xfrm>
            <a:off x="1198385" y="1721229"/>
            <a:ext cx="989406" cy="2241312"/>
          </a:xfrm>
          <a:prstGeom prst="rect">
            <a:avLst/>
          </a:prstGeom>
          <a:solidFill>
            <a:sysClr val="window" lastClr="FFFFFF"/>
          </a:solidFill>
          <a:ln w="12700" algn="ctr">
            <a:no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300"/>
              </a:spcBef>
              <a:spcAft>
                <a:spcPts val="0"/>
              </a:spcAft>
              <a:buClrTx/>
              <a:buSzPct val="100000"/>
              <a:buFontTx/>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DIF/</a:t>
            </a:r>
          </a:p>
          <a:p>
            <a:pPr marL="0" marR="0" lvl="0" indent="0" algn="ctr" defTabSz="990564" eaLnBrk="1" fontAlgn="auto" latinLnBrk="0" hangingPunct="1">
              <a:lnSpc>
                <a:spcPct val="100000"/>
              </a:lnSpc>
              <a:spcBef>
                <a:spcPts val="300"/>
              </a:spcBef>
              <a:spcAft>
                <a:spcPts val="0"/>
              </a:spcAft>
              <a:buClrTx/>
              <a:buSzPct val="100000"/>
              <a:buFontTx/>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Hyperledger</a:t>
            </a:r>
          </a:p>
        </p:txBody>
      </p:sp>
      <p:sp>
        <p:nvSpPr>
          <p:cNvPr id="56" name="楕円 55">
            <a:extLst>
              <a:ext uri="{FF2B5EF4-FFF2-40B4-BE49-F238E27FC236}">
                <a16:creationId xmlns:a16="http://schemas.microsoft.com/office/drawing/2014/main" id="{FACF502A-A8A8-9B58-48CE-4F3A3B539AC8}"/>
              </a:ext>
            </a:extLst>
          </p:cNvPr>
          <p:cNvSpPr/>
          <p:nvPr/>
        </p:nvSpPr>
        <p:spPr bwMode="gray">
          <a:xfrm>
            <a:off x="5903909" y="5909527"/>
            <a:ext cx="3816612" cy="354005"/>
          </a:xfrm>
          <a:prstGeom prst="ellipse">
            <a:avLst/>
          </a:prstGeom>
          <a:solidFill>
            <a:sysClr val="window" lastClr="FFFFFF"/>
          </a:solidFill>
          <a:ln w="12700" algn="ctr">
            <a:solidFill>
              <a:sysClr val="windowText" lastClr="000000"/>
            </a:solidFill>
            <a:miter lim="800000"/>
            <a:headEnd/>
            <a:tailEnd/>
          </a:ln>
        </p:spPr>
        <p:txBody>
          <a:bodyPr rot="0" spcFirstLastPara="0" vertOverflow="overflow" horzOverflow="overflow" vert="horz" wrap="none" lIns="0" tIns="0" rIns="0" bIns="0" numCol="1" spcCol="0" rtlCol="0" fromWordArt="0" anchor="b"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Verifiable Data </a:t>
            </a: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Registory</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grpSp>
        <p:nvGrpSpPr>
          <p:cNvPr id="57" name="グループ化 56">
            <a:extLst>
              <a:ext uri="{FF2B5EF4-FFF2-40B4-BE49-F238E27FC236}">
                <a16:creationId xmlns:a16="http://schemas.microsoft.com/office/drawing/2014/main" id="{A0288A7F-C62C-9AA1-614D-96FE4062C685}"/>
              </a:ext>
            </a:extLst>
          </p:cNvPr>
          <p:cNvGrpSpPr/>
          <p:nvPr/>
        </p:nvGrpSpPr>
        <p:grpSpPr>
          <a:xfrm>
            <a:off x="7692902" y="1838822"/>
            <a:ext cx="336007" cy="538069"/>
            <a:chOff x="376047" y="2696060"/>
            <a:chExt cx="336007" cy="538069"/>
          </a:xfrm>
        </p:grpSpPr>
        <p:sp>
          <p:nvSpPr>
            <p:cNvPr id="58" name="楕円 15">
              <a:extLst>
                <a:ext uri="{FF2B5EF4-FFF2-40B4-BE49-F238E27FC236}">
                  <a16:creationId xmlns:a16="http://schemas.microsoft.com/office/drawing/2014/main" id="{E64B89CA-F320-136E-327D-A41E011997F1}"/>
                </a:ext>
              </a:extLst>
            </p:cNvPr>
            <p:cNvSpPr/>
            <p:nvPr/>
          </p:nvSpPr>
          <p:spPr bwMode="gray">
            <a:xfrm>
              <a:off x="422972" y="2696060"/>
              <a:ext cx="242159" cy="242159"/>
            </a:xfrm>
            <a:prstGeom prst="ellips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a:solidFill>
                  <a:prstClr val="black"/>
                </a:solidFill>
                <a:latin typeface="+mn-ea"/>
                <a:ea typeface="+mn-ea"/>
                <a:cs typeface="Arial" charset="0"/>
              </a:endParaRPr>
            </a:p>
          </p:txBody>
        </p:sp>
        <p:sp>
          <p:nvSpPr>
            <p:cNvPr id="59" name="矢印: 五方向 16">
              <a:extLst>
                <a:ext uri="{FF2B5EF4-FFF2-40B4-BE49-F238E27FC236}">
                  <a16:creationId xmlns:a16="http://schemas.microsoft.com/office/drawing/2014/main" id="{B665BC07-B958-ACA9-98C1-CCAA47B50B9F}"/>
                </a:ext>
              </a:extLst>
            </p:cNvPr>
            <p:cNvSpPr/>
            <p:nvPr/>
          </p:nvSpPr>
          <p:spPr bwMode="gray">
            <a:xfrm rot="16200000">
              <a:off x="366497" y="2888571"/>
              <a:ext cx="355108" cy="336007"/>
            </a:xfrm>
            <a:prstGeom prst="homePlat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a:solidFill>
                  <a:prstClr val="black"/>
                </a:solidFill>
                <a:latin typeface="+mn-ea"/>
                <a:ea typeface="+mn-ea"/>
                <a:cs typeface="Arial" charset="0"/>
              </a:endParaRPr>
            </a:p>
          </p:txBody>
        </p:sp>
      </p:grpSp>
      <p:sp>
        <p:nvSpPr>
          <p:cNvPr id="60" name="テキスト ボックス 59">
            <a:extLst>
              <a:ext uri="{FF2B5EF4-FFF2-40B4-BE49-F238E27FC236}">
                <a16:creationId xmlns:a16="http://schemas.microsoft.com/office/drawing/2014/main" id="{85D78CE6-A1C0-A763-7017-05492A769C0F}"/>
              </a:ext>
            </a:extLst>
          </p:cNvPr>
          <p:cNvSpPr txBox="1"/>
          <p:nvPr/>
        </p:nvSpPr>
        <p:spPr bwMode="gray">
          <a:xfrm>
            <a:off x="7605288" y="2358717"/>
            <a:ext cx="486433" cy="184666"/>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Holder</a:t>
            </a:r>
            <a:endParaRPr lang="ja-JP" altLang="en-US" sz="1200">
              <a:solidFill>
                <a:prstClr val="black"/>
              </a:solidFill>
              <a:latin typeface="+mn-ea"/>
              <a:ea typeface="+mn-ea"/>
              <a:cs typeface="Arial" charset="0"/>
            </a:endParaRPr>
          </a:p>
        </p:txBody>
      </p:sp>
      <p:grpSp>
        <p:nvGrpSpPr>
          <p:cNvPr id="61" name="グループ化 60">
            <a:extLst>
              <a:ext uri="{FF2B5EF4-FFF2-40B4-BE49-F238E27FC236}">
                <a16:creationId xmlns:a16="http://schemas.microsoft.com/office/drawing/2014/main" id="{06A24270-818E-E0C7-2783-0BD6C0C38960}"/>
              </a:ext>
            </a:extLst>
          </p:cNvPr>
          <p:cNvGrpSpPr/>
          <p:nvPr/>
        </p:nvGrpSpPr>
        <p:grpSpPr>
          <a:xfrm>
            <a:off x="6325051" y="1838822"/>
            <a:ext cx="336007" cy="538069"/>
            <a:chOff x="376047" y="2696060"/>
            <a:chExt cx="336007" cy="538069"/>
          </a:xfrm>
        </p:grpSpPr>
        <p:sp>
          <p:nvSpPr>
            <p:cNvPr id="62" name="楕円 15">
              <a:extLst>
                <a:ext uri="{FF2B5EF4-FFF2-40B4-BE49-F238E27FC236}">
                  <a16:creationId xmlns:a16="http://schemas.microsoft.com/office/drawing/2014/main" id="{6FC92847-4BC5-5C60-FCEF-FB9DE81CBBD3}"/>
                </a:ext>
              </a:extLst>
            </p:cNvPr>
            <p:cNvSpPr/>
            <p:nvPr/>
          </p:nvSpPr>
          <p:spPr bwMode="gray">
            <a:xfrm>
              <a:off x="422972" y="2696060"/>
              <a:ext cx="242159" cy="242159"/>
            </a:xfrm>
            <a:prstGeom prst="ellips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a:solidFill>
                  <a:prstClr val="black"/>
                </a:solidFill>
                <a:latin typeface="+mn-ea"/>
                <a:ea typeface="+mn-ea"/>
                <a:cs typeface="Arial" charset="0"/>
              </a:endParaRPr>
            </a:p>
          </p:txBody>
        </p:sp>
        <p:sp>
          <p:nvSpPr>
            <p:cNvPr id="63" name="矢印: 五方向 16">
              <a:extLst>
                <a:ext uri="{FF2B5EF4-FFF2-40B4-BE49-F238E27FC236}">
                  <a16:creationId xmlns:a16="http://schemas.microsoft.com/office/drawing/2014/main" id="{4951D37C-6C98-FEC8-3E91-505FA4D0D4D6}"/>
                </a:ext>
              </a:extLst>
            </p:cNvPr>
            <p:cNvSpPr/>
            <p:nvPr/>
          </p:nvSpPr>
          <p:spPr bwMode="gray">
            <a:xfrm rot="16200000">
              <a:off x="366497" y="2888571"/>
              <a:ext cx="355108" cy="336007"/>
            </a:xfrm>
            <a:prstGeom prst="homePlat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a:solidFill>
                  <a:prstClr val="black"/>
                </a:solidFill>
                <a:latin typeface="+mn-ea"/>
                <a:ea typeface="+mn-ea"/>
                <a:cs typeface="Arial" charset="0"/>
              </a:endParaRPr>
            </a:p>
          </p:txBody>
        </p:sp>
      </p:grpSp>
      <p:sp>
        <p:nvSpPr>
          <p:cNvPr id="64" name="テキスト ボックス 63">
            <a:extLst>
              <a:ext uri="{FF2B5EF4-FFF2-40B4-BE49-F238E27FC236}">
                <a16:creationId xmlns:a16="http://schemas.microsoft.com/office/drawing/2014/main" id="{9C91E380-F47D-772F-FB97-5B413A079C3C}"/>
              </a:ext>
            </a:extLst>
          </p:cNvPr>
          <p:cNvSpPr txBox="1"/>
          <p:nvPr/>
        </p:nvSpPr>
        <p:spPr bwMode="gray">
          <a:xfrm>
            <a:off x="6249838" y="2358717"/>
            <a:ext cx="486433" cy="184666"/>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Issuer</a:t>
            </a:r>
            <a:endParaRPr lang="ja-JP" altLang="en-US" sz="1200">
              <a:solidFill>
                <a:prstClr val="black"/>
              </a:solidFill>
              <a:latin typeface="+mn-ea"/>
              <a:ea typeface="+mn-ea"/>
              <a:cs typeface="Arial" charset="0"/>
            </a:endParaRPr>
          </a:p>
        </p:txBody>
      </p:sp>
      <p:grpSp>
        <p:nvGrpSpPr>
          <p:cNvPr id="65" name="グループ化 64">
            <a:extLst>
              <a:ext uri="{FF2B5EF4-FFF2-40B4-BE49-F238E27FC236}">
                <a16:creationId xmlns:a16="http://schemas.microsoft.com/office/drawing/2014/main" id="{1ACC5501-2C02-0FC3-DBAC-1A10E753CABA}"/>
              </a:ext>
            </a:extLst>
          </p:cNvPr>
          <p:cNvGrpSpPr/>
          <p:nvPr/>
        </p:nvGrpSpPr>
        <p:grpSpPr>
          <a:xfrm>
            <a:off x="8960738" y="1838822"/>
            <a:ext cx="336007" cy="538069"/>
            <a:chOff x="376047" y="2696060"/>
            <a:chExt cx="336007" cy="538069"/>
          </a:xfrm>
        </p:grpSpPr>
        <p:sp>
          <p:nvSpPr>
            <p:cNvPr id="66" name="楕円 15">
              <a:extLst>
                <a:ext uri="{FF2B5EF4-FFF2-40B4-BE49-F238E27FC236}">
                  <a16:creationId xmlns:a16="http://schemas.microsoft.com/office/drawing/2014/main" id="{CF1790B4-F497-D295-9693-F26B5E97700A}"/>
                </a:ext>
              </a:extLst>
            </p:cNvPr>
            <p:cNvSpPr/>
            <p:nvPr/>
          </p:nvSpPr>
          <p:spPr bwMode="gray">
            <a:xfrm>
              <a:off x="422972" y="2696060"/>
              <a:ext cx="242159" cy="242159"/>
            </a:xfrm>
            <a:prstGeom prst="ellips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a:solidFill>
                  <a:prstClr val="black"/>
                </a:solidFill>
                <a:latin typeface="+mn-ea"/>
                <a:ea typeface="+mn-ea"/>
                <a:cs typeface="Arial" charset="0"/>
              </a:endParaRPr>
            </a:p>
          </p:txBody>
        </p:sp>
        <p:sp>
          <p:nvSpPr>
            <p:cNvPr id="67" name="矢印: 五方向 16">
              <a:extLst>
                <a:ext uri="{FF2B5EF4-FFF2-40B4-BE49-F238E27FC236}">
                  <a16:creationId xmlns:a16="http://schemas.microsoft.com/office/drawing/2014/main" id="{C8950688-A94B-B215-9C91-63E9BFE7703F}"/>
                </a:ext>
              </a:extLst>
            </p:cNvPr>
            <p:cNvSpPr/>
            <p:nvPr/>
          </p:nvSpPr>
          <p:spPr bwMode="gray">
            <a:xfrm rot="16200000">
              <a:off x="366497" y="2888571"/>
              <a:ext cx="355108" cy="336007"/>
            </a:xfrm>
            <a:prstGeom prst="homePlat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a:solidFill>
                  <a:prstClr val="black"/>
                </a:solidFill>
                <a:latin typeface="+mn-ea"/>
                <a:ea typeface="+mn-ea"/>
                <a:cs typeface="Arial" charset="0"/>
              </a:endParaRPr>
            </a:p>
          </p:txBody>
        </p:sp>
      </p:grpSp>
      <p:sp>
        <p:nvSpPr>
          <p:cNvPr id="68" name="テキスト ボックス 67">
            <a:extLst>
              <a:ext uri="{FF2B5EF4-FFF2-40B4-BE49-F238E27FC236}">
                <a16:creationId xmlns:a16="http://schemas.microsoft.com/office/drawing/2014/main" id="{7E3B160E-4E50-FBF5-BF12-C3AF12232FC4}"/>
              </a:ext>
            </a:extLst>
          </p:cNvPr>
          <p:cNvSpPr txBox="1"/>
          <p:nvPr/>
        </p:nvSpPr>
        <p:spPr bwMode="gray">
          <a:xfrm>
            <a:off x="8885525" y="2358717"/>
            <a:ext cx="486433" cy="184666"/>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Verifier</a:t>
            </a:r>
            <a:endParaRPr lang="ja-JP" altLang="en-US" sz="1200">
              <a:solidFill>
                <a:prstClr val="black"/>
              </a:solidFill>
              <a:latin typeface="+mn-ea"/>
              <a:ea typeface="+mn-ea"/>
              <a:cs typeface="Arial" charset="0"/>
            </a:endParaRPr>
          </a:p>
        </p:txBody>
      </p:sp>
      <p:sp>
        <p:nvSpPr>
          <p:cNvPr id="69" name="正方形/長方形 68">
            <a:extLst>
              <a:ext uri="{FF2B5EF4-FFF2-40B4-BE49-F238E27FC236}">
                <a16:creationId xmlns:a16="http://schemas.microsoft.com/office/drawing/2014/main" id="{A1EE3189-526D-DC8E-CEFF-C0AF749C5890}"/>
              </a:ext>
            </a:extLst>
          </p:cNvPr>
          <p:cNvSpPr/>
          <p:nvPr/>
        </p:nvSpPr>
        <p:spPr bwMode="gray">
          <a:xfrm>
            <a:off x="6055022" y="2557698"/>
            <a:ext cx="876065" cy="3001835"/>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a:ln>
                <a:noFill/>
              </a:ln>
              <a:solidFill>
                <a:prstClr val="black"/>
              </a:solidFill>
              <a:effectLst/>
              <a:uLnTx/>
              <a:uFillTx/>
              <a:latin typeface="+mn-ea"/>
              <a:ea typeface="+mn-ea"/>
              <a:cs typeface="+mn-cs"/>
            </a:endParaRPr>
          </a:p>
        </p:txBody>
      </p:sp>
      <p:sp>
        <p:nvSpPr>
          <p:cNvPr id="70" name="正方形/長方形 69">
            <a:extLst>
              <a:ext uri="{FF2B5EF4-FFF2-40B4-BE49-F238E27FC236}">
                <a16:creationId xmlns:a16="http://schemas.microsoft.com/office/drawing/2014/main" id="{6D21963A-0FAF-CD39-1D8A-71DBA5A7A989}"/>
              </a:ext>
            </a:extLst>
          </p:cNvPr>
          <p:cNvSpPr/>
          <p:nvPr/>
        </p:nvSpPr>
        <p:spPr bwMode="gray">
          <a:xfrm>
            <a:off x="7422873" y="2557698"/>
            <a:ext cx="876065" cy="3001835"/>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a:ln>
                <a:noFill/>
              </a:ln>
              <a:solidFill>
                <a:prstClr val="black"/>
              </a:solidFill>
              <a:effectLst/>
              <a:uLnTx/>
              <a:uFillTx/>
              <a:latin typeface="+mn-ea"/>
              <a:ea typeface="+mn-ea"/>
              <a:cs typeface="+mn-cs"/>
            </a:endParaRPr>
          </a:p>
        </p:txBody>
      </p:sp>
      <p:sp>
        <p:nvSpPr>
          <p:cNvPr id="71" name="正方形/長方形 70">
            <a:extLst>
              <a:ext uri="{FF2B5EF4-FFF2-40B4-BE49-F238E27FC236}">
                <a16:creationId xmlns:a16="http://schemas.microsoft.com/office/drawing/2014/main" id="{94DBF826-33DD-FEAA-0E8C-34F70B63A47F}"/>
              </a:ext>
            </a:extLst>
          </p:cNvPr>
          <p:cNvSpPr/>
          <p:nvPr/>
        </p:nvSpPr>
        <p:spPr bwMode="gray">
          <a:xfrm>
            <a:off x="8690709" y="2557698"/>
            <a:ext cx="876065" cy="3001835"/>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a:ln>
                <a:noFill/>
              </a:ln>
              <a:solidFill>
                <a:prstClr val="black"/>
              </a:solidFill>
              <a:effectLst/>
              <a:uLnTx/>
              <a:uFillTx/>
              <a:latin typeface="+mn-ea"/>
              <a:ea typeface="+mn-ea"/>
              <a:cs typeface="+mn-cs"/>
            </a:endParaRPr>
          </a:p>
        </p:txBody>
      </p:sp>
      <p:sp>
        <p:nvSpPr>
          <p:cNvPr id="72" name="正方形/長方形 71">
            <a:extLst>
              <a:ext uri="{FF2B5EF4-FFF2-40B4-BE49-F238E27FC236}">
                <a16:creationId xmlns:a16="http://schemas.microsoft.com/office/drawing/2014/main" id="{EE83AC17-7C1D-46D3-449F-A99A044910D2}"/>
              </a:ext>
            </a:extLst>
          </p:cNvPr>
          <p:cNvSpPr/>
          <p:nvPr/>
        </p:nvSpPr>
        <p:spPr bwMode="gray">
          <a:xfrm>
            <a:off x="7495197" y="2624438"/>
            <a:ext cx="731417" cy="373380"/>
          </a:xfrm>
          <a:prstGeom prst="rect">
            <a:avLst/>
          </a:prstGeom>
          <a:no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発行</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リクエスト</a:t>
            </a:r>
          </a:p>
        </p:txBody>
      </p:sp>
      <p:sp>
        <p:nvSpPr>
          <p:cNvPr id="73" name="正方形/長方形 72">
            <a:extLst>
              <a:ext uri="{FF2B5EF4-FFF2-40B4-BE49-F238E27FC236}">
                <a16:creationId xmlns:a16="http://schemas.microsoft.com/office/drawing/2014/main" id="{CA712A48-1DFB-C54D-83AB-47B5124757ED}"/>
              </a:ext>
            </a:extLst>
          </p:cNvPr>
          <p:cNvSpPr/>
          <p:nvPr/>
        </p:nvSpPr>
        <p:spPr bwMode="gray">
          <a:xfrm>
            <a:off x="6129862" y="2923006"/>
            <a:ext cx="731417" cy="373380"/>
          </a:xfrm>
          <a:prstGeom prst="rect">
            <a:avLst/>
          </a:prstGeom>
          <a:no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発行</a:t>
            </a:r>
          </a:p>
        </p:txBody>
      </p:sp>
      <p:sp>
        <p:nvSpPr>
          <p:cNvPr id="74" name="正方形/長方形 73">
            <a:extLst>
              <a:ext uri="{FF2B5EF4-FFF2-40B4-BE49-F238E27FC236}">
                <a16:creationId xmlns:a16="http://schemas.microsoft.com/office/drawing/2014/main" id="{E23AB035-35C7-E6B4-23B3-5D282B4B724D}"/>
              </a:ext>
            </a:extLst>
          </p:cNvPr>
          <p:cNvSpPr/>
          <p:nvPr/>
        </p:nvSpPr>
        <p:spPr bwMode="gray">
          <a:xfrm>
            <a:off x="7469974" y="3226110"/>
            <a:ext cx="731417" cy="373380"/>
          </a:xfrm>
          <a:prstGeom prst="rect">
            <a:avLst/>
          </a:prstGeom>
          <a:no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格納</a:t>
            </a:r>
          </a:p>
        </p:txBody>
      </p:sp>
      <p:cxnSp>
        <p:nvCxnSpPr>
          <p:cNvPr id="75" name="コネクタ: カギ線 74">
            <a:extLst>
              <a:ext uri="{FF2B5EF4-FFF2-40B4-BE49-F238E27FC236}">
                <a16:creationId xmlns:a16="http://schemas.microsoft.com/office/drawing/2014/main" id="{7E096068-8076-FE74-9A81-1A324809CDD2}"/>
              </a:ext>
            </a:extLst>
          </p:cNvPr>
          <p:cNvCxnSpPr>
            <a:cxnSpLocks/>
            <a:stCxn id="72" idx="1"/>
            <a:endCxn id="73" idx="0"/>
          </p:cNvCxnSpPr>
          <p:nvPr/>
        </p:nvCxnSpPr>
        <p:spPr bwMode="gray">
          <a:xfrm rot="10800000" flipV="1">
            <a:off x="6495571" y="2811128"/>
            <a:ext cx="999626" cy="111878"/>
          </a:xfrm>
          <a:prstGeom prst="bentConnector2">
            <a:avLst/>
          </a:prstGeom>
          <a:noFill/>
          <a:ln w="12700" cap="flat" cmpd="sng" algn="ctr">
            <a:solidFill>
              <a:srgbClr val="53565A"/>
            </a:solidFill>
            <a:prstDash val="solid"/>
            <a:tailEnd type="triangle"/>
          </a:ln>
          <a:effectLst/>
        </p:spPr>
      </p:cxnSp>
      <p:cxnSp>
        <p:nvCxnSpPr>
          <p:cNvPr id="76" name="コネクタ: カギ線 75">
            <a:extLst>
              <a:ext uri="{FF2B5EF4-FFF2-40B4-BE49-F238E27FC236}">
                <a16:creationId xmlns:a16="http://schemas.microsoft.com/office/drawing/2014/main" id="{EBF98109-A798-60AE-22F2-EE501EBCE6A5}"/>
              </a:ext>
            </a:extLst>
          </p:cNvPr>
          <p:cNvCxnSpPr>
            <a:cxnSpLocks/>
            <a:stCxn id="73" idx="3"/>
            <a:endCxn id="74" idx="0"/>
          </p:cNvCxnSpPr>
          <p:nvPr/>
        </p:nvCxnSpPr>
        <p:spPr bwMode="gray">
          <a:xfrm>
            <a:off x="6861279" y="3109696"/>
            <a:ext cx="974404" cy="116414"/>
          </a:xfrm>
          <a:prstGeom prst="bentConnector2">
            <a:avLst/>
          </a:prstGeom>
          <a:noFill/>
          <a:ln w="12700" cap="flat" cmpd="sng" algn="ctr">
            <a:solidFill>
              <a:srgbClr val="53565A"/>
            </a:solidFill>
            <a:prstDash val="solid"/>
            <a:tailEnd type="triangle"/>
          </a:ln>
          <a:effectLst/>
        </p:spPr>
      </p:cxnSp>
      <p:sp>
        <p:nvSpPr>
          <p:cNvPr id="77" name="正方形/長方形 76">
            <a:extLst>
              <a:ext uri="{FF2B5EF4-FFF2-40B4-BE49-F238E27FC236}">
                <a16:creationId xmlns:a16="http://schemas.microsoft.com/office/drawing/2014/main" id="{948143BD-B253-0D7D-A90D-4AA717258525}"/>
              </a:ext>
            </a:extLst>
          </p:cNvPr>
          <p:cNvSpPr/>
          <p:nvPr/>
        </p:nvSpPr>
        <p:spPr bwMode="gray">
          <a:xfrm>
            <a:off x="8763032" y="3962710"/>
            <a:ext cx="731417" cy="373380"/>
          </a:xfrm>
          <a:prstGeom prst="rect">
            <a:avLst/>
          </a:prstGeom>
          <a:no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招待コード</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発行</a:t>
            </a:r>
          </a:p>
        </p:txBody>
      </p:sp>
      <p:sp>
        <p:nvSpPr>
          <p:cNvPr id="78" name="正方形/長方形 77">
            <a:extLst>
              <a:ext uri="{FF2B5EF4-FFF2-40B4-BE49-F238E27FC236}">
                <a16:creationId xmlns:a16="http://schemas.microsoft.com/office/drawing/2014/main" id="{17CC053D-9455-212E-6B11-8DC883C79523}"/>
              </a:ext>
            </a:extLst>
          </p:cNvPr>
          <p:cNvSpPr/>
          <p:nvPr/>
        </p:nvSpPr>
        <p:spPr bwMode="gray">
          <a:xfrm>
            <a:off x="7491929" y="4263572"/>
            <a:ext cx="731417" cy="373380"/>
          </a:xfrm>
          <a:prstGeom prst="rect">
            <a:avLst/>
          </a:prstGeom>
          <a:no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Verifier</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接続</a:t>
            </a:r>
          </a:p>
        </p:txBody>
      </p:sp>
      <p:sp>
        <p:nvSpPr>
          <p:cNvPr id="79" name="正方形/長方形 78">
            <a:extLst>
              <a:ext uri="{FF2B5EF4-FFF2-40B4-BE49-F238E27FC236}">
                <a16:creationId xmlns:a16="http://schemas.microsoft.com/office/drawing/2014/main" id="{C70A4EAE-EBC6-D14B-874F-1F7203D71AF4}"/>
              </a:ext>
            </a:extLst>
          </p:cNvPr>
          <p:cNvSpPr/>
          <p:nvPr/>
        </p:nvSpPr>
        <p:spPr bwMode="gray">
          <a:xfrm>
            <a:off x="8746491" y="4548052"/>
            <a:ext cx="731417" cy="373380"/>
          </a:xfrm>
          <a:prstGeom prst="rect">
            <a:avLst/>
          </a:prstGeom>
          <a:no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Proof</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要求</a:t>
            </a:r>
          </a:p>
        </p:txBody>
      </p:sp>
      <p:sp>
        <p:nvSpPr>
          <p:cNvPr id="80" name="正方形/長方形 79">
            <a:extLst>
              <a:ext uri="{FF2B5EF4-FFF2-40B4-BE49-F238E27FC236}">
                <a16:creationId xmlns:a16="http://schemas.microsoft.com/office/drawing/2014/main" id="{F7A00B6B-312B-02E5-7D55-A7107A06DB28}"/>
              </a:ext>
            </a:extLst>
          </p:cNvPr>
          <p:cNvSpPr/>
          <p:nvPr/>
        </p:nvSpPr>
        <p:spPr bwMode="gray">
          <a:xfrm>
            <a:off x="7479895" y="4817032"/>
            <a:ext cx="731417" cy="373380"/>
          </a:xfrm>
          <a:prstGeom prst="rect">
            <a:avLst/>
          </a:prstGeom>
          <a:no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Proof</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作成</a:t>
            </a:r>
          </a:p>
        </p:txBody>
      </p:sp>
      <p:sp>
        <p:nvSpPr>
          <p:cNvPr id="81" name="正方形/長方形 80">
            <a:extLst>
              <a:ext uri="{FF2B5EF4-FFF2-40B4-BE49-F238E27FC236}">
                <a16:creationId xmlns:a16="http://schemas.microsoft.com/office/drawing/2014/main" id="{9C98E03A-3164-9A52-2272-3916837321D9}"/>
              </a:ext>
            </a:extLst>
          </p:cNvPr>
          <p:cNvSpPr/>
          <p:nvPr/>
        </p:nvSpPr>
        <p:spPr bwMode="gray">
          <a:xfrm>
            <a:off x="8735727" y="5101022"/>
            <a:ext cx="731417" cy="373380"/>
          </a:xfrm>
          <a:prstGeom prst="rect">
            <a:avLst/>
          </a:prstGeom>
          <a:no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Proof</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検証</a:t>
            </a:r>
          </a:p>
        </p:txBody>
      </p:sp>
      <p:cxnSp>
        <p:nvCxnSpPr>
          <p:cNvPr id="82" name="コネクタ: カギ線 81">
            <a:extLst>
              <a:ext uri="{FF2B5EF4-FFF2-40B4-BE49-F238E27FC236}">
                <a16:creationId xmlns:a16="http://schemas.microsoft.com/office/drawing/2014/main" id="{EB524F1F-FB03-A3B0-3B23-5B044D7EA02E}"/>
              </a:ext>
            </a:extLst>
          </p:cNvPr>
          <p:cNvCxnSpPr>
            <a:cxnSpLocks/>
            <a:stCxn id="77" idx="1"/>
            <a:endCxn id="78" idx="0"/>
          </p:cNvCxnSpPr>
          <p:nvPr/>
        </p:nvCxnSpPr>
        <p:spPr bwMode="gray">
          <a:xfrm rot="10800000" flipV="1">
            <a:off x="7857638" y="4149400"/>
            <a:ext cx="905394" cy="114172"/>
          </a:xfrm>
          <a:prstGeom prst="bentConnector2">
            <a:avLst/>
          </a:prstGeom>
          <a:noFill/>
          <a:ln w="12700" cap="flat" cmpd="sng" algn="ctr">
            <a:solidFill>
              <a:srgbClr val="53565A"/>
            </a:solidFill>
            <a:prstDash val="solid"/>
            <a:tailEnd type="triangle"/>
          </a:ln>
          <a:effectLst/>
        </p:spPr>
      </p:cxnSp>
      <p:cxnSp>
        <p:nvCxnSpPr>
          <p:cNvPr id="83" name="コネクタ: カギ線 82">
            <a:extLst>
              <a:ext uri="{FF2B5EF4-FFF2-40B4-BE49-F238E27FC236}">
                <a16:creationId xmlns:a16="http://schemas.microsoft.com/office/drawing/2014/main" id="{54404F34-9022-6150-352E-DC1B75996730}"/>
              </a:ext>
            </a:extLst>
          </p:cNvPr>
          <p:cNvCxnSpPr>
            <a:cxnSpLocks/>
            <a:stCxn id="78" idx="3"/>
            <a:endCxn id="79" idx="0"/>
          </p:cNvCxnSpPr>
          <p:nvPr/>
        </p:nvCxnSpPr>
        <p:spPr bwMode="gray">
          <a:xfrm>
            <a:off x="8223346" y="4450262"/>
            <a:ext cx="888854" cy="97790"/>
          </a:xfrm>
          <a:prstGeom prst="bentConnector2">
            <a:avLst/>
          </a:prstGeom>
          <a:noFill/>
          <a:ln w="12700" cap="flat" cmpd="sng" algn="ctr">
            <a:solidFill>
              <a:srgbClr val="53565A"/>
            </a:solidFill>
            <a:prstDash val="solid"/>
            <a:tailEnd type="triangle"/>
          </a:ln>
          <a:effectLst/>
        </p:spPr>
      </p:cxnSp>
      <p:cxnSp>
        <p:nvCxnSpPr>
          <p:cNvPr id="84" name="コネクタ: カギ線 83">
            <a:extLst>
              <a:ext uri="{FF2B5EF4-FFF2-40B4-BE49-F238E27FC236}">
                <a16:creationId xmlns:a16="http://schemas.microsoft.com/office/drawing/2014/main" id="{B97D0EC6-0A79-84A8-D281-5FB00F459133}"/>
              </a:ext>
            </a:extLst>
          </p:cNvPr>
          <p:cNvCxnSpPr>
            <a:cxnSpLocks/>
            <a:stCxn id="79" idx="1"/>
            <a:endCxn id="80" idx="0"/>
          </p:cNvCxnSpPr>
          <p:nvPr/>
        </p:nvCxnSpPr>
        <p:spPr bwMode="gray">
          <a:xfrm rot="10800000" flipV="1">
            <a:off x="7845605" y="4734742"/>
            <a:ext cx="900887" cy="82290"/>
          </a:xfrm>
          <a:prstGeom prst="bentConnector2">
            <a:avLst/>
          </a:prstGeom>
          <a:noFill/>
          <a:ln w="12700" cap="flat" cmpd="sng" algn="ctr">
            <a:solidFill>
              <a:srgbClr val="53565A"/>
            </a:solidFill>
            <a:prstDash val="solid"/>
            <a:tailEnd type="triangle"/>
          </a:ln>
          <a:effectLst/>
        </p:spPr>
      </p:cxnSp>
      <p:cxnSp>
        <p:nvCxnSpPr>
          <p:cNvPr id="85" name="コネクタ: カギ線 84">
            <a:extLst>
              <a:ext uri="{FF2B5EF4-FFF2-40B4-BE49-F238E27FC236}">
                <a16:creationId xmlns:a16="http://schemas.microsoft.com/office/drawing/2014/main" id="{1A74A525-AE70-7C2A-8847-938E94B54566}"/>
              </a:ext>
            </a:extLst>
          </p:cNvPr>
          <p:cNvCxnSpPr>
            <a:cxnSpLocks/>
            <a:stCxn id="80" idx="3"/>
            <a:endCxn id="81" idx="0"/>
          </p:cNvCxnSpPr>
          <p:nvPr/>
        </p:nvCxnSpPr>
        <p:spPr bwMode="gray">
          <a:xfrm>
            <a:off x="8211312" y="5003722"/>
            <a:ext cx="890124" cy="97300"/>
          </a:xfrm>
          <a:prstGeom prst="bentConnector2">
            <a:avLst/>
          </a:prstGeom>
          <a:noFill/>
          <a:ln w="12700" cap="flat" cmpd="sng" algn="ctr">
            <a:solidFill>
              <a:srgbClr val="53565A"/>
            </a:solidFill>
            <a:prstDash val="solid"/>
            <a:tailEnd type="triangle"/>
          </a:ln>
          <a:effectLst/>
        </p:spPr>
      </p:cxnSp>
      <p:sp>
        <p:nvSpPr>
          <p:cNvPr id="86" name="正方形/長方形 85">
            <a:extLst>
              <a:ext uri="{FF2B5EF4-FFF2-40B4-BE49-F238E27FC236}">
                <a16:creationId xmlns:a16="http://schemas.microsoft.com/office/drawing/2014/main" id="{7D941ECE-342D-4DAE-688F-88D7671AC394}"/>
              </a:ext>
            </a:extLst>
          </p:cNvPr>
          <p:cNvSpPr/>
          <p:nvPr/>
        </p:nvSpPr>
        <p:spPr bwMode="gray">
          <a:xfrm>
            <a:off x="7479895" y="3682675"/>
            <a:ext cx="731417" cy="373380"/>
          </a:xfrm>
          <a:prstGeom prst="rect">
            <a:avLst/>
          </a:prstGeom>
          <a:no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サービス</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登録</a:t>
            </a:r>
          </a:p>
        </p:txBody>
      </p:sp>
      <p:cxnSp>
        <p:nvCxnSpPr>
          <p:cNvPr id="87" name="コネクタ: カギ線 86">
            <a:extLst>
              <a:ext uri="{FF2B5EF4-FFF2-40B4-BE49-F238E27FC236}">
                <a16:creationId xmlns:a16="http://schemas.microsoft.com/office/drawing/2014/main" id="{F5376C2D-CD5E-967E-BAFC-2287035AF0F6}"/>
              </a:ext>
            </a:extLst>
          </p:cNvPr>
          <p:cNvCxnSpPr>
            <a:cxnSpLocks/>
            <a:stCxn id="86" idx="3"/>
            <a:endCxn id="77" idx="0"/>
          </p:cNvCxnSpPr>
          <p:nvPr/>
        </p:nvCxnSpPr>
        <p:spPr bwMode="gray">
          <a:xfrm>
            <a:off x="8211312" y="3869365"/>
            <a:ext cx="917429" cy="93345"/>
          </a:xfrm>
          <a:prstGeom prst="bentConnector2">
            <a:avLst/>
          </a:prstGeom>
          <a:noFill/>
          <a:ln w="12700" cap="flat" cmpd="sng" algn="ctr">
            <a:solidFill>
              <a:srgbClr val="53565A"/>
            </a:solidFill>
            <a:prstDash val="solid"/>
            <a:tailEnd type="triangle"/>
          </a:ln>
          <a:effectLst/>
        </p:spPr>
      </p:cxnSp>
      <p:sp>
        <p:nvSpPr>
          <p:cNvPr id="88" name="正方形/長方形 87">
            <a:extLst>
              <a:ext uri="{FF2B5EF4-FFF2-40B4-BE49-F238E27FC236}">
                <a16:creationId xmlns:a16="http://schemas.microsoft.com/office/drawing/2014/main" id="{62CD02F8-6F68-71E4-B496-3EB8B4F4612B}"/>
              </a:ext>
            </a:extLst>
          </p:cNvPr>
          <p:cNvSpPr/>
          <p:nvPr/>
        </p:nvSpPr>
        <p:spPr bwMode="gray">
          <a:xfrm>
            <a:off x="7508876" y="5706041"/>
            <a:ext cx="692516" cy="354005"/>
          </a:xfrm>
          <a:prstGeom prst="rect">
            <a:avLst/>
          </a:prstGeom>
          <a:solidFill>
            <a:srgbClr val="E3E48D"/>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800" b="0" i="0" u="none" strike="noStrike" kern="0" cap="none" spc="0" normalizeH="0" baseline="0" noProof="0">
                <a:ln>
                  <a:noFill/>
                </a:ln>
                <a:solidFill>
                  <a:prstClr val="black"/>
                </a:solidFill>
                <a:effectLst/>
                <a:uLnTx/>
                <a:uFillTx/>
                <a:latin typeface="+mn-ea"/>
                <a:ea typeface="+mn-ea"/>
                <a:cs typeface="Arial" charset="0"/>
              </a:rPr>
              <a:t>DID Document</a:t>
            </a: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800" b="0" i="0" u="none" strike="noStrike" kern="0" cap="none" spc="0" normalizeH="0" baseline="0" noProof="0">
                <a:ln>
                  <a:noFill/>
                </a:ln>
                <a:solidFill>
                  <a:prstClr val="black"/>
                </a:solidFill>
                <a:effectLst/>
                <a:uLnTx/>
                <a:uFillTx/>
                <a:latin typeface="+mn-ea"/>
                <a:ea typeface="+mn-ea"/>
                <a:cs typeface="Arial" charset="0"/>
              </a:rPr>
              <a:t>公開鍵</a:t>
            </a:r>
            <a:endParaRPr kumimoji="0" lang="en-US" altLang="ja-JP" sz="800" b="0" i="0" u="none" strike="noStrike" kern="0" cap="none" spc="0" normalizeH="0" baseline="0" noProof="0">
              <a:ln>
                <a:noFill/>
              </a:ln>
              <a:solidFill>
                <a:prstClr val="black"/>
              </a:solidFill>
              <a:effectLst/>
              <a:uLnTx/>
              <a:uFillTx/>
              <a:latin typeface="+mn-ea"/>
              <a:ea typeface="+mn-ea"/>
              <a:cs typeface="Arial" charset="0"/>
            </a:endParaRPr>
          </a:p>
        </p:txBody>
      </p:sp>
      <p:cxnSp>
        <p:nvCxnSpPr>
          <p:cNvPr id="89" name="コネクタ: カギ線 88">
            <a:extLst>
              <a:ext uri="{FF2B5EF4-FFF2-40B4-BE49-F238E27FC236}">
                <a16:creationId xmlns:a16="http://schemas.microsoft.com/office/drawing/2014/main" id="{A70FFF09-F057-9A21-22A5-5BCE79694912}"/>
              </a:ext>
            </a:extLst>
          </p:cNvPr>
          <p:cNvCxnSpPr>
            <a:cxnSpLocks/>
            <a:stCxn id="73" idx="2"/>
            <a:endCxn id="88" idx="1"/>
          </p:cNvCxnSpPr>
          <p:nvPr/>
        </p:nvCxnSpPr>
        <p:spPr bwMode="gray">
          <a:xfrm rot="16200000" flipH="1">
            <a:off x="5708894" y="4083062"/>
            <a:ext cx="2586658" cy="1013305"/>
          </a:xfrm>
          <a:prstGeom prst="bentConnector2">
            <a:avLst/>
          </a:prstGeom>
          <a:noFill/>
          <a:ln w="12700" cap="flat" cmpd="sng" algn="ctr">
            <a:solidFill>
              <a:srgbClr val="53565A"/>
            </a:solidFill>
            <a:prstDash val="solid"/>
            <a:tailEnd type="triangle"/>
          </a:ln>
          <a:effectLst/>
        </p:spPr>
      </p:cxnSp>
      <p:cxnSp>
        <p:nvCxnSpPr>
          <p:cNvPr id="90" name="コネクタ: カギ線 89">
            <a:extLst>
              <a:ext uri="{FF2B5EF4-FFF2-40B4-BE49-F238E27FC236}">
                <a16:creationId xmlns:a16="http://schemas.microsoft.com/office/drawing/2014/main" id="{70B591E2-8A70-DAAA-8F56-E75A3BA4C135}"/>
              </a:ext>
            </a:extLst>
          </p:cNvPr>
          <p:cNvCxnSpPr>
            <a:cxnSpLocks/>
            <a:stCxn id="88" idx="3"/>
            <a:endCxn id="81" idx="2"/>
          </p:cNvCxnSpPr>
          <p:nvPr/>
        </p:nvCxnSpPr>
        <p:spPr bwMode="gray">
          <a:xfrm flipV="1">
            <a:off x="8201392" y="5474402"/>
            <a:ext cx="900044" cy="408642"/>
          </a:xfrm>
          <a:prstGeom prst="bentConnector2">
            <a:avLst/>
          </a:prstGeom>
          <a:noFill/>
          <a:ln w="12700" cap="flat" cmpd="sng" algn="ctr">
            <a:solidFill>
              <a:srgbClr val="53565A"/>
            </a:solidFill>
            <a:prstDash val="solid"/>
            <a:tailEnd type="triangle"/>
          </a:ln>
          <a:effectLst/>
        </p:spPr>
      </p:cxnSp>
      <p:sp>
        <p:nvSpPr>
          <p:cNvPr id="91" name="正方形/長方形 90">
            <a:extLst>
              <a:ext uri="{FF2B5EF4-FFF2-40B4-BE49-F238E27FC236}">
                <a16:creationId xmlns:a16="http://schemas.microsoft.com/office/drawing/2014/main" id="{AD791C05-C18B-062C-C401-2C210DCF23C2}"/>
              </a:ext>
            </a:extLst>
          </p:cNvPr>
          <p:cNvSpPr/>
          <p:nvPr/>
        </p:nvSpPr>
        <p:spPr bwMode="gray">
          <a:xfrm>
            <a:off x="5934014" y="1360726"/>
            <a:ext cx="3632760" cy="242160"/>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prstClr val="white"/>
                </a:solidFill>
                <a:effectLst/>
                <a:uLnTx/>
                <a:uFillTx/>
                <a:latin typeface="+mn-ea"/>
                <a:ea typeface="+mn-ea"/>
                <a:cs typeface="Arial" charset="0"/>
              </a:rPr>
              <a:t>データ交換の流れ</a:t>
            </a:r>
            <a:endParaRPr kumimoji="0" lang="en-US" altLang="ja-JP"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92" name="正方形/長方形 91">
            <a:extLst>
              <a:ext uri="{FF2B5EF4-FFF2-40B4-BE49-F238E27FC236}">
                <a16:creationId xmlns:a16="http://schemas.microsoft.com/office/drawing/2014/main" id="{B746C6BA-3595-42FD-58CC-E185640B26F5}"/>
              </a:ext>
            </a:extLst>
          </p:cNvPr>
          <p:cNvSpPr/>
          <p:nvPr/>
        </p:nvSpPr>
        <p:spPr bwMode="gray">
          <a:xfrm>
            <a:off x="1203967" y="1349160"/>
            <a:ext cx="983605" cy="253724"/>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dirty="0">
                <a:ln>
                  <a:noFill/>
                </a:ln>
                <a:solidFill>
                  <a:prstClr val="white"/>
                </a:solidFill>
                <a:effectLst/>
                <a:uLnTx/>
                <a:uFillTx/>
                <a:latin typeface="+mn-ea"/>
                <a:ea typeface="+mn-ea"/>
                <a:cs typeface="Arial" charset="0"/>
              </a:rPr>
              <a:t>検討団体</a:t>
            </a:r>
            <a:endParaRPr kumimoji="0" lang="en-US" altLang="ja-JP" sz="1200" b="1" i="0" u="none" strike="noStrike" kern="0" cap="none" spc="0" normalizeH="0" baseline="0" noProof="0" dirty="0">
              <a:ln>
                <a:noFill/>
              </a:ln>
              <a:solidFill>
                <a:prstClr val="white"/>
              </a:solidFill>
              <a:effectLst/>
              <a:uLnTx/>
              <a:uFillTx/>
              <a:latin typeface="+mn-ea"/>
              <a:ea typeface="+mn-ea"/>
              <a:cs typeface="Arial" charset="0"/>
            </a:endParaRPr>
          </a:p>
        </p:txBody>
      </p:sp>
      <p:cxnSp>
        <p:nvCxnSpPr>
          <p:cNvPr id="94" name="直線コネクタ 93">
            <a:extLst>
              <a:ext uri="{FF2B5EF4-FFF2-40B4-BE49-F238E27FC236}">
                <a16:creationId xmlns:a16="http://schemas.microsoft.com/office/drawing/2014/main" id="{F923C4BE-CD4B-5EEB-3BC9-4FD38CABBEE5}"/>
              </a:ext>
            </a:extLst>
          </p:cNvPr>
          <p:cNvCxnSpPr/>
          <p:nvPr/>
        </p:nvCxnSpPr>
        <p:spPr>
          <a:xfrm>
            <a:off x="1110771" y="3991415"/>
            <a:ext cx="4708796" cy="0"/>
          </a:xfrm>
          <a:prstGeom prst="line">
            <a:avLst/>
          </a:prstGeom>
          <a:ln w="127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3" name="コンテンツ プレースホルダー 2">
            <a:extLst>
              <a:ext uri="{FF2B5EF4-FFF2-40B4-BE49-F238E27FC236}">
                <a16:creationId xmlns:a16="http://schemas.microsoft.com/office/drawing/2014/main" id="{E5E97A2A-DFE2-832F-970A-A8FD53495184}"/>
              </a:ext>
            </a:extLst>
          </p:cNvPr>
          <p:cNvSpPr txBox="1">
            <a:spLocks/>
          </p:cNvSpPr>
          <p:nvPr/>
        </p:nvSpPr>
        <p:spPr>
          <a:xfrm>
            <a:off x="273050" y="908050"/>
            <a:ext cx="9359900" cy="303324"/>
          </a:xfrm>
          <a:prstGeom prst="rect">
            <a:avLst/>
          </a:prstGeom>
          <a:ln>
            <a:solidFill>
              <a:schemeClr val="bg1"/>
            </a:solid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t>DIDComm</a:t>
            </a:r>
            <a:r>
              <a:rPr lang="ja-JP" altLang="en-US" dirty="0"/>
              <a:t>は一般的なメッセージングの仕様を定めており、</a:t>
            </a:r>
            <a:r>
              <a:rPr lang="en-US" altLang="ja-JP" dirty="0"/>
              <a:t>SIOPv2</a:t>
            </a:r>
            <a:r>
              <a:rPr lang="ja-JP" altLang="en-US" dirty="0"/>
              <a:t>は認証プロセス全体を規定している</a:t>
            </a:r>
          </a:p>
        </p:txBody>
      </p:sp>
      <p:sp>
        <p:nvSpPr>
          <p:cNvPr id="4" name="正方形/長方形 3">
            <a:extLst>
              <a:ext uri="{FF2B5EF4-FFF2-40B4-BE49-F238E27FC236}">
                <a16:creationId xmlns:a16="http://schemas.microsoft.com/office/drawing/2014/main" id="{7AC8DFEC-0144-FF03-4B55-D01B9FA10ABB}"/>
              </a:ext>
            </a:extLst>
          </p:cNvPr>
          <p:cNvSpPr/>
          <p:nvPr/>
        </p:nvSpPr>
        <p:spPr>
          <a:xfrm>
            <a:off x="1875716" y="135476"/>
            <a:ext cx="980645"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5" name="正方形/長方形 4">
            <a:extLst>
              <a:ext uri="{FF2B5EF4-FFF2-40B4-BE49-F238E27FC236}">
                <a16:creationId xmlns:a16="http://schemas.microsoft.com/office/drawing/2014/main" id="{66512CC5-7FD0-EE92-3506-F6ECA05F9979}"/>
              </a:ext>
            </a:extLst>
          </p:cNvPr>
          <p:cNvSpPr/>
          <p:nvPr/>
        </p:nvSpPr>
        <p:spPr>
          <a:xfrm>
            <a:off x="1875716" y="242366"/>
            <a:ext cx="491226" cy="1728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6" name="正方形/長方形 5">
            <a:extLst>
              <a:ext uri="{FF2B5EF4-FFF2-40B4-BE49-F238E27FC236}">
                <a16:creationId xmlns:a16="http://schemas.microsoft.com/office/drawing/2014/main" id="{8143AF0A-EACD-DE74-386C-6593E619603A}"/>
              </a:ext>
            </a:extLst>
          </p:cNvPr>
          <p:cNvSpPr/>
          <p:nvPr/>
        </p:nvSpPr>
        <p:spPr>
          <a:xfrm>
            <a:off x="2366942"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Credential</a:t>
            </a:r>
          </a:p>
          <a:p>
            <a:pPr algn="ctr"/>
            <a:r>
              <a:rPr lang="en-US" altLang="ja-JP" sz="500" dirty="0"/>
              <a:t>Proofing</a:t>
            </a:r>
            <a:endParaRPr lang="ja-JP" altLang="en-US" sz="500" dirty="0"/>
          </a:p>
        </p:txBody>
      </p:sp>
      <p:sp>
        <p:nvSpPr>
          <p:cNvPr id="7" name="正方形/長方形 6">
            <a:extLst>
              <a:ext uri="{FF2B5EF4-FFF2-40B4-BE49-F238E27FC236}">
                <a16:creationId xmlns:a16="http://schemas.microsoft.com/office/drawing/2014/main" id="{88C01405-F97F-88E2-CA0F-EE77039D3E14}"/>
              </a:ext>
            </a:extLst>
          </p:cNvPr>
          <p:cNvSpPr/>
          <p:nvPr/>
        </p:nvSpPr>
        <p:spPr>
          <a:xfrm>
            <a:off x="2858168"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Envelope</a:t>
            </a:r>
            <a:endParaRPr lang="ja-JP" altLang="en-US" sz="600" dirty="0"/>
          </a:p>
        </p:txBody>
      </p:sp>
      <p:sp>
        <p:nvSpPr>
          <p:cNvPr id="8" name="正方形/長方形 7">
            <a:extLst>
              <a:ext uri="{FF2B5EF4-FFF2-40B4-BE49-F238E27FC236}">
                <a16:creationId xmlns:a16="http://schemas.microsoft.com/office/drawing/2014/main" id="{F1FFE1A2-21CE-355C-4D49-519DB6FE49A8}"/>
              </a:ext>
            </a:extLst>
          </p:cNvPr>
          <p:cNvSpPr/>
          <p:nvPr/>
        </p:nvSpPr>
        <p:spPr>
          <a:xfrm>
            <a:off x="2856361" y="135476"/>
            <a:ext cx="983839"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Agent Layer</a:t>
            </a:r>
            <a:endParaRPr lang="ja-JP" altLang="en-US" sz="600" dirty="0"/>
          </a:p>
        </p:txBody>
      </p:sp>
      <p:sp>
        <p:nvSpPr>
          <p:cNvPr id="9" name="正方形/長方形 8">
            <a:extLst>
              <a:ext uri="{FF2B5EF4-FFF2-40B4-BE49-F238E27FC236}">
                <a16:creationId xmlns:a16="http://schemas.microsoft.com/office/drawing/2014/main" id="{9D6DCE0D-BA07-5D89-3D75-FA90F9FEB98D}"/>
              </a:ext>
            </a:extLst>
          </p:cNvPr>
          <p:cNvSpPr/>
          <p:nvPr/>
        </p:nvSpPr>
        <p:spPr>
          <a:xfrm>
            <a:off x="334926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Transport</a:t>
            </a:r>
            <a:endParaRPr kumimoji="1" lang="ja-JP" altLang="en-US" sz="600" dirty="0"/>
          </a:p>
        </p:txBody>
      </p:sp>
      <p:sp>
        <p:nvSpPr>
          <p:cNvPr id="10" name="正方形/長方形 9">
            <a:extLst>
              <a:ext uri="{FF2B5EF4-FFF2-40B4-BE49-F238E27FC236}">
                <a16:creationId xmlns:a16="http://schemas.microsoft.com/office/drawing/2014/main" id="{B8E7C5E1-0874-9789-E395-76D4C6857A8A}"/>
              </a:ext>
            </a:extLst>
          </p:cNvPr>
          <p:cNvSpPr/>
          <p:nvPr/>
        </p:nvSpPr>
        <p:spPr>
          <a:xfrm>
            <a:off x="38406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11" name="正方形/長方形 10">
            <a:extLst>
              <a:ext uri="{FF2B5EF4-FFF2-40B4-BE49-F238E27FC236}">
                <a16:creationId xmlns:a16="http://schemas.microsoft.com/office/drawing/2014/main" id="{376FCA6A-EACA-F921-FA6E-1149C7BEAC6B}"/>
              </a:ext>
            </a:extLst>
          </p:cNvPr>
          <p:cNvSpPr/>
          <p:nvPr/>
        </p:nvSpPr>
        <p:spPr>
          <a:xfrm>
            <a:off x="4824207"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latin typeface="+mn-ea"/>
              </a:rPr>
              <a:t>Anchor</a:t>
            </a:r>
            <a:r>
              <a:rPr lang="ja-JP" altLang="en-US" sz="600" dirty="0">
                <a:latin typeface="+mn-ea"/>
              </a:rPr>
              <a:t> </a:t>
            </a:r>
            <a:r>
              <a:rPr kumimoji="1" lang="en-US" altLang="ja-JP" sz="600" dirty="0">
                <a:latin typeface="+mn-ea"/>
              </a:rPr>
              <a:t>Types</a:t>
            </a:r>
            <a:endParaRPr kumimoji="1" lang="ja-JP" altLang="en-US" sz="600" dirty="0">
              <a:latin typeface="+mn-ea"/>
            </a:endParaRPr>
          </a:p>
        </p:txBody>
      </p:sp>
      <p:sp>
        <p:nvSpPr>
          <p:cNvPr id="12" name="正方形/長方形 11">
            <a:extLst>
              <a:ext uri="{FF2B5EF4-FFF2-40B4-BE49-F238E27FC236}">
                <a16:creationId xmlns:a16="http://schemas.microsoft.com/office/drawing/2014/main" id="{DCDFB7BD-4455-3661-60A4-0588D4312140}"/>
              </a:ext>
            </a:extLst>
          </p:cNvPr>
          <p:cNvSpPr/>
          <p:nvPr/>
        </p:nvSpPr>
        <p:spPr>
          <a:xfrm>
            <a:off x="531530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13" name="正方形/長方形 12">
            <a:extLst>
              <a:ext uri="{FF2B5EF4-FFF2-40B4-BE49-F238E27FC236}">
                <a16:creationId xmlns:a16="http://schemas.microsoft.com/office/drawing/2014/main" id="{A5B5B1C8-8C32-6C9B-52CB-393E4D9E60ED}"/>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14" name="正方形/長方形 13">
            <a:extLst>
              <a:ext uri="{FF2B5EF4-FFF2-40B4-BE49-F238E27FC236}">
                <a16:creationId xmlns:a16="http://schemas.microsoft.com/office/drawing/2014/main" id="{868451E8-6B15-00B3-1207-A9CF57E9A851}"/>
              </a:ext>
            </a:extLst>
          </p:cNvPr>
          <p:cNvSpPr/>
          <p:nvPr/>
        </p:nvSpPr>
        <p:spPr>
          <a:xfrm>
            <a:off x="6297630"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Disclosure</a:t>
            </a:r>
            <a:br>
              <a:rPr lang="en-US" altLang="ja-JP" sz="500" dirty="0"/>
            </a:br>
            <a:r>
              <a:rPr lang="en-US" altLang="ja-JP" sz="500" dirty="0"/>
              <a:t>/ZKP</a:t>
            </a:r>
          </a:p>
        </p:txBody>
      </p:sp>
      <p:sp>
        <p:nvSpPr>
          <p:cNvPr id="15" name="正方形/長方形 14">
            <a:extLst>
              <a:ext uri="{FF2B5EF4-FFF2-40B4-BE49-F238E27FC236}">
                <a16:creationId xmlns:a16="http://schemas.microsoft.com/office/drawing/2014/main" id="{159DCD7B-025B-D0A8-4BCD-0B3B230D6EA2}"/>
              </a:ext>
            </a:extLst>
          </p:cNvPr>
          <p:cNvSpPr/>
          <p:nvPr/>
        </p:nvSpPr>
        <p:spPr>
          <a:xfrm>
            <a:off x="67888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16" name="正方形/長方形 15">
            <a:extLst>
              <a:ext uri="{FF2B5EF4-FFF2-40B4-BE49-F238E27FC236}">
                <a16:creationId xmlns:a16="http://schemas.microsoft.com/office/drawing/2014/main" id="{5CC7F6F4-98B3-FE75-4492-BD698214D49E}"/>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17" name="正方形/長方形 16">
            <a:extLst>
              <a:ext uri="{FF2B5EF4-FFF2-40B4-BE49-F238E27FC236}">
                <a16:creationId xmlns:a16="http://schemas.microsoft.com/office/drawing/2014/main" id="{F9D23683-DC65-2744-5694-CD78AEF574A8}"/>
              </a:ext>
            </a:extLst>
          </p:cNvPr>
          <p:cNvSpPr/>
          <p:nvPr/>
        </p:nvSpPr>
        <p:spPr>
          <a:xfrm>
            <a:off x="7771053"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18" name="正方形/長方形 17">
            <a:extLst>
              <a:ext uri="{FF2B5EF4-FFF2-40B4-BE49-F238E27FC236}">
                <a16:creationId xmlns:a16="http://schemas.microsoft.com/office/drawing/2014/main" id="{B7DDF907-BD70-BEB0-A3BA-CA0256D9FC55}"/>
              </a:ext>
            </a:extLst>
          </p:cNvPr>
          <p:cNvSpPr/>
          <p:nvPr/>
        </p:nvSpPr>
        <p:spPr>
          <a:xfrm>
            <a:off x="3837006" y="135476"/>
            <a:ext cx="2461601"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19" name="正方形/長方形 18">
            <a:extLst>
              <a:ext uri="{FF2B5EF4-FFF2-40B4-BE49-F238E27FC236}">
                <a16:creationId xmlns:a16="http://schemas.microsoft.com/office/drawing/2014/main" id="{3B67A957-1B2C-5E2D-F0A9-C42440CD1323}"/>
              </a:ext>
            </a:extLst>
          </p:cNvPr>
          <p:cNvSpPr/>
          <p:nvPr/>
        </p:nvSpPr>
        <p:spPr>
          <a:xfrm>
            <a:off x="6297503" y="135476"/>
            <a:ext cx="1964776"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21" name="正方形/長方形 20">
            <a:extLst>
              <a:ext uri="{FF2B5EF4-FFF2-40B4-BE49-F238E27FC236}">
                <a16:creationId xmlns:a16="http://schemas.microsoft.com/office/drawing/2014/main" id="{817A18F9-961E-86D7-2E46-0AACE79E2473}"/>
              </a:ext>
            </a:extLst>
          </p:cNvPr>
          <p:cNvSpPr/>
          <p:nvPr/>
        </p:nvSpPr>
        <p:spPr>
          <a:xfrm>
            <a:off x="433291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363250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34245668-8D55-6634-8C7C-8E80C1895B60}"/>
              </a:ext>
            </a:extLst>
          </p:cNvPr>
          <p:cNvGraphicFramePr>
            <a:graphicFrameLocks noChangeAspect="1"/>
          </p:cNvGraphicFramePr>
          <p:nvPr>
            <p:custDataLst>
              <p:tags r:id="rId1"/>
            </p:custDataLst>
            <p:extLst>
              <p:ext uri="{D42A27DB-BD31-4B8C-83A1-F6EECF244321}">
                <p14:modId xmlns:p14="http://schemas.microsoft.com/office/powerpoint/2010/main" val="26059023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40" name="think-cell data - do not delete" hidden="1">
                        <a:extLst>
                          <a:ext uri="{FF2B5EF4-FFF2-40B4-BE49-F238E27FC236}">
                            <a16:creationId xmlns:a16="http://schemas.microsoft.com/office/drawing/2014/main" id="{34245668-8D55-6634-8C7C-8E80C1895B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12325518-247E-5AC4-5188-557B7588E521}"/>
              </a:ext>
            </a:extLst>
          </p:cNvPr>
          <p:cNvSpPr>
            <a:spLocks noGrp="1"/>
          </p:cNvSpPr>
          <p:nvPr>
            <p:ph type="title"/>
          </p:nvPr>
        </p:nvSpPr>
        <p:spPr>
          <a:xfrm>
            <a:off x="273050" y="447475"/>
            <a:ext cx="7848302" cy="246221"/>
          </a:xfrm>
        </p:spPr>
        <p:txBody>
          <a:bodyPr vert="horz"/>
          <a:lstStyle/>
          <a:p>
            <a:r>
              <a:rPr kumimoji="1" lang="en-US" altLang="ja-JP" sz="1600" dirty="0"/>
              <a:t>5.2. </a:t>
            </a:r>
            <a:r>
              <a:rPr kumimoji="1" lang="ja-JP" altLang="en-US" sz="1600" dirty="0"/>
              <a:t>規格・実装方式の詳細 </a:t>
            </a:r>
            <a:r>
              <a:rPr kumimoji="1" lang="en-US" altLang="ja-JP" sz="1600" dirty="0"/>
              <a:t>- (6</a:t>
            </a:r>
            <a:r>
              <a:rPr kumimoji="1" lang="en-US" altLang="ja-JP" dirty="0"/>
              <a:t>) </a:t>
            </a:r>
            <a:r>
              <a:rPr kumimoji="1" lang="ja-JP" altLang="en-US" dirty="0"/>
              <a:t>デバイス連携のための規格</a:t>
            </a:r>
          </a:p>
        </p:txBody>
      </p:sp>
      <p:sp>
        <p:nvSpPr>
          <p:cNvPr id="3" name="テキスト プレースホルダー 2">
            <a:extLst>
              <a:ext uri="{FF2B5EF4-FFF2-40B4-BE49-F238E27FC236}">
                <a16:creationId xmlns:a16="http://schemas.microsoft.com/office/drawing/2014/main" id="{AFC9445D-2D91-FD8E-DAEB-2ABF445A620A}"/>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4" name="正方形/長方形 3">
            <a:extLst>
              <a:ext uri="{FF2B5EF4-FFF2-40B4-BE49-F238E27FC236}">
                <a16:creationId xmlns:a16="http://schemas.microsoft.com/office/drawing/2014/main" id="{6EBB43D8-F5AE-421E-EF82-669953D2632E}"/>
              </a:ext>
            </a:extLst>
          </p:cNvPr>
          <p:cNvSpPr/>
          <p:nvPr/>
        </p:nvSpPr>
        <p:spPr bwMode="gray">
          <a:xfrm>
            <a:off x="273051" y="1909248"/>
            <a:ext cx="1180356" cy="1729953"/>
          </a:xfrm>
          <a:prstGeom prst="rect">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0" i="0" u="none" strike="noStrike" kern="0" cap="none" spc="0" normalizeH="0" baseline="0" noProof="0">
                <a:ln>
                  <a:noFill/>
                </a:ln>
                <a:solidFill>
                  <a:prstClr val="white"/>
                </a:solidFill>
                <a:effectLst/>
                <a:uLnTx/>
                <a:uFillTx/>
                <a:latin typeface="+mn-ea"/>
                <a:ea typeface="+mn-ea"/>
                <a:cs typeface="Arial" charset="0"/>
              </a:rPr>
              <a:t>OID4VP</a:t>
            </a:r>
          </a:p>
        </p:txBody>
      </p:sp>
      <p:sp>
        <p:nvSpPr>
          <p:cNvPr id="5" name="正方形/長方形 4">
            <a:extLst>
              <a:ext uri="{FF2B5EF4-FFF2-40B4-BE49-F238E27FC236}">
                <a16:creationId xmlns:a16="http://schemas.microsoft.com/office/drawing/2014/main" id="{683A31BF-54F9-DF19-F1EA-78051D72155D}"/>
              </a:ext>
            </a:extLst>
          </p:cNvPr>
          <p:cNvSpPr/>
          <p:nvPr/>
        </p:nvSpPr>
        <p:spPr bwMode="gray">
          <a:xfrm>
            <a:off x="4094921" y="2500373"/>
            <a:ext cx="5538028" cy="54446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ja-JP" sz="1200" b="0" i="0" u="none" strike="noStrike" kern="0" cap="none" spc="0" normalizeH="0" baseline="0" noProof="0" dirty="0">
                <a:ln>
                  <a:noFill/>
                </a:ln>
                <a:solidFill>
                  <a:prstClr val="black"/>
                </a:solidFill>
                <a:effectLst/>
                <a:uLnTx/>
                <a:uFillTx/>
                <a:latin typeface="+mn-ea"/>
                <a:ea typeface="+mn-ea"/>
                <a:cs typeface="Arial" charset="0"/>
              </a:rPr>
              <a:t>リダイレクトの代わりにQRコードを使用して、両デバイス間を連携</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ja-JP" sz="1200" b="0" i="0" u="none" strike="noStrike" kern="0" cap="none" spc="0" normalizeH="0" baseline="0" noProof="0" dirty="0">
                <a:ln>
                  <a:noFill/>
                </a:ln>
                <a:solidFill>
                  <a:prstClr val="black"/>
                </a:solidFill>
                <a:effectLst/>
                <a:uLnTx/>
                <a:uFillTx/>
                <a:latin typeface="+mn-ea"/>
                <a:ea typeface="+mn-ea"/>
                <a:cs typeface="Arial" charset="0"/>
              </a:rPr>
              <a:t>QRコード</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から</a:t>
            </a:r>
            <a:r>
              <a:rPr kumimoji="0" lang="ja-JP" altLang="ja-JP" sz="1200" b="0" i="0" u="none" strike="noStrike" kern="0" cap="none" spc="0" normalizeH="0" baseline="0" noProof="0" dirty="0">
                <a:ln>
                  <a:noFill/>
                </a:ln>
                <a:solidFill>
                  <a:prstClr val="black"/>
                </a:solidFill>
                <a:effectLst/>
                <a:uLnTx/>
                <a:uFillTx/>
                <a:latin typeface="+mn-ea"/>
                <a:ea typeface="+mn-ea"/>
                <a:cs typeface="Arial" charset="0"/>
              </a:rPr>
              <a:t>URI取得</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後</a:t>
            </a:r>
            <a:r>
              <a:rPr kumimoji="0" lang="ja-JP" altLang="ja-JP" sz="1200" b="0" i="0" u="none" strike="noStrike" kern="0" cap="none" spc="0" normalizeH="0" baseline="0" noProof="0" dirty="0">
                <a:ln>
                  <a:noFill/>
                </a:ln>
                <a:solidFill>
                  <a:prstClr val="black"/>
                </a:solidFill>
                <a:effectLst/>
                <a:uLnTx/>
                <a:uFillTx/>
                <a:latin typeface="+mn-ea"/>
                <a:ea typeface="+mn-ea"/>
                <a:cs typeface="Arial" charset="0"/>
              </a:rPr>
              <a:t>、検証者とウォレット間の通信はインターネット</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経由なため、検証側</a:t>
            </a:r>
            <a:r>
              <a:rPr kumimoji="0" lang="ja-JP" altLang="ja-JP" sz="1200" b="0" i="0" u="none" strike="noStrike" kern="0" cap="none" spc="0" normalizeH="0" baseline="0" noProof="0" dirty="0">
                <a:ln>
                  <a:noFill/>
                </a:ln>
                <a:solidFill>
                  <a:prstClr val="black"/>
                </a:solidFill>
                <a:effectLst/>
                <a:uLnTx/>
                <a:uFillTx/>
                <a:latin typeface="+mn-ea"/>
                <a:ea typeface="+mn-ea"/>
                <a:cs typeface="Arial" charset="0"/>
              </a:rPr>
              <a:t>はHTTPSリクエストを受信する</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機能が必要</a:t>
            </a:r>
            <a:endParaRPr kumimoji="0" lang="ja-JP"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6" name="正方形/長方形 5">
            <a:extLst>
              <a:ext uri="{FF2B5EF4-FFF2-40B4-BE49-F238E27FC236}">
                <a16:creationId xmlns:a16="http://schemas.microsoft.com/office/drawing/2014/main" id="{956B50D7-6E70-E737-B230-6093F1700B0D}"/>
              </a:ext>
            </a:extLst>
          </p:cNvPr>
          <p:cNvSpPr/>
          <p:nvPr/>
        </p:nvSpPr>
        <p:spPr bwMode="gray">
          <a:xfrm>
            <a:off x="1527365" y="2500373"/>
            <a:ext cx="2468165" cy="544468"/>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ja-JP" sz="1400" b="0" i="0" u="none" strike="noStrike" kern="0" cap="none" spc="0" normalizeH="0" baseline="0" noProof="0">
                <a:ln>
                  <a:noFill/>
                </a:ln>
                <a:solidFill>
                  <a:schemeClr val="accent1"/>
                </a:solidFill>
                <a:effectLst/>
                <a:uLnTx/>
                <a:uFillTx/>
                <a:latin typeface="+mn-ea"/>
                <a:ea typeface="+mn-ea"/>
                <a:cs typeface="Arial" charset="0"/>
              </a:rPr>
              <a:t>Cross Device Flow</a:t>
            </a:r>
            <a:endParaRPr kumimoji="0" lang="ja-JP" altLang="en-US" sz="1400" b="0" i="0" u="none" strike="noStrike" kern="0" cap="none" spc="0" normalizeH="0" baseline="0" noProof="0">
              <a:ln>
                <a:noFill/>
              </a:ln>
              <a:solidFill>
                <a:schemeClr val="accent1"/>
              </a:solidFill>
              <a:effectLst/>
              <a:uLnTx/>
              <a:uFillTx/>
              <a:latin typeface="+mn-ea"/>
              <a:ea typeface="+mn-ea"/>
              <a:cs typeface="Arial" charset="0"/>
            </a:endParaRPr>
          </a:p>
        </p:txBody>
      </p:sp>
      <p:sp>
        <p:nvSpPr>
          <p:cNvPr id="7" name="正方形/長方形 6">
            <a:extLst>
              <a:ext uri="{FF2B5EF4-FFF2-40B4-BE49-F238E27FC236}">
                <a16:creationId xmlns:a16="http://schemas.microsoft.com/office/drawing/2014/main" id="{81F89351-D2BF-C2D6-FEEC-B8826DA0598E}"/>
              </a:ext>
            </a:extLst>
          </p:cNvPr>
          <p:cNvSpPr/>
          <p:nvPr/>
        </p:nvSpPr>
        <p:spPr bwMode="gray">
          <a:xfrm>
            <a:off x="4094921" y="3094735"/>
            <a:ext cx="5538028" cy="54446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Bluetooth Low Energy (BLE)</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を活用することで、一方または双方のエンティティがインターネット機能がない場合でも、</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VP</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を要求し受信することが可能</a:t>
            </a:r>
          </a:p>
        </p:txBody>
      </p:sp>
      <p:sp>
        <p:nvSpPr>
          <p:cNvPr id="8" name="正方形/長方形 7">
            <a:extLst>
              <a:ext uri="{FF2B5EF4-FFF2-40B4-BE49-F238E27FC236}">
                <a16:creationId xmlns:a16="http://schemas.microsoft.com/office/drawing/2014/main" id="{2095770F-051E-9541-5DB2-E6E7BABFC624}"/>
              </a:ext>
            </a:extLst>
          </p:cNvPr>
          <p:cNvSpPr/>
          <p:nvPr/>
        </p:nvSpPr>
        <p:spPr bwMode="gray">
          <a:xfrm>
            <a:off x="1527365" y="3094735"/>
            <a:ext cx="2468165" cy="544468"/>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ja-JP" sz="1400" b="0" i="0" u="none" strike="noStrike" kern="0" cap="none" spc="0" normalizeH="0" baseline="0" noProof="0" dirty="0">
                <a:ln>
                  <a:noFill/>
                </a:ln>
                <a:solidFill>
                  <a:schemeClr val="accent1"/>
                </a:solidFill>
                <a:effectLst/>
                <a:uLnTx/>
                <a:uFillTx/>
                <a:latin typeface="+mn-ea"/>
                <a:ea typeface="+mn-ea"/>
                <a:cs typeface="Arial" charset="0"/>
              </a:rPr>
              <a:t>OpenID for Verifiable </a:t>
            </a:r>
            <a:endParaRPr kumimoji="0" lang="en-US" altLang="ja-JP" sz="1400" b="0" i="0" u="none" strike="noStrike" kern="0" cap="none" spc="0" normalizeH="0" baseline="0" noProof="0" dirty="0">
              <a:ln>
                <a:noFill/>
              </a:ln>
              <a:solidFill>
                <a:schemeClr val="accent1"/>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ja-JP" sz="1400" b="0" i="0" u="none" strike="noStrike" kern="0" cap="none" spc="0" normalizeH="0" baseline="0" noProof="0" dirty="0">
                <a:ln>
                  <a:noFill/>
                </a:ln>
                <a:solidFill>
                  <a:schemeClr val="accent1"/>
                </a:solidFill>
                <a:effectLst/>
                <a:uLnTx/>
                <a:uFillTx/>
                <a:latin typeface="+mn-ea"/>
                <a:ea typeface="+mn-ea"/>
                <a:cs typeface="Arial" charset="0"/>
              </a:rPr>
              <a:t>Presentations over BLE</a:t>
            </a:r>
            <a:endParaRPr kumimoji="0" lang="en-US" altLang="ja-JP" sz="1400" b="0" i="0" u="none" strike="noStrike" kern="0" cap="none" spc="0" normalizeH="0" baseline="0" noProof="0" dirty="0">
              <a:ln>
                <a:noFill/>
              </a:ln>
              <a:solidFill>
                <a:schemeClr val="accent1"/>
              </a:solidFill>
              <a:effectLst/>
              <a:uLnTx/>
              <a:uFillTx/>
              <a:latin typeface="+mn-ea"/>
              <a:ea typeface="+mn-ea"/>
              <a:cs typeface="Arial" charset="0"/>
            </a:endParaRPr>
          </a:p>
        </p:txBody>
      </p:sp>
      <p:sp>
        <p:nvSpPr>
          <p:cNvPr id="9" name="正方形/長方形 8">
            <a:extLst>
              <a:ext uri="{FF2B5EF4-FFF2-40B4-BE49-F238E27FC236}">
                <a16:creationId xmlns:a16="http://schemas.microsoft.com/office/drawing/2014/main" id="{39708ECA-7C92-4667-F25E-EAF808285CAB}"/>
              </a:ext>
            </a:extLst>
          </p:cNvPr>
          <p:cNvSpPr/>
          <p:nvPr/>
        </p:nvSpPr>
        <p:spPr bwMode="gray">
          <a:xfrm>
            <a:off x="4094921" y="1906013"/>
            <a:ext cx="5538028" cy="54446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ja-JP" sz="1200" b="0" i="0" u="none" strike="noStrike" kern="0" cap="none" spc="0" normalizeH="0" baseline="0" noProof="0">
                <a:ln>
                  <a:noFill/>
                </a:ln>
                <a:solidFill>
                  <a:prstClr val="black"/>
                </a:solidFill>
                <a:effectLst/>
                <a:uLnTx/>
                <a:uFillTx/>
                <a:latin typeface="+mn-ea"/>
                <a:ea typeface="+mn-ea"/>
                <a:cs typeface="Arial" charset="0"/>
              </a:rPr>
              <a:t>OID4VPを実行するソフトウェアとウォレットが同一デバイス上に存在する</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場合に</a:t>
            </a:r>
            <a:r>
              <a:rPr kumimoji="0" lang="ja-JP" altLang="ja-JP" sz="1200" b="0" i="0" u="none" strike="noStrike" kern="0" cap="none" spc="0" normalizeH="0" baseline="0" noProof="0">
                <a:ln>
                  <a:noFill/>
                </a:ln>
                <a:solidFill>
                  <a:prstClr val="black"/>
                </a:solidFill>
                <a:effectLst/>
                <a:uLnTx/>
                <a:uFillTx/>
                <a:latin typeface="+mn-ea"/>
                <a:ea typeface="+mn-ea"/>
                <a:cs typeface="Arial" charset="0"/>
              </a:rPr>
              <a:t>アプリケーション間</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で</a:t>
            </a:r>
            <a:r>
              <a:rPr kumimoji="0" lang="ja-JP" altLang="ja-JP" sz="1200" b="0" i="0" u="none" strike="noStrike" kern="0" cap="none" spc="0" normalizeH="0" baseline="0" noProof="0">
                <a:ln>
                  <a:noFill/>
                </a:ln>
                <a:solidFill>
                  <a:prstClr val="black"/>
                </a:solidFill>
                <a:effectLst/>
                <a:uLnTx/>
                <a:uFillTx/>
                <a:latin typeface="+mn-ea"/>
                <a:ea typeface="+mn-ea"/>
                <a:cs typeface="Arial" charset="0"/>
              </a:rPr>
              <a:t>リダイレクト</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する方式を定義</a:t>
            </a:r>
          </a:p>
        </p:txBody>
      </p:sp>
      <p:sp>
        <p:nvSpPr>
          <p:cNvPr id="10" name="正方形/長方形 9">
            <a:extLst>
              <a:ext uri="{FF2B5EF4-FFF2-40B4-BE49-F238E27FC236}">
                <a16:creationId xmlns:a16="http://schemas.microsoft.com/office/drawing/2014/main" id="{5ED87D95-70C7-FBB0-776E-0603C9731BBD}"/>
              </a:ext>
            </a:extLst>
          </p:cNvPr>
          <p:cNvSpPr/>
          <p:nvPr/>
        </p:nvSpPr>
        <p:spPr bwMode="gray">
          <a:xfrm>
            <a:off x="1527365" y="1906013"/>
            <a:ext cx="2468165" cy="544468"/>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ja-JP" sz="1400" b="0" i="0" u="none" strike="noStrike" kern="0" cap="none" spc="0" normalizeH="0" baseline="0" noProof="0" dirty="0">
                <a:ln>
                  <a:noFill/>
                </a:ln>
                <a:solidFill>
                  <a:schemeClr val="accent1"/>
                </a:solidFill>
                <a:effectLst/>
                <a:uLnTx/>
                <a:uFillTx/>
                <a:latin typeface="+mn-ea"/>
                <a:ea typeface="+mn-ea"/>
                <a:cs typeface="Arial" charset="0"/>
              </a:rPr>
              <a:t>Same Device Flow</a:t>
            </a:r>
            <a:endParaRPr kumimoji="0" lang="ja-JP" altLang="en-US" sz="1400" b="0" i="0" u="none" strike="noStrike" kern="0" cap="none" spc="0" normalizeH="0" baseline="0" noProof="0" dirty="0">
              <a:ln>
                <a:noFill/>
              </a:ln>
              <a:solidFill>
                <a:schemeClr val="accent1"/>
              </a:solidFill>
              <a:effectLst/>
              <a:uLnTx/>
              <a:uFillTx/>
              <a:latin typeface="+mn-ea"/>
              <a:ea typeface="+mn-ea"/>
              <a:cs typeface="Arial" charset="0"/>
            </a:endParaRPr>
          </a:p>
        </p:txBody>
      </p:sp>
      <p:sp>
        <p:nvSpPr>
          <p:cNvPr id="11" name="正方形/長方形 10">
            <a:extLst>
              <a:ext uri="{FF2B5EF4-FFF2-40B4-BE49-F238E27FC236}">
                <a16:creationId xmlns:a16="http://schemas.microsoft.com/office/drawing/2014/main" id="{920B7B21-E0CC-39D7-8897-8E0F4164CC04}"/>
              </a:ext>
            </a:extLst>
          </p:cNvPr>
          <p:cNvSpPr/>
          <p:nvPr/>
        </p:nvSpPr>
        <p:spPr bwMode="gray">
          <a:xfrm>
            <a:off x="273051" y="3708200"/>
            <a:ext cx="1180356" cy="1100450"/>
          </a:xfrm>
          <a:prstGeom prst="rect">
            <a:avLst/>
          </a:prstGeom>
          <a:solidFill>
            <a:srgbClr val="86BC25"/>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400" b="0" i="0" u="none" strike="noStrike" kern="0" cap="none" spc="0" normalizeH="0" baseline="0" noProof="0">
                <a:ln>
                  <a:noFill/>
                </a:ln>
                <a:solidFill>
                  <a:prstClr val="white"/>
                </a:solidFill>
                <a:effectLst/>
                <a:uLnTx/>
                <a:uFillTx/>
                <a:latin typeface="+mn-ea"/>
                <a:ea typeface="+mn-ea"/>
                <a:cs typeface="Arial" charset="0"/>
              </a:rPr>
              <a:t>SIOPv2</a:t>
            </a:r>
          </a:p>
        </p:txBody>
      </p:sp>
      <p:sp>
        <p:nvSpPr>
          <p:cNvPr id="12" name="正方形/長方形 11">
            <a:extLst>
              <a:ext uri="{FF2B5EF4-FFF2-40B4-BE49-F238E27FC236}">
                <a16:creationId xmlns:a16="http://schemas.microsoft.com/office/drawing/2014/main" id="{784201D6-E0D9-E47E-503D-7FDE8C433C8F}"/>
              </a:ext>
            </a:extLst>
          </p:cNvPr>
          <p:cNvSpPr/>
          <p:nvPr/>
        </p:nvSpPr>
        <p:spPr bwMode="gray">
          <a:xfrm>
            <a:off x="4094921" y="3701456"/>
            <a:ext cx="5538028" cy="54446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クライアントアプリケーション</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(RP)</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と</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OpenID Provider(OP)</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が同一端末で動作するフローを定義しており、</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RP</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と</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OP</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間の連携にリダイレクトを使用</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v2</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から</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DID</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が利用可能</a:t>
            </a:r>
            <a:endParaRPr kumimoji="0" lang="ja-JP"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3" name="正方形/長方形 12">
            <a:extLst>
              <a:ext uri="{FF2B5EF4-FFF2-40B4-BE49-F238E27FC236}">
                <a16:creationId xmlns:a16="http://schemas.microsoft.com/office/drawing/2014/main" id="{0E0CF34E-60C4-A7E0-C950-0543AE763133}"/>
              </a:ext>
            </a:extLst>
          </p:cNvPr>
          <p:cNvSpPr/>
          <p:nvPr/>
        </p:nvSpPr>
        <p:spPr bwMode="gray">
          <a:xfrm>
            <a:off x="1527365" y="3701456"/>
            <a:ext cx="2468165" cy="544468"/>
          </a:xfrm>
          <a:prstGeom prst="rect">
            <a:avLst/>
          </a:prstGeom>
          <a:solidFill>
            <a:srgbClr val="86BC25">
              <a:lumMod val="20000"/>
              <a:lumOff val="80000"/>
            </a:srgb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400" b="0" i="0" u="none" strike="noStrike" kern="0" cap="none" spc="0" normalizeH="0" baseline="0" noProof="0" dirty="0">
                <a:ln>
                  <a:noFill/>
                </a:ln>
                <a:solidFill>
                  <a:srgbClr val="86BC25"/>
                </a:solidFill>
                <a:effectLst/>
                <a:uLnTx/>
                <a:uFillTx/>
                <a:latin typeface="+mn-ea"/>
                <a:ea typeface="+mn-ea"/>
                <a:cs typeface="Arial" charset="0"/>
              </a:rPr>
              <a:t>Same-Device</a:t>
            </a: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400" b="0" i="0" u="none" strike="noStrike" kern="0" cap="none" spc="0" normalizeH="0" baseline="0" noProof="0" dirty="0">
                <a:ln>
                  <a:noFill/>
                </a:ln>
                <a:solidFill>
                  <a:srgbClr val="86BC25"/>
                </a:solidFill>
                <a:effectLst/>
                <a:uLnTx/>
                <a:uFillTx/>
                <a:latin typeface="+mn-ea"/>
                <a:ea typeface="+mn-ea"/>
                <a:cs typeface="Arial" charset="0"/>
              </a:rPr>
              <a:t>Self-Issued OP</a:t>
            </a:r>
            <a:endParaRPr kumimoji="0" lang="ja-JP" altLang="en-US" sz="1400" b="0" i="0" u="none" strike="noStrike" kern="0" cap="none" spc="0" normalizeH="0" baseline="0" noProof="0">
              <a:ln>
                <a:noFill/>
              </a:ln>
              <a:solidFill>
                <a:srgbClr val="86BC25"/>
              </a:solidFill>
              <a:effectLst/>
              <a:uLnTx/>
              <a:uFillTx/>
              <a:latin typeface="+mn-ea"/>
              <a:ea typeface="+mn-ea"/>
              <a:cs typeface="Arial" charset="0"/>
            </a:endParaRPr>
          </a:p>
        </p:txBody>
      </p:sp>
      <p:sp>
        <p:nvSpPr>
          <p:cNvPr id="14" name="正方形/長方形 13">
            <a:extLst>
              <a:ext uri="{FF2B5EF4-FFF2-40B4-BE49-F238E27FC236}">
                <a16:creationId xmlns:a16="http://schemas.microsoft.com/office/drawing/2014/main" id="{8644CAEB-D948-910B-A203-22F84662D410}"/>
              </a:ext>
            </a:extLst>
          </p:cNvPr>
          <p:cNvSpPr/>
          <p:nvPr/>
        </p:nvSpPr>
        <p:spPr bwMode="gray">
          <a:xfrm>
            <a:off x="4094921" y="4295815"/>
            <a:ext cx="5538028" cy="512835"/>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OP</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が別デバイス（通常の認可サーバや別端末）で動作するフローを定義</a:t>
            </a:r>
          </a:p>
        </p:txBody>
      </p:sp>
      <p:sp>
        <p:nvSpPr>
          <p:cNvPr id="15" name="正方形/長方形 14">
            <a:extLst>
              <a:ext uri="{FF2B5EF4-FFF2-40B4-BE49-F238E27FC236}">
                <a16:creationId xmlns:a16="http://schemas.microsoft.com/office/drawing/2014/main" id="{8D73EDB1-94A6-8768-5718-150558061916}"/>
              </a:ext>
            </a:extLst>
          </p:cNvPr>
          <p:cNvSpPr/>
          <p:nvPr/>
        </p:nvSpPr>
        <p:spPr bwMode="gray">
          <a:xfrm>
            <a:off x="1527365" y="4295815"/>
            <a:ext cx="2468165" cy="512835"/>
          </a:xfrm>
          <a:prstGeom prst="rect">
            <a:avLst/>
          </a:prstGeom>
          <a:solidFill>
            <a:srgbClr val="86BC25">
              <a:lumMod val="20000"/>
              <a:lumOff val="80000"/>
            </a:srgb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400" b="0" i="0" u="none" strike="noStrike" kern="0" cap="none" spc="0" normalizeH="0" baseline="0" noProof="0">
                <a:ln>
                  <a:noFill/>
                </a:ln>
                <a:solidFill>
                  <a:srgbClr val="86BC25"/>
                </a:solidFill>
                <a:effectLst/>
                <a:uLnTx/>
                <a:uFillTx/>
                <a:latin typeface="+mn-ea"/>
                <a:ea typeface="+mn-ea"/>
                <a:cs typeface="Arial" charset="0"/>
              </a:rPr>
              <a:t>Cross-Device</a:t>
            </a: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400" b="0" i="0" u="none" strike="noStrike" kern="0" cap="none" spc="0" normalizeH="0" baseline="0" noProof="0">
                <a:ln>
                  <a:noFill/>
                </a:ln>
                <a:solidFill>
                  <a:srgbClr val="86BC25"/>
                </a:solidFill>
                <a:effectLst/>
                <a:uLnTx/>
                <a:uFillTx/>
                <a:latin typeface="+mn-ea"/>
                <a:ea typeface="+mn-ea"/>
                <a:cs typeface="Arial" charset="0"/>
              </a:rPr>
              <a:t>Self-Issued OP</a:t>
            </a:r>
            <a:endParaRPr kumimoji="0" lang="ja-JP" altLang="en-US" sz="1400" b="0" i="0" u="none" strike="noStrike" kern="0" cap="none" spc="0" normalizeH="0" baseline="0" noProof="0">
              <a:ln>
                <a:noFill/>
              </a:ln>
              <a:solidFill>
                <a:srgbClr val="86BC25"/>
              </a:solidFill>
              <a:effectLst/>
              <a:uLnTx/>
              <a:uFillTx/>
              <a:latin typeface="+mn-ea"/>
              <a:ea typeface="+mn-ea"/>
              <a:cs typeface="Arial" charset="0"/>
            </a:endParaRPr>
          </a:p>
        </p:txBody>
      </p:sp>
      <p:sp>
        <p:nvSpPr>
          <p:cNvPr id="17" name="正方形/長方形 16">
            <a:extLst>
              <a:ext uri="{FF2B5EF4-FFF2-40B4-BE49-F238E27FC236}">
                <a16:creationId xmlns:a16="http://schemas.microsoft.com/office/drawing/2014/main" id="{821A0929-7E5B-3FE0-C8F3-DF82623CDDA6}"/>
              </a:ext>
            </a:extLst>
          </p:cNvPr>
          <p:cNvSpPr/>
          <p:nvPr/>
        </p:nvSpPr>
        <p:spPr bwMode="gray">
          <a:xfrm>
            <a:off x="2667961" y="4898804"/>
            <a:ext cx="3722898" cy="262729"/>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prstClr val="white"/>
                </a:solidFill>
                <a:effectLst/>
                <a:uLnTx/>
                <a:uFillTx/>
                <a:latin typeface="+mn-ea"/>
                <a:ea typeface="+mn-ea"/>
                <a:cs typeface="Arial" charset="0"/>
              </a:rPr>
              <a:t>ベース機能</a:t>
            </a:r>
          </a:p>
        </p:txBody>
      </p:sp>
      <p:sp>
        <p:nvSpPr>
          <p:cNvPr id="18" name="正方形/長方形 17">
            <a:extLst>
              <a:ext uri="{FF2B5EF4-FFF2-40B4-BE49-F238E27FC236}">
                <a16:creationId xmlns:a16="http://schemas.microsoft.com/office/drawing/2014/main" id="{FF135CED-B98F-B3EB-8042-6940E9F2E830}"/>
              </a:ext>
            </a:extLst>
          </p:cNvPr>
          <p:cNvSpPr/>
          <p:nvPr/>
        </p:nvSpPr>
        <p:spPr bwMode="gray">
          <a:xfrm>
            <a:off x="2667962" y="5213151"/>
            <a:ext cx="3722897" cy="896860"/>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0" name="正方形/長方形 19">
            <a:extLst>
              <a:ext uri="{FF2B5EF4-FFF2-40B4-BE49-F238E27FC236}">
                <a16:creationId xmlns:a16="http://schemas.microsoft.com/office/drawing/2014/main" id="{56874D9A-E5BE-2BFC-EBC6-0047C9E3EFEC}"/>
              </a:ext>
            </a:extLst>
          </p:cNvPr>
          <p:cNvSpPr/>
          <p:nvPr/>
        </p:nvSpPr>
        <p:spPr bwMode="gray">
          <a:xfrm>
            <a:off x="2667961" y="6168659"/>
            <a:ext cx="3722897" cy="355751"/>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1" name="正方形/長方形 20">
            <a:extLst>
              <a:ext uri="{FF2B5EF4-FFF2-40B4-BE49-F238E27FC236}">
                <a16:creationId xmlns:a16="http://schemas.microsoft.com/office/drawing/2014/main" id="{7E5B3F48-ECC4-DC63-3945-B2FEC3A21BF4}"/>
              </a:ext>
            </a:extLst>
          </p:cNvPr>
          <p:cNvSpPr/>
          <p:nvPr/>
        </p:nvSpPr>
        <p:spPr bwMode="gray">
          <a:xfrm>
            <a:off x="6468243" y="5847283"/>
            <a:ext cx="3167275" cy="262729"/>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grpSp>
        <p:nvGrpSpPr>
          <p:cNvPr id="56" name="グループ化 55">
            <a:extLst>
              <a:ext uri="{FF2B5EF4-FFF2-40B4-BE49-F238E27FC236}">
                <a16:creationId xmlns:a16="http://schemas.microsoft.com/office/drawing/2014/main" id="{636D6018-B995-F14D-C9A4-E2280F8438E8}"/>
              </a:ext>
            </a:extLst>
          </p:cNvPr>
          <p:cNvGrpSpPr/>
          <p:nvPr/>
        </p:nvGrpSpPr>
        <p:grpSpPr>
          <a:xfrm>
            <a:off x="273051" y="5182785"/>
            <a:ext cx="2317525" cy="1352433"/>
            <a:chOff x="415925" y="5177345"/>
            <a:chExt cx="2015629" cy="1352433"/>
          </a:xfrm>
        </p:grpSpPr>
        <p:sp>
          <p:nvSpPr>
            <p:cNvPr id="19" name="正方形/長方形 18">
              <a:extLst>
                <a:ext uri="{FF2B5EF4-FFF2-40B4-BE49-F238E27FC236}">
                  <a16:creationId xmlns:a16="http://schemas.microsoft.com/office/drawing/2014/main" id="{5225D9EF-09CD-628A-70D9-AF7D56AB80CD}"/>
                </a:ext>
              </a:extLst>
            </p:cNvPr>
            <p:cNvSpPr/>
            <p:nvPr/>
          </p:nvSpPr>
          <p:spPr bwMode="gray">
            <a:xfrm>
              <a:off x="415925" y="5177345"/>
              <a:ext cx="907037" cy="935471"/>
            </a:xfrm>
            <a:prstGeom prst="rect">
              <a:avLst/>
            </a:prstGeom>
            <a:solidFill>
              <a:sysClr val="window" lastClr="FFFFFF">
                <a:lumMod val="50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schemeClr val="bg1"/>
                  </a:solidFill>
                  <a:effectLst/>
                  <a:uLnTx/>
                  <a:uFillTx/>
                  <a:latin typeface="+mn-ea"/>
                  <a:ea typeface="+mn-ea"/>
                  <a:cs typeface="Arial" charset="0"/>
                </a:rPr>
                <a:t>複数デバイス間でのデータ交換</a:t>
              </a:r>
            </a:p>
          </p:txBody>
        </p:sp>
        <p:sp>
          <p:nvSpPr>
            <p:cNvPr id="22" name="正方形/長方形 21">
              <a:extLst>
                <a:ext uri="{FF2B5EF4-FFF2-40B4-BE49-F238E27FC236}">
                  <a16:creationId xmlns:a16="http://schemas.microsoft.com/office/drawing/2014/main" id="{8B150C26-7210-79F8-222E-FBFC25A8732C}"/>
                </a:ext>
              </a:extLst>
            </p:cNvPr>
            <p:cNvSpPr/>
            <p:nvPr/>
          </p:nvSpPr>
          <p:spPr bwMode="gray">
            <a:xfrm>
              <a:off x="415925" y="6198497"/>
              <a:ext cx="2015629" cy="331281"/>
            </a:xfrm>
            <a:prstGeom prst="rect">
              <a:avLst/>
            </a:prstGeom>
            <a:solidFill>
              <a:sysClr val="window" lastClr="FFFFFF">
                <a:lumMod val="50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schemeClr val="bg1"/>
                  </a:solidFill>
                  <a:effectLst/>
                  <a:uLnTx/>
                  <a:uFillTx/>
                  <a:latin typeface="+mn-ea"/>
                  <a:ea typeface="+mn-ea"/>
                  <a:cs typeface="Arial" charset="0"/>
                </a:rPr>
                <a:t>同一デバイス内での</a:t>
              </a:r>
              <a:r>
                <a:rPr kumimoji="0" lang="ja-JP" altLang="en-US" sz="1200" b="0" i="0" u="none" strike="noStrike" kern="0" cap="none" spc="0" normalizeH="0" baseline="0" noProof="0" dirty="0">
                  <a:ln>
                    <a:noFill/>
                  </a:ln>
                  <a:solidFill>
                    <a:schemeClr val="bg1"/>
                  </a:solidFill>
                  <a:effectLst/>
                  <a:uLnTx/>
                  <a:uFillTx/>
                  <a:latin typeface="+mn-ea"/>
                  <a:ea typeface="+mn-ea"/>
                  <a:cs typeface="Arial" charset="0"/>
                </a:rPr>
                <a:t>データ交換</a:t>
              </a:r>
            </a:p>
          </p:txBody>
        </p:sp>
        <p:sp>
          <p:nvSpPr>
            <p:cNvPr id="23" name="正方形/長方形 22">
              <a:extLst>
                <a:ext uri="{FF2B5EF4-FFF2-40B4-BE49-F238E27FC236}">
                  <a16:creationId xmlns:a16="http://schemas.microsoft.com/office/drawing/2014/main" id="{59A79E13-B458-DF6D-5F85-46C7BB019237}"/>
                </a:ext>
              </a:extLst>
            </p:cNvPr>
            <p:cNvSpPr/>
            <p:nvPr/>
          </p:nvSpPr>
          <p:spPr bwMode="gray">
            <a:xfrm>
              <a:off x="1400345" y="5843418"/>
              <a:ext cx="1031209" cy="269399"/>
            </a:xfrm>
            <a:prstGeom prst="rect">
              <a:avLst/>
            </a:prstGeom>
            <a:solidFill>
              <a:sysClr val="window" lastClr="FFFFFF">
                <a:lumMod val="7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Bluetooth</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4" name="正方形/長方形 23">
              <a:extLst>
                <a:ext uri="{FF2B5EF4-FFF2-40B4-BE49-F238E27FC236}">
                  <a16:creationId xmlns:a16="http://schemas.microsoft.com/office/drawing/2014/main" id="{F162BB41-866D-8272-A65C-2BFCAEE1E84A}"/>
                </a:ext>
              </a:extLst>
            </p:cNvPr>
            <p:cNvSpPr/>
            <p:nvPr/>
          </p:nvSpPr>
          <p:spPr bwMode="gray">
            <a:xfrm>
              <a:off x="1400345" y="5518863"/>
              <a:ext cx="1031209" cy="269399"/>
            </a:xfrm>
            <a:prstGeom prst="rect">
              <a:avLst/>
            </a:prstGeom>
            <a:solidFill>
              <a:sysClr val="window" lastClr="FFFFFF">
                <a:lumMod val="7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NFC</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5" name="正方形/長方形 24">
              <a:extLst>
                <a:ext uri="{FF2B5EF4-FFF2-40B4-BE49-F238E27FC236}">
                  <a16:creationId xmlns:a16="http://schemas.microsoft.com/office/drawing/2014/main" id="{CE07FE7D-12BD-7035-FF17-2BE29CB38713}"/>
                </a:ext>
              </a:extLst>
            </p:cNvPr>
            <p:cNvSpPr/>
            <p:nvPr/>
          </p:nvSpPr>
          <p:spPr bwMode="gray">
            <a:xfrm>
              <a:off x="1400345" y="5182732"/>
              <a:ext cx="1031209" cy="269399"/>
            </a:xfrm>
            <a:prstGeom prst="rect">
              <a:avLst/>
            </a:prstGeom>
            <a:solidFill>
              <a:sysClr val="window" lastClr="FFFFFF">
                <a:lumMod val="7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QR</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コード</a:t>
              </a:r>
            </a:p>
          </p:txBody>
        </p:sp>
      </p:grpSp>
      <p:sp>
        <p:nvSpPr>
          <p:cNvPr id="26" name="正方形/長方形 25">
            <a:extLst>
              <a:ext uri="{FF2B5EF4-FFF2-40B4-BE49-F238E27FC236}">
                <a16:creationId xmlns:a16="http://schemas.microsoft.com/office/drawing/2014/main" id="{67505FDA-80B2-6504-AA9F-E25AFEFA34A5}"/>
              </a:ext>
            </a:extLst>
          </p:cNvPr>
          <p:cNvSpPr/>
          <p:nvPr/>
        </p:nvSpPr>
        <p:spPr bwMode="gray">
          <a:xfrm>
            <a:off x="6460433" y="4898804"/>
            <a:ext cx="3175085" cy="262729"/>
          </a:xfrm>
          <a:prstGeom prst="rect">
            <a:avLst/>
          </a:prstGeom>
          <a:solidFill>
            <a:srgbClr val="53565A"/>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prstClr val="white"/>
                </a:solidFill>
                <a:effectLst/>
                <a:uLnTx/>
                <a:uFillTx/>
                <a:latin typeface="+mn-ea"/>
                <a:ea typeface="+mn-ea"/>
                <a:cs typeface="Arial" charset="0"/>
              </a:rPr>
              <a:t>拡張機能</a:t>
            </a:r>
          </a:p>
        </p:txBody>
      </p:sp>
      <p:sp>
        <p:nvSpPr>
          <p:cNvPr id="27" name="正方形/長方形 26">
            <a:extLst>
              <a:ext uri="{FF2B5EF4-FFF2-40B4-BE49-F238E27FC236}">
                <a16:creationId xmlns:a16="http://schemas.microsoft.com/office/drawing/2014/main" id="{4488AA43-8FF6-3917-8F33-BF1F2BFFF622}"/>
              </a:ext>
            </a:extLst>
          </p:cNvPr>
          <p:cNvSpPr/>
          <p:nvPr/>
        </p:nvSpPr>
        <p:spPr bwMode="gray">
          <a:xfrm>
            <a:off x="6468243" y="6168659"/>
            <a:ext cx="3167275" cy="355751"/>
          </a:xfrm>
          <a:prstGeom prst="rect">
            <a:avLst/>
          </a:prstGeom>
          <a:solidFill>
            <a:sysClr val="window" lastClr="FFFFFF">
              <a:lumMod val="8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000" b="0" i="0" u="none" strike="noStrike" kern="0" cap="none" spc="0" normalizeH="0" baseline="0" noProof="0">
                <a:ln>
                  <a:noFill/>
                </a:ln>
                <a:effectLst/>
                <a:uLnTx/>
                <a:uFillTx/>
                <a:latin typeface="+mn-ea"/>
                <a:ea typeface="+mn-ea"/>
                <a:cs typeface="Arial" charset="0"/>
              </a:rPr>
              <a:t>業者が既存仕様をもとに</a:t>
            </a:r>
            <a:endParaRPr kumimoji="0" lang="en-US" altLang="ja-JP" sz="1000" b="0" i="0" u="none" strike="noStrike" kern="0" cap="none" spc="0" normalizeH="0" baseline="0" noProof="0" dirty="0">
              <a:ln>
                <a:noFill/>
              </a:ln>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000" kern="0">
                <a:latin typeface="+mn-ea"/>
                <a:ea typeface="+mn-ea"/>
                <a:cs typeface="Arial" charset="0"/>
              </a:rPr>
              <a:t>設計・</a:t>
            </a:r>
            <a:r>
              <a:rPr kumimoji="0" lang="ja-JP" altLang="en-US" sz="1000" b="0" i="0" u="none" strike="noStrike" kern="0" cap="none" spc="0" normalizeH="0" baseline="0" noProof="0">
                <a:ln>
                  <a:noFill/>
                </a:ln>
                <a:effectLst/>
                <a:uLnTx/>
                <a:uFillTx/>
                <a:latin typeface="+mn-ea"/>
                <a:ea typeface="+mn-ea"/>
                <a:cs typeface="Arial" charset="0"/>
              </a:rPr>
              <a:t>実装</a:t>
            </a:r>
            <a:endParaRPr kumimoji="0" lang="ja-JP" altLang="en-US" sz="1000" b="0" i="0" u="none" strike="noStrike" kern="0" cap="none" spc="0" normalizeH="0" baseline="0" noProof="0" dirty="0">
              <a:ln>
                <a:noFill/>
              </a:ln>
              <a:effectLst/>
              <a:uLnTx/>
              <a:uFillTx/>
              <a:latin typeface="+mn-ea"/>
              <a:ea typeface="+mn-ea"/>
              <a:cs typeface="Arial" charset="0"/>
            </a:endParaRPr>
          </a:p>
        </p:txBody>
      </p:sp>
      <p:sp>
        <p:nvSpPr>
          <p:cNvPr id="28" name="正方形/長方形 27">
            <a:extLst>
              <a:ext uri="{FF2B5EF4-FFF2-40B4-BE49-F238E27FC236}">
                <a16:creationId xmlns:a16="http://schemas.microsoft.com/office/drawing/2014/main" id="{79B0C555-5CE6-CB48-096B-D996CDCADF30}"/>
              </a:ext>
            </a:extLst>
          </p:cNvPr>
          <p:cNvSpPr/>
          <p:nvPr/>
        </p:nvSpPr>
        <p:spPr bwMode="gray">
          <a:xfrm>
            <a:off x="6468243" y="5213150"/>
            <a:ext cx="3167275" cy="575485"/>
          </a:xfrm>
          <a:prstGeom prst="rect">
            <a:avLst/>
          </a:prstGeom>
          <a:solidFill>
            <a:sysClr val="window" lastClr="FFFFFF">
              <a:lumMod val="8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000" b="0" i="0" u="none" strike="noStrike" kern="0" cap="none" spc="0" normalizeH="0" baseline="0" noProof="0">
                <a:ln>
                  <a:noFill/>
                </a:ln>
                <a:effectLst/>
                <a:uLnTx/>
                <a:uFillTx/>
                <a:latin typeface="+mn-ea"/>
                <a:ea typeface="+mn-ea"/>
                <a:cs typeface="Arial" charset="0"/>
              </a:rPr>
              <a:t>業者が既存仕様をもとに</a:t>
            </a:r>
            <a:endParaRPr kumimoji="0" lang="en-US" altLang="ja-JP" sz="1000" b="0" i="0" u="none" strike="noStrike" kern="0" cap="none" spc="0" normalizeH="0" baseline="0" noProof="0" dirty="0">
              <a:ln>
                <a:noFill/>
              </a:ln>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000" kern="0">
                <a:latin typeface="+mn-ea"/>
                <a:ea typeface="+mn-ea"/>
                <a:cs typeface="Arial" charset="0"/>
              </a:rPr>
              <a:t>設計・</a:t>
            </a:r>
            <a:r>
              <a:rPr kumimoji="0" lang="ja-JP" altLang="en-US" sz="1000" b="0" i="0" u="none" strike="noStrike" kern="0" cap="none" spc="0" normalizeH="0" baseline="0" noProof="0">
                <a:ln>
                  <a:noFill/>
                </a:ln>
                <a:effectLst/>
                <a:uLnTx/>
                <a:uFillTx/>
                <a:latin typeface="+mn-ea"/>
                <a:ea typeface="+mn-ea"/>
                <a:cs typeface="Arial" charset="0"/>
              </a:rPr>
              <a:t>実装</a:t>
            </a:r>
            <a:endParaRPr kumimoji="0" lang="ja-JP" altLang="en-US" sz="1000" b="0" i="0" u="none" strike="noStrike" kern="0" cap="none" spc="0" normalizeH="0" baseline="0" noProof="0" dirty="0">
              <a:ln>
                <a:noFill/>
              </a:ln>
              <a:effectLst/>
              <a:uLnTx/>
              <a:uFillTx/>
              <a:latin typeface="+mn-ea"/>
              <a:ea typeface="+mn-ea"/>
              <a:cs typeface="Arial" charset="0"/>
            </a:endParaRPr>
          </a:p>
        </p:txBody>
      </p:sp>
      <p:sp>
        <p:nvSpPr>
          <p:cNvPr id="29" name="楕円 28">
            <a:extLst>
              <a:ext uri="{FF2B5EF4-FFF2-40B4-BE49-F238E27FC236}">
                <a16:creationId xmlns:a16="http://schemas.microsoft.com/office/drawing/2014/main" id="{28664DBB-17C8-C17E-AB18-457E0A8D3299}"/>
              </a:ext>
            </a:extLst>
          </p:cNvPr>
          <p:cNvSpPr/>
          <p:nvPr/>
        </p:nvSpPr>
        <p:spPr bwMode="gray">
          <a:xfrm>
            <a:off x="1453406" y="2021074"/>
            <a:ext cx="308113" cy="308113"/>
          </a:xfrm>
          <a:prstGeom prst="ellipse">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dirty="0">
                <a:ln>
                  <a:noFill/>
                </a:ln>
                <a:solidFill>
                  <a:prstClr val="white"/>
                </a:solidFill>
                <a:effectLst/>
                <a:uLnTx/>
                <a:uFillTx/>
                <a:latin typeface="+mn-ea"/>
                <a:ea typeface="+mn-ea"/>
                <a:cs typeface="Arial" charset="0"/>
              </a:rPr>
              <a:t>1</a:t>
            </a:r>
          </a:p>
        </p:txBody>
      </p:sp>
      <p:sp>
        <p:nvSpPr>
          <p:cNvPr id="30" name="楕円 29">
            <a:extLst>
              <a:ext uri="{FF2B5EF4-FFF2-40B4-BE49-F238E27FC236}">
                <a16:creationId xmlns:a16="http://schemas.microsoft.com/office/drawing/2014/main" id="{E007E2D5-DE4D-D2EF-9CD0-C9B789792D4B}"/>
              </a:ext>
            </a:extLst>
          </p:cNvPr>
          <p:cNvSpPr/>
          <p:nvPr/>
        </p:nvSpPr>
        <p:spPr bwMode="gray">
          <a:xfrm>
            <a:off x="1453406" y="2608581"/>
            <a:ext cx="308113" cy="308113"/>
          </a:xfrm>
          <a:prstGeom prst="ellipse">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dirty="0">
                <a:ln>
                  <a:noFill/>
                </a:ln>
                <a:solidFill>
                  <a:prstClr val="white"/>
                </a:solidFill>
                <a:effectLst/>
                <a:uLnTx/>
                <a:uFillTx/>
                <a:latin typeface="+mn-ea"/>
                <a:ea typeface="+mn-ea"/>
                <a:cs typeface="Arial" charset="0"/>
              </a:rPr>
              <a:t>2</a:t>
            </a:r>
          </a:p>
        </p:txBody>
      </p:sp>
      <p:sp>
        <p:nvSpPr>
          <p:cNvPr id="31" name="楕円 30">
            <a:extLst>
              <a:ext uri="{FF2B5EF4-FFF2-40B4-BE49-F238E27FC236}">
                <a16:creationId xmlns:a16="http://schemas.microsoft.com/office/drawing/2014/main" id="{13E162E2-5E1C-064A-5287-73E838FEE6A5}"/>
              </a:ext>
            </a:extLst>
          </p:cNvPr>
          <p:cNvSpPr/>
          <p:nvPr/>
        </p:nvSpPr>
        <p:spPr bwMode="gray">
          <a:xfrm>
            <a:off x="1453406" y="3203452"/>
            <a:ext cx="308113" cy="308113"/>
          </a:xfrm>
          <a:prstGeom prst="ellipse">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a:ln>
                  <a:noFill/>
                </a:ln>
                <a:solidFill>
                  <a:prstClr val="white"/>
                </a:solidFill>
                <a:effectLst/>
                <a:uLnTx/>
                <a:uFillTx/>
                <a:latin typeface="+mn-ea"/>
                <a:ea typeface="+mn-ea"/>
                <a:cs typeface="Arial" charset="0"/>
              </a:rPr>
              <a:t>3</a:t>
            </a:r>
          </a:p>
        </p:txBody>
      </p:sp>
      <p:sp>
        <p:nvSpPr>
          <p:cNvPr id="32" name="楕円 31">
            <a:extLst>
              <a:ext uri="{FF2B5EF4-FFF2-40B4-BE49-F238E27FC236}">
                <a16:creationId xmlns:a16="http://schemas.microsoft.com/office/drawing/2014/main" id="{5ED51AFC-47D6-FA31-0C19-67A594C11D98}"/>
              </a:ext>
            </a:extLst>
          </p:cNvPr>
          <p:cNvSpPr/>
          <p:nvPr/>
        </p:nvSpPr>
        <p:spPr bwMode="gray">
          <a:xfrm>
            <a:off x="1453406" y="3819681"/>
            <a:ext cx="308113" cy="308113"/>
          </a:xfrm>
          <a:prstGeom prst="ellipse">
            <a:avLst/>
          </a:prstGeom>
          <a:solidFill>
            <a:srgbClr val="86BC25"/>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a:ln>
                  <a:noFill/>
                </a:ln>
                <a:solidFill>
                  <a:prstClr val="white"/>
                </a:solidFill>
                <a:effectLst/>
                <a:uLnTx/>
                <a:uFillTx/>
                <a:latin typeface="+mn-ea"/>
                <a:ea typeface="+mn-ea"/>
                <a:cs typeface="Arial" charset="0"/>
              </a:rPr>
              <a:t>4</a:t>
            </a:r>
          </a:p>
        </p:txBody>
      </p:sp>
      <p:sp>
        <p:nvSpPr>
          <p:cNvPr id="33" name="楕円 32">
            <a:extLst>
              <a:ext uri="{FF2B5EF4-FFF2-40B4-BE49-F238E27FC236}">
                <a16:creationId xmlns:a16="http://schemas.microsoft.com/office/drawing/2014/main" id="{574A3235-4E5A-55F2-5B5B-162FCAC5C0B3}"/>
              </a:ext>
            </a:extLst>
          </p:cNvPr>
          <p:cNvSpPr/>
          <p:nvPr/>
        </p:nvSpPr>
        <p:spPr bwMode="gray">
          <a:xfrm>
            <a:off x="1453406" y="4396964"/>
            <a:ext cx="308113" cy="308113"/>
          </a:xfrm>
          <a:prstGeom prst="ellipse">
            <a:avLst/>
          </a:prstGeom>
          <a:solidFill>
            <a:srgbClr val="86BC25"/>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a:ln>
                  <a:noFill/>
                </a:ln>
                <a:solidFill>
                  <a:prstClr val="white"/>
                </a:solidFill>
                <a:effectLst/>
                <a:uLnTx/>
                <a:uFillTx/>
                <a:latin typeface="+mn-ea"/>
                <a:ea typeface="+mn-ea"/>
                <a:cs typeface="Arial" charset="0"/>
              </a:rPr>
              <a:t>5</a:t>
            </a:r>
          </a:p>
        </p:txBody>
      </p:sp>
      <p:sp>
        <p:nvSpPr>
          <p:cNvPr id="34" name="楕円 33">
            <a:extLst>
              <a:ext uri="{FF2B5EF4-FFF2-40B4-BE49-F238E27FC236}">
                <a16:creationId xmlns:a16="http://schemas.microsoft.com/office/drawing/2014/main" id="{B4B27DB0-24CB-F908-5427-4FD0FC1DDCC5}"/>
              </a:ext>
            </a:extLst>
          </p:cNvPr>
          <p:cNvSpPr/>
          <p:nvPr/>
        </p:nvSpPr>
        <p:spPr bwMode="gray">
          <a:xfrm>
            <a:off x="4000497" y="6190852"/>
            <a:ext cx="252000" cy="252000"/>
          </a:xfrm>
          <a:prstGeom prst="ellipse">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a:ln>
                  <a:noFill/>
                </a:ln>
                <a:solidFill>
                  <a:prstClr val="white"/>
                </a:solidFill>
                <a:effectLst/>
                <a:uLnTx/>
                <a:uFillTx/>
                <a:latin typeface="+mn-ea"/>
                <a:ea typeface="+mn-ea"/>
                <a:cs typeface="Arial" charset="0"/>
              </a:rPr>
              <a:t>1</a:t>
            </a:r>
          </a:p>
        </p:txBody>
      </p:sp>
      <p:sp>
        <p:nvSpPr>
          <p:cNvPr id="35" name="楕円 34">
            <a:extLst>
              <a:ext uri="{FF2B5EF4-FFF2-40B4-BE49-F238E27FC236}">
                <a16:creationId xmlns:a16="http://schemas.microsoft.com/office/drawing/2014/main" id="{E453C7A1-5719-AF28-D5FF-9560CF36AE79}"/>
              </a:ext>
            </a:extLst>
          </p:cNvPr>
          <p:cNvSpPr/>
          <p:nvPr/>
        </p:nvSpPr>
        <p:spPr bwMode="gray">
          <a:xfrm>
            <a:off x="4623407" y="6190851"/>
            <a:ext cx="252000" cy="252000"/>
          </a:xfrm>
          <a:prstGeom prst="ellipse">
            <a:avLst/>
          </a:prstGeom>
          <a:solidFill>
            <a:srgbClr val="86BC25"/>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a:ln>
                  <a:noFill/>
                </a:ln>
                <a:solidFill>
                  <a:prstClr val="white"/>
                </a:solidFill>
                <a:effectLst/>
                <a:uLnTx/>
                <a:uFillTx/>
                <a:latin typeface="+mn-ea"/>
                <a:ea typeface="+mn-ea"/>
                <a:cs typeface="Arial" charset="0"/>
              </a:rPr>
              <a:t>4</a:t>
            </a:r>
          </a:p>
        </p:txBody>
      </p:sp>
      <p:sp>
        <p:nvSpPr>
          <p:cNvPr id="36" name="楕円 35">
            <a:extLst>
              <a:ext uri="{FF2B5EF4-FFF2-40B4-BE49-F238E27FC236}">
                <a16:creationId xmlns:a16="http://schemas.microsoft.com/office/drawing/2014/main" id="{34984032-8775-CF7D-C4CE-BEEBEB0F842F}"/>
              </a:ext>
            </a:extLst>
          </p:cNvPr>
          <p:cNvSpPr/>
          <p:nvPr/>
        </p:nvSpPr>
        <p:spPr bwMode="gray">
          <a:xfrm>
            <a:off x="4000496" y="5544742"/>
            <a:ext cx="252000" cy="252000"/>
          </a:xfrm>
          <a:prstGeom prst="ellipse">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dirty="0">
                <a:ln>
                  <a:noFill/>
                </a:ln>
                <a:solidFill>
                  <a:prstClr val="white"/>
                </a:solidFill>
                <a:effectLst/>
                <a:uLnTx/>
                <a:uFillTx/>
                <a:latin typeface="+mn-ea"/>
                <a:ea typeface="+mn-ea"/>
                <a:cs typeface="Arial" charset="0"/>
              </a:rPr>
              <a:t>2</a:t>
            </a:r>
          </a:p>
        </p:txBody>
      </p:sp>
      <p:sp>
        <p:nvSpPr>
          <p:cNvPr id="37" name="楕円 36">
            <a:extLst>
              <a:ext uri="{FF2B5EF4-FFF2-40B4-BE49-F238E27FC236}">
                <a16:creationId xmlns:a16="http://schemas.microsoft.com/office/drawing/2014/main" id="{F7AC1428-E0A3-A09F-EA3F-6971332FCCAE}"/>
              </a:ext>
            </a:extLst>
          </p:cNvPr>
          <p:cNvSpPr/>
          <p:nvPr/>
        </p:nvSpPr>
        <p:spPr bwMode="gray">
          <a:xfrm>
            <a:off x="4626817" y="5529513"/>
            <a:ext cx="252000" cy="252000"/>
          </a:xfrm>
          <a:prstGeom prst="ellipse">
            <a:avLst/>
          </a:prstGeom>
          <a:solidFill>
            <a:srgbClr val="86BC25"/>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a:ln>
                  <a:noFill/>
                </a:ln>
                <a:solidFill>
                  <a:prstClr val="white"/>
                </a:solidFill>
                <a:effectLst/>
                <a:uLnTx/>
                <a:uFillTx/>
                <a:latin typeface="+mn-ea"/>
                <a:ea typeface="+mn-ea"/>
                <a:cs typeface="Arial" charset="0"/>
              </a:rPr>
              <a:t>5</a:t>
            </a:r>
          </a:p>
        </p:txBody>
      </p:sp>
      <p:sp>
        <p:nvSpPr>
          <p:cNvPr id="38" name="楕円 37">
            <a:extLst>
              <a:ext uri="{FF2B5EF4-FFF2-40B4-BE49-F238E27FC236}">
                <a16:creationId xmlns:a16="http://schemas.microsoft.com/office/drawing/2014/main" id="{2B32F878-45B2-686F-DC66-569D535B33AF}"/>
              </a:ext>
            </a:extLst>
          </p:cNvPr>
          <p:cNvSpPr/>
          <p:nvPr/>
        </p:nvSpPr>
        <p:spPr bwMode="gray">
          <a:xfrm>
            <a:off x="7897823" y="5826736"/>
            <a:ext cx="252000" cy="252000"/>
          </a:xfrm>
          <a:prstGeom prst="ellipse">
            <a:avLst/>
          </a:prstGeom>
          <a:solidFill>
            <a:schemeClr val="accent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1" i="0" u="none" strike="noStrike" kern="0" cap="none" spc="0" normalizeH="0" baseline="0" noProof="0" dirty="0">
                <a:ln>
                  <a:noFill/>
                </a:ln>
                <a:solidFill>
                  <a:prstClr val="white"/>
                </a:solidFill>
                <a:effectLst/>
                <a:uLnTx/>
                <a:uFillTx/>
                <a:latin typeface="+mn-ea"/>
                <a:ea typeface="+mn-ea"/>
                <a:cs typeface="Arial" charset="0"/>
              </a:rPr>
              <a:t>3</a:t>
            </a:r>
          </a:p>
        </p:txBody>
      </p:sp>
      <p:sp>
        <p:nvSpPr>
          <p:cNvPr id="39" name="コンテンツ プレースホルダー 2">
            <a:extLst>
              <a:ext uri="{FF2B5EF4-FFF2-40B4-BE49-F238E27FC236}">
                <a16:creationId xmlns:a16="http://schemas.microsoft.com/office/drawing/2014/main" id="{84FED5AF-2C6B-1337-0496-496159C3DE93}"/>
              </a:ext>
            </a:extLst>
          </p:cNvPr>
          <p:cNvSpPr txBox="1">
            <a:spLocks/>
          </p:cNvSpPr>
          <p:nvPr/>
        </p:nvSpPr>
        <p:spPr>
          <a:xfrm>
            <a:off x="273050" y="779264"/>
            <a:ext cx="9359900" cy="1057750"/>
          </a:xfrm>
          <a:prstGeom prst="rect">
            <a:avLst/>
          </a:prstGeom>
          <a:noFill/>
          <a:ln>
            <a:solidFill>
              <a:schemeClr val="bg1"/>
            </a:solid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ja-JP" altLang="en-US" sz="1200" dirty="0"/>
              <a:t>デバイス</a:t>
            </a:r>
            <a:r>
              <a:rPr lang="ja-JP" altLang="en-US" sz="1200" dirty="0"/>
              <a:t>連携の手法としては、</a:t>
            </a:r>
            <a:r>
              <a:rPr lang="en-US" altLang="ja-JP" sz="1200" dirty="0"/>
              <a:t> QR</a:t>
            </a:r>
            <a:r>
              <a:rPr lang="ja-JP" altLang="en-US" sz="1200" dirty="0"/>
              <a:t>コード</a:t>
            </a:r>
            <a:r>
              <a:rPr lang="en-US" altLang="ja-JP" sz="1200" dirty="0"/>
              <a:t>/NFC/Bluetooth</a:t>
            </a:r>
            <a:r>
              <a:rPr lang="ja-JP" altLang="en-US" sz="1200" dirty="0"/>
              <a:t>（</a:t>
            </a:r>
            <a:r>
              <a:rPr lang="en-US" altLang="ja-JP" sz="1200" dirty="0"/>
              <a:t>BLE</a:t>
            </a:r>
            <a:r>
              <a:rPr lang="ja-JP" altLang="en-US" sz="1200" dirty="0"/>
              <a:t>）等の複数デバイス間（</a:t>
            </a:r>
            <a:r>
              <a:rPr lang="en-US" altLang="ja-JP" sz="1200" dirty="0"/>
              <a:t>Cross Device</a:t>
            </a:r>
            <a:r>
              <a:rPr lang="ja-JP" altLang="en-US" sz="1200" dirty="0"/>
              <a:t>）の連携と、同一デバイス内（</a:t>
            </a:r>
            <a:r>
              <a:rPr lang="en-US" altLang="ja-JP" sz="1200" dirty="0"/>
              <a:t>Same Device</a:t>
            </a:r>
            <a:r>
              <a:rPr lang="ja-JP" altLang="en-US" sz="1200" dirty="0"/>
              <a:t>）に大別される</a:t>
            </a:r>
            <a:endParaRPr kumimoji="1" lang="en-US" altLang="ja-JP" sz="1200" dirty="0"/>
          </a:p>
          <a:p>
            <a:r>
              <a:rPr lang="en-US" altLang="ja-JP" sz="1200" dirty="0"/>
              <a:t>QR</a:t>
            </a:r>
            <a:r>
              <a:rPr lang="ja-JP" altLang="en-US" sz="1200" dirty="0"/>
              <a:t>コードは付属カメラ等で情報を取り込むため特別な拡張は不要。</a:t>
            </a:r>
            <a:r>
              <a:rPr lang="en-US" altLang="ja-JP" sz="1200" dirty="0"/>
              <a:t>BLE</a:t>
            </a:r>
            <a:r>
              <a:rPr lang="ja-JP" altLang="en-US" sz="1200" dirty="0"/>
              <a:t>や</a:t>
            </a:r>
            <a:r>
              <a:rPr lang="en-US" altLang="ja-JP" sz="1200" dirty="0"/>
              <a:t>NFC</a:t>
            </a:r>
            <a:r>
              <a:rPr lang="ja-JP" altLang="en-US" sz="1200" dirty="0"/>
              <a:t>は通信プロトコルレベルの拡張が必要になる。従って、具体的な実装には拡張仕様もしくは業者が独自に設計する必要がある（</a:t>
            </a:r>
            <a:r>
              <a:rPr lang="en-US" altLang="ja-JP" sz="1200" dirty="0"/>
              <a:t>OID4VP</a:t>
            </a:r>
            <a:r>
              <a:rPr lang="ja-JP" altLang="en-US" sz="1200" dirty="0"/>
              <a:t>においては、</a:t>
            </a:r>
            <a:r>
              <a:rPr lang="en-US" altLang="ja-JP" sz="1200" dirty="0"/>
              <a:t>VP</a:t>
            </a:r>
            <a:r>
              <a:rPr lang="ja-JP" altLang="en-US" sz="1200" dirty="0"/>
              <a:t>交換の</a:t>
            </a:r>
            <a:r>
              <a:rPr lang="en-US" altLang="ja-JP" sz="1200" dirty="0"/>
              <a:t>Bluetooth</a:t>
            </a:r>
            <a:r>
              <a:rPr lang="ja-JP" altLang="en-US" sz="1200" dirty="0"/>
              <a:t>拡張機能が存在） 。同一デバイス内であればアプリ間での標準的な遷移で対応可能だが、どの方式においてもプライバシーを保護する適切な制御が必要となる。</a:t>
            </a:r>
          </a:p>
        </p:txBody>
      </p:sp>
      <p:sp>
        <p:nvSpPr>
          <p:cNvPr id="57" name="正方形/長方形 56">
            <a:extLst>
              <a:ext uri="{FF2B5EF4-FFF2-40B4-BE49-F238E27FC236}">
                <a16:creationId xmlns:a16="http://schemas.microsoft.com/office/drawing/2014/main" id="{11AB1063-2D14-3D61-8351-7FD3DE0B735E}"/>
              </a:ext>
            </a:extLst>
          </p:cNvPr>
          <p:cNvSpPr/>
          <p:nvPr/>
        </p:nvSpPr>
        <p:spPr>
          <a:xfrm>
            <a:off x="1875716" y="135476"/>
            <a:ext cx="980645"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58" name="正方形/長方形 57">
            <a:extLst>
              <a:ext uri="{FF2B5EF4-FFF2-40B4-BE49-F238E27FC236}">
                <a16:creationId xmlns:a16="http://schemas.microsoft.com/office/drawing/2014/main" id="{882F635D-E2C9-6462-67E3-E7CA09C9A7D3}"/>
              </a:ext>
            </a:extLst>
          </p:cNvPr>
          <p:cNvSpPr/>
          <p:nvPr/>
        </p:nvSpPr>
        <p:spPr>
          <a:xfrm>
            <a:off x="1875716" y="242366"/>
            <a:ext cx="491226" cy="1728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59" name="正方形/長方形 58">
            <a:extLst>
              <a:ext uri="{FF2B5EF4-FFF2-40B4-BE49-F238E27FC236}">
                <a16:creationId xmlns:a16="http://schemas.microsoft.com/office/drawing/2014/main" id="{5F8153B0-27D4-19F6-924F-34145F41C362}"/>
              </a:ext>
            </a:extLst>
          </p:cNvPr>
          <p:cNvSpPr/>
          <p:nvPr/>
        </p:nvSpPr>
        <p:spPr>
          <a:xfrm>
            <a:off x="2366942"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Credential</a:t>
            </a:r>
          </a:p>
          <a:p>
            <a:pPr algn="ctr"/>
            <a:r>
              <a:rPr lang="en-US" altLang="ja-JP" sz="500" dirty="0"/>
              <a:t>Proofing</a:t>
            </a:r>
            <a:endParaRPr lang="ja-JP" altLang="en-US" sz="500" dirty="0"/>
          </a:p>
        </p:txBody>
      </p:sp>
      <p:sp>
        <p:nvSpPr>
          <p:cNvPr id="60" name="正方形/長方形 59">
            <a:extLst>
              <a:ext uri="{FF2B5EF4-FFF2-40B4-BE49-F238E27FC236}">
                <a16:creationId xmlns:a16="http://schemas.microsoft.com/office/drawing/2014/main" id="{C18ECE55-EE2C-3EB3-DFB0-7D27E04627D5}"/>
              </a:ext>
            </a:extLst>
          </p:cNvPr>
          <p:cNvSpPr/>
          <p:nvPr/>
        </p:nvSpPr>
        <p:spPr>
          <a:xfrm>
            <a:off x="2858168"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Envelope</a:t>
            </a:r>
            <a:endParaRPr lang="ja-JP" altLang="en-US" sz="600" dirty="0"/>
          </a:p>
        </p:txBody>
      </p:sp>
      <p:sp>
        <p:nvSpPr>
          <p:cNvPr id="61" name="正方形/長方形 60">
            <a:extLst>
              <a:ext uri="{FF2B5EF4-FFF2-40B4-BE49-F238E27FC236}">
                <a16:creationId xmlns:a16="http://schemas.microsoft.com/office/drawing/2014/main" id="{211E8625-742E-A838-4A0F-3F24F894734F}"/>
              </a:ext>
            </a:extLst>
          </p:cNvPr>
          <p:cNvSpPr/>
          <p:nvPr/>
        </p:nvSpPr>
        <p:spPr>
          <a:xfrm>
            <a:off x="2856361" y="135476"/>
            <a:ext cx="983839"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a:t>Agent </a:t>
            </a:r>
            <a:r>
              <a:rPr lang="en-US" altLang="ja-JP" sz="600" dirty="0"/>
              <a:t>Layer</a:t>
            </a:r>
            <a:endParaRPr lang="ja-JP" altLang="en-US" sz="600" dirty="0"/>
          </a:p>
        </p:txBody>
      </p:sp>
      <p:sp>
        <p:nvSpPr>
          <p:cNvPr id="62" name="正方形/長方形 61">
            <a:extLst>
              <a:ext uri="{FF2B5EF4-FFF2-40B4-BE49-F238E27FC236}">
                <a16:creationId xmlns:a16="http://schemas.microsoft.com/office/drawing/2014/main" id="{CED91C70-0A92-E28E-44BB-DEC09042AE19}"/>
              </a:ext>
            </a:extLst>
          </p:cNvPr>
          <p:cNvSpPr/>
          <p:nvPr/>
        </p:nvSpPr>
        <p:spPr>
          <a:xfrm>
            <a:off x="3349266"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Transport</a:t>
            </a:r>
            <a:endParaRPr lang="ja-JP" altLang="en-US" sz="600" dirty="0"/>
          </a:p>
        </p:txBody>
      </p:sp>
      <p:sp>
        <p:nvSpPr>
          <p:cNvPr id="63" name="正方形/長方形 62">
            <a:extLst>
              <a:ext uri="{FF2B5EF4-FFF2-40B4-BE49-F238E27FC236}">
                <a16:creationId xmlns:a16="http://schemas.microsoft.com/office/drawing/2014/main" id="{7775248B-4506-43F6-7C35-2F759C30854A}"/>
              </a:ext>
            </a:extLst>
          </p:cNvPr>
          <p:cNvSpPr/>
          <p:nvPr/>
        </p:nvSpPr>
        <p:spPr>
          <a:xfrm>
            <a:off x="38406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64" name="正方形/長方形 63">
            <a:extLst>
              <a:ext uri="{FF2B5EF4-FFF2-40B4-BE49-F238E27FC236}">
                <a16:creationId xmlns:a16="http://schemas.microsoft.com/office/drawing/2014/main" id="{8A6A15C8-A95A-0F54-5EE0-1D35F7A2F68F}"/>
              </a:ext>
            </a:extLst>
          </p:cNvPr>
          <p:cNvSpPr/>
          <p:nvPr/>
        </p:nvSpPr>
        <p:spPr>
          <a:xfrm>
            <a:off x="4824207"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65" name="正方形/長方形 64">
            <a:extLst>
              <a:ext uri="{FF2B5EF4-FFF2-40B4-BE49-F238E27FC236}">
                <a16:creationId xmlns:a16="http://schemas.microsoft.com/office/drawing/2014/main" id="{3670E75A-60FF-9033-0B8A-184E788A22B8}"/>
              </a:ext>
            </a:extLst>
          </p:cNvPr>
          <p:cNvSpPr/>
          <p:nvPr/>
        </p:nvSpPr>
        <p:spPr>
          <a:xfrm>
            <a:off x="531530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66" name="正方形/長方形 65">
            <a:extLst>
              <a:ext uri="{FF2B5EF4-FFF2-40B4-BE49-F238E27FC236}">
                <a16:creationId xmlns:a16="http://schemas.microsoft.com/office/drawing/2014/main" id="{861CFF8B-FB51-6384-EA1B-78E1CB941083}"/>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67" name="正方形/長方形 66">
            <a:extLst>
              <a:ext uri="{FF2B5EF4-FFF2-40B4-BE49-F238E27FC236}">
                <a16:creationId xmlns:a16="http://schemas.microsoft.com/office/drawing/2014/main" id="{A45D3647-E361-04A4-735B-694EE273D80C}"/>
              </a:ext>
            </a:extLst>
          </p:cNvPr>
          <p:cNvSpPr/>
          <p:nvPr/>
        </p:nvSpPr>
        <p:spPr>
          <a:xfrm>
            <a:off x="6297630"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Disclosure</a:t>
            </a:r>
            <a:br>
              <a:rPr lang="en-US" altLang="ja-JP" sz="500" dirty="0"/>
            </a:br>
            <a:r>
              <a:rPr lang="en-US" altLang="ja-JP" sz="500" dirty="0"/>
              <a:t>/ZKP</a:t>
            </a:r>
          </a:p>
        </p:txBody>
      </p:sp>
      <p:sp>
        <p:nvSpPr>
          <p:cNvPr id="68" name="正方形/長方形 67">
            <a:extLst>
              <a:ext uri="{FF2B5EF4-FFF2-40B4-BE49-F238E27FC236}">
                <a16:creationId xmlns:a16="http://schemas.microsoft.com/office/drawing/2014/main" id="{172B6201-B481-C17F-799B-4641D77E3930}"/>
              </a:ext>
            </a:extLst>
          </p:cNvPr>
          <p:cNvSpPr/>
          <p:nvPr/>
        </p:nvSpPr>
        <p:spPr>
          <a:xfrm>
            <a:off x="67888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69" name="正方形/長方形 68">
            <a:extLst>
              <a:ext uri="{FF2B5EF4-FFF2-40B4-BE49-F238E27FC236}">
                <a16:creationId xmlns:a16="http://schemas.microsoft.com/office/drawing/2014/main" id="{CC8B1924-1893-5805-E313-9BA3354ADBB1}"/>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70" name="正方形/長方形 69">
            <a:extLst>
              <a:ext uri="{FF2B5EF4-FFF2-40B4-BE49-F238E27FC236}">
                <a16:creationId xmlns:a16="http://schemas.microsoft.com/office/drawing/2014/main" id="{B85DE658-6EF7-6097-1EE7-5F1454DEB9C4}"/>
              </a:ext>
            </a:extLst>
          </p:cNvPr>
          <p:cNvSpPr/>
          <p:nvPr/>
        </p:nvSpPr>
        <p:spPr>
          <a:xfrm>
            <a:off x="7771053"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71" name="正方形/長方形 70">
            <a:extLst>
              <a:ext uri="{FF2B5EF4-FFF2-40B4-BE49-F238E27FC236}">
                <a16:creationId xmlns:a16="http://schemas.microsoft.com/office/drawing/2014/main" id="{0588B993-6FD6-514A-87DB-F635D58544F0}"/>
              </a:ext>
            </a:extLst>
          </p:cNvPr>
          <p:cNvSpPr/>
          <p:nvPr/>
        </p:nvSpPr>
        <p:spPr>
          <a:xfrm>
            <a:off x="3837006" y="135476"/>
            <a:ext cx="2461601"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72" name="正方形/長方形 71">
            <a:extLst>
              <a:ext uri="{FF2B5EF4-FFF2-40B4-BE49-F238E27FC236}">
                <a16:creationId xmlns:a16="http://schemas.microsoft.com/office/drawing/2014/main" id="{42098BDC-277A-6B39-444F-6385079186C0}"/>
              </a:ext>
            </a:extLst>
          </p:cNvPr>
          <p:cNvSpPr/>
          <p:nvPr/>
        </p:nvSpPr>
        <p:spPr>
          <a:xfrm>
            <a:off x="6297503" y="135476"/>
            <a:ext cx="1964776"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16" name="正方形/長方形 15">
            <a:extLst>
              <a:ext uri="{FF2B5EF4-FFF2-40B4-BE49-F238E27FC236}">
                <a16:creationId xmlns:a16="http://schemas.microsoft.com/office/drawing/2014/main" id="{6011E1B0-9096-0FB9-EB97-7AC3C1A408F5}"/>
              </a:ext>
            </a:extLst>
          </p:cNvPr>
          <p:cNvSpPr/>
          <p:nvPr/>
        </p:nvSpPr>
        <p:spPr>
          <a:xfrm>
            <a:off x="433291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2605571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 name="グループ化 127">
            <a:extLst>
              <a:ext uri="{FF2B5EF4-FFF2-40B4-BE49-F238E27FC236}">
                <a16:creationId xmlns:a16="http://schemas.microsoft.com/office/drawing/2014/main" id="{2A832386-2E51-A68C-A8DF-2B18AC2D17BE}"/>
              </a:ext>
            </a:extLst>
          </p:cNvPr>
          <p:cNvGrpSpPr/>
          <p:nvPr/>
        </p:nvGrpSpPr>
        <p:grpSpPr>
          <a:xfrm>
            <a:off x="560387" y="4685207"/>
            <a:ext cx="4313593" cy="1536076"/>
            <a:chOff x="560387" y="4618420"/>
            <a:chExt cx="4313593" cy="1647340"/>
          </a:xfrm>
        </p:grpSpPr>
        <p:sp>
          <p:nvSpPr>
            <p:cNvPr id="56" name="正方形/長方形 55">
              <a:extLst>
                <a:ext uri="{FF2B5EF4-FFF2-40B4-BE49-F238E27FC236}">
                  <a16:creationId xmlns:a16="http://schemas.microsoft.com/office/drawing/2014/main" id="{CEB7DC5D-59A7-DD05-0EB7-F7770A062C1F}"/>
                </a:ext>
              </a:extLst>
            </p:cNvPr>
            <p:cNvSpPr/>
            <p:nvPr/>
          </p:nvSpPr>
          <p:spPr bwMode="gray">
            <a:xfrm>
              <a:off x="560387" y="4618420"/>
              <a:ext cx="4313593" cy="1647340"/>
            </a:xfrm>
            <a:prstGeom prst="rect">
              <a:avLst/>
            </a:prstGeom>
            <a:solidFill>
              <a:sysClr val="window" lastClr="FFFFFF"/>
            </a:solidFill>
            <a:ln w="12700" algn="ctr">
              <a:solidFill>
                <a:sysClr val="windowText" lastClr="000000"/>
              </a:solid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72000" tIns="0" rIns="0" bIns="0" numCol="1" spcCol="0" rtlCol="0" fromWordArt="0" anchor="t" anchorCtr="0" forceAA="0" compatLnSpc="1">
              <a:prstTxWarp prst="textNoShape">
                <a:avLst/>
              </a:prstTxWarp>
              <a:noAutofit/>
            </a:bodyPr>
            <a:lstStyle/>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"id": "</a:t>
              </a:r>
              <a:r>
                <a:rPr kumimoji="0" lang="en-US" altLang="ja-JP" sz="1000" b="1" i="0" u="none" strike="noStrike" kern="0" cap="none" spc="0" normalizeH="0" baseline="0" noProof="0" dirty="0">
                  <a:ln>
                    <a:noFill/>
                  </a:ln>
                  <a:solidFill>
                    <a:srgbClr val="FF0000"/>
                  </a:solidFill>
                  <a:effectLst/>
                  <a:uLnTx/>
                  <a:uFillTx/>
                  <a:latin typeface="Calibri" panose="020F0502020204030204" pitchFamily="34" charset="0"/>
                  <a:ea typeface="+mn-ea"/>
                  <a:cs typeface="Calibri" panose="020F0502020204030204" pitchFamily="34" charset="0"/>
                </a:rPr>
                <a:t>did:example:123456789abcdefghi</a:t>
              </a: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"authentication": [{</a:t>
              </a: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"id": "</a:t>
              </a:r>
              <a:r>
                <a:rPr kumimoji="0" lang="en-US" altLang="ja-JP" sz="1000" b="1" i="0" u="none" strike="noStrike" kern="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did:example:123456789abcdefghi#keys-1</a:t>
              </a: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"type": "Ed25519VerificationKey2018",</a:t>
              </a: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"controller": "did:example:123456789abcdefghi",</a:t>
              </a: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"publickeyBase58": "H3C2AVvLMv6gmmBam3uVAjZpfkcJCwDwnZn.."</a:t>
              </a: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endParaRPr kumimoji="0" lang="ja-JP" altLang="en-US" sz="10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1" name="正方形/長方形 110">
              <a:extLst>
                <a:ext uri="{FF2B5EF4-FFF2-40B4-BE49-F238E27FC236}">
                  <a16:creationId xmlns:a16="http://schemas.microsoft.com/office/drawing/2014/main" id="{3559660E-9956-3C4E-1A31-E7C4CF1AD357}"/>
                </a:ext>
              </a:extLst>
            </p:cNvPr>
            <p:cNvSpPr/>
            <p:nvPr/>
          </p:nvSpPr>
          <p:spPr bwMode="gray">
            <a:xfrm>
              <a:off x="1021684" y="4979783"/>
              <a:ext cx="1833779" cy="141147"/>
            </a:xfrm>
            <a:prstGeom prst="rect">
              <a:avLst/>
            </a:prstGeom>
            <a:solidFill>
              <a:schemeClr val="accent4">
                <a:alpha val="50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116" name="正方形/長方形 115">
              <a:extLst>
                <a:ext uri="{FF2B5EF4-FFF2-40B4-BE49-F238E27FC236}">
                  <a16:creationId xmlns:a16="http://schemas.microsoft.com/office/drawing/2014/main" id="{EFD8ECA7-DE8F-D8CB-2154-696C11CC95B4}"/>
                </a:ext>
              </a:extLst>
            </p:cNvPr>
            <p:cNvSpPr/>
            <p:nvPr/>
          </p:nvSpPr>
          <p:spPr bwMode="gray">
            <a:xfrm>
              <a:off x="1128959" y="5300919"/>
              <a:ext cx="2262216" cy="126473"/>
            </a:xfrm>
            <a:prstGeom prst="rect">
              <a:avLst/>
            </a:prstGeom>
            <a:solidFill>
              <a:schemeClr val="accent4">
                <a:alpha val="50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118" name="正方形/長方形 117">
              <a:extLst>
                <a:ext uri="{FF2B5EF4-FFF2-40B4-BE49-F238E27FC236}">
                  <a16:creationId xmlns:a16="http://schemas.microsoft.com/office/drawing/2014/main" id="{DF679502-D465-8314-59F3-63D48E6B1DCE}"/>
                </a:ext>
              </a:extLst>
            </p:cNvPr>
            <p:cNvSpPr/>
            <p:nvPr/>
          </p:nvSpPr>
          <p:spPr bwMode="gray">
            <a:xfrm>
              <a:off x="1956714" y="5793130"/>
              <a:ext cx="2436382" cy="141376"/>
            </a:xfrm>
            <a:prstGeom prst="rect">
              <a:avLst/>
            </a:prstGeom>
            <a:solidFill>
              <a:schemeClr val="accent4">
                <a:alpha val="50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grpSp>
      <p:sp>
        <p:nvSpPr>
          <p:cNvPr id="2" name="タイトル 1">
            <a:extLst>
              <a:ext uri="{FF2B5EF4-FFF2-40B4-BE49-F238E27FC236}">
                <a16:creationId xmlns:a16="http://schemas.microsoft.com/office/drawing/2014/main" id="{C36078B3-5DDE-1674-D9EF-5D25B5FF4E42}"/>
              </a:ext>
            </a:extLst>
          </p:cNvPr>
          <p:cNvSpPr>
            <a:spLocks noGrp="1"/>
          </p:cNvSpPr>
          <p:nvPr>
            <p:ph type="title"/>
          </p:nvPr>
        </p:nvSpPr>
        <p:spPr>
          <a:xfrm>
            <a:off x="273050" y="447475"/>
            <a:ext cx="7848302" cy="246221"/>
          </a:xfrm>
        </p:spPr>
        <p:txBody>
          <a:bodyPr/>
          <a:lstStyle/>
          <a:p>
            <a:r>
              <a:rPr kumimoji="1" lang="en-US" altLang="ja-JP" sz="1600" dirty="0"/>
              <a:t>5.2. </a:t>
            </a:r>
            <a:r>
              <a:rPr kumimoji="1" lang="ja-JP" altLang="en-US" sz="1600" dirty="0"/>
              <a:t>規格・実装方式の詳細 </a:t>
            </a:r>
            <a:r>
              <a:rPr kumimoji="1" lang="en-US" altLang="ja-JP" sz="1600" dirty="0"/>
              <a:t>- (7</a:t>
            </a:r>
            <a:r>
              <a:rPr kumimoji="1" lang="en-US" altLang="ja-JP" dirty="0"/>
              <a:t>) DID Document</a:t>
            </a:r>
            <a:r>
              <a:rPr kumimoji="1" lang="ja-JP" altLang="en-US" dirty="0"/>
              <a:t>を活用した証明書の検証方法</a:t>
            </a:r>
          </a:p>
        </p:txBody>
      </p:sp>
      <p:sp>
        <p:nvSpPr>
          <p:cNvPr id="3" name="テキスト プレースホルダー 2">
            <a:extLst>
              <a:ext uri="{FF2B5EF4-FFF2-40B4-BE49-F238E27FC236}">
                <a16:creationId xmlns:a16="http://schemas.microsoft.com/office/drawing/2014/main" id="{7AAE6616-A92C-014D-FC4E-E8BE9D45BB28}"/>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pic>
        <p:nvPicPr>
          <p:cNvPr id="55" name="図 54">
            <a:extLst>
              <a:ext uri="{FF2B5EF4-FFF2-40B4-BE49-F238E27FC236}">
                <a16:creationId xmlns:a16="http://schemas.microsoft.com/office/drawing/2014/main" id="{6D413995-D51C-FF11-9BAA-3E5FBC22B63A}"/>
              </a:ext>
            </a:extLst>
          </p:cNvPr>
          <p:cNvPicPr>
            <a:picLocks noChangeAspect="1"/>
          </p:cNvPicPr>
          <p:nvPr/>
        </p:nvPicPr>
        <p:blipFill>
          <a:blip r:embed="rId2"/>
          <a:stretch>
            <a:fillRect/>
          </a:stretch>
        </p:blipFill>
        <p:spPr>
          <a:xfrm>
            <a:off x="537997" y="2406540"/>
            <a:ext cx="3942187" cy="1093551"/>
          </a:xfrm>
          <a:prstGeom prst="rect">
            <a:avLst/>
          </a:prstGeom>
        </p:spPr>
      </p:pic>
      <p:sp>
        <p:nvSpPr>
          <p:cNvPr id="57" name="Rectangle 4">
            <a:extLst>
              <a:ext uri="{FF2B5EF4-FFF2-40B4-BE49-F238E27FC236}">
                <a16:creationId xmlns:a16="http://schemas.microsoft.com/office/drawing/2014/main" id="{A173CD2B-CE7E-3F43-E33D-2BA937027C94}"/>
              </a:ext>
            </a:extLst>
          </p:cNvPr>
          <p:cNvSpPr>
            <a:spLocks noChangeArrowheads="1"/>
          </p:cNvSpPr>
          <p:nvPr/>
        </p:nvSpPr>
        <p:spPr bwMode="auto">
          <a:xfrm>
            <a:off x="5307152" y="1904385"/>
            <a:ext cx="4253485" cy="4316898"/>
          </a:xfrm>
          <a:prstGeom prst="rect">
            <a:avLst/>
          </a:prstGeom>
          <a:solidFill>
            <a:sysClr val="window" lastClr="FFFFFF"/>
          </a:solidFill>
          <a:ln w="12700" algn="ctr">
            <a:solidFill>
              <a:sysClr val="windowText" lastClr="000000"/>
            </a:solidFill>
            <a:miter lim="800000"/>
            <a:headEnd/>
            <a:tailEnd/>
          </a:ln>
          <a:effectLst>
            <a:outerShdw dist="35921" dir="2700000" algn="ctr" rotWithShape="0">
              <a:schemeClr val="bg2"/>
            </a:outerShdw>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en-US"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"@context": [</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"https://www.w3.org/2018/credentials/v1",</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"https://www.w3.org/2018/credentials/examples/v1",</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"https://w3id.org/security/suites/ed25519-2020/v1"</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"id": "http://example.edu/credentials/3732",</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"type": [</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"VerifiableCredential",</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"UniversityDegreeCredential"</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"issuer": "https://example.edu/issuers/565049",</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"issuanceDate": "2010-01-01T00:00:00Z",</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"credentialSubject": {</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"id": "</a:t>
            </a:r>
            <a:r>
              <a:rPr kumimoji="0" lang="ja-JP" altLang="ja-JP" sz="900" b="1" i="0" u="none" strike="noStrike" kern="0" cap="none" spc="0" normalizeH="0" baseline="0" noProof="0" dirty="0">
                <a:ln>
                  <a:noFill/>
                </a:ln>
                <a:solidFill>
                  <a:srgbClr val="FF0000"/>
                </a:solidFill>
                <a:effectLst/>
                <a:uLnTx/>
                <a:uFillTx/>
                <a:latin typeface="Calibri" panose="020F0502020204030204" pitchFamily="34" charset="0"/>
                <a:ea typeface="+mn-ea"/>
                <a:cs typeface="Calibri" panose="020F0502020204030204" pitchFamily="34" charset="0"/>
              </a:rPr>
              <a:t>did:example:</a:t>
            </a:r>
            <a:r>
              <a:rPr kumimoji="0" lang="en-US" altLang="ja-JP" sz="900" b="1" i="0" u="none" strike="noStrike" kern="0" cap="none" spc="0" normalizeH="0" baseline="0" noProof="0" dirty="0">
                <a:ln>
                  <a:noFill/>
                </a:ln>
                <a:solidFill>
                  <a:srgbClr val="FF0000"/>
                </a:solidFill>
                <a:effectLst/>
                <a:uLnTx/>
                <a:uFillTx/>
                <a:latin typeface="Calibri" panose="020F0502020204030204" pitchFamily="34" charset="0"/>
                <a:ea typeface="+mn-ea"/>
                <a:cs typeface="Calibri" panose="020F0502020204030204" pitchFamily="34" charset="0"/>
              </a:rPr>
              <a:t>123456789abcdefghi</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"degree": {</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"type": "BachelorDegree",</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"name": "Bachelor of Science and Arts"</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endParaRPr kumimoji="0" lang="en-US"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en-US"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"proof": {</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"type": "Ed25519Signature20</a:t>
            </a:r>
            <a:r>
              <a:rPr kumimoji="0" lang="en-US"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18</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"created": "2022-02-25T14:58:42Z",</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"verificationMethod": "</a:t>
            </a:r>
            <a:r>
              <a:rPr kumimoji="0" lang="en-US"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en-US" altLang="ja-JP" sz="900" b="1" i="0" u="none" strike="noStrike" kern="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did:example:123456789abcdefghi#keys-1</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"proofPurpose": "assertionMethod",</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"proofValue": "z3FXQjecWufY46yg5abdVZsXqLhxhueuSoZgNSARiKBk</a:t>
            </a:r>
            <a:r>
              <a:rPr kumimoji="0" lang="en-US"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t>
            </a:r>
            <a:b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ja-JP" altLang="en-US"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ja-JP" altLang="ja-JP" sz="9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p:txBody>
      </p:sp>
      <p:sp>
        <p:nvSpPr>
          <p:cNvPr id="58" name="テキスト ボックス 57">
            <a:extLst>
              <a:ext uri="{FF2B5EF4-FFF2-40B4-BE49-F238E27FC236}">
                <a16:creationId xmlns:a16="http://schemas.microsoft.com/office/drawing/2014/main" id="{DB9119C4-1461-5B64-27B4-6D6CA025EA07}"/>
              </a:ext>
            </a:extLst>
          </p:cNvPr>
          <p:cNvSpPr txBox="1"/>
          <p:nvPr/>
        </p:nvSpPr>
        <p:spPr bwMode="gray">
          <a:xfrm>
            <a:off x="241775" y="4450744"/>
            <a:ext cx="1207062" cy="215444"/>
          </a:xfrm>
          <a:prstGeom prst="rect">
            <a:avLst/>
          </a:prstGeom>
          <a:noFill/>
        </p:spPr>
        <p:txBody>
          <a:bodyPr wrap="square" lIns="0" tIns="0" rIns="0" bIns="0" rtlCol="0">
            <a:spAutoFit/>
          </a:bodyPr>
          <a:lstStyle>
            <a:defPPr>
              <a:defRPr lang="ja-JP"/>
            </a:defPPr>
            <a:lvl1pPr defTabSz="990564" eaLnBrk="1" fontAlgn="auto" hangingPunct="1">
              <a:spcBef>
                <a:spcPts val="0"/>
              </a:spcBef>
              <a:spcAft>
                <a:spcPts val="0"/>
              </a:spcAft>
              <a:buSzPct val="100000"/>
              <a:buFont typeface="Wingdings" panose="05000000000000000000" pitchFamily="2" charset="2"/>
              <a:buNone/>
              <a:defRPr sz="1400" b="1">
                <a:solidFill>
                  <a:schemeClr val="accent1"/>
                </a:solidFill>
                <a:latin typeface="+mj-lt"/>
                <a:ea typeface="Yu Gothic UI"/>
                <a:cs typeface="Arial" charset="0"/>
              </a:defRPr>
            </a:lvl1pPr>
          </a:lstStyle>
          <a:p>
            <a:r>
              <a:rPr lang="en-US" altLang="ja-JP" dirty="0"/>
              <a:t>DID Document</a:t>
            </a:r>
            <a:endParaRPr lang="ja-JP" altLang="en-US" dirty="0"/>
          </a:p>
        </p:txBody>
      </p:sp>
      <p:sp>
        <p:nvSpPr>
          <p:cNvPr id="59" name="テキスト ボックス 58">
            <a:extLst>
              <a:ext uri="{FF2B5EF4-FFF2-40B4-BE49-F238E27FC236}">
                <a16:creationId xmlns:a16="http://schemas.microsoft.com/office/drawing/2014/main" id="{4307CFB1-BE1C-9832-6749-5D589D78E212}"/>
              </a:ext>
            </a:extLst>
          </p:cNvPr>
          <p:cNvSpPr txBox="1"/>
          <p:nvPr/>
        </p:nvSpPr>
        <p:spPr bwMode="gray">
          <a:xfrm>
            <a:off x="5266531" y="1506492"/>
            <a:ext cx="4294106" cy="400110"/>
          </a:xfrm>
          <a:prstGeom prst="rect">
            <a:avLst/>
          </a:prstGeom>
          <a:noFill/>
        </p:spPr>
        <p:txBody>
          <a:bodyPr wrap="square" lIns="0" tIns="0" rIns="0" bIns="0" rtlCol="0">
            <a:spAutoFit/>
          </a:bodyPr>
          <a:lstStyle>
            <a:defPPr>
              <a:defRPr lang="ja-JP"/>
            </a:defPPr>
            <a:lvl1pPr defTabSz="990564" eaLnBrk="1" fontAlgn="auto" hangingPunct="1">
              <a:spcBef>
                <a:spcPts val="0"/>
              </a:spcBef>
              <a:spcAft>
                <a:spcPts val="0"/>
              </a:spcAft>
              <a:buSzPct val="100000"/>
              <a:buFont typeface="Wingdings" panose="05000000000000000000" pitchFamily="2" charset="2"/>
              <a:buNone/>
              <a:defRPr sz="1400" b="1">
                <a:solidFill>
                  <a:schemeClr val="accent1"/>
                </a:solidFill>
                <a:latin typeface="+mj-lt"/>
                <a:ea typeface="Yu Gothic UI"/>
                <a:cs typeface="Arial" charset="0"/>
              </a:defRPr>
            </a:lvl1pPr>
          </a:lstStyle>
          <a:p>
            <a:r>
              <a:rPr lang="en-US" altLang="ja-JP" dirty="0"/>
              <a:t>Verifiable Credential(VC)</a:t>
            </a:r>
          </a:p>
          <a:p>
            <a:r>
              <a:rPr lang="en-US" altLang="ja-JP" sz="1200" b="0" dirty="0">
                <a:solidFill>
                  <a:schemeClr val="tx1"/>
                </a:solidFill>
              </a:rPr>
              <a:t>※VP</a:t>
            </a:r>
            <a:r>
              <a:rPr lang="ja-JP" altLang="en-US" sz="1200" b="0" dirty="0">
                <a:solidFill>
                  <a:schemeClr val="tx1"/>
                </a:solidFill>
              </a:rPr>
              <a:t>は</a:t>
            </a:r>
            <a:r>
              <a:rPr lang="en-US" altLang="ja-JP" sz="1200" b="0" dirty="0">
                <a:solidFill>
                  <a:schemeClr val="tx1"/>
                </a:solidFill>
              </a:rPr>
              <a:t>VC</a:t>
            </a:r>
            <a:r>
              <a:rPr lang="ja-JP" altLang="en-US" sz="1200" b="0" dirty="0">
                <a:solidFill>
                  <a:schemeClr val="tx1"/>
                </a:solidFill>
              </a:rPr>
              <a:t>から必要情報のみ取り出す</a:t>
            </a:r>
          </a:p>
        </p:txBody>
      </p:sp>
      <p:sp>
        <p:nvSpPr>
          <p:cNvPr id="61" name="四角形: 角を丸くする 60">
            <a:extLst>
              <a:ext uri="{FF2B5EF4-FFF2-40B4-BE49-F238E27FC236}">
                <a16:creationId xmlns:a16="http://schemas.microsoft.com/office/drawing/2014/main" id="{0D78D867-F1D5-4D1F-B263-AEC2CCBE0266}"/>
              </a:ext>
            </a:extLst>
          </p:cNvPr>
          <p:cNvSpPr/>
          <p:nvPr/>
        </p:nvSpPr>
        <p:spPr bwMode="gray">
          <a:xfrm>
            <a:off x="2531946" y="4830366"/>
            <a:ext cx="428625" cy="169200"/>
          </a:xfrm>
          <a:prstGeom prst="roundRect">
            <a:avLst/>
          </a:prstGeom>
          <a:solidFill>
            <a:schemeClr val="accent1">
              <a:lumMod val="20000"/>
              <a:lumOff val="80000"/>
            </a:schemeClr>
          </a:solidFill>
          <a:ln w="25400" cap="flat" cmpd="sng" algn="ctr">
            <a:solidFill>
              <a:schemeClr val="accent1"/>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en-US" altLang="ja-JP" sz="1050" kern="0" dirty="0">
                <a:solidFill>
                  <a:prstClr val="black"/>
                </a:solidFill>
                <a:latin typeface="Calibri Light"/>
                <a:ea typeface="Yu Gothic UI"/>
              </a:rPr>
              <a:t>DID</a:t>
            </a:r>
            <a:endParaRPr kumimoji="0" lang="ja-JP" altLang="en-US" sz="1050" kern="0" dirty="0">
              <a:solidFill>
                <a:prstClr val="black"/>
              </a:solidFill>
              <a:latin typeface="Calibri Light"/>
              <a:ea typeface="Yu Gothic UI"/>
            </a:endParaRPr>
          </a:p>
        </p:txBody>
      </p:sp>
      <p:sp>
        <p:nvSpPr>
          <p:cNvPr id="62" name="四角形: 角を丸くする 61">
            <a:extLst>
              <a:ext uri="{FF2B5EF4-FFF2-40B4-BE49-F238E27FC236}">
                <a16:creationId xmlns:a16="http://schemas.microsoft.com/office/drawing/2014/main" id="{389536B9-08B2-99EC-D7D6-FE559C8F6BEA}"/>
              </a:ext>
            </a:extLst>
          </p:cNvPr>
          <p:cNvSpPr/>
          <p:nvPr/>
        </p:nvSpPr>
        <p:spPr bwMode="gray">
          <a:xfrm>
            <a:off x="2924891" y="5136324"/>
            <a:ext cx="733190" cy="169200"/>
          </a:xfrm>
          <a:prstGeom prst="roundRect">
            <a:avLst/>
          </a:prstGeom>
          <a:solidFill>
            <a:schemeClr val="accent1">
              <a:lumMod val="20000"/>
              <a:lumOff val="80000"/>
            </a:schemeClr>
          </a:solidFill>
          <a:ln w="25400" cap="flat" cmpd="sng" algn="ctr">
            <a:solidFill>
              <a:schemeClr val="accent1"/>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ja-JP" altLang="en-US" sz="1050" kern="0" dirty="0">
                <a:solidFill>
                  <a:prstClr val="black"/>
                </a:solidFill>
                <a:latin typeface="Calibri Light"/>
                <a:ea typeface="Yu Gothic UI"/>
              </a:rPr>
              <a:t>検証方式</a:t>
            </a:r>
          </a:p>
        </p:txBody>
      </p:sp>
      <p:sp>
        <p:nvSpPr>
          <p:cNvPr id="63" name="四角形: 角を丸くする 62">
            <a:extLst>
              <a:ext uri="{FF2B5EF4-FFF2-40B4-BE49-F238E27FC236}">
                <a16:creationId xmlns:a16="http://schemas.microsoft.com/office/drawing/2014/main" id="{3A6F799A-214C-7FF3-7CE1-3A4FEB188B67}"/>
              </a:ext>
            </a:extLst>
          </p:cNvPr>
          <p:cNvSpPr/>
          <p:nvPr/>
        </p:nvSpPr>
        <p:spPr bwMode="gray">
          <a:xfrm>
            <a:off x="3859565" y="5576901"/>
            <a:ext cx="733190" cy="169200"/>
          </a:xfrm>
          <a:prstGeom prst="roundRect">
            <a:avLst/>
          </a:prstGeom>
          <a:solidFill>
            <a:schemeClr val="accent1">
              <a:lumMod val="20000"/>
              <a:lumOff val="80000"/>
            </a:schemeClr>
          </a:solidFill>
          <a:ln w="25400" cap="flat" cmpd="sng" algn="ctr">
            <a:solidFill>
              <a:schemeClr val="accent1"/>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ja-JP" altLang="en-US" sz="1050" kern="0" dirty="0">
                <a:solidFill>
                  <a:prstClr val="black"/>
                </a:solidFill>
                <a:latin typeface="Calibri Light"/>
                <a:ea typeface="Yu Gothic UI"/>
              </a:rPr>
              <a:t>公開鍵</a:t>
            </a:r>
          </a:p>
        </p:txBody>
      </p:sp>
      <p:sp>
        <p:nvSpPr>
          <p:cNvPr id="64" name="四角形: 角を丸くする 63">
            <a:extLst>
              <a:ext uri="{FF2B5EF4-FFF2-40B4-BE49-F238E27FC236}">
                <a16:creationId xmlns:a16="http://schemas.microsoft.com/office/drawing/2014/main" id="{499DEAE2-A9FE-1992-E8E1-8BAF28B89604}"/>
              </a:ext>
            </a:extLst>
          </p:cNvPr>
          <p:cNvSpPr/>
          <p:nvPr/>
        </p:nvSpPr>
        <p:spPr bwMode="gray">
          <a:xfrm>
            <a:off x="8365169" y="2229240"/>
            <a:ext cx="1127268" cy="175608"/>
          </a:xfrm>
          <a:prstGeom prst="roundRect">
            <a:avLst/>
          </a:prstGeom>
          <a:solidFill>
            <a:schemeClr val="accent1">
              <a:lumMod val="20000"/>
              <a:lumOff val="80000"/>
            </a:schemeClr>
          </a:solidFill>
          <a:ln w="25400" cap="flat" cmpd="sng" algn="ctr">
            <a:solidFill>
              <a:schemeClr val="accent1"/>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証明書の定義情報</a:t>
            </a:r>
          </a:p>
        </p:txBody>
      </p:sp>
      <p:sp>
        <p:nvSpPr>
          <p:cNvPr id="65" name="四角形: 角を丸くする 64">
            <a:extLst>
              <a:ext uri="{FF2B5EF4-FFF2-40B4-BE49-F238E27FC236}">
                <a16:creationId xmlns:a16="http://schemas.microsoft.com/office/drawing/2014/main" id="{B9B0DE69-5D6A-E67D-6C37-ECCD74C7B135}"/>
              </a:ext>
            </a:extLst>
          </p:cNvPr>
          <p:cNvSpPr/>
          <p:nvPr/>
        </p:nvSpPr>
        <p:spPr bwMode="gray">
          <a:xfrm>
            <a:off x="8365169" y="2922332"/>
            <a:ext cx="1127268" cy="175608"/>
          </a:xfrm>
          <a:prstGeom prst="roundRect">
            <a:avLst/>
          </a:prstGeom>
          <a:solidFill>
            <a:schemeClr val="accent1">
              <a:lumMod val="20000"/>
              <a:lumOff val="80000"/>
            </a:schemeClr>
          </a:solidFill>
          <a:ln w="25400" cap="flat" cmpd="sng" algn="ctr">
            <a:solidFill>
              <a:schemeClr val="accent1"/>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証明書の</a:t>
            </a:r>
            <a:r>
              <a:rPr kumimoji="0" lang="en-US" altLang="ja-JP" sz="1050" b="0" i="0" u="none" strike="noStrike" kern="0" cap="none" spc="0" normalizeH="0" baseline="0" noProof="0" dirty="0">
                <a:ln>
                  <a:noFill/>
                </a:ln>
                <a:solidFill>
                  <a:prstClr val="black"/>
                </a:solidFill>
                <a:effectLst/>
                <a:uLnTx/>
                <a:uFillTx/>
                <a:latin typeface="Calibri Light"/>
                <a:ea typeface="Yu Gothic UI"/>
                <a:cs typeface="+mn-cs"/>
              </a:rPr>
              <a:t>ID</a:t>
            </a: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と種別</a:t>
            </a:r>
          </a:p>
        </p:txBody>
      </p:sp>
      <p:sp>
        <p:nvSpPr>
          <p:cNvPr id="66" name="四角形: 角を丸くする 65">
            <a:extLst>
              <a:ext uri="{FF2B5EF4-FFF2-40B4-BE49-F238E27FC236}">
                <a16:creationId xmlns:a16="http://schemas.microsoft.com/office/drawing/2014/main" id="{0B25104B-60CB-487E-572F-35EF2A006B26}"/>
              </a:ext>
            </a:extLst>
          </p:cNvPr>
          <p:cNvSpPr/>
          <p:nvPr/>
        </p:nvSpPr>
        <p:spPr bwMode="gray">
          <a:xfrm>
            <a:off x="8365169" y="3628277"/>
            <a:ext cx="1127268" cy="175608"/>
          </a:xfrm>
          <a:prstGeom prst="roundRect">
            <a:avLst/>
          </a:prstGeom>
          <a:solidFill>
            <a:schemeClr val="accent1">
              <a:lumMod val="20000"/>
              <a:lumOff val="80000"/>
            </a:schemeClr>
          </a:solidFill>
          <a:ln w="25400" cap="flat" cmpd="sng" algn="ctr">
            <a:solidFill>
              <a:schemeClr val="accent1"/>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Calibri Light"/>
                <a:ea typeface="Yu Gothic UI"/>
                <a:cs typeface="+mn-cs"/>
              </a:rPr>
              <a:t>発行体と発行日</a:t>
            </a:r>
          </a:p>
        </p:txBody>
      </p:sp>
      <p:sp>
        <p:nvSpPr>
          <p:cNvPr id="67" name="四角形: 角を丸くする 66">
            <a:extLst>
              <a:ext uri="{FF2B5EF4-FFF2-40B4-BE49-F238E27FC236}">
                <a16:creationId xmlns:a16="http://schemas.microsoft.com/office/drawing/2014/main" id="{18716572-7533-FB85-C97C-AA7464AB1FF3}"/>
              </a:ext>
            </a:extLst>
          </p:cNvPr>
          <p:cNvSpPr/>
          <p:nvPr/>
        </p:nvSpPr>
        <p:spPr bwMode="gray">
          <a:xfrm>
            <a:off x="8365169" y="4275136"/>
            <a:ext cx="1127268" cy="175608"/>
          </a:xfrm>
          <a:prstGeom prst="roundRect">
            <a:avLst/>
          </a:prstGeom>
          <a:solidFill>
            <a:schemeClr val="accent1">
              <a:lumMod val="20000"/>
              <a:lumOff val="80000"/>
            </a:schemeClr>
          </a:solidFill>
          <a:ln w="25400" cap="flat" cmpd="sng" algn="ctr">
            <a:solidFill>
              <a:schemeClr val="accent1"/>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a:ln>
                  <a:noFill/>
                </a:ln>
                <a:solidFill>
                  <a:prstClr val="black"/>
                </a:solidFill>
                <a:effectLst/>
                <a:uLnTx/>
                <a:uFillTx/>
                <a:latin typeface="Calibri Light"/>
                <a:ea typeface="Yu Gothic UI"/>
                <a:cs typeface="+mn-cs"/>
              </a:rPr>
              <a:t>VC</a:t>
            </a: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の主要情報</a:t>
            </a:r>
          </a:p>
        </p:txBody>
      </p:sp>
      <p:sp>
        <p:nvSpPr>
          <p:cNvPr id="68" name="四角形: 角を丸くする 67">
            <a:extLst>
              <a:ext uri="{FF2B5EF4-FFF2-40B4-BE49-F238E27FC236}">
                <a16:creationId xmlns:a16="http://schemas.microsoft.com/office/drawing/2014/main" id="{3D04487E-08D0-80BD-CB0A-4D251DD8443F}"/>
              </a:ext>
            </a:extLst>
          </p:cNvPr>
          <p:cNvSpPr/>
          <p:nvPr/>
        </p:nvSpPr>
        <p:spPr bwMode="gray">
          <a:xfrm>
            <a:off x="8365169" y="4952378"/>
            <a:ext cx="1127268" cy="175608"/>
          </a:xfrm>
          <a:prstGeom prst="roundRect">
            <a:avLst/>
          </a:prstGeom>
          <a:solidFill>
            <a:schemeClr val="accent1">
              <a:lumMod val="20000"/>
              <a:lumOff val="80000"/>
            </a:schemeClr>
          </a:solidFill>
          <a:ln w="25400" cap="flat" cmpd="sng" algn="ctr">
            <a:solidFill>
              <a:schemeClr val="accent1"/>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検証用の署名</a:t>
            </a:r>
          </a:p>
        </p:txBody>
      </p:sp>
      <p:sp>
        <p:nvSpPr>
          <p:cNvPr id="72" name="正方形/長方形 71">
            <a:extLst>
              <a:ext uri="{FF2B5EF4-FFF2-40B4-BE49-F238E27FC236}">
                <a16:creationId xmlns:a16="http://schemas.microsoft.com/office/drawing/2014/main" id="{ADC877C2-A974-BC16-F84A-6807289234C8}"/>
              </a:ext>
            </a:extLst>
          </p:cNvPr>
          <p:cNvSpPr/>
          <p:nvPr/>
        </p:nvSpPr>
        <p:spPr bwMode="gray">
          <a:xfrm>
            <a:off x="6472000" y="5618313"/>
            <a:ext cx="2699436" cy="141147"/>
          </a:xfrm>
          <a:prstGeom prst="rect">
            <a:avLst/>
          </a:prstGeom>
          <a:solidFill>
            <a:schemeClr val="accent4">
              <a:alpha val="50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79" name="四角形: 角を丸くする 78">
            <a:extLst>
              <a:ext uri="{FF2B5EF4-FFF2-40B4-BE49-F238E27FC236}">
                <a16:creationId xmlns:a16="http://schemas.microsoft.com/office/drawing/2014/main" id="{93D04E6D-8770-329E-3F23-AF136FA4B7FD}"/>
              </a:ext>
            </a:extLst>
          </p:cNvPr>
          <p:cNvSpPr/>
          <p:nvPr/>
        </p:nvSpPr>
        <p:spPr bwMode="gray">
          <a:xfrm>
            <a:off x="1275820" y="3576635"/>
            <a:ext cx="733190" cy="278892"/>
          </a:xfrm>
          <a:prstGeom prst="roundRect">
            <a:avLst/>
          </a:prstGeom>
          <a:solidFill>
            <a:schemeClr val="accent4"/>
          </a:solidFill>
          <a:ln w="25400" cap="flat" cmpd="sng" algn="ctr">
            <a:solidFill>
              <a:schemeClr val="accent4"/>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1" i="0" u="none" strike="noStrike" kern="0" cap="none" spc="0" normalizeH="0" baseline="0" noProof="0">
                <a:ln>
                  <a:noFill/>
                </a:ln>
                <a:solidFill>
                  <a:prstClr val="white"/>
                </a:solidFill>
                <a:effectLst/>
                <a:uLnTx/>
                <a:uFillTx/>
                <a:latin typeface="Calibri Light"/>
                <a:ea typeface="Yu Gothic UI"/>
                <a:cs typeface="+mn-cs"/>
              </a:rPr>
              <a:t>名前解決</a:t>
            </a:r>
          </a:p>
        </p:txBody>
      </p:sp>
      <p:cxnSp>
        <p:nvCxnSpPr>
          <p:cNvPr id="80" name="直線矢印コネクタ 79">
            <a:extLst>
              <a:ext uri="{FF2B5EF4-FFF2-40B4-BE49-F238E27FC236}">
                <a16:creationId xmlns:a16="http://schemas.microsoft.com/office/drawing/2014/main" id="{E715D03B-99DA-7A55-811A-3366E5C39648}"/>
              </a:ext>
            </a:extLst>
          </p:cNvPr>
          <p:cNvCxnSpPr>
            <a:cxnSpLocks/>
            <a:endCxn id="79" idx="0"/>
          </p:cNvCxnSpPr>
          <p:nvPr/>
        </p:nvCxnSpPr>
        <p:spPr bwMode="gray">
          <a:xfrm>
            <a:off x="1642415" y="3331595"/>
            <a:ext cx="0" cy="245040"/>
          </a:xfrm>
          <a:prstGeom prst="straightConnector1">
            <a:avLst/>
          </a:prstGeom>
          <a:noFill/>
          <a:ln w="12700" cap="flat" cmpd="sng" algn="ctr">
            <a:solidFill>
              <a:srgbClr val="53565A"/>
            </a:solidFill>
            <a:prstDash val="solid"/>
            <a:tailEnd type="triangle"/>
          </a:ln>
          <a:effectLst/>
        </p:spPr>
      </p:cxnSp>
      <p:sp>
        <p:nvSpPr>
          <p:cNvPr id="81" name="正方形/長方形 80">
            <a:extLst>
              <a:ext uri="{FF2B5EF4-FFF2-40B4-BE49-F238E27FC236}">
                <a16:creationId xmlns:a16="http://schemas.microsoft.com/office/drawing/2014/main" id="{5336C35B-40E0-4083-7F4F-9985DE0941C6}"/>
              </a:ext>
            </a:extLst>
          </p:cNvPr>
          <p:cNvSpPr/>
          <p:nvPr/>
        </p:nvSpPr>
        <p:spPr bwMode="gray">
          <a:xfrm>
            <a:off x="600942" y="4079711"/>
            <a:ext cx="1002246" cy="244144"/>
          </a:xfrm>
          <a:prstGeom prst="rect">
            <a:avLst/>
          </a:prstGeom>
          <a:solidFill>
            <a:sysClr val="window" lastClr="FFFFFF"/>
          </a:solidFill>
          <a:ln w="12700" algn="ctr">
            <a:solidFill>
              <a:sysClr val="window" lastClr="FFFFFF">
                <a:lumMod val="65000"/>
              </a:sys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rPr>
              <a:t>ION Network</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82" name="正方形/長方形 81">
            <a:extLst>
              <a:ext uri="{FF2B5EF4-FFF2-40B4-BE49-F238E27FC236}">
                <a16:creationId xmlns:a16="http://schemas.microsoft.com/office/drawing/2014/main" id="{2F468000-2392-37E2-ED78-CC63E3D22462}"/>
              </a:ext>
            </a:extLst>
          </p:cNvPr>
          <p:cNvSpPr/>
          <p:nvPr/>
        </p:nvSpPr>
        <p:spPr bwMode="gray">
          <a:xfrm>
            <a:off x="1687551" y="4079711"/>
            <a:ext cx="1002246" cy="244144"/>
          </a:xfrm>
          <a:prstGeom prst="rect">
            <a:avLst/>
          </a:prstGeom>
          <a:solidFill>
            <a:sysClr val="window" lastClr="FFFFFF"/>
          </a:solidFill>
          <a:ln w="12700" algn="ctr">
            <a:solidFill>
              <a:sysClr val="window" lastClr="FFFFFF">
                <a:lumMod val="65000"/>
              </a:sys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rPr>
              <a:t>Example</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83" name="正方形/長方形 82">
            <a:extLst>
              <a:ext uri="{FF2B5EF4-FFF2-40B4-BE49-F238E27FC236}">
                <a16:creationId xmlns:a16="http://schemas.microsoft.com/office/drawing/2014/main" id="{7E1DBFC1-B145-50F0-B2A5-42C6D4D3149F}"/>
              </a:ext>
            </a:extLst>
          </p:cNvPr>
          <p:cNvSpPr/>
          <p:nvPr/>
        </p:nvSpPr>
        <p:spPr bwMode="gray">
          <a:xfrm>
            <a:off x="2771196" y="4079711"/>
            <a:ext cx="1002246" cy="244144"/>
          </a:xfrm>
          <a:prstGeom prst="rect">
            <a:avLst/>
          </a:prstGeom>
          <a:solidFill>
            <a:sysClr val="window" lastClr="FFFFFF"/>
          </a:solidFill>
          <a:ln w="12700" algn="ctr">
            <a:solidFill>
              <a:sysClr val="window" lastClr="FFFFFF">
                <a:lumMod val="65000"/>
              </a:sys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Calibri Light"/>
                <a:ea typeface="Yu Gothic UI"/>
                <a:cs typeface="Arial" charset="0"/>
              </a:rPr>
              <a:t>Sovrin</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sp>
        <p:nvSpPr>
          <p:cNvPr id="84" name="正方形/長方形 83">
            <a:extLst>
              <a:ext uri="{FF2B5EF4-FFF2-40B4-BE49-F238E27FC236}">
                <a16:creationId xmlns:a16="http://schemas.microsoft.com/office/drawing/2014/main" id="{60C2C808-2B77-3BCF-470A-0F18809C2AA8}"/>
              </a:ext>
            </a:extLst>
          </p:cNvPr>
          <p:cNvSpPr/>
          <p:nvPr/>
        </p:nvSpPr>
        <p:spPr bwMode="gray">
          <a:xfrm>
            <a:off x="3854841" y="4079711"/>
            <a:ext cx="1002246" cy="244144"/>
          </a:xfrm>
          <a:prstGeom prst="rect">
            <a:avLst/>
          </a:prstGeom>
          <a:solidFill>
            <a:sysClr val="window" lastClr="FFFFFF"/>
          </a:solidFill>
          <a:ln w="12700" algn="ctr">
            <a:solidFill>
              <a:sysClr val="window" lastClr="FFFFFF">
                <a:lumMod val="65000"/>
              </a:sysClr>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rPr>
              <a:t>…</a:t>
            </a:r>
            <a:endPar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endParaRPr>
          </a:p>
        </p:txBody>
      </p:sp>
      <p:cxnSp>
        <p:nvCxnSpPr>
          <p:cNvPr id="85" name="直線矢印コネクタ 84">
            <a:extLst>
              <a:ext uri="{FF2B5EF4-FFF2-40B4-BE49-F238E27FC236}">
                <a16:creationId xmlns:a16="http://schemas.microsoft.com/office/drawing/2014/main" id="{D3D55998-BBE6-B701-53A1-DA6BE283C6E5}"/>
              </a:ext>
            </a:extLst>
          </p:cNvPr>
          <p:cNvCxnSpPr>
            <a:cxnSpLocks/>
            <a:stCxn id="79" idx="2"/>
            <a:endCxn id="81" idx="0"/>
          </p:cNvCxnSpPr>
          <p:nvPr/>
        </p:nvCxnSpPr>
        <p:spPr bwMode="gray">
          <a:xfrm flipH="1">
            <a:off x="1102065" y="3855527"/>
            <a:ext cx="540350" cy="224184"/>
          </a:xfrm>
          <a:prstGeom prst="straightConnector1">
            <a:avLst/>
          </a:prstGeom>
          <a:noFill/>
          <a:ln w="12700" cap="flat" cmpd="sng" algn="ctr">
            <a:solidFill>
              <a:srgbClr val="53565A"/>
            </a:solidFill>
            <a:prstDash val="solid"/>
            <a:tailEnd type="triangle"/>
          </a:ln>
          <a:effectLst/>
        </p:spPr>
      </p:cxnSp>
      <p:cxnSp>
        <p:nvCxnSpPr>
          <p:cNvPr id="86" name="直線矢印コネクタ 85">
            <a:extLst>
              <a:ext uri="{FF2B5EF4-FFF2-40B4-BE49-F238E27FC236}">
                <a16:creationId xmlns:a16="http://schemas.microsoft.com/office/drawing/2014/main" id="{C3788ECA-F655-E113-0B9E-A644999A65FF}"/>
              </a:ext>
            </a:extLst>
          </p:cNvPr>
          <p:cNvCxnSpPr>
            <a:cxnSpLocks/>
            <a:stCxn id="79" idx="2"/>
            <a:endCxn id="82" idx="0"/>
          </p:cNvCxnSpPr>
          <p:nvPr/>
        </p:nvCxnSpPr>
        <p:spPr bwMode="gray">
          <a:xfrm>
            <a:off x="1642415" y="3855527"/>
            <a:ext cx="546259" cy="224184"/>
          </a:xfrm>
          <a:prstGeom prst="straightConnector1">
            <a:avLst/>
          </a:prstGeom>
          <a:noFill/>
          <a:ln w="12700" cap="flat" cmpd="sng" algn="ctr">
            <a:solidFill>
              <a:srgbClr val="53565A"/>
            </a:solidFill>
            <a:prstDash val="solid"/>
            <a:tailEnd type="triangle"/>
          </a:ln>
          <a:effectLst/>
        </p:spPr>
      </p:cxnSp>
      <p:cxnSp>
        <p:nvCxnSpPr>
          <p:cNvPr id="87" name="直線矢印コネクタ 86">
            <a:extLst>
              <a:ext uri="{FF2B5EF4-FFF2-40B4-BE49-F238E27FC236}">
                <a16:creationId xmlns:a16="http://schemas.microsoft.com/office/drawing/2014/main" id="{B1BB64F8-3D3E-5926-B43F-CD6B5E7346B0}"/>
              </a:ext>
            </a:extLst>
          </p:cNvPr>
          <p:cNvCxnSpPr>
            <a:cxnSpLocks/>
            <a:stCxn id="79" idx="2"/>
            <a:endCxn id="83" idx="0"/>
          </p:cNvCxnSpPr>
          <p:nvPr/>
        </p:nvCxnSpPr>
        <p:spPr bwMode="gray">
          <a:xfrm>
            <a:off x="1642415" y="3855527"/>
            <a:ext cx="1629904" cy="224184"/>
          </a:xfrm>
          <a:prstGeom prst="straightConnector1">
            <a:avLst/>
          </a:prstGeom>
          <a:noFill/>
          <a:ln w="12700" cap="flat" cmpd="sng" algn="ctr">
            <a:solidFill>
              <a:srgbClr val="53565A"/>
            </a:solidFill>
            <a:prstDash val="solid"/>
            <a:tailEnd type="triangle"/>
          </a:ln>
          <a:effectLst/>
        </p:spPr>
      </p:cxnSp>
      <p:cxnSp>
        <p:nvCxnSpPr>
          <p:cNvPr id="88" name="直線矢印コネクタ 87">
            <a:extLst>
              <a:ext uri="{FF2B5EF4-FFF2-40B4-BE49-F238E27FC236}">
                <a16:creationId xmlns:a16="http://schemas.microsoft.com/office/drawing/2014/main" id="{C71E0DD2-8063-358D-876B-8514AB08E97A}"/>
              </a:ext>
            </a:extLst>
          </p:cNvPr>
          <p:cNvCxnSpPr>
            <a:cxnSpLocks/>
            <a:stCxn id="82" idx="2"/>
          </p:cNvCxnSpPr>
          <p:nvPr/>
        </p:nvCxnSpPr>
        <p:spPr bwMode="gray">
          <a:xfrm>
            <a:off x="2188674" y="4323855"/>
            <a:ext cx="0" cy="361350"/>
          </a:xfrm>
          <a:prstGeom prst="straightConnector1">
            <a:avLst/>
          </a:prstGeom>
          <a:noFill/>
          <a:ln w="12700" cap="flat" cmpd="sng" algn="ctr">
            <a:solidFill>
              <a:srgbClr val="53565A"/>
            </a:solidFill>
            <a:prstDash val="solid"/>
            <a:tailEnd type="triangle"/>
          </a:ln>
          <a:effectLst/>
        </p:spPr>
      </p:cxnSp>
      <p:sp>
        <p:nvSpPr>
          <p:cNvPr id="89" name="テキスト ボックス 88">
            <a:extLst>
              <a:ext uri="{FF2B5EF4-FFF2-40B4-BE49-F238E27FC236}">
                <a16:creationId xmlns:a16="http://schemas.microsoft.com/office/drawing/2014/main" id="{C0B22CF0-2C28-048E-2792-031D0FFF1585}"/>
              </a:ext>
            </a:extLst>
          </p:cNvPr>
          <p:cNvSpPr txBox="1"/>
          <p:nvPr/>
        </p:nvSpPr>
        <p:spPr bwMode="gray">
          <a:xfrm>
            <a:off x="2059377" y="4360958"/>
            <a:ext cx="1335994" cy="230832"/>
          </a:xfrm>
          <a:prstGeom prst="rect">
            <a:avLst/>
          </a:prstGeom>
          <a:noFill/>
        </p:spPr>
        <p:txBody>
          <a:bodyPr wrap="square">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900">
                <a:solidFill>
                  <a:prstClr val="black"/>
                </a:solidFill>
                <a:latin typeface="Calibri Light"/>
                <a:ea typeface="Yu Gothic UI"/>
                <a:cs typeface="Arial" charset="0"/>
              </a:rPr>
              <a:t>123456789abcdefghi</a:t>
            </a:r>
            <a:endParaRPr lang="ja-JP" altLang="en-US" sz="900">
              <a:solidFill>
                <a:prstClr val="black"/>
              </a:solidFill>
              <a:latin typeface="Calibri Light"/>
              <a:ea typeface="Yu Gothic UI"/>
              <a:cs typeface="Arial" charset="0"/>
            </a:endParaRPr>
          </a:p>
        </p:txBody>
      </p:sp>
      <p:sp>
        <p:nvSpPr>
          <p:cNvPr id="90" name="テキスト ボックス 89">
            <a:extLst>
              <a:ext uri="{FF2B5EF4-FFF2-40B4-BE49-F238E27FC236}">
                <a16:creationId xmlns:a16="http://schemas.microsoft.com/office/drawing/2014/main" id="{B060DF1C-7528-54CB-6CFC-9D77F52CBD4A}"/>
              </a:ext>
            </a:extLst>
          </p:cNvPr>
          <p:cNvSpPr txBox="1"/>
          <p:nvPr/>
        </p:nvSpPr>
        <p:spPr bwMode="gray">
          <a:xfrm>
            <a:off x="273050" y="1504989"/>
            <a:ext cx="1204628" cy="215444"/>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400" b="1" dirty="0">
                <a:solidFill>
                  <a:schemeClr val="accent1"/>
                </a:solidFill>
                <a:latin typeface="+mj-lt"/>
                <a:ea typeface="Yu Gothic UI"/>
                <a:cs typeface="Arial" charset="0"/>
              </a:rPr>
              <a:t>DID</a:t>
            </a:r>
            <a:endParaRPr lang="ja-JP" altLang="en-US" sz="1400" b="1" dirty="0">
              <a:solidFill>
                <a:schemeClr val="accent1"/>
              </a:solidFill>
              <a:latin typeface="+mj-lt"/>
              <a:ea typeface="Yu Gothic UI"/>
              <a:cs typeface="Arial" charset="0"/>
            </a:endParaRPr>
          </a:p>
        </p:txBody>
      </p:sp>
      <p:sp>
        <p:nvSpPr>
          <p:cNvPr id="96" name="正方形/長方形 95">
            <a:extLst>
              <a:ext uri="{FF2B5EF4-FFF2-40B4-BE49-F238E27FC236}">
                <a16:creationId xmlns:a16="http://schemas.microsoft.com/office/drawing/2014/main" id="{E6F1ED9A-78A2-4B11-01FA-EC163DC14F18}"/>
              </a:ext>
            </a:extLst>
          </p:cNvPr>
          <p:cNvSpPr/>
          <p:nvPr/>
        </p:nvSpPr>
        <p:spPr>
          <a:xfrm>
            <a:off x="271238" y="1765180"/>
            <a:ext cx="1204628" cy="529159"/>
          </a:xfrm>
          <a:prstGeom prst="rect">
            <a:avLst/>
          </a:prstGeom>
          <a:solidFill>
            <a:schemeClr val="bg1"/>
          </a:solidFill>
          <a:ln w="12700">
            <a:solidFill>
              <a:srgbClr val="4780DA"/>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lIns="36000" tIns="36000" rIns="36000" bIns="36000" rtlCol="0" anchor="t" anchorCtr="0"/>
          <a:lstStyle/>
          <a:p>
            <a:pPr marL="0" marR="0" lvl="0" indent="0" defTabSz="990564" eaLnBrk="1" fontAlgn="auto" latinLnBrk="0" hangingPunct="1">
              <a:lnSpc>
                <a:spcPct val="100000"/>
              </a:lnSpc>
              <a:spcBef>
                <a:spcPts val="0"/>
              </a:spcBef>
              <a:spcAft>
                <a:spcPts val="0"/>
              </a:spcAft>
              <a:buClrTx/>
              <a:buSzPct val="100000"/>
              <a:buFontTx/>
              <a:buNone/>
              <a:tabLst/>
              <a:defRPr/>
            </a:pPr>
            <a:r>
              <a:rPr kumimoji="0" lang="ja-JP" altLang="en-US" sz="1050" b="1" i="0" u="none" strike="noStrike" kern="0" cap="none" spc="0" normalizeH="0" baseline="0" noProof="0" dirty="0">
                <a:ln>
                  <a:noFill/>
                </a:ln>
                <a:solidFill>
                  <a:srgbClr val="4780DA"/>
                </a:solidFill>
                <a:effectLst/>
                <a:uLnTx/>
                <a:uFillTx/>
                <a:latin typeface="Calibri Light"/>
                <a:ea typeface="Yu Gothic UI"/>
                <a:cs typeface="+mn-cs"/>
              </a:rPr>
              <a:t>スキーマ</a:t>
            </a:r>
            <a:endParaRPr kumimoji="0" lang="en-US" altLang="ja-JP" sz="1050" b="1" i="0" u="none" strike="noStrike" kern="0" cap="none" spc="0" normalizeH="0" baseline="0" noProof="0" dirty="0">
              <a:ln>
                <a:noFill/>
              </a:ln>
              <a:solidFill>
                <a:srgbClr val="4780DA"/>
              </a:solidFill>
              <a:effectLst/>
              <a:uLnTx/>
              <a:uFillTx/>
              <a:latin typeface="Calibri Light"/>
              <a:ea typeface="Yu Gothic UI"/>
              <a:cs typeface="+mn-cs"/>
            </a:endParaRPr>
          </a:p>
          <a:p>
            <a:pPr marL="0" marR="0" lvl="0" indent="0" defTabSz="990564" eaLnBrk="1" fontAlgn="auto" latinLnBrk="0" hangingPunct="1">
              <a:lnSpc>
                <a:spcPct val="100000"/>
              </a:lnSpc>
              <a:spcBef>
                <a:spcPts val="0"/>
              </a:spcBef>
              <a:spcAft>
                <a:spcPts val="0"/>
              </a:spcAft>
              <a:buClrTx/>
              <a:buSzPct val="100000"/>
              <a:buFontTx/>
              <a:buNone/>
              <a:tabLst/>
              <a:defRPr/>
            </a:pP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この情報が</a:t>
            </a:r>
            <a:r>
              <a:rPr kumimoji="0" lang="en-US" altLang="ja-JP" sz="1050" b="0" i="0" u="none" strike="noStrike" kern="0" cap="none" spc="0" normalizeH="0" baseline="0" noProof="0" dirty="0">
                <a:ln>
                  <a:noFill/>
                </a:ln>
                <a:solidFill>
                  <a:prstClr val="black"/>
                </a:solidFill>
                <a:effectLst/>
                <a:uLnTx/>
                <a:uFillTx/>
                <a:latin typeface="Calibri Light"/>
                <a:ea typeface="Yu Gothic UI"/>
                <a:cs typeface="+mn-cs"/>
              </a:rPr>
              <a:t>DID</a:t>
            </a: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であることを示す</a:t>
            </a:r>
          </a:p>
        </p:txBody>
      </p:sp>
      <p:sp>
        <p:nvSpPr>
          <p:cNvPr id="97" name="正方形/長方形 96">
            <a:extLst>
              <a:ext uri="{FF2B5EF4-FFF2-40B4-BE49-F238E27FC236}">
                <a16:creationId xmlns:a16="http://schemas.microsoft.com/office/drawing/2014/main" id="{11FB320E-ABDD-56F7-9EA2-54E83E87F2EE}"/>
              </a:ext>
            </a:extLst>
          </p:cNvPr>
          <p:cNvSpPr/>
          <p:nvPr/>
        </p:nvSpPr>
        <p:spPr>
          <a:xfrm>
            <a:off x="1506999" y="1760717"/>
            <a:ext cx="1989055" cy="529159"/>
          </a:xfrm>
          <a:prstGeom prst="rect">
            <a:avLst/>
          </a:prstGeom>
          <a:solidFill>
            <a:schemeClr val="bg1"/>
          </a:solidFill>
          <a:ln w="12700">
            <a:solidFill>
              <a:srgbClr val="A54C78"/>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lIns="36000" tIns="36000" rIns="36000" bIns="36000" rtlCol="0" anchor="t" anchorCtr="0"/>
          <a:lstStyle/>
          <a:p>
            <a:pPr marL="0" marR="0" lvl="0" indent="0" defTabSz="990564" eaLnBrk="1" fontAlgn="auto" latinLnBrk="0" hangingPunct="1">
              <a:lnSpc>
                <a:spcPct val="100000"/>
              </a:lnSpc>
              <a:spcBef>
                <a:spcPts val="0"/>
              </a:spcBef>
              <a:spcAft>
                <a:spcPts val="0"/>
              </a:spcAft>
              <a:buClrTx/>
              <a:buSzPct val="100000"/>
              <a:buFontTx/>
              <a:buNone/>
              <a:tabLst/>
              <a:defRPr/>
            </a:pPr>
            <a:r>
              <a:rPr kumimoji="0" lang="en-US" altLang="ja-JP" sz="1050" b="1" i="0" u="none" strike="noStrike" kern="0" cap="none" spc="0" normalizeH="0" baseline="0" noProof="0" dirty="0">
                <a:ln>
                  <a:noFill/>
                </a:ln>
                <a:solidFill>
                  <a:srgbClr val="A54C78"/>
                </a:solidFill>
                <a:effectLst/>
                <a:uLnTx/>
                <a:uFillTx/>
                <a:latin typeface="Calibri Light"/>
                <a:ea typeface="Yu Gothic UI"/>
                <a:cs typeface="+mn-cs"/>
              </a:rPr>
              <a:t>DID</a:t>
            </a:r>
            <a:r>
              <a:rPr kumimoji="0" lang="ja-JP" altLang="en-US" sz="1050" b="1" i="0" u="none" strike="noStrike" kern="0" cap="none" spc="0" normalizeH="0" baseline="0" noProof="0" dirty="0">
                <a:ln>
                  <a:noFill/>
                </a:ln>
                <a:solidFill>
                  <a:srgbClr val="A54C78"/>
                </a:solidFill>
                <a:effectLst/>
                <a:uLnTx/>
                <a:uFillTx/>
                <a:latin typeface="Calibri Light"/>
                <a:ea typeface="Yu Gothic UI"/>
                <a:cs typeface="+mn-cs"/>
              </a:rPr>
              <a:t>メソッド</a:t>
            </a:r>
            <a:endParaRPr kumimoji="0" lang="en-US" altLang="ja-JP" sz="1050" b="1" i="0" u="none" strike="noStrike" kern="0" cap="none" spc="0" normalizeH="0" baseline="0" noProof="0" dirty="0">
              <a:ln>
                <a:noFill/>
              </a:ln>
              <a:solidFill>
                <a:srgbClr val="A54C78"/>
              </a:solidFill>
              <a:effectLst/>
              <a:uLnTx/>
              <a:uFillTx/>
              <a:latin typeface="Calibri Light"/>
              <a:ea typeface="Yu Gothic UI"/>
              <a:cs typeface="+mn-cs"/>
            </a:endParaRPr>
          </a:p>
          <a:p>
            <a:pPr marL="0" marR="0" lvl="0" indent="0" defTabSz="990564" eaLnBrk="1" fontAlgn="auto" latinLnBrk="0" hangingPunct="1">
              <a:lnSpc>
                <a:spcPct val="100000"/>
              </a:lnSpc>
              <a:spcBef>
                <a:spcPts val="0"/>
              </a:spcBef>
              <a:spcAft>
                <a:spcPts val="0"/>
              </a:spcAft>
              <a:buClrTx/>
              <a:buSzPct val="100000"/>
              <a:buFontTx/>
              <a:buNone/>
              <a:tabLst/>
              <a:defRPr/>
            </a:pPr>
            <a:r>
              <a:rPr kumimoji="0" lang="en-US" altLang="ja-JP" sz="1050" b="0" i="0" u="none" strike="noStrike" kern="0" cap="none" spc="0" normalizeH="0" baseline="0" noProof="0" dirty="0">
                <a:ln>
                  <a:noFill/>
                </a:ln>
                <a:solidFill>
                  <a:prstClr val="black"/>
                </a:solidFill>
                <a:effectLst/>
                <a:uLnTx/>
                <a:uFillTx/>
                <a:latin typeface="Calibri Light"/>
                <a:ea typeface="Yu Gothic UI"/>
                <a:cs typeface="+mn-cs"/>
              </a:rPr>
              <a:t>DID Document</a:t>
            </a: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を格納したシステムを示</a:t>
            </a:r>
            <a:r>
              <a:rPr kumimoji="0" lang="ja-JP" altLang="en-US" sz="1050" kern="0" dirty="0">
                <a:solidFill>
                  <a:prstClr val="black"/>
                </a:solidFill>
                <a:latin typeface="Calibri Light"/>
                <a:ea typeface="Yu Gothic UI"/>
              </a:rPr>
              <a:t>すもの</a:t>
            </a:r>
            <a:r>
              <a:rPr kumimoji="0" lang="en-US" altLang="ja-JP" sz="1050" kern="0" dirty="0">
                <a:solidFill>
                  <a:prstClr val="black"/>
                </a:solidFill>
                <a:latin typeface="Calibri Light"/>
                <a:ea typeface="Yu Gothic UI"/>
              </a:rPr>
              <a:t>(</a:t>
            </a:r>
            <a:r>
              <a:rPr kumimoji="0" lang="en-US" altLang="ja-JP" sz="1050" b="0" i="0" u="none" strike="noStrike" kern="0" cap="none" spc="0" normalizeH="0" baseline="0" noProof="0" dirty="0" err="1">
                <a:ln>
                  <a:noFill/>
                </a:ln>
                <a:solidFill>
                  <a:prstClr val="black"/>
                </a:solidFill>
                <a:effectLst/>
                <a:uLnTx/>
                <a:uFillTx/>
                <a:latin typeface="Calibri Light"/>
                <a:ea typeface="Yu Gothic UI"/>
                <a:cs typeface="+mn-cs"/>
              </a:rPr>
              <a:t>did:ion</a:t>
            </a: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a:t>
            </a:r>
            <a:r>
              <a:rPr kumimoji="0" lang="en-US" altLang="ja-JP" sz="1050" b="0" i="0" u="none" strike="noStrike" kern="0" cap="none" spc="0" normalizeH="0" baseline="0" noProof="0" dirty="0" err="1">
                <a:ln>
                  <a:noFill/>
                </a:ln>
                <a:solidFill>
                  <a:prstClr val="black"/>
                </a:solidFill>
                <a:effectLst/>
                <a:uLnTx/>
                <a:uFillTx/>
                <a:latin typeface="Calibri Light"/>
                <a:ea typeface="Yu Gothic UI"/>
                <a:cs typeface="+mn-cs"/>
              </a:rPr>
              <a:t>did:sov</a:t>
            </a: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a:t>
            </a:r>
            <a:r>
              <a:rPr kumimoji="0" lang="en-US" altLang="ja-JP" sz="1050" b="0" i="0" u="none" strike="noStrike" kern="0" cap="none" spc="0" normalizeH="0" baseline="0" noProof="0" dirty="0" err="1">
                <a:ln>
                  <a:noFill/>
                </a:ln>
                <a:solidFill>
                  <a:prstClr val="black"/>
                </a:solidFill>
                <a:effectLst/>
                <a:uLnTx/>
                <a:uFillTx/>
                <a:latin typeface="Calibri Light"/>
                <a:ea typeface="Yu Gothic UI"/>
                <a:cs typeface="+mn-cs"/>
              </a:rPr>
              <a:t>did:web</a:t>
            </a:r>
            <a:r>
              <a:rPr kumimoji="0" lang="en-US" altLang="ja-JP" sz="1050" kern="0" dirty="0">
                <a:solidFill>
                  <a:prstClr val="black"/>
                </a:solidFill>
                <a:latin typeface="Calibri Light"/>
                <a:ea typeface="Yu Gothic UI"/>
              </a:rPr>
              <a:t>)</a:t>
            </a:r>
            <a:endPar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endParaRPr>
          </a:p>
        </p:txBody>
      </p:sp>
      <p:sp>
        <p:nvSpPr>
          <p:cNvPr id="99" name="正方形/長方形 98">
            <a:extLst>
              <a:ext uri="{FF2B5EF4-FFF2-40B4-BE49-F238E27FC236}">
                <a16:creationId xmlns:a16="http://schemas.microsoft.com/office/drawing/2014/main" id="{C92E632D-5478-C356-B1FC-2281DA32DA4E}"/>
              </a:ext>
            </a:extLst>
          </p:cNvPr>
          <p:cNvSpPr/>
          <p:nvPr/>
        </p:nvSpPr>
        <p:spPr>
          <a:xfrm>
            <a:off x="3538813" y="1762240"/>
            <a:ext cx="1461134" cy="529159"/>
          </a:xfrm>
          <a:prstGeom prst="rect">
            <a:avLst/>
          </a:prstGeom>
          <a:solidFill>
            <a:schemeClr val="bg1"/>
          </a:solidFill>
          <a:ln w="12700">
            <a:solidFill>
              <a:srgbClr val="61A344"/>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lIns="36000" tIns="36000" rIns="36000" bIns="36000" rtlCol="0" anchor="t" anchorCtr="0"/>
          <a:lstStyle/>
          <a:p>
            <a:pPr marL="0" marR="0" lvl="0" indent="0" defTabSz="990564" eaLnBrk="1" fontAlgn="auto" latinLnBrk="0" hangingPunct="1">
              <a:lnSpc>
                <a:spcPct val="100000"/>
              </a:lnSpc>
              <a:spcBef>
                <a:spcPts val="0"/>
              </a:spcBef>
              <a:spcAft>
                <a:spcPts val="0"/>
              </a:spcAft>
              <a:buClrTx/>
              <a:buSzPct val="100000"/>
              <a:buFontTx/>
              <a:buNone/>
              <a:tabLst/>
              <a:defRPr/>
            </a:pPr>
            <a:r>
              <a:rPr kumimoji="0" lang="en-US" altLang="ja-JP" sz="1050" b="1" i="0" u="none" strike="noStrike" kern="0" cap="none" spc="0" normalizeH="0" baseline="0" noProof="0" dirty="0">
                <a:ln>
                  <a:noFill/>
                </a:ln>
                <a:solidFill>
                  <a:srgbClr val="61A344"/>
                </a:solidFill>
                <a:effectLst/>
                <a:uLnTx/>
                <a:uFillTx/>
                <a:latin typeface="Calibri Light"/>
                <a:ea typeface="Yu Gothic UI"/>
                <a:cs typeface="+mn-cs"/>
              </a:rPr>
              <a:t>DID</a:t>
            </a:r>
            <a:r>
              <a:rPr kumimoji="0" lang="ja-JP" altLang="en-US" sz="1050" b="1" i="0" u="none" strike="noStrike" kern="0" cap="none" spc="0" normalizeH="0" baseline="0" noProof="0" dirty="0">
                <a:ln>
                  <a:noFill/>
                </a:ln>
                <a:solidFill>
                  <a:srgbClr val="61A344"/>
                </a:solidFill>
                <a:effectLst/>
                <a:uLnTx/>
                <a:uFillTx/>
                <a:latin typeface="Calibri Light"/>
                <a:ea typeface="Yu Gothic UI"/>
                <a:cs typeface="+mn-cs"/>
              </a:rPr>
              <a:t>メソッド特有の</a:t>
            </a:r>
            <a:r>
              <a:rPr kumimoji="0" lang="en-US" altLang="ja-JP" sz="1050" b="1" i="0" u="none" strike="noStrike" kern="0" cap="none" spc="0" normalizeH="0" baseline="0" noProof="0" dirty="0">
                <a:ln>
                  <a:noFill/>
                </a:ln>
                <a:solidFill>
                  <a:srgbClr val="61A344"/>
                </a:solidFill>
                <a:effectLst/>
                <a:uLnTx/>
                <a:uFillTx/>
                <a:latin typeface="Calibri Light"/>
                <a:ea typeface="Yu Gothic UI"/>
                <a:cs typeface="+mn-cs"/>
              </a:rPr>
              <a:t>ID</a:t>
            </a:r>
          </a:p>
          <a:p>
            <a:pPr defTabSz="990564" eaLnBrk="1" fontAlgn="auto" hangingPunct="1">
              <a:spcBef>
                <a:spcPts val="0"/>
              </a:spcBef>
              <a:spcAft>
                <a:spcPts val="0"/>
              </a:spcAft>
              <a:buSzPct val="100000"/>
              <a:defRPr/>
            </a:pPr>
            <a:r>
              <a:rPr kumimoji="0" lang="en-US" altLang="ja-JP" sz="1050" b="0" i="0" u="none" strike="noStrike" kern="0" cap="none" spc="0" normalizeH="0" baseline="0" noProof="0" dirty="0">
                <a:ln>
                  <a:noFill/>
                </a:ln>
                <a:solidFill>
                  <a:prstClr val="black"/>
                </a:solidFill>
                <a:effectLst/>
                <a:uLnTx/>
                <a:uFillTx/>
                <a:latin typeface="Calibri Light"/>
                <a:ea typeface="Yu Gothic UI"/>
                <a:cs typeface="+mn-cs"/>
              </a:rPr>
              <a:t>DID</a:t>
            </a:r>
            <a:r>
              <a:rPr kumimoji="0" lang="ja-JP" altLang="en-US" sz="1050" b="0" i="0" u="none" strike="noStrike" kern="0" cap="none" spc="0" normalizeH="0" baseline="0" noProof="0" dirty="0">
                <a:ln>
                  <a:noFill/>
                </a:ln>
                <a:solidFill>
                  <a:prstClr val="black"/>
                </a:solidFill>
                <a:effectLst/>
                <a:uLnTx/>
                <a:uFillTx/>
                <a:latin typeface="Calibri Light"/>
                <a:ea typeface="Yu Gothic UI"/>
                <a:cs typeface="+mn-cs"/>
              </a:rPr>
              <a:t>メソッドで示されたシステム内における一意な</a:t>
            </a:r>
            <a:r>
              <a:rPr kumimoji="0" lang="en-US" altLang="ja-JP" sz="1050" b="0" i="0" u="none" strike="noStrike" kern="0" cap="none" spc="0" normalizeH="0" baseline="0" noProof="0" dirty="0">
                <a:ln>
                  <a:noFill/>
                </a:ln>
                <a:solidFill>
                  <a:prstClr val="black"/>
                </a:solidFill>
                <a:effectLst/>
                <a:uLnTx/>
                <a:uFillTx/>
                <a:latin typeface="Calibri Light"/>
                <a:ea typeface="Yu Gothic UI"/>
                <a:cs typeface="+mn-cs"/>
              </a:rPr>
              <a:t>ID</a:t>
            </a:r>
          </a:p>
        </p:txBody>
      </p:sp>
      <p:cxnSp>
        <p:nvCxnSpPr>
          <p:cNvPr id="104" name="コネクタ: カギ線 103">
            <a:extLst>
              <a:ext uri="{FF2B5EF4-FFF2-40B4-BE49-F238E27FC236}">
                <a16:creationId xmlns:a16="http://schemas.microsoft.com/office/drawing/2014/main" id="{810B162D-9ACF-2830-DFB9-726D822D7C5E}"/>
              </a:ext>
            </a:extLst>
          </p:cNvPr>
          <p:cNvCxnSpPr>
            <a:cxnSpLocks/>
            <a:endCxn id="72" idx="2"/>
          </p:cNvCxnSpPr>
          <p:nvPr/>
        </p:nvCxnSpPr>
        <p:spPr>
          <a:xfrm rot="5400000" flipH="1" flipV="1">
            <a:off x="5557972" y="3532766"/>
            <a:ext cx="37052" cy="4490440"/>
          </a:xfrm>
          <a:prstGeom prst="bentConnector3">
            <a:avLst>
              <a:gd name="adj1" fmla="val -61697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8" name="四角形: 角を丸くする 77">
            <a:extLst>
              <a:ext uri="{FF2B5EF4-FFF2-40B4-BE49-F238E27FC236}">
                <a16:creationId xmlns:a16="http://schemas.microsoft.com/office/drawing/2014/main" id="{9FE9F683-D55B-B5C1-E43A-41BAF3134BEE}"/>
              </a:ext>
            </a:extLst>
          </p:cNvPr>
          <p:cNvSpPr/>
          <p:nvPr/>
        </p:nvSpPr>
        <p:spPr bwMode="gray">
          <a:xfrm>
            <a:off x="6844785" y="5924233"/>
            <a:ext cx="495491" cy="222429"/>
          </a:xfrm>
          <a:prstGeom prst="roundRect">
            <a:avLst/>
          </a:prstGeom>
          <a:solidFill>
            <a:schemeClr val="accent4"/>
          </a:solidFill>
          <a:ln w="25400" cap="flat" cmpd="sng" algn="ctr">
            <a:solidFill>
              <a:schemeClr val="accent4"/>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1" i="0" u="none" strike="noStrike" kern="0" cap="none" spc="0" normalizeH="0" baseline="0" noProof="0" dirty="0">
                <a:ln>
                  <a:noFill/>
                </a:ln>
                <a:solidFill>
                  <a:prstClr val="white"/>
                </a:solidFill>
                <a:effectLst/>
                <a:uLnTx/>
                <a:uFillTx/>
                <a:latin typeface="Calibri Light"/>
                <a:ea typeface="Yu Gothic UI"/>
                <a:cs typeface="+mn-cs"/>
              </a:rPr>
              <a:t>検証</a:t>
            </a:r>
          </a:p>
        </p:txBody>
      </p:sp>
      <p:sp>
        <p:nvSpPr>
          <p:cNvPr id="110" name="正方形/長方形 109">
            <a:extLst>
              <a:ext uri="{FF2B5EF4-FFF2-40B4-BE49-F238E27FC236}">
                <a16:creationId xmlns:a16="http://schemas.microsoft.com/office/drawing/2014/main" id="{D2607315-9308-1B03-EEDE-CBCC25408089}"/>
              </a:ext>
            </a:extLst>
          </p:cNvPr>
          <p:cNvSpPr/>
          <p:nvPr/>
        </p:nvSpPr>
        <p:spPr bwMode="gray">
          <a:xfrm>
            <a:off x="5987939" y="3995719"/>
            <a:ext cx="1833779" cy="141147"/>
          </a:xfrm>
          <a:prstGeom prst="rect">
            <a:avLst/>
          </a:prstGeom>
          <a:solidFill>
            <a:schemeClr val="accent4">
              <a:alpha val="50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cxnSp>
        <p:nvCxnSpPr>
          <p:cNvPr id="112" name="コネクタ: カギ線 111">
            <a:extLst>
              <a:ext uri="{FF2B5EF4-FFF2-40B4-BE49-F238E27FC236}">
                <a16:creationId xmlns:a16="http://schemas.microsoft.com/office/drawing/2014/main" id="{48CC7531-F0DF-22B2-102A-36EB8E71A411}"/>
              </a:ext>
            </a:extLst>
          </p:cNvPr>
          <p:cNvCxnSpPr>
            <a:cxnSpLocks/>
            <a:endCxn id="110" idx="1"/>
          </p:cNvCxnSpPr>
          <p:nvPr/>
        </p:nvCxnSpPr>
        <p:spPr>
          <a:xfrm flipV="1">
            <a:off x="2855463" y="4066293"/>
            <a:ext cx="3132476" cy="1021677"/>
          </a:xfrm>
          <a:prstGeom prst="bentConnector3">
            <a:avLst>
              <a:gd name="adj1" fmla="val 69324"/>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6" name="四角形: 角を丸くする 75">
            <a:extLst>
              <a:ext uri="{FF2B5EF4-FFF2-40B4-BE49-F238E27FC236}">
                <a16:creationId xmlns:a16="http://schemas.microsoft.com/office/drawing/2014/main" id="{65EBC507-60C5-32ED-C566-A8FC41A24AA3}"/>
              </a:ext>
            </a:extLst>
          </p:cNvPr>
          <p:cNvSpPr/>
          <p:nvPr/>
        </p:nvSpPr>
        <p:spPr bwMode="gray">
          <a:xfrm>
            <a:off x="4713439" y="4410030"/>
            <a:ext cx="733190" cy="278892"/>
          </a:xfrm>
          <a:prstGeom prst="roundRect">
            <a:avLst/>
          </a:prstGeom>
          <a:solidFill>
            <a:schemeClr val="accent4"/>
          </a:solidFill>
          <a:ln w="25400" cap="flat" cmpd="sng" algn="ctr">
            <a:solidFill>
              <a:schemeClr val="accent4"/>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1" i="0" u="none" strike="noStrike" kern="0" cap="none" spc="0" normalizeH="0" baseline="0" noProof="0" dirty="0">
                <a:ln>
                  <a:noFill/>
                </a:ln>
                <a:solidFill>
                  <a:prstClr val="white"/>
                </a:solidFill>
                <a:effectLst/>
                <a:uLnTx/>
                <a:uFillTx/>
                <a:latin typeface="Calibri Light"/>
                <a:ea typeface="Yu Gothic UI"/>
                <a:cs typeface="+mn-cs"/>
              </a:rPr>
              <a:t>VC</a:t>
            </a:r>
            <a:r>
              <a:rPr kumimoji="0" lang="ja-JP" altLang="en-US" sz="1050" b="1" i="0" u="none" strike="noStrike" kern="0" cap="none" spc="0" normalizeH="0" baseline="0" noProof="0" dirty="0">
                <a:ln>
                  <a:noFill/>
                </a:ln>
                <a:solidFill>
                  <a:prstClr val="white"/>
                </a:solidFill>
                <a:effectLst/>
                <a:uLnTx/>
                <a:uFillTx/>
                <a:latin typeface="Calibri Light"/>
                <a:ea typeface="Yu Gothic UI"/>
                <a:cs typeface="+mn-cs"/>
              </a:rPr>
              <a:t>と紐付け</a:t>
            </a:r>
          </a:p>
        </p:txBody>
      </p:sp>
      <p:sp>
        <p:nvSpPr>
          <p:cNvPr id="117" name="正方形/長方形 116">
            <a:extLst>
              <a:ext uri="{FF2B5EF4-FFF2-40B4-BE49-F238E27FC236}">
                <a16:creationId xmlns:a16="http://schemas.microsoft.com/office/drawing/2014/main" id="{905630BF-5ABC-728B-AE32-2DED900C197C}"/>
              </a:ext>
            </a:extLst>
          </p:cNvPr>
          <p:cNvSpPr/>
          <p:nvPr/>
        </p:nvSpPr>
        <p:spPr bwMode="gray">
          <a:xfrm>
            <a:off x="6896802" y="5378330"/>
            <a:ext cx="2262216" cy="126473"/>
          </a:xfrm>
          <a:prstGeom prst="rect">
            <a:avLst/>
          </a:prstGeom>
          <a:solidFill>
            <a:schemeClr val="accent4">
              <a:alpha val="50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1200" b="0" i="0" u="none" strike="noStrike" kern="0" cap="none" spc="0" normalizeH="0" baseline="0" noProof="0">
              <a:ln>
                <a:noFill/>
              </a:ln>
              <a:solidFill>
                <a:prstClr val="black"/>
              </a:solidFill>
              <a:effectLst/>
              <a:uLnTx/>
              <a:uFillTx/>
              <a:latin typeface="Calibri Light"/>
              <a:ea typeface="Yu Gothic UI"/>
              <a:cs typeface="+mn-cs"/>
            </a:endParaRPr>
          </a:p>
        </p:txBody>
      </p:sp>
      <p:cxnSp>
        <p:nvCxnSpPr>
          <p:cNvPr id="120" name="コネクタ: カギ線 119">
            <a:extLst>
              <a:ext uri="{FF2B5EF4-FFF2-40B4-BE49-F238E27FC236}">
                <a16:creationId xmlns:a16="http://schemas.microsoft.com/office/drawing/2014/main" id="{72D179B9-EB17-B909-83A1-0B643B6BA5A7}"/>
              </a:ext>
            </a:extLst>
          </p:cNvPr>
          <p:cNvCxnSpPr>
            <a:cxnSpLocks/>
            <a:endCxn id="117" idx="0"/>
          </p:cNvCxnSpPr>
          <p:nvPr/>
        </p:nvCxnSpPr>
        <p:spPr>
          <a:xfrm flipV="1">
            <a:off x="3391175" y="5378330"/>
            <a:ext cx="4636735" cy="2245"/>
          </a:xfrm>
          <a:prstGeom prst="bentConnector4">
            <a:avLst>
              <a:gd name="adj1" fmla="val 37803"/>
              <a:gd name="adj2" fmla="val 12809176"/>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7" name="四角形: 角を丸くする 76">
            <a:extLst>
              <a:ext uri="{FF2B5EF4-FFF2-40B4-BE49-F238E27FC236}">
                <a16:creationId xmlns:a16="http://schemas.microsoft.com/office/drawing/2014/main" id="{6F3EA5CF-C66A-409A-3AE5-528991BB6D96}"/>
              </a:ext>
            </a:extLst>
          </p:cNvPr>
          <p:cNvSpPr/>
          <p:nvPr/>
        </p:nvSpPr>
        <p:spPr bwMode="gray">
          <a:xfrm>
            <a:off x="4754141" y="5364694"/>
            <a:ext cx="733190" cy="329250"/>
          </a:xfrm>
          <a:prstGeom prst="roundRect">
            <a:avLst/>
          </a:prstGeom>
          <a:solidFill>
            <a:schemeClr val="accent4"/>
          </a:solidFill>
          <a:ln w="25400" cap="flat" cmpd="sng" algn="ctr">
            <a:solidFill>
              <a:schemeClr val="accent4"/>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1" i="0" u="none" strike="noStrike" kern="0" cap="none" spc="0" normalizeH="0" baseline="0" noProof="0" dirty="0">
                <a:ln>
                  <a:noFill/>
                </a:ln>
                <a:solidFill>
                  <a:prstClr val="white"/>
                </a:solidFill>
                <a:effectLst/>
                <a:uLnTx/>
                <a:uFillTx/>
                <a:latin typeface="Calibri Light"/>
                <a:ea typeface="Yu Gothic UI"/>
                <a:cs typeface="+mn-cs"/>
              </a:rPr>
              <a:t>公開鍵を</a:t>
            </a:r>
            <a:endParaRPr kumimoji="0" lang="en-US" altLang="ja-JP" sz="1050" b="1" i="0" u="none" strike="noStrike" kern="0" cap="none" spc="0" normalizeH="0" baseline="0" noProof="0" dirty="0">
              <a:ln>
                <a:noFill/>
              </a:ln>
              <a:solidFill>
                <a:prstClr val="white"/>
              </a:solidFill>
              <a:effectLst/>
              <a:uLnTx/>
              <a:uFillTx/>
              <a:latin typeface="Calibri Light"/>
              <a:ea typeface="Yu Gothic UI"/>
              <a:cs typeface="+mn-cs"/>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1" i="0" u="none" strike="noStrike" kern="0" cap="none" spc="0" normalizeH="0" baseline="0" noProof="0" dirty="0">
                <a:ln>
                  <a:noFill/>
                </a:ln>
                <a:solidFill>
                  <a:prstClr val="white"/>
                </a:solidFill>
                <a:effectLst/>
                <a:uLnTx/>
                <a:uFillTx/>
                <a:latin typeface="Calibri Light"/>
                <a:ea typeface="Yu Gothic UI"/>
                <a:cs typeface="+mn-cs"/>
              </a:rPr>
              <a:t>特定</a:t>
            </a:r>
          </a:p>
        </p:txBody>
      </p:sp>
      <p:sp>
        <p:nvSpPr>
          <p:cNvPr id="127" name="コンテンツ プレースホルダー 2">
            <a:extLst>
              <a:ext uri="{FF2B5EF4-FFF2-40B4-BE49-F238E27FC236}">
                <a16:creationId xmlns:a16="http://schemas.microsoft.com/office/drawing/2014/main" id="{B05A2B30-C1A0-6E7E-D6BE-8935CA86F225}"/>
              </a:ext>
            </a:extLst>
          </p:cNvPr>
          <p:cNvSpPr txBox="1">
            <a:spLocks/>
          </p:cNvSpPr>
          <p:nvPr/>
        </p:nvSpPr>
        <p:spPr>
          <a:xfrm>
            <a:off x="273050" y="908049"/>
            <a:ext cx="9359900" cy="563757"/>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a:t>DID Document</a:t>
            </a:r>
            <a:r>
              <a:rPr kumimoji="1" lang="ja-JP" altLang="en-US" dirty="0"/>
              <a:t>と</a:t>
            </a:r>
            <a:r>
              <a:rPr kumimoji="1" lang="en-US" altLang="ja-JP" dirty="0"/>
              <a:t>VC</a:t>
            </a:r>
            <a:r>
              <a:rPr kumimoji="1" lang="ja-JP" altLang="en-US" dirty="0"/>
              <a:t>の紐付けは</a:t>
            </a:r>
            <a:r>
              <a:rPr kumimoji="1" lang="en-US" altLang="ja-JP" dirty="0"/>
              <a:t>DID</a:t>
            </a:r>
            <a:r>
              <a:rPr kumimoji="1" lang="ja-JP" altLang="en-US" dirty="0"/>
              <a:t>からシステム内の</a:t>
            </a:r>
            <a:r>
              <a:rPr kumimoji="1" lang="en-US" altLang="ja-JP" dirty="0"/>
              <a:t>DID Document</a:t>
            </a:r>
            <a:r>
              <a:rPr kumimoji="1" lang="ja-JP" altLang="en-US" dirty="0"/>
              <a:t>を特定し、</a:t>
            </a:r>
            <a:r>
              <a:rPr kumimoji="1" lang="en-US" altLang="ja-JP" dirty="0"/>
              <a:t>VC</a:t>
            </a:r>
            <a:r>
              <a:rPr kumimoji="1" lang="ja-JP" altLang="en-US" dirty="0"/>
              <a:t>内の</a:t>
            </a:r>
            <a:r>
              <a:rPr kumimoji="1" lang="en-US" altLang="ja-JP" dirty="0"/>
              <a:t>Proof</a:t>
            </a:r>
            <a:r>
              <a:rPr kumimoji="1" lang="ja-JP" altLang="en-US" dirty="0"/>
              <a:t>セクションに指定された公開鍵で検証を行う</a:t>
            </a:r>
          </a:p>
        </p:txBody>
      </p:sp>
      <p:sp>
        <p:nvSpPr>
          <p:cNvPr id="20" name="正方形/長方形 19">
            <a:extLst>
              <a:ext uri="{FF2B5EF4-FFF2-40B4-BE49-F238E27FC236}">
                <a16:creationId xmlns:a16="http://schemas.microsoft.com/office/drawing/2014/main" id="{B6F6B5AE-3E34-43C9-7930-54DBA3B04648}"/>
              </a:ext>
            </a:extLst>
          </p:cNvPr>
          <p:cNvSpPr/>
          <p:nvPr/>
        </p:nvSpPr>
        <p:spPr>
          <a:xfrm>
            <a:off x="1875716" y="135476"/>
            <a:ext cx="980645"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21" name="正方形/長方形 20">
            <a:extLst>
              <a:ext uri="{FF2B5EF4-FFF2-40B4-BE49-F238E27FC236}">
                <a16:creationId xmlns:a16="http://schemas.microsoft.com/office/drawing/2014/main" id="{58E66177-D996-02F7-4F59-F09DF85B39DB}"/>
              </a:ext>
            </a:extLst>
          </p:cNvPr>
          <p:cNvSpPr/>
          <p:nvPr/>
        </p:nvSpPr>
        <p:spPr>
          <a:xfrm>
            <a:off x="1875716" y="242366"/>
            <a:ext cx="491226" cy="1728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22" name="正方形/長方形 21">
            <a:extLst>
              <a:ext uri="{FF2B5EF4-FFF2-40B4-BE49-F238E27FC236}">
                <a16:creationId xmlns:a16="http://schemas.microsoft.com/office/drawing/2014/main" id="{F0A5EDBB-0110-966C-FD55-2BD1451D6F3E}"/>
              </a:ext>
            </a:extLst>
          </p:cNvPr>
          <p:cNvSpPr/>
          <p:nvPr/>
        </p:nvSpPr>
        <p:spPr>
          <a:xfrm>
            <a:off x="2366942"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Credential</a:t>
            </a:r>
          </a:p>
          <a:p>
            <a:pPr algn="ctr"/>
            <a:r>
              <a:rPr lang="en-US" altLang="ja-JP" sz="500" dirty="0"/>
              <a:t>Proofing</a:t>
            </a:r>
            <a:endParaRPr lang="ja-JP" altLang="en-US" sz="500" dirty="0"/>
          </a:p>
        </p:txBody>
      </p:sp>
      <p:sp>
        <p:nvSpPr>
          <p:cNvPr id="23" name="正方形/長方形 22">
            <a:extLst>
              <a:ext uri="{FF2B5EF4-FFF2-40B4-BE49-F238E27FC236}">
                <a16:creationId xmlns:a16="http://schemas.microsoft.com/office/drawing/2014/main" id="{6BFB19FA-AAFF-6406-A793-97EC65B09D60}"/>
              </a:ext>
            </a:extLst>
          </p:cNvPr>
          <p:cNvSpPr/>
          <p:nvPr/>
        </p:nvSpPr>
        <p:spPr>
          <a:xfrm>
            <a:off x="2858168"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Envelope</a:t>
            </a:r>
            <a:endParaRPr lang="ja-JP" altLang="en-US" sz="600" dirty="0"/>
          </a:p>
        </p:txBody>
      </p:sp>
      <p:sp>
        <p:nvSpPr>
          <p:cNvPr id="24" name="正方形/長方形 23">
            <a:extLst>
              <a:ext uri="{FF2B5EF4-FFF2-40B4-BE49-F238E27FC236}">
                <a16:creationId xmlns:a16="http://schemas.microsoft.com/office/drawing/2014/main" id="{D3572F26-4FBE-E7B5-7425-AC4C613345E4}"/>
              </a:ext>
            </a:extLst>
          </p:cNvPr>
          <p:cNvSpPr/>
          <p:nvPr/>
        </p:nvSpPr>
        <p:spPr>
          <a:xfrm>
            <a:off x="2856361" y="135476"/>
            <a:ext cx="983839"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a:t>Agent </a:t>
            </a:r>
            <a:r>
              <a:rPr lang="en-US" altLang="ja-JP" sz="600" dirty="0"/>
              <a:t>Layer</a:t>
            </a:r>
            <a:endParaRPr lang="ja-JP" altLang="en-US" sz="600" dirty="0"/>
          </a:p>
        </p:txBody>
      </p:sp>
      <p:sp>
        <p:nvSpPr>
          <p:cNvPr id="25" name="正方形/長方形 24">
            <a:extLst>
              <a:ext uri="{FF2B5EF4-FFF2-40B4-BE49-F238E27FC236}">
                <a16:creationId xmlns:a16="http://schemas.microsoft.com/office/drawing/2014/main" id="{9F77F329-8B76-66DF-640B-9AFBAE299A51}"/>
              </a:ext>
            </a:extLst>
          </p:cNvPr>
          <p:cNvSpPr/>
          <p:nvPr/>
        </p:nvSpPr>
        <p:spPr>
          <a:xfrm>
            <a:off x="334926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Transport</a:t>
            </a:r>
            <a:endParaRPr lang="ja-JP" altLang="en-US" sz="600" dirty="0"/>
          </a:p>
        </p:txBody>
      </p:sp>
      <p:sp>
        <p:nvSpPr>
          <p:cNvPr id="26" name="正方形/長方形 25">
            <a:extLst>
              <a:ext uri="{FF2B5EF4-FFF2-40B4-BE49-F238E27FC236}">
                <a16:creationId xmlns:a16="http://schemas.microsoft.com/office/drawing/2014/main" id="{94CF89ED-2EED-C52B-5760-CEF0A5BA212A}"/>
              </a:ext>
            </a:extLst>
          </p:cNvPr>
          <p:cNvSpPr/>
          <p:nvPr/>
        </p:nvSpPr>
        <p:spPr>
          <a:xfrm>
            <a:off x="3840656"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27" name="正方形/長方形 26">
            <a:extLst>
              <a:ext uri="{FF2B5EF4-FFF2-40B4-BE49-F238E27FC236}">
                <a16:creationId xmlns:a16="http://schemas.microsoft.com/office/drawing/2014/main" id="{83F1629A-4E0F-F276-C169-5D76312CB896}"/>
              </a:ext>
            </a:extLst>
          </p:cNvPr>
          <p:cNvSpPr/>
          <p:nvPr/>
        </p:nvSpPr>
        <p:spPr>
          <a:xfrm>
            <a:off x="4824207"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28" name="正方形/長方形 27">
            <a:extLst>
              <a:ext uri="{FF2B5EF4-FFF2-40B4-BE49-F238E27FC236}">
                <a16:creationId xmlns:a16="http://schemas.microsoft.com/office/drawing/2014/main" id="{C0330147-1DCE-38B8-8829-7FE70CB4BB6A}"/>
              </a:ext>
            </a:extLst>
          </p:cNvPr>
          <p:cNvSpPr/>
          <p:nvPr/>
        </p:nvSpPr>
        <p:spPr>
          <a:xfrm>
            <a:off x="5315306"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29" name="正方形/長方形 28">
            <a:extLst>
              <a:ext uri="{FF2B5EF4-FFF2-40B4-BE49-F238E27FC236}">
                <a16:creationId xmlns:a16="http://schemas.microsoft.com/office/drawing/2014/main" id="{04BED951-D37A-A0F6-0B91-C6A14AF46772}"/>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30" name="正方形/長方形 29">
            <a:extLst>
              <a:ext uri="{FF2B5EF4-FFF2-40B4-BE49-F238E27FC236}">
                <a16:creationId xmlns:a16="http://schemas.microsoft.com/office/drawing/2014/main" id="{197FB051-083D-2DDF-E486-04C4CA55BABD}"/>
              </a:ext>
            </a:extLst>
          </p:cNvPr>
          <p:cNvSpPr/>
          <p:nvPr/>
        </p:nvSpPr>
        <p:spPr>
          <a:xfrm>
            <a:off x="6297630"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Disclosure</a:t>
            </a:r>
            <a:br>
              <a:rPr lang="en-US" altLang="ja-JP" sz="500" dirty="0"/>
            </a:br>
            <a:r>
              <a:rPr lang="en-US" altLang="ja-JP" sz="500" dirty="0"/>
              <a:t>/ZKP</a:t>
            </a:r>
          </a:p>
        </p:txBody>
      </p:sp>
      <p:sp>
        <p:nvSpPr>
          <p:cNvPr id="31" name="正方形/長方形 30">
            <a:extLst>
              <a:ext uri="{FF2B5EF4-FFF2-40B4-BE49-F238E27FC236}">
                <a16:creationId xmlns:a16="http://schemas.microsoft.com/office/drawing/2014/main" id="{E633709E-C787-6310-5425-8796323DF7C4}"/>
              </a:ext>
            </a:extLst>
          </p:cNvPr>
          <p:cNvSpPr/>
          <p:nvPr/>
        </p:nvSpPr>
        <p:spPr>
          <a:xfrm>
            <a:off x="67888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32" name="正方形/長方形 31">
            <a:extLst>
              <a:ext uri="{FF2B5EF4-FFF2-40B4-BE49-F238E27FC236}">
                <a16:creationId xmlns:a16="http://schemas.microsoft.com/office/drawing/2014/main" id="{01DBC354-AEA0-930B-16CE-4232602C1D98}"/>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33" name="正方形/長方形 32">
            <a:extLst>
              <a:ext uri="{FF2B5EF4-FFF2-40B4-BE49-F238E27FC236}">
                <a16:creationId xmlns:a16="http://schemas.microsoft.com/office/drawing/2014/main" id="{2EE08D92-9C9E-6FAA-AAC7-1249052F2A2F}"/>
              </a:ext>
            </a:extLst>
          </p:cNvPr>
          <p:cNvSpPr/>
          <p:nvPr/>
        </p:nvSpPr>
        <p:spPr>
          <a:xfrm>
            <a:off x="7771053"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34" name="正方形/長方形 33">
            <a:extLst>
              <a:ext uri="{FF2B5EF4-FFF2-40B4-BE49-F238E27FC236}">
                <a16:creationId xmlns:a16="http://schemas.microsoft.com/office/drawing/2014/main" id="{DFE7A54E-D176-6A43-89A1-4769B16B40C2}"/>
              </a:ext>
            </a:extLst>
          </p:cNvPr>
          <p:cNvSpPr/>
          <p:nvPr/>
        </p:nvSpPr>
        <p:spPr>
          <a:xfrm>
            <a:off x="3837006" y="135476"/>
            <a:ext cx="2461601"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35" name="正方形/長方形 34">
            <a:extLst>
              <a:ext uri="{FF2B5EF4-FFF2-40B4-BE49-F238E27FC236}">
                <a16:creationId xmlns:a16="http://schemas.microsoft.com/office/drawing/2014/main" id="{8A6806C3-CE2B-47A5-2FD1-6A4D21E2D0B9}"/>
              </a:ext>
            </a:extLst>
          </p:cNvPr>
          <p:cNvSpPr/>
          <p:nvPr/>
        </p:nvSpPr>
        <p:spPr>
          <a:xfrm>
            <a:off x="6297503" y="135476"/>
            <a:ext cx="1964776"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4" name="正方形/長方形 3">
            <a:extLst>
              <a:ext uri="{FF2B5EF4-FFF2-40B4-BE49-F238E27FC236}">
                <a16:creationId xmlns:a16="http://schemas.microsoft.com/office/drawing/2014/main" id="{CCAA6EF0-733B-AC34-8100-ED35ADC59801}"/>
              </a:ext>
            </a:extLst>
          </p:cNvPr>
          <p:cNvSpPr/>
          <p:nvPr/>
        </p:nvSpPr>
        <p:spPr>
          <a:xfrm>
            <a:off x="4332918" y="242366"/>
            <a:ext cx="491226" cy="169526"/>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2272263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493E24-9C31-1DDD-BE46-4AF41748570C}"/>
              </a:ext>
            </a:extLst>
          </p:cNvPr>
          <p:cNvSpPr>
            <a:spLocks noGrp="1"/>
          </p:cNvSpPr>
          <p:nvPr>
            <p:ph type="title"/>
          </p:nvPr>
        </p:nvSpPr>
        <p:spPr>
          <a:xfrm>
            <a:off x="273050" y="447475"/>
            <a:ext cx="7848302" cy="246221"/>
          </a:xfrm>
        </p:spPr>
        <p:txBody>
          <a:bodyPr/>
          <a:lstStyle/>
          <a:p>
            <a:r>
              <a:rPr kumimoji="1" lang="en-US" altLang="ja-JP" sz="1600" dirty="0"/>
              <a:t>5.2. </a:t>
            </a:r>
            <a:r>
              <a:rPr kumimoji="1" lang="ja-JP" altLang="en-US" sz="1600" dirty="0"/>
              <a:t>規格・実装方式の詳細 </a:t>
            </a:r>
            <a:r>
              <a:rPr kumimoji="1" lang="en-US" altLang="ja-JP" sz="1600" dirty="0"/>
              <a:t>- (8</a:t>
            </a:r>
            <a:r>
              <a:rPr kumimoji="1" lang="en-US" altLang="ja-JP" dirty="0"/>
              <a:t>) DID Document</a:t>
            </a:r>
            <a:r>
              <a:rPr kumimoji="1" lang="ja-JP" altLang="en-US" dirty="0"/>
              <a:t>の格納場所</a:t>
            </a:r>
          </a:p>
        </p:txBody>
      </p:sp>
      <p:sp>
        <p:nvSpPr>
          <p:cNvPr id="3" name="テキスト プレースホルダー 2">
            <a:extLst>
              <a:ext uri="{FF2B5EF4-FFF2-40B4-BE49-F238E27FC236}">
                <a16:creationId xmlns:a16="http://schemas.microsoft.com/office/drawing/2014/main" id="{FAA76181-43F4-BA62-9E76-44E8CDE977A3}"/>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75" name="テキスト ボックス 74">
            <a:extLst>
              <a:ext uri="{FF2B5EF4-FFF2-40B4-BE49-F238E27FC236}">
                <a16:creationId xmlns:a16="http://schemas.microsoft.com/office/drawing/2014/main" id="{A441EEC6-2FB1-D664-58BE-E15DC240BAD7}"/>
              </a:ext>
            </a:extLst>
          </p:cNvPr>
          <p:cNvSpPr txBox="1"/>
          <p:nvPr/>
        </p:nvSpPr>
        <p:spPr bwMode="gray">
          <a:xfrm>
            <a:off x="415925" y="1797296"/>
            <a:ext cx="2897071" cy="1023647"/>
          </a:xfrm>
          <a:prstGeom prst="rect">
            <a:avLst/>
          </a:prstGeom>
          <a:noFill/>
        </p:spPr>
        <p:txBody>
          <a:bodyPr wrap="square" lIns="0" tIns="0" rIns="0" bIns="0" rtlCol="0">
            <a:noAutofit/>
          </a:bodyPr>
          <a:lstStyle/>
          <a:p>
            <a:pPr marL="171450" indent="-171450" defTabSz="990564" eaLnBrk="1" fontAlgn="auto" hangingPunct="1">
              <a:spcBef>
                <a:spcPts val="0"/>
              </a:spcBef>
              <a:spcAft>
                <a:spcPts val="0"/>
              </a:spcAft>
              <a:buSzPct val="100000"/>
              <a:buFont typeface="Arial" panose="020B0604020202020204" pitchFamily="34" charset="0"/>
              <a:buChar char="•"/>
            </a:pPr>
            <a:r>
              <a:rPr lang="en-US" altLang="ja-JP" sz="1200" dirty="0">
                <a:solidFill>
                  <a:prstClr val="black"/>
                </a:solidFill>
                <a:latin typeface="+mn-ea"/>
                <a:ea typeface="+mn-ea"/>
                <a:cs typeface="Arial" charset="0"/>
              </a:rPr>
              <a:t>Issuer</a:t>
            </a:r>
            <a:r>
              <a:rPr lang="ja-JP" altLang="en-US" sz="1200" dirty="0">
                <a:solidFill>
                  <a:prstClr val="black"/>
                </a:solidFill>
                <a:latin typeface="+mn-ea"/>
                <a:ea typeface="+mn-ea"/>
                <a:cs typeface="Arial" charset="0"/>
              </a:rPr>
              <a:t>が特定のブロックチェーン上に</a:t>
            </a:r>
            <a:r>
              <a:rPr lang="en-US" altLang="ja-JP" sz="1200" dirty="0">
                <a:solidFill>
                  <a:prstClr val="black"/>
                </a:solidFill>
                <a:latin typeface="+mn-ea"/>
                <a:ea typeface="+mn-ea"/>
                <a:cs typeface="Arial" charset="0"/>
              </a:rPr>
              <a:t>DID Document</a:t>
            </a:r>
            <a:r>
              <a:rPr lang="ja-JP" altLang="en-US" sz="1200" dirty="0">
                <a:solidFill>
                  <a:prstClr val="black"/>
                </a:solidFill>
                <a:latin typeface="+mn-ea"/>
                <a:ea typeface="+mn-ea"/>
                <a:cs typeface="Arial" charset="0"/>
              </a:rPr>
              <a:t>を保存し、</a:t>
            </a:r>
            <a:r>
              <a:rPr lang="en-US" altLang="ja-JP" sz="1200" dirty="0">
                <a:solidFill>
                  <a:prstClr val="black"/>
                </a:solidFill>
                <a:latin typeface="+mn-ea"/>
                <a:ea typeface="+mn-ea"/>
                <a:cs typeface="Arial" charset="0"/>
              </a:rPr>
              <a:t>Verifier</a:t>
            </a:r>
            <a:r>
              <a:rPr lang="ja-JP" altLang="en-US" sz="1200" dirty="0">
                <a:solidFill>
                  <a:prstClr val="black"/>
                </a:solidFill>
                <a:latin typeface="+mn-ea"/>
                <a:ea typeface="+mn-ea"/>
                <a:cs typeface="Arial" charset="0"/>
              </a:rPr>
              <a:t>はそこを参照して</a:t>
            </a:r>
            <a:r>
              <a:rPr lang="en-US" altLang="ja-JP" sz="1200" dirty="0">
                <a:solidFill>
                  <a:prstClr val="black"/>
                </a:solidFill>
                <a:latin typeface="+mn-ea"/>
                <a:ea typeface="+mn-ea"/>
                <a:cs typeface="Arial" charset="0"/>
              </a:rPr>
              <a:t>VC</a:t>
            </a:r>
            <a:r>
              <a:rPr lang="ja-JP" altLang="en-US" sz="1200" dirty="0">
                <a:solidFill>
                  <a:prstClr val="black"/>
                </a:solidFill>
                <a:latin typeface="+mn-ea"/>
                <a:ea typeface="+mn-ea"/>
                <a:cs typeface="Arial" charset="0"/>
              </a:rPr>
              <a:t>の真正性を確認</a:t>
            </a:r>
            <a:endParaRPr lang="en-US" altLang="ja-JP" sz="1200" dirty="0">
              <a:solidFill>
                <a:prstClr val="black"/>
              </a:solidFill>
              <a:latin typeface="+mn-ea"/>
              <a:ea typeface="+mn-ea"/>
              <a:cs typeface="Arial" charset="0"/>
            </a:endParaRPr>
          </a:p>
          <a:p>
            <a:pPr marL="171450" indent="-171450" defTabSz="990564" eaLnBrk="1" fontAlgn="auto" hangingPunct="1">
              <a:spcBef>
                <a:spcPts val="0"/>
              </a:spcBef>
              <a:spcAft>
                <a:spcPts val="0"/>
              </a:spcAft>
              <a:buSzPct val="100000"/>
              <a:buFont typeface="Arial" panose="020B0604020202020204" pitchFamily="34" charset="0"/>
              <a:buChar char="•"/>
            </a:pPr>
            <a:r>
              <a:rPr lang="ja-JP" altLang="en-US" sz="1200" dirty="0">
                <a:solidFill>
                  <a:prstClr val="black"/>
                </a:solidFill>
                <a:latin typeface="+mn-ea"/>
                <a:ea typeface="+mn-ea"/>
                <a:cs typeface="Arial" charset="0"/>
              </a:rPr>
              <a:t>ブロックチェーンが耐改ざん性、可用性を担保してくれるため、</a:t>
            </a:r>
            <a:r>
              <a:rPr lang="en-US" altLang="ja-JP" sz="1200" dirty="0">
                <a:solidFill>
                  <a:prstClr val="black"/>
                </a:solidFill>
                <a:latin typeface="+mn-ea"/>
                <a:ea typeface="+mn-ea"/>
                <a:cs typeface="Arial" charset="0"/>
              </a:rPr>
              <a:t>Data Registry</a:t>
            </a:r>
            <a:r>
              <a:rPr lang="ja-JP" altLang="en-US" sz="1200" dirty="0">
                <a:solidFill>
                  <a:prstClr val="black"/>
                </a:solidFill>
                <a:latin typeface="+mn-ea"/>
                <a:ea typeface="+mn-ea"/>
                <a:cs typeface="Arial" charset="0"/>
              </a:rPr>
              <a:t>としては一般的な方式（</a:t>
            </a:r>
            <a:r>
              <a:rPr lang="ja-JP" altLang="en-US" sz="1200" dirty="0">
                <a:latin typeface="+mn-ea"/>
                <a:ea typeface="+mn-ea"/>
                <a:cs typeface="Arial" charset="0"/>
              </a:rPr>
              <a:t>安全性・機密性の観点から</a:t>
            </a:r>
            <a:r>
              <a:rPr lang="en-US" altLang="ja-JP" sz="1200" dirty="0">
                <a:latin typeface="+mn-ea"/>
                <a:ea typeface="+mn-ea"/>
                <a:cs typeface="Arial" charset="0"/>
              </a:rPr>
              <a:t>Permissioned</a:t>
            </a:r>
            <a:r>
              <a:rPr lang="ja-JP" altLang="en-US" sz="1200" dirty="0">
                <a:latin typeface="+mn-ea"/>
                <a:ea typeface="+mn-ea"/>
                <a:cs typeface="Arial" charset="0"/>
              </a:rPr>
              <a:t>なブロックチェーンを用いられることが多いが、スケーラビリティに課題がある）</a:t>
            </a:r>
            <a:endParaRPr lang="en-US" altLang="ja-JP" sz="1200" dirty="0">
              <a:latin typeface="+mn-ea"/>
              <a:ea typeface="+mn-ea"/>
              <a:cs typeface="Arial" charset="0"/>
            </a:endParaRPr>
          </a:p>
        </p:txBody>
      </p:sp>
      <p:grpSp>
        <p:nvGrpSpPr>
          <p:cNvPr id="98" name="グループ化 97">
            <a:extLst>
              <a:ext uri="{FF2B5EF4-FFF2-40B4-BE49-F238E27FC236}">
                <a16:creationId xmlns:a16="http://schemas.microsoft.com/office/drawing/2014/main" id="{F060FDCF-582C-1CAE-A9DC-8591BE8C0BBF}"/>
              </a:ext>
            </a:extLst>
          </p:cNvPr>
          <p:cNvGrpSpPr/>
          <p:nvPr/>
        </p:nvGrpSpPr>
        <p:grpSpPr>
          <a:xfrm>
            <a:off x="437345" y="3515382"/>
            <a:ext cx="8908268" cy="2701158"/>
            <a:chOff x="437345" y="3162929"/>
            <a:chExt cx="8908268" cy="3712913"/>
          </a:xfrm>
        </p:grpSpPr>
        <p:sp>
          <p:nvSpPr>
            <p:cNvPr id="52" name="楕円 51">
              <a:extLst>
                <a:ext uri="{FF2B5EF4-FFF2-40B4-BE49-F238E27FC236}">
                  <a16:creationId xmlns:a16="http://schemas.microsoft.com/office/drawing/2014/main" id="{D11FADBA-137A-5FD5-F2D2-0804FB551ABB}"/>
                </a:ext>
              </a:extLst>
            </p:cNvPr>
            <p:cNvSpPr/>
            <p:nvPr/>
          </p:nvSpPr>
          <p:spPr bwMode="gray">
            <a:xfrm>
              <a:off x="3713493" y="6494151"/>
              <a:ext cx="2388826" cy="381691"/>
            </a:xfrm>
            <a:prstGeom prst="ellipse">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インターネット</a:t>
              </a:r>
            </a:p>
          </p:txBody>
        </p:sp>
        <p:sp>
          <p:nvSpPr>
            <p:cNvPr id="53" name="四角形: 角を丸くする 52">
              <a:extLst>
                <a:ext uri="{FF2B5EF4-FFF2-40B4-BE49-F238E27FC236}">
                  <a16:creationId xmlns:a16="http://schemas.microsoft.com/office/drawing/2014/main" id="{598C2DC0-4C10-69F6-739A-5C7ED4729DD9}"/>
                </a:ext>
              </a:extLst>
            </p:cNvPr>
            <p:cNvSpPr/>
            <p:nvPr/>
          </p:nvSpPr>
          <p:spPr bwMode="gray">
            <a:xfrm>
              <a:off x="4534363" y="3162929"/>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Holder</a:t>
              </a:r>
              <a:endParaRPr lang="ja-JP" altLang="en-US" sz="1200">
                <a:solidFill>
                  <a:prstClr val="black"/>
                </a:solidFill>
                <a:latin typeface="+mn-ea"/>
                <a:ea typeface="+mn-ea"/>
                <a:cs typeface="Arial" charset="0"/>
              </a:endParaRPr>
            </a:p>
          </p:txBody>
        </p:sp>
        <p:sp>
          <p:nvSpPr>
            <p:cNvPr id="54" name="四角形: 角を丸くする 53">
              <a:extLst>
                <a:ext uri="{FF2B5EF4-FFF2-40B4-BE49-F238E27FC236}">
                  <a16:creationId xmlns:a16="http://schemas.microsoft.com/office/drawing/2014/main" id="{F28A2790-F3DD-81C6-2486-572BF6C1F104}"/>
                </a:ext>
              </a:extLst>
            </p:cNvPr>
            <p:cNvSpPr/>
            <p:nvPr/>
          </p:nvSpPr>
          <p:spPr bwMode="gray">
            <a:xfrm>
              <a:off x="3770918" y="4264817"/>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Issuer</a:t>
              </a:r>
              <a:endParaRPr lang="ja-JP" altLang="en-US" sz="1200">
                <a:solidFill>
                  <a:prstClr val="black"/>
                </a:solidFill>
                <a:latin typeface="+mn-ea"/>
                <a:ea typeface="+mn-ea"/>
                <a:cs typeface="Arial" charset="0"/>
              </a:endParaRPr>
            </a:p>
          </p:txBody>
        </p:sp>
        <p:sp>
          <p:nvSpPr>
            <p:cNvPr id="55" name="四角形: 角を丸くする 54">
              <a:extLst>
                <a:ext uri="{FF2B5EF4-FFF2-40B4-BE49-F238E27FC236}">
                  <a16:creationId xmlns:a16="http://schemas.microsoft.com/office/drawing/2014/main" id="{53B3BA12-DEDC-65C8-2C15-49D435F532E3}"/>
                </a:ext>
              </a:extLst>
            </p:cNvPr>
            <p:cNvSpPr/>
            <p:nvPr/>
          </p:nvSpPr>
          <p:spPr bwMode="gray">
            <a:xfrm>
              <a:off x="5059149" y="4263731"/>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Verifier</a:t>
              </a:r>
              <a:endParaRPr lang="ja-JP" altLang="en-US" sz="1200">
                <a:solidFill>
                  <a:prstClr val="black"/>
                </a:solidFill>
                <a:latin typeface="+mn-ea"/>
                <a:ea typeface="+mn-ea"/>
                <a:cs typeface="Arial" charset="0"/>
              </a:endParaRPr>
            </a:p>
          </p:txBody>
        </p:sp>
        <p:sp>
          <p:nvSpPr>
            <p:cNvPr id="56" name="正方形/長方形 55">
              <a:extLst>
                <a:ext uri="{FF2B5EF4-FFF2-40B4-BE49-F238E27FC236}">
                  <a16:creationId xmlns:a16="http://schemas.microsoft.com/office/drawing/2014/main" id="{4D8F9F85-E655-4944-EDE2-456CCE703E58}"/>
                </a:ext>
              </a:extLst>
            </p:cNvPr>
            <p:cNvSpPr/>
            <p:nvPr/>
          </p:nvSpPr>
          <p:spPr bwMode="gray">
            <a:xfrm>
              <a:off x="3495772" y="5454671"/>
              <a:ext cx="1557609" cy="109141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Web</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サーバ</a:t>
              </a:r>
            </a:p>
          </p:txBody>
        </p:sp>
        <p:sp>
          <p:nvSpPr>
            <p:cNvPr id="57" name="四角形: 角を丸くする 56">
              <a:extLst>
                <a:ext uri="{FF2B5EF4-FFF2-40B4-BE49-F238E27FC236}">
                  <a16:creationId xmlns:a16="http://schemas.microsoft.com/office/drawing/2014/main" id="{710205C8-CEC8-153A-2C98-DE677829E801}"/>
                </a:ext>
              </a:extLst>
            </p:cNvPr>
            <p:cNvSpPr/>
            <p:nvPr/>
          </p:nvSpPr>
          <p:spPr bwMode="gray">
            <a:xfrm>
              <a:off x="3770918" y="5631201"/>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DID</a:t>
              </a:r>
            </a:p>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Document</a:t>
              </a:r>
              <a:endParaRPr lang="ja-JP" altLang="en-US" sz="1200">
                <a:solidFill>
                  <a:prstClr val="black"/>
                </a:solidFill>
                <a:latin typeface="+mn-ea"/>
                <a:ea typeface="+mn-ea"/>
                <a:cs typeface="Arial" charset="0"/>
              </a:endParaRPr>
            </a:p>
          </p:txBody>
        </p:sp>
        <p:cxnSp>
          <p:nvCxnSpPr>
            <p:cNvPr id="58" name="直線矢印コネクタ 57">
              <a:extLst>
                <a:ext uri="{FF2B5EF4-FFF2-40B4-BE49-F238E27FC236}">
                  <a16:creationId xmlns:a16="http://schemas.microsoft.com/office/drawing/2014/main" id="{F9FA55CC-9934-740E-F8B8-CF6AC9B7FB8B}"/>
                </a:ext>
              </a:extLst>
            </p:cNvPr>
            <p:cNvCxnSpPr>
              <a:stCxn id="54" idx="2"/>
              <a:endCxn id="57" idx="0"/>
            </p:cNvCxnSpPr>
            <p:nvPr/>
          </p:nvCxnSpPr>
          <p:spPr bwMode="gray">
            <a:xfrm>
              <a:off x="4295704" y="4916824"/>
              <a:ext cx="0" cy="714377"/>
            </a:xfrm>
            <a:prstGeom prst="straightConnector1">
              <a:avLst/>
            </a:prstGeom>
            <a:noFill/>
            <a:ln w="12700" cap="flat" cmpd="sng" algn="ctr">
              <a:solidFill>
                <a:srgbClr val="53565A"/>
              </a:solidFill>
              <a:prstDash val="solid"/>
              <a:tailEnd type="triangle"/>
            </a:ln>
            <a:effectLst/>
          </p:spPr>
        </p:cxnSp>
        <p:cxnSp>
          <p:nvCxnSpPr>
            <p:cNvPr id="59" name="直線矢印コネクタ 58">
              <a:extLst>
                <a:ext uri="{FF2B5EF4-FFF2-40B4-BE49-F238E27FC236}">
                  <a16:creationId xmlns:a16="http://schemas.microsoft.com/office/drawing/2014/main" id="{82796196-1863-AF93-96DD-DDC5616AE619}"/>
                </a:ext>
              </a:extLst>
            </p:cNvPr>
            <p:cNvCxnSpPr>
              <a:cxnSpLocks/>
              <a:stCxn id="55" idx="2"/>
            </p:cNvCxnSpPr>
            <p:nvPr/>
          </p:nvCxnSpPr>
          <p:spPr bwMode="gray">
            <a:xfrm flipH="1">
              <a:off x="4820490" y="4915738"/>
              <a:ext cx="763445" cy="715463"/>
            </a:xfrm>
            <a:prstGeom prst="straightConnector1">
              <a:avLst/>
            </a:prstGeom>
            <a:noFill/>
            <a:ln w="12700" cap="flat" cmpd="sng" algn="ctr">
              <a:solidFill>
                <a:srgbClr val="53565A"/>
              </a:solidFill>
              <a:prstDash val="solid"/>
              <a:tailEnd type="triangle"/>
            </a:ln>
            <a:effectLst/>
          </p:spPr>
        </p:cxnSp>
        <p:cxnSp>
          <p:nvCxnSpPr>
            <p:cNvPr id="60" name="直線矢印コネクタ 59">
              <a:extLst>
                <a:ext uri="{FF2B5EF4-FFF2-40B4-BE49-F238E27FC236}">
                  <a16:creationId xmlns:a16="http://schemas.microsoft.com/office/drawing/2014/main" id="{B70C74B0-EA38-F7BA-7727-F30C8797FD60}"/>
                </a:ext>
              </a:extLst>
            </p:cNvPr>
            <p:cNvCxnSpPr>
              <a:cxnSpLocks/>
              <a:stCxn id="54" idx="0"/>
            </p:cNvCxnSpPr>
            <p:nvPr/>
          </p:nvCxnSpPr>
          <p:spPr bwMode="gray">
            <a:xfrm flipV="1">
              <a:off x="4295704" y="3791462"/>
              <a:ext cx="524786" cy="473355"/>
            </a:xfrm>
            <a:prstGeom prst="straightConnector1">
              <a:avLst/>
            </a:prstGeom>
            <a:noFill/>
            <a:ln w="12700" cap="flat" cmpd="sng" algn="ctr">
              <a:solidFill>
                <a:srgbClr val="53565A"/>
              </a:solidFill>
              <a:prstDash val="solid"/>
              <a:tailEnd type="triangle"/>
            </a:ln>
            <a:effectLst/>
          </p:spPr>
        </p:cxnSp>
        <p:cxnSp>
          <p:nvCxnSpPr>
            <p:cNvPr id="61" name="直線矢印コネクタ 60">
              <a:extLst>
                <a:ext uri="{FF2B5EF4-FFF2-40B4-BE49-F238E27FC236}">
                  <a16:creationId xmlns:a16="http://schemas.microsoft.com/office/drawing/2014/main" id="{CAD10D24-452A-C582-11B9-CA6154699385}"/>
                </a:ext>
              </a:extLst>
            </p:cNvPr>
            <p:cNvCxnSpPr>
              <a:cxnSpLocks/>
              <a:endCxn id="55" idx="0"/>
            </p:cNvCxnSpPr>
            <p:nvPr/>
          </p:nvCxnSpPr>
          <p:spPr bwMode="gray">
            <a:xfrm>
              <a:off x="5280823" y="3802656"/>
              <a:ext cx="303112" cy="461075"/>
            </a:xfrm>
            <a:prstGeom prst="straightConnector1">
              <a:avLst/>
            </a:prstGeom>
            <a:noFill/>
            <a:ln w="12700" cap="flat" cmpd="sng" algn="ctr">
              <a:solidFill>
                <a:srgbClr val="53565A"/>
              </a:solidFill>
              <a:prstDash val="solid"/>
              <a:tailEnd type="triangle"/>
            </a:ln>
            <a:effectLst/>
          </p:spPr>
        </p:cxnSp>
        <p:sp>
          <p:nvSpPr>
            <p:cNvPr id="62" name="テキスト ボックス 61">
              <a:extLst>
                <a:ext uri="{FF2B5EF4-FFF2-40B4-BE49-F238E27FC236}">
                  <a16:creationId xmlns:a16="http://schemas.microsoft.com/office/drawing/2014/main" id="{131A7733-17E3-E009-811D-7C0EE7C88BB9}"/>
                </a:ext>
              </a:extLst>
            </p:cNvPr>
            <p:cNvSpPr txBox="1"/>
            <p:nvPr/>
          </p:nvSpPr>
          <p:spPr bwMode="gray">
            <a:xfrm>
              <a:off x="5356193" y="5147617"/>
              <a:ext cx="307777"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mn-ea"/>
                  <a:ea typeface="+mn-ea"/>
                  <a:cs typeface="Arial" charset="0"/>
                </a:rPr>
                <a:t>確認</a:t>
              </a:r>
            </a:p>
          </p:txBody>
        </p:sp>
        <p:sp>
          <p:nvSpPr>
            <p:cNvPr id="63" name="テキスト ボックス 62">
              <a:extLst>
                <a:ext uri="{FF2B5EF4-FFF2-40B4-BE49-F238E27FC236}">
                  <a16:creationId xmlns:a16="http://schemas.microsoft.com/office/drawing/2014/main" id="{B0398FA9-112B-A867-0167-B327AF51E269}"/>
                </a:ext>
              </a:extLst>
            </p:cNvPr>
            <p:cNvSpPr txBox="1"/>
            <p:nvPr/>
          </p:nvSpPr>
          <p:spPr bwMode="gray">
            <a:xfrm>
              <a:off x="3962290" y="5147617"/>
              <a:ext cx="307777"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mn-ea"/>
                  <a:ea typeface="+mn-ea"/>
                  <a:cs typeface="Arial" charset="0"/>
                </a:rPr>
                <a:t>保存</a:t>
              </a:r>
            </a:p>
          </p:txBody>
        </p:sp>
        <p:sp>
          <p:nvSpPr>
            <p:cNvPr id="64" name="テキスト ボックス 63">
              <a:extLst>
                <a:ext uri="{FF2B5EF4-FFF2-40B4-BE49-F238E27FC236}">
                  <a16:creationId xmlns:a16="http://schemas.microsoft.com/office/drawing/2014/main" id="{1FCF3119-D460-9515-D992-731647E46487}"/>
                </a:ext>
              </a:extLst>
            </p:cNvPr>
            <p:cNvSpPr txBox="1"/>
            <p:nvPr/>
          </p:nvSpPr>
          <p:spPr bwMode="gray">
            <a:xfrm>
              <a:off x="3779090" y="3791462"/>
              <a:ext cx="635944"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VC</a:t>
              </a:r>
              <a:r>
                <a:rPr lang="ja-JP" altLang="en-US" sz="1200">
                  <a:solidFill>
                    <a:prstClr val="black"/>
                  </a:solidFill>
                  <a:latin typeface="+mn-ea"/>
                  <a:ea typeface="+mn-ea"/>
                  <a:cs typeface="Arial" charset="0"/>
                </a:rPr>
                <a:t>の送付</a:t>
              </a:r>
              <a:endParaRPr lang="en-US" altLang="ja-JP" sz="1200">
                <a:solidFill>
                  <a:prstClr val="black"/>
                </a:solidFill>
                <a:latin typeface="+mn-ea"/>
                <a:ea typeface="+mn-ea"/>
                <a:cs typeface="Arial" charset="0"/>
              </a:endParaRPr>
            </a:p>
          </p:txBody>
        </p:sp>
        <p:sp>
          <p:nvSpPr>
            <p:cNvPr id="65" name="テキスト ボックス 64">
              <a:extLst>
                <a:ext uri="{FF2B5EF4-FFF2-40B4-BE49-F238E27FC236}">
                  <a16:creationId xmlns:a16="http://schemas.microsoft.com/office/drawing/2014/main" id="{5BE189D7-118C-6E41-FAB5-8BFF72CB0E4E}"/>
                </a:ext>
              </a:extLst>
            </p:cNvPr>
            <p:cNvSpPr txBox="1"/>
            <p:nvPr/>
          </p:nvSpPr>
          <p:spPr bwMode="gray">
            <a:xfrm>
              <a:off x="5649689" y="3791462"/>
              <a:ext cx="751847"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mn-ea"/>
                  <a:ea typeface="+mn-ea"/>
                  <a:cs typeface="Arial" charset="0"/>
                </a:rPr>
                <a:t>VP</a:t>
              </a:r>
              <a:r>
                <a:rPr lang="ja-JP" altLang="en-US" sz="1200" dirty="0">
                  <a:solidFill>
                    <a:prstClr val="black"/>
                  </a:solidFill>
                  <a:latin typeface="+mn-ea"/>
                  <a:ea typeface="+mn-ea"/>
                  <a:cs typeface="Arial" charset="0"/>
                </a:rPr>
                <a:t>の送付</a:t>
              </a:r>
              <a:endParaRPr lang="en-US" altLang="ja-JP" sz="1200" dirty="0">
                <a:solidFill>
                  <a:prstClr val="black"/>
                </a:solidFill>
                <a:latin typeface="+mn-ea"/>
                <a:ea typeface="+mn-ea"/>
                <a:cs typeface="Arial" charset="0"/>
              </a:endParaRPr>
            </a:p>
          </p:txBody>
        </p:sp>
        <p:sp>
          <p:nvSpPr>
            <p:cNvPr id="66" name="楕円 65">
              <a:extLst>
                <a:ext uri="{FF2B5EF4-FFF2-40B4-BE49-F238E27FC236}">
                  <a16:creationId xmlns:a16="http://schemas.microsoft.com/office/drawing/2014/main" id="{B88CC7D6-E53B-FE98-8AF2-1DC62A293285}"/>
                </a:ext>
              </a:extLst>
            </p:cNvPr>
            <p:cNvSpPr/>
            <p:nvPr/>
          </p:nvSpPr>
          <p:spPr bwMode="gray">
            <a:xfrm>
              <a:off x="437345" y="5777240"/>
              <a:ext cx="2388826" cy="968842"/>
            </a:xfrm>
            <a:prstGeom prst="ellipse">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ブロックチェーン</a:t>
              </a:r>
            </a:p>
          </p:txBody>
        </p:sp>
        <p:sp>
          <p:nvSpPr>
            <p:cNvPr id="67" name="四角形: 角を丸くする 66">
              <a:extLst>
                <a:ext uri="{FF2B5EF4-FFF2-40B4-BE49-F238E27FC236}">
                  <a16:creationId xmlns:a16="http://schemas.microsoft.com/office/drawing/2014/main" id="{00B41672-4D64-D2D9-9A00-CF6EB542D94F}"/>
                </a:ext>
              </a:extLst>
            </p:cNvPr>
            <p:cNvSpPr/>
            <p:nvPr/>
          </p:nvSpPr>
          <p:spPr bwMode="gray">
            <a:xfrm>
              <a:off x="1433474" y="3162929"/>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mn-ea"/>
                  <a:ea typeface="+mn-ea"/>
                  <a:cs typeface="Arial" charset="0"/>
                </a:rPr>
                <a:t>Holder</a:t>
              </a:r>
              <a:endParaRPr lang="ja-JP" altLang="en-US" sz="1200" dirty="0">
                <a:solidFill>
                  <a:prstClr val="black"/>
                </a:solidFill>
                <a:latin typeface="+mn-ea"/>
                <a:ea typeface="+mn-ea"/>
                <a:cs typeface="Arial" charset="0"/>
              </a:endParaRPr>
            </a:p>
          </p:txBody>
        </p:sp>
        <p:sp>
          <p:nvSpPr>
            <p:cNvPr id="68" name="四角形: 角を丸くする 67">
              <a:extLst>
                <a:ext uri="{FF2B5EF4-FFF2-40B4-BE49-F238E27FC236}">
                  <a16:creationId xmlns:a16="http://schemas.microsoft.com/office/drawing/2014/main" id="{B1DAB26C-AE40-BF3B-8677-9383278E0A21}"/>
                </a:ext>
              </a:extLst>
            </p:cNvPr>
            <p:cNvSpPr/>
            <p:nvPr/>
          </p:nvSpPr>
          <p:spPr bwMode="gray">
            <a:xfrm>
              <a:off x="793724" y="4264817"/>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Issuer</a:t>
              </a:r>
              <a:endParaRPr lang="ja-JP" altLang="en-US" sz="1200">
                <a:solidFill>
                  <a:prstClr val="black"/>
                </a:solidFill>
                <a:latin typeface="+mn-ea"/>
                <a:ea typeface="+mn-ea"/>
                <a:cs typeface="Arial" charset="0"/>
              </a:endParaRPr>
            </a:p>
          </p:txBody>
        </p:sp>
        <p:sp>
          <p:nvSpPr>
            <p:cNvPr id="69" name="四角形: 角を丸くする 68">
              <a:extLst>
                <a:ext uri="{FF2B5EF4-FFF2-40B4-BE49-F238E27FC236}">
                  <a16:creationId xmlns:a16="http://schemas.microsoft.com/office/drawing/2014/main" id="{1BECB955-C233-50B2-D061-D4FA7343A715}"/>
                </a:ext>
              </a:extLst>
            </p:cNvPr>
            <p:cNvSpPr/>
            <p:nvPr/>
          </p:nvSpPr>
          <p:spPr bwMode="gray">
            <a:xfrm>
              <a:off x="2081955" y="4263731"/>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Verifier</a:t>
              </a:r>
              <a:endParaRPr lang="ja-JP" altLang="en-US" sz="1200">
                <a:solidFill>
                  <a:prstClr val="black"/>
                </a:solidFill>
                <a:latin typeface="+mn-ea"/>
                <a:ea typeface="+mn-ea"/>
                <a:cs typeface="Arial" charset="0"/>
              </a:endParaRPr>
            </a:p>
          </p:txBody>
        </p:sp>
        <p:sp>
          <p:nvSpPr>
            <p:cNvPr id="70" name="四角形: 角を丸くする 69">
              <a:extLst>
                <a:ext uri="{FF2B5EF4-FFF2-40B4-BE49-F238E27FC236}">
                  <a16:creationId xmlns:a16="http://schemas.microsoft.com/office/drawing/2014/main" id="{B85C0B20-D606-5D37-0798-D1DB75C6EB12}"/>
                </a:ext>
              </a:extLst>
            </p:cNvPr>
            <p:cNvSpPr/>
            <p:nvPr/>
          </p:nvSpPr>
          <p:spPr bwMode="gray">
            <a:xfrm>
              <a:off x="793724" y="5631201"/>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DID</a:t>
              </a:r>
            </a:p>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Document</a:t>
              </a:r>
              <a:endParaRPr lang="ja-JP" altLang="en-US" sz="1200">
                <a:solidFill>
                  <a:prstClr val="black"/>
                </a:solidFill>
                <a:latin typeface="+mn-ea"/>
                <a:ea typeface="+mn-ea"/>
                <a:cs typeface="Arial" charset="0"/>
              </a:endParaRPr>
            </a:p>
          </p:txBody>
        </p:sp>
        <p:cxnSp>
          <p:nvCxnSpPr>
            <p:cNvPr id="71" name="直線矢印コネクタ 70">
              <a:extLst>
                <a:ext uri="{FF2B5EF4-FFF2-40B4-BE49-F238E27FC236}">
                  <a16:creationId xmlns:a16="http://schemas.microsoft.com/office/drawing/2014/main" id="{E4B84022-FF1D-4CFE-7B4D-F1F41FA8D6D0}"/>
                </a:ext>
              </a:extLst>
            </p:cNvPr>
            <p:cNvCxnSpPr>
              <a:stCxn id="68" idx="2"/>
              <a:endCxn id="70" idx="0"/>
            </p:cNvCxnSpPr>
            <p:nvPr/>
          </p:nvCxnSpPr>
          <p:spPr bwMode="gray">
            <a:xfrm>
              <a:off x="1318510" y="4916824"/>
              <a:ext cx="0" cy="714377"/>
            </a:xfrm>
            <a:prstGeom prst="straightConnector1">
              <a:avLst/>
            </a:prstGeom>
            <a:noFill/>
            <a:ln w="12700" cap="flat" cmpd="sng" algn="ctr">
              <a:solidFill>
                <a:srgbClr val="53565A"/>
              </a:solidFill>
              <a:prstDash val="solid"/>
              <a:tailEnd type="triangle"/>
            </a:ln>
            <a:effectLst/>
          </p:spPr>
        </p:cxnSp>
        <p:cxnSp>
          <p:nvCxnSpPr>
            <p:cNvPr id="72" name="直線矢印コネクタ 71">
              <a:extLst>
                <a:ext uri="{FF2B5EF4-FFF2-40B4-BE49-F238E27FC236}">
                  <a16:creationId xmlns:a16="http://schemas.microsoft.com/office/drawing/2014/main" id="{0C7D0FFD-9369-B982-24E2-2F7604B0656B}"/>
                </a:ext>
              </a:extLst>
            </p:cNvPr>
            <p:cNvCxnSpPr>
              <a:cxnSpLocks/>
              <a:stCxn id="69" idx="2"/>
            </p:cNvCxnSpPr>
            <p:nvPr/>
          </p:nvCxnSpPr>
          <p:spPr bwMode="gray">
            <a:xfrm flipH="1">
              <a:off x="1843296" y="4915738"/>
              <a:ext cx="763445" cy="715463"/>
            </a:xfrm>
            <a:prstGeom prst="straightConnector1">
              <a:avLst/>
            </a:prstGeom>
            <a:noFill/>
            <a:ln w="12700" cap="flat" cmpd="sng" algn="ctr">
              <a:solidFill>
                <a:srgbClr val="53565A"/>
              </a:solidFill>
              <a:prstDash val="solid"/>
              <a:tailEnd type="triangle"/>
            </a:ln>
            <a:effectLst/>
          </p:spPr>
        </p:cxnSp>
        <p:cxnSp>
          <p:nvCxnSpPr>
            <p:cNvPr id="73" name="直線矢印コネクタ 72">
              <a:extLst>
                <a:ext uri="{FF2B5EF4-FFF2-40B4-BE49-F238E27FC236}">
                  <a16:creationId xmlns:a16="http://schemas.microsoft.com/office/drawing/2014/main" id="{18F9A1D3-2BD0-1D3A-9C8C-DD49BDB935A4}"/>
                </a:ext>
              </a:extLst>
            </p:cNvPr>
            <p:cNvCxnSpPr>
              <a:cxnSpLocks/>
              <a:stCxn id="68" idx="0"/>
            </p:cNvCxnSpPr>
            <p:nvPr/>
          </p:nvCxnSpPr>
          <p:spPr bwMode="gray">
            <a:xfrm flipV="1">
              <a:off x="1318510" y="3791462"/>
              <a:ext cx="524786" cy="473355"/>
            </a:xfrm>
            <a:prstGeom prst="straightConnector1">
              <a:avLst/>
            </a:prstGeom>
            <a:noFill/>
            <a:ln w="12700" cap="flat" cmpd="sng" algn="ctr">
              <a:solidFill>
                <a:srgbClr val="53565A"/>
              </a:solidFill>
              <a:prstDash val="solid"/>
              <a:tailEnd type="triangle"/>
            </a:ln>
            <a:effectLst/>
          </p:spPr>
        </p:cxnSp>
        <p:cxnSp>
          <p:nvCxnSpPr>
            <p:cNvPr id="74" name="直線矢印コネクタ 73">
              <a:extLst>
                <a:ext uri="{FF2B5EF4-FFF2-40B4-BE49-F238E27FC236}">
                  <a16:creationId xmlns:a16="http://schemas.microsoft.com/office/drawing/2014/main" id="{777E3987-ED10-3EB7-A003-728CA209CCAF}"/>
                </a:ext>
              </a:extLst>
            </p:cNvPr>
            <p:cNvCxnSpPr>
              <a:cxnSpLocks/>
              <a:endCxn id="69" idx="0"/>
            </p:cNvCxnSpPr>
            <p:nvPr/>
          </p:nvCxnSpPr>
          <p:spPr bwMode="gray">
            <a:xfrm>
              <a:off x="2213399" y="3786351"/>
              <a:ext cx="393342" cy="477380"/>
            </a:xfrm>
            <a:prstGeom prst="straightConnector1">
              <a:avLst/>
            </a:prstGeom>
            <a:noFill/>
            <a:ln w="12700" cap="flat" cmpd="sng" algn="ctr">
              <a:solidFill>
                <a:srgbClr val="53565A"/>
              </a:solidFill>
              <a:prstDash val="solid"/>
              <a:tailEnd type="triangle"/>
            </a:ln>
            <a:effectLst/>
          </p:spPr>
        </p:cxnSp>
        <p:sp>
          <p:nvSpPr>
            <p:cNvPr id="76" name="テキスト ボックス 75">
              <a:extLst>
                <a:ext uri="{FF2B5EF4-FFF2-40B4-BE49-F238E27FC236}">
                  <a16:creationId xmlns:a16="http://schemas.microsoft.com/office/drawing/2014/main" id="{6471FED5-7C52-22A5-F1BF-50BF4584C595}"/>
                </a:ext>
              </a:extLst>
            </p:cNvPr>
            <p:cNvSpPr txBox="1"/>
            <p:nvPr/>
          </p:nvSpPr>
          <p:spPr bwMode="gray">
            <a:xfrm>
              <a:off x="2340470" y="5147617"/>
              <a:ext cx="307777"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mn-ea"/>
                  <a:ea typeface="+mn-ea"/>
                  <a:cs typeface="Arial" charset="0"/>
                </a:rPr>
                <a:t>確認</a:t>
              </a:r>
            </a:p>
          </p:txBody>
        </p:sp>
        <p:sp>
          <p:nvSpPr>
            <p:cNvPr id="77" name="テキスト ボックス 76">
              <a:extLst>
                <a:ext uri="{FF2B5EF4-FFF2-40B4-BE49-F238E27FC236}">
                  <a16:creationId xmlns:a16="http://schemas.microsoft.com/office/drawing/2014/main" id="{A6B26D2F-93E1-9515-CBE4-5E10CB66065E}"/>
                </a:ext>
              </a:extLst>
            </p:cNvPr>
            <p:cNvSpPr txBox="1"/>
            <p:nvPr/>
          </p:nvSpPr>
          <p:spPr bwMode="gray">
            <a:xfrm>
              <a:off x="841492" y="5147617"/>
              <a:ext cx="307777"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mn-ea"/>
                  <a:ea typeface="+mn-ea"/>
                  <a:cs typeface="Arial" charset="0"/>
                </a:rPr>
                <a:t>保存</a:t>
              </a:r>
            </a:p>
          </p:txBody>
        </p:sp>
        <p:sp>
          <p:nvSpPr>
            <p:cNvPr id="78" name="テキスト ボックス 77">
              <a:extLst>
                <a:ext uri="{FF2B5EF4-FFF2-40B4-BE49-F238E27FC236}">
                  <a16:creationId xmlns:a16="http://schemas.microsoft.com/office/drawing/2014/main" id="{F7A2C87A-40E8-6084-4337-F1B9142817F1}"/>
                </a:ext>
              </a:extLst>
            </p:cNvPr>
            <p:cNvSpPr txBox="1"/>
            <p:nvPr/>
          </p:nvSpPr>
          <p:spPr bwMode="gray">
            <a:xfrm>
              <a:off x="668673" y="3791462"/>
              <a:ext cx="656659" cy="507670"/>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mn-ea"/>
                  <a:ea typeface="+mn-ea"/>
                  <a:cs typeface="Arial" charset="0"/>
                </a:rPr>
                <a:t>VC</a:t>
              </a:r>
              <a:r>
                <a:rPr lang="ja-JP" altLang="en-US" sz="1200" dirty="0">
                  <a:solidFill>
                    <a:prstClr val="black"/>
                  </a:solidFill>
                  <a:latin typeface="+mn-ea"/>
                  <a:ea typeface="+mn-ea"/>
                  <a:cs typeface="Arial" charset="0"/>
                </a:rPr>
                <a:t>の送付</a:t>
              </a:r>
              <a:endParaRPr lang="en-US" altLang="ja-JP" sz="1200" dirty="0">
                <a:solidFill>
                  <a:prstClr val="black"/>
                </a:solidFill>
                <a:latin typeface="+mn-ea"/>
                <a:ea typeface="+mn-ea"/>
                <a:cs typeface="Arial" charset="0"/>
              </a:endParaRPr>
            </a:p>
          </p:txBody>
        </p:sp>
        <p:sp>
          <p:nvSpPr>
            <p:cNvPr id="79" name="テキスト ボックス 78">
              <a:extLst>
                <a:ext uri="{FF2B5EF4-FFF2-40B4-BE49-F238E27FC236}">
                  <a16:creationId xmlns:a16="http://schemas.microsoft.com/office/drawing/2014/main" id="{7C2F436C-B3DB-0736-B386-28825AE9BF32}"/>
                </a:ext>
              </a:extLst>
            </p:cNvPr>
            <p:cNvSpPr txBox="1"/>
            <p:nvPr/>
          </p:nvSpPr>
          <p:spPr bwMode="gray">
            <a:xfrm>
              <a:off x="2513729" y="3791462"/>
              <a:ext cx="624789" cy="507670"/>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mn-ea"/>
                  <a:ea typeface="+mn-ea"/>
                  <a:cs typeface="Arial" charset="0"/>
                </a:rPr>
                <a:t>VP</a:t>
              </a:r>
              <a:r>
                <a:rPr lang="ja-JP" altLang="en-US" sz="1200" dirty="0">
                  <a:solidFill>
                    <a:prstClr val="black"/>
                  </a:solidFill>
                  <a:latin typeface="+mn-ea"/>
                  <a:ea typeface="+mn-ea"/>
                  <a:cs typeface="Arial" charset="0"/>
                </a:rPr>
                <a:t>の送付</a:t>
              </a:r>
              <a:endParaRPr lang="en-US" altLang="ja-JP" sz="1200" dirty="0">
                <a:solidFill>
                  <a:prstClr val="black"/>
                </a:solidFill>
                <a:latin typeface="+mn-ea"/>
                <a:ea typeface="+mn-ea"/>
                <a:cs typeface="Arial" charset="0"/>
              </a:endParaRPr>
            </a:p>
          </p:txBody>
        </p:sp>
        <p:sp>
          <p:nvSpPr>
            <p:cNvPr id="80" name="四角形: 角を丸くする 79">
              <a:extLst>
                <a:ext uri="{FF2B5EF4-FFF2-40B4-BE49-F238E27FC236}">
                  <a16:creationId xmlns:a16="http://schemas.microsoft.com/office/drawing/2014/main" id="{1CD9C58F-0F1A-364F-1387-D944229F452C}"/>
                </a:ext>
              </a:extLst>
            </p:cNvPr>
            <p:cNvSpPr/>
            <p:nvPr/>
          </p:nvSpPr>
          <p:spPr bwMode="gray">
            <a:xfrm>
              <a:off x="7413056" y="3162929"/>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Holder</a:t>
              </a:r>
              <a:endParaRPr lang="ja-JP" altLang="en-US" sz="1200">
                <a:solidFill>
                  <a:prstClr val="black"/>
                </a:solidFill>
                <a:latin typeface="+mn-ea"/>
                <a:ea typeface="+mn-ea"/>
                <a:cs typeface="Arial" charset="0"/>
              </a:endParaRPr>
            </a:p>
          </p:txBody>
        </p:sp>
        <p:sp>
          <p:nvSpPr>
            <p:cNvPr id="81" name="四角形: 角を丸くする 80">
              <a:extLst>
                <a:ext uri="{FF2B5EF4-FFF2-40B4-BE49-F238E27FC236}">
                  <a16:creationId xmlns:a16="http://schemas.microsoft.com/office/drawing/2014/main" id="{C347299A-01E4-AE8D-D948-0732EAC4C77A}"/>
                </a:ext>
              </a:extLst>
            </p:cNvPr>
            <p:cNvSpPr/>
            <p:nvPr/>
          </p:nvSpPr>
          <p:spPr bwMode="gray">
            <a:xfrm>
              <a:off x="6649611" y="4264817"/>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Issuer</a:t>
              </a:r>
              <a:endParaRPr lang="ja-JP" altLang="en-US" sz="1200">
                <a:solidFill>
                  <a:prstClr val="black"/>
                </a:solidFill>
                <a:latin typeface="+mn-ea"/>
                <a:ea typeface="+mn-ea"/>
                <a:cs typeface="Arial" charset="0"/>
              </a:endParaRPr>
            </a:p>
          </p:txBody>
        </p:sp>
        <p:sp>
          <p:nvSpPr>
            <p:cNvPr id="82" name="四角形: 角を丸くする 81">
              <a:extLst>
                <a:ext uri="{FF2B5EF4-FFF2-40B4-BE49-F238E27FC236}">
                  <a16:creationId xmlns:a16="http://schemas.microsoft.com/office/drawing/2014/main" id="{E59355D1-C604-E987-2CBC-62334DF28440}"/>
                </a:ext>
              </a:extLst>
            </p:cNvPr>
            <p:cNvSpPr/>
            <p:nvPr/>
          </p:nvSpPr>
          <p:spPr bwMode="gray">
            <a:xfrm>
              <a:off x="8192044" y="4263731"/>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Verifier</a:t>
              </a:r>
              <a:endParaRPr lang="ja-JP" altLang="en-US" sz="1200">
                <a:solidFill>
                  <a:prstClr val="black"/>
                </a:solidFill>
                <a:latin typeface="+mn-ea"/>
                <a:ea typeface="+mn-ea"/>
                <a:cs typeface="Arial" charset="0"/>
              </a:endParaRPr>
            </a:p>
          </p:txBody>
        </p:sp>
        <p:cxnSp>
          <p:nvCxnSpPr>
            <p:cNvPr id="83" name="直線矢印コネクタ 82">
              <a:extLst>
                <a:ext uri="{FF2B5EF4-FFF2-40B4-BE49-F238E27FC236}">
                  <a16:creationId xmlns:a16="http://schemas.microsoft.com/office/drawing/2014/main" id="{7A2C1A0C-0EDB-F193-778F-4C542F8F3AD3}"/>
                </a:ext>
              </a:extLst>
            </p:cNvPr>
            <p:cNvCxnSpPr>
              <a:cxnSpLocks/>
              <a:stCxn id="81" idx="0"/>
            </p:cNvCxnSpPr>
            <p:nvPr/>
          </p:nvCxnSpPr>
          <p:spPr bwMode="gray">
            <a:xfrm flipV="1">
              <a:off x="7174397" y="3791462"/>
              <a:ext cx="524786" cy="473355"/>
            </a:xfrm>
            <a:prstGeom prst="straightConnector1">
              <a:avLst/>
            </a:prstGeom>
            <a:noFill/>
            <a:ln w="12700" cap="flat" cmpd="sng" algn="ctr">
              <a:solidFill>
                <a:srgbClr val="53565A"/>
              </a:solidFill>
              <a:prstDash val="solid"/>
              <a:tailEnd type="triangle"/>
            </a:ln>
            <a:effectLst/>
          </p:spPr>
        </p:cxnSp>
        <p:cxnSp>
          <p:nvCxnSpPr>
            <p:cNvPr id="84" name="直線矢印コネクタ 83">
              <a:extLst>
                <a:ext uri="{FF2B5EF4-FFF2-40B4-BE49-F238E27FC236}">
                  <a16:creationId xmlns:a16="http://schemas.microsoft.com/office/drawing/2014/main" id="{00EC2531-B7C5-3C41-01C0-A158216DED29}"/>
                </a:ext>
              </a:extLst>
            </p:cNvPr>
            <p:cNvCxnSpPr>
              <a:cxnSpLocks/>
              <a:endCxn id="82" idx="0"/>
            </p:cNvCxnSpPr>
            <p:nvPr/>
          </p:nvCxnSpPr>
          <p:spPr bwMode="gray">
            <a:xfrm>
              <a:off x="8413718" y="3802656"/>
              <a:ext cx="303112" cy="461075"/>
            </a:xfrm>
            <a:prstGeom prst="straightConnector1">
              <a:avLst/>
            </a:prstGeom>
            <a:noFill/>
            <a:ln w="12700" cap="flat" cmpd="sng" algn="ctr">
              <a:solidFill>
                <a:srgbClr val="53565A"/>
              </a:solidFill>
              <a:prstDash val="solid"/>
              <a:tailEnd type="triangle"/>
            </a:ln>
            <a:effectLst/>
          </p:spPr>
        </p:cxnSp>
        <p:cxnSp>
          <p:nvCxnSpPr>
            <p:cNvPr id="85" name="コネクタ: カギ線 84">
              <a:extLst>
                <a:ext uri="{FF2B5EF4-FFF2-40B4-BE49-F238E27FC236}">
                  <a16:creationId xmlns:a16="http://schemas.microsoft.com/office/drawing/2014/main" id="{E82EE0A5-1564-5655-BAE6-71092DA61A31}"/>
                </a:ext>
              </a:extLst>
            </p:cNvPr>
            <p:cNvCxnSpPr>
              <a:stCxn id="81" idx="2"/>
              <a:endCxn id="82" idx="2"/>
            </p:cNvCxnSpPr>
            <p:nvPr/>
          </p:nvCxnSpPr>
          <p:spPr bwMode="gray">
            <a:xfrm rot="5400000" flipH="1" flipV="1">
              <a:off x="7945070" y="4145064"/>
              <a:ext cx="1086" cy="1542433"/>
            </a:xfrm>
            <a:prstGeom prst="bentConnector3">
              <a:avLst>
                <a:gd name="adj1" fmla="val -49817864"/>
              </a:avLst>
            </a:prstGeom>
            <a:noFill/>
            <a:ln w="12700" cap="flat" cmpd="sng" algn="ctr">
              <a:solidFill>
                <a:srgbClr val="53565A"/>
              </a:solidFill>
              <a:prstDash val="solid"/>
              <a:tailEnd type="triangle"/>
            </a:ln>
            <a:effectLst/>
          </p:spPr>
        </p:cxnSp>
        <p:sp>
          <p:nvSpPr>
            <p:cNvPr id="86" name="四角形: 角を丸くする 85">
              <a:extLst>
                <a:ext uri="{FF2B5EF4-FFF2-40B4-BE49-F238E27FC236}">
                  <a16:creationId xmlns:a16="http://schemas.microsoft.com/office/drawing/2014/main" id="{10828DB1-03A5-F5AF-4451-C62AEA41FEE3}"/>
                </a:ext>
              </a:extLst>
            </p:cNvPr>
            <p:cNvSpPr/>
            <p:nvPr/>
          </p:nvSpPr>
          <p:spPr bwMode="gray">
            <a:xfrm>
              <a:off x="7478054" y="5197336"/>
              <a:ext cx="1049572" cy="652007"/>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DID</a:t>
              </a:r>
            </a:p>
            <a:p>
              <a:pPr algn="ctr" defTabSz="990564" eaLnBrk="1" fontAlgn="auto" hangingPunct="1">
                <a:spcBef>
                  <a:spcPts val="0"/>
                </a:spcBef>
                <a:spcAft>
                  <a:spcPts val="0"/>
                </a:spcAft>
                <a:buSzPct val="100000"/>
                <a:buFont typeface="Wingdings" panose="05000000000000000000" pitchFamily="2" charset="2"/>
                <a:buNone/>
              </a:pPr>
              <a:r>
                <a:rPr lang="en-US" altLang="ja-JP" sz="1200">
                  <a:solidFill>
                    <a:prstClr val="black"/>
                  </a:solidFill>
                  <a:latin typeface="+mn-ea"/>
                  <a:ea typeface="+mn-ea"/>
                  <a:cs typeface="Arial" charset="0"/>
                </a:rPr>
                <a:t>Document</a:t>
              </a:r>
              <a:endParaRPr lang="ja-JP" altLang="en-US" sz="1200">
                <a:solidFill>
                  <a:prstClr val="black"/>
                </a:solidFill>
                <a:latin typeface="+mn-ea"/>
                <a:ea typeface="+mn-ea"/>
                <a:cs typeface="Arial" charset="0"/>
              </a:endParaRPr>
            </a:p>
          </p:txBody>
        </p:sp>
        <p:sp>
          <p:nvSpPr>
            <p:cNvPr id="87" name="テキスト ボックス 86">
              <a:extLst>
                <a:ext uri="{FF2B5EF4-FFF2-40B4-BE49-F238E27FC236}">
                  <a16:creationId xmlns:a16="http://schemas.microsoft.com/office/drawing/2014/main" id="{7FF44312-5435-17D6-60AA-26343F8AD346}"/>
                </a:ext>
              </a:extLst>
            </p:cNvPr>
            <p:cNvSpPr txBox="1"/>
            <p:nvPr/>
          </p:nvSpPr>
          <p:spPr bwMode="gray">
            <a:xfrm>
              <a:off x="8838142" y="4989296"/>
              <a:ext cx="307777"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mn-ea"/>
                  <a:ea typeface="+mn-ea"/>
                  <a:cs typeface="Arial" charset="0"/>
                </a:rPr>
                <a:t>確認</a:t>
              </a:r>
            </a:p>
          </p:txBody>
        </p:sp>
        <p:sp>
          <p:nvSpPr>
            <p:cNvPr id="88" name="テキスト ボックス 87">
              <a:extLst>
                <a:ext uri="{FF2B5EF4-FFF2-40B4-BE49-F238E27FC236}">
                  <a16:creationId xmlns:a16="http://schemas.microsoft.com/office/drawing/2014/main" id="{C10F0A42-1004-9417-8C32-52741895B68F}"/>
                </a:ext>
              </a:extLst>
            </p:cNvPr>
            <p:cNvSpPr txBox="1"/>
            <p:nvPr/>
          </p:nvSpPr>
          <p:spPr bwMode="gray">
            <a:xfrm>
              <a:off x="6828175" y="4976193"/>
              <a:ext cx="307777"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mn-ea"/>
                  <a:ea typeface="+mn-ea"/>
                  <a:cs typeface="Arial" charset="0"/>
                </a:rPr>
                <a:t>送信</a:t>
              </a:r>
            </a:p>
          </p:txBody>
        </p:sp>
        <p:sp>
          <p:nvSpPr>
            <p:cNvPr id="89" name="テキスト ボックス 88">
              <a:extLst>
                <a:ext uri="{FF2B5EF4-FFF2-40B4-BE49-F238E27FC236}">
                  <a16:creationId xmlns:a16="http://schemas.microsoft.com/office/drawing/2014/main" id="{95E30DA7-DB52-5950-D4EA-8212CCF99D94}"/>
                </a:ext>
              </a:extLst>
            </p:cNvPr>
            <p:cNvSpPr txBox="1"/>
            <p:nvPr/>
          </p:nvSpPr>
          <p:spPr bwMode="gray">
            <a:xfrm>
              <a:off x="6623210" y="3791462"/>
              <a:ext cx="624059"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mn-ea"/>
                  <a:ea typeface="+mn-ea"/>
                  <a:cs typeface="Arial" charset="0"/>
                </a:rPr>
                <a:t>VC</a:t>
              </a:r>
              <a:r>
                <a:rPr lang="ja-JP" altLang="en-US" sz="1200" dirty="0">
                  <a:solidFill>
                    <a:prstClr val="black"/>
                  </a:solidFill>
                  <a:latin typeface="+mn-ea"/>
                  <a:ea typeface="+mn-ea"/>
                  <a:cs typeface="Arial" charset="0"/>
                </a:rPr>
                <a:t>の送付</a:t>
              </a:r>
              <a:endParaRPr lang="en-US" altLang="ja-JP" sz="1200" dirty="0">
                <a:solidFill>
                  <a:prstClr val="black"/>
                </a:solidFill>
                <a:latin typeface="+mn-ea"/>
                <a:ea typeface="+mn-ea"/>
                <a:cs typeface="Arial" charset="0"/>
              </a:endParaRPr>
            </a:p>
          </p:txBody>
        </p:sp>
        <p:sp>
          <p:nvSpPr>
            <p:cNvPr id="90" name="テキスト ボックス 89">
              <a:extLst>
                <a:ext uri="{FF2B5EF4-FFF2-40B4-BE49-F238E27FC236}">
                  <a16:creationId xmlns:a16="http://schemas.microsoft.com/office/drawing/2014/main" id="{B23E5755-44D3-9DE5-95C6-156E10A994EE}"/>
                </a:ext>
              </a:extLst>
            </p:cNvPr>
            <p:cNvSpPr txBox="1"/>
            <p:nvPr/>
          </p:nvSpPr>
          <p:spPr bwMode="gray">
            <a:xfrm>
              <a:off x="8703912" y="3767599"/>
              <a:ext cx="641701"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dirty="0">
                  <a:solidFill>
                    <a:prstClr val="black"/>
                  </a:solidFill>
                  <a:latin typeface="+mn-ea"/>
                  <a:ea typeface="+mn-ea"/>
                  <a:cs typeface="Arial" charset="0"/>
                </a:rPr>
                <a:t>VP</a:t>
              </a:r>
              <a:r>
                <a:rPr lang="ja-JP" altLang="en-US" sz="1200" dirty="0">
                  <a:solidFill>
                    <a:prstClr val="black"/>
                  </a:solidFill>
                  <a:latin typeface="+mn-ea"/>
                  <a:ea typeface="+mn-ea"/>
                  <a:cs typeface="Arial" charset="0"/>
                </a:rPr>
                <a:t>の送付</a:t>
              </a:r>
              <a:endParaRPr lang="en-US" altLang="ja-JP" sz="1200" dirty="0">
                <a:solidFill>
                  <a:prstClr val="black"/>
                </a:solidFill>
                <a:latin typeface="+mn-ea"/>
                <a:ea typeface="+mn-ea"/>
                <a:cs typeface="Arial" charset="0"/>
              </a:endParaRPr>
            </a:p>
          </p:txBody>
        </p:sp>
        <p:cxnSp>
          <p:nvCxnSpPr>
            <p:cNvPr id="91" name="直線矢印コネクタ 90">
              <a:extLst>
                <a:ext uri="{FF2B5EF4-FFF2-40B4-BE49-F238E27FC236}">
                  <a16:creationId xmlns:a16="http://schemas.microsoft.com/office/drawing/2014/main" id="{6DFD9842-5574-1E80-4EF6-3086CD0713DD}"/>
                </a:ext>
              </a:extLst>
            </p:cNvPr>
            <p:cNvCxnSpPr>
              <a:stCxn id="82" idx="1"/>
              <a:endCxn id="81" idx="3"/>
            </p:cNvCxnSpPr>
            <p:nvPr/>
          </p:nvCxnSpPr>
          <p:spPr bwMode="gray">
            <a:xfrm flipH="1">
              <a:off x="7699183" y="4589735"/>
              <a:ext cx="492861" cy="1086"/>
            </a:xfrm>
            <a:prstGeom prst="straightConnector1">
              <a:avLst/>
            </a:prstGeom>
            <a:noFill/>
            <a:ln w="12700" cap="flat" cmpd="sng" algn="ctr">
              <a:solidFill>
                <a:srgbClr val="53565A"/>
              </a:solidFill>
              <a:prstDash val="solid"/>
              <a:tailEnd type="triangle"/>
            </a:ln>
            <a:effectLst/>
          </p:spPr>
        </p:cxnSp>
        <p:sp>
          <p:nvSpPr>
            <p:cNvPr id="92" name="テキスト ボックス 91">
              <a:extLst>
                <a:ext uri="{FF2B5EF4-FFF2-40B4-BE49-F238E27FC236}">
                  <a16:creationId xmlns:a16="http://schemas.microsoft.com/office/drawing/2014/main" id="{22EAB7AC-36B7-77BA-C20D-B0D772AEF6FC}"/>
                </a:ext>
              </a:extLst>
            </p:cNvPr>
            <p:cNvSpPr txBox="1"/>
            <p:nvPr/>
          </p:nvSpPr>
          <p:spPr bwMode="gray">
            <a:xfrm>
              <a:off x="7826629" y="4352138"/>
              <a:ext cx="307777" cy="253835"/>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a:solidFill>
                    <a:prstClr val="black"/>
                  </a:solidFill>
                  <a:latin typeface="+mn-ea"/>
                  <a:ea typeface="+mn-ea"/>
                  <a:cs typeface="Arial" charset="0"/>
                </a:rPr>
                <a:t>要求</a:t>
              </a:r>
            </a:p>
          </p:txBody>
        </p:sp>
      </p:grpSp>
      <p:sp>
        <p:nvSpPr>
          <p:cNvPr id="93" name="正方形/長方形 92">
            <a:extLst>
              <a:ext uri="{FF2B5EF4-FFF2-40B4-BE49-F238E27FC236}">
                <a16:creationId xmlns:a16="http://schemas.microsoft.com/office/drawing/2014/main" id="{23CD24BB-4852-FF1E-510E-11EF6CBEC7F6}"/>
              </a:ext>
            </a:extLst>
          </p:cNvPr>
          <p:cNvSpPr/>
          <p:nvPr/>
        </p:nvSpPr>
        <p:spPr bwMode="gray">
          <a:xfrm>
            <a:off x="416496" y="1484313"/>
            <a:ext cx="2897072" cy="277476"/>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①ブロックチェーン</a:t>
            </a:r>
          </a:p>
        </p:txBody>
      </p:sp>
      <p:sp>
        <p:nvSpPr>
          <p:cNvPr id="94" name="正方形/長方形 93">
            <a:extLst>
              <a:ext uri="{FF2B5EF4-FFF2-40B4-BE49-F238E27FC236}">
                <a16:creationId xmlns:a16="http://schemas.microsoft.com/office/drawing/2014/main" id="{568FE1E2-8401-9C9B-317F-D997A2FB690C}"/>
              </a:ext>
            </a:extLst>
          </p:cNvPr>
          <p:cNvSpPr/>
          <p:nvPr/>
        </p:nvSpPr>
        <p:spPr bwMode="gray">
          <a:xfrm>
            <a:off x="3504464" y="1484313"/>
            <a:ext cx="2897072" cy="277476"/>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②</a:t>
            </a:r>
            <a:r>
              <a:rPr kumimoji="0" lang="en-US" altLang="ja-JP" sz="1400" b="0" i="0" u="none" strike="noStrike" kern="0" cap="none" spc="0" normalizeH="0" baseline="0" noProof="0">
                <a:ln>
                  <a:noFill/>
                </a:ln>
                <a:solidFill>
                  <a:prstClr val="white"/>
                </a:solidFill>
                <a:effectLst/>
                <a:uLnTx/>
                <a:uFillTx/>
                <a:latin typeface="Calibri Light"/>
                <a:ea typeface="Yu Gothic UI"/>
                <a:cs typeface="Arial" charset="0"/>
              </a:rPr>
              <a:t>WEB</a:t>
            </a: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サーバ</a:t>
            </a:r>
          </a:p>
        </p:txBody>
      </p:sp>
      <p:sp>
        <p:nvSpPr>
          <p:cNvPr id="95" name="正方形/長方形 94">
            <a:extLst>
              <a:ext uri="{FF2B5EF4-FFF2-40B4-BE49-F238E27FC236}">
                <a16:creationId xmlns:a16="http://schemas.microsoft.com/office/drawing/2014/main" id="{58A61FB7-9E74-D1DD-D63C-3D7487B8DBD6}"/>
              </a:ext>
            </a:extLst>
          </p:cNvPr>
          <p:cNvSpPr/>
          <p:nvPr/>
        </p:nvSpPr>
        <p:spPr bwMode="gray">
          <a:xfrm>
            <a:off x="6593003" y="1484313"/>
            <a:ext cx="2897072" cy="277476"/>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Yu Gothic UI"/>
                <a:ea typeface="Yu Gothic UI"/>
                <a:cs typeface="Arial" charset="0"/>
              </a:rPr>
              <a:t>③</a:t>
            </a:r>
            <a:r>
              <a:rPr kumimoji="0" lang="en-US" altLang="ja-JP" sz="1400" b="0" i="0" u="none" strike="noStrike" kern="0" cap="none" spc="0" normalizeH="0" baseline="0" noProof="0">
                <a:ln>
                  <a:noFill/>
                </a:ln>
                <a:solidFill>
                  <a:prstClr val="white"/>
                </a:solidFill>
                <a:effectLst/>
                <a:uLnTx/>
                <a:uFillTx/>
                <a:latin typeface="Yu Gothic UI"/>
                <a:ea typeface="Yu Gothic UI"/>
                <a:cs typeface="Arial" charset="0"/>
              </a:rPr>
              <a:t>P2P</a:t>
            </a:r>
            <a:r>
              <a:rPr kumimoji="0" lang="ja-JP" altLang="en-US" sz="1400" b="0" i="0" u="none" strike="noStrike" kern="0" cap="none" spc="0" normalizeH="0" baseline="0" noProof="0">
                <a:ln>
                  <a:noFill/>
                </a:ln>
                <a:solidFill>
                  <a:prstClr val="white"/>
                </a:solidFill>
                <a:effectLst/>
                <a:uLnTx/>
                <a:uFillTx/>
                <a:latin typeface="Yu Gothic UI"/>
                <a:ea typeface="Yu Gothic UI"/>
                <a:cs typeface="Arial" charset="0"/>
              </a:rPr>
              <a:t>通信</a:t>
            </a:r>
          </a:p>
        </p:txBody>
      </p:sp>
      <p:sp>
        <p:nvSpPr>
          <p:cNvPr id="96" name="テキスト ボックス 95">
            <a:extLst>
              <a:ext uri="{FF2B5EF4-FFF2-40B4-BE49-F238E27FC236}">
                <a16:creationId xmlns:a16="http://schemas.microsoft.com/office/drawing/2014/main" id="{5788D386-10DD-BCCC-E631-824E625A0964}"/>
              </a:ext>
            </a:extLst>
          </p:cNvPr>
          <p:cNvSpPr txBox="1"/>
          <p:nvPr/>
        </p:nvSpPr>
        <p:spPr bwMode="gray">
          <a:xfrm>
            <a:off x="3504465" y="1797296"/>
            <a:ext cx="2897071" cy="1023647"/>
          </a:xfrm>
          <a:prstGeom prst="rect">
            <a:avLst/>
          </a:prstGeom>
          <a:noFill/>
        </p:spPr>
        <p:txBody>
          <a:bodyPr wrap="square" lIns="0" tIns="0" rIns="0" bIns="0" rtlCol="0">
            <a:noAutofit/>
          </a:bodyPr>
          <a:lstStyle/>
          <a:p>
            <a:pPr marL="171450" indent="-171450" defTabSz="990564" eaLnBrk="1" fontAlgn="auto" hangingPunct="1">
              <a:spcBef>
                <a:spcPts val="0"/>
              </a:spcBef>
              <a:spcAft>
                <a:spcPts val="0"/>
              </a:spcAft>
              <a:buSzPct val="100000"/>
              <a:buFont typeface="Arial" panose="020B0604020202020204" pitchFamily="34" charset="0"/>
              <a:buChar char="•"/>
            </a:pPr>
            <a:r>
              <a:rPr lang="en-US" altLang="ja-JP" sz="1200">
                <a:solidFill>
                  <a:prstClr val="black"/>
                </a:solidFill>
                <a:latin typeface="+mn-ea"/>
                <a:ea typeface="+mn-ea"/>
                <a:cs typeface="Arial" charset="0"/>
              </a:rPr>
              <a:t>Issuer</a:t>
            </a:r>
            <a:r>
              <a:rPr lang="ja-JP" altLang="en-US" sz="1200">
                <a:solidFill>
                  <a:prstClr val="black"/>
                </a:solidFill>
                <a:latin typeface="+mn-ea"/>
                <a:ea typeface="+mn-ea"/>
                <a:cs typeface="Arial" charset="0"/>
              </a:rPr>
              <a:t>が特定の</a:t>
            </a:r>
            <a:r>
              <a:rPr lang="en-US" altLang="ja-JP" sz="1200" err="1">
                <a:solidFill>
                  <a:prstClr val="black"/>
                </a:solidFill>
                <a:latin typeface="+mn-ea"/>
                <a:ea typeface="+mn-ea"/>
                <a:cs typeface="Arial" charset="0"/>
              </a:rPr>
              <a:t>WebServer</a:t>
            </a:r>
            <a:r>
              <a:rPr lang="ja-JP" altLang="en-US" sz="1200">
                <a:solidFill>
                  <a:prstClr val="black"/>
                </a:solidFill>
                <a:latin typeface="+mn-ea"/>
                <a:ea typeface="+mn-ea"/>
                <a:cs typeface="Arial" charset="0"/>
              </a:rPr>
              <a:t>に公開鍵を含む</a:t>
            </a:r>
            <a:r>
              <a:rPr lang="en-US" altLang="ja-JP" sz="1200">
                <a:solidFill>
                  <a:prstClr val="black"/>
                </a:solidFill>
                <a:latin typeface="+mn-ea"/>
                <a:ea typeface="+mn-ea"/>
                <a:cs typeface="Arial" charset="0"/>
              </a:rPr>
              <a:t>DID Document</a:t>
            </a:r>
            <a:r>
              <a:rPr lang="ja-JP" altLang="en-US" sz="1200">
                <a:solidFill>
                  <a:prstClr val="black"/>
                </a:solidFill>
                <a:latin typeface="+mn-ea"/>
                <a:ea typeface="+mn-ea"/>
                <a:cs typeface="Arial" charset="0"/>
              </a:rPr>
              <a:t>を保存し、</a:t>
            </a:r>
            <a:r>
              <a:rPr lang="en-US" altLang="ja-JP" sz="1200">
                <a:solidFill>
                  <a:prstClr val="black"/>
                </a:solidFill>
                <a:latin typeface="+mn-ea"/>
                <a:ea typeface="+mn-ea"/>
                <a:cs typeface="Arial" charset="0"/>
              </a:rPr>
              <a:t>Verifier</a:t>
            </a:r>
            <a:r>
              <a:rPr lang="ja-JP" altLang="en-US" sz="1200">
                <a:solidFill>
                  <a:prstClr val="black"/>
                </a:solidFill>
                <a:latin typeface="+mn-ea"/>
                <a:ea typeface="+mn-ea"/>
                <a:cs typeface="Arial" charset="0"/>
              </a:rPr>
              <a:t>はそこを参照して</a:t>
            </a:r>
            <a:r>
              <a:rPr lang="en-US" altLang="ja-JP" sz="1200">
                <a:solidFill>
                  <a:prstClr val="black"/>
                </a:solidFill>
                <a:latin typeface="+mn-ea"/>
                <a:ea typeface="+mn-ea"/>
                <a:cs typeface="Arial" charset="0"/>
              </a:rPr>
              <a:t>VC</a:t>
            </a:r>
            <a:r>
              <a:rPr lang="ja-JP" altLang="en-US" sz="1200">
                <a:solidFill>
                  <a:prstClr val="black"/>
                </a:solidFill>
                <a:latin typeface="+mn-ea"/>
                <a:ea typeface="+mn-ea"/>
                <a:cs typeface="Arial" charset="0"/>
              </a:rPr>
              <a:t>の真正性を確認</a:t>
            </a:r>
            <a:endParaRPr lang="en-US" altLang="ja-JP" sz="1200">
              <a:solidFill>
                <a:prstClr val="black"/>
              </a:solidFill>
              <a:latin typeface="+mn-ea"/>
              <a:ea typeface="+mn-ea"/>
              <a:cs typeface="Arial" charset="0"/>
            </a:endParaRPr>
          </a:p>
          <a:p>
            <a:pPr marL="171450" indent="-171450" defTabSz="990564" eaLnBrk="1" fontAlgn="auto" hangingPunct="1">
              <a:spcBef>
                <a:spcPts val="0"/>
              </a:spcBef>
              <a:spcAft>
                <a:spcPts val="0"/>
              </a:spcAft>
              <a:buSzPct val="100000"/>
              <a:buFont typeface="Arial" panose="020B0604020202020204" pitchFamily="34" charset="0"/>
              <a:buChar char="•"/>
            </a:pPr>
            <a:r>
              <a:rPr lang="en-US" altLang="ja-JP" sz="1200">
                <a:solidFill>
                  <a:prstClr val="black"/>
                </a:solidFill>
                <a:latin typeface="+mn-ea"/>
                <a:ea typeface="+mn-ea"/>
                <a:cs typeface="Arial" charset="0"/>
              </a:rPr>
              <a:t>Web</a:t>
            </a:r>
            <a:r>
              <a:rPr lang="ja-JP" altLang="en-US" sz="1200">
                <a:solidFill>
                  <a:prstClr val="black"/>
                </a:solidFill>
                <a:latin typeface="+mn-ea"/>
                <a:ea typeface="+mn-ea"/>
                <a:cs typeface="Arial" charset="0"/>
              </a:rPr>
              <a:t>サーバに格納された</a:t>
            </a:r>
            <a:r>
              <a:rPr lang="en-US" altLang="ja-JP" sz="1200">
                <a:solidFill>
                  <a:prstClr val="black"/>
                </a:solidFill>
                <a:latin typeface="+mn-ea"/>
                <a:ea typeface="+mn-ea"/>
                <a:cs typeface="Arial" charset="0"/>
              </a:rPr>
              <a:t>DID Document</a:t>
            </a:r>
            <a:r>
              <a:rPr lang="ja-JP" altLang="en-US" sz="1200">
                <a:solidFill>
                  <a:prstClr val="black"/>
                </a:solidFill>
                <a:latin typeface="+mn-ea"/>
                <a:ea typeface="+mn-ea"/>
                <a:cs typeface="Arial" charset="0"/>
              </a:rPr>
              <a:t>の耐改ざん性や可能性の担保が課題</a:t>
            </a:r>
          </a:p>
        </p:txBody>
      </p:sp>
      <p:sp>
        <p:nvSpPr>
          <p:cNvPr id="97" name="テキスト ボックス 96">
            <a:extLst>
              <a:ext uri="{FF2B5EF4-FFF2-40B4-BE49-F238E27FC236}">
                <a16:creationId xmlns:a16="http://schemas.microsoft.com/office/drawing/2014/main" id="{AA0BBB38-B2CA-3E12-584E-B5FFD54F0D89}"/>
              </a:ext>
            </a:extLst>
          </p:cNvPr>
          <p:cNvSpPr txBox="1"/>
          <p:nvPr/>
        </p:nvSpPr>
        <p:spPr bwMode="gray">
          <a:xfrm>
            <a:off x="6591929" y="1797296"/>
            <a:ext cx="2897071" cy="1023647"/>
          </a:xfrm>
          <a:prstGeom prst="rect">
            <a:avLst/>
          </a:prstGeom>
          <a:noFill/>
        </p:spPr>
        <p:txBody>
          <a:bodyPr wrap="square" lIns="0" tIns="0" rIns="0" bIns="0" rtlCol="0">
            <a:noAutofit/>
          </a:bodyPr>
          <a:lstStyle/>
          <a:p>
            <a:pPr marL="171450" indent="-171450" defTabSz="990564" eaLnBrk="1" fontAlgn="auto" hangingPunct="1">
              <a:spcBef>
                <a:spcPts val="0"/>
              </a:spcBef>
              <a:spcAft>
                <a:spcPts val="0"/>
              </a:spcAft>
              <a:buSzPct val="100000"/>
              <a:buFont typeface="Arial" panose="020B0604020202020204" pitchFamily="34" charset="0"/>
              <a:buChar char="•"/>
            </a:pPr>
            <a:r>
              <a:rPr lang="en-US" altLang="ja-JP" sz="1200" dirty="0">
                <a:solidFill>
                  <a:prstClr val="black"/>
                </a:solidFill>
                <a:latin typeface="+mn-ea"/>
                <a:ea typeface="+mn-ea"/>
                <a:cs typeface="Arial" charset="0"/>
              </a:rPr>
              <a:t>Verifier</a:t>
            </a:r>
            <a:r>
              <a:rPr lang="ja-JP" altLang="en-US" sz="1200" dirty="0">
                <a:solidFill>
                  <a:prstClr val="black"/>
                </a:solidFill>
                <a:latin typeface="+mn-ea"/>
                <a:ea typeface="+mn-ea"/>
                <a:cs typeface="Arial" charset="0"/>
              </a:rPr>
              <a:t>の要求に応じて</a:t>
            </a:r>
            <a:r>
              <a:rPr lang="en-US" altLang="ja-JP" sz="1200" dirty="0">
                <a:solidFill>
                  <a:prstClr val="black"/>
                </a:solidFill>
                <a:latin typeface="+mn-ea"/>
                <a:ea typeface="+mn-ea"/>
                <a:cs typeface="Arial" charset="0"/>
              </a:rPr>
              <a:t>Issuer</a:t>
            </a:r>
            <a:r>
              <a:rPr lang="ja-JP" altLang="en-US" sz="1200" dirty="0">
                <a:solidFill>
                  <a:prstClr val="black"/>
                </a:solidFill>
                <a:latin typeface="+mn-ea"/>
                <a:ea typeface="+mn-ea"/>
                <a:cs typeface="Arial" charset="0"/>
              </a:rPr>
              <a:t>が</a:t>
            </a:r>
            <a:r>
              <a:rPr lang="en-US" altLang="ja-JP" sz="1200" dirty="0">
                <a:solidFill>
                  <a:prstClr val="black"/>
                </a:solidFill>
                <a:latin typeface="+mn-ea"/>
                <a:ea typeface="+mn-ea"/>
                <a:cs typeface="Arial" charset="0"/>
              </a:rPr>
              <a:t>DID Document</a:t>
            </a:r>
            <a:r>
              <a:rPr lang="ja-JP" altLang="en-US" sz="1200" dirty="0">
                <a:solidFill>
                  <a:prstClr val="black"/>
                </a:solidFill>
                <a:latin typeface="+mn-ea"/>
                <a:ea typeface="+mn-ea"/>
                <a:cs typeface="Arial" charset="0"/>
              </a:rPr>
              <a:t>を直接送信</a:t>
            </a:r>
            <a:endParaRPr lang="en-US" altLang="ja-JP" sz="1200" dirty="0">
              <a:solidFill>
                <a:prstClr val="black"/>
              </a:solidFill>
              <a:latin typeface="+mn-ea"/>
              <a:ea typeface="+mn-ea"/>
              <a:cs typeface="Arial" charset="0"/>
            </a:endParaRPr>
          </a:p>
          <a:p>
            <a:pPr marL="171450" indent="-171450" defTabSz="990564" eaLnBrk="1" fontAlgn="auto" hangingPunct="1">
              <a:spcBef>
                <a:spcPts val="0"/>
              </a:spcBef>
              <a:spcAft>
                <a:spcPts val="0"/>
              </a:spcAft>
              <a:buSzPct val="100000"/>
              <a:buFont typeface="Arial" panose="020B0604020202020204" pitchFamily="34" charset="0"/>
              <a:buChar char="•"/>
            </a:pPr>
            <a:r>
              <a:rPr lang="ja-JP" altLang="en-US" sz="1200" dirty="0">
                <a:solidFill>
                  <a:prstClr val="black"/>
                </a:solidFill>
                <a:latin typeface="+mn-ea"/>
                <a:ea typeface="+mn-ea"/>
                <a:cs typeface="Arial" charset="0"/>
              </a:rPr>
              <a:t>直接送付するため秘匿性は高い</a:t>
            </a:r>
            <a:br>
              <a:rPr lang="en-US" altLang="ja-JP" sz="1200" dirty="0">
                <a:solidFill>
                  <a:prstClr val="black"/>
                </a:solidFill>
                <a:latin typeface="+mn-ea"/>
                <a:ea typeface="+mn-ea"/>
                <a:cs typeface="Arial" charset="0"/>
              </a:rPr>
            </a:br>
            <a:r>
              <a:rPr lang="ja-JP" altLang="en-US" sz="1200" dirty="0">
                <a:solidFill>
                  <a:prstClr val="black"/>
                </a:solidFill>
                <a:latin typeface="+mn-ea"/>
                <a:ea typeface="+mn-ea"/>
                <a:cs typeface="Arial" charset="0"/>
              </a:rPr>
              <a:t>（</a:t>
            </a:r>
            <a:r>
              <a:rPr lang="en-US" altLang="ja-JP" sz="1200" dirty="0">
                <a:solidFill>
                  <a:prstClr val="black"/>
                </a:solidFill>
                <a:latin typeface="+mn-ea"/>
                <a:ea typeface="+mn-ea"/>
                <a:cs typeface="Arial" charset="0"/>
              </a:rPr>
              <a:t>DID Document</a:t>
            </a:r>
            <a:r>
              <a:rPr lang="ja-JP" altLang="en-US" sz="1200" dirty="0">
                <a:solidFill>
                  <a:prstClr val="black"/>
                </a:solidFill>
                <a:latin typeface="+mn-ea"/>
                <a:ea typeface="+mn-ea"/>
                <a:cs typeface="Arial" charset="0"/>
              </a:rPr>
              <a:t>に秘匿性の高い情報を載せる場合等には有効）</a:t>
            </a:r>
            <a:endParaRPr lang="en-US" altLang="ja-JP" sz="1200" dirty="0">
              <a:solidFill>
                <a:prstClr val="black"/>
              </a:solidFill>
              <a:latin typeface="+mn-ea"/>
              <a:ea typeface="+mn-ea"/>
              <a:cs typeface="Arial" charset="0"/>
            </a:endParaRPr>
          </a:p>
          <a:p>
            <a:pPr marL="171450" indent="-171450" defTabSz="990564" eaLnBrk="1" fontAlgn="auto" hangingPunct="1">
              <a:spcBef>
                <a:spcPts val="0"/>
              </a:spcBef>
              <a:spcAft>
                <a:spcPts val="0"/>
              </a:spcAft>
              <a:buSzPct val="100000"/>
              <a:buFont typeface="Arial" panose="020B0604020202020204" pitchFamily="34" charset="0"/>
              <a:buChar char="•"/>
            </a:pPr>
            <a:r>
              <a:rPr lang="ja-JP" altLang="en-US" sz="1200" dirty="0">
                <a:solidFill>
                  <a:prstClr val="black"/>
                </a:solidFill>
                <a:latin typeface="+mn-ea"/>
                <a:ea typeface="+mn-ea"/>
                <a:cs typeface="Arial" charset="0"/>
              </a:rPr>
              <a:t>送信方法にも依存するが、方法は複数存在し確立していない（メール、</a:t>
            </a:r>
            <a:r>
              <a:rPr lang="en-US" altLang="ja-JP" sz="1200" dirty="0">
                <a:solidFill>
                  <a:prstClr val="black"/>
                </a:solidFill>
                <a:latin typeface="+mn-ea"/>
                <a:ea typeface="+mn-ea"/>
                <a:cs typeface="Arial" charset="0"/>
              </a:rPr>
              <a:t>FTP...</a:t>
            </a:r>
            <a:r>
              <a:rPr lang="ja-JP" altLang="en-US" sz="1200" dirty="0">
                <a:solidFill>
                  <a:prstClr val="black"/>
                </a:solidFill>
                <a:latin typeface="+mn-ea"/>
                <a:ea typeface="+mn-ea"/>
                <a:cs typeface="Arial" charset="0"/>
              </a:rPr>
              <a:t>）</a:t>
            </a:r>
          </a:p>
        </p:txBody>
      </p:sp>
      <p:sp>
        <p:nvSpPr>
          <p:cNvPr id="101" name="コンテンツ プレースホルダー 2">
            <a:extLst>
              <a:ext uri="{FF2B5EF4-FFF2-40B4-BE49-F238E27FC236}">
                <a16:creationId xmlns:a16="http://schemas.microsoft.com/office/drawing/2014/main" id="{98E5D555-A8B3-8BCB-6FF2-2A256FD795C1}"/>
              </a:ext>
            </a:extLst>
          </p:cNvPr>
          <p:cNvSpPr txBox="1">
            <a:spLocks/>
          </p:cNvSpPr>
          <p:nvPr/>
        </p:nvSpPr>
        <p:spPr>
          <a:xfrm>
            <a:off x="273050" y="908050"/>
            <a:ext cx="9359900" cy="325578"/>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a:t>DID Document</a:t>
            </a:r>
            <a:r>
              <a:rPr kumimoji="1" lang="ja-JP" altLang="en-US" dirty="0"/>
              <a:t>の格納し情報共有する方式は、大きく分類して①ブロックチェーン、②</a:t>
            </a:r>
            <a:r>
              <a:rPr kumimoji="1" lang="en-US" altLang="ja-JP" dirty="0"/>
              <a:t>WEB</a:t>
            </a:r>
            <a:r>
              <a:rPr kumimoji="1" lang="ja-JP" altLang="en-US" dirty="0"/>
              <a:t>サーバ、③</a:t>
            </a:r>
            <a:r>
              <a:rPr kumimoji="1" lang="en-US" altLang="ja-JP" dirty="0"/>
              <a:t>P2P</a:t>
            </a:r>
            <a:r>
              <a:rPr kumimoji="1" lang="ja-JP" altLang="en-US" dirty="0"/>
              <a:t>通信の</a:t>
            </a:r>
            <a:r>
              <a:rPr kumimoji="1" lang="en-US" altLang="ja-JP" dirty="0"/>
              <a:t>3</a:t>
            </a:r>
            <a:r>
              <a:rPr kumimoji="1" lang="ja-JP" altLang="en-US" dirty="0"/>
              <a:t>通りある</a:t>
            </a:r>
          </a:p>
        </p:txBody>
      </p:sp>
      <p:sp>
        <p:nvSpPr>
          <p:cNvPr id="21" name="正方形/長方形 20">
            <a:extLst>
              <a:ext uri="{FF2B5EF4-FFF2-40B4-BE49-F238E27FC236}">
                <a16:creationId xmlns:a16="http://schemas.microsoft.com/office/drawing/2014/main" id="{E1018BA9-DBB9-A5DC-CA01-4963CE45926C}"/>
              </a:ext>
            </a:extLst>
          </p:cNvPr>
          <p:cNvSpPr/>
          <p:nvPr/>
        </p:nvSpPr>
        <p:spPr>
          <a:xfrm>
            <a:off x="1875716" y="135476"/>
            <a:ext cx="980645"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22" name="正方形/長方形 21">
            <a:extLst>
              <a:ext uri="{FF2B5EF4-FFF2-40B4-BE49-F238E27FC236}">
                <a16:creationId xmlns:a16="http://schemas.microsoft.com/office/drawing/2014/main" id="{56684E3F-9C10-13EE-3D3D-2B3D18328FBA}"/>
              </a:ext>
            </a:extLst>
          </p:cNvPr>
          <p:cNvSpPr/>
          <p:nvPr/>
        </p:nvSpPr>
        <p:spPr>
          <a:xfrm>
            <a:off x="1875716" y="242366"/>
            <a:ext cx="491226" cy="1728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23" name="正方形/長方形 22">
            <a:extLst>
              <a:ext uri="{FF2B5EF4-FFF2-40B4-BE49-F238E27FC236}">
                <a16:creationId xmlns:a16="http://schemas.microsoft.com/office/drawing/2014/main" id="{35B7819B-1E5F-AECC-A855-19A5AE202708}"/>
              </a:ext>
            </a:extLst>
          </p:cNvPr>
          <p:cNvSpPr/>
          <p:nvPr/>
        </p:nvSpPr>
        <p:spPr>
          <a:xfrm>
            <a:off x="2366942"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Credential</a:t>
            </a:r>
          </a:p>
          <a:p>
            <a:pPr algn="ctr"/>
            <a:r>
              <a:rPr lang="en-US" altLang="ja-JP" sz="500" dirty="0"/>
              <a:t>Proofing</a:t>
            </a:r>
            <a:endParaRPr lang="ja-JP" altLang="en-US" sz="500" dirty="0"/>
          </a:p>
        </p:txBody>
      </p:sp>
      <p:sp>
        <p:nvSpPr>
          <p:cNvPr id="24" name="正方形/長方形 23">
            <a:extLst>
              <a:ext uri="{FF2B5EF4-FFF2-40B4-BE49-F238E27FC236}">
                <a16:creationId xmlns:a16="http://schemas.microsoft.com/office/drawing/2014/main" id="{560BEF73-8F9C-581E-37C6-69F371F5368C}"/>
              </a:ext>
            </a:extLst>
          </p:cNvPr>
          <p:cNvSpPr/>
          <p:nvPr/>
        </p:nvSpPr>
        <p:spPr>
          <a:xfrm>
            <a:off x="2858168"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Envelope</a:t>
            </a:r>
            <a:endParaRPr lang="ja-JP" altLang="en-US" sz="600" dirty="0"/>
          </a:p>
        </p:txBody>
      </p:sp>
      <p:sp>
        <p:nvSpPr>
          <p:cNvPr id="25" name="正方形/長方形 24">
            <a:extLst>
              <a:ext uri="{FF2B5EF4-FFF2-40B4-BE49-F238E27FC236}">
                <a16:creationId xmlns:a16="http://schemas.microsoft.com/office/drawing/2014/main" id="{92300AE3-E0D9-82A9-91C7-373C9DC65070}"/>
              </a:ext>
            </a:extLst>
          </p:cNvPr>
          <p:cNvSpPr/>
          <p:nvPr/>
        </p:nvSpPr>
        <p:spPr>
          <a:xfrm>
            <a:off x="2856361" y="135476"/>
            <a:ext cx="983839"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a:t>Agent </a:t>
            </a:r>
            <a:r>
              <a:rPr lang="en-US" altLang="ja-JP" sz="600" dirty="0"/>
              <a:t>Layer</a:t>
            </a:r>
            <a:endParaRPr lang="ja-JP" altLang="en-US" sz="600" dirty="0"/>
          </a:p>
        </p:txBody>
      </p:sp>
      <p:sp>
        <p:nvSpPr>
          <p:cNvPr id="26" name="正方形/長方形 25">
            <a:extLst>
              <a:ext uri="{FF2B5EF4-FFF2-40B4-BE49-F238E27FC236}">
                <a16:creationId xmlns:a16="http://schemas.microsoft.com/office/drawing/2014/main" id="{A1458CAF-AC80-DB2A-A9CC-5EF0F28D7A25}"/>
              </a:ext>
            </a:extLst>
          </p:cNvPr>
          <p:cNvSpPr/>
          <p:nvPr/>
        </p:nvSpPr>
        <p:spPr>
          <a:xfrm>
            <a:off x="334926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Transport</a:t>
            </a:r>
            <a:endParaRPr lang="ja-JP" altLang="en-US" sz="600" dirty="0"/>
          </a:p>
        </p:txBody>
      </p:sp>
      <p:sp>
        <p:nvSpPr>
          <p:cNvPr id="27" name="正方形/長方形 26">
            <a:extLst>
              <a:ext uri="{FF2B5EF4-FFF2-40B4-BE49-F238E27FC236}">
                <a16:creationId xmlns:a16="http://schemas.microsoft.com/office/drawing/2014/main" id="{260F7D2C-E5AE-7438-DD5C-7CD22BF9182F}"/>
              </a:ext>
            </a:extLst>
          </p:cNvPr>
          <p:cNvSpPr/>
          <p:nvPr/>
        </p:nvSpPr>
        <p:spPr>
          <a:xfrm>
            <a:off x="384065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28" name="正方形/長方形 27">
            <a:extLst>
              <a:ext uri="{FF2B5EF4-FFF2-40B4-BE49-F238E27FC236}">
                <a16:creationId xmlns:a16="http://schemas.microsoft.com/office/drawing/2014/main" id="{BE1430CD-6800-7361-A051-DBD3E9CD2B01}"/>
              </a:ext>
            </a:extLst>
          </p:cNvPr>
          <p:cNvSpPr/>
          <p:nvPr/>
        </p:nvSpPr>
        <p:spPr>
          <a:xfrm>
            <a:off x="4824207"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29" name="正方形/長方形 28">
            <a:extLst>
              <a:ext uri="{FF2B5EF4-FFF2-40B4-BE49-F238E27FC236}">
                <a16:creationId xmlns:a16="http://schemas.microsoft.com/office/drawing/2014/main" id="{0FC5DE26-0A6C-86B4-46C8-537185075ED9}"/>
              </a:ext>
            </a:extLst>
          </p:cNvPr>
          <p:cNvSpPr/>
          <p:nvPr/>
        </p:nvSpPr>
        <p:spPr>
          <a:xfrm>
            <a:off x="531530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30" name="正方形/長方形 29">
            <a:extLst>
              <a:ext uri="{FF2B5EF4-FFF2-40B4-BE49-F238E27FC236}">
                <a16:creationId xmlns:a16="http://schemas.microsoft.com/office/drawing/2014/main" id="{E0460055-2ED2-F216-D6AB-514FF43F2AA6}"/>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31" name="正方形/長方形 30">
            <a:extLst>
              <a:ext uri="{FF2B5EF4-FFF2-40B4-BE49-F238E27FC236}">
                <a16:creationId xmlns:a16="http://schemas.microsoft.com/office/drawing/2014/main" id="{20AD6FC2-2898-EC0B-0638-45FC066712C4}"/>
              </a:ext>
            </a:extLst>
          </p:cNvPr>
          <p:cNvSpPr/>
          <p:nvPr/>
        </p:nvSpPr>
        <p:spPr>
          <a:xfrm>
            <a:off x="6297630"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Disclosure</a:t>
            </a:r>
            <a:br>
              <a:rPr lang="en-US" altLang="ja-JP" sz="500" dirty="0"/>
            </a:br>
            <a:r>
              <a:rPr lang="en-US" altLang="ja-JP" sz="500" dirty="0"/>
              <a:t>/ZKP</a:t>
            </a:r>
          </a:p>
        </p:txBody>
      </p:sp>
      <p:sp>
        <p:nvSpPr>
          <p:cNvPr id="32" name="正方形/長方形 31">
            <a:extLst>
              <a:ext uri="{FF2B5EF4-FFF2-40B4-BE49-F238E27FC236}">
                <a16:creationId xmlns:a16="http://schemas.microsoft.com/office/drawing/2014/main" id="{67AC3FE4-10B3-8F45-03B5-D10B18F6F667}"/>
              </a:ext>
            </a:extLst>
          </p:cNvPr>
          <p:cNvSpPr/>
          <p:nvPr/>
        </p:nvSpPr>
        <p:spPr>
          <a:xfrm>
            <a:off x="6788856"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33" name="正方形/長方形 32">
            <a:extLst>
              <a:ext uri="{FF2B5EF4-FFF2-40B4-BE49-F238E27FC236}">
                <a16:creationId xmlns:a16="http://schemas.microsoft.com/office/drawing/2014/main" id="{AD2A2F33-E8C8-6F13-9392-1EBE5B1F236E}"/>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34" name="正方形/長方形 33">
            <a:extLst>
              <a:ext uri="{FF2B5EF4-FFF2-40B4-BE49-F238E27FC236}">
                <a16:creationId xmlns:a16="http://schemas.microsoft.com/office/drawing/2014/main" id="{8572F4BD-261A-00F2-F0AF-588F18E86156}"/>
              </a:ext>
            </a:extLst>
          </p:cNvPr>
          <p:cNvSpPr/>
          <p:nvPr/>
        </p:nvSpPr>
        <p:spPr>
          <a:xfrm>
            <a:off x="7771053"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35" name="正方形/長方形 34">
            <a:extLst>
              <a:ext uri="{FF2B5EF4-FFF2-40B4-BE49-F238E27FC236}">
                <a16:creationId xmlns:a16="http://schemas.microsoft.com/office/drawing/2014/main" id="{FC3C87BE-1937-7004-8130-40596D5D328F}"/>
              </a:ext>
            </a:extLst>
          </p:cNvPr>
          <p:cNvSpPr/>
          <p:nvPr/>
        </p:nvSpPr>
        <p:spPr>
          <a:xfrm>
            <a:off x="3837006" y="135476"/>
            <a:ext cx="2461601"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36" name="正方形/長方形 35">
            <a:extLst>
              <a:ext uri="{FF2B5EF4-FFF2-40B4-BE49-F238E27FC236}">
                <a16:creationId xmlns:a16="http://schemas.microsoft.com/office/drawing/2014/main" id="{722D4328-CEF7-7170-D97A-8D69E6497E71}"/>
              </a:ext>
            </a:extLst>
          </p:cNvPr>
          <p:cNvSpPr/>
          <p:nvPr/>
        </p:nvSpPr>
        <p:spPr>
          <a:xfrm>
            <a:off x="6297503" y="135476"/>
            <a:ext cx="1964776"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4" name="正方形/長方形 3">
            <a:extLst>
              <a:ext uri="{FF2B5EF4-FFF2-40B4-BE49-F238E27FC236}">
                <a16:creationId xmlns:a16="http://schemas.microsoft.com/office/drawing/2014/main" id="{13162792-19B0-40C2-AA81-9D0EE7AF78D8}"/>
              </a:ext>
            </a:extLst>
          </p:cNvPr>
          <p:cNvSpPr/>
          <p:nvPr/>
        </p:nvSpPr>
        <p:spPr>
          <a:xfrm>
            <a:off x="4332918" y="242366"/>
            <a:ext cx="491226" cy="169526"/>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1995405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ECCA54-0000-D945-053F-9FCB963DEC5D}"/>
              </a:ext>
            </a:extLst>
          </p:cNvPr>
          <p:cNvSpPr>
            <a:spLocks noGrp="1"/>
          </p:cNvSpPr>
          <p:nvPr>
            <p:ph type="title"/>
          </p:nvPr>
        </p:nvSpPr>
        <p:spPr>
          <a:xfrm>
            <a:off x="273050" y="447475"/>
            <a:ext cx="7848302" cy="246221"/>
          </a:xfrm>
        </p:spPr>
        <p:txBody>
          <a:bodyPr/>
          <a:lstStyle/>
          <a:p>
            <a:r>
              <a:rPr kumimoji="1" lang="en-US" altLang="ja-JP" dirty="0"/>
              <a:t>(</a:t>
            </a:r>
            <a:r>
              <a:rPr kumimoji="1" lang="ja-JP" altLang="en-US" dirty="0"/>
              <a:t>参考</a:t>
            </a:r>
            <a:r>
              <a:rPr kumimoji="1" lang="en-US" altLang="ja-JP" dirty="0"/>
              <a:t>)DID Document</a:t>
            </a:r>
            <a:r>
              <a:rPr kumimoji="1" lang="ja-JP" altLang="en-US" dirty="0"/>
              <a:t>を活用しない方式</a:t>
            </a:r>
          </a:p>
        </p:txBody>
      </p:sp>
      <p:sp>
        <p:nvSpPr>
          <p:cNvPr id="3" name="テキスト プレースホルダー 2">
            <a:extLst>
              <a:ext uri="{FF2B5EF4-FFF2-40B4-BE49-F238E27FC236}">
                <a16:creationId xmlns:a16="http://schemas.microsoft.com/office/drawing/2014/main" id="{45FC7DBA-9D02-B087-28EE-B1E4B97B1EC2}"/>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35" name="テキスト ボックス 34">
            <a:extLst>
              <a:ext uri="{FF2B5EF4-FFF2-40B4-BE49-F238E27FC236}">
                <a16:creationId xmlns:a16="http://schemas.microsoft.com/office/drawing/2014/main" id="{C1789DF5-7F87-16C0-ED6D-7C624D1ADE7F}"/>
              </a:ext>
            </a:extLst>
          </p:cNvPr>
          <p:cNvSpPr txBox="1"/>
          <p:nvPr/>
        </p:nvSpPr>
        <p:spPr bwMode="gray">
          <a:xfrm>
            <a:off x="6820217" y="3096181"/>
            <a:ext cx="2179396" cy="923330"/>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200" b="1" i="1" u="sng" dirty="0">
                <a:solidFill>
                  <a:schemeClr val="accent1"/>
                </a:solidFill>
                <a:latin typeface="Calibri Light"/>
                <a:ea typeface="Yu Gothic UI"/>
                <a:cs typeface="Arial" charset="0"/>
              </a:rPr>
              <a:t>公開鍵が何らかの手段で</a:t>
            </a:r>
            <a:endParaRPr lang="en-US" altLang="ja-JP" sz="1200" b="1" i="1" u="sng" dirty="0">
              <a:solidFill>
                <a:schemeClr val="accent1"/>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1200" b="1" i="1" u="sng" dirty="0">
                <a:solidFill>
                  <a:schemeClr val="accent1"/>
                </a:solidFill>
                <a:latin typeface="Calibri Light"/>
                <a:ea typeface="Yu Gothic UI"/>
                <a:cs typeface="Arial" charset="0"/>
              </a:rPr>
              <a:t>提供</a:t>
            </a:r>
            <a:r>
              <a:rPr lang="ja-JP" altLang="en-US" sz="1200" b="1" i="1" u="sng">
                <a:solidFill>
                  <a:schemeClr val="accent1"/>
                </a:solidFill>
                <a:latin typeface="Calibri Light"/>
                <a:ea typeface="Yu Gothic UI"/>
                <a:cs typeface="Arial" charset="0"/>
              </a:rPr>
              <a:t>できれば良い</a:t>
            </a:r>
            <a:endParaRPr lang="en-US" altLang="ja-JP" sz="1200" b="1" i="1" u="sng" dirty="0">
              <a:solidFill>
                <a:schemeClr val="accent1"/>
              </a:solidFill>
              <a:latin typeface="Calibri Light"/>
              <a:ea typeface="Yu Gothic UI"/>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200" b="1" dirty="0">
                <a:solidFill>
                  <a:schemeClr val="accent1"/>
                </a:solidFill>
                <a:latin typeface="Calibri Light"/>
                <a:ea typeface="Yu Gothic UI"/>
                <a:cs typeface="Arial" charset="0"/>
              </a:rPr>
              <a:t>※Smart Health Card</a:t>
            </a:r>
            <a:r>
              <a:rPr lang="ja-JP" altLang="en-US" sz="1200" b="1">
                <a:solidFill>
                  <a:schemeClr val="accent1"/>
                </a:solidFill>
                <a:latin typeface="Calibri Light"/>
                <a:ea typeface="Yu Gothic UI"/>
                <a:cs typeface="Arial" charset="0"/>
              </a:rPr>
              <a:t>においては</a:t>
            </a:r>
            <a:r>
              <a:rPr lang="en-US" altLang="ja-JP" sz="1200" b="1" dirty="0">
                <a:solidFill>
                  <a:schemeClr val="accent1"/>
                </a:solidFill>
                <a:latin typeface="Calibri Light"/>
                <a:ea typeface="Yu Gothic UI"/>
                <a:cs typeface="Arial" charset="0"/>
              </a:rPr>
              <a:t>RFC-7517</a:t>
            </a:r>
            <a:r>
              <a:rPr lang="ja-JP" altLang="en-US" sz="1200" b="1">
                <a:solidFill>
                  <a:schemeClr val="accent1"/>
                </a:solidFill>
                <a:latin typeface="Calibri Light"/>
                <a:ea typeface="Yu Gothic UI"/>
                <a:cs typeface="Arial" charset="0"/>
              </a:rPr>
              <a:t>で定義される</a:t>
            </a:r>
            <a:r>
              <a:rPr lang="en-US" altLang="ja-JP" sz="1200" b="1" dirty="0">
                <a:solidFill>
                  <a:schemeClr val="accent1"/>
                </a:solidFill>
                <a:latin typeface="Calibri Light"/>
                <a:ea typeface="Yu Gothic UI"/>
                <a:cs typeface="Arial" charset="0"/>
              </a:rPr>
              <a:t>JWKS</a:t>
            </a:r>
            <a:r>
              <a:rPr lang="ja-JP" altLang="en-US" sz="1200" b="1">
                <a:solidFill>
                  <a:schemeClr val="accent1"/>
                </a:solidFill>
                <a:latin typeface="Calibri Light"/>
                <a:ea typeface="Yu Gothic UI"/>
                <a:cs typeface="Arial" charset="0"/>
              </a:rPr>
              <a:t>で</a:t>
            </a:r>
            <a:r>
              <a:rPr lang="en-US" altLang="ja-JP" sz="1200" b="1" dirty="0">
                <a:solidFill>
                  <a:schemeClr val="accent1"/>
                </a:solidFill>
                <a:latin typeface="Calibri Light"/>
                <a:ea typeface="Yu Gothic UI"/>
                <a:cs typeface="Arial" charset="0"/>
              </a:rPr>
              <a:t>Well-Known URL</a:t>
            </a:r>
            <a:r>
              <a:rPr lang="ja-JP" altLang="en-US" sz="1200" b="1">
                <a:solidFill>
                  <a:schemeClr val="accent1"/>
                </a:solidFill>
                <a:latin typeface="Calibri Light"/>
                <a:ea typeface="Yu Gothic UI"/>
                <a:cs typeface="Arial" charset="0"/>
              </a:rPr>
              <a:t>に配置する。</a:t>
            </a:r>
            <a:endParaRPr lang="en-US" altLang="ja-JP" sz="1200" b="1" dirty="0">
              <a:solidFill>
                <a:schemeClr val="accent1"/>
              </a:solidFill>
              <a:latin typeface="Calibri Light"/>
              <a:ea typeface="Yu Gothic UI"/>
              <a:cs typeface="Arial" charset="0"/>
            </a:endParaRPr>
          </a:p>
        </p:txBody>
      </p:sp>
      <p:sp>
        <p:nvSpPr>
          <p:cNvPr id="81" name="正方形/長方形 80">
            <a:extLst>
              <a:ext uri="{FF2B5EF4-FFF2-40B4-BE49-F238E27FC236}">
                <a16:creationId xmlns:a16="http://schemas.microsoft.com/office/drawing/2014/main" id="{E8786918-A0B0-DD60-8957-D55C8B9F19A6}"/>
              </a:ext>
            </a:extLst>
          </p:cNvPr>
          <p:cNvSpPr/>
          <p:nvPr/>
        </p:nvSpPr>
        <p:spPr bwMode="gray">
          <a:xfrm>
            <a:off x="262552" y="1484313"/>
            <a:ext cx="4601958" cy="277476"/>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rPr>
              <a:t>①</a:t>
            </a:r>
            <a:r>
              <a:rPr kumimoji="0" lang="en-US" altLang="ja-JP" sz="1400" b="0" i="0" u="none" strike="noStrike" kern="0" cap="none" spc="0" normalizeH="0" baseline="0" noProof="0" dirty="0">
                <a:ln>
                  <a:noFill/>
                </a:ln>
                <a:solidFill>
                  <a:prstClr val="white"/>
                </a:solidFill>
                <a:effectLst/>
                <a:uLnTx/>
                <a:uFillTx/>
                <a:latin typeface="Calibri Light"/>
                <a:ea typeface="Yu Gothic UI"/>
                <a:cs typeface="Arial" charset="0"/>
              </a:rPr>
              <a:t>DID</a:t>
            </a:r>
            <a:r>
              <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rPr>
              <a:t>を活用</a:t>
            </a:r>
          </a:p>
        </p:txBody>
      </p:sp>
      <p:sp>
        <p:nvSpPr>
          <p:cNvPr id="82" name="正方形/長方形 81">
            <a:extLst>
              <a:ext uri="{FF2B5EF4-FFF2-40B4-BE49-F238E27FC236}">
                <a16:creationId xmlns:a16="http://schemas.microsoft.com/office/drawing/2014/main" id="{E1B8B733-7B68-0950-766B-A33B425C8A0C}"/>
              </a:ext>
            </a:extLst>
          </p:cNvPr>
          <p:cNvSpPr/>
          <p:nvPr/>
        </p:nvSpPr>
        <p:spPr bwMode="gray">
          <a:xfrm>
            <a:off x="4989513" y="1484313"/>
            <a:ext cx="4653935" cy="277476"/>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rPr>
              <a:t>②</a:t>
            </a:r>
            <a:r>
              <a:rPr kumimoji="0" lang="en-US" altLang="ja-JP" sz="1400" b="0" i="0" u="none" strike="noStrike" kern="0" cap="none" spc="0" normalizeH="0" baseline="0" noProof="0" dirty="0">
                <a:ln>
                  <a:noFill/>
                </a:ln>
                <a:solidFill>
                  <a:prstClr val="white"/>
                </a:solidFill>
                <a:effectLst/>
                <a:uLnTx/>
                <a:uFillTx/>
                <a:latin typeface="Calibri Light"/>
                <a:ea typeface="Yu Gothic UI"/>
                <a:cs typeface="Arial" charset="0"/>
              </a:rPr>
              <a:t>DID</a:t>
            </a:r>
            <a:r>
              <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rPr>
              <a:t>を活用しないケース</a:t>
            </a:r>
          </a:p>
        </p:txBody>
      </p:sp>
      <p:sp>
        <p:nvSpPr>
          <p:cNvPr id="83" name="正方形/長方形 82">
            <a:extLst>
              <a:ext uri="{FF2B5EF4-FFF2-40B4-BE49-F238E27FC236}">
                <a16:creationId xmlns:a16="http://schemas.microsoft.com/office/drawing/2014/main" id="{D3210BD4-3803-ED40-8E52-771E373F1296}"/>
              </a:ext>
            </a:extLst>
          </p:cNvPr>
          <p:cNvSpPr/>
          <p:nvPr/>
        </p:nvSpPr>
        <p:spPr bwMode="gray">
          <a:xfrm>
            <a:off x="261960" y="1761788"/>
            <a:ext cx="4602561" cy="814625"/>
          </a:xfrm>
          <a:prstGeom prst="rect">
            <a:avLst/>
          </a:prstGeom>
          <a:noFill/>
          <a:ln w="12700" algn="ctr">
            <a:noFill/>
            <a:miter lim="800000"/>
            <a:headEnd/>
            <a:tailEnd/>
          </a:ln>
        </p:spPr>
        <p:txBody>
          <a:bodyPr rot="0" spcFirstLastPara="0" vertOverflow="overflow" horzOverflow="overflow" vert="horz" wrap="square" lIns="72000" tIns="0" rIns="36000" bIns="0" numCol="1" spcCol="0" rtlCol="0" fromWordArt="0" anchor="ctr" anchorCtr="0" forceAA="0" compatLnSpc="1">
            <a:prstTxWarp prst="textNoShape">
              <a:avLst/>
            </a:prstTxWarp>
            <a:no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dirty="0">
                <a:latin typeface="Calibri Light"/>
                <a:ea typeface="Yu Gothic UI"/>
                <a:cs typeface="Arial" charset="0"/>
              </a:rPr>
              <a:t>DID</a:t>
            </a:r>
            <a:r>
              <a:rPr lang="ja-JP" altLang="en-US" sz="1200">
                <a:latin typeface="Calibri Light"/>
                <a:ea typeface="Yu Gothic UI"/>
                <a:cs typeface="Arial" charset="0"/>
              </a:rPr>
              <a:t>は他者と信頼できる情報（公開鍵等）を適切に交換することを目的とするため、</a:t>
            </a:r>
            <a:r>
              <a:rPr lang="en-US" altLang="ja-JP" sz="1200" dirty="0">
                <a:latin typeface="Calibri Light"/>
                <a:ea typeface="Yu Gothic UI"/>
                <a:cs typeface="Arial" charset="0"/>
              </a:rPr>
              <a:t>DID</a:t>
            </a:r>
            <a:r>
              <a:rPr lang="ja-JP" altLang="en-US" sz="1200">
                <a:latin typeface="Calibri Light"/>
                <a:ea typeface="Yu Gothic UI"/>
                <a:cs typeface="Arial" charset="0"/>
              </a:rPr>
              <a:t>にはプラットフォームを識別する</a:t>
            </a:r>
            <a:r>
              <a:rPr lang="en-US" altLang="ja-JP" sz="1200" dirty="0">
                <a:latin typeface="Calibri Light"/>
                <a:ea typeface="Yu Gothic UI"/>
                <a:cs typeface="Arial" charset="0"/>
              </a:rPr>
              <a:t>DID</a:t>
            </a:r>
            <a:r>
              <a:rPr lang="ja-JP" altLang="en-US" sz="1200">
                <a:latin typeface="Calibri Light"/>
                <a:ea typeface="Yu Gothic UI"/>
                <a:cs typeface="Arial" charset="0"/>
              </a:rPr>
              <a:t>メソッド情報が含まれている。この</a:t>
            </a:r>
            <a:r>
              <a:rPr lang="en-US" altLang="ja-JP" sz="1200" dirty="0">
                <a:latin typeface="Calibri Light"/>
                <a:ea typeface="Yu Gothic UI"/>
                <a:cs typeface="Arial" charset="0"/>
              </a:rPr>
              <a:t>DID</a:t>
            </a:r>
            <a:r>
              <a:rPr lang="ja-JP" altLang="en-US" sz="1200">
                <a:latin typeface="Calibri Light"/>
                <a:ea typeface="Yu Gothic UI"/>
                <a:cs typeface="Arial" charset="0"/>
              </a:rPr>
              <a:t>メソッドを</a:t>
            </a:r>
            <a:r>
              <a:rPr lang="en-US" altLang="ja-JP" sz="1200" dirty="0">
                <a:latin typeface="Calibri Light"/>
                <a:ea typeface="Yu Gothic UI"/>
                <a:cs typeface="Arial" charset="0"/>
              </a:rPr>
              <a:t>DID</a:t>
            </a:r>
            <a:r>
              <a:rPr lang="ja-JP" altLang="en-US" sz="1200">
                <a:latin typeface="Calibri Light"/>
                <a:ea typeface="Yu Gothic UI"/>
                <a:cs typeface="Arial" charset="0"/>
              </a:rPr>
              <a:t>リゾルバーによって名前解決を行い、プラットフォームを特定し、</a:t>
            </a:r>
            <a:r>
              <a:rPr lang="en-US" altLang="ja-JP" sz="1200" dirty="0">
                <a:latin typeface="Calibri Light"/>
                <a:ea typeface="Yu Gothic UI"/>
                <a:cs typeface="Arial" charset="0"/>
              </a:rPr>
              <a:t>DID</a:t>
            </a:r>
            <a:r>
              <a:rPr lang="ja-JP" altLang="en-US" sz="1200">
                <a:latin typeface="Calibri Light"/>
                <a:ea typeface="Yu Gothic UI"/>
                <a:cs typeface="Arial" charset="0"/>
              </a:rPr>
              <a:t>ドキュメントを取得する（</a:t>
            </a:r>
            <a:r>
              <a:rPr lang="en-US" altLang="ja-JP" sz="1200" dirty="0">
                <a:latin typeface="Calibri Light"/>
                <a:ea typeface="Yu Gothic UI"/>
                <a:cs typeface="Arial" charset="0"/>
              </a:rPr>
              <a:t>Web</a:t>
            </a:r>
            <a:r>
              <a:rPr lang="ja-JP" altLang="en-US" sz="1200">
                <a:latin typeface="Calibri Light"/>
                <a:ea typeface="Yu Gothic UI"/>
                <a:cs typeface="Arial" charset="0"/>
              </a:rPr>
              <a:t>における</a:t>
            </a:r>
            <a:r>
              <a:rPr lang="en-US" altLang="ja-JP" sz="1200" dirty="0">
                <a:latin typeface="Calibri Light"/>
                <a:ea typeface="Yu Gothic UI"/>
                <a:cs typeface="Arial" charset="0"/>
              </a:rPr>
              <a:t>DNS</a:t>
            </a:r>
            <a:r>
              <a:rPr lang="ja-JP" altLang="en-US" sz="1200">
                <a:latin typeface="Calibri Light"/>
                <a:ea typeface="Yu Gothic UI"/>
                <a:cs typeface="Arial" charset="0"/>
              </a:rPr>
              <a:t>のような役割）</a:t>
            </a:r>
            <a:endParaRPr lang="ja-JP" altLang="en-US" sz="1200" dirty="0">
              <a:latin typeface="Calibri Light"/>
              <a:ea typeface="Yu Gothic UI"/>
              <a:cs typeface="Arial" charset="0"/>
            </a:endParaRPr>
          </a:p>
        </p:txBody>
      </p:sp>
      <p:sp>
        <p:nvSpPr>
          <p:cNvPr id="84" name="正方形/長方形 83">
            <a:extLst>
              <a:ext uri="{FF2B5EF4-FFF2-40B4-BE49-F238E27FC236}">
                <a16:creationId xmlns:a16="http://schemas.microsoft.com/office/drawing/2014/main" id="{AE913FC8-457A-C5D7-8AA5-E0553B41228E}"/>
              </a:ext>
            </a:extLst>
          </p:cNvPr>
          <p:cNvSpPr/>
          <p:nvPr/>
        </p:nvSpPr>
        <p:spPr bwMode="gray">
          <a:xfrm>
            <a:off x="4989513" y="1761788"/>
            <a:ext cx="4643437" cy="814625"/>
          </a:xfrm>
          <a:prstGeom prst="rect">
            <a:avLst/>
          </a:prstGeom>
          <a:noFill/>
          <a:ln w="12700" algn="ctr">
            <a:noFill/>
            <a:miter lim="800000"/>
            <a:headEnd/>
            <a:tailEnd/>
          </a:ln>
        </p:spPr>
        <p:txBody>
          <a:bodyPr rot="0" spcFirstLastPara="0" vertOverflow="overflow" horzOverflow="overflow" vert="horz" wrap="square" lIns="72000" tIns="0" rIns="36000" bIns="0" numCol="1" spcCol="0" rtlCol="0" fromWordArt="0" anchor="ctr" anchorCtr="0" forceAA="0" compatLnSpc="1">
            <a:prstTxWarp prst="textNoShape">
              <a:avLst/>
            </a:prstTxWarp>
            <a:no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200" dirty="0">
                <a:latin typeface="Calibri Light"/>
                <a:ea typeface="Yu Gothic UI"/>
                <a:cs typeface="Arial" charset="0"/>
              </a:rPr>
              <a:t>検証可能な証明書として</a:t>
            </a:r>
            <a:r>
              <a:rPr lang="en-US" altLang="ja-JP" sz="1200" dirty="0">
                <a:latin typeface="Calibri Light"/>
                <a:ea typeface="Yu Gothic UI"/>
                <a:cs typeface="Arial" charset="0"/>
              </a:rPr>
              <a:t>VC</a:t>
            </a:r>
            <a:r>
              <a:rPr lang="ja-JP" altLang="en-US" sz="1200" dirty="0">
                <a:latin typeface="Calibri Light"/>
                <a:ea typeface="Yu Gothic UI"/>
                <a:cs typeface="Arial" charset="0"/>
              </a:rPr>
              <a:t>モデルを採用する場合においても、証明書を発行する側が中心的な役割を果たす場合には、</a:t>
            </a:r>
            <a:r>
              <a:rPr lang="en-US" altLang="ja-JP" sz="1200" dirty="0">
                <a:latin typeface="Calibri Light"/>
                <a:ea typeface="Yu Gothic UI"/>
                <a:cs typeface="Arial" charset="0"/>
              </a:rPr>
              <a:t>DID</a:t>
            </a:r>
            <a:r>
              <a:rPr lang="ja-JP" altLang="en-US" sz="1200" dirty="0">
                <a:latin typeface="Calibri Light"/>
                <a:ea typeface="Yu Gothic UI"/>
                <a:cs typeface="Arial" charset="0"/>
              </a:rPr>
              <a:t>は必ずしも不要となる。</a:t>
            </a:r>
            <a:br>
              <a:rPr lang="en-US" altLang="ja-JP" sz="1200" dirty="0">
                <a:latin typeface="Calibri Light"/>
                <a:ea typeface="Yu Gothic UI"/>
                <a:cs typeface="Arial" charset="0"/>
              </a:rPr>
            </a:br>
            <a:r>
              <a:rPr lang="en-US" altLang="ja-JP" sz="1200" dirty="0">
                <a:latin typeface="Calibri Light"/>
                <a:ea typeface="Yu Gothic UI"/>
                <a:cs typeface="Arial" charset="0"/>
              </a:rPr>
              <a:t>(</a:t>
            </a:r>
            <a:r>
              <a:rPr lang="ja-JP" altLang="en-US" sz="1200" dirty="0">
                <a:latin typeface="Calibri Light"/>
                <a:ea typeface="Yu Gothic UI"/>
                <a:cs typeface="Arial" charset="0"/>
              </a:rPr>
              <a:t>例えば日本における新型コロナワクチン接種証明で採用された</a:t>
            </a:r>
            <a:r>
              <a:rPr lang="en-US" altLang="ja-JP" sz="1200" dirty="0">
                <a:latin typeface="Calibri Light"/>
                <a:ea typeface="Yu Gothic UI"/>
                <a:cs typeface="Arial" charset="0"/>
              </a:rPr>
              <a:t>Smart Health Card</a:t>
            </a:r>
            <a:r>
              <a:rPr lang="ja-JP" altLang="en-US" sz="1200" dirty="0">
                <a:latin typeface="Calibri Light"/>
                <a:ea typeface="Yu Gothic UI"/>
                <a:cs typeface="Arial" charset="0"/>
              </a:rPr>
              <a:t>においては、</a:t>
            </a:r>
            <a:r>
              <a:rPr lang="en-US" altLang="ja-JP" sz="1200" dirty="0">
                <a:latin typeface="Calibri Light"/>
                <a:ea typeface="Yu Gothic UI"/>
                <a:cs typeface="Arial" charset="0"/>
              </a:rPr>
              <a:t>VC</a:t>
            </a:r>
            <a:r>
              <a:rPr lang="ja-JP" altLang="en-US" sz="1200" dirty="0">
                <a:latin typeface="Calibri Light"/>
                <a:ea typeface="Yu Gothic UI"/>
                <a:cs typeface="Arial" charset="0"/>
              </a:rPr>
              <a:t>モデルに準拠しているものの</a:t>
            </a:r>
            <a:r>
              <a:rPr lang="en-US" altLang="ja-JP" sz="1200" dirty="0">
                <a:latin typeface="Calibri Light"/>
                <a:ea typeface="Yu Gothic UI"/>
                <a:cs typeface="Arial" charset="0"/>
              </a:rPr>
              <a:t>DID</a:t>
            </a:r>
            <a:r>
              <a:rPr lang="ja-JP" altLang="en-US" sz="1200" dirty="0">
                <a:latin typeface="Calibri Light"/>
                <a:ea typeface="Yu Gothic UI"/>
                <a:cs typeface="Arial" charset="0"/>
              </a:rPr>
              <a:t>は利用されていない</a:t>
            </a:r>
            <a:r>
              <a:rPr lang="en-US" altLang="ja-JP" sz="1200" dirty="0">
                <a:latin typeface="Calibri Light"/>
                <a:ea typeface="Yu Gothic UI"/>
                <a:cs typeface="Arial" charset="0"/>
              </a:rPr>
              <a:t>)</a:t>
            </a:r>
            <a:endParaRPr lang="ja-JP" altLang="en-US" sz="1200" dirty="0">
              <a:latin typeface="Calibri Light"/>
              <a:ea typeface="Yu Gothic UI"/>
              <a:cs typeface="Arial" charset="0"/>
            </a:endParaRPr>
          </a:p>
        </p:txBody>
      </p:sp>
      <p:grpSp>
        <p:nvGrpSpPr>
          <p:cNvPr id="102" name="グループ化 101">
            <a:extLst>
              <a:ext uri="{FF2B5EF4-FFF2-40B4-BE49-F238E27FC236}">
                <a16:creationId xmlns:a16="http://schemas.microsoft.com/office/drawing/2014/main" id="{70E24F68-AA72-F5BF-10A2-0087F1D2BC7B}"/>
              </a:ext>
            </a:extLst>
          </p:cNvPr>
          <p:cNvGrpSpPr/>
          <p:nvPr/>
        </p:nvGrpSpPr>
        <p:grpSpPr>
          <a:xfrm>
            <a:off x="317413" y="2659037"/>
            <a:ext cx="4547097" cy="3921308"/>
            <a:chOff x="317413" y="2659037"/>
            <a:chExt cx="4547097" cy="3921308"/>
          </a:xfrm>
        </p:grpSpPr>
        <p:grpSp>
          <p:nvGrpSpPr>
            <p:cNvPr id="4" name="グループ化 3">
              <a:extLst>
                <a:ext uri="{FF2B5EF4-FFF2-40B4-BE49-F238E27FC236}">
                  <a16:creationId xmlns:a16="http://schemas.microsoft.com/office/drawing/2014/main" id="{EBBA515B-33AE-83AD-9203-946B06224A02}"/>
                </a:ext>
              </a:extLst>
            </p:cNvPr>
            <p:cNvGrpSpPr/>
            <p:nvPr/>
          </p:nvGrpSpPr>
          <p:grpSpPr>
            <a:xfrm>
              <a:off x="2278558" y="2688109"/>
              <a:ext cx="2585952" cy="1429979"/>
              <a:chOff x="4122086" y="2013085"/>
              <a:chExt cx="2634526" cy="1923399"/>
            </a:xfrm>
          </p:grpSpPr>
          <p:sp>
            <p:nvSpPr>
              <p:cNvPr id="5" name="四角形: 角を丸くする 4">
                <a:extLst>
                  <a:ext uri="{FF2B5EF4-FFF2-40B4-BE49-F238E27FC236}">
                    <a16:creationId xmlns:a16="http://schemas.microsoft.com/office/drawing/2014/main" id="{51DD5B60-A4BC-7AD5-11B9-03C89F6EEF32}"/>
                  </a:ext>
                </a:extLst>
              </p:cNvPr>
              <p:cNvSpPr/>
              <p:nvPr/>
            </p:nvSpPr>
            <p:spPr bwMode="gray">
              <a:xfrm>
                <a:off x="4666046" y="2013085"/>
                <a:ext cx="1546605" cy="471549"/>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a:ln>
                      <a:noFill/>
                    </a:ln>
                    <a:solidFill>
                      <a:prstClr val="black"/>
                    </a:solidFill>
                    <a:effectLst/>
                    <a:uLnTx/>
                    <a:uFillTx/>
                    <a:latin typeface="+mn-ea"/>
                    <a:ea typeface="+mn-ea"/>
                    <a:cs typeface="Arial" charset="0"/>
                  </a:rPr>
                  <a:t>DID</a:t>
                </a:r>
                <a:r>
                  <a:rPr kumimoji="0" lang="ja-JP" altLang="en-US" sz="1050" b="0" i="0" u="none" strike="noStrike" kern="0" cap="none" spc="0" normalizeH="0" baseline="0" noProof="0" dirty="0">
                    <a:ln>
                      <a:noFill/>
                    </a:ln>
                    <a:solidFill>
                      <a:prstClr val="black"/>
                    </a:solidFill>
                    <a:effectLst/>
                    <a:uLnTx/>
                    <a:uFillTx/>
                    <a:latin typeface="+mn-ea"/>
                    <a:ea typeface="+mn-ea"/>
                    <a:cs typeface="Arial" charset="0"/>
                  </a:rPr>
                  <a:t>メソッド</a:t>
                </a:r>
                <a:endParaRPr kumimoji="0" lang="en-US" altLang="ja-JP" sz="105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err="1">
                    <a:ln>
                      <a:noFill/>
                    </a:ln>
                    <a:solidFill>
                      <a:prstClr val="black"/>
                    </a:solidFill>
                    <a:effectLst/>
                    <a:uLnTx/>
                    <a:uFillTx/>
                    <a:latin typeface="+mn-ea"/>
                    <a:ea typeface="+mn-ea"/>
                    <a:cs typeface="Arial" charset="0"/>
                  </a:rPr>
                  <a:t>did:ion</a:t>
                </a:r>
                <a:r>
                  <a:rPr kumimoji="0" lang="en-US" altLang="ja-JP" sz="1050" b="0" i="0" u="none" strike="noStrike" kern="0" cap="none" spc="0" normalizeH="0" baseline="0" noProof="0" dirty="0">
                    <a:ln>
                      <a:noFill/>
                    </a:ln>
                    <a:solidFill>
                      <a:prstClr val="black"/>
                    </a:solidFill>
                    <a:effectLst/>
                    <a:uLnTx/>
                    <a:uFillTx/>
                    <a:latin typeface="+mn-ea"/>
                    <a:ea typeface="+mn-ea"/>
                    <a:cs typeface="Arial" charset="0"/>
                  </a:rPr>
                  <a:t>:</a:t>
                </a:r>
                <a:r>
                  <a:rPr kumimoji="0" lang="en-US" altLang="ja-JP" sz="1050" kern="0" dirty="0" err="1">
                    <a:solidFill>
                      <a:prstClr val="black"/>
                    </a:solidFill>
                    <a:latin typeface="+mn-ea"/>
                    <a:ea typeface="+mn-ea"/>
                    <a:cs typeface="Arial" charset="0"/>
                  </a:rPr>
                  <a:t>abcde</a:t>
                </a:r>
                <a:endParaRPr kumimoji="0" lang="ja-JP" altLang="en-US" sz="105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6" name="四角形: 角を丸くする 5">
                <a:extLst>
                  <a:ext uri="{FF2B5EF4-FFF2-40B4-BE49-F238E27FC236}">
                    <a16:creationId xmlns:a16="http://schemas.microsoft.com/office/drawing/2014/main" id="{D4D5E1FF-1325-B945-A3DC-7AE4420A0D8E}"/>
                  </a:ext>
                </a:extLst>
              </p:cNvPr>
              <p:cNvSpPr/>
              <p:nvPr/>
            </p:nvSpPr>
            <p:spPr bwMode="gray">
              <a:xfrm>
                <a:off x="4122086" y="3106031"/>
                <a:ext cx="779876" cy="830453"/>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err="1">
                    <a:ln>
                      <a:noFill/>
                    </a:ln>
                    <a:solidFill>
                      <a:prstClr val="black"/>
                    </a:solidFill>
                    <a:effectLst/>
                    <a:uLnTx/>
                    <a:uFillTx/>
                    <a:latin typeface="+mn-ea"/>
                    <a:ea typeface="+mn-ea"/>
                    <a:cs typeface="Arial" charset="0"/>
                  </a:rPr>
                  <a:t>did:web</a:t>
                </a:r>
                <a:endParaRPr kumimoji="0" lang="ja-JP" altLang="en-US" sz="105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7" name="四角形: 角を丸くする 6">
                <a:extLst>
                  <a:ext uri="{FF2B5EF4-FFF2-40B4-BE49-F238E27FC236}">
                    <a16:creationId xmlns:a16="http://schemas.microsoft.com/office/drawing/2014/main" id="{97B17CA4-9693-C285-0EBF-9D00F2A6BDFA}"/>
                  </a:ext>
                </a:extLst>
              </p:cNvPr>
              <p:cNvSpPr/>
              <p:nvPr/>
            </p:nvSpPr>
            <p:spPr bwMode="gray">
              <a:xfrm>
                <a:off x="5049411" y="3106031"/>
                <a:ext cx="779876" cy="830453"/>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err="1">
                    <a:ln>
                      <a:noFill/>
                    </a:ln>
                    <a:solidFill>
                      <a:prstClr val="black"/>
                    </a:solidFill>
                    <a:effectLst/>
                    <a:uLnTx/>
                    <a:uFillTx/>
                    <a:latin typeface="+mn-ea"/>
                    <a:ea typeface="+mn-ea"/>
                    <a:cs typeface="Arial" charset="0"/>
                  </a:rPr>
                  <a:t>did:ion</a:t>
                </a:r>
                <a:endParaRPr kumimoji="0" lang="ja-JP" altLang="en-US" sz="105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8" name="四角形: 角を丸くする 7">
                <a:extLst>
                  <a:ext uri="{FF2B5EF4-FFF2-40B4-BE49-F238E27FC236}">
                    <a16:creationId xmlns:a16="http://schemas.microsoft.com/office/drawing/2014/main" id="{E237EFF1-A9D0-E4FD-0CFF-77B551D76DE9}"/>
                  </a:ext>
                </a:extLst>
              </p:cNvPr>
              <p:cNvSpPr/>
              <p:nvPr/>
            </p:nvSpPr>
            <p:spPr bwMode="gray">
              <a:xfrm>
                <a:off x="5976736" y="3106031"/>
                <a:ext cx="779876" cy="830453"/>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err="1">
                    <a:ln>
                      <a:noFill/>
                    </a:ln>
                    <a:solidFill>
                      <a:prstClr val="black"/>
                    </a:solidFill>
                    <a:effectLst/>
                    <a:uLnTx/>
                    <a:uFillTx/>
                    <a:latin typeface="+mn-ea"/>
                    <a:ea typeface="+mn-ea"/>
                    <a:cs typeface="Arial" charset="0"/>
                  </a:rPr>
                  <a:t>didi:indy</a:t>
                </a:r>
                <a:endParaRPr kumimoji="0" lang="ja-JP" altLang="en-US" sz="1050" b="0" i="0" u="none" strike="noStrike" kern="0" cap="none" spc="0" normalizeH="0" baseline="0" noProof="0" dirty="0">
                  <a:ln>
                    <a:noFill/>
                  </a:ln>
                  <a:solidFill>
                    <a:prstClr val="black"/>
                  </a:solidFill>
                  <a:effectLst/>
                  <a:uLnTx/>
                  <a:uFillTx/>
                  <a:latin typeface="+mn-ea"/>
                  <a:ea typeface="+mn-ea"/>
                  <a:cs typeface="Arial" charset="0"/>
                </a:endParaRPr>
              </a:p>
            </p:txBody>
          </p:sp>
          <p:cxnSp>
            <p:nvCxnSpPr>
              <p:cNvPr id="9" name="直線矢印コネクタ 8">
                <a:extLst>
                  <a:ext uri="{FF2B5EF4-FFF2-40B4-BE49-F238E27FC236}">
                    <a16:creationId xmlns:a16="http://schemas.microsoft.com/office/drawing/2014/main" id="{FA27BB54-21AE-FF21-2E64-0CE0A65BC0B5}"/>
                  </a:ext>
                </a:extLst>
              </p:cNvPr>
              <p:cNvCxnSpPr>
                <a:cxnSpLocks/>
                <a:stCxn id="5" idx="2"/>
                <a:endCxn id="6" idx="0"/>
              </p:cNvCxnSpPr>
              <p:nvPr/>
            </p:nvCxnSpPr>
            <p:spPr bwMode="gray">
              <a:xfrm flipH="1">
                <a:off x="4512024" y="2484634"/>
                <a:ext cx="927325" cy="621397"/>
              </a:xfrm>
              <a:prstGeom prst="straightConnector1">
                <a:avLst/>
              </a:prstGeom>
              <a:solidFill>
                <a:schemeClr val="accent1">
                  <a:lumMod val="20000"/>
                  <a:lumOff val="80000"/>
                </a:schemeClr>
              </a:solidFill>
              <a:ln w="12700" cap="flat" cmpd="sng" algn="ctr">
                <a:solidFill>
                  <a:srgbClr val="53565A"/>
                </a:solidFill>
                <a:prstDash val="solid"/>
                <a:tailEnd type="triangle"/>
              </a:ln>
              <a:effectLst/>
            </p:spPr>
          </p:cxnSp>
          <p:cxnSp>
            <p:nvCxnSpPr>
              <p:cNvPr id="10" name="直線矢印コネクタ 9">
                <a:extLst>
                  <a:ext uri="{FF2B5EF4-FFF2-40B4-BE49-F238E27FC236}">
                    <a16:creationId xmlns:a16="http://schemas.microsoft.com/office/drawing/2014/main" id="{DF79E134-E91B-D2AF-63B7-0FE6B34C4655}"/>
                  </a:ext>
                </a:extLst>
              </p:cNvPr>
              <p:cNvCxnSpPr>
                <a:cxnSpLocks/>
                <a:stCxn id="5" idx="2"/>
                <a:endCxn id="7" idx="0"/>
              </p:cNvCxnSpPr>
              <p:nvPr/>
            </p:nvCxnSpPr>
            <p:spPr bwMode="gray">
              <a:xfrm>
                <a:off x="5439349" y="2484634"/>
                <a:ext cx="0" cy="621397"/>
              </a:xfrm>
              <a:prstGeom prst="straightConnector1">
                <a:avLst/>
              </a:prstGeom>
              <a:noFill/>
              <a:ln w="12700" cap="flat" cmpd="sng" algn="ctr">
                <a:solidFill>
                  <a:srgbClr val="53565A"/>
                </a:solidFill>
                <a:prstDash val="solid"/>
                <a:tailEnd type="triangle"/>
              </a:ln>
              <a:effectLst/>
            </p:spPr>
          </p:cxnSp>
          <p:cxnSp>
            <p:nvCxnSpPr>
              <p:cNvPr id="11" name="直線矢印コネクタ 10">
                <a:extLst>
                  <a:ext uri="{FF2B5EF4-FFF2-40B4-BE49-F238E27FC236}">
                    <a16:creationId xmlns:a16="http://schemas.microsoft.com/office/drawing/2014/main" id="{D6E6AE5C-B0E9-7FB9-967D-9F41C8870A4B}"/>
                  </a:ext>
                </a:extLst>
              </p:cNvPr>
              <p:cNvCxnSpPr>
                <a:cxnSpLocks/>
                <a:stCxn id="5" idx="2"/>
                <a:endCxn id="8" idx="0"/>
              </p:cNvCxnSpPr>
              <p:nvPr/>
            </p:nvCxnSpPr>
            <p:spPr bwMode="gray">
              <a:xfrm>
                <a:off x="5439349" y="2484634"/>
                <a:ext cx="927326" cy="621397"/>
              </a:xfrm>
              <a:prstGeom prst="straightConnector1">
                <a:avLst/>
              </a:prstGeom>
              <a:noFill/>
              <a:ln w="12700" cap="flat" cmpd="sng" algn="ctr">
                <a:solidFill>
                  <a:srgbClr val="53565A"/>
                </a:solidFill>
                <a:prstDash val="solid"/>
                <a:tailEnd type="triangle"/>
              </a:ln>
              <a:effectLst/>
            </p:spPr>
          </p:cxnSp>
          <p:sp>
            <p:nvSpPr>
              <p:cNvPr id="12" name="正方形/長方形 11">
                <a:extLst>
                  <a:ext uri="{FF2B5EF4-FFF2-40B4-BE49-F238E27FC236}">
                    <a16:creationId xmlns:a16="http://schemas.microsoft.com/office/drawing/2014/main" id="{C618EDD8-6A3B-827C-D6E4-ADA500A06986}"/>
                  </a:ext>
                </a:extLst>
              </p:cNvPr>
              <p:cNvSpPr/>
              <p:nvPr/>
            </p:nvSpPr>
            <p:spPr bwMode="gray">
              <a:xfrm>
                <a:off x="4171622" y="3450906"/>
                <a:ext cx="666955" cy="451149"/>
              </a:xfrm>
              <a:prstGeom prst="rect">
                <a:avLst/>
              </a:prstGeom>
              <a:solidFill>
                <a:schemeClr val="accent1">
                  <a:lumMod val="20000"/>
                  <a:lumOff val="80000"/>
                </a:schemeClr>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a:ln>
                      <a:noFill/>
                    </a:ln>
                    <a:solidFill>
                      <a:prstClr val="black"/>
                    </a:solidFill>
                    <a:effectLst/>
                    <a:uLnTx/>
                    <a:uFillTx/>
                    <a:latin typeface="+mn-ea"/>
                    <a:ea typeface="+mn-ea"/>
                    <a:cs typeface="+mn-cs"/>
                  </a:rPr>
                  <a:t>DID</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mn-ea"/>
                    <a:ea typeface="+mn-ea"/>
                    <a:cs typeface="+mn-cs"/>
                  </a:rPr>
                  <a:t>ドキュメント</a:t>
                </a:r>
                <a:endParaRPr kumimoji="0" lang="en-US" altLang="ja-JP" sz="1050" b="0" i="0" u="none" strike="noStrike" kern="0" cap="none" spc="0" normalizeH="0" baseline="0" noProof="0" dirty="0">
                  <a:ln>
                    <a:noFill/>
                  </a:ln>
                  <a:solidFill>
                    <a:prstClr val="black"/>
                  </a:solidFill>
                  <a:effectLst/>
                  <a:uLnTx/>
                  <a:uFillTx/>
                  <a:latin typeface="+mn-ea"/>
                  <a:ea typeface="+mn-ea"/>
                  <a:cs typeface="+mn-cs"/>
                </a:endParaRPr>
              </a:p>
            </p:txBody>
          </p:sp>
          <p:sp>
            <p:nvSpPr>
              <p:cNvPr id="13" name="正方形/長方形 12">
                <a:extLst>
                  <a:ext uri="{FF2B5EF4-FFF2-40B4-BE49-F238E27FC236}">
                    <a16:creationId xmlns:a16="http://schemas.microsoft.com/office/drawing/2014/main" id="{0A47CE22-8659-725E-16E0-1115A9BF3C6F}"/>
                  </a:ext>
                </a:extLst>
              </p:cNvPr>
              <p:cNvSpPr/>
              <p:nvPr/>
            </p:nvSpPr>
            <p:spPr bwMode="gray">
              <a:xfrm>
                <a:off x="5101349" y="3450906"/>
                <a:ext cx="666955" cy="451149"/>
              </a:xfrm>
              <a:prstGeom prst="rect">
                <a:avLst/>
              </a:prstGeom>
              <a:solidFill>
                <a:schemeClr val="accent1">
                  <a:lumMod val="20000"/>
                  <a:lumOff val="80000"/>
                </a:schemeClr>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a:ln>
                      <a:noFill/>
                    </a:ln>
                    <a:solidFill>
                      <a:prstClr val="black"/>
                    </a:solidFill>
                    <a:effectLst/>
                    <a:uLnTx/>
                    <a:uFillTx/>
                    <a:latin typeface="+mn-ea"/>
                    <a:ea typeface="+mn-ea"/>
                    <a:cs typeface="+mn-cs"/>
                  </a:rPr>
                  <a:t>DID</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mn-ea"/>
                    <a:ea typeface="+mn-ea"/>
                    <a:cs typeface="+mn-cs"/>
                  </a:rPr>
                  <a:t>ドキュメント</a:t>
                </a:r>
              </a:p>
            </p:txBody>
          </p:sp>
          <p:sp>
            <p:nvSpPr>
              <p:cNvPr id="14" name="正方形/長方形 13">
                <a:extLst>
                  <a:ext uri="{FF2B5EF4-FFF2-40B4-BE49-F238E27FC236}">
                    <a16:creationId xmlns:a16="http://schemas.microsoft.com/office/drawing/2014/main" id="{B5FE7BA8-4765-F113-ECE8-8ADD1DB54CC8}"/>
                  </a:ext>
                </a:extLst>
              </p:cNvPr>
              <p:cNvSpPr/>
              <p:nvPr/>
            </p:nvSpPr>
            <p:spPr bwMode="gray">
              <a:xfrm>
                <a:off x="6047272" y="3450906"/>
                <a:ext cx="666955" cy="451149"/>
              </a:xfrm>
              <a:prstGeom prst="rect">
                <a:avLst/>
              </a:prstGeom>
              <a:solidFill>
                <a:schemeClr val="accent1">
                  <a:lumMod val="20000"/>
                  <a:lumOff val="80000"/>
                </a:schemeClr>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a:ln>
                      <a:noFill/>
                    </a:ln>
                    <a:solidFill>
                      <a:prstClr val="black"/>
                    </a:solidFill>
                    <a:effectLst/>
                    <a:uLnTx/>
                    <a:uFillTx/>
                    <a:latin typeface="+mn-ea"/>
                    <a:ea typeface="+mn-ea"/>
                    <a:cs typeface="+mn-cs"/>
                  </a:rPr>
                  <a:t>DID</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mn-ea"/>
                    <a:ea typeface="+mn-ea"/>
                    <a:cs typeface="+mn-cs"/>
                  </a:rPr>
                  <a:t>ドキュメント</a:t>
                </a:r>
              </a:p>
            </p:txBody>
          </p:sp>
        </p:grpSp>
        <p:grpSp>
          <p:nvGrpSpPr>
            <p:cNvPr id="15" name="グループ化 14">
              <a:extLst>
                <a:ext uri="{FF2B5EF4-FFF2-40B4-BE49-F238E27FC236}">
                  <a16:creationId xmlns:a16="http://schemas.microsoft.com/office/drawing/2014/main" id="{317FB2A6-AEF8-B77B-995A-9E1AA66CDE06}"/>
                </a:ext>
              </a:extLst>
            </p:cNvPr>
            <p:cNvGrpSpPr/>
            <p:nvPr/>
          </p:nvGrpSpPr>
          <p:grpSpPr>
            <a:xfrm>
              <a:off x="415460" y="3571708"/>
              <a:ext cx="844131" cy="894056"/>
              <a:chOff x="2413551" y="2284676"/>
              <a:chExt cx="844131" cy="894056"/>
            </a:xfrm>
          </p:grpSpPr>
          <p:sp>
            <p:nvSpPr>
              <p:cNvPr id="16" name="正方形/長方形 15">
                <a:extLst>
                  <a:ext uri="{FF2B5EF4-FFF2-40B4-BE49-F238E27FC236}">
                    <a16:creationId xmlns:a16="http://schemas.microsoft.com/office/drawing/2014/main" id="{293A4A46-07D2-75CE-B7E3-AB5E52762DB9}"/>
                  </a:ext>
                </a:extLst>
              </p:cNvPr>
              <p:cNvSpPr/>
              <p:nvPr/>
            </p:nvSpPr>
            <p:spPr bwMode="gray">
              <a:xfrm>
                <a:off x="2413551" y="2284676"/>
                <a:ext cx="844131" cy="894056"/>
              </a:xfrm>
              <a:prstGeom prst="rect">
                <a:avLst/>
              </a:prstGeom>
              <a:solidFill>
                <a:schemeClr val="bg1">
                  <a:lumMod val="8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a:ln>
                      <a:noFill/>
                    </a:ln>
                    <a:solidFill>
                      <a:prstClr val="black"/>
                    </a:solidFill>
                    <a:effectLst/>
                    <a:uLnTx/>
                    <a:uFillTx/>
                    <a:latin typeface="+mn-ea"/>
                    <a:ea typeface="+mn-ea"/>
                    <a:cs typeface="Arial" charset="0"/>
                  </a:rPr>
                  <a:t>VC</a:t>
                </a:r>
                <a:endParaRPr kumimoji="0" lang="ja-JP" altLang="en-US" sz="1050" b="0" i="0" u="none" strike="noStrike" kern="0" cap="none" spc="0" normalizeH="0" baseline="0" noProof="0">
                  <a:ln>
                    <a:noFill/>
                  </a:ln>
                  <a:solidFill>
                    <a:prstClr val="black"/>
                  </a:solidFill>
                  <a:effectLst/>
                  <a:uLnTx/>
                  <a:uFillTx/>
                  <a:latin typeface="+mn-ea"/>
                  <a:ea typeface="+mn-ea"/>
                  <a:cs typeface="Arial" charset="0"/>
                </a:endParaRPr>
              </a:p>
            </p:txBody>
          </p:sp>
          <p:sp>
            <p:nvSpPr>
              <p:cNvPr id="17" name="正方形/長方形 16">
                <a:extLst>
                  <a:ext uri="{FF2B5EF4-FFF2-40B4-BE49-F238E27FC236}">
                    <a16:creationId xmlns:a16="http://schemas.microsoft.com/office/drawing/2014/main" id="{B94312FB-586B-EC54-2A91-9A7C105047E3}"/>
                  </a:ext>
                </a:extLst>
              </p:cNvPr>
              <p:cNvSpPr/>
              <p:nvPr/>
            </p:nvSpPr>
            <p:spPr bwMode="gray">
              <a:xfrm>
                <a:off x="2560054" y="2512417"/>
                <a:ext cx="586027" cy="330308"/>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証明書</a:t>
                </a:r>
                <a:endParaRPr kumimoji="0" lang="en-US" altLang="ja-JP" sz="1050" b="0" i="0" u="none" strike="noStrike" kern="0" cap="none" spc="0" normalizeH="0" baseline="0" noProof="0">
                  <a:ln>
                    <a:noFill/>
                  </a:ln>
                  <a:solidFill>
                    <a:prstClr val="black"/>
                  </a:solidFill>
                  <a:effectLst/>
                  <a:uLnTx/>
                  <a:uFillTx/>
                  <a:latin typeface="+mn-ea"/>
                  <a:ea typeface="+mn-ea"/>
                  <a:cs typeface="+mn-cs"/>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情報</a:t>
                </a:r>
              </a:p>
            </p:txBody>
          </p:sp>
          <p:sp>
            <p:nvSpPr>
              <p:cNvPr id="18" name="正方形/長方形 17">
                <a:extLst>
                  <a:ext uri="{FF2B5EF4-FFF2-40B4-BE49-F238E27FC236}">
                    <a16:creationId xmlns:a16="http://schemas.microsoft.com/office/drawing/2014/main" id="{A5AD5F82-20A8-CB25-5A20-1A5FF7ABD03E}"/>
                  </a:ext>
                </a:extLst>
              </p:cNvPr>
              <p:cNvSpPr/>
              <p:nvPr/>
            </p:nvSpPr>
            <p:spPr bwMode="gray">
              <a:xfrm>
                <a:off x="2560054" y="2895932"/>
                <a:ext cx="586027" cy="214970"/>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署名</a:t>
                </a:r>
              </a:p>
            </p:txBody>
          </p:sp>
        </p:grpSp>
        <p:grpSp>
          <p:nvGrpSpPr>
            <p:cNvPr id="19" name="グループ化 18">
              <a:extLst>
                <a:ext uri="{FF2B5EF4-FFF2-40B4-BE49-F238E27FC236}">
                  <a16:creationId xmlns:a16="http://schemas.microsoft.com/office/drawing/2014/main" id="{2297DFD8-29FD-6CF5-FAC6-62D5924757EC}"/>
                </a:ext>
              </a:extLst>
            </p:cNvPr>
            <p:cNvGrpSpPr/>
            <p:nvPr/>
          </p:nvGrpSpPr>
          <p:grpSpPr>
            <a:xfrm>
              <a:off x="669522" y="2659037"/>
              <a:ext cx="336007" cy="538069"/>
              <a:chOff x="376047" y="2696060"/>
              <a:chExt cx="336007" cy="538069"/>
            </a:xfrm>
          </p:grpSpPr>
          <p:sp>
            <p:nvSpPr>
              <p:cNvPr id="20" name="楕円 19">
                <a:extLst>
                  <a:ext uri="{FF2B5EF4-FFF2-40B4-BE49-F238E27FC236}">
                    <a16:creationId xmlns:a16="http://schemas.microsoft.com/office/drawing/2014/main" id="{697A1BFE-3147-0C6C-CE37-C8D694BC3EEF}"/>
                  </a:ext>
                </a:extLst>
              </p:cNvPr>
              <p:cNvSpPr/>
              <p:nvPr/>
            </p:nvSpPr>
            <p:spPr bwMode="gray">
              <a:xfrm>
                <a:off x="422972" y="2696060"/>
                <a:ext cx="242159" cy="242159"/>
              </a:xfrm>
              <a:prstGeom prst="ellips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21" name="矢印: 五方向 20">
                <a:extLst>
                  <a:ext uri="{FF2B5EF4-FFF2-40B4-BE49-F238E27FC236}">
                    <a16:creationId xmlns:a16="http://schemas.microsoft.com/office/drawing/2014/main" id="{1F6EFD6E-1843-9F65-BFA4-1A5AA26A87EA}"/>
                  </a:ext>
                </a:extLst>
              </p:cNvPr>
              <p:cNvSpPr/>
              <p:nvPr/>
            </p:nvSpPr>
            <p:spPr bwMode="gray">
              <a:xfrm rot="16200000">
                <a:off x="366497" y="2888571"/>
                <a:ext cx="355108" cy="336007"/>
              </a:xfrm>
              <a:prstGeom prst="homePlat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grpSp>
        <p:sp>
          <p:nvSpPr>
            <p:cNvPr id="22" name="テキスト ボックス 21">
              <a:extLst>
                <a:ext uri="{FF2B5EF4-FFF2-40B4-BE49-F238E27FC236}">
                  <a16:creationId xmlns:a16="http://schemas.microsoft.com/office/drawing/2014/main" id="{3CEE4A5D-5417-C36E-A07E-F4940DA5A8A8}"/>
                </a:ext>
              </a:extLst>
            </p:cNvPr>
            <p:cNvSpPr txBox="1"/>
            <p:nvPr/>
          </p:nvSpPr>
          <p:spPr bwMode="gray">
            <a:xfrm>
              <a:off x="647858" y="3184306"/>
              <a:ext cx="486433" cy="16158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050">
                  <a:solidFill>
                    <a:prstClr val="black"/>
                  </a:solidFill>
                  <a:latin typeface="+mn-ea"/>
                  <a:ea typeface="+mn-ea"/>
                  <a:cs typeface="Arial" charset="0"/>
                </a:rPr>
                <a:t>Issuer</a:t>
              </a:r>
              <a:endParaRPr lang="ja-JP" altLang="en-US" sz="1050">
                <a:solidFill>
                  <a:prstClr val="black"/>
                </a:solidFill>
                <a:latin typeface="+mn-ea"/>
                <a:ea typeface="+mn-ea"/>
                <a:cs typeface="Arial" charset="0"/>
              </a:endParaRPr>
            </a:p>
          </p:txBody>
        </p:sp>
        <p:sp>
          <p:nvSpPr>
            <p:cNvPr id="23" name="正方形/長方形 22">
              <a:extLst>
                <a:ext uri="{FF2B5EF4-FFF2-40B4-BE49-F238E27FC236}">
                  <a16:creationId xmlns:a16="http://schemas.microsoft.com/office/drawing/2014/main" id="{3908616F-EB42-ED81-E5C1-99CD53D05C45}"/>
                </a:ext>
              </a:extLst>
            </p:cNvPr>
            <p:cNvSpPr/>
            <p:nvPr/>
          </p:nvSpPr>
          <p:spPr bwMode="gray">
            <a:xfrm>
              <a:off x="1164385" y="3085270"/>
              <a:ext cx="586027" cy="214970"/>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秘密鍵</a:t>
              </a:r>
            </a:p>
          </p:txBody>
        </p:sp>
        <p:sp>
          <p:nvSpPr>
            <p:cNvPr id="24" name="正方形/長方形 23">
              <a:extLst>
                <a:ext uri="{FF2B5EF4-FFF2-40B4-BE49-F238E27FC236}">
                  <a16:creationId xmlns:a16="http://schemas.microsoft.com/office/drawing/2014/main" id="{F3CB391D-DFC5-5312-FE55-5BD01566CBF3}"/>
                </a:ext>
              </a:extLst>
            </p:cNvPr>
            <p:cNvSpPr/>
            <p:nvPr/>
          </p:nvSpPr>
          <p:spPr bwMode="gray">
            <a:xfrm>
              <a:off x="1165034" y="2859286"/>
              <a:ext cx="586027" cy="214970"/>
            </a:xfrm>
            <a:prstGeom prst="rect">
              <a:avLst/>
            </a:prstGeom>
            <a:solidFill>
              <a:schemeClr val="accent1"/>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schemeClr val="bg1"/>
                  </a:solidFill>
                  <a:effectLst/>
                  <a:uLnTx/>
                  <a:uFillTx/>
                  <a:latin typeface="+mn-ea"/>
                  <a:ea typeface="+mn-ea"/>
                  <a:cs typeface="+mn-cs"/>
                </a:rPr>
                <a:t>公開鍵</a:t>
              </a:r>
            </a:p>
          </p:txBody>
        </p:sp>
        <p:sp>
          <p:nvSpPr>
            <p:cNvPr id="25" name="テキスト ボックス 24">
              <a:extLst>
                <a:ext uri="{FF2B5EF4-FFF2-40B4-BE49-F238E27FC236}">
                  <a16:creationId xmlns:a16="http://schemas.microsoft.com/office/drawing/2014/main" id="{0F89A7E2-C0FA-5FD2-6CB0-18ACA478C3A8}"/>
                </a:ext>
              </a:extLst>
            </p:cNvPr>
            <p:cNvSpPr txBox="1"/>
            <p:nvPr/>
          </p:nvSpPr>
          <p:spPr bwMode="gray">
            <a:xfrm>
              <a:off x="1206399" y="2688109"/>
              <a:ext cx="486433" cy="161583"/>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050">
                  <a:solidFill>
                    <a:prstClr val="black"/>
                  </a:solidFill>
                  <a:latin typeface="+mn-ea"/>
                  <a:ea typeface="+mn-ea"/>
                  <a:cs typeface="Arial" charset="0"/>
                </a:rPr>
                <a:t>鍵ペア</a:t>
              </a:r>
            </a:p>
          </p:txBody>
        </p:sp>
        <p:grpSp>
          <p:nvGrpSpPr>
            <p:cNvPr id="26" name="グループ化 25">
              <a:extLst>
                <a:ext uri="{FF2B5EF4-FFF2-40B4-BE49-F238E27FC236}">
                  <a16:creationId xmlns:a16="http://schemas.microsoft.com/office/drawing/2014/main" id="{D738A1D2-B0F2-9152-1F45-03A54D64E5B0}"/>
                </a:ext>
              </a:extLst>
            </p:cNvPr>
            <p:cNvGrpSpPr/>
            <p:nvPr/>
          </p:nvGrpSpPr>
          <p:grpSpPr>
            <a:xfrm>
              <a:off x="4442753" y="5333891"/>
              <a:ext cx="336007" cy="538069"/>
              <a:chOff x="376047" y="2696060"/>
              <a:chExt cx="336007" cy="538069"/>
            </a:xfrm>
          </p:grpSpPr>
          <p:sp>
            <p:nvSpPr>
              <p:cNvPr id="27" name="楕円 26">
                <a:extLst>
                  <a:ext uri="{FF2B5EF4-FFF2-40B4-BE49-F238E27FC236}">
                    <a16:creationId xmlns:a16="http://schemas.microsoft.com/office/drawing/2014/main" id="{DBBC2617-D077-6314-0DD2-59A965D078B8}"/>
                  </a:ext>
                </a:extLst>
              </p:cNvPr>
              <p:cNvSpPr/>
              <p:nvPr/>
            </p:nvSpPr>
            <p:spPr bwMode="gray">
              <a:xfrm>
                <a:off x="422972" y="2696060"/>
                <a:ext cx="242159" cy="242159"/>
              </a:xfrm>
              <a:prstGeom prst="ellips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28" name="矢印: 五方向 27">
                <a:extLst>
                  <a:ext uri="{FF2B5EF4-FFF2-40B4-BE49-F238E27FC236}">
                    <a16:creationId xmlns:a16="http://schemas.microsoft.com/office/drawing/2014/main" id="{D38A65C3-12AD-3C2B-4A95-C775014C96D2}"/>
                  </a:ext>
                </a:extLst>
              </p:cNvPr>
              <p:cNvSpPr/>
              <p:nvPr/>
            </p:nvSpPr>
            <p:spPr bwMode="gray">
              <a:xfrm rot="16200000">
                <a:off x="366497" y="2888571"/>
                <a:ext cx="355108" cy="336007"/>
              </a:xfrm>
              <a:prstGeom prst="homePlat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grpSp>
        <p:sp>
          <p:nvSpPr>
            <p:cNvPr id="29" name="テキスト ボックス 28">
              <a:extLst>
                <a:ext uri="{FF2B5EF4-FFF2-40B4-BE49-F238E27FC236}">
                  <a16:creationId xmlns:a16="http://schemas.microsoft.com/office/drawing/2014/main" id="{44585F55-15EF-7118-B3D2-469ACC14558A}"/>
                </a:ext>
              </a:extLst>
            </p:cNvPr>
            <p:cNvSpPr txBox="1"/>
            <p:nvPr/>
          </p:nvSpPr>
          <p:spPr bwMode="gray">
            <a:xfrm>
              <a:off x="4367540" y="5859160"/>
              <a:ext cx="486433" cy="16158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050" dirty="0">
                  <a:solidFill>
                    <a:prstClr val="black"/>
                  </a:solidFill>
                  <a:latin typeface="+mn-ea"/>
                  <a:ea typeface="+mn-ea"/>
                  <a:cs typeface="Arial" charset="0"/>
                </a:rPr>
                <a:t>Verifier</a:t>
              </a:r>
              <a:endParaRPr lang="ja-JP" altLang="en-US" sz="1050">
                <a:solidFill>
                  <a:prstClr val="black"/>
                </a:solidFill>
                <a:latin typeface="+mn-ea"/>
                <a:ea typeface="+mn-ea"/>
                <a:cs typeface="Arial" charset="0"/>
              </a:endParaRPr>
            </a:p>
          </p:txBody>
        </p:sp>
        <p:sp>
          <p:nvSpPr>
            <p:cNvPr id="30" name="正方形/長方形 29">
              <a:extLst>
                <a:ext uri="{FF2B5EF4-FFF2-40B4-BE49-F238E27FC236}">
                  <a16:creationId xmlns:a16="http://schemas.microsoft.com/office/drawing/2014/main" id="{80D93E8A-F580-BE3A-8272-3081BAC2FB58}"/>
                </a:ext>
              </a:extLst>
            </p:cNvPr>
            <p:cNvSpPr/>
            <p:nvPr/>
          </p:nvSpPr>
          <p:spPr bwMode="gray">
            <a:xfrm>
              <a:off x="2365739" y="5298888"/>
              <a:ext cx="844131" cy="894056"/>
            </a:xfrm>
            <a:prstGeom prst="rect">
              <a:avLst/>
            </a:prstGeom>
            <a:solidFill>
              <a:schemeClr val="bg1">
                <a:lumMod val="8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50">
                  <a:solidFill>
                    <a:prstClr val="black"/>
                  </a:solidFill>
                  <a:latin typeface="+mn-ea"/>
                  <a:ea typeface="+mn-ea"/>
                  <a:cs typeface="Arial" charset="0"/>
                </a:rPr>
                <a:t>VP</a:t>
              </a:r>
              <a:endParaRPr lang="ja-JP" altLang="en-US" sz="1050">
                <a:solidFill>
                  <a:prstClr val="black"/>
                </a:solidFill>
                <a:latin typeface="+mn-ea"/>
                <a:ea typeface="+mn-ea"/>
                <a:cs typeface="Arial" charset="0"/>
              </a:endParaRPr>
            </a:p>
          </p:txBody>
        </p:sp>
        <p:grpSp>
          <p:nvGrpSpPr>
            <p:cNvPr id="31" name="グループ化 30">
              <a:extLst>
                <a:ext uri="{FF2B5EF4-FFF2-40B4-BE49-F238E27FC236}">
                  <a16:creationId xmlns:a16="http://schemas.microsoft.com/office/drawing/2014/main" id="{8BE981EB-4FA8-D8D7-286D-BED22C953ADE}"/>
                </a:ext>
              </a:extLst>
            </p:cNvPr>
            <p:cNvGrpSpPr/>
            <p:nvPr/>
          </p:nvGrpSpPr>
          <p:grpSpPr>
            <a:xfrm>
              <a:off x="2487875" y="5464826"/>
              <a:ext cx="636199" cy="673826"/>
              <a:chOff x="2222862" y="2317748"/>
              <a:chExt cx="844131" cy="894056"/>
            </a:xfrm>
          </p:grpSpPr>
          <p:sp>
            <p:nvSpPr>
              <p:cNvPr id="32" name="正方形/長方形 31">
                <a:extLst>
                  <a:ext uri="{FF2B5EF4-FFF2-40B4-BE49-F238E27FC236}">
                    <a16:creationId xmlns:a16="http://schemas.microsoft.com/office/drawing/2014/main" id="{8A4B71BC-3462-5ADB-31A4-975455239CC8}"/>
                  </a:ext>
                </a:extLst>
              </p:cNvPr>
              <p:cNvSpPr/>
              <p:nvPr/>
            </p:nvSpPr>
            <p:spPr bwMode="gray">
              <a:xfrm>
                <a:off x="2222862" y="2317748"/>
                <a:ext cx="844131" cy="894056"/>
              </a:xfrm>
              <a:prstGeom prst="rect">
                <a:avLst/>
              </a:prstGeom>
              <a:solidFill>
                <a:schemeClr val="bg1">
                  <a:lumMod val="85000"/>
                </a:schemeClr>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a:ln>
                      <a:noFill/>
                    </a:ln>
                    <a:solidFill>
                      <a:prstClr val="black"/>
                    </a:solidFill>
                    <a:effectLst/>
                    <a:uLnTx/>
                    <a:uFillTx/>
                    <a:latin typeface="+mn-ea"/>
                    <a:ea typeface="+mn-ea"/>
                    <a:cs typeface="Arial" charset="0"/>
                  </a:rPr>
                  <a:t>VC</a:t>
                </a:r>
                <a:endParaRPr kumimoji="0" lang="ja-JP" altLang="en-US" sz="1050" b="0" i="0" u="none" strike="noStrike" kern="0" cap="none" spc="0" normalizeH="0" baseline="0" noProof="0">
                  <a:ln>
                    <a:noFill/>
                  </a:ln>
                  <a:solidFill>
                    <a:prstClr val="black"/>
                  </a:solidFill>
                  <a:effectLst/>
                  <a:uLnTx/>
                  <a:uFillTx/>
                  <a:latin typeface="+mn-ea"/>
                  <a:ea typeface="+mn-ea"/>
                  <a:cs typeface="Arial" charset="0"/>
                </a:endParaRPr>
              </a:p>
            </p:txBody>
          </p:sp>
          <p:sp>
            <p:nvSpPr>
              <p:cNvPr id="33" name="正方形/長方形 32">
                <a:extLst>
                  <a:ext uri="{FF2B5EF4-FFF2-40B4-BE49-F238E27FC236}">
                    <a16:creationId xmlns:a16="http://schemas.microsoft.com/office/drawing/2014/main" id="{C561FB0B-0D52-811C-24E0-E594909AD420}"/>
                  </a:ext>
                </a:extLst>
              </p:cNvPr>
              <p:cNvSpPr/>
              <p:nvPr/>
            </p:nvSpPr>
            <p:spPr bwMode="gray">
              <a:xfrm>
                <a:off x="2369365" y="2545489"/>
                <a:ext cx="586027" cy="330308"/>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mn-ea"/>
                    <a:ea typeface="+mn-ea"/>
                    <a:cs typeface="+mn-cs"/>
                  </a:rPr>
                  <a:t>証明書</a:t>
                </a:r>
                <a:endParaRPr kumimoji="0" lang="en-US" altLang="ja-JP" sz="1050" b="0" i="0" u="none" strike="noStrike" kern="0" cap="none" spc="0" normalizeH="0" baseline="0" noProof="0" dirty="0">
                  <a:ln>
                    <a:noFill/>
                  </a:ln>
                  <a:solidFill>
                    <a:prstClr val="black"/>
                  </a:solidFill>
                  <a:effectLst/>
                  <a:uLnTx/>
                  <a:uFillTx/>
                  <a:latin typeface="+mn-ea"/>
                  <a:ea typeface="+mn-ea"/>
                  <a:cs typeface="+mn-cs"/>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mn-ea"/>
                    <a:ea typeface="+mn-ea"/>
                    <a:cs typeface="+mn-cs"/>
                  </a:rPr>
                  <a:t>情報</a:t>
                </a:r>
              </a:p>
            </p:txBody>
          </p:sp>
          <p:sp>
            <p:nvSpPr>
              <p:cNvPr id="34" name="正方形/長方形 33">
                <a:extLst>
                  <a:ext uri="{FF2B5EF4-FFF2-40B4-BE49-F238E27FC236}">
                    <a16:creationId xmlns:a16="http://schemas.microsoft.com/office/drawing/2014/main" id="{18B625D6-7D74-7245-E5D9-CF0590BA5C35}"/>
                  </a:ext>
                </a:extLst>
              </p:cNvPr>
              <p:cNvSpPr/>
              <p:nvPr/>
            </p:nvSpPr>
            <p:spPr bwMode="gray">
              <a:xfrm>
                <a:off x="2369365" y="2929004"/>
                <a:ext cx="586027" cy="214970"/>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署名</a:t>
                </a:r>
              </a:p>
            </p:txBody>
          </p:sp>
        </p:grpSp>
        <p:grpSp>
          <p:nvGrpSpPr>
            <p:cNvPr id="37" name="グループ化 36">
              <a:extLst>
                <a:ext uri="{FF2B5EF4-FFF2-40B4-BE49-F238E27FC236}">
                  <a16:creationId xmlns:a16="http://schemas.microsoft.com/office/drawing/2014/main" id="{1FB1F723-9A8C-A14C-B814-F9051237F605}"/>
                </a:ext>
              </a:extLst>
            </p:cNvPr>
            <p:cNvGrpSpPr/>
            <p:nvPr/>
          </p:nvGrpSpPr>
          <p:grpSpPr>
            <a:xfrm>
              <a:off x="669523" y="5333891"/>
              <a:ext cx="336007" cy="538069"/>
              <a:chOff x="376047" y="2696060"/>
              <a:chExt cx="336007" cy="538069"/>
            </a:xfrm>
          </p:grpSpPr>
          <p:sp>
            <p:nvSpPr>
              <p:cNvPr id="38" name="楕円 37">
                <a:extLst>
                  <a:ext uri="{FF2B5EF4-FFF2-40B4-BE49-F238E27FC236}">
                    <a16:creationId xmlns:a16="http://schemas.microsoft.com/office/drawing/2014/main" id="{BB652D31-A233-70D1-FD1D-5DF20B8BB2E8}"/>
                  </a:ext>
                </a:extLst>
              </p:cNvPr>
              <p:cNvSpPr/>
              <p:nvPr/>
            </p:nvSpPr>
            <p:spPr bwMode="gray">
              <a:xfrm>
                <a:off x="422972" y="2696060"/>
                <a:ext cx="242159" cy="242159"/>
              </a:xfrm>
              <a:prstGeom prst="ellips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39" name="矢印: 五方向 38">
                <a:extLst>
                  <a:ext uri="{FF2B5EF4-FFF2-40B4-BE49-F238E27FC236}">
                    <a16:creationId xmlns:a16="http://schemas.microsoft.com/office/drawing/2014/main" id="{86E0803A-7AD3-88C0-F4FE-F26A160BAE03}"/>
                  </a:ext>
                </a:extLst>
              </p:cNvPr>
              <p:cNvSpPr/>
              <p:nvPr/>
            </p:nvSpPr>
            <p:spPr bwMode="gray">
              <a:xfrm rot="16200000">
                <a:off x="366497" y="2888571"/>
                <a:ext cx="355108" cy="336007"/>
              </a:xfrm>
              <a:prstGeom prst="homePlat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grpSp>
        <p:sp>
          <p:nvSpPr>
            <p:cNvPr id="40" name="テキスト ボックス 39">
              <a:extLst>
                <a:ext uri="{FF2B5EF4-FFF2-40B4-BE49-F238E27FC236}">
                  <a16:creationId xmlns:a16="http://schemas.microsoft.com/office/drawing/2014/main" id="{3ACFAFEE-B47B-17A7-D265-1FA3EBE45CD2}"/>
                </a:ext>
              </a:extLst>
            </p:cNvPr>
            <p:cNvSpPr txBox="1"/>
            <p:nvPr/>
          </p:nvSpPr>
          <p:spPr bwMode="gray">
            <a:xfrm>
              <a:off x="594310" y="5859160"/>
              <a:ext cx="486433" cy="16158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050">
                  <a:solidFill>
                    <a:prstClr val="black"/>
                  </a:solidFill>
                  <a:latin typeface="+mn-ea"/>
                  <a:ea typeface="+mn-ea"/>
                  <a:cs typeface="Arial" charset="0"/>
                </a:rPr>
                <a:t>Holder</a:t>
              </a:r>
              <a:endParaRPr lang="ja-JP" altLang="en-US" sz="1050">
                <a:solidFill>
                  <a:prstClr val="black"/>
                </a:solidFill>
                <a:latin typeface="+mn-ea"/>
                <a:ea typeface="+mn-ea"/>
                <a:cs typeface="Arial" charset="0"/>
              </a:endParaRPr>
            </a:p>
          </p:txBody>
        </p:sp>
        <p:cxnSp>
          <p:nvCxnSpPr>
            <p:cNvPr id="41" name="コネクタ: カギ線 40">
              <a:extLst>
                <a:ext uri="{FF2B5EF4-FFF2-40B4-BE49-F238E27FC236}">
                  <a16:creationId xmlns:a16="http://schemas.microsoft.com/office/drawing/2014/main" id="{32C16037-C7FA-DA57-2FDD-FAD0D72D8AF7}"/>
                </a:ext>
              </a:extLst>
            </p:cNvPr>
            <p:cNvCxnSpPr>
              <a:stCxn id="23" idx="2"/>
              <a:endCxn id="18" idx="3"/>
            </p:cNvCxnSpPr>
            <p:nvPr/>
          </p:nvCxnSpPr>
          <p:spPr bwMode="gray">
            <a:xfrm rot="5400000">
              <a:off x="807591" y="3640640"/>
              <a:ext cx="990209" cy="309409"/>
            </a:xfrm>
            <a:prstGeom prst="bentConnector2">
              <a:avLst/>
            </a:prstGeom>
            <a:noFill/>
            <a:ln w="12700" cap="flat" cmpd="sng" algn="ctr">
              <a:solidFill>
                <a:srgbClr val="53565A"/>
              </a:solidFill>
              <a:prstDash val="solid"/>
              <a:tailEnd type="triangle"/>
            </a:ln>
            <a:effectLst/>
          </p:spPr>
        </p:cxnSp>
        <p:sp>
          <p:nvSpPr>
            <p:cNvPr id="42" name="矢印: 下 41">
              <a:extLst>
                <a:ext uri="{FF2B5EF4-FFF2-40B4-BE49-F238E27FC236}">
                  <a16:creationId xmlns:a16="http://schemas.microsoft.com/office/drawing/2014/main" id="{FEACF35E-555C-93A3-41FA-5C52687D1368}"/>
                </a:ext>
              </a:extLst>
            </p:cNvPr>
            <p:cNvSpPr/>
            <p:nvPr/>
          </p:nvSpPr>
          <p:spPr bwMode="gray">
            <a:xfrm>
              <a:off x="639239" y="4987034"/>
              <a:ext cx="417844" cy="292570"/>
            </a:xfrm>
            <a:prstGeom prst="down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43" name="矢印: 右 42">
              <a:extLst>
                <a:ext uri="{FF2B5EF4-FFF2-40B4-BE49-F238E27FC236}">
                  <a16:creationId xmlns:a16="http://schemas.microsoft.com/office/drawing/2014/main" id="{8EE92346-731C-89E1-E4C5-67ACC656D249}"/>
                </a:ext>
              </a:extLst>
            </p:cNvPr>
            <p:cNvSpPr/>
            <p:nvPr/>
          </p:nvSpPr>
          <p:spPr bwMode="gray">
            <a:xfrm>
              <a:off x="1449615" y="5516851"/>
              <a:ext cx="741875" cy="368561"/>
            </a:xfrm>
            <a:prstGeom prst="right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44" name="矢印: 右 43">
              <a:extLst>
                <a:ext uri="{FF2B5EF4-FFF2-40B4-BE49-F238E27FC236}">
                  <a16:creationId xmlns:a16="http://schemas.microsoft.com/office/drawing/2014/main" id="{AE16FB29-B67C-291F-521B-7DBA0DDB6ED8}"/>
                </a:ext>
              </a:extLst>
            </p:cNvPr>
            <p:cNvSpPr/>
            <p:nvPr/>
          </p:nvSpPr>
          <p:spPr bwMode="gray">
            <a:xfrm>
              <a:off x="3455374" y="5516851"/>
              <a:ext cx="741875" cy="368561"/>
            </a:xfrm>
            <a:prstGeom prst="right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45" name="四角形: 角を丸くする 44">
              <a:extLst>
                <a:ext uri="{FF2B5EF4-FFF2-40B4-BE49-F238E27FC236}">
                  <a16:creationId xmlns:a16="http://schemas.microsoft.com/office/drawing/2014/main" id="{60E68E73-5DCF-81A4-7011-E10DC556C592}"/>
                </a:ext>
              </a:extLst>
            </p:cNvPr>
            <p:cNvSpPr/>
            <p:nvPr/>
          </p:nvSpPr>
          <p:spPr bwMode="gray">
            <a:xfrm>
              <a:off x="317413" y="4554221"/>
              <a:ext cx="1040223" cy="323165"/>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50" dirty="0">
                  <a:solidFill>
                    <a:prstClr val="black"/>
                  </a:solidFill>
                  <a:latin typeface="+mn-ea"/>
                  <a:ea typeface="+mn-ea"/>
                  <a:cs typeface="Arial" charset="0"/>
                </a:rPr>
                <a:t>DID</a:t>
              </a:r>
              <a:r>
                <a:rPr lang="ja-JP" altLang="en-US" sz="1050" dirty="0">
                  <a:solidFill>
                    <a:prstClr val="black"/>
                  </a:solidFill>
                  <a:latin typeface="+mn-ea"/>
                  <a:ea typeface="+mn-ea"/>
                  <a:cs typeface="Arial" charset="0"/>
                </a:rPr>
                <a:t>メソッド</a:t>
              </a:r>
              <a:endParaRPr lang="en-US" altLang="ja-JP" sz="1050" dirty="0">
                <a:solidFill>
                  <a:prstClr val="black"/>
                </a:solidFill>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050" dirty="0" err="1">
                  <a:solidFill>
                    <a:prstClr val="black"/>
                  </a:solidFill>
                  <a:latin typeface="+mn-ea"/>
                  <a:ea typeface="+mn-ea"/>
                  <a:cs typeface="Arial" charset="0"/>
                </a:rPr>
                <a:t>did:ion:abcde</a:t>
              </a:r>
              <a:endParaRPr lang="ja-JP" altLang="en-US" sz="1050" dirty="0">
                <a:solidFill>
                  <a:prstClr val="black"/>
                </a:solidFill>
                <a:latin typeface="+mn-ea"/>
                <a:ea typeface="+mn-ea"/>
                <a:cs typeface="Arial" charset="0"/>
              </a:endParaRPr>
            </a:p>
          </p:txBody>
        </p:sp>
        <p:cxnSp>
          <p:nvCxnSpPr>
            <p:cNvPr id="47" name="コネクタ: カギ線 46">
              <a:extLst>
                <a:ext uri="{FF2B5EF4-FFF2-40B4-BE49-F238E27FC236}">
                  <a16:creationId xmlns:a16="http://schemas.microsoft.com/office/drawing/2014/main" id="{55F94B98-4866-BD3C-9D9C-F9FCCACFBEDB}"/>
                </a:ext>
              </a:extLst>
            </p:cNvPr>
            <p:cNvCxnSpPr>
              <a:cxnSpLocks/>
              <a:stCxn id="24" idx="3"/>
              <a:endCxn id="91" idx="0"/>
            </p:cNvCxnSpPr>
            <p:nvPr/>
          </p:nvCxnSpPr>
          <p:spPr bwMode="gray">
            <a:xfrm>
              <a:off x="1751061" y="2966771"/>
              <a:ext cx="123873" cy="790629"/>
            </a:xfrm>
            <a:prstGeom prst="bentConnector2">
              <a:avLst/>
            </a:prstGeom>
            <a:noFill/>
            <a:ln w="12700" cap="flat" cmpd="sng" algn="ctr">
              <a:solidFill>
                <a:srgbClr val="53565A"/>
              </a:solidFill>
              <a:prstDash val="solid"/>
              <a:tailEnd type="triangle"/>
            </a:ln>
            <a:effectLst/>
          </p:spPr>
        </p:cxnSp>
        <p:cxnSp>
          <p:nvCxnSpPr>
            <p:cNvPr id="48" name="直線矢印コネクタ 47">
              <a:extLst>
                <a:ext uri="{FF2B5EF4-FFF2-40B4-BE49-F238E27FC236}">
                  <a16:creationId xmlns:a16="http://schemas.microsoft.com/office/drawing/2014/main" id="{4DDDA119-2C13-0F44-A1D8-BA5525595E93}"/>
                </a:ext>
              </a:extLst>
            </p:cNvPr>
            <p:cNvCxnSpPr>
              <a:cxnSpLocks/>
              <a:stCxn id="91" idx="3"/>
              <a:endCxn id="12" idx="1"/>
            </p:cNvCxnSpPr>
            <p:nvPr/>
          </p:nvCxnSpPr>
          <p:spPr bwMode="gray">
            <a:xfrm flipV="1">
              <a:off x="2189490" y="3924785"/>
              <a:ext cx="137691" cy="322"/>
            </a:xfrm>
            <a:prstGeom prst="straightConnector1">
              <a:avLst/>
            </a:prstGeom>
            <a:noFill/>
            <a:ln w="12700" cap="flat" cmpd="sng" algn="ctr">
              <a:solidFill>
                <a:srgbClr val="53565A"/>
              </a:solidFill>
              <a:prstDash val="solid"/>
              <a:tailEnd type="triangle"/>
            </a:ln>
            <a:effectLst/>
          </p:spPr>
        </p:cxnSp>
        <p:cxnSp>
          <p:nvCxnSpPr>
            <p:cNvPr id="49" name="コネクタ: カギ線 48">
              <a:extLst>
                <a:ext uri="{FF2B5EF4-FFF2-40B4-BE49-F238E27FC236}">
                  <a16:creationId xmlns:a16="http://schemas.microsoft.com/office/drawing/2014/main" id="{3DC6152E-10AE-AF22-EF07-394BFC051397}"/>
                </a:ext>
              </a:extLst>
            </p:cNvPr>
            <p:cNvCxnSpPr>
              <a:cxnSpLocks/>
              <a:stCxn id="13" idx="2"/>
              <a:endCxn id="27" idx="0"/>
            </p:cNvCxnSpPr>
            <p:nvPr/>
          </p:nvCxnSpPr>
          <p:spPr bwMode="gray">
            <a:xfrm rot="16200000" flipH="1">
              <a:off x="3468226" y="4191359"/>
              <a:ext cx="1241400" cy="1043663"/>
            </a:xfrm>
            <a:prstGeom prst="bentConnector3">
              <a:avLst>
                <a:gd name="adj1" fmla="val 15059"/>
              </a:avLst>
            </a:prstGeom>
            <a:noFill/>
            <a:ln w="12700" cap="flat" cmpd="sng" algn="ctr">
              <a:solidFill>
                <a:srgbClr val="53565A"/>
              </a:solidFill>
              <a:prstDash val="solid"/>
              <a:tailEnd type="triangle"/>
            </a:ln>
            <a:effectLst/>
          </p:spPr>
        </p:cxnSp>
        <p:sp>
          <p:nvSpPr>
            <p:cNvPr id="50" name="テキスト ボックス 49">
              <a:extLst>
                <a:ext uri="{FF2B5EF4-FFF2-40B4-BE49-F238E27FC236}">
                  <a16:creationId xmlns:a16="http://schemas.microsoft.com/office/drawing/2014/main" id="{A167C360-5909-52A4-4F18-102D169008E7}"/>
                </a:ext>
              </a:extLst>
            </p:cNvPr>
            <p:cNvSpPr txBox="1"/>
            <p:nvPr/>
          </p:nvSpPr>
          <p:spPr bwMode="gray">
            <a:xfrm>
              <a:off x="1976621" y="4407406"/>
              <a:ext cx="2585952" cy="369332"/>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200" b="1" dirty="0">
                  <a:solidFill>
                    <a:schemeClr val="accent1"/>
                  </a:solidFill>
                  <a:latin typeface="+mn-ea"/>
                  <a:ea typeface="+mn-ea"/>
                  <a:cs typeface="Arial" charset="0"/>
                </a:rPr>
                <a:t>DID</a:t>
              </a:r>
              <a:r>
                <a:rPr lang="ja-JP" altLang="en-US" sz="1200" b="1" dirty="0">
                  <a:solidFill>
                    <a:schemeClr val="accent1"/>
                  </a:solidFill>
                  <a:latin typeface="+mn-ea"/>
                  <a:ea typeface="+mn-ea"/>
                  <a:cs typeface="Arial" charset="0"/>
                </a:rPr>
                <a:t>メソッドを活用して</a:t>
              </a:r>
              <a:r>
                <a:rPr lang="en-US" altLang="ja-JP" sz="1200" b="1" dirty="0">
                  <a:solidFill>
                    <a:schemeClr val="accent1"/>
                  </a:solidFill>
                  <a:latin typeface="+mn-ea"/>
                  <a:ea typeface="+mn-ea"/>
                  <a:cs typeface="Arial" charset="0"/>
                </a:rPr>
                <a:t>DID</a:t>
              </a:r>
              <a:r>
                <a:rPr lang="ja-JP" altLang="en-US" sz="1200" b="1" dirty="0">
                  <a:solidFill>
                    <a:schemeClr val="accent1"/>
                  </a:solidFill>
                  <a:latin typeface="+mn-ea"/>
                  <a:ea typeface="+mn-ea"/>
                  <a:cs typeface="Arial" charset="0"/>
                </a:rPr>
                <a:t>ドキュメントを</a:t>
              </a:r>
              <a:endParaRPr lang="en-US" altLang="ja-JP" sz="1200" b="1" dirty="0">
                <a:solidFill>
                  <a:schemeClr val="accent1"/>
                </a:solidFill>
                <a:latin typeface="+mn-ea"/>
                <a:ea typeface="+mn-ea"/>
                <a:cs typeface="Arial" charset="0"/>
              </a:endParaRPr>
            </a:p>
            <a:p>
              <a:pPr defTabSz="990564" eaLnBrk="1" fontAlgn="auto" hangingPunct="1">
                <a:spcBef>
                  <a:spcPts val="0"/>
                </a:spcBef>
                <a:spcAft>
                  <a:spcPts val="0"/>
                </a:spcAft>
                <a:buSzPct val="100000"/>
                <a:buFont typeface="Wingdings" panose="05000000000000000000" pitchFamily="2" charset="2"/>
                <a:buNone/>
              </a:pPr>
              <a:r>
                <a:rPr lang="ja-JP" altLang="en-US" sz="1200" b="1" dirty="0">
                  <a:solidFill>
                    <a:schemeClr val="accent1"/>
                  </a:solidFill>
                  <a:latin typeface="+mn-ea"/>
                  <a:ea typeface="+mn-ea"/>
                  <a:cs typeface="Arial" charset="0"/>
                </a:rPr>
                <a:t>特定し、ドキュメント内にある公開鍵を取得</a:t>
              </a:r>
              <a:endParaRPr lang="en-US" altLang="ja-JP" sz="1200" b="1" dirty="0">
                <a:solidFill>
                  <a:schemeClr val="accent1"/>
                </a:solidFill>
                <a:latin typeface="+mn-ea"/>
                <a:ea typeface="+mn-ea"/>
                <a:cs typeface="Arial" charset="0"/>
              </a:endParaRPr>
            </a:p>
          </p:txBody>
        </p:sp>
        <p:sp>
          <p:nvSpPr>
            <p:cNvPr id="91" name="正方形/長方形 90">
              <a:extLst>
                <a:ext uri="{FF2B5EF4-FFF2-40B4-BE49-F238E27FC236}">
                  <a16:creationId xmlns:a16="http://schemas.microsoft.com/office/drawing/2014/main" id="{B53D19CE-131D-AE66-0E48-75270EAE3B1C}"/>
                </a:ext>
              </a:extLst>
            </p:cNvPr>
            <p:cNvSpPr/>
            <p:nvPr/>
          </p:nvSpPr>
          <p:spPr bwMode="gray">
            <a:xfrm>
              <a:off x="1560377" y="3757400"/>
              <a:ext cx="629113" cy="335413"/>
            </a:xfrm>
            <a:prstGeom prst="rect">
              <a:avLst/>
            </a:prstGeom>
            <a:solidFill>
              <a:schemeClr val="accent1">
                <a:lumMod val="20000"/>
                <a:lumOff val="80000"/>
              </a:schemeClr>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dirty="0">
                  <a:ln>
                    <a:noFill/>
                  </a:ln>
                  <a:solidFill>
                    <a:prstClr val="black"/>
                  </a:solidFill>
                  <a:effectLst/>
                  <a:uLnTx/>
                  <a:uFillTx/>
                  <a:latin typeface="+mn-ea"/>
                  <a:ea typeface="+mn-ea"/>
                  <a:cs typeface="+mn-cs"/>
                </a:rPr>
                <a:t>DID</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mn-ea"/>
                  <a:ea typeface="+mn-ea"/>
                  <a:cs typeface="+mn-cs"/>
                </a:rPr>
                <a:t>ドキュメント</a:t>
              </a:r>
              <a:endParaRPr kumimoji="0" lang="en-US" altLang="ja-JP" sz="1050" b="0" i="0" u="none" strike="noStrike" kern="0" cap="none" spc="0" normalizeH="0" baseline="0" noProof="0" dirty="0">
                <a:ln>
                  <a:noFill/>
                </a:ln>
                <a:solidFill>
                  <a:prstClr val="black"/>
                </a:solidFill>
                <a:effectLst/>
                <a:uLnTx/>
                <a:uFillTx/>
                <a:latin typeface="+mn-ea"/>
                <a:ea typeface="+mn-ea"/>
                <a:cs typeface="+mn-cs"/>
              </a:endParaRPr>
            </a:p>
          </p:txBody>
        </p:sp>
        <p:sp>
          <p:nvSpPr>
            <p:cNvPr id="97" name="四角形: 角を丸くする 96">
              <a:extLst>
                <a:ext uri="{FF2B5EF4-FFF2-40B4-BE49-F238E27FC236}">
                  <a16:creationId xmlns:a16="http://schemas.microsoft.com/office/drawing/2014/main" id="{12ECC39D-E5A4-7738-106F-FC3F7D4E9FB5}"/>
                </a:ext>
              </a:extLst>
            </p:cNvPr>
            <p:cNvSpPr/>
            <p:nvPr/>
          </p:nvSpPr>
          <p:spPr bwMode="gray">
            <a:xfrm>
              <a:off x="2285035" y="6257180"/>
              <a:ext cx="1040223" cy="323165"/>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50" dirty="0">
                  <a:solidFill>
                    <a:prstClr val="black"/>
                  </a:solidFill>
                  <a:latin typeface="+mn-ea"/>
                  <a:ea typeface="+mn-ea"/>
                  <a:cs typeface="Arial" charset="0"/>
                </a:rPr>
                <a:t>DID</a:t>
              </a:r>
              <a:r>
                <a:rPr lang="ja-JP" altLang="en-US" sz="1050" dirty="0">
                  <a:solidFill>
                    <a:prstClr val="black"/>
                  </a:solidFill>
                  <a:latin typeface="+mn-ea"/>
                  <a:ea typeface="+mn-ea"/>
                  <a:cs typeface="Arial" charset="0"/>
                </a:rPr>
                <a:t>メソッド</a:t>
              </a:r>
              <a:endParaRPr lang="en-US" altLang="ja-JP" sz="1050" dirty="0">
                <a:solidFill>
                  <a:prstClr val="black"/>
                </a:solidFill>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en-US" altLang="ja-JP" sz="1050" dirty="0" err="1">
                  <a:solidFill>
                    <a:prstClr val="black"/>
                  </a:solidFill>
                  <a:latin typeface="+mn-ea"/>
                  <a:ea typeface="+mn-ea"/>
                  <a:cs typeface="Arial" charset="0"/>
                </a:rPr>
                <a:t>did:ion:abcde</a:t>
              </a:r>
              <a:endParaRPr lang="ja-JP" altLang="en-US" sz="1050" dirty="0">
                <a:solidFill>
                  <a:prstClr val="black"/>
                </a:solidFill>
                <a:latin typeface="+mn-ea"/>
                <a:ea typeface="+mn-ea"/>
                <a:cs typeface="Arial" charset="0"/>
              </a:endParaRPr>
            </a:p>
          </p:txBody>
        </p:sp>
      </p:grpSp>
      <p:grpSp>
        <p:nvGrpSpPr>
          <p:cNvPr id="105" name="グループ化 104">
            <a:extLst>
              <a:ext uri="{FF2B5EF4-FFF2-40B4-BE49-F238E27FC236}">
                <a16:creationId xmlns:a16="http://schemas.microsoft.com/office/drawing/2014/main" id="{1DA099E4-C6D1-4EE7-5327-15AFC09A2483}"/>
              </a:ext>
            </a:extLst>
          </p:cNvPr>
          <p:cNvGrpSpPr/>
          <p:nvPr/>
        </p:nvGrpSpPr>
        <p:grpSpPr>
          <a:xfrm>
            <a:off x="5209022" y="3634582"/>
            <a:ext cx="844131" cy="894056"/>
            <a:chOff x="2413551" y="2284676"/>
            <a:chExt cx="844131" cy="894056"/>
          </a:xfrm>
        </p:grpSpPr>
        <p:sp>
          <p:nvSpPr>
            <p:cNvPr id="137" name="正方形/長方形 136">
              <a:extLst>
                <a:ext uri="{FF2B5EF4-FFF2-40B4-BE49-F238E27FC236}">
                  <a16:creationId xmlns:a16="http://schemas.microsoft.com/office/drawing/2014/main" id="{EE9FEE25-E48B-D299-FAC3-F8DBE31CA36D}"/>
                </a:ext>
              </a:extLst>
            </p:cNvPr>
            <p:cNvSpPr/>
            <p:nvPr/>
          </p:nvSpPr>
          <p:spPr bwMode="gray">
            <a:xfrm>
              <a:off x="2413551" y="2284676"/>
              <a:ext cx="844131" cy="894056"/>
            </a:xfrm>
            <a:prstGeom prst="rect">
              <a:avLst/>
            </a:prstGeom>
            <a:solidFill>
              <a:schemeClr val="bg1">
                <a:lumMod val="8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a:ln>
                    <a:noFill/>
                  </a:ln>
                  <a:solidFill>
                    <a:prstClr val="black"/>
                  </a:solidFill>
                  <a:effectLst/>
                  <a:uLnTx/>
                  <a:uFillTx/>
                  <a:latin typeface="+mn-ea"/>
                  <a:ea typeface="+mn-ea"/>
                  <a:cs typeface="Arial" charset="0"/>
                </a:rPr>
                <a:t>VC</a:t>
              </a:r>
              <a:endParaRPr kumimoji="0" lang="ja-JP" altLang="en-US" sz="1050" b="0" i="0" u="none" strike="noStrike" kern="0" cap="none" spc="0" normalizeH="0" baseline="0" noProof="0">
                <a:ln>
                  <a:noFill/>
                </a:ln>
                <a:solidFill>
                  <a:prstClr val="black"/>
                </a:solidFill>
                <a:effectLst/>
                <a:uLnTx/>
                <a:uFillTx/>
                <a:latin typeface="+mn-ea"/>
                <a:ea typeface="+mn-ea"/>
                <a:cs typeface="Arial" charset="0"/>
              </a:endParaRPr>
            </a:p>
          </p:txBody>
        </p:sp>
        <p:sp>
          <p:nvSpPr>
            <p:cNvPr id="138" name="正方形/長方形 137">
              <a:extLst>
                <a:ext uri="{FF2B5EF4-FFF2-40B4-BE49-F238E27FC236}">
                  <a16:creationId xmlns:a16="http://schemas.microsoft.com/office/drawing/2014/main" id="{51A0B5D0-0FA0-7272-AB8B-0B282602FCA7}"/>
                </a:ext>
              </a:extLst>
            </p:cNvPr>
            <p:cNvSpPr/>
            <p:nvPr/>
          </p:nvSpPr>
          <p:spPr bwMode="gray">
            <a:xfrm>
              <a:off x="2560054" y="2512417"/>
              <a:ext cx="586027" cy="330308"/>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証明書</a:t>
              </a:r>
              <a:endParaRPr kumimoji="0" lang="en-US" altLang="ja-JP" sz="1050" b="0" i="0" u="none" strike="noStrike" kern="0" cap="none" spc="0" normalizeH="0" baseline="0" noProof="0">
                <a:ln>
                  <a:noFill/>
                </a:ln>
                <a:solidFill>
                  <a:prstClr val="black"/>
                </a:solidFill>
                <a:effectLst/>
                <a:uLnTx/>
                <a:uFillTx/>
                <a:latin typeface="+mn-ea"/>
                <a:ea typeface="+mn-ea"/>
                <a:cs typeface="+mn-cs"/>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情報</a:t>
              </a:r>
            </a:p>
          </p:txBody>
        </p:sp>
        <p:sp>
          <p:nvSpPr>
            <p:cNvPr id="139" name="正方形/長方形 138">
              <a:extLst>
                <a:ext uri="{FF2B5EF4-FFF2-40B4-BE49-F238E27FC236}">
                  <a16:creationId xmlns:a16="http://schemas.microsoft.com/office/drawing/2014/main" id="{9D25AA78-E543-6FD3-8994-7257FDC59A0E}"/>
                </a:ext>
              </a:extLst>
            </p:cNvPr>
            <p:cNvSpPr/>
            <p:nvPr/>
          </p:nvSpPr>
          <p:spPr bwMode="gray">
            <a:xfrm>
              <a:off x="2560054" y="2895932"/>
              <a:ext cx="586027" cy="214970"/>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署名</a:t>
              </a:r>
            </a:p>
          </p:txBody>
        </p:sp>
      </p:grpSp>
      <p:grpSp>
        <p:nvGrpSpPr>
          <p:cNvPr id="106" name="グループ化 105">
            <a:extLst>
              <a:ext uri="{FF2B5EF4-FFF2-40B4-BE49-F238E27FC236}">
                <a16:creationId xmlns:a16="http://schemas.microsoft.com/office/drawing/2014/main" id="{A34E0C5F-77A5-F602-00B2-81919FBE3CD5}"/>
              </a:ext>
            </a:extLst>
          </p:cNvPr>
          <p:cNvGrpSpPr/>
          <p:nvPr/>
        </p:nvGrpSpPr>
        <p:grpSpPr>
          <a:xfrm>
            <a:off x="5463084" y="2721911"/>
            <a:ext cx="336007" cy="538069"/>
            <a:chOff x="376047" y="2696060"/>
            <a:chExt cx="336007" cy="538069"/>
          </a:xfrm>
        </p:grpSpPr>
        <p:sp>
          <p:nvSpPr>
            <p:cNvPr id="135" name="楕円 134">
              <a:extLst>
                <a:ext uri="{FF2B5EF4-FFF2-40B4-BE49-F238E27FC236}">
                  <a16:creationId xmlns:a16="http://schemas.microsoft.com/office/drawing/2014/main" id="{D09CA132-91CF-7C06-0A10-AEE8C6BB8B58}"/>
                </a:ext>
              </a:extLst>
            </p:cNvPr>
            <p:cNvSpPr/>
            <p:nvPr/>
          </p:nvSpPr>
          <p:spPr bwMode="gray">
            <a:xfrm>
              <a:off x="422972" y="2696060"/>
              <a:ext cx="242159" cy="242159"/>
            </a:xfrm>
            <a:prstGeom prst="ellips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136" name="矢印: 五方向 135">
              <a:extLst>
                <a:ext uri="{FF2B5EF4-FFF2-40B4-BE49-F238E27FC236}">
                  <a16:creationId xmlns:a16="http://schemas.microsoft.com/office/drawing/2014/main" id="{09DD68A5-3543-C97C-4D80-85CEF696CD2A}"/>
                </a:ext>
              </a:extLst>
            </p:cNvPr>
            <p:cNvSpPr/>
            <p:nvPr/>
          </p:nvSpPr>
          <p:spPr bwMode="gray">
            <a:xfrm rot="16200000">
              <a:off x="366497" y="2888571"/>
              <a:ext cx="355108" cy="336007"/>
            </a:xfrm>
            <a:prstGeom prst="homePlat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grpSp>
      <p:sp>
        <p:nvSpPr>
          <p:cNvPr id="107" name="テキスト ボックス 106">
            <a:extLst>
              <a:ext uri="{FF2B5EF4-FFF2-40B4-BE49-F238E27FC236}">
                <a16:creationId xmlns:a16="http://schemas.microsoft.com/office/drawing/2014/main" id="{021B23D0-1FF5-2A8C-7E04-366A5419BA14}"/>
              </a:ext>
            </a:extLst>
          </p:cNvPr>
          <p:cNvSpPr txBox="1"/>
          <p:nvPr/>
        </p:nvSpPr>
        <p:spPr bwMode="gray">
          <a:xfrm>
            <a:off x="5441420" y="3247180"/>
            <a:ext cx="486433" cy="16158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050">
                <a:solidFill>
                  <a:prstClr val="black"/>
                </a:solidFill>
                <a:latin typeface="+mn-ea"/>
                <a:ea typeface="+mn-ea"/>
                <a:cs typeface="Arial" charset="0"/>
              </a:rPr>
              <a:t>Issuer</a:t>
            </a:r>
            <a:endParaRPr lang="ja-JP" altLang="en-US" sz="1050">
              <a:solidFill>
                <a:prstClr val="black"/>
              </a:solidFill>
              <a:latin typeface="+mn-ea"/>
              <a:ea typeface="+mn-ea"/>
              <a:cs typeface="Arial" charset="0"/>
            </a:endParaRPr>
          </a:p>
        </p:txBody>
      </p:sp>
      <p:sp>
        <p:nvSpPr>
          <p:cNvPr id="108" name="正方形/長方形 107">
            <a:extLst>
              <a:ext uri="{FF2B5EF4-FFF2-40B4-BE49-F238E27FC236}">
                <a16:creationId xmlns:a16="http://schemas.microsoft.com/office/drawing/2014/main" id="{99E962BB-A2C4-6F3C-DFDA-4199746970A4}"/>
              </a:ext>
            </a:extLst>
          </p:cNvPr>
          <p:cNvSpPr/>
          <p:nvPr/>
        </p:nvSpPr>
        <p:spPr bwMode="gray">
          <a:xfrm>
            <a:off x="5957947" y="3148144"/>
            <a:ext cx="586027" cy="214970"/>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秘密鍵</a:t>
            </a:r>
          </a:p>
        </p:txBody>
      </p:sp>
      <p:sp>
        <p:nvSpPr>
          <p:cNvPr id="109" name="正方形/長方形 108">
            <a:extLst>
              <a:ext uri="{FF2B5EF4-FFF2-40B4-BE49-F238E27FC236}">
                <a16:creationId xmlns:a16="http://schemas.microsoft.com/office/drawing/2014/main" id="{5301D0D4-03AD-6F82-200F-1D5CD221FE2B}"/>
              </a:ext>
            </a:extLst>
          </p:cNvPr>
          <p:cNvSpPr/>
          <p:nvPr/>
        </p:nvSpPr>
        <p:spPr bwMode="gray">
          <a:xfrm>
            <a:off x="5958596" y="2922160"/>
            <a:ext cx="586027" cy="214970"/>
          </a:xfrm>
          <a:prstGeom prst="rect">
            <a:avLst/>
          </a:prstGeom>
          <a:solidFill>
            <a:schemeClr val="accent1"/>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ja-JP" altLang="en-US" sz="1050" kern="0" dirty="0">
                <a:solidFill>
                  <a:schemeClr val="bg1"/>
                </a:solidFill>
                <a:latin typeface="+mn-ea"/>
                <a:ea typeface="+mn-ea"/>
              </a:rPr>
              <a:t>公開鍵</a:t>
            </a:r>
          </a:p>
        </p:txBody>
      </p:sp>
      <p:sp>
        <p:nvSpPr>
          <p:cNvPr id="110" name="テキスト ボックス 109">
            <a:extLst>
              <a:ext uri="{FF2B5EF4-FFF2-40B4-BE49-F238E27FC236}">
                <a16:creationId xmlns:a16="http://schemas.microsoft.com/office/drawing/2014/main" id="{D92C51A2-3C0C-CD78-9A7E-E6504AAE2AE1}"/>
              </a:ext>
            </a:extLst>
          </p:cNvPr>
          <p:cNvSpPr txBox="1"/>
          <p:nvPr/>
        </p:nvSpPr>
        <p:spPr bwMode="gray">
          <a:xfrm>
            <a:off x="5999961" y="2750983"/>
            <a:ext cx="486433" cy="161583"/>
          </a:xfrm>
          <a:prstGeom prst="rect">
            <a:avLst/>
          </a:prstGeom>
          <a:noFill/>
        </p:spPr>
        <p:txBody>
          <a:bodyPr wrap="square" lIns="0" tIns="0" rIns="0" bIns="0" rtlCol="0">
            <a:sp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050">
                <a:solidFill>
                  <a:prstClr val="black"/>
                </a:solidFill>
                <a:latin typeface="+mn-ea"/>
                <a:ea typeface="+mn-ea"/>
                <a:cs typeface="Arial" charset="0"/>
              </a:rPr>
              <a:t>鍵ペア</a:t>
            </a:r>
          </a:p>
        </p:txBody>
      </p:sp>
      <p:grpSp>
        <p:nvGrpSpPr>
          <p:cNvPr id="111" name="グループ化 110">
            <a:extLst>
              <a:ext uri="{FF2B5EF4-FFF2-40B4-BE49-F238E27FC236}">
                <a16:creationId xmlns:a16="http://schemas.microsoft.com/office/drawing/2014/main" id="{8F697827-D7C5-98BB-EC95-10CF463BBA9A}"/>
              </a:ext>
            </a:extLst>
          </p:cNvPr>
          <p:cNvGrpSpPr/>
          <p:nvPr/>
        </p:nvGrpSpPr>
        <p:grpSpPr>
          <a:xfrm>
            <a:off x="9236315" y="5396765"/>
            <a:ext cx="336007" cy="538069"/>
            <a:chOff x="376047" y="2696060"/>
            <a:chExt cx="336007" cy="538069"/>
          </a:xfrm>
        </p:grpSpPr>
        <p:sp>
          <p:nvSpPr>
            <p:cNvPr id="133" name="楕円 132">
              <a:extLst>
                <a:ext uri="{FF2B5EF4-FFF2-40B4-BE49-F238E27FC236}">
                  <a16:creationId xmlns:a16="http://schemas.microsoft.com/office/drawing/2014/main" id="{B5963465-BF82-38F0-E2C7-EF6EBB6D1EE3}"/>
                </a:ext>
              </a:extLst>
            </p:cNvPr>
            <p:cNvSpPr/>
            <p:nvPr/>
          </p:nvSpPr>
          <p:spPr bwMode="gray">
            <a:xfrm>
              <a:off x="422972" y="2696060"/>
              <a:ext cx="242159" cy="242159"/>
            </a:xfrm>
            <a:prstGeom prst="ellips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134" name="矢印: 五方向 133">
              <a:extLst>
                <a:ext uri="{FF2B5EF4-FFF2-40B4-BE49-F238E27FC236}">
                  <a16:creationId xmlns:a16="http://schemas.microsoft.com/office/drawing/2014/main" id="{8C05CC37-62A8-C1C4-5141-3163A3035511}"/>
                </a:ext>
              </a:extLst>
            </p:cNvPr>
            <p:cNvSpPr/>
            <p:nvPr/>
          </p:nvSpPr>
          <p:spPr bwMode="gray">
            <a:xfrm rot="16200000">
              <a:off x="366497" y="2888571"/>
              <a:ext cx="355108" cy="336007"/>
            </a:xfrm>
            <a:prstGeom prst="homePlat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grpSp>
      <p:sp>
        <p:nvSpPr>
          <p:cNvPr id="112" name="テキスト ボックス 111">
            <a:extLst>
              <a:ext uri="{FF2B5EF4-FFF2-40B4-BE49-F238E27FC236}">
                <a16:creationId xmlns:a16="http://schemas.microsoft.com/office/drawing/2014/main" id="{FBA5EBA9-3C4A-306A-138C-F7CE64B4E1C8}"/>
              </a:ext>
            </a:extLst>
          </p:cNvPr>
          <p:cNvSpPr txBox="1"/>
          <p:nvPr/>
        </p:nvSpPr>
        <p:spPr bwMode="gray">
          <a:xfrm>
            <a:off x="9161102" y="5922034"/>
            <a:ext cx="486433" cy="16158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050">
                <a:solidFill>
                  <a:prstClr val="black"/>
                </a:solidFill>
                <a:latin typeface="+mn-ea"/>
                <a:ea typeface="+mn-ea"/>
                <a:cs typeface="Arial" charset="0"/>
              </a:rPr>
              <a:t>Verifier</a:t>
            </a:r>
            <a:endParaRPr lang="ja-JP" altLang="en-US" sz="1050">
              <a:solidFill>
                <a:prstClr val="black"/>
              </a:solidFill>
              <a:latin typeface="+mn-ea"/>
              <a:ea typeface="+mn-ea"/>
              <a:cs typeface="Arial" charset="0"/>
            </a:endParaRPr>
          </a:p>
        </p:txBody>
      </p:sp>
      <p:sp>
        <p:nvSpPr>
          <p:cNvPr id="113" name="正方形/長方形 112">
            <a:extLst>
              <a:ext uri="{FF2B5EF4-FFF2-40B4-BE49-F238E27FC236}">
                <a16:creationId xmlns:a16="http://schemas.microsoft.com/office/drawing/2014/main" id="{09F58767-2CB9-E811-ACD1-E32364C8943C}"/>
              </a:ext>
            </a:extLst>
          </p:cNvPr>
          <p:cNvSpPr/>
          <p:nvPr/>
        </p:nvSpPr>
        <p:spPr bwMode="gray">
          <a:xfrm>
            <a:off x="7159301" y="5361762"/>
            <a:ext cx="844131" cy="894056"/>
          </a:xfrm>
          <a:prstGeom prst="rect">
            <a:avLst/>
          </a:prstGeom>
          <a:solidFill>
            <a:schemeClr val="bg1">
              <a:lumMod val="8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50">
                <a:solidFill>
                  <a:prstClr val="black"/>
                </a:solidFill>
                <a:latin typeface="+mn-ea"/>
                <a:ea typeface="+mn-ea"/>
                <a:cs typeface="Arial" charset="0"/>
              </a:rPr>
              <a:t>VP</a:t>
            </a:r>
            <a:endParaRPr lang="ja-JP" altLang="en-US" sz="1050">
              <a:solidFill>
                <a:prstClr val="black"/>
              </a:solidFill>
              <a:latin typeface="+mn-ea"/>
              <a:ea typeface="+mn-ea"/>
              <a:cs typeface="Arial" charset="0"/>
            </a:endParaRPr>
          </a:p>
        </p:txBody>
      </p:sp>
      <p:grpSp>
        <p:nvGrpSpPr>
          <p:cNvPr id="114" name="グループ化 113">
            <a:extLst>
              <a:ext uri="{FF2B5EF4-FFF2-40B4-BE49-F238E27FC236}">
                <a16:creationId xmlns:a16="http://schemas.microsoft.com/office/drawing/2014/main" id="{9C57A602-C6DA-EE68-22AE-01E31488400C}"/>
              </a:ext>
            </a:extLst>
          </p:cNvPr>
          <p:cNvGrpSpPr/>
          <p:nvPr/>
        </p:nvGrpSpPr>
        <p:grpSpPr>
          <a:xfrm>
            <a:off x="7281437" y="5527700"/>
            <a:ext cx="636199" cy="673826"/>
            <a:chOff x="2222862" y="2317748"/>
            <a:chExt cx="844131" cy="894056"/>
          </a:xfrm>
        </p:grpSpPr>
        <p:sp>
          <p:nvSpPr>
            <p:cNvPr id="130" name="正方形/長方形 129">
              <a:extLst>
                <a:ext uri="{FF2B5EF4-FFF2-40B4-BE49-F238E27FC236}">
                  <a16:creationId xmlns:a16="http://schemas.microsoft.com/office/drawing/2014/main" id="{DD5C68F1-7009-F754-624F-7F1D220D2E84}"/>
                </a:ext>
              </a:extLst>
            </p:cNvPr>
            <p:cNvSpPr/>
            <p:nvPr/>
          </p:nvSpPr>
          <p:spPr bwMode="gray">
            <a:xfrm>
              <a:off x="2222862" y="2317748"/>
              <a:ext cx="844131" cy="894056"/>
            </a:xfrm>
            <a:prstGeom prst="rect">
              <a:avLst/>
            </a:prstGeom>
            <a:solidFill>
              <a:schemeClr val="bg1">
                <a:lumMod val="85000"/>
              </a:schemeClr>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b="0" i="0" u="none" strike="noStrike" kern="0" cap="none" spc="0" normalizeH="0" baseline="0" noProof="0">
                  <a:ln>
                    <a:noFill/>
                  </a:ln>
                  <a:solidFill>
                    <a:prstClr val="black"/>
                  </a:solidFill>
                  <a:effectLst/>
                  <a:uLnTx/>
                  <a:uFillTx/>
                  <a:latin typeface="+mn-ea"/>
                  <a:ea typeface="+mn-ea"/>
                  <a:cs typeface="Arial" charset="0"/>
                </a:rPr>
                <a:t>VC</a:t>
              </a:r>
              <a:endParaRPr kumimoji="0" lang="ja-JP" altLang="en-US" sz="1050" b="0" i="0" u="none" strike="noStrike" kern="0" cap="none" spc="0" normalizeH="0" baseline="0" noProof="0">
                <a:ln>
                  <a:noFill/>
                </a:ln>
                <a:solidFill>
                  <a:prstClr val="black"/>
                </a:solidFill>
                <a:effectLst/>
                <a:uLnTx/>
                <a:uFillTx/>
                <a:latin typeface="+mn-ea"/>
                <a:ea typeface="+mn-ea"/>
                <a:cs typeface="Arial" charset="0"/>
              </a:endParaRPr>
            </a:p>
          </p:txBody>
        </p:sp>
        <p:sp>
          <p:nvSpPr>
            <p:cNvPr id="131" name="正方形/長方形 130">
              <a:extLst>
                <a:ext uri="{FF2B5EF4-FFF2-40B4-BE49-F238E27FC236}">
                  <a16:creationId xmlns:a16="http://schemas.microsoft.com/office/drawing/2014/main" id="{8DE3D59C-B051-5D3E-A7C7-FA194EB87BB4}"/>
                </a:ext>
              </a:extLst>
            </p:cNvPr>
            <p:cNvSpPr/>
            <p:nvPr/>
          </p:nvSpPr>
          <p:spPr bwMode="gray">
            <a:xfrm>
              <a:off x="2369365" y="2545489"/>
              <a:ext cx="586027" cy="330308"/>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mn-ea"/>
                  <a:ea typeface="+mn-ea"/>
                  <a:cs typeface="+mn-cs"/>
                </a:rPr>
                <a:t>証明書</a:t>
              </a:r>
              <a:endParaRPr kumimoji="0" lang="en-US" altLang="ja-JP" sz="1050" b="0" i="0" u="none" strike="noStrike" kern="0" cap="none" spc="0" normalizeH="0" baseline="0" noProof="0" dirty="0">
                <a:ln>
                  <a:noFill/>
                </a:ln>
                <a:solidFill>
                  <a:prstClr val="black"/>
                </a:solidFill>
                <a:effectLst/>
                <a:uLnTx/>
                <a:uFillTx/>
                <a:latin typeface="+mn-ea"/>
                <a:ea typeface="+mn-ea"/>
                <a:cs typeface="+mn-cs"/>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dirty="0">
                  <a:ln>
                    <a:noFill/>
                  </a:ln>
                  <a:solidFill>
                    <a:prstClr val="black"/>
                  </a:solidFill>
                  <a:effectLst/>
                  <a:uLnTx/>
                  <a:uFillTx/>
                  <a:latin typeface="+mn-ea"/>
                  <a:ea typeface="+mn-ea"/>
                  <a:cs typeface="+mn-cs"/>
                </a:rPr>
                <a:t>情報</a:t>
              </a:r>
            </a:p>
          </p:txBody>
        </p:sp>
        <p:sp>
          <p:nvSpPr>
            <p:cNvPr id="132" name="正方形/長方形 131">
              <a:extLst>
                <a:ext uri="{FF2B5EF4-FFF2-40B4-BE49-F238E27FC236}">
                  <a16:creationId xmlns:a16="http://schemas.microsoft.com/office/drawing/2014/main" id="{B0D9AD43-5D37-CD2B-2077-1A6E8FDEDD0A}"/>
                </a:ext>
              </a:extLst>
            </p:cNvPr>
            <p:cNvSpPr/>
            <p:nvPr/>
          </p:nvSpPr>
          <p:spPr bwMode="gray">
            <a:xfrm>
              <a:off x="2369365" y="2929004"/>
              <a:ext cx="586027" cy="214970"/>
            </a:xfrm>
            <a:prstGeom prst="rect">
              <a:avLst/>
            </a:prstGeom>
            <a:solidFill>
              <a:sysClr val="window" lastClr="FFFFFF"/>
            </a:solidFill>
            <a:ln w="127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50" b="0" i="0" u="none" strike="noStrike" kern="0" cap="none" spc="0" normalizeH="0" baseline="0" noProof="0">
                  <a:ln>
                    <a:noFill/>
                  </a:ln>
                  <a:solidFill>
                    <a:prstClr val="black"/>
                  </a:solidFill>
                  <a:effectLst/>
                  <a:uLnTx/>
                  <a:uFillTx/>
                  <a:latin typeface="+mn-ea"/>
                  <a:ea typeface="+mn-ea"/>
                  <a:cs typeface="+mn-cs"/>
                </a:rPr>
                <a:t>署名</a:t>
              </a:r>
            </a:p>
          </p:txBody>
        </p:sp>
      </p:grpSp>
      <p:grpSp>
        <p:nvGrpSpPr>
          <p:cNvPr id="115" name="グループ化 114">
            <a:extLst>
              <a:ext uri="{FF2B5EF4-FFF2-40B4-BE49-F238E27FC236}">
                <a16:creationId xmlns:a16="http://schemas.microsoft.com/office/drawing/2014/main" id="{8BF425CC-08C4-79C9-5BA9-377CD9EA1F8C}"/>
              </a:ext>
            </a:extLst>
          </p:cNvPr>
          <p:cNvGrpSpPr/>
          <p:nvPr/>
        </p:nvGrpSpPr>
        <p:grpSpPr>
          <a:xfrm>
            <a:off x="5463085" y="5396765"/>
            <a:ext cx="336007" cy="538069"/>
            <a:chOff x="376047" y="2696060"/>
            <a:chExt cx="336007" cy="538069"/>
          </a:xfrm>
        </p:grpSpPr>
        <p:sp>
          <p:nvSpPr>
            <p:cNvPr id="128" name="楕円 127">
              <a:extLst>
                <a:ext uri="{FF2B5EF4-FFF2-40B4-BE49-F238E27FC236}">
                  <a16:creationId xmlns:a16="http://schemas.microsoft.com/office/drawing/2014/main" id="{6551ADB3-B8D4-0BC0-613F-2B27D1FC2EBE}"/>
                </a:ext>
              </a:extLst>
            </p:cNvPr>
            <p:cNvSpPr/>
            <p:nvPr/>
          </p:nvSpPr>
          <p:spPr bwMode="gray">
            <a:xfrm>
              <a:off x="422972" y="2696060"/>
              <a:ext cx="242159" cy="242159"/>
            </a:xfrm>
            <a:prstGeom prst="ellips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129" name="矢印: 五方向 128">
              <a:extLst>
                <a:ext uri="{FF2B5EF4-FFF2-40B4-BE49-F238E27FC236}">
                  <a16:creationId xmlns:a16="http://schemas.microsoft.com/office/drawing/2014/main" id="{882F3F2C-4CDA-588C-62EE-BBE856726347}"/>
                </a:ext>
              </a:extLst>
            </p:cNvPr>
            <p:cNvSpPr/>
            <p:nvPr/>
          </p:nvSpPr>
          <p:spPr bwMode="gray">
            <a:xfrm rot="16200000">
              <a:off x="366497" y="2888571"/>
              <a:ext cx="355108" cy="336007"/>
            </a:xfrm>
            <a:prstGeom prst="homePlate">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grpSp>
      <p:sp>
        <p:nvSpPr>
          <p:cNvPr id="116" name="テキスト ボックス 115">
            <a:extLst>
              <a:ext uri="{FF2B5EF4-FFF2-40B4-BE49-F238E27FC236}">
                <a16:creationId xmlns:a16="http://schemas.microsoft.com/office/drawing/2014/main" id="{EEB597E6-C7B8-1265-5EBB-F9EB263B1D48}"/>
              </a:ext>
            </a:extLst>
          </p:cNvPr>
          <p:cNvSpPr txBox="1"/>
          <p:nvPr/>
        </p:nvSpPr>
        <p:spPr bwMode="gray">
          <a:xfrm>
            <a:off x="5387872" y="5922034"/>
            <a:ext cx="486433" cy="16158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en-US" altLang="ja-JP" sz="1050">
                <a:solidFill>
                  <a:prstClr val="black"/>
                </a:solidFill>
                <a:latin typeface="+mn-ea"/>
                <a:ea typeface="+mn-ea"/>
                <a:cs typeface="Arial" charset="0"/>
              </a:rPr>
              <a:t>Holder</a:t>
            </a:r>
            <a:endParaRPr lang="ja-JP" altLang="en-US" sz="1050">
              <a:solidFill>
                <a:prstClr val="black"/>
              </a:solidFill>
              <a:latin typeface="+mn-ea"/>
              <a:ea typeface="+mn-ea"/>
              <a:cs typeface="Arial" charset="0"/>
            </a:endParaRPr>
          </a:p>
        </p:txBody>
      </p:sp>
      <p:cxnSp>
        <p:nvCxnSpPr>
          <p:cNvPr id="117" name="コネクタ: カギ線 116">
            <a:extLst>
              <a:ext uri="{FF2B5EF4-FFF2-40B4-BE49-F238E27FC236}">
                <a16:creationId xmlns:a16="http://schemas.microsoft.com/office/drawing/2014/main" id="{0F3DA2C4-E4AB-7C47-A9D8-601D59B5F772}"/>
              </a:ext>
            </a:extLst>
          </p:cNvPr>
          <p:cNvCxnSpPr>
            <a:stCxn id="108" idx="2"/>
            <a:endCxn id="139" idx="3"/>
          </p:cNvCxnSpPr>
          <p:nvPr/>
        </p:nvCxnSpPr>
        <p:spPr bwMode="gray">
          <a:xfrm rot="5400000">
            <a:off x="5601153" y="3703514"/>
            <a:ext cx="990209" cy="309409"/>
          </a:xfrm>
          <a:prstGeom prst="bentConnector2">
            <a:avLst/>
          </a:prstGeom>
          <a:noFill/>
          <a:ln w="12700" cap="flat" cmpd="sng" algn="ctr">
            <a:solidFill>
              <a:srgbClr val="53565A"/>
            </a:solidFill>
            <a:prstDash val="solid"/>
            <a:tailEnd type="triangle"/>
          </a:ln>
          <a:effectLst/>
        </p:spPr>
      </p:cxnSp>
      <p:sp>
        <p:nvSpPr>
          <p:cNvPr id="118" name="矢印: 下 117">
            <a:extLst>
              <a:ext uri="{FF2B5EF4-FFF2-40B4-BE49-F238E27FC236}">
                <a16:creationId xmlns:a16="http://schemas.microsoft.com/office/drawing/2014/main" id="{E2AC2CE3-3299-8439-20D7-B0B9227281D4}"/>
              </a:ext>
            </a:extLst>
          </p:cNvPr>
          <p:cNvSpPr/>
          <p:nvPr/>
        </p:nvSpPr>
        <p:spPr bwMode="gray">
          <a:xfrm>
            <a:off x="5432801" y="5049908"/>
            <a:ext cx="417844" cy="292570"/>
          </a:xfrm>
          <a:prstGeom prst="down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119" name="矢印: 右 118">
            <a:extLst>
              <a:ext uri="{FF2B5EF4-FFF2-40B4-BE49-F238E27FC236}">
                <a16:creationId xmlns:a16="http://schemas.microsoft.com/office/drawing/2014/main" id="{3BCF03FB-AB5D-B759-2D45-0D4C77C94199}"/>
              </a:ext>
            </a:extLst>
          </p:cNvPr>
          <p:cNvSpPr/>
          <p:nvPr/>
        </p:nvSpPr>
        <p:spPr bwMode="gray">
          <a:xfrm>
            <a:off x="6243177" y="5579725"/>
            <a:ext cx="741875" cy="368561"/>
          </a:xfrm>
          <a:prstGeom prst="right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sp>
        <p:nvSpPr>
          <p:cNvPr id="120" name="矢印: 右 119">
            <a:extLst>
              <a:ext uri="{FF2B5EF4-FFF2-40B4-BE49-F238E27FC236}">
                <a16:creationId xmlns:a16="http://schemas.microsoft.com/office/drawing/2014/main" id="{3B56FA13-3AF5-0AF3-80E0-D9EC202CB455}"/>
              </a:ext>
            </a:extLst>
          </p:cNvPr>
          <p:cNvSpPr/>
          <p:nvPr/>
        </p:nvSpPr>
        <p:spPr bwMode="gray">
          <a:xfrm>
            <a:off x="8248936" y="5579725"/>
            <a:ext cx="741875" cy="368561"/>
          </a:xfrm>
          <a:prstGeom prst="right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050">
              <a:solidFill>
                <a:prstClr val="black"/>
              </a:solidFill>
              <a:latin typeface="+mn-ea"/>
              <a:ea typeface="+mn-ea"/>
              <a:cs typeface="Arial" charset="0"/>
            </a:endParaRPr>
          </a:p>
        </p:txBody>
      </p:sp>
      <p:cxnSp>
        <p:nvCxnSpPr>
          <p:cNvPr id="122" name="コネクタ: カギ線 121">
            <a:extLst>
              <a:ext uri="{FF2B5EF4-FFF2-40B4-BE49-F238E27FC236}">
                <a16:creationId xmlns:a16="http://schemas.microsoft.com/office/drawing/2014/main" id="{E4E38DE0-1F74-4765-0021-95AD805A6FD6}"/>
              </a:ext>
            </a:extLst>
          </p:cNvPr>
          <p:cNvCxnSpPr>
            <a:cxnSpLocks/>
            <a:stCxn id="109" idx="3"/>
            <a:endCxn id="133" idx="0"/>
          </p:cNvCxnSpPr>
          <p:nvPr/>
        </p:nvCxnSpPr>
        <p:spPr bwMode="gray">
          <a:xfrm>
            <a:off x="6544623" y="3029645"/>
            <a:ext cx="2859697" cy="2367120"/>
          </a:xfrm>
          <a:prstGeom prst="bentConnector2">
            <a:avLst/>
          </a:prstGeom>
          <a:noFill/>
          <a:ln w="12700" cap="flat" cmpd="sng" algn="ctr">
            <a:solidFill>
              <a:srgbClr val="53565A"/>
            </a:solidFill>
            <a:prstDash val="solid"/>
            <a:tailEnd type="triangle"/>
          </a:ln>
          <a:effectLst/>
        </p:spPr>
      </p:cxnSp>
      <p:sp>
        <p:nvSpPr>
          <p:cNvPr id="152" name="コンテンツ プレースホルダー 2">
            <a:extLst>
              <a:ext uri="{FF2B5EF4-FFF2-40B4-BE49-F238E27FC236}">
                <a16:creationId xmlns:a16="http://schemas.microsoft.com/office/drawing/2014/main" id="{769548F3-87AB-F0AF-21F9-0C89C060892A}"/>
              </a:ext>
            </a:extLst>
          </p:cNvPr>
          <p:cNvSpPr txBox="1">
            <a:spLocks/>
          </p:cNvSpPr>
          <p:nvPr/>
        </p:nvSpPr>
        <p:spPr>
          <a:xfrm>
            <a:off x="273050" y="908050"/>
            <a:ext cx="9359900" cy="325578"/>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a:t>DID</a:t>
            </a:r>
            <a:r>
              <a:rPr kumimoji="1" lang="ja-JP" altLang="en-US" dirty="0"/>
              <a:t>は複数のプラットフォーム間で、一意に</a:t>
            </a:r>
            <a:r>
              <a:rPr kumimoji="1" lang="en-US" altLang="ja-JP" dirty="0"/>
              <a:t>ID</a:t>
            </a:r>
            <a:r>
              <a:rPr kumimoji="1" lang="ja-JP" altLang="en-US" dirty="0"/>
              <a:t>を識別する仕組みのため、複数プラットフォーム連携ニーズが無い場合、</a:t>
            </a:r>
            <a:r>
              <a:rPr kumimoji="1" lang="en-US" altLang="ja-JP" dirty="0"/>
              <a:t>VC</a:t>
            </a:r>
            <a:r>
              <a:rPr kumimoji="1" lang="ja-JP" altLang="en-US" dirty="0"/>
              <a:t>は</a:t>
            </a:r>
            <a:r>
              <a:rPr kumimoji="1" lang="en-US" altLang="ja-JP" dirty="0"/>
              <a:t>DID</a:t>
            </a:r>
            <a:r>
              <a:rPr kumimoji="1" lang="ja-JP" altLang="en-US" dirty="0"/>
              <a:t>および</a:t>
            </a:r>
            <a:r>
              <a:rPr kumimoji="1" lang="en-US" altLang="ja-JP" dirty="0"/>
              <a:t>DID Document</a:t>
            </a:r>
            <a:r>
              <a:rPr kumimoji="1" lang="ja-JP" altLang="en-US" dirty="0"/>
              <a:t>を適用しなくても成立する</a:t>
            </a:r>
          </a:p>
        </p:txBody>
      </p:sp>
      <p:sp>
        <p:nvSpPr>
          <p:cNvPr id="46" name="四角形: 角を丸くする 4">
            <a:extLst>
              <a:ext uri="{FF2B5EF4-FFF2-40B4-BE49-F238E27FC236}">
                <a16:creationId xmlns:a16="http://schemas.microsoft.com/office/drawing/2014/main" id="{80D93596-314E-6E56-69E9-697A842CED83}"/>
              </a:ext>
            </a:extLst>
          </p:cNvPr>
          <p:cNvSpPr/>
          <p:nvPr/>
        </p:nvSpPr>
        <p:spPr bwMode="gray">
          <a:xfrm>
            <a:off x="2832547" y="3133567"/>
            <a:ext cx="1484518" cy="204963"/>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50" kern="0" dirty="0">
                <a:latin typeface="+mn-ea"/>
                <a:ea typeface="+mn-ea"/>
                <a:cs typeface="Arial" charset="0"/>
              </a:rPr>
              <a:t>DID</a:t>
            </a:r>
            <a:r>
              <a:rPr kumimoji="0" lang="ja-JP" altLang="en-US" sz="1050" kern="0">
                <a:latin typeface="+mn-ea"/>
                <a:ea typeface="+mn-ea"/>
                <a:cs typeface="Arial" charset="0"/>
              </a:rPr>
              <a:t>リゾルバー</a:t>
            </a:r>
            <a:endParaRPr kumimoji="0" lang="ja-JP" altLang="en-US" sz="1050" b="0" i="0" u="none" strike="noStrike" kern="0" cap="none" spc="0" normalizeH="0" baseline="0" noProof="0" dirty="0">
              <a:ln>
                <a:noFill/>
              </a:ln>
              <a:effectLst/>
              <a:uLnTx/>
              <a:uFillTx/>
              <a:latin typeface="+mn-ea"/>
              <a:ea typeface="+mn-ea"/>
              <a:cs typeface="Arial" charset="0"/>
            </a:endParaRPr>
          </a:p>
        </p:txBody>
      </p:sp>
      <p:grpSp>
        <p:nvGrpSpPr>
          <p:cNvPr id="63" name="グループ化 62">
            <a:extLst>
              <a:ext uri="{FF2B5EF4-FFF2-40B4-BE49-F238E27FC236}">
                <a16:creationId xmlns:a16="http://schemas.microsoft.com/office/drawing/2014/main" id="{7F5B9219-0155-E9B5-B9AE-5459C5F79E9C}"/>
              </a:ext>
            </a:extLst>
          </p:cNvPr>
          <p:cNvGrpSpPr/>
          <p:nvPr/>
        </p:nvGrpSpPr>
        <p:grpSpPr>
          <a:xfrm>
            <a:off x="4670516" y="5096076"/>
            <a:ext cx="160051" cy="88434"/>
            <a:chOff x="3894424" y="5079999"/>
            <a:chExt cx="160051" cy="88434"/>
          </a:xfrm>
        </p:grpSpPr>
        <p:sp>
          <p:nvSpPr>
            <p:cNvPr id="52" name="円/楕円 51">
              <a:extLst>
                <a:ext uri="{FF2B5EF4-FFF2-40B4-BE49-F238E27FC236}">
                  <a16:creationId xmlns:a16="http://schemas.microsoft.com/office/drawing/2014/main" id="{24AC5966-909D-3C51-DF56-9925E6636D82}"/>
                </a:ext>
              </a:extLst>
            </p:cNvPr>
            <p:cNvSpPr/>
            <p:nvPr/>
          </p:nvSpPr>
          <p:spPr>
            <a:xfrm>
              <a:off x="3894424" y="5108575"/>
              <a:ext cx="59858" cy="59858"/>
            </a:xfrm>
            <a:prstGeom prst="ellips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cxnSp>
          <p:nvCxnSpPr>
            <p:cNvPr id="54" name="直線コネクタ 53">
              <a:extLst>
                <a:ext uri="{FF2B5EF4-FFF2-40B4-BE49-F238E27FC236}">
                  <a16:creationId xmlns:a16="http://schemas.microsoft.com/office/drawing/2014/main" id="{067E9A50-F38B-5D55-EF74-F340D1FA7D75}"/>
                </a:ext>
              </a:extLst>
            </p:cNvPr>
            <p:cNvCxnSpPr>
              <a:cxnSpLocks/>
              <a:stCxn id="52" idx="6"/>
            </p:cNvCxnSpPr>
            <p:nvPr/>
          </p:nvCxnSpPr>
          <p:spPr>
            <a:xfrm>
              <a:off x="3954282" y="5138504"/>
              <a:ext cx="100193"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E0B15748-3C66-A40C-BBC4-FF41181CC08B}"/>
                </a:ext>
              </a:extLst>
            </p:cNvPr>
            <p:cNvCxnSpPr>
              <a:cxnSpLocks/>
            </p:cNvCxnSpPr>
            <p:nvPr/>
          </p:nvCxnSpPr>
          <p:spPr>
            <a:xfrm flipV="1">
              <a:off x="4004378" y="5079999"/>
              <a:ext cx="0" cy="47356"/>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A6A5AB08-31A6-2337-BBBF-689C288D6E42}"/>
                </a:ext>
              </a:extLst>
            </p:cNvPr>
            <p:cNvCxnSpPr>
              <a:cxnSpLocks/>
            </p:cNvCxnSpPr>
            <p:nvPr/>
          </p:nvCxnSpPr>
          <p:spPr>
            <a:xfrm flipV="1">
              <a:off x="4054475" y="5079999"/>
              <a:ext cx="0" cy="75931"/>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4" name="テキスト ボックス 63">
            <a:extLst>
              <a:ext uri="{FF2B5EF4-FFF2-40B4-BE49-F238E27FC236}">
                <a16:creationId xmlns:a16="http://schemas.microsoft.com/office/drawing/2014/main" id="{E4FDE36A-6CF5-8865-EE4B-5310CBCFFE7F}"/>
              </a:ext>
            </a:extLst>
          </p:cNvPr>
          <p:cNvSpPr txBox="1"/>
          <p:nvPr/>
        </p:nvSpPr>
        <p:spPr bwMode="gray">
          <a:xfrm>
            <a:off x="4645251" y="4909694"/>
            <a:ext cx="486433" cy="16158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050">
                <a:solidFill>
                  <a:prstClr val="black"/>
                </a:solidFill>
                <a:latin typeface="+mn-ea"/>
                <a:ea typeface="+mn-ea"/>
                <a:cs typeface="Arial" charset="0"/>
              </a:rPr>
              <a:t>公開鍵</a:t>
            </a:r>
          </a:p>
        </p:txBody>
      </p:sp>
      <p:grpSp>
        <p:nvGrpSpPr>
          <p:cNvPr id="65" name="グループ化 64">
            <a:extLst>
              <a:ext uri="{FF2B5EF4-FFF2-40B4-BE49-F238E27FC236}">
                <a16:creationId xmlns:a16="http://schemas.microsoft.com/office/drawing/2014/main" id="{DC50C4ED-1D84-33BF-2C9F-100F691544CD}"/>
              </a:ext>
            </a:extLst>
          </p:cNvPr>
          <p:cNvGrpSpPr/>
          <p:nvPr/>
        </p:nvGrpSpPr>
        <p:grpSpPr>
          <a:xfrm>
            <a:off x="8919586" y="5096076"/>
            <a:ext cx="160051" cy="88434"/>
            <a:chOff x="3894424" y="5079999"/>
            <a:chExt cx="160051" cy="88434"/>
          </a:xfrm>
        </p:grpSpPr>
        <p:sp>
          <p:nvSpPr>
            <p:cNvPr id="66" name="円/楕円 65">
              <a:extLst>
                <a:ext uri="{FF2B5EF4-FFF2-40B4-BE49-F238E27FC236}">
                  <a16:creationId xmlns:a16="http://schemas.microsoft.com/office/drawing/2014/main" id="{3678458F-3BDF-5830-960A-7AFE0B89DDBC}"/>
                </a:ext>
              </a:extLst>
            </p:cNvPr>
            <p:cNvSpPr/>
            <p:nvPr/>
          </p:nvSpPr>
          <p:spPr>
            <a:xfrm>
              <a:off x="3894424" y="5108575"/>
              <a:ext cx="59858" cy="59858"/>
            </a:xfrm>
            <a:prstGeom prst="ellips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cxnSp>
          <p:nvCxnSpPr>
            <p:cNvPr id="67" name="直線コネクタ 66">
              <a:extLst>
                <a:ext uri="{FF2B5EF4-FFF2-40B4-BE49-F238E27FC236}">
                  <a16:creationId xmlns:a16="http://schemas.microsoft.com/office/drawing/2014/main" id="{83966616-D229-724D-F45C-EE8D57DD0348}"/>
                </a:ext>
              </a:extLst>
            </p:cNvPr>
            <p:cNvCxnSpPr>
              <a:cxnSpLocks/>
              <a:stCxn id="66" idx="6"/>
            </p:cNvCxnSpPr>
            <p:nvPr/>
          </p:nvCxnSpPr>
          <p:spPr>
            <a:xfrm>
              <a:off x="3954282" y="5138504"/>
              <a:ext cx="100193"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19C7A0F3-1BC3-A77D-8964-87AE2A624CBC}"/>
                </a:ext>
              </a:extLst>
            </p:cNvPr>
            <p:cNvCxnSpPr>
              <a:cxnSpLocks/>
            </p:cNvCxnSpPr>
            <p:nvPr/>
          </p:nvCxnSpPr>
          <p:spPr>
            <a:xfrm flipV="1">
              <a:off x="4004378" y="5079999"/>
              <a:ext cx="0" cy="47356"/>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129153FB-C3BB-41AE-6E6C-2BA27A14A88D}"/>
                </a:ext>
              </a:extLst>
            </p:cNvPr>
            <p:cNvCxnSpPr>
              <a:cxnSpLocks/>
            </p:cNvCxnSpPr>
            <p:nvPr/>
          </p:nvCxnSpPr>
          <p:spPr>
            <a:xfrm flipV="1">
              <a:off x="4054475" y="5079999"/>
              <a:ext cx="0" cy="75931"/>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0" name="テキスト ボックス 69">
            <a:extLst>
              <a:ext uri="{FF2B5EF4-FFF2-40B4-BE49-F238E27FC236}">
                <a16:creationId xmlns:a16="http://schemas.microsoft.com/office/drawing/2014/main" id="{052619E2-2946-DBED-92BB-FD05D5763D3C}"/>
              </a:ext>
            </a:extLst>
          </p:cNvPr>
          <p:cNvSpPr txBox="1"/>
          <p:nvPr/>
        </p:nvSpPr>
        <p:spPr bwMode="gray">
          <a:xfrm>
            <a:off x="8894321" y="4909694"/>
            <a:ext cx="486433" cy="16158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050">
                <a:solidFill>
                  <a:prstClr val="black"/>
                </a:solidFill>
                <a:latin typeface="+mn-ea"/>
                <a:ea typeface="+mn-ea"/>
                <a:cs typeface="Arial" charset="0"/>
              </a:rPr>
              <a:t>公開鍵</a:t>
            </a:r>
          </a:p>
        </p:txBody>
      </p:sp>
      <p:sp>
        <p:nvSpPr>
          <p:cNvPr id="71" name="テキスト ボックス 70">
            <a:extLst>
              <a:ext uri="{FF2B5EF4-FFF2-40B4-BE49-F238E27FC236}">
                <a16:creationId xmlns:a16="http://schemas.microsoft.com/office/drawing/2014/main" id="{A9FD8029-1027-2A0A-2827-92E852A9D3D1}"/>
              </a:ext>
            </a:extLst>
          </p:cNvPr>
          <p:cNvSpPr txBox="1"/>
          <p:nvPr/>
        </p:nvSpPr>
        <p:spPr bwMode="gray">
          <a:xfrm>
            <a:off x="6731739" y="2841997"/>
            <a:ext cx="2748303" cy="161583"/>
          </a:xfrm>
          <a:prstGeom prst="rect">
            <a:avLst/>
          </a:prstGeom>
          <a:noFill/>
        </p:spPr>
        <p:txBody>
          <a:bodyPr wrap="square" lIns="0" tIns="0" rIns="0" bIns="0" rtlCol="0">
            <a:spAutoFit/>
          </a:bodyPr>
          <a:lstStyle/>
          <a:p>
            <a:pPr defTabSz="990564" eaLnBrk="1" fontAlgn="auto" hangingPunct="1">
              <a:spcBef>
                <a:spcPts val="0"/>
              </a:spcBef>
              <a:spcAft>
                <a:spcPts val="0"/>
              </a:spcAft>
              <a:buSzPct val="100000"/>
              <a:buFont typeface="Wingdings" panose="05000000000000000000" pitchFamily="2" charset="2"/>
              <a:buNone/>
            </a:pPr>
            <a:r>
              <a:rPr lang="ja-JP" altLang="en-US" sz="1050">
                <a:solidFill>
                  <a:prstClr val="black"/>
                </a:solidFill>
                <a:latin typeface="+mn-ea"/>
                <a:ea typeface="+mn-ea"/>
                <a:cs typeface="Arial" charset="0"/>
              </a:rPr>
              <a:t>例：発行者のドメイン</a:t>
            </a:r>
            <a:r>
              <a:rPr lang="en-US" altLang="ja-JP" sz="1050" dirty="0">
                <a:solidFill>
                  <a:prstClr val="black"/>
                </a:solidFill>
                <a:latin typeface="+mn-ea"/>
                <a:ea typeface="+mn-ea"/>
                <a:cs typeface="Arial" charset="0"/>
              </a:rPr>
              <a:t>/well-known/</a:t>
            </a:r>
            <a:r>
              <a:rPr lang="en-US" altLang="ja-JP" sz="1050" dirty="0" err="1">
                <a:solidFill>
                  <a:prstClr val="black"/>
                </a:solidFill>
                <a:latin typeface="+mn-ea"/>
                <a:ea typeface="+mn-ea"/>
                <a:cs typeface="Arial" charset="0"/>
              </a:rPr>
              <a:t>jwks.json</a:t>
            </a:r>
            <a:endParaRPr lang="ja-JP" altLang="en-US" sz="1050">
              <a:solidFill>
                <a:prstClr val="black"/>
              </a:solidFill>
              <a:latin typeface="+mn-ea"/>
              <a:ea typeface="+mn-ea"/>
              <a:cs typeface="Arial" charset="0"/>
            </a:endParaRPr>
          </a:p>
        </p:txBody>
      </p:sp>
      <p:sp>
        <p:nvSpPr>
          <p:cNvPr id="72" name="四角形: 角を丸くする 96">
            <a:extLst>
              <a:ext uri="{FF2B5EF4-FFF2-40B4-BE49-F238E27FC236}">
                <a16:creationId xmlns:a16="http://schemas.microsoft.com/office/drawing/2014/main" id="{7672B4E4-975F-AF71-C6A8-EBDB814A91B1}"/>
              </a:ext>
            </a:extLst>
          </p:cNvPr>
          <p:cNvSpPr/>
          <p:nvPr/>
        </p:nvSpPr>
        <p:spPr bwMode="gray">
          <a:xfrm>
            <a:off x="7079424" y="6257819"/>
            <a:ext cx="1040223" cy="323165"/>
          </a:xfrm>
          <a:prstGeom prst="round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r>
              <a:rPr lang="ja-JP" altLang="en-US" sz="1050">
                <a:solidFill>
                  <a:prstClr val="black"/>
                </a:solidFill>
                <a:latin typeface="+mn-ea"/>
                <a:ea typeface="+mn-ea"/>
                <a:cs typeface="Arial" charset="0"/>
              </a:rPr>
              <a:t>発行者の</a:t>
            </a:r>
            <a:endParaRPr lang="en-US" altLang="ja-JP" sz="1050" dirty="0">
              <a:solidFill>
                <a:prstClr val="black"/>
              </a:solidFill>
              <a:latin typeface="+mn-ea"/>
              <a:ea typeface="+mn-ea"/>
              <a:cs typeface="Arial" charset="0"/>
            </a:endParaRPr>
          </a:p>
          <a:p>
            <a:pPr algn="ctr" defTabSz="990564" eaLnBrk="1" fontAlgn="auto" hangingPunct="1">
              <a:spcBef>
                <a:spcPts val="0"/>
              </a:spcBef>
              <a:spcAft>
                <a:spcPts val="0"/>
              </a:spcAft>
              <a:buSzPct val="100000"/>
              <a:buFont typeface="Wingdings" panose="05000000000000000000" pitchFamily="2" charset="2"/>
              <a:buNone/>
            </a:pPr>
            <a:r>
              <a:rPr lang="ja-JP" altLang="en-US" sz="1050">
                <a:solidFill>
                  <a:prstClr val="black"/>
                </a:solidFill>
                <a:latin typeface="+mn-ea"/>
                <a:ea typeface="+mn-ea"/>
                <a:cs typeface="Arial" charset="0"/>
              </a:rPr>
              <a:t>ドメイン</a:t>
            </a:r>
            <a:endParaRPr lang="ja-JP" altLang="en-US" sz="1050" dirty="0">
              <a:solidFill>
                <a:prstClr val="black"/>
              </a:solidFill>
              <a:latin typeface="+mn-ea"/>
              <a:ea typeface="+mn-ea"/>
              <a:cs typeface="Arial" charset="0"/>
            </a:endParaRPr>
          </a:p>
        </p:txBody>
      </p:sp>
    </p:spTree>
    <p:extLst>
      <p:ext uri="{BB962C8B-B14F-4D97-AF65-F5344CB8AC3E}">
        <p14:creationId xmlns:p14="http://schemas.microsoft.com/office/powerpoint/2010/main" val="4173387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E58E49-2BF5-F2AE-199F-E7C615A23793}"/>
              </a:ext>
            </a:extLst>
          </p:cNvPr>
          <p:cNvSpPr>
            <a:spLocks noGrp="1"/>
          </p:cNvSpPr>
          <p:nvPr>
            <p:ph type="title"/>
          </p:nvPr>
        </p:nvSpPr>
        <p:spPr>
          <a:xfrm>
            <a:off x="273050" y="447475"/>
            <a:ext cx="7848302" cy="246221"/>
          </a:xfrm>
        </p:spPr>
        <p:txBody>
          <a:bodyPr/>
          <a:lstStyle/>
          <a:p>
            <a:r>
              <a:rPr kumimoji="1" lang="en-US" altLang="ja-JP" dirty="0"/>
              <a:t>5.2. </a:t>
            </a:r>
            <a:r>
              <a:rPr kumimoji="1" lang="ja-JP" altLang="en-US" dirty="0"/>
              <a:t>規格・実装方式の詳細 </a:t>
            </a:r>
            <a:r>
              <a:rPr kumimoji="1" lang="en-US" altLang="ja-JP" dirty="0"/>
              <a:t>- (9) </a:t>
            </a:r>
            <a:r>
              <a:rPr kumimoji="1" lang="ja-JP" altLang="en-US" dirty="0"/>
              <a:t>ブロックチェーン比較</a:t>
            </a:r>
          </a:p>
        </p:txBody>
      </p:sp>
      <p:sp>
        <p:nvSpPr>
          <p:cNvPr id="3" name="テキスト プレースホルダー 2">
            <a:extLst>
              <a:ext uri="{FF2B5EF4-FFF2-40B4-BE49-F238E27FC236}">
                <a16:creationId xmlns:a16="http://schemas.microsoft.com/office/drawing/2014/main" id="{D4FDBF5E-97A9-E5B0-0CB2-5C02D790D6AE}"/>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graphicFrame>
        <p:nvGraphicFramePr>
          <p:cNvPr id="20" name="表 19">
            <a:extLst>
              <a:ext uri="{FF2B5EF4-FFF2-40B4-BE49-F238E27FC236}">
                <a16:creationId xmlns:a16="http://schemas.microsoft.com/office/drawing/2014/main" id="{DCEF53F6-1C03-9387-08DF-67B153EE4E70}"/>
              </a:ext>
            </a:extLst>
          </p:cNvPr>
          <p:cNvGraphicFramePr>
            <a:graphicFrameLocks noGrp="1"/>
          </p:cNvGraphicFramePr>
          <p:nvPr>
            <p:extLst>
              <p:ext uri="{D42A27DB-BD31-4B8C-83A1-F6EECF244321}">
                <p14:modId xmlns:p14="http://schemas.microsoft.com/office/powerpoint/2010/main" val="3289798667"/>
              </p:ext>
            </p:extLst>
          </p:nvPr>
        </p:nvGraphicFramePr>
        <p:xfrm>
          <a:off x="273050" y="1383587"/>
          <a:ext cx="9359900" cy="1019520"/>
        </p:xfrm>
        <a:graphic>
          <a:graphicData uri="http://schemas.openxmlformats.org/drawingml/2006/table">
            <a:tbl>
              <a:tblPr firstRow="1" bandRow="1">
                <a:tableStyleId>{9D7B26C5-4107-4FEC-AEDC-1716B250A1EF}</a:tableStyleId>
              </a:tblPr>
              <a:tblGrid>
                <a:gridCol w="1233778">
                  <a:extLst>
                    <a:ext uri="{9D8B030D-6E8A-4147-A177-3AD203B41FA5}">
                      <a16:colId xmlns:a16="http://schemas.microsoft.com/office/drawing/2014/main" val="374689876"/>
                    </a:ext>
                  </a:extLst>
                </a:gridCol>
                <a:gridCol w="1506828">
                  <a:extLst>
                    <a:ext uri="{9D8B030D-6E8A-4147-A177-3AD203B41FA5}">
                      <a16:colId xmlns:a16="http://schemas.microsoft.com/office/drawing/2014/main" val="2326954564"/>
                    </a:ext>
                  </a:extLst>
                </a:gridCol>
                <a:gridCol w="3309647">
                  <a:extLst>
                    <a:ext uri="{9D8B030D-6E8A-4147-A177-3AD203B41FA5}">
                      <a16:colId xmlns:a16="http://schemas.microsoft.com/office/drawing/2014/main" val="3507584302"/>
                    </a:ext>
                  </a:extLst>
                </a:gridCol>
                <a:gridCol w="3309647">
                  <a:extLst>
                    <a:ext uri="{9D8B030D-6E8A-4147-A177-3AD203B41FA5}">
                      <a16:colId xmlns:a16="http://schemas.microsoft.com/office/drawing/2014/main" val="1491880423"/>
                    </a:ext>
                  </a:extLst>
                </a:gridCol>
              </a:tblGrid>
              <a:tr h="0">
                <a:tc>
                  <a:txBody>
                    <a:bodyPr/>
                    <a:lstStyle/>
                    <a:p>
                      <a:endParaRPr kumimoji="1" lang="ja-JP" altLang="en-US" sz="1200">
                        <a:latin typeface="+mj-ea"/>
                        <a:ea typeface="+mj-ea"/>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kumimoji="1" lang="ja-JP" altLang="en-US" sz="1200">
                        <a:latin typeface="+mj-ea"/>
                        <a:ea typeface="+mj-ea"/>
                      </a:endParaRPr>
                    </a:p>
                  </a:txBody>
                  <a:tcPr marL="36000" marR="36000" marT="36000" marB="3600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gridSpan="2">
                  <a:txBody>
                    <a:bodyPr/>
                    <a:lstStyle/>
                    <a:p>
                      <a:pPr algn="ctr"/>
                      <a:r>
                        <a:rPr kumimoji="1" lang="en-US" altLang="ja-JP" sz="1200" dirty="0">
                          <a:solidFill>
                            <a:schemeClr val="bg1"/>
                          </a:solidFill>
                          <a:latin typeface="+mj-ea"/>
                          <a:ea typeface="+mj-ea"/>
                        </a:rPr>
                        <a:t>Validator </a:t>
                      </a:r>
                      <a:r>
                        <a:rPr kumimoji="1" lang="ja-JP" altLang="en-US" sz="1200" dirty="0">
                          <a:solidFill>
                            <a:schemeClr val="bg1"/>
                          </a:solidFill>
                          <a:latin typeface="+mj-ea"/>
                          <a:ea typeface="+mj-ea"/>
                        </a:rPr>
                        <a:t>の許可レベル</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solidFill>
                  </a:tcPr>
                </a:tc>
                <a:tc hMerge="1">
                  <a:txBody>
                    <a:bodyPr/>
                    <a:lstStyle/>
                    <a:p>
                      <a:pPr algn="ctr"/>
                      <a:endParaRPr kumimoji="1" lang="ja-JP" altLang="en-US" sz="1400">
                        <a:solidFill>
                          <a:schemeClr val="bg1"/>
                        </a:solidFill>
                        <a:latin typeface="+mj-ea"/>
                        <a:ea typeface="+mj-ea"/>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3840032865"/>
                  </a:ext>
                </a:extLst>
              </a:tr>
              <a:tr h="0">
                <a:tc>
                  <a:txBody>
                    <a:bodyPr/>
                    <a:lstStyle/>
                    <a:p>
                      <a:endParaRPr kumimoji="1" lang="ja-JP" altLang="en-US" sz="1200">
                        <a:latin typeface="+mj-ea"/>
                        <a:ea typeface="+mj-ea"/>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1200" dirty="0">
                        <a:latin typeface="+mj-ea"/>
                        <a:ea typeface="+mj-ea"/>
                      </a:endParaRPr>
                    </a:p>
                  </a:txBody>
                  <a:tcPr marL="36000" marR="36000" marT="36000" marB="3600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ja-JP" altLang="en-US" sz="1200">
                          <a:solidFill>
                            <a:schemeClr val="bg1"/>
                          </a:solidFill>
                          <a:latin typeface="+mj-ea"/>
                          <a:ea typeface="+mj-ea"/>
                        </a:rPr>
                        <a:t>Permissionless</a:t>
                      </a:r>
                      <a:endParaRPr kumimoji="1" lang="ja-JP" altLang="en-US" sz="1200">
                        <a:solidFill>
                          <a:schemeClr val="bg1"/>
                        </a:solidFill>
                        <a:latin typeface="+mj-ea"/>
                        <a:ea typeface="+mj-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solidFill>
                  </a:tcPr>
                </a:tc>
                <a:tc>
                  <a:txBody>
                    <a:bodyPr/>
                    <a:lstStyle/>
                    <a:p>
                      <a:pPr algn="ctr"/>
                      <a:r>
                        <a:rPr lang="ja-JP" altLang="en-US" sz="1200" dirty="0">
                          <a:solidFill>
                            <a:schemeClr val="bg1"/>
                          </a:solidFill>
                          <a:latin typeface="+mj-ea"/>
                          <a:ea typeface="+mj-ea"/>
                        </a:rPr>
                        <a:t>Permissioned</a:t>
                      </a:r>
                      <a:endParaRPr kumimoji="1" lang="ja-JP" altLang="en-US" sz="1200" dirty="0">
                        <a:solidFill>
                          <a:schemeClr val="bg1"/>
                        </a:solidFill>
                        <a:latin typeface="+mj-ea"/>
                        <a:ea typeface="+mj-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1896192375"/>
                  </a:ext>
                </a:extLst>
              </a:tr>
              <a:tr h="0">
                <a:tc rowSpan="2">
                  <a:txBody>
                    <a:bodyPr/>
                    <a:lstStyle/>
                    <a:p>
                      <a:pPr algn="ctr"/>
                      <a:r>
                        <a:rPr kumimoji="1" lang="ja-JP" altLang="en-US" sz="1200" dirty="0">
                          <a:solidFill>
                            <a:schemeClr val="tx1"/>
                          </a:solidFill>
                          <a:latin typeface="+mj-ea"/>
                          <a:ea typeface="+mj-ea"/>
                        </a:rPr>
                        <a:t>データアクセス</a:t>
                      </a:r>
                      <a:endParaRPr kumimoji="1" lang="en-US" altLang="ja-JP" sz="1200" dirty="0">
                        <a:solidFill>
                          <a:schemeClr val="tx1"/>
                        </a:solidFill>
                        <a:latin typeface="+mj-ea"/>
                        <a:ea typeface="+mj-ea"/>
                      </a:endParaRPr>
                    </a:p>
                    <a:p>
                      <a:pPr algn="ctr"/>
                      <a:r>
                        <a:rPr kumimoji="1" lang="ja-JP" altLang="en-US" sz="1200" dirty="0">
                          <a:solidFill>
                            <a:schemeClr val="tx1"/>
                          </a:solidFill>
                          <a:latin typeface="+mj-ea"/>
                          <a:ea typeface="+mj-ea"/>
                        </a:rPr>
                        <a:t>制御</a:t>
                      </a: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200" dirty="0">
                          <a:solidFill>
                            <a:schemeClr val="tx1"/>
                          </a:solidFill>
                          <a:latin typeface="+mj-ea"/>
                          <a:ea typeface="+mj-ea"/>
                        </a:rPr>
                        <a:t>Public</a:t>
                      </a:r>
                      <a:endParaRPr kumimoji="1" lang="ja-JP" altLang="en-US" sz="1200" dirty="0">
                        <a:solidFill>
                          <a:schemeClr val="tx1"/>
                        </a:solidFill>
                        <a:latin typeface="+mj-ea"/>
                        <a:ea typeface="+mj-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endParaRPr kumimoji="1" lang="ja-JP" altLang="en-US" sz="1200">
                        <a:latin typeface="+mj-ea"/>
                        <a:ea typeface="+mj-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1200">
                        <a:latin typeface="+mj-ea"/>
                        <a:ea typeface="+mj-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32835938"/>
                  </a:ext>
                </a:extLst>
              </a:tr>
              <a:tr h="0">
                <a:tc vMerge="1">
                  <a:txBody>
                    <a:bodyPr/>
                    <a:lstStyle/>
                    <a:p>
                      <a:pPr algn="ctr"/>
                      <a:endParaRPr kumimoji="1" lang="ja-JP" altLang="en-US" sz="1400">
                        <a:solidFill>
                          <a:schemeClr val="tx1"/>
                        </a:solidFill>
                        <a:latin typeface="+mj-ea"/>
                        <a:ea typeface="+mj-ea"/>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200" dirty="0">
                          <a:solidFill>
                            <a:schemeClr val="tx1"/>
                          </a:solidFill>
                          <a:latin typeface="+mj-ea"/>
                          <a:ea typeface="+mj-ea"/>
                        </a:rPr>
                        <a:t>Private</a:t>
                      </a:r>
                      <a:endParaRPr kumimoji="1" lang="ja-JP" altLang="en-US" sz="1200" dirty="0">
                        <a:solidFill>
                          <a:schemeClr val="tx1"/>
                        </a:solidFill>
                        <a:latin typeface="+mj-ea"/>
                        <a:ea typeface="+mj-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endParaRPr kumimoji="1" lang="ja-JP" altLang="en-US" sz="1200" dirty="0">
                        <a:latin typeface="+mj-ea"/>
                        <a:ea typeface="+mj-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1200" dirty="0">
                        <a:latin typeface="+mj-ea"/>
                        <a:ea typeface="+mj-ea"/>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78104473"/>
                  </a:ext>
                </a:extLst>
              </a:tr>
            </a:tbl>
          </a:graphicData>
        </a:graphic>
      </p:graphicFrame>
      <p:graphicFrame>
        <p:nvGraphicFramePr>
          <p:cNvPr id="21" name="表 6">
            <a:extLst>
              <a:ext uri="{FF2B5EF4-FFF2-40B4-BE49-F238E27FC236}">
                <a16:creationId xmlns:a16="http://schemas.microsoft.com/office/drawing/2014/main" id="{A83542CD-E491-8F09-0079-63A627F5284E}"/>
              </a:ext>
            </a:extLst>
          </p:cNvPr>
          <p:cNvGraphicFramePr>
            <a:graphicFrameLocks noGrp="1"/>
          </p:cNvGraphicFramePr>
          <p:nvPr>
            <p:extLst>
              <p:ext uri="{D42A27DB-BD31-4B8C-83A1-F6EECF244321}">
                <p14:modId xmlns:p14="http://schemas.microsoft.com/office/powerpoint/2010/main" val="3169184677"/>
              </p:ext>
            </p:extLst>
          </p:nvPr>
        </p:nvGraphicFramePr>
        <p:xfrm>
          <a:off x="273050" y="2781702"/>
          <a:ext cx="9359900" cy="3863520"/>
        </p:xfrm>
        <a:graphic>
          <a:graphicData uri="http://schemas.openxmlformats.org/drawingml/2006/table">
            <a:tbl>
              <a:tblPr firstRow="1" bandRow="1">
                <a:tableStyleId>{5940675A-B579-460E-94D1-54222C63F5DA}</a:tableStyleId>
              </a:tblPr>
              <a:tblGrid>
                <a:gridCol w="2045147">
                  <a:extLst>
                    <a:ext uri="{9D8B030D-6E8A-4147-A177-3AD203B41FA5}">
                      <a16:colId xmlns:a16="http://schemas.microsoft.com/office/drawing/2014/main" val="231522409"/>
                    </a:ext>
                  </a:extLst>
                </a:gridCol>
                <a:gridCol w="2438251">
                  <a:extLst>
                    <a:ext uri="{9D8B030D-6E8A-4147-A177-3AD203B41FA5}">
                      <a16:colId xmlns:a16="http://schemas.microsoft.com/office/drawing/2014/main" val="3733280666"/>
                    </a:ext>
                  </a:extLst>
                </a:gridCol>
                <a:gridCol w="2438251">
                  <a:extLst>
                    <a:ext uri="{9D8B030D-6E8A-4147-A177-3AD203B41FA5}">
                      <a16:colId xmlns:a16="http://schemas.microsoft.com/office/drawing/2014/main" val="552268264"/>
                    </a:ext>
                  </a:extLst>
                </a:gridCol>
                <a:gridCol w="2438251">
                  <a:extLst>
                    <a:ext uri="{9D8B030D-6E8A-4147-A177-3AD203B41FA5}">
                      <a16:colId xmlns:a16="http://schemas.microsoft.com/office/drawing/2014/main" val="1113262528"/>
                    </a:ext>
                  </a:extLst>
                </a:gridCol>
              </a:tblGrid>
              <a:tr h="111319">
                <a:tc>
                  <a:txBody>
                    <a:bodyPr/>
                    <a:lstStyle/>
                    <a:p>
                      <a:pPr algn="l"/>
                      <a:endParaRPr kumimoji="1" lang="ja-JP" altLang="en-US" sz="120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a:r>
                        <a:rPr kumimoji="1" lang="en-US" altLang="ja-JP" sz="1200" dirty="0">
                          <a:latin typeface="+mj-ea"/>
                          <a:ea typeface="+mj-ea"/>
                        </a:rPr>
                        <a:t>Ethereum</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1200" dirty="0">
                          <a:latin typeface="+mj-ea"/>
                          <a:ea typeface="+mj-ea"/>
                        </a:rPr>
                        <a:t>Hyperledger Indy</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1200" dirty="0">
                          <a:latin typeface="+mj-ea"/>
                          <a:ea typeface="+mj-ea"/>
                        </a:rPr>
                        <a:t>Hyperledger Fabric</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09234771"/>
                  </a:ext>
                </a:extLst>
              </a:tr>
              <a:tr h="111319">
                <a:tc>
                  <a:txBody>
                    <a:bodyPr/>
                    <a:lstStyle/>
                    <a:p>
                      <a:pPr algn="l"/>
                      <a:r>
                        <a:rPr kumimoji="1" lang="en-US" altLang="ja-JP" sz="1200">
                          <a:latin typeface="+mj-ea"/>
                          <a:ea typeface="+mj-ea"/>
                        </a:rPr>
                        <a:t>VC</a:t>
                      </a:r>
                      <a:r>
                        <a:rPr kumimoji="1" lang="ja-JP" altLang="en-US" sz="1200">
                          <a:latin typeface="+mj-ea"/>
                          <a:ea typeface="+mj-ea"/>
                        </a:rPr>
                        <a:t>活用事例</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indent="0" algn="ctr">
                        <a:buFont typeface="Arial" panose="020B0604020202020204" pitchFamily="34" charset="0"/>
                        <a:buNone/>
                      </a:pPr>
                      <a:r>
                        <a:rPr kumimoji="1" lang="en-US" altLang="ja-JP" sz="1200" dirty="0">
                          <a:solidFill>
                            <a:schemeClr val="tx1"/>
                          </a:solidFill>
                          <a:latin typeface="+mj-ea"/>
                          <a:ea typeface="+mj-ea"/>
                        </a:rPr>
                        <a:t>Civic Pass</a:t>
                      </a:r>
                      <a:endParaRPr kumimoji="1" lang="ja-JP" altLang="en-US" sz="1200">
                        <a:solidFill>
                          <a:schemeClr val="tx1"/>
                        </a:solidFill>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pPr>
                      <a:r>
                        <a:rPr kumimoji="1" lang="en-US" altLang="ja-JP" sz="1200">
                          <a:solidFill>
                            <a:schemeClr val="tx1"/>
                          </a:solidFill>
                          <a:latin typeface="+mj-ea"/>
                          <a:ea typeface="+mj-ea"/>
                        </a:rPr>
                        <a:t>BC</a:t>
                      </a:r>
                      <a:r>
                        <a:rPr kumimoji="1" lang="ja-JP" altLang="en-US" sz="1200">
                          <a:solidFill>
                            <a:schemeClr val="tx1"/>
                          </a:solidFill>
                          <a:latin typeface="+mj-ea"/>
                          <a:ea typeface="+mj-ea"/>
                        </a:rPr>
                        <a:t> </a:t>
                      </a:r>
                      <a:r>
                        <a:rPr kumimoji="1" lang="en-US" altLang="ja-JP" sz="1200">
                          <a:solidFill>
                            <a:schemeClr val="tx1"/>
                          </a:solidFill>
                          <a:latin typeface="+mj-ea"/>
                          <a:ea typeface="+mj-ea"/>
                        </a:rPr>
                        <a:t>Digital</a:t>
                      </a:r>
                      <a:r>
                        <a:rPr kumimoji="1" lang="ja-JP" altLang="en-US" sz="1200">
                          <a:solidFill>
                            <a:schemeClr val="tx1"/>
                          </a:solidFill>
                          <a:latin typeface="+mj-ea"/>
                          <a:ea typeface="+mj-ea"/>
                        </a:rPr>
                        <a:t> </a:t>
                      </a:r>
                      <a:r>
                        <a:rPr kumimoji="1" lang="en-US" altLang="ja-JP" sz="1200">
                          <a:solidFill>
                            <a:schemeClr val="tx1"/>
                          </a:solidFill>
                          <a:latin typeface="+mj-ea"/>
                          <a:ea typeface="+mj-ea"/>
                        </a:rPr>
                        <a:t>Trust/NB Orbit</a:t>
                      </a:r>
                      <a:endParaRPr kumimoji="1" lang="ja-JP" altLang="en-US" sz="1200">
                        <a:solidFill>
                          <a:schemeClr val="tx1"/>
                        </a:solidFill>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pPr>
                      <a:r>
                        <a:rPr kumimoji="1" lang="en-US" altLang="ja-JP" sz="1200" dirty="0" err="1">
                          <a:solidFill>
                            <a:schemeClr val="tx1"/>
                          </a:solidFill>
                          <a:latin typeface="+mj-ea"/>
                          <a:ea typeface="+mj-ea"/>
                        </a:rPr>
                        <a:t>Interac</a:t>
                      </a:r>
                      <a:r>
                        <a:rPr kumimoji="1" lang="en-US" altLang="ja-JP" sz="1200" dirty="0">
                          <a:solidFill>
                            <a:schemeClr val="tx1"/>
                          </a:solidFill>
                          <a:latin typeface="+mj-ea"/>
                          <a:ea typeface="+mj-ea"/>
                        </a:rPr>
                        <a:t> Verification Service</a:t>
                      </a:r>
                      <a:endParaRPr kumimoji="1" lang="ja-JP" altLang="en-US" sz="1200" dirty="0">
                        <a:solidFill>
                          <a:schemeClr val="tx1"/>
                        </a:solidFill>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92248045"/>
                  </a:ext>
                </a:extLst>
              </a:tr>
              <a:tr h="768223">
                <a:tc>
                  <a:txBody>
                    <a:bodyPr/>
                    <a:lstStyle/>
                    <a:p>
                      <a:pPr algn="l"/>
                      <a:r>
                        <a:rPr kumimoji="1" lang="ja-JP" altLang="en-US" sz="1200" dirty="0">
                          <a:latin typeface="+mj-ea"/>
                          <a:ea typeface="+mj-ea"/>
                        </a:rPr>
                        <a:t>総評</a:t>
                      </a:r>
                      <a:br>
                        <a:rPr kumimoji="1" lang="en-US" altLang="ja-JP" sz="1200" dirty="0">
                          <a:latin typeface="+mj-ea"/>
                          <a:ea typeface="+mj-ea"/>
                        </a:rPr>
                      </a:br>
                      <a:r>
                        <a:rPr kumimoji="1" lang="en-US" altLang="ja-JP" sz="1200" dirty="0">
                          <a:latin typeface="+mj-ea"/>
                          <a:ea typeface="+mj-ea"/>
                        </a:rPr>
                        <a:t>(</a:t>
                      </a:r>
                      <a:r>
                        <a:rPr kumimoji="1" lang="ja-JP" altLang="en-US" sz="1200" dirty="0">
                          <a:latin typeface="+mj-ea"/>
                          <a:ea typeface="+mj-ea"/>
                        </a:rPr>
                        <a:t>弊社</a:t>
                      </a:r>
                      <a:r>
                        <a:rPr kumimoji="1" lang="en-US" altLang="ja-JP" sz="1200" dirty="0">
                          <a:latin typeface="+mj-ea"/>
                          <a:ea typeface="+mj-ea"/>
                        </a:rPr>
                        <a:t>)</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a:r>
                        <a:rPr kumimoji="1" lang="ja-JP" altLang="en-US" sz="1200" dirty="0">
                          <a:latin typeface="+mj-ea"/>
                          <a:ea typeface="+mj-ea"/>
                        </a:rPr>
                        <a:t>参加制限がなくデータは全公開</a:t>
                      </a:r>
                      <a:r>
                        <a:rPr lang="ja-JP" altLang="en-US" sz="1200" dirty="0">
                          <a:latin typeface="+mj-ea"/>
                          <a:ea typeface="+mj-ea"/>
                        </a:rPr>
                        <a:t>のため、</a:t>
                      </a:r>
                      <a:r>
                        <a:rPr kumimoji="1" lang="ja-JP" altLang="en-US" sz="1200" dirty="0">
                          <a:latin typeface="+mj-ea"/>
                          <a:ea typeface="+mj-ea"/>
                        </a:rPr>
                        <a:t>秘匿情報を別に扱うオフチェーンの仕組みが必要。アカウント失効等の実装が課題になり標準化が停滞している状況。近年では</a:t>
                      </a:r>
                      <a:r>
                        <a:rPr kumimoji="1" lang="en-US" altLang="ja-JP" sz="1200" dirty="0">
                          <a:latin typeface="+mj-ea"/>
                          <a:ea typeface="+mj-ea"/>
                        </a:rPr>
                        <a:t>SBT</a:t>
                      </a:r>
                      <a:r>
                        <a:rPr kumimoji="1" lang="ja-JP" altLang="en-US" sz="1200" dirty="0">
                          <a:latin typeface="+mj-ea"/>
                          <a:ea typeface="+mj-ea"/>
                        </a:rPr>
                        <a:t>に統合されて仕様検討が進んでいる。</a:t>
                      </a:r>
                      <a:r>
                        <a:rPr kumimoji="1" lang="ja-JP" altLang="en-US" sz="1200" u="sng" dirty="0">
                          <a:latin typeface="+mj-ea"/>
                          <a:ea typeface="+mj-ea"/>
                        </a:rPr>
                        <a:t>自己管理の考え方が強く、</a:t>
                      </a:r>
                      <a:r>
                        <a:rPr kumimoji="1" lang="en-US" altLang="ja-JP" sz="1200" u="sng" dirty="0">
                          <a:latin typeface="+mj-ea"/>
                          <a:ea typeface="+mj-ea"/>
                        </a:rPr>
                        <a:t>NFT</a:t>
                      </a:r>
                      <a:r>
                        <a:rPr kumimoji="1" lang="ja-JP" altLang="en-US" sz="1200" u="sng" dirty="0">
                          <a:latin typeface="+mj-ea"/>
                          <a:ea typeface="+mj-ea"/>
                        </a:rPr>
                        <a:t>や</a:t>
                      </a:r>
                      <a:r>
                        <a:rPr kumimoji="1" lang="en-US" altLang="ja-JP" sz="1200" u="sng" dirty="0">
                          <a:latin typeface="+mj-ea"/>
                          <a:ea typeface="+mj-ea"/>
                        </a:rPr>
                        <a:t>DAO</a:t>
                      </a:r>
                      <a:r>
                        <a:rPr kumimoji="1" lang="ja-JP" altLang="en-US" sz="1200" u="sng" dirty="0">
                          <a:latin typeface="+mj-ea"/>
                          <a:ea typeface="+mj-ea"/>
                        </a:rPr>
                        <a:t>等他の</a:t>
                      </a:r>
                      <a:r>
                        <a:rPr kumimoji="1" lang="en-US" altLang="ja-JP" sz="1200" u="sng" dirty="0">
                          <a:latin typeface="+mj-ea"/>
                          <a:ea typeface="+mj-ea"/>
                        </a:rPr>
                        <a:t>Web3</a:t>
                      </a:r>
                      <a:r>
                        <a:rPr kumimoji="1" lang="ja-JP" altLang="en-US" sz="1200" u="sng" dirty="0">
                          <a:latin typeface="+mj-ea"/>
                          <a:ea typeface="+mj-ea"/>
                        </a:rPr>
                        <a:t>サービスとの連携に活用可能性がある。</a:t>
                      </a:r>
                      <a:endParaRPr kumimoji="1" lang="ja-JP" u="sng" dirty="0"/>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ja-JP" altLang="en-US" sz="1200" dirty="0">
                          <a:latin typeface="+mj-ea"/>
                          <a:ea typeface="+mj-ea"/>
                        </a:rPr>
                        <a:t>分散型アイデンティティ管理に特化しており、クレデンシャル定義や失効レジストリ等の機能を有する。ネットワークへの参加は許可制であるが、情報は全公開であり、クライアント用のツールキットの</a:t>
                      </a:r>
                      <a:r>
                        <a:rPr kumimoji="1" lang="en-US" altLang="ja-JP" sz="1200" dirty="0">
                          <a:latin typeface="+mj-ea"/>
                          <a:ea typeface="+mj-ea"/>
                        </a:rPr>
                        <a:t>Aries</a:t>
                      </a:r>
                      <a:r>
                        <a:rPr kumimoji="1" lang="ja-JP" altLang="en-US" sz="1200" dirty="0">
                          <a:latin typeface="+mj-ea"/>
                          <a:ea typeface="+mj-ea"/>
                        </a:rPr>
                        <a:t>で、エンティティ間のメッセージ交換や格納を制御する。</a:t>
                      </a:r>
                      <a:r>
                        <a:rPr kumimoji="1" lang="ja-JP" altLang="en-US" sz="1200" u="sng" dirty="0">
                          <a:latin typeface="+mj-ea"/>
                          <a:ea typeface="+mj-ea"/>
                        </a:rPr>
                        <a:t>信頼性と運用性のバランスが取り易いが、コンソーシアム運営が課題。</a:t>
                      </a:r>
                      <a:endParaRPr kumimoji="1" lang="en-US" altLang="ja-JP" sz="1200" u="sng"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ja-JP" altLang="en-US" sz="1200" dirty="0">
                          <a:latin typeface="+mj-ea"/>
                          <a:ea typeface="+mj-ea"/>
                        </a:rPr>
                        <a:t>エンタープレイズ利用を前提とした汎用プラットフォーム。チャネルやプライベートトランザクション等機能が搭載されている。秘匿情報をブロックチェーン上で一元的に扱える利点があるが、</a:t>
                      </a:r>
                      <a:r>
                        <a:rPr kumimoji="1" lang="ja-JP" altLang="en-US" sz="1200" u="sng" dirty="0">
                          <a:latin typeface="+mj-ea"/>
                          <a:ea typeface="+mj-ea"/>
                        </a:rPr>
                        <a:t>アクセス制御の組合せが多いとデータ容量・運用面の設計の複雑さや、</a:t>
                      </a:r>
                      <a:r>
                        <a:rPr kumimoji="1" lang="en-US" altLang="ja-JP" sz="1200" u="sng" dirty="0">
                          <a:latin typeface="+mj-ea"/>
                          <a:ea typeface="+mj-ea"/>
                        </a:rPr>
                        <a:t>Indy</a:t>
                      </a:r>
                      <a:r>
                        <a:rPr kumimoji="1" lang="ja-JP" altLang="en-US" sz="1200" u="sng" dirty="0">
                          <a:latin typeface="+mj-ea"/>
                          <a:ea typeface="+mj-ea"/>
                        </a:rPr>
                        <a:t>と同様コンソーシアム運営などが課題。</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907700064"/>
                  </a:ext>
                </a:extLst>
              </a:tr>
              <a:tr h="111319">
                <a:tc>
                  <a:txBody>
                    <a:bodyPr/>
                    <a:lstStyle/>
                    <a:p>
                      <a:pPr algn="l"/>
                      <a:r>
                        <a:rPr kumimoji="1" lang="ja-JP" altLang="en-US" sz="1200" dirty="0">
                          <a:latin typeface="+mj-ea"/>
                          <a:ea typeface="+mj-ea"/>
                        </a:rPr>
                        <a:t>参加者制限</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a:r>
                        <a:rPr kumimoji="1" lang="en-US" altLang="ja-JP" sz="1200">
                          <a:latin typeface="+mj-ea"/>
                          <a:ea typeface="+mj-ea"/>
                        </a:rPr>
                        <a:t>×</a:t>
                      </a:r>
                      <a:endParaRPr kumimoji="1" lang="ja-JP" altLang="en-US" sz="120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ja-JP" altLang="en-US" sz="1200">
                          <a:latin typeface="+mj-ea"/>
                          <a:ea typeface="+mj-ea"/>
                        </a:rPr>
                        <a:t>〇</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ja-JP" altLang="en-US" sz="1200">
                          <a:latin typeface="+mj-ea"/>
                          <a:ea typeface="+mj-ea"/>
                        </a:rPr>
                        <a:t>〇</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31839258"/>
                  </a:ext>
                </a:extLst>
              </a:tr>
              <a:tr h="181802">
                <a:tc>
                  <a:txBody>
                    <a:bodyPr/>
                    <a:lstStyle/>
                    <a:p>
                      <a:pPr algn="l"/>
                      <a:r>
                        <a:rPr kumimoji="1" lang="ja-JP" altLang="en-US" sz="1200" dirty="0">
                          <a:latin typeface="+mj-ea"/>
                          <a:ea typeface="+mj-ea"/>
                        </a:rPr>
                        <a:t>ノード保有者データアクセス制御</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a:r>
                        <a:rPr kumimoji="1" lang="en-US" altLang="ja-JP" sz="1200">
                          <a:latin typeface="+mj-ea"/>
                          <a:ea typeface="+mj-ea"/>
                        </a:rPr>
                        <a:t>×</a:t>
                      </a:r>
                      <a:endParaRPr kumimoji="1" lang="ja-JP" altLang="en-US" sz="120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en-US" altLang="ja-JP" sz="1200">
                          <a:latin typeface="+mj-ea"/>
                          <a:ea typeface="+mj-ea"/>
                        </a:rPr>
                        <a:t>×</a:t>
                      </a:r>
                      <a:endParaRPr kumimoji="1" lang="ja-JP" altLang="en-US" sz="120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ja-JP" altLang="en-US" sz="1200" dirty="0">
                          <a:latin typeface="+mj-ea"/>
                          <a:ea typeface="+mj-ea"/>
                        </a:rPr>
                        <a:t>〇</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113628211"/>
                  </a:ext>
                </a:extLst>
              </a:tr>
              <a:tr h="111319">
                <a:tc>
                  <a:txBody>
                    <a:bodyPr/>
                    <a:lstStyle/>
                    <a:p>
                      <a:pPr algn="l"/>
                      <a:r>
                        <a:rPr kumimoji="1" lang="ja-JP" altLang="en-US" sz="1200">
                          <a:latin typeface="+mj-ea"/>
                          <a:ea typeface="+mj-ea"/>
                        </a:rPr>
                        <a:t>スマートコントラクト</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a:r>
                        <a:rPr kumimoji="1" lang="ja-JP" altLang="en-US" sz="1200" dirty="0">
                          <a:latin typeface="+mj-ea"/>
                          <a:ea typeface="+mj-ea"/>
                        </a:rPr>
                        <a:t>〇</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en-US" altLang="ja-JP" sz="1200">
                          <a:latin typeface="+mj-ea"/>
                          <a:ea typeface="+mj-ea"/>
                        </a:rPr>
                        <a:t>×</a:t>
                      </a:r>
                      <a:endParaRPr kumimoji="1" lang="ja-JP" altLang="en-US" sz="120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ja-JP" altLang="en-US" sz="1200">
                          <a:latin typeface="+mj-ea"/>
                          <a:ea typeface="+mj-ea"/>
                        </a:rPr>
                        <a:t>〇</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456142262"/>
                  </a:ext>
                </a:extLst>
              </a:tr>
              <a:tr h="111319">
                <a:tc>
                  <a:txBody>
                    <a:bodyPr/>
                    <a:lstStyle/>
                    <a:p>
                      <a:pPr algn="l"/>
                      <a:r>
                        <a:rPr kumimoji="1" lang="ja-JP" altLang="en-US" sz="1200" dirty="0">
                          <a:latin typeface="+mj-ea"/>
                          <a:ea typeface="+mj-ea"/>
                        </a:rPr>
                        <a:t>スループット</a:t>
                      </a:r>
                      <a:r>
                        <a:rPr kumimoji="1" lang="en-US" altLang="ja-JP" sz="1200" dirty="0">
                          <a:latin typeface="+mj-ea"/>
                          <a:ea typeface="+mj-ea"/>
                        </a:rPr>
                        <a:t>[TPS]</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a:r>
                        <a:rPr kumimoji="1" lang="en-US" altLang="ja-JP" sz="1200" dirty="0">
                          <a:latin typeface="+mj-ea"/>
                          <a:ea typeface="+mj-ea"/>
                        </a:rPr>
                        <a:t>10</a:t>
                      </a:r>
                      <a:r>
                        <a:rPr kumimoji="1" lang="ja-JP" altLang="en-US" sz="1200" dirty="0">
                          <a:latin typeface="+mj-ea"/>
                          <a:ea typeface="+mj-ea"/>
                        </a:rPr>
                        <a:t>～</a:t>
                      </a:r>
                      <a:r>
                        <a:rPr kumimoji="1" lang="en-US" altLang="ja-JP" sz="1200" dirty="0">
                          <a:latin typeface="+mj-ea"/>
                          <a:ea typeface="+mj-ea"/>
                        </a:rPr>
                        <a:t>15 </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en-US" altLang="ja-JP" sz="1200" dirty="0">
                          <a:latin typeface="+mj-ea"/>
                          <a:ea typeface="+mj-ea"/>
                        </a:rPr>
                        <a:t>100 </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en-US" altLang="ja-JP" sz="1200" dirty="0">
                          <a:latin typeface="+mj-ea"/>
                          <a:ea typeface="+mj-ea"/>
                        </a:rPr>
                        <a:t>400</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00892525"/>
                  </a:ext>
                </a:extLst>
              </a:tr>
              <a:tr h="191192">
                <a:tc>
                  <a:txBody>
                    <a:bodyPr/>
                    <a:lstStyle/>
                    <a:p>
                      <a:pPr algn="l"/>
                      <a:r>
                        <a:rPr kumimoji="1" lang="ja-JP" altLang="en-US" sz="1200" dirty="0">
                          <a:latin typeface="+mj-ea"/>
                          <a:ea typeface="+mj-ea"/>
                        </a:rPr>
                        <a:t>コンセンサスアルゴリズム</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a:r>
                        <a:rPr kumimoji="1" lang="en-US" altLang="ja-JP" sz="1200" dirty="0">
                          <a:latin typeface="+mj-ea"/>
                          <a:ea typeface="+mj-ea"/>
                        </a:rPr>
                        <a:t>Proof of Stake</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en-US" altLang="ja-JP" sz="1200" b="0" kern="1200" dirty="0">
                          <a:solidFill>
                            <a:schemeClr val="dk1"/>
                          </a:solidFill>
                          <a:effectLst/>
                          <a:latin typeface="+mj-ea"/>
                          <a:ea typeface="+mj-ea"/>
                        </a:rPr>
                        <a:t>Plenum</a:t>
                      </a:r>
                      <a:endParaRPr kumimoji="1" lang="ja-JP" altLang="en-US"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200" dirty="0">
                          <a:latin typeface="+mj-ea"/>
                          <a:ea typeface="+mj-ea"/>
                        </a:rPr>
                        <a:t>Raft </a:t>
                      </a:r>
                      <a:r>
                        <a:rPr kumimoji="1" lang="en-US" altLang="ja-JP" sz="1200" kern="1200" dirty="0">
                          <a:solidFill>
                            <a:schemeClr val="dk1"/>
                          </a:solidFill>
                          <a:latin typeface="+mj-ea"/>
                          <a:ea typeface="+mj-ea"/>
                        </a:rPr>
                        <a:t>&amp; </a:t>
                      </a:r>
                      <a:r>
                        <a:rPr kumimoji="1" lang="en-US" altLang="ja-JP" sz="1200" kern="1200" dirty="0" err="1">
                          <a:solidFill>
                            <a:schemeClr val="dk1"/>
                          </a:solidFill>
                          <a:latin typeface="+mj-ea"/>
                          <a:ea typeface="+mj-ea"/>
                        </a:rPr>
                        <a:t>Endoring</a:t>
                      </a:r>
                      <a:r>
                        <a:rPr kumimoji="1" lang="en-US" altLang="ja-JP" sz="1200" kern="1200" dirty="0">
                          <a:solidFill>
                            <a:schemeClr val="dk1"/>
                          </a:solidFill>
                          <a:latin typeface="+mj-ea"/>
                          <a:ea typeface="+mj-ea"/>
                        </a:rPr>
                        <a:t>-Ordering-Validation</a:t>
                      </a:r>
                      <a:endParaRPr kumimoji="1" lang="ja-JP" altLang="en-US" sz="1200" kern="1200" dirty="0">
                        <a:solidFill>
                          <a:schemeClr val="dk1"/>
                        </a:solidFill>
                        <a:latin typeface="+mj-ea"/>
                        <a:ea typeface="+mj-ea"/>
                        <a:cs typeface="+mn-cs"/>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84333936"/>
                  </a:ext>
                </a:extLst>
              </a:tr>
              <a:tr h="191192">
                <a:tc>
                  <a:txBody>
                    <a:bodyPr/>
                    <a:lstStyle/>
                    <a:p>
                      <a:pPr algn="l"/>
                      <a:r>
                        <a:rPr kumimoji="1" lang="ja-JP" altLang="en-US" sz="1200" dirty="0">
                          <a:latin typeface="+mj-ea"/>
                          <a:ea typeface="+mj-ea"/>
                        </a:rPr>
                        <a:t>出所</a:t>
                      </a: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l"/>
                      <a:r>
                        <a:rPr kumimoji="1" lang="en-US" altLang="ja-JP" sz="1200" dirty="0">
                          <a:latin typeface="+mj-ea"/>
                          <a:ea typeface="+mj-ea"/>
                          <a:hlinkClick r:id="rId2"/>
                        </a:rPr>
                        <a:t>https://ethereum.org/</a:t>
                      </a:r>
                      <a:endParaRPr kumimoji="1" lang="en-US" altLang="ja-JP" sz="1200" dirty="0">
                        <a:latin typeface="+mj-ea"/>
                        <a:ea typeface="+mj-ea"/>
                      </a:endParaRPr>
                    </a:p>
                    <a:p>
                      <a:pPr algn="l"/>
                      <a:r>
                        <a:rPr kumimoji="1" lang="en-US" altLang="ja-JP" sz="1200" dirty="0">
                          <a:latin typeface="+mj-ea"/>
                          <a:ea typeface="+mj-ea"/>
                          <a:hlinkClick r:id="rId3"/>
                        </a:rPr>
                        <a:t>https://github.com/ethereum</a:t>
                      </a:r>
                      <a:endParaRPr kumimoji="1" lang="en-US" altLang="ja-JP"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l"/>
                      <a:r>
                        <a:rPr kumimoji="1" lang="en-US" altLang="ja-JP" sz="1200" dirty="0">
                          <a:latin typeface="+mj-ea"/>
                          <a:ea typeface="+mj-ea"/>
                          <a:hlinkClick r:id="rId4"/>
                        </a:rPr>
                        <a:t>https://www.hyperledger.org/projects/hyperledger-indy</a:t>
                      </a:r>
                      <a:endParaRPr kumimoji="1" lang="en-US" altLang="ja-JP" sz="1200" dirty="0">
                        <a:latin typeface="+mj-ea"/>
                        <a:ea typeface="+mj-ea"/>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200" kern="1200" dirty="0">
                          <a:solidFill>
                            <a:schemeClr val="dk1"/>
                          </a:solidFill>
                          <a:latin typeface="+mj-ea"/>
                          <a:ea typeface="+mj-ea"/>
                          <a:cs typeface="+mn-cs"/>
                          <a:hlinkClick r:id="rId5"/>
                        </a:rPr>
                        <a:t>https://www.hyperledger.org/projects/fabric</a:t>
                      </a:r>
                      <a:endParaRPr kumimoji="1" lang="en-US" altLang="ja-JP" sz="1200" kern="1200" dirty="0">
                        <a:solidFill>
                          <a:schemeClr val="dk1"/>
                        </a:solidFill>
                        <a:latin typeface="+mj-ea"/>
                        <a:ea typeface="+mj-ea"/>
                        <a:cs typeface="+mn-cs"/>
                      </a:endParaRPr>
                    </a:p>
                  </a:txBody>
                  <a:tcPr marL="36000" marR="36000" marT="21600" marB="216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848917219"/>
                  </a:ext>
                </a:extLst>
              </a:tr>
            </a:tbl>
          </a:graphicData>
        </a:graphic>
      </p:graphicFrame>
      <p:sp>
        <p:nvSpPr>
          <p:cNvPr id="22" name="四角形: 角を丸くする 21">
            <a:extLst>
              <a:ext uri="{FF2B5EF4-FFF2-40B4-BE49-F238E27FC236}">
                <a16:creationId xmlns:a16="http://schemas.microsoft.com/office/drawing/2014/main" id="{C87BC696-D505-7B9D-7FF0-789619D6DF2A}"/>
              </a:ext>
            </a:extLst>
          </p:cNvPr>
          <p:cNvSpPr/>
          <p:nvPr/>
        </p:nvSpPr>
        <p:spPr bwMode="gray">
          <a:xfrm>
            <a:off x="3120406" y="1929675"/>
            <a:ext cx="1440000" cy="180000"/>
          </a:xfrm>
          <a:prstGeom prst="roundRect">
            <a:avLst/>
          </a:prstGeom>
          <a:solidFill>
            <a:schemeClr val="accent1">
              <a:lumMod val="20000"/>
              <a:lumOff val="80000"/>
            </a:schemeClr>
          </a:solidFill>
          <a:ln>
            <a:solidFill>
              <a:schemeClr val="accent1">
                <a:lumMod val="60000"/>
                <a:lumOff val="40000"/>
              </a:schemeClr>
            </a:solidFill>
            <a:headEnd/>
            <a:tailEnd/>
          </a:ln>
        </p:spPr>
        <p:style>
          <a:lnRef idx="1">
            <a:schemeClr val="accent6"/>
          </a:lnRef>
          <a:fillRef idx="3">
            <a:schemeClr val="accent6"/>
          </a:fillRef>
          <a:effectRef idx="2">
            <a:schemeClr val="accent6"/>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1" i="0" u="none" strike="noStrike" kern="1200" cap="none" spc="0" normalizeH="0" baseline="0" noProof="0" dirty="0">
                <a:ln>
                  <a:noFill/>
                </a:ln>
                <a:solidFill>
                  <a:schemeClr val="tx1"/>
                </a:solidFill>
                <a:effectLst/>
                <a:uLnTx/>
                <a:uFillTx/>
                <a:latin typeface="+mj-ea"/>
                <a:ea typeface="+mj-ea"/>
                <a:cs typeface="+mn-cs"/>
              </a:rPr>
              <a:t>Bitcoin</a:t>
            </a:r>
            <a:endParaRPr kumimoji="1" lang="ja-JP" altLang="en-US" sz="1200" b="1" i="0" u="none" strike="noStrike" kern="1200" cap="none" spc="0" normalizeH="0" baseline="0" noProof="0" dirty="0">
              <a:ln>
                <a:noFill/>
              </a:ln>
              <a:solidFill>
                <a:schemeClr val="tx1"/>
              </a:solidFill>
              <a:effectLst/>
              <a:uLnTx/>
              <a:uFillTx/>
              <a:latin typeface="+mj-ea"/>
              <a:ea typeface="+mj-ea"/>
              <a:cs typeface="+mn-cs"/>
            </a:endParaRPr>
          </a:p>
        </p:txBody>
      </p:sp>
      <p:sp>
        <p:nvSpPr>
          <p:cNvPr id="23" name="四角形: 角を丸くする 22">
            <a:extLst>
              <a:ext uri="{FF2B5EF4-FFF2-40B4-BE49-F238E27FC236}">
                <a16:creationId xmlns:a16="http://schemas.microsoft.com/office/drawing/2014/main" id="{F950B38A-385C-0A44-054F-93A5202A1AAD}"/>
              </a:ext>
            </a:extLst>
          </p:cNvPr>
          <p:cNvSpPr/>
          <p:nvPr/>
        </p:nvSpPr>
        <p:spPr bwMode="gray">
          <a:xfrm>
            <a:off x="4795613" y="1929675"/>
            <a:ext cx="1440000" cy="180000"/>
          </a:xfrm>
          <a:prstGeom prst="roundRect">
            <a:avLst/>
          </a:prstGeom>
          <a:solidFill>
            <a:schemeClr val="accent1">
              <a:lumMod val="20000"/>
              <a:lumOff val="80000"/>
            </a:schemeClr>
          </a:solidFill>
          <a:ln>
            <a:solidFill>
              <a:schemeClr val="accent1">
                <a:lumMod val="60000"/>
                <a:lumOff val="40000"/>
              </a:schemeClr>
            </a:solidFill>
            <a:headEnd/>
            <a:tailEnd/>
          </a:ln>
        </p:spPr>
        <p:style>
          <a:lnRef idx="1">
            <a:schemeClr val="accent6"/>
          </a:lnRef>
          <a:fillRef idx="3">
            <a:schemeClr val="accent6"/>
          </a:fillRef>
          <a:effectRef idx="2">
            <a:schemeClr val="accent6"/>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200" b="1" i="0" u="none" strike="noStrike" kern="1200" cap="none" spc="0" normalizeH="0" baseline="0" noProof="0" dirty="0">
                <a:ln>
                  <a:noFill/>
                </a:ln>
                <a:solidFill>
                  <a:schemeClr val="tx1"/>
                </a:solidFill>
                <a:effectLst/>
                <a:uLnTx/>
                <a:uFillTx/>
                <a:latin typeface="+mj-ea"/>
                <a:ea typeface="+mj-ea"/>
                <a:cs typeface="+mn-cs"/>
              </a:rPr>
              <a:t>Ethereum</a:t>
            </a:r>
            <a:endParaRPr kumimoji="1" lang="ja-JP" altLang="en-US" sz="1200" b="1" i="0" u="none" strike="noStrike" kern="1200" cap="none" spc="0" normalizeH="0" baseline="0" noProof="0" dirty="0">
              <a:ln>
                <a:noFill/>
              </a:ln>
              <a:solidFill>
                <a:schemeClr val="tx1"/>
              </a:solidFill>
              <a:effectLst/>
              <a:uLnTx/>
              <a:uFillTx/>
              <a:latin typeface="+mj-ea"/>
              <a:ea typeface="+mj-ea"/>
              <a:cs typeface="+mn-cs"/>
            </a:endParaRPr>
          </a:p>
        </p:txBody>
      </p:sp>
      <p:sp>
        <p:nvSpPr>
          <p:cNvPr id="24" name="四角形: 角を丸くする 23">
            <a:extLst>
              <a:ext uri="{FF2B5EF4-FFF2-40B4-BE49-F238E27FC236}">
                <a16:creationId xmlns:a16="http://schemas.microsoft.com/office/drawing/2014/main" id="{9B5029CA-1FB6-E865-5636-D6D759FF2C9A}"/>
              </a:ext>
            </a:extLst>
          </p:cNvPr>
          <p:cNvSpPr/>
          <p:nvPr/>
        </p:nvSpPr>
        <p:spPr bwMode="gray">
          <a:xfrm>
            <a:off x="6474847" y="1929675"/>
            <a:ext cx="1440000" cy="180000"/>
          </a:xfrm>
          <a:prstGeom prst="roundRect">
            <a:avLst/>
          </a:prstGeom>
          <a:solidFill>
            <a:schemeClr val="accent1">
              <a:lumMod val="20000"/>
              <a:lumOff val="80000"/>
            </a:schemeClr>
          </a:solidFill>
          <a:ln>
            <a:solidFill>
              <a:schemeClr val="accent1">
                <a:lumMod val="60000"/>
                <a:lumOff val="40000"/>
              </a:schemeClr>
            </a:solidFill>
            <a:headEnd/>
            <a:tailEnd/>
          </a:ln>
        </p:spPr>
        <p:style>
          <a:lnRef idx="1">
            <a:schemeClr val="accent6"/>
          </a:lnRef>
          <a:fillRef idx="3">
            <a:schemeClr val="accent6"/>
          </a:fillRef>
          <a:effectRef idx="2">
            <a:schemeClr val="accent6"/>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200" b="1">
                <a:solidFill>
                  <a:schemeClr val="tx1"/>
                </a:solidFill>
                <a:latin typeface="+mj-ea"/>
                <a:ea typeface="+mj-ea"/>
              </a:rPr>
              <a:t>Hyperledger Indy</a:t>
            </a:r>
            <a:endParaRPr kumimoji="1" lang="ja-JP" altLang="en-US" sz="1200" b="1">
              <a:solidFill>
                <a:schemeClr val="tx1"/>
              </a:solidFill>
              <a:latin typeface="+mj-ea"/>
              <a:ea typeface="+mj-ea"/>
            </a:endParaRPr>
          </a:p>
        </p:txBody>
      </p:sp>
      <p:sp>
        <p:nvSpPr>
          <p:cNvPr id="25" name="四角形: 角を丸くする 24">
            <a:extLst>
              <a:ext uri="{FF2B5EF4-FFF2-40B4-BE49-F238E27FC236}">
                <a16:creationId xmlns:a16="http://schemas.microsoft.com/office/drawing/2014/main" id="{1CD12A3D-C6C5-189C-FC90-FB85536FD9B4}"/>
              </a:ext>
            </a:extLst>
          </p:cNvPr>
          <p:cNvSpPr/>
          <p:nvPr/>
        </p:nvSpPr>
        <p:spPr bwMode="gray">
          <a:xfrm>
            <a:off x="6474847" y="2185587"/>
            <a:ext cx="1440000" cy="180000"/>
          </a:xfrm>
          <a:prstGeom prst="roundRect">
            <a:avLst/>
          </a:prstGeom>
          <a:solidFill>
            <a:schemeClr val="accent1">
              <a:lumMod val="20000"/>
              <a:lumOff val="80000"/>
            </a:schemeClr>
          </a:solidFill>
          <a:ln>
            <a:solidFill>
              <a:schemeClr val="accent1">
                <a:lumMod val="60000"/>
                <a:lumOff val="40000"/>
              </a:schemeClr>
            </a:solidFill>
            <a:headEnd/>
            <a:tailEnd/>
          </a:ln>
        </p:spPr>
        <p:style>
          <a:lnRef idx="1">
            <a:schemeClr val="accent6"/>
          </a:lnRef>
          <a:fillRef idx="3">
            <a:schemeClr val="accent6"/>
          </a:fillRef>
          <a:effectRef idx="2">
            <a:schemeClr val="accent6"/>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200" b="1" dirty="0">
                <a:solidFill>
                  <a:schemeClr val="tx1"/>
                </a:solidFill>
                <a:latin typeface="+mj-ea"/>
                <a:ea typeface="+mj-ea"/>
              </a:rPr>
              <a:t>Hyperledger Fabric</a:t>
            </a:r>
            <a:endParaRPr kumimoji="1" lang="ja-JP" altLang="en-US" sz="1200" b="1" dirty="0">
              <a:solidFill>
                <a:schemeClr val="tx1"/>
              </a:solidFill>
              <a:latin typeface="+mj-ea"/>
              <a:ea typeface="+mj-ea"/>
            </a:endParaRPr>
          </a:p>
        </p:txBody>
      </p:sp>
      <p:sp>
        <p:nvSpPr>
          <p:cNvPr id="26" name="四角形: 角を丸くする 25">
            <a:extLst>
              <a:ext uri="{FF2B5EF4-FFF2-40B4-BE49-F238E27FC236}">
                <a16:creationId xmlns:a16="http://schemas.microsoft.com/office/drawing/2014/main" id="{41663BD4-B85C-EC43-D579-F98317641666}"/>
              </a:ext>
            </a:extLst>
          </p:cNvPr>
          <p:cNvSpPr/>
          <p:nvPr/>
        </p:nvSpPr>
        <p:spPr bwMode="gray">
          <a:xfrm>
            <a:off x="8109385" y="2185587"/>
            <a:ext cx="1440000" cy="180000"/>
          </a:xfrm>
          <a:prstGeom prst="roundRect">
            <a:avLst/>
          </a:prstGeom>
          <a:solidFill>
            <a:schemeClr val="accent1">
              <a:lumMod val="20000"/>
              <a:lumOff val="80000"/>
            </a:schemeClr>
          </a:solidFill>
          <a:ln>
            <a:solidFill>
              <a:schemeClr val="accent1">
                <a:lumMod val="60000"/>
                <a:lumOff val="40000"/>
              </a:schemeClr>
            </a:solidFill>
            <a:headEnd/>
            <a:tailEnd/>
          </a:ln>
        </p:spPr>
        <p:style>
          <a:lnRef idx="1">
            <a:schemeClr val="accent6"/>
          </a:lnRef>
          <a:fillRef idx="3">
            <a:schemeClr val="accent6"/>
          </a:fillRef>
          <a:effectRef idx="2">
            <a:schemeClr val="accent6"/>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200" b="1" dirty="0">
                <a:solidFill>
                  <a:schemeClr val="tx1"/>
                </a:solidFill>
                <a:latin typeface="+mj-ea"/>
                <a:ea typeface="+mj-ea"/>
              </a:rPr>
              <a:t>R3 Corda</a:t>
            </a:r>
            <a:endParaRPr kumimoji="1" lang="ja-JP" altLang="en-US" sz="1200" b="1" dirty="0">
              <a:solidFill>
                <a:schemeClr val="tx1"/>
              </a:solidFill>
              <a:latin typeface="+mj-ea"/>
              <a:ea typeface="+mj-ea"/>
            </a:endParaRPr>
          </a:p>
        </p:txBody>
      </p:sp>
      <p:sp>
        <p:nvSpPr>
          <p:cNvPr id="28" name="コンテンツ プレースホルダー 2">
            <a:extLst>
              <a:ext uri="{FF2B5EF4-FFF2-40B4-BE49-F238E27FC236}">
                <a16:creationId xmlns:a16="http://schemas.microsoft.com/office/drawing/2014/main" id="{A095CE74-19A2-D27A-1F73-AF86143C437F}"/>
              </a:ext>
            </a:extLst>
          </p:cNvPr>
          <p:cNvSpPr txBox="1">
            <a:spLocks/>
          </p:cNvSpPr>
          <p:nvPr/>
        </p:nvSpPr>
        <p:spPr>
          <a:xfrm>
            <a:off x="273050" y="908050"/>
            <a:ext cx="9359900" cy="325578"/>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分散型アイデンティティに使用されるブロックチェーンは不特定ユーザとの検証が前提となるため、全公開が基本となる。ブロック作成、検証行為のみが許可制となる場合がある</a:t>
            </a:r>
            <a:endParaRPr kumimoji="1" lang="ja-JP" altLang="en-US" dirty="0"/>
          </a:p>
        </p:txBody>
      </p:sp>
      <p:sp>
        <p:nvSpPr>
          <p:cNvPr id="29" name="テキスト ボックス 28">
            <a:extLst>
              <a:ext uri="{FF2B5EF4-FFF2-40B4-BE49-F238E27FC236}">
                <a16:creationId xmlns:a16="http://schemas.microsoft.com/office/drawing/2014/main" id="{F624EA29-2189-AA0D-3CE9-0BDC2A1AA1F5}"/>
              </a:ext>
            </a:extLst>
          </p:cNvPr>
          <p:cNvSpPr txBox="1"/>
          <p:nvPr/>
        </p:nvSpPr>
        <p:spPr>
          <a:xfrm>
            <a:off x="221783" y="1447992"/>
            <a:ext cx="2264088" cy="307777"/>
          </a:xfrm>
          <a:prstGeom prst="rect">
            <a:avLst/>
          </a:prstGeom>
          <a:noFill/>
        </p:spPr>
        <p:txBody>
          <a:bodyPr wrap="square">
            <a:spAutoFit/>
          </a:bodyPr>
          <a:lstStyle/>
          <a:p>
            <a:r>
              <a:rPr lang="ja-JP" altLang="en-US" sz="1400" b="1" dirty="0">
                <a:solidFill>
                  <a:schemeClr val="accent1"/>
                </a:solidFill>
                <a:latin typeface="+mn-ea"/>
                <a:ea typeface="+mn-ea"/>
              </a:rPr>
              <a:t>ブロックチェーンマッピング</a:t>
            </a:r>
          </a:p>
        </p:txBody>
      </p:sp>
      <p:sp>
        <p:nvSpPr>
          <p:cNvPr id="30" name="テキスト ボックス 29">
            <a:extLst>
              <a:ext uri="{FF2B5EF4-FFF2-40B4-BE49-F238E27FC236}">
                <a16:creationId xmlns:a16="http://schemas.microsoft.com/office/drawing/2014/main" id="{CBDE6930-1D2A-6284-D8E1-EC6CE8388C49}"/>
              </a:ext>
            </a:extLst>
          </p:cNvPr>
          <p:cNvSpPr txBox="1"/>
          <p:nvPr/>
        </p:nvSpPr>
        <p:spPr>
          <a:xfrm>
            <a:off x="221782" y="2487522"/>
            <a:ext cx="7235085" cy="307777"/>
          </a:xfrm>
          <a:prstGeom prst="rect">
            <a:avLst/>
          </a:prstGeom>
          <a:noFill/>
        </p:spPr>
        <p:txBody>
          <a:bodyPr wrap="square">
            <a:spAutoFit/>
          </a:bodyPr>
          <a:lstStyle/>
          <a:p>
            <a:r>
              <a:rPr lang="ja-JP" altLang="en-US" sz="1400" b="1" dirty="0">
                <a:solidFill>
                  <a:schemeClr val="accent1"/>
                </a:solidFill>
                <a:latin typeface="+mn-ea"/>
                <a:ea typeface="+mn-ea"/>
              </a:rPr>
              <a:t>アイデンティティ管理等で活用する主要ブロックチェーン比較</a:t>
            </a:r>
          </a:p>
        </p:txBody>
      </p:sp>
      <p:sp>
        <p:nvSpPr>
          <p:cNvPr id="32" name="正方形/長方形 31">
            <a:extLst>
              <a:ext uri="{FF2B5EF4-FFF2-40B4-BE49-F238E27FC236}">
                <a16:creationId xmlns:a16="http://schemas.microsoft.com/office/drawing/2014/main" id="{8AF1766B-8B24-8F07-5688-A15683A85E12}"/>
              </a:ext>
            </a:extLst>
          </p:cNvPr>
          <p:cNvSpPr/>
          <p:nvPr/>
        </p:nvSpPr>
        <p:spPr>
          <a:xfrm>
            <a:off x="1875716" y="135476"/>
            <a:ext cx="980645"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33" name="正方形/長方形 32">
            <a:extLst>
              <a:ext uri="{FF2B5EF4-FFF2-40B4-BE49-F238E27FC236}">
                <a16:creationId xmlns:a16="http://schemas.microsoft.com/office/drawing/2014/main" id="{AE9C3BBC-FE38-FD35-3217-E503775298EF}"/>
              </a:ext>
            </a:extLst>
          </p:cNvPr>
          <p:cNvSpPr/>
          <p:nvPr/>
        </p:nvSpPr>
        <p:spPr>
          <a:xfrm>
            <a:off x="1875716" y="242366"/>
            <a:ext cx="491226" cy="1728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34" name="正方形/長方形 33">
            <a:extLst>
              <a:ext uri="{FF2B5EF4-FFF2-40B4-BE49-F238E27FC236}">
                <a16:creationId xmlns:a16="http://schemas.microsoft.com/office/drawing/2014/main" id="{85BCE09A-9680-9300-8325-D8EE163A7473}"/>
              </a:ext>
            </a:extLst>
          </p:cNvPr>
          <p:cNvSpPr/>
          <p:nvPr/>
        </p:nvSpPr>
        <p:spPr>
          <a:xfrm>
            <a:off x="2366942"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Credential</a:t>
            </a:r>
          </a:p>
          <a:p>
            <a:pPr algn="ctr"/>
            <a:r>
              <a:rPr lang="en-US" altLang="ja-JP" sz="500" dirty="0"/>
              <a:t>Proofing</a:t>
            </a:r>
            <a:endParaRPr lang="ja-JP" altLang="en-US" sz="500" dirty="0"/>
          </a:p>
        </p:txBody>
      </p:sp>
      <p:sp>
        <p:nvSpPr>
          <p:cNvPr id="35" name="正方形/長方形 34">
            <a:extLst>
              <a:ext uri="{FF2B5EF4-FFF2-40B4-BE49-F238E27FC236}">
                <a16:creationId xmlns:a16="http://schemas.microsoft.com/office/drawing/2014/main" id="{5D886814-6C3B-8935-6F62-E92BB010F0E6}"/>
              </a:ext>
            </a:extLst>
          </p:cNvPr>
          <p:cNvSpPr/>
          <p:nvPr/>
        </p:nvSpPr>
        <p:spPr>
          <a:xfrm>
            <a:off x="2858168"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Envelope</a:t>
            </a:r>
            <a:endParaRPr lang="ja-JP" altLang="en-US" sz="600" dirty="0"/>
          </a:p>
        </p:txBody>
      </p:sp>
      <p:sp>
        <p:nvSpPr>
          <p:cNvPr id="36" name="正方形/長方形 35">
            <a:extLst>
              <a:ext uri="{FF2B5EF4-FFF2-40B4-BE49-F238E27FC236}">
                <a16:creationId xmlns:a16="http://schemas.microsoft.com/office/drawing/2014/main" id="{ACCB28F9-6FA8-6C9D-5249-EE22A5076F6C}"/>
              </a:ext>
            </a:extLst>
          </p:cNvPr>
          <p:cNvSpPr/>
          <p:nvPr/>
        </p:nvSpPr>
        <p:spPr>
          <a:xfrm>
            <a:off x="2856361" y="135476"/>
            <a:ext cx="983839"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a:t>Agent </a:t>
            </a:r>
            <a:r>
              <a:rPr lang="en-US" altLang="ja-JP" sz="600" dirty="0"/>
              <a:t>Layer</a:t>
            </a:r>
            <a:endParaRPr lang="ja-JP" altLang="en-US" sz="600" dirty="0"/>
          </a:p>
        </p:txBody>
      </p:sp>
      <p:sp>
        <p:nvSpPr>
          <p:cNvPr id="37" name="正方形/長方形 36">
            <a:extLst>
              <a:ext uri="{FF2B5EF4-FFF2-40B4-BE49-F238E27FC236}">
                <a16:creationId xmlns:a16="http://schemas.microsoft.com/office/drawing/2014/main" id="{C2D25978-7EE7-3C66-058B-AB513E78ECDD}"/>
              </a:ext>
            </a:extLst>
          </p:cNvPr>
          <p:cNvSpPr/>
          <p:nvPr/>
        </p:nvSpPr>
        <p:spPr>
          <a:xfrm>
            <a:off x="334926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Transport</a:t>
            </a:r>
            <a:endParaRPr lang="ja-JP" altLang="en-US" sz="600" dirty="0"/>
          </a:p>
        </p:txBody>
      </p:sp>
      <p:sp>
        <p:nvSpPr>
          <p:cNvPr id="38" name="正方形/長方形 37">
            <a:extLst>
              <a:ext uri="{FF2B5EF4-FFF2-40B4-BE49-F238E27FC236}">
                <a16:creationId xmlns:a16="http://schemas.microsoft.com/office/drawing/2014/main" id="{DB9CE345-1560-1B9C-0ECB-CE5221D353E5}"/>
              </a:ext>
            </a:extLst>
          </p:cNvPr>
          <p:cNvSpPr/>
          <p:nvPr/>
        </p:nvSpPr>
        <p:spPr>
          <a:xfrm>
            <a:off x="384065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39" name="正方形/長方形 38">
            <a:extLst>
              <a:ext uri="{FF2B5EF4-FFF2-40B4-BE49-F238E27FC236}">
                <a16:creationId xmlns:a16="http://schemas.microsoft.com/office/drawing/2014/main" id="{AB06393E-CDA7-B92E-8355-F654C48FD544}"/>
              </a:ext>
            </a:extLst>
          </p:cNvPr>
          <p:cNvSpPr/>
          <p:nvPr/>
        </p:nvSpPr>
        <p:spPr>
          <a:xfrm>
            <a:off x="4824207"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40" name="正方形/長方形 39">
            <a:extLst>
              <a:ext uri="{FF2B5EF4-FFF2-40B4-BE49-F238E27FC236}">
                <a16:creationId xmlns:a16="http://schemas.microsoft.com/office/drawing/2014/main" id="{8AA50E6E-2622-C3C7-6855-3DC97006456B}"/>
              </a:ext>
            </a:extLst>
          </p:cNvPr>
          <p:cNvSpPr/>
          <p:nvPr/>
        </p:nvSpPr>
        <p:spPr>
          <a:xfrm>
            <a:off x="531530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41" name="正方形/長方形 40">
            <a:extLst>
              <a:ext uri="{FF2B5EF4-FFF2-40B4-BE49-F238E27FC236}">
                <a16:creationId xmlns:a16="http://schemas.microsoft.com/office/drawing/2014/main" id="{DBA8E872-2B24-ABAE-2085-DF33067C262D}"/>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42" name="正方形/長方形 41">
            <a:extLst>
              <a:ext uri="{FF2B5EF4-FFF2-40B4-BE49-F238E27FC236}">
                <a16:creationId xmlns:a16="http://schemas.microsoft.com/office/drawing/2014/main" id="{DC2F0485-78A1-BC89-C8D1-A89548606639}"/>
              </a:ext>
            </a:extLst>
          </p:cNvPr>
          <p:cNvSpPr/>
          <p:nvPr/>
        </p:nvSpPr>
        <p:spPr>
          <a:xfrm>
            <a:off x="6297630"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Disclosure</a:t>
            </a:r>
            <a:br>
              <a:rPr lang="en-US" altLang="ja-JP" sz="500" dirty="0"/>
            </a:br>
            <a:r>
              <a:rPr lang="en-US" altLang="ja-JP" sz="500" dirty="0"/>
              <a:t>/ZKP</a:t>
            </a:r>
          </a:p>
        </p:txBody>
      </p:sp>
      <p:sp>
        <p:nvSpPr>
          <p:cNvPr id="43" name="正方形/長方形 42">
            <a:extLst>
              <a:ext uri="{FF2B5EF4-FFF2-40B4-BE49-F238E27FC236}">
                <a16:creationId xmlns:a16="http://schemas.microsoft.com/office/drawing/2014/main" id="{7CF5872D-83C5-293E-6DDF-17DC3ED21614}"/>
              </a:ext>
            </a:extLst>
          </p:cNvPr>
          <p:cNvSpPr/>
          <p:nvPr/>
        </p:nvSpPr>
        <p:spPr>
          <a:xfrm>
            <a:off x="6788856"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44" name="正方形/長方形 43">
            <a:extLst>
              <a:ext uri="{FF2B5EF4-FFF2-40B4-BE49-F238E27FC236}">
                <a16:creationId xmlns:a16="http://schemas.microsoft.com/office/drawing/2014/main" id="{89C5A3E3-C13A-CBD2-1E8B-EAB5958FB1F3}"/>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45" name="正方形/長方形 44">
            <a:extLst>
              <a:ext uri="{FF2B5EF4-FFF2-40B4-BE49-F238E27FC236}">
                <a16:creationId xmlns:a16="http://schemas.microsoft.com/office/drawing/2014/main" id="{87E660A0-789D-97DC-70BA-7B67D77A8ADC}"/>
              </a:ext>
            </a:extLst>
          </p:cNvPr>
          <p:cNvSpPr/>
          <p:nvPr/>
        </p:nvSpPr>
        <p:spPr>
          <a:xfrm>
            <a:off x="7771053"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46" name="正方形/長方形 45">
            <a:extLst>
              <a:ext uri="{FF2B5EF4-FFF2-40B4-BE49-F238E27FC236}">
                <a16:creationId xmlns:a16="http://schemas.microsoft.com/office/drawing/2014/main" id="{EECAFF43-721F-DE2F-8E61-E88F41F9C47A}"/>
              </a:ext>
            </a:extLst>
          </p:cNvPr>
          <p:cNvSpPr/>
          <p:nvPr/>
        </p:nvSpPr>
        <p:spPr>
          <a:xfrm>
            <a:off x="3837006" y="135476"/>
            <a:ext cx="2461601"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47" name="正方形/長方形 46">
            <a:extLst>
              <a:ext uri="{FF2B5EF4-FFF2-40B4-BE49-F238E27FC236}">
                <a16:creationId xmlns:a16="http://schemas.microsoft.com/office/drawing/2014/main" id="{2D90EE4F-30EF-D769-42C9-CD81F55D0615}"/>
              </a:ext>
            </a:extLst>
          </p:cNvPr>
          <p:cNvSpPr/>
          <p:nvPr/>
        </p:nvSpPr>
        <p:spPr>
          <a:xfrm>
            <a:off x="6297503" y="135476"/>
            <a:ext cx="1964776"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5" name="正方形/長方形 4">
            <a:extLst>
              <a:ext uri="{FF2B5EF4-FFF2-40B4-BE49-F238E27FC236}">
                <a16:creationId xmlns:a16="http://schemas.microsoft.com/office/drawing/2014/main" id="{C1ED76C6-516C-FFD9-20FB-C194BD97046F}"/>
              </a:ext>
            </a:extLst>
          </p:cNvPr>
          <p:cNvSpPr/>
          <p:nvPr/>
        </p:nvSpPr>
        <p:spPr>
          <a:xfrm>
            <a:off x="433291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717558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07C306-ADB2-6E46-6349-E5614D1E5BA3}"/>
              </a:ext>
            </a:extLst>
          </p:cNvPr>
          <p:cNvSpPr>
            <a:spLocks noGrp="1"/>
          </p:cNvSpPr>
          <p:nvPr>
            <p:ph type="title"/>
          </p:nvPr>
        </p:nvSpPr>
        <p:spPr>
          <a:xfrm>
            <a:off x="273050" y="447475"/>
            <a:ext cx="7848302" cy="246221"/>
          </a:xfrm>
        </p:spPr>
        <p:txBody>
          <a:bodyPr/>
          <a:lstStyle/>
          <a:p>
            <a:r>
              <a:rPr kumimoji="1" lang="en-US" altLang="ja-JP" dirty="0"/>
              <a:t>(</a:t>
            </a:r>
            <a:r>
              <a:rPr kumimoji="1" lang="ja-JP" altLang="en-US" dirty="0"/>
              <a:t>参考</a:t>
            </a:r>
            <a:r>
              <a:rPr kumimoji="1" lang="en-US" altLang="ja-JP" dirty="0"/>
              <a:t>)</a:t>
            </a:r>
            <a:r>
              <a:rPr kumimoji="1" lang="ja-JP" altLang="en-US" dirty="0"/>
              <a:t>ブロックチェーン領域で活用される秘匿化技術</a:t>
            </a:r>
          </a:p>
        </p:txBody>
      </p:sp>
      <p:sp>
        <p:nvSpPr>
          <p:cNvPr id="3" name="テキスト プレースホルダー 2">
            <a:extLst>
              <a:ext uri="{FF2B5EF4-FFF2-40B4-BE49-F238E27FC236}">
                <a16:creationId xmlns:a16="http://schemas.microsoft.com/office/drawing/2014/main" id="{D6EC6A57-3DB4-7AB4-511E-95513349EDFF}"/>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a:solidFill>
                  <a:schemeClr val="dk1"/>
                </a:solidFill>
                <a:latin typeface="+mn-ea"/>
                <a:ea typeface="+mn-ea"/>
                <a:cs typeface="Arial"/>
                <a:sym typeface="Arial"/>
              </a:rPr>
              <a:t> 技術スタック</a:t>
            </a:r>
            <a:r>
              <a:rPr lang="ja-JP" altLang="en-US" sz="1050" u="none" strike="noStrike" cap="none">
                <a:solidFill>
                  <a:schemeClr val="dk1"/>
                </a:solidFill>
                <a:latin typeface="+mn-ea"/>
                <a:ea typeface="+mn-ea"/>
                <a:cs typeface="Arial"/>
                <a:sym typeface="Arial"/>
              </a:rPr>
              <a:t>詳細調査</a:t>
            </a:r>
          </a:p>
        </p:txBody>
      </p:sp>
      <p:sp>
        <p:nvSpPr>
          <p:cNvPr id="6" name="テキスト ボックス 5">
            <a:extLst>
              <a:ext uri="{FF2B5EF4-FFF2-40B4-BE49-F238E27FC236}">
                <a16:creationId xmlns:a16="http://schemas.microsoft.com/office/drawing/2014/main" id="{3D87D640-D5AD-401F-0119-3163C06D6FA5}"/>
              </a:ext>
            </a:extLst>
          </p:cNvPr>
          <p:cNvSpPr txBox="1"/>
          <p:nvPr/>
        </p:nvSpPr>
        <p:spPr>
          <a:xfrm>
            <a:off x="121186" y="6172542"/>
            <a:ext cx="6928283" cy="246221"/>
          </a:xfrm>
          <a:prstGeom prst="rect">
            <a:avLst/>
          </a:prstGeom>
          <a:noFill/>
        </p:spPr>
        <p:txBody>
          <a:bodyPr wrap="square">
            <a:spAutoFit/>
          </a:bodyPr>
          <a:lstStyle/>
          <a:p>
            <a:r>
              <a:rPr lang="ja-JP" altLang="en-US" sz="1000" dirty="0">
                <a:latin typeface="+mn-ea"/>
                <a:ea typeface="+mn-ea"/>
                <a:hlinkClick r:id="rId2"/>
              </a:rPr>
              <a:t>https://www.boj.or.jp/paym/fintech/rel200212a.htm</a:t>
            </a:r>
            <a:r>
              <a:rPr lang="ja-JP" altLang="en-US" sz="1000" dirty="0">
                <a:latin typeface="+mn-ea"/>
                <a:ea typeface="+mn-ea"/>
              </a:rPr>
              <a:t>をもとに</a:t>
            </a:r>
            <a:r>
              <a:rPr lang="en-US" altLang="ja-JP" sz="1000" dirty="0">
                <a:latin typeface="+mn-ea"/>
                <a:ea typeface="+mn-ea"/>
              </a:rPr>
              <a:t>TOPPAM</a:t>
            </a:r>
            <a:r>
              <a:rPr lang="ja-JP" altLang="en-US" sz="1000" dirty="0">
                <a:latin typeface="+mn-ea"/>
                <a:ea typeface="+mn-ea"/>
              </a:rPr>
              <a:t>作成</a:t>
            </a:r>
            <a:endParaRPr lang="en-US" altLang="ja-JP" sz="1000" dirty="0">
              <a:latin typeface="+mn-ea"/>
              <a:ea typeface="+mn-ea"/>
            </a:endParaRPr>
          </a:p>
        </p:txBody>
      </p:sp>
      <p:graphicFrame>
        <p:nvGraphicFramePr>
          <p:cNvPr id="8" name="表 7">
            <a:extLst>
              <a:ext uri="{FF2B5EF4-FFF2-40B4-BE49-F238E27FC236}">
                <a16:creationId xmlns:a16="http://schemas.microsoft.com/office/drawing/2014/main" id="{556E70A2-180A-009C-FE30-654E4CB643A9}"/>
              </a:ext>
            </a:extLst>
          </p:cNvPr>
          <p:cNvGraphicFramePr>
            <a:graphicFrameLocks noGrp="1"/>
          </p:cNvGraphicFramePr>
          <p:nvPr>
            <p:extLst>
              <p:ext uri="{D42A27DB-BD31-4B8C-83A1-F6EECF244321}">
                <p14:modId xmlns:p14="http://schemas.microsoft.com/office/powerpoint/2010/main" val="3852016386"/>
              </p:ext>
            </p:extLst>
          </p:nvPr>
        </p:nvGraphicFramePr>
        <p:xfrm>
          <a:off x="121186" y="1429277"/>
          <a:ext cx="9632413" cy="4739640"/>
        </p:xfrm>
        <a:graphic>
          <a:graphicData uri="http://schemas.openxmlformats.org/drawingml/2006/table">
            <a:tbl>
              <a:tblPr firstRow="1" bandRow="1">
                <a:tableStyleId>{5C22544A-7EE6-4342-B048-85BDC9FD1C3A}</a:tableStyleId>
              </a:tblPr>
              <a:tblGrid>
                <a:gridCol w="937593">
                  <a:extLst>
                    <a:ext uri="{9D8B030D-6E8A-4147-A177-3AD203B41FA5}">
                      <a16:colId xmlns:a16="http://schemas.microsoft.com/office/drawing/2014/main" val="2563755099"/>
                    </a:ext>
                  </a:extLst>
                </a:gridCol>
                <a:gridCol w="2637642">
                  <a:extLst>
                    <a:ext uri="{9D8B030D-6E8A-4147-A177-3AD203B41FA5}">
                      <a16:colId xmlns:a16="http://schemas.microsoft.com/office/drawing/2014/main" val="1426424873"/>
                    </a:ext>
                  </a:extLst>
                </a:gridCol>
                <a:gridCol w="3028589">
                  <a:extLst>
                    <a:ext uri="{9D8B030D-6E8A-4147-A177-3AD203B41FA5}">
                      <a16:colId xmlns:a16="http://schemas.microsoft.com/office/drawing/2014/main" val="481346449"/>
                    </a:ext>
                  </a:extLst>
                </a:gridCol>
                <a:gridCol w="3028589">
                  <a:extLst>
                    <a:ext uri="{9D8B030D-6E8A-4147-A177-3AD203B41FA5}">
                      <a16:colId xmlns:a16="http://schemas.microsoft.com/office/drawing/2014/main" val="2484598491"/>
                    </a:ext>
                  </a:extLst>
                </a:gridCol>
              </a:tblGrid>
              <a:tr h="179036">
                <a:tc>
                  <a:txBody>
                    <a:bodyPr/>
                    <a:lstStyle/>
                    <a:p>
                      <a:endParaRPr kumimoji="1" lang="ja-JP" altLang="en-US" sz="1200"/>
                    </a:p>
                  </a:txBody>
                  <a:tcPr/>
                </a:tc>
                <a:tc>
                  <a:txBody>
                    <a:bodyPr/>
                    <a:lstStyle/>
                    <a:p>
                      <a:pPr algn="ctr"/>
                      <a:r>
                        <a:rPr kumimoji="1" lang="ja-JP" altLang="en-US" sz="1400" dirty="0"/>
                        <a:t>共有先制御型</a:t>
                      </a:r>
                      <a:r>
                        <a:rPr kumimoji="1" lang="en-US" altLang="ja-JP" sz="1400" dirty="0"/>
                        <a:t>PET</a:t>
                      </a:r>
                      <a:endParaRPr kumimoji="1" lang="ja-JP" altLang="en-US" sz="1400" dirty="0"/>
                    </a:p>
                  </a:txBody>
                  <a:tcPr/>
                </a:tc>
                <a:tc>
                  <a:txBody>
                    <a:bodyPr/>
                    <a:lstStyle/>
                    <a:p>
                      <a:pPr algn="ctr"/>
                      <a:r>
                        <a:rPr kumimoji="1" lang="ja-JP" altLang="en-US" sz="1400" dirty="0"/>
                        <a:t>非可読化型</a:t>
                      </a:r>
                      <a:r>
                        <a:rPr kumimoji="1" lang="en-US" altLang="ja-JP" sz="1400" dirty="0"/>
                        <a:t>PET</a:t>
                      </a:r>
                      <a:endParaRPr kumimoji="1" lang="ja-JP" altLang="en-US" sz="1400" dirty="0"/>
                    </a:p>
                  </a:txBody>
                  <a:tcPr/>
                </a:tc>
                <a:tc>
                  <a:txBody>
                    <a:bodyPr/>
                    <a:lstStyle/>
                    <a:p>
                      <a:pPr algn="ctr"/>
                      <a:r>
                        <a:rPr kumimoji="1" lang="ja-JP" altLang="en-US" sz="1400" dirty="0"/>
                        <a:t>関係性隠匿型</a:t>
                      </a:r>
                      <a:r>
                        <a:rPr kumimoji="1" lang="en-US" altLang="ja-JP" sz="1400" dirty="0"/>
                        <a:t>PET</a:t>
                      </a:r>
                      <a:endParaRPr kumimoji="1" lang="ja-JP" altLang="en-US" sz="1400" dirty="0"/>
                    </a:p>
                  </a:txBody>
                  <a:tcPr/>
                </a:tc>
                <a:extLst>
                  <a:ext uri="{0D108BD9-81ED-4DB2-BD59-A6C34878D82A}">
                    <a16:rowId xmlns:a16="http://schemas.microsoft.com/office/drawing/2014/main" val="1617797069"/>
                  </a:ext>
                </a:extLst>
              </a:tr>
              <a:tr h="353168">
                <a:tc>
                  <a:txBody>
                    <a:bodyPr/>
                    <a:lstStyle/>
                    <a:p>
                      <a:r>
                        <a:rPr kumimoji="1" lang="ja-JP" altLang="en-US" sz="1200" dirty="0"/>
                        <a:t>説明</a:t>
                      </a:r>
                    </a:p>
                  </a:txBody>
                  <a:tcP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ja-JP" altLang="en-US" sz="1200" dirty="0"/>
                        <a:t>各参加者がネットワーク上の全取引の一部にしかアクセスできないようにする手法</a:t>
                      </a:r>
                      <a:endParaRPr kumimoji="1" lang="ja-JP" altLang="en-US" sz="1200" dirty="0"/>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200"/>
                        <a:t>暗号化技術を用いることで、第三者が取引情報を解釈できないようにする手法</a:t>
                      </a:r>
                      <a:endParaRPr kumimoji="1" lang="ja-JP" altLang="en-US" sz="1200"/>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200"/>
                        <a:t>台帳に記録された送金者・受領者情報から、第三者が取引当事者を特定することを困難にする手法</a:t>
                      </a:r>
                      <a:endParaRPr kumimoji="1" lang="ja-JP" altLang="en-US" sz="1200"/>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4688122"/>
                  </a:ext>
                </a:extLst>
              </a:tr>
              <a:tr h="1059503">
                <a:tc>
                  <a:txBody>
                    <a:bodyPr/>
                    <a:lstStyle/>
                    <a:p>
                      <a:r>
                        <a:rPr kumimoji="1" lang="ja-JP" altLang="en-US" sz="1200" dirty="0">
                          <a:solidFill>
                            <a:schemeClr val="tx1"/>
                          </a:solidFill>
                        </a:rPr>
                        <a:t>パブリック</a:t>
                      </a:r>
                      <a:r>
                        <a:rPr kumimoji="1" lang="en-US" altLang="ja-JP" sz="1200" dirty="0">
                          <a:solidFill>
                            <a:schemeClr val="tx1"/>
                          </a:solidFill>
                        </a:rPr>
                        <a:t>/</a:t>
                      </a:r>
                    </a:p>
                    <a:p>
                      <a:r>
                        <a:rPr kumimoji="1" lang="ja-JP" altLang="en-US" sz="1200" dirty="0">
                          <a:solidFill>
                            <a:schemeClr val="tx1"/>
                          </a:solidFill>
                        </a:rPr>
                        <a:t>プライベートチェーン</a:t>
                      </a:r>
                      <a:r>
                        <a:rPr kumimoji="1" lang="ja-JP" altLang="en-US" sz="1200" dirty="0"/>
                        <a:t>双方で活用される技術</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indent="0">
                        <a:buFont typeface="Arial" panose="020B0604020202020204" pitchFamily="34" charset="0"/>
                        <a:buNone/>
                      </a:pPr>
                      <a:r>
                        <a:rPr kumimoji="1" lang="ja-JP" altLang="en-US" sz="1200" b="1" dirty="0">
                          <a:solidFill>
                            <a:srgbClr val="0070C0"/>
                          </a:solidFill>
                        </a:rPr>
                        <a:t>ペイメントチャネル</a:t>
                      </a:r>
                      <a:br>
                        <a:rPr kumimoji="1" lang="en-US" altLang="ja-JP" sz="1200" dirty="0">
                          <a:solidFill>
                            <a:schemeClr val="tx1"/>
                          </a:solidFill>
                        </a:rPr>
                      </a:br>
                      <a:r>
                        <a:rPr kumimoji="1" lang="ja-JP" altLang="en-US" sz="1100" dirty="0">
                          <a:solidFill>
                            <a:schemeClr val="tx1"/>
                          </a:solidFill>
                        </a:rPr>
                        <a:t>オフチェーンで取引することで</a:t>
                      </a:r>
                      <a:r>
                        <a:rPr lang="ja-JP" altLang="en-US" sz="1100" dirty="0"/>
                        <a:t>、秘匿性を強化する仕組み。参加者は個々の取引をネットワーク全体にブロードキャストすることがない</a:t>
                      </a:r>
                      <a:endParaRPr kumimoji="1" lang="en-US" altLang="ja-JP" sz="1200"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1" dirty="0">
                          <a:solidFill>
                            <a:srgbClr val="0070C0"/>
                          </a:solidFill>
                        </a:rPr>
                        <a:t>ゼロ知識証明（</a:t>
                      </a:r>
                      <a:r>
                        <a:rPr kumimoji="1" lang="en-US" altLang="ja-JP" sz="1200" b="1" dirty="0">
                          <a:solidFill>
                            <a:srgbClr val="0070C0"/>
                          </a:solidFill>
                        </a:rPr>
                        <a:t>ZKP</a:t>
                      </a:r>
                      <a:r>
                        <a:rPr kumimoji="1" lang="ja-JP" altLang="en-US" sz="1200" b="1" dirty="0">
                          <a:solidFill>
                            <a:srgbClr val="0070C0"/>
                          </a:solidFill>
                        </a:rPr>
                        <a:t>）</a:t>
                      </a:r>
                      <a:br>
                        <a:rPr kumimoji="1" lang="en-US" altLang="ja-JP" sz="1200" dirty="0"/>
                      </a:br>
                      <a:r>
                        <a:rPr kumimoji="1" lang="ja-JP" altLang="en-US" sz="1100" b="0" i="0" kern="1200" dirty="0">
                          <a:solidFill>
                            <a:schemeClr val="tx1"/>
                          </a:solidFill>
                          <a:effectLst/>
                          <a:latin typeface="+mn-lt"/>
                          <a:ea typeface="+mn-ea"/>
                          <a:cs typeface="+mn-cs"/>
                        </a:rPr>
                        <a:t>データを公開することなく、そのデータの真実性のみを証明する。</a:t>
                      </a:r>
                      <a:r>
                        <a:rPr kumimoji="1" lang="en-US" altLang="ja-JP" sz="1100" b="0" i="0" kern="1200" dirty="0">
                          <a:solidFill>
                            <a:schemeClr val="tx1"/>
                          </a:solidFill>
                          <a:effectLst/>
                          <a:latin typeface="+mn-lt"/>
                          <a:ea typeface="+mn-ea"/>
                          <a:cs typeface="+mn-cs"/>
                        </a:rPr>
                        <a:t>VC</a:t>
                      </a:r>
                      <a:r>
                        <a:rPr kumimoji="1" lang="ja-JP" altLang="en-US" sz="1100" b="0" i="0" kern="1200" dirty="0">
                          <a:solidFill>
                            <a:schemeClr val="tx1"/>
                          </a:solidFill>
                          <a:effectLst/>
                          <a:latin typeface="+mn-lt"/>
                          <a:ea typeface="+mn-ea"/>
                          <a:cs typeface="+mn-cs"/>
                        </a:rPr>
                        <a:t>では、</a:t>
                      </a:r>
                      <a:r>
                        <a:rPr kumimoji="1" lang="en-US" altLang="ja-JP" sz="1100" b="0" i="0" kern="1200" dirty="0">
                          <a:solidFill>
                            <a:schemeClr val="tx1"/>
                          </a:solidFill>
                          <a:effectLst/>
                          <a:latin typeface="+mn-lt"/>
                          <a:ea typeface="+mn-ea"/>
                          <a:cs typeface="+mn-cs"/>
                        </a:rPr>
                        <a:t>BBS</a:t>
                      </a:r>
                      <a:r>
                        <a:rPr kumimoji="1" lang="ja-JP" altLang="en-US" sz="1100" b="0" i="0" kern="1200" dirty="0">
                          <a:solidFill>
                            <a:schemeClr val="tx1"/>
                          </a:solidFill>
                          <a:effectLst/>
                          <a:latin typeface="+mn-lt"/>
                          <a:ea typeface="+mn-ea"/>
                          <a:cs typeface="+mn-cs"/>
                        </a:rPr>
                        <a:t>＋署名と組み合わせて取引情報の秘匿化が行われる</a:t>
                      </a:r>
                      <a:endParaRPr kumimoji="1" lang="en-US" altLang="ja-JP"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1" dirty="0">
                          <a:solidFill>
                            <a:srgbClr val="0070C0"/>
                          </a:solidFill>
                        </a:rPr>
                        <a:t>準同型暗号</a:t>
                      </a:r>
                      <a:br>
                        <a:rPr kumimoji="1" lang="en-US" altLang="ja-JP" sz="1200" dirty="0"/>
                      </a:br>
                      <a:r>
                        <a:rPr kumimoji="1" lang="ja-JP" altLang="en-US" sz="1100" b="0" i="0" kern="1200" dirty="0">
                          <a:solidFill>
                            <a:schemeClr val="tx1"/>
                          </a:solidFill>
                          <a:effectLst/>
                          <a:latin typeface="+mn-lt"/>
                          <a:ea typeface="+mn-ea"/>
                          <a:cs typeface="+mn-cs"/>
                        </a:rPr>
                        <a:t>データを暗号化したまま計算可能な暗号方式</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1" dirty="0">
                          <a:solidFill>
                            <a:srgbClr val="0070C0"/>
                          </a:solidFill>
                        </a:rPr>
                        <a:t>秘密分散</a:t>
                      </a:r>
                      <a:br>
                        <a:rPr kumimoji="1" lang="en-US" altLang="ja-JP" sz="1200" dirty="0"/>
                      </a:br>
                      <a:r>
                        <a:rPr kumimoji="1" lang="ja-JP" altLang="en-US" sz="1100" dirty="0"/>
                        <a:t>データを断片化して一定以上の断片が揃わないと復元できない仕組み</a:t>
                      </a:r>
                      <a:endParaRPr kumimoji="1" lang="en-US" altLang="ja-JP" sz="11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1" dirty="0">
                          <a:solidFill>
                            <a:srgbClr val="0070C0"/>
                          </a:solidFill>
                        </a:rPr>
                        <a:t>リング署名</a:t>
                      </a:r>
                      <a:br>
                        <a:rPr kumimoji="1" lang="en-US" altLang="ja-JP" sz="1200" dirty="0"/>
                      </a:br>
                      <a:r>
                        <a:rPr lang="ja-JP" altLang="en-US" sz="1100" dirty="0"/>
                        <a:t>複数人が記載された公開鍵リストがあり、その中に署名者が存在することを保証する</a:t>
                      </a:r>
                      <a:r>
                        <a:rPr kumimoji="1" lang="en-US" altLang="ja-JP" sz="1100" dirty="0"/>
                        <a:t>(</a:t>
                      </a:r>
                      <a:r>
                        <a:rPr kumimoji="1" lang="ja-JP" altLang="en-US" sz="1100" dirty="0"/>
                        <a:t>誰であるかは特定できない</a:t>
                      </a:r>
                      <a:r>
                        <a:rPr kumimoji="1" lang="en-US" altLang="ja-JP" sz="1100"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1" kern="1200" dirty="0">
                          <a:solidFill>
                            <a:srgbClr val="0070C0"/>
                          </a:solidFill>
                          <a:latin typeface="+mn-lt"/>
                          <a:ea typeface="+mn-ea"/>
                          <a:cs typeface="+mn-cs"/>
                        </a:rPr>
                        <a:t>グループ署名（</a:t>
                      </a:r>
                      <a:r>
                        <a:rPr kumimoji="1" lang="en-US" altLang="ja-JP" sz="1200" b="1" kern="1200" dirty="0">
                          <a:solidFill>
                            <a:srgbClr val="0070C0"/>
                          </a:solidFill>
                          <a:latin typeface="+mn-lt"/>
                          <a:ea typeface="+mn-ea"/>
                          <a:cs typeface="+mn-cs"/>
                        </a:rPr>
                        <a:t>BBS+</a:t>
                      </a:r>
                      <a:r>
                        <a:rPr kumimoji="1" lang="ja-JP" altLang="en-US" sz="1200" b="1" kern="1200" dirty="0">
                          <a:solidFill>
                            <a:srgbClr val="0070C0"/>
                          </a:solidFill>
                          <a:latin typeface="+mn-lt"/>
                          <a:ea typeface="+mn-ea"/>
                          <a:cs typeface="+mn-cs"/>
                        </a:rPr>
                        <a:t>署名</a:t>
                      </a:r>
                      <a:r>
                        <a:rPr kumimoji="1" lang="en-US" altLang="ja-JP" sz="1200" b="1" kern="1200" dirty="0">
                          <a:solidFill>
                            <a:srgbClr val="0070C0"/>
                          </a:solidFill>
                          <a:latin typeface="+mn-lt"/>
                          <a:ea typeface="+mn-ea"/>
                          <a:cs typeface="+mn-cs"/>
                        </a:rPr>
                        <a:t>/CL</a:t>
                      </a:r>
                      <a:r>
                        <a:rPr kumimoji="1" lang="ja-JP" altLang="en-US" sz="1200" b="1" kern="1200" dirty="0">
                          <a:solidFill>
                            <a:srgbClr val="0070C0"/>
                          </a:solidFill>
                          <a:latin typeface="+mn-lt"/>
                          <a:ea typeface="+mn-ea"/>
                          <a:cs typeface="+mn-cs"/>
                        </a:rPr>
                        <a:t>署名）</a:t>
                      </a:r>
                      <a:br>
                        <a:rPr kumimoji="1" lang="en-US" altLang="ja-JP" sz="1400" dirty="0"/>
                      </a:br>
                      <a:r>
                        <a:rPr lang="ja-JP" altLang="en-US" sz="1100" dirty="0"/>
                        <a:t>あるグループに属する者の署名からはそのグループに属することしか</a:t>
                      </a:r>
                      <a:r>
                        <a:rPr lang="ja-JP" altLang="en-US" sz="1100" dirty="0">
                          <a:solidFill>
                            <a:schemeClr val="tx1"/>
                          </a:solidFill>
                        </a:rPr>
                        <a:t>わからず、グループ管理者だけが特定できる。</a:t>
                      </a:r>
                      <a:r>
                        <a:rPr kumimoji="1" lang="en-US" altLang="ja-JP" sz="1100" b="0" i="0" kern="1200" dirty="0">
                          <a:solidFill>
                            <a:schemeClr val="tx1"/>
                          </a:solidFill>
                          <a:effectLst/>
                          <a:latin typeface="+mn-lt"/>
                          <a:ea typeface="+mn-ea"/>
                          <a:cs typeface="+mn-cs"/>
                        </a:rPr>
                        <a:t>VC</a:t>
                      </a:r>
                      <a:r>
                        <a:rPr kumimoji="1" lang="ja-JP" altLang="en-US" sz="1100" b="0" i="0" kern="1200" dirty="0">
                          <a:solidFill>
                            <a:schemeClr val="tx1"/>
                          </a:solidFill>
                          <a:effectLst/>
                          <a:latin typeface="+mn-lt"/>
                          <a:ea typeface="+mn-ea"/>
                          <a:cs typeface="+mn-cs"/>
                        </a:rPr>
                        <a:t>では、ゼロ知識証明と組み合わせて取引情報の秘匿化が行われる</a:t>
                      </a:r>
                      <a:endParaRPr kumimoji="1" lang="en-US" altLang="ja-JP" sz="1100"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75654190"/>
                  </a:ext>
                </a:extLst>
              </a:tr>
              <a:tr h="1162510">
                <a:tc>
                  <a:txBody>
                    <a:bodyPr/>
                    <a:lstStyle/>
                    <a:p>
                      <a:r>
                        <a:rPr kumimoji="1" lang="ja-JP" altLang="en-US" sz="1200" dirty="0"/>
                        <a:t>プライベートチェーンで</a:t>
                      </a:r>
                      <a:endParaRPr kumimoji="1" lang="en-US" altLang="ja-JP" sz="1200" dirty="0"/>
                    </a:p>
                    <a:p>
                      <a:r>
                        <a:rPr kumimoji="1" lang="ja-JP" altLang="en-US" sz="1200" dirty="0"/>
                        <a:t>主に活用される技術</a:t>
                      </a:r>
                    </a:p>
                  </a:txBody>
                  <a:tcP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marL="0" indent="0">
                        <a:buFont typeface="Arial" panose="020B0604020202020204" pitchFamily="34" charset="0"/>
                        <a:buNone/>
                      </a:pPr>
                      <a:r>
                        <a:rPr kumimoji="1" lang="en-US" altLang="ja-JP" sz="1200" b="1" dirty="0">
                          <a:solidFill>
                            <a:srgbClr val="0267B7"/>
                          </a:solidFill>
                        </a:rPr>
                        <a:t>Flow Framework</a:t>
                      </a:r>
                      <a:r>
                        <a:rPr kumimoji="1" lang="ja-JP" altLang="en-US" sz="1200" b="1" dirty="0">
                          <a:solidFill>
                            <a:srgbClr val="0267B7"/>
                          </a:solidFill>
                        </a:rPr>
                        <a:t>（</a:t>
                      </a:r>
                      <a:r>
                        <a:rPr kumimoji="1" lang="en-US" altLang="ja-JP" sz="1200" b="1" dirty="0">
                          <a:solidFill>
                            <a:srgbClr val="0267B7"/>
                          </a:solidFill>
                        </a:rPr>
                        <a:t>Corda</a:t>
                      </a:r>
                      <a:r>
                        <a:rPr kumimoji="1" lang="ja-JP" altLang="en-US" sz="1200" b="1" dirty="0">
                          <a:solidFill>
                            <a:srgbClr val="0267B7"/>
                          </a:solidFill>
                        </a:rPr>
                        <a:t>）</a:t>
                      </a:r>
                      <a:br>
                        <a:rPr kumimoji="1" lang="en-US" altLang="ja-JP" sz="1200" dirty="0">
                          <a:solidFill>
                            <a:srgbClr val="0267B7"/>
                          </a:solidFill>
                        </a:rPr>
                      </a:br>
                      <a:r>
                        <a:rPr kumimoji="1" lang="ja-JP" altLang="en-US" sz="1100" dirty="0">
                          <a:solidFill>
                            <a:schemeClr val="tx1"/>
                          </a:solidFill>
                        </a:rPr>
                        <a:t>取引当事者間のみデータを共有するトランザクションを発行可能</a:t>
                      </a:r>
                      <a:endParaRPr kumimoji="1" lang="en-US" altLang="ja-JP" sz="11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1" dirty="0">
                          <a:solidFill>
                            <a:srgbClr val="0267B7"/>
                          </a:solidFill>
                        </a:rPr>
                        <a:t>Channel</a:t>
                      </a:r>
                      <a:r>
                        <a:rPr kumimoji="1" lang="ja-JP" altLang="en-US" sz="1200" b="1" dirty="0">
                          <a:solidFill>
                            <a:srgbClr val="0267B7"/>
                          </a:solidFill>
                        </a:rPr>
                        <a:t>（</a:t>
                      </a:r>
                      <a:r>
                        <a:rPr kumimoji="1" lang="en-US" altLang="ja-JP" sz="1200" b="1" dirty="0">
                          <a:solidFill>
                            <a:srgbClr val="0267B7"/>
                          </a:solidFill>
                        </a:rPr>
                        <a:t>Hyperledger Fabric</a:t>
                      </a:r>
                      <a:r>
                        <a:rPr kumimoji="1" lang="ja-JP" altLang="en-US" sz="1200" b="1" dirty="0">
                          <a:solidFill>
                            <a:srgbClr val="0267B7"/>
                          </a:solidFill>
                        </a:rPr>
                        <a:t>）</a:t>
                      </a:r>
                      <a:br>
                        <a:rPr kumimoji="1" lang="en-US" altLang="ja-JP" sz="1200" dirty="0">
                          <a:solidFill>
                            <a:srgbClr val="0267B7"/>
                          </a:solidFill>
                        </a:rPr>
                      </a:br>
                      <a:r>
                        <a:rPr kumimoji="1" lang="ja-JP" altLang="en-US" sz="1100" dirty="0"/>
                        <a:t>グループ単位にブロックチェーンを分割する方式。トランザクション送信時にチャネルを指定することで、任意のグループのみデータを共有可能</a:t>
                      </a:r>
                    </a:p>
                  </a:txBody>
                  <a:tcPr>
                    <a:lnT w="12700" cap="flat" cmpd="sng" algn="ctr">
                      <a:solidFill>
                        <a:schemeClr val="tx1"/>
                      </a:solidFill>
                      <a:prstDash val="solid"/>
                      <a:round/>
                      <a:headEnd type="none" w="med" len="med"/>
                      <a:tailEnd type="none" w="med" len="med"/>
                    </a:lnT>
                    <a:solidFill>
                      <a:schemeClr val="bg1"/>
                    </a:solidFill>
                  </a:tcPr>
                </a:tc>
                <a:tc>
                  <a:txBody>
                    <a:bodyPr/>
                    <a:lstStyle/>
                    <a:p>
                      <a:pPr marL="0" indent="0">
                        <a:buFont typeface="Arial" panose="020B0604020202020204" pitchFamily="34" charset="0"/>
                        <a:buNone/>
                      </a:pPr>
                      <a:r>
                        <a:rPr kumimoji="1" lang="en-US" altLang="ja-JP" sz="1200" b="1" dirty="0">
                          <a:solidFill>
                            <a:srgbClr val="0267B7"/>
                          </a:solidFill>
                        </a:rPr>
                        <a:t>Private Transaction</a:t>
                      </a:r>
                      <a:r>
                        <a:rPr kumimoji="1" lang="ja-JP" altLang="en-US" sz="1200" b="1" dirty="0">
                          <a:solidFill>
                            <a:srgbClr val="0267B7"/>
                          </a:solidFill>
                        </a:rPr>
                        <a:t>（</a:t>
                      </a:r>
                      <a:r>
                        <a:rPr kumimoji="1" lang="en-US" altLang="ja-JP" sz="1200" b="1" dirty="0">
                          <a:solidFill>
                            <a:srgbClr val="0267B7"/>
                          </a:solidFill>
                        </a:rPr>
                        <a:t>Quorum</a:t>
                      </a:r>
                      <a:r>
                        <a:rPr kumimoji="1" lang="ja-JP" altLang="en-US" sz="1200" b="1" dirty="0">
                          <a:solidFill>
                            <a:srgbClr val="0267B7"/>
                          </a:solidFill>
                        </a:rPr>
                        <a:t>）</a:t>
                      </a:r>
                      <a:br>
                        <a:rPr kumimoji="1" lang="en-US" altLang="ja-JP" sz="1200" dirty="0">
                          <a:solidFill>
                            <a:srgbClr val="0267B7"/>
                          </a:solidFill>
                        </a:rPr>
                      </a:br>
                      <a:r>
                        <a:rPr kumimoji="1" lang="ja-JP" altLang="en-US" sz="1100" dirty="0"/>
                        <a:t>トランザクションに秘匿情報を含まないハッシュ等のみを格納（アンカリング）し、データの実体は指定ノードのみ共有する方式</a:t>
                      </a:r>
                      <a:endParaRPr kumimoji="1" lang="en-US" altLang="ja-JP" sz="1100" dirty="0">
                        <a:solidFill>
                          <a:srgbClr val="0267B7"/>
                        </a:solidFill>
                      </a:endParaRPr>
                    </a:p>
                    <a:p>
                      <a:pPr marL="0" indent="0">
                        <a:buFont typeface="Arial" panose="020B0604020202020204" pitchFamily="34" charset="0"/>
                        <a:buNone/>
                      </a:pPr>
                      <a:r>
                        <a:rPr kumimoji="1" lang="en-US" altLang="ja-JP" sz="1200" b="1" dirty="0">
                          <a:solidFill>
                            <a:srgbClr val="0267B7"/>
                          </a:solidFill>
                        </a:rPr>
                        <a:t>Private Data Collection</a:t>
                      </a:r>
                      <a:r>
                        <a:rPr kumimoji="1" lang="ja-JP" altLang="en-US" sz="1200" b="1" dirty="0">
                          <a:solidFill>
                            <a:srgbClr val="0267B7"/>
                          </a:solidFill>
                        </a:rPr>
                        <a:t>（</a:t>
                      </a:r>
                      <a:r>
                        <a:rPr kumimoji="1" lang="en-US" altLang="ja-JP" sz="1200" b="1" dirty="0">
                          <a:solidFill>
                            <a:srgbClr val="0267B7"/>
                          </a:solidFill>
                        </a:rPr>
                        <a:t>Hyperledger Fabric</a:t>
                      </a:r>
                      <a:r>
                        <a:rPr kumimoji="1" lang="ja-JP" altLang="en-US" sz="1200" b="1" dirty="0">
                          <a:solidFill>
                            <a:srgbClr val="0267B7"/>
                          </a:solidFill>
                        </a:rPr>
                        <a:t>）</a:t>
                      </a:r>
                      <a:br>
                        <a:rPr kumimoji="1" lang="en-US" altLang="ja-JP" sz="1200" b="1" dirty="0">
                          <a:solidFill>
                            <a:srgbClr val="0267B7"/>
                          </a:solidFill>
                        </a:rPr>
                      </a:br>
                      <a:r>
                        <a:rPr kumimoji="1" lang="ja-JP" altLang="en-US" sz="1100" dirty="0"/>
                        <a:t>トランザクションに秘匿情報を含まないハッシュ等のみを格納し、データの実体は指定ノードのみ共有する方式。チャネルより細かい単位で共有範囲を指定</a:t>
                      </a:r>
                      <a:endParaRPr kumimoji="1" lang="ja-JP" altLang="en-US" sz="1200" dirty="0"/>
                    </a:p>
                  </a:txBody>
                  <a:tcP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dirty="0"/>
                        <a:t>ー</a:t>
                      </a:r>
                      <a:endParaRPr kumimoji="1" lang="en-US" altLang="ja-JP" sz="1200" dirty="0"/>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95491111"/>
                  </a:ext>
                </a:extLst>
              </a:tr>
            </a:tbl>
          </a:graphicData>
        </a:graphic>
      </p:graphicFrame>
      <p:sp>
        <p:nvSpPr>
          <p:cNvPr id="12" name="コンテンツ プレースホルダー 2">
            <a:extLst>
              <a:ext uri="{FF2B5EF4-FFF2-40B4-BE49-F238E27FC236}">
                <a16:creationId xmlns:a16="http://schemas.microsoft.com/office/drawing/2014/main" id="{5B76AAE0-68C8-608B-450B-CF03DF30F52D}"/>
              </a:ext>
            </a:extLst>
          </p:cNvPr>
          <p:cNvSpPr txBox="1">
            <a:spLocks/>
          </p:cNvSpPr>
          <p:nvPr/>
        </p:nvSpPr>
        <p:spPr>
          <a:xfrm>
            <a:off x="273050" y="908049"/>
            <a:ext cx="9359900" cy="521094"/>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機密性やプライバシーレベルが高い情報を秘匿化する技術（</a:t>
            </a:r>
            <a:r>
              <a:rPr lang="en-US" altLang="ja-JP" dirty="0"/>
              <a:t>PET</a:t>
            </a:r>
            <a:r>
              <a:rPr lang="ja-JP" altLang="en-US" dirty="0"/>
              <a:t>：</a:t>
            </a:r>
            <a:r>
              <a:rPr lang="en-US" altLang="ja-JP" dirty="0"/>
              <a:t>privacy-enhancing technologies/techniques</a:t>
            </a:r>
            <a:r>
              <a:rPr lang="ja-JP" altLang="en-US" dirty="0"/>
              <a:t>）は</a:t>
            </a:r>
            <a:br>
              <a:rPr lang="en-US" altLang="ja-JP" dirty="0"/>
            </a:br>
            <a:r>
              <a:rPr lang="ja-JP" altLang="en-US" dirty="0"/>
              <a:t>多数存在し、大きくは</a:t>
            </a:r>
            <a:r>
              <a:rPr lang="en-US" altLang="ja-JP" dirty="0"/>
              <a:t>3</a:t>
            </a:r>
            <a:r>
              <a:rPr lang="ja-JP" altLang="en-US" dirty="0"/>
              <a:t>つに分類される。また、</a:t>
            </a:r>
            <a:r>
              <a:rPr kumimoji="1" lang="ja-JP" altLang="en-US" dirty="0"/>
              <a:t>パブリックチェーン </a:t>
            </a:r>
            <a:r>
              <a:rPr kumimoji="1" lang="en-US" altLang="ja-JP" dirty="0"/>
              <a:t>/</a:t>
            </a:r>
            <a:r>
              <a:rPr lang="ja-JP" altLang="en-US" dirty="0"/>
              <a:t> </a:t>
            </a:r>
            <a:r>
              <a:rPr kumimoji="1" lang="ja-JP" altLang="en-US" dirty="0"/>
              <a:t>プライべートチェーンで活用される技術は異なる。</a:t>
            </a:r>
            <a:endParaRPr kumimoji="1" lang="en-US" altLang="ja-JP" dirty="0"/>
          </a:p>
        </p:txBody>
      </p:sp>
    </p:spTree>
    <p:extLst>
      <p:ext uri="{BB962C8B-B14F-4D97-AF65-F5344CB8AC3E}">
        <p14:creationId xmlns:p14="http://schemas.microsoft.com/office/powerpoint/2010/main" val="2609490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441FF5-14E8-891D-9E40-0F2877A388B8}"/>
              </a:ext>
            </a:extLst>
          </p:cNvPr>
          <p:cNvSpPr>
            <a:spLocks noGrp="1"/>
          </p:cNvSpPr>
          <p:nvPr>
            <p:ph type="title"/>
          </p:nvPr>
        </p:nvSpPr>
        <p:spPr/>
        <p:txBody>
          <a:bodyPr/>
          <a:lstStyle/>
          <a:p>
            <a:r>
              <a:rPr kumimoji="1" lang="en-US" altLang="ja-JP" dirty="0"/>
              <a:t>5.2. </a:t>
            </a:r>
            <a:r>
              <a:rPr kumimoji="1" lang="ja-JP" altLang="en-US" dirty="0"/>
              <a:t>規格・実装方式の詳細</a:t>
            </a:r>
            <a:r>
              <a:rPr kumimoji="1" lang="en-US" altLang="ja-JP" dirty="0"/>
              <a:t>- (10) Universal Resolver</a:t>
            </a:r>
            <a:endParaRPr kumimoji="1" lang="ja-JP" altLang="en-US" dirty="0"/>
          </a:p>
        </p:txBody>
      </p:sp>
      <p:sp>
        <p:nvSpPr>
          <p:cNvPr id="3" name="テキスト プレースホルダー 2">
            <a:extLst>
              <a:ext uri="{FF2B5EF4-FFF2-40B4-BE49-F238E27FC236}">
                <a16:creationId xmlns:a16="http://schemas.microsoft.com/office/drawing/2014/main" id="{DD4DC42B-5072-D648-D4BF-141F0622AEE7}"/>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pic>
        <p:nvPicPr>
          <p:cNvPr id="6" name="図 5">
            <a:extLst>
              <a:ext uri="{FF2B5EF4-FFF2-40B4-BE49-F238E27FC236}">
                <a16:creationId xmlns:a16="http://schemas.microsoft.com/office/drawing/2014/main" id="{255FB3CB-ABCB-2F5D-F855-A51DBE0B6DF1}"/>
              </a:ext>
            </a:extLst>
          </p:cNvPr>
          <p:cNvPicPr>
            <a:picLocks noChangeAspect="1"/>
          </p:cNvPicPr>
          <p:nvPr/>
        </p:nvPicPr>
        <p:blipFill>
          <a:blip r:embed="rId2"/>
          <a:stretch>
            <a:fillRect/>
          </a:stretch>
        </p:blipFill>
        <p:spPr>
          <a:xfrm>
            <a:off x="5098964" y="2062520"/>
            <a:ext cx="4447425" cy="4347894"/>
          </a:xfrm>
          <a:prstGeom prst="rect">
            <a:avLst/>
          </a:prstGeom>
          <a:effectLst>
            <a:outerShdw blurRad="50800" dist="38100" dir="2700000" algn="tl" rotWithShape="0">
              <a:prstClr val="black">
                <a:alpha val="40000"/>
              </a:prstClr>
            </a:outerShdw>
          </a:effectLst>
        </p:spPr>
      </p:pic>
      <p:sp>
        <p:nvSpPr>
          <p:cNvPr id="9" name="テキスト ボックス 8">
            <a:extLst>
              <a:ext uri="{FF2B5EF4-FFF2-40B4-BE49-F238E27FC236}">
                <a16:creationId xmlns:a16="http://schemas.microsoft.com/office/drawing/2014/main" id="{EB0DC4E3-58A7-198A-87C9-090FE1E6CBCD}"/>
              </a:ext>
            </a:extLst>
          </p:cNvPr>
          <p:cNvSpPr txBox="1"/>
          <p:nvPr/>
        </p:nvSpPr>
        <p:spPr bwMode="gray">
          <a:xfrm>
            <a:off x="6250978" y="1679710"/>
            <a:ext cx="2143398" cy="184666"/>
          </a:xfrm>
          <a:prstGeom prst="rect">
            <a:avLst/>
          </a:prstGeom>
          <a:noFill/>
        </p:spPr>
        <p:txBody>
          <a:bodyPr wrap="square" lIns="0" tIns="0" rIns="0" bIns="0" rtlCol="0">
            <a:sp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0" i="0" u="none" strike="noStrike" kern="1200" cap="none" spc="0" normalizeH="0" baseline="0" noProof="0" dirty="0">
                <a:ln>
                  <a:noFill/>
                </a:ln>
                <a:solidFill>
                  <a:prstClr val="black"/>
                </a:solidFill>
                <a:effectLst/>
                <a:uLnTx/>
                <a:uFillTx/>
                <a:latin typeface="+mn-lt"/>
                <a:ea typeface="+mn-ea"/>
                <a:cs typeface="+mn-cs"/>
              </a:rPr>
              <a:t>対応ドライバリスト</a:t>
            </a:r>
            <a:endParaRPr kumimoji="1" lang="en-US" altLang="ja-JP"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11" name="テキスト ボックス 10">
            <a:extLst>
              <a:ext uri="{FF2B5EF4-FFF2-40B4-BE49-F238E27FC236}">
                <a16:creationId xmlns:a16="http://schemas.microsoft.com/office/drawing/2014/main" id="{79D00DCA-076E-A661-7A3C-21F2EDD48391}"/>
              </a:ext>
            </a:extLst>
          </p:cNvPr>
          <p:cNvSpPr txBox="1"/>
          <p:nvPr/>
        </p:nvSpPr>
        <p:spPr>
          <a:xfrm>
            <a:off x="286585" y="2018963"/>
            <a:ext cx="4447425" cy="2908489"/>
          </a:xfrm>
          <a:prstGeom prst="rect">
            <a:avLst/>
          </a:prstGeom>
          <a:noFill/>
        </p:spPr>
        <p:txBody>
          <a:bodyPr wrap="square">
            <a:spAutoFit/>
          </a:bodyPr>
          <a:lstStyle/>
          <a:p>
            <a:pPr marL="285750" marR="0" lvl="0" indent="-285750" algn="l" defTabSz="914400" rtl="0" eaLnBrk="1" fontAlgn="base" latinLnBrk="0" hangingPunct="1">
              <a:lnSpc>
                <a:spcPct val="100000"/>
              </a:lnSpc>
              <a:spcBef>
                <a:spcPts val="600"/>
              </a:spcBef>
              <a:spcAft>
                <a:spcPct val="0"/>
              </a:spcAft>
              <a:buClrTx/>
              <a:buSzTx/>
              <a:buFont typeface="Wingdings" panose="05000000000000000000" pitchFamily="2" charset="2"/>
              <a:buChar char="l"/>
              <a:tabLst/>
              <a:defRPr/>
            </a:pP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W3C</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が制定する</a:t>
            </a: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DID Core 1.0</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および</a:t>
            </a: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DID Resolution</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仕様に基づいてさまざまな</a:t>
            </a: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DID</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メソッドに対応した名前解決や</a:t>
            </a: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DID</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の登録を行う</a:t>
            </a:r>
            <a:endParaRPr kumimoji="0" lang="en-US" altLang="ja-JP" sz="1400" dirty="0">
              <a:solidFill>
                <a:prstClr val="black"/>
              </a:solidFill>
              <a:latin typeface="Arial" charset="0"/>
              <a:ea typeface="Yu Gothic UI"/>
              <a:cs typeface="Arial" charset="0"/>
            </a:endParaRPr>
          </a:p>
          <a:p>
            <a:pPr marL="285750" marR="0" lvl="0" indent="-285750" algn="l" defTabSz="914400" rtl="0" eaLnBrk="1" fontAlgn="base" latinLnBrk="0" hangingPunct="1">
              <a:lnSpc>
                <a:spcPct val="100000"/>
              </a:lnSpc>
              <a:spcBef>
                <a:spcPts val="600"/>
              </a:spcBef>
              <a:spcAft>
                <a:spcPct val="0"/>
              </a:spcAft>
              <a:buClrTx/>
              <a:buSzTx/>
              <a:buFont typeface="Wingdings" panose="05000000000000000000" pitchFamily="2" charset="2"/>
              <a:buChar char="l"/>
              <a:tabLst/>
              <a:defRPr/>
            </a:pP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Docker</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イメージで提供され</a:t>
            </a: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REST API</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を利用して動作する。ドライバー形式を採用しており、特定の</a:t>
            </a: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DID</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メソッドに対応したドライバーを組み込むことでサポートするメソッドを拡張できる</a:t>
            </a:r>
            <a:endPar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endParaRPr>
          </a:p>
          <a:p>
            <a:pPr marL="285750" marR="0" lvl="0" indent="-285750" algn="l" defTabSz="914400" rtl="0" eaLnBrk="1" fontAlgn="base" latinLnBrk="0" hangingPunct="1">
              <a:lnSpc>
                <a:spcPct val="100000"/>
              </a:lnSpc>
              <a:spcBef>
                <a:spcPts val="600"/>
              </a:spcBef>
              <a:spcAft>
                <a:spcPct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現時点で</a:t>
            </a: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60</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個以上のドライバに対応しており、標準化はまだされていないものの、事実上のディファクトスタンダードとなって</a:t>
            </a:r>
            <a:r>
              <a:rPr kumimoji="0" lang="ja-JP" altLang="en-US" sz="1400" dirty="0">
                <a:solidFill>
                  <a:prstClr val="black"/>
                </a:solidFill>
                <a:latin typeface="Arial" charset="0"/>
                <a:ea typeface="Yu Gothic UI"/>
                <a:cs typeface="Arial" charset="0"/>
              </a:rPr>
              <a:t>いる</a:t>
            </a:r>
            <a:endPar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endParaRPr>
          </a:p>
          <a:p>
            <a:pPr marL="285750" marR="0" lvl="0" indent="-285750" algn="l" defTabSz="914400" rtl="0" eaLnBrk="1" fontAlgn="base" latinLnBrk="0" hangingPunct="1">
              <a:lnSpc>
                <a:spcPct val="100000"/>
              </a:lnSpc>
              <a:spcBef>
                <a:spcPts val="600"/>
              </a:spcBef>
              <a:spcAft>
                <a:spcPct val="0"/>
              </a:spcAft>
              <a:buClrTx/>
              <a:buSzTx/>
              <a:buFont typeface="Wingdings" panose="05000000000000000000" pitchFamily="2" charset="2"/>
              <a:buChar char="l"/>
              <a:tabLst/>
              <a:defRPr/>
            </a:pP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現在は</a:t>
            </a:r>
            <a:r>
              <a:rPr kumimoji="0" lang="en-US" altLang="ja-JP" sz="1400" b="0" i="0" u="none" strike="noStrike" kern="1200" cap="none" spc="0" normalizeH="0" baseline="0" noProof="0" dirty="0">
                <a:ln>
                  <a:noFill/>
                </a:ln>
                <a:solidFill>
                  <a:prstClr val="black"/>
                </a:solidFill>
                <a:effectLst/>
                <a:uLnTx/>
                <a:uFillTx/>
                <a:latin typeface="Arial" charset="0"/>
                <a:ea typeface="Yu Gothic UI"/>
                <a:cs typeface="Arial" charset="0"/>
              </a:rPr>
              <a:t>DIF Identifiers &amp; Discovery Working Group</a:t>
            </a:r>
            <a:r>
              <a:rPr kumimoji="0" lang="ja-JP" altLang="en-US" sz="1400" b="0" i="0" u="none" strike="noStrike" kern="1200" cap="none" spc="0" normalizeH="0" baseline="0" noProof="0" dirty="0">
                <a:ln>
                  <a:noFill/>
                </a:ln>
                <a:solidFill>
                  <a:prstClr val="black"/>
                </a:solidFill>
                <a:effectLst/>
                <a:uLnTx/>
                <a:uFillTx/>
                <a:latin typeface="Arial" charset="0"/>
                <a:ea typeface="Yu Gothic UI"/>
                <a:cs typeface="Arial" charset="0"/>
              </a:rPr>
              <a:t>の作業項目となっている</a:t>
            </a:r>
          </a:p>
        </p:txBody>
      </p:sp>
      <p:sp>
        <p:nvSpPr>
          <p:cNvPr id="12" name="コンテンツ プレースホルダー 2">
            <a:extLst>
              <a:ext uri="{FF2B5EF4-FFF2-40B4-BE49-F238E27FC236}">
                <a16:creationId xmlns:a16="http://schemas.microsoft.com/office/drawing/2014/main" id="{0D4926FE-0AD0-6DDE-DD1F-3D1D5FEBB556}"/>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a:t>DID Method</a:t>
            </a:r>
            <a:r>
              <a:rPr kumimoji="1" lang="ja-JP" altLang="en-US" dirty="0"/>
              <a:t>を識別し、名前解決を行う仕組みとして実質的な標準となっているのが</a:t>
            </a:r>
            <a:r>
              <a:rPr kumimoji="1" lang="en-US" altLang="ja-JP" dirty="0"/>
              <a:t>Universal Resolver</a:t>
            </a:r>
            <a:r>
              <a:rPr kumimoji="1" lang="ja-JP" altLang="en-US" dirty="0"/>
              <a:t>。</a:t>
            </a:r>
            <a:r>
              <a:rPr kumimoji="1" lang="en-US" altLang="ja-JP" dirty="0"/>
              <a:t>DID Method</a:t>
            </a:r>
            <a:r>
              <a:rPr kumimoji="1" lang="ja-JP" altLang="en-US" dirty="0"/>
              <a:t>をサポートするためにプラグインとなる</a:t>
            </a:r>
            <a:r>
              <a:rPr kumimoji="1" lang="en-US" altLang="ja-JP" dirty="0"/>
              <a:t>Driver</a:t>
            </a:r>
            <a:r>
              <a:rPr kumimoji="1" lang="ja-JP" altLang="en-US" dirty="0"/>
              <a:t>を追加する</a:t>
            </a:r>
          </a:p>
        </p:txBody>
      </p:sp>
      <p:sp>
        <p:nvSpPr>
          <p:cNvPr id="4" name="テキスト ボックス 3">
            <a:extLst>
              <a:ext uri="{FF2B5EF4-FFF2-40B4-BE49-F238E27FC236}">
                <a16:creationId xmlns:a16="http://schemas.microsoft.com/office/drawing/2014/main" id="{56C3B384-968F-B6B7-33D2-4F9D5299AE2B}"/>
              </a:ext>
            </a:extLst>
          </p:cNvPr>
          <p:cNvSpPr txBox="1"/>
          <p:nvPr/>
        </p:nvSpPr>
        <p:spPr>
          <a:xfrm>
            <a:off x="286585" y="6470059"/>
            <a:ext cx="5891368" cy="138499"/>
          </a:xfrm>
          <a:prstGeom prst="rect">
            <a:avLst/>
          </a:prstGeom>
          <a:noFill/>
        </p:spPr>
        <p:txBody>
          <a:bodyPr wrap="square" lIns="0" tIns="0" rIns="0" bIns="0" rtlCol="0">
            <a:spAutoFit/>
          </a:bodyPr>
          <a:lstStyle/>
          <a:p>
            <a:r>
              <a:rPr kumimoji="1" lang="ja-JP" altLang="en-US" sz="900" dirty="0">
                <a:latin typeface="+mn-ea"/>
                <a:ea typeface="+mn-ea"/>
              </a:rPr>
              <a:t>出所：</a:t>
            </a:r>
            <a:r>
              <a:rPr kumimoji="1" lang="en-US" altLang="ja-JP" sz="900" dirty="0">
                <a:latin typeface="+mn-ea"/>
                <a:ea typeface="+mn-ea"/>
                <a:hlinkClick r:id="rId3"/>
              </a:rPr>
              <a:t>https://github.com/decentralized-identity/universal-resolver</a:t>
            </a:r>
            <a:endParaRPr kumimoji="1" lang="ja-JP" altLang="en-US" sz="900" dirty="0">
              <a:latin typeface="+mn-ea"/>
              <a:ea typeface="+mn-ea"/>
            </a:endParaRPr>
          </a:p>
        </p:txBody>
      </p:sp>
      <p:sp>
        <p:nvSpPr>
          <p:cNvPr id="25" name="正方形/長方形 24">
            <a:extLst>
              <a:ext uri="{FF2B5EF4-FFF2-40B4-BE49-F238E27FC236}">
                <a16:creationId xmlns:a16="http://schemas.microsoft.com/office/drawing/2014/main" id="{FAA1B1C3-7267-CFEC-07EE-300C073CD65D}"/>
              </a:ext>
            </a:extLst>
          </p:cNvPr>
          <p:cNvSpPr/>
          <p:nvPr/>
        </p:nvSpPr>
        <p:spPr>
          <a:xfrm>
            <a:off x="1875716" y="135476"/>
            <a:ext cx="980645"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26" name="正方形/長方形 25">
            <a:extLst>
              <a:ext uri="{FF2B5EF4-FFF2-40B4-BE49-F238E27FC236}">
                <a16:creationId xmlns:a16="http://schemas.microsoft.com/office/drawing/2014/main" id="{B8E089BE-8DFD-0DDC-A859-D5CEA3DD1257}"/>
              </a:ext>
            </a:extLst>
          </p:cNvPr>
          <p:cNvSpPr/>
          <p:nvPr/>
        </p:nvSpPr>
        <p:spPr>
          <a:xfrm>
            <a:off x="1875716" y="242366"/>
            <a:ext cx="491226" cy="1728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27" name="正方形/長方形 26">
            <a:extLst>
              <a:ext uri="{FF2B5EF4-FFF2-40B4-BE49-F238E27FC236}">
                <a16:creationId xmlns:a16="http://schemas.microsoft.com/office/drawing/2014/main" id="{8605BF20-692D-B20A-2D38-D7A3018ADAF3}"/>
              </a:ext>
            </a:extLst>
          </p:cNvPr>
          <p:cNvSpPr/>
          <p:nvPr/>
        </p:nvSpPr>
        <p:spPr>
          <a:xfrm>
            <a:off x="2366942"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Credential</a:t>
            </a:r>
          </a:p>
          <a:p>
            <a:pPr algn="ctr"/>
            <a:r>
              <a:rPr lang="en-US" altLang="ja-JP" sz="500" dirty="0"/>
              <a:t>Proofing</a:t>
            </a:r>
            <a:endParaRPr lang="ja-JP" altLang="en-US" sz="500" dirty="0"/>
          </a:p>
        </p:txBody>
      </p:sp>
      <p:sp>
        <p:nvSpPr>
          <p:cNvPr id="28" name="正方形/長方形 27">
            <a:extLst>
              <a:ext uri="{FF2B5EF4-FFF2-40B4-BE49-F238E27FC236}">
                <a16:creationId xmlns:a16="http://schemas.microsoft.com/office/drawing/2014/main" id="{00956EBD-7B1E-2443-CDDB-5F0D8D344C78}"/>
              </a:ext>
            </a:extLst>
          </p:cNvPr>
          <p:cNvSpPr/>
          <p:nvPr/>
        </p:nvSpPr>
        <p:spPr>
          <a:xfrm>
            <a:off x="2858168"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Envelope</a:t>
            </a:r>
            <a:endParaRPr lang="ja-JP" altLang="en-US" sz="600" dirty="0"/>
          </a:p>
        </p:txBody>
      </p:sp>
      <p:sp>
        <p:nvSpPr>
          <p:cNvPr id="29" name="正方形/長方形 28">
            <a:extLst>
              <a:ext uri="{FF2B5EF4-FFF2-40B4-BE49-F238E27FC236}">
                <a16:creationId xmlns:a16="http://schemas.microsoft.com/office/drawing/2014/main" id="{5314E7C8-26C1-365F-9382-62341C1CED9F}"/>
              </a:ext>
            </a:extLst>
          </p:cNvPr>
          <p:cNvSpPr/>
          <p:nvPr/>
        </p:nvSpPr>
        <p:spPr>
          <a:xfrm>
            <a:off x="2856361" y="135476"/>
            <a:ext cx="983839"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a:t>Agent </a:t>
            </a:r>
            <a:r>
              <a:rPr lang="en-US" altLang="ja-JP" sz="600" dirty="0"/>
              <a:t>Layer</a:t>
            </a:r>
            <a:endParaRPr lang="ja-JP" altLang="en-US" sz="600" dirty="0"/>
          </a:p>
        </p:txBody>
      </p:sp>
      <p:sp>
        <p:nvSpPr>
          <p:cNvPr id="30" name="正方形/長方形 29">
            <a:extLst>
              <a:ext uri="{FF2B5EF4-FFF2-40B4-BE49-F238E27FC236}">
                <a16:creationId xmlns:a16="http://schemas.microsoft.com/office/drawing/2014/main" id="{F62035F5-1868-CECC-54D4-524300B32D5B}"/>
              </a:ext>
            </a:extLst>
          </p:cNvPr>
          <p:cNvSpPr/>
          <p:nvPr/>
        </p:nvSpPr>
        <p:spPr>
          <a:xfrm>
            <a:off x="334926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Transport</a:t>
            </a:r>
            <a:endParaRPr lang="ja-JP" altLang="en-US" sz="600" dirty="0"/>
          </a:p>
        </p:txBody>
      </p:sp>
      <p:sp>
        <p:nvSpPr>
          <p:cNvPr id="31" name="正方形/長方形 30">
            <a:extLst>
              <a:ext uri="{FF2B5EF4-FFF2-40B4-BE49-F238E27FC236}">
                <a16:creationId xmlns:a16="http://schemas.microsoft.com/office/drawing/2014/main" id="{8C03703D-9A5C-8D26-79BD-391D4AA0C857}"/>
              </a:ext>
            </a:extLst>
          </p:cNvPr>
          <p:cNvSpPr/>
          <p:nvPr/>
        </p:nvSpPr>
        <p:spPr>
          <a:xfrm>
            <a:off x="384065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32" name="正方形/長方形 31">
            <a:extLst>
              <a:ext uri="{FF2B5EF4-FFF2-40B4-BE49-F238E27FC236}">
                <a16:creationId xmlns:a16="http://schemas.microsoft.com/office/drawing/2014/main" id="{204A39E8-07EF-5A33-53EA-379CF5CC64B7}"/>
              </a:ext>
            </a:extLst>
          </p:cNvPr>
          <p:cNvSpPr/>
          <p:nvPr/>
        </p:nvSpPr>
        <p:spPr>
          <a:xfrm>
            <a:off x="4824207"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33" name="正方形/長方形 32">
            <a:extLst>
              <a:ext uri="{FF2B5EF4-FFF2-40B4-BE49-F238E27FC236}">
                <a16:creationId xmlns:a16="http://schemas.microsoft.com/office/drawing/2014/main" id="{8E5474FF-0498-0135-EDA4-D1A3E163662B}"/>
              </a:ext>
            </a:extLst>
          </p:cNvPr>
          <p:cNvSpPr/>
          <p:nvPr/>
        </p:nvSpPr>
        <p:spPr>
          <a:xfrm>
            <a:off x="5315306"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34" name="正方形/長方形 33">
            <a:extLst>
              <a:ext uri="{FF2B5EF4-FFF2-40B4-BE49-F238E27FC236}">
                <a16:creationId xmlns:a16="http://schemas.microsoft.com/office/drawing/2014/main" id="{BF1C59FE-742A-CDC9-2818-5C9DD23FBE68}"/>
              </a:ext>
            </a:extLst>
          </p:cNvPr>
          <p:cNvSpPr/>
          <p:nvPr/>
        </p:nvSpPr>
        <p:spPr>
          <a:xfrm>
            <a:off x="5806532"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35" name="正方形/長方形 34">
            <a:extLst>
              <a:ext uri="{FF2B5EF4-FFF2-40B4-BE49-F238E27FC236}">
                <a16:creationId xmlns:a16="http://schemas.microsoft.com/office/drawing/2014/main" id="{13717997-F10F-F024-47AB-E6E30CC239BC}"/>
              </a:ext>
            </a:extLst>
          </p:cNvPr>
          <p:cNvSpPr/>
          <p:nvPr/>
        </p:nvSpPr>
        <p:spPr>
          <a:xfrm>
            <a:off x="6297630"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Disclosure</a:t>
            </a:r>
            <a:br>
              <a:rPr lang="en-US" altLang="ja-JP" sz="500" dirty="0"/>
            </a:br>
            <a:r>
              <a:rPr lang="en-US" altLang="ja-JP" sz="500" dirty="0"/>
              <a:t>/ZKP</a:t>
            </a:r>
          </a:p>
        </p:txBody>
      </p:sp>
      <p:sp>
        <p:nvSpPr>
          <p:cNvPr id="36" name="正方形/長方形 35">
            <a:extLst>
              <a:ext uri="{FF2B5EF4-FFF2-40B4-BE49-F238E27FC236}">
                <a16:creationId xmlns:a16="http://schemas.microsoft.com/office/drawing/2014/main" id="{120FF057-1B9D-B84E-DFC9-F21727FB05B1}"/>
              </a:ext>
            </a:extLst>
          </p:cNvPr>
          <p:cNvSpPr/>
          <p:nvPr/>
        </p:nvSpPr>
        <p:spPr>
          <a:xfrm>
            <a:off x="67888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37" name="正方形/長方形 36">
            <a:extLst>
              <a:ext uri="{FF2B5EF4-FFF2-40B4-BE49-F238E27FC236}">
                <a16:creationId xmlns:a16="http://schemas.microsoft.com/office/drawing/2014/main" id="{2A73216F-2B18-969D-8A8F-7271995A1084}"/>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38" name="正方形/長方形 37">
            <a:extLst>
              <a:ext uri="{FF2B5EF4-FFF2-40B4-BE49-F238E27FC236}">
                <a16:creationId xmlns:a16="http://schemas.microsoft.com/office/drawing/2014/main" id="{1A5F8085-3AC2-8E53-B07D-7C3FB1DCE38E}"/>
              </a:ext>
            </a:extLst>
          </p:cNvPr>
          <p:cNvSpPr/>
          <p:nvPr/>
        </p:nvSpPr>
        <p:spPr>
          <a:xfrm>
            <a:off x="7771053"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39" name="正方形/長方形 38">
            <a:extLst>
              <a:ext uri="{FF2B5EF4-FFF2-40B4-BE49-F238E27FC236}">
                <a16:creationId xmlns:a16="http://schemas.microsoft.com/office/drawing/2014/main" id="{13163B0A-7B8F-1F89-B530-16E2B8F313E9}"/>
              </a:ext>
            </a:extLst>
          </p:cNvPr>
          <p:cNvSpPr/>
          <p:nvPr/>
        </p:nvSpPr>
        <p:spPr>
          <a:xfrm>
            <a:off x="3837006" y="135476"/>
            <a:ext cx="2461601"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40" name="正方形/長方形 39">
            <a:extLst>
              <a:ext uri="{FF2B5EF4-FFF2-40B4-BE49-F238E27FC236}">
                <a16:creationId xmlns:a16="http://schemas.microsoft.com/office/drawing/2014/main" id="{82A3681C-BF26-8F8E-557A-DFB5BF120134}"/>
              </a:ext>
            </a:extLst>
          </p:cNvPr>
          <p:cNvSpPr/>
          <p:nvPr/>
        </p:nvSpPr>
        <p:spPr>
          <a:xfrm>
            <a:off x="6297503" y="135476"/>
            <a:ext cx="1964776"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5" name="正方形/長方形 4">
            <a:extLst>
              <a:ext uri="{FF2B5EF4-FFF2-40B4-BE49-F238E27FC236}">
                <a16:creationId xmlns:a16="http://schemas.microsoft.com/office/drawing/2014/main" id="{D79F7B68-EF3B-D48B-964C-15B75B20F072}"/>
              </a:ext>
            </a:extLst>
          </p:cNvPr>
          <p:cNvSpPr/>
          <p:nvPr/>
        </p:nvSpPr>
        <p:spPr>
          <a:xfrm>
            <a:off x="4332918" y="242366"/>
            <a:ext cx="491226" cy="169526"/>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2456609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46DB8183-3627-A04F-748C-25855919B89E}"/>
              </a:ext>
            </a:extLst>
          </p:cNvPr>
          <p:cNvGraphicFramePr>
            <a:graphicFrameLocks noChangeAspect="1"/>
          </p:cNvGraphicFramePr>
          <p:nvPr>
            <p:custDataLst>
              <p:tags r:id="rId1"/>
            </p:custDataLst>
            <p:extLst>
              <p:ext uri="{D42A27DB-BD31-4B8C-83A1-F6EECF244321}">
                <p14:modId xmlns:p14="http://schemas.microsoft.com/office/powerpoint/2010/main" val="3726168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44" name="think-cell data - do not delete" hidden="1">
                        <a:extLst>
                          <a:ext uri="{FF2B5EF4-FFF2-40B4-BE49-F238E27FC236}">
                            <a16:creationId xmlns:a16="http://schemas.microsoft.com/office/drawing/2014/main" id="{46DB8183-3627-A04F-748C-25855919B8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75D22C3C-794A-60DC-7F4E-33E17127B011}"/>
              </a:ext>
            </a:extLst>
          </p:cNvPr>
          <p:cNvSpPr>
            <a:spLocks noGrp="1"/>
          </p:cNvSpPr>
          <p:nvPr>
            <p:ph type="title"/>
          </p:nvPr>
        </p:nvSpPr>
        <p:spPr>
          <a:xfrm>
            <a:off x="273050" y="439237"/>
            <a:ext cx="7848302" cy="246221"/>
          </a:xfrm>
        </p:spPr>
        <p:txBody>
          <a:bodyPr vert="horz"/>
          <a:lstStyle/>
          <a:p>
            <a:r>
              <a:rPr kumimoji="1" lang="en-US" altLang="ja-JP" dirty="0"/>
              <a:t>5.2. </a:t>
            </a:r>
            <a:r>
              <a:rPr kumimoji="1" lang="ja-JP" altLang="en-US" dirty="0"/>
              <a:t>規格・実装方式の詳細 </a:t>
            </a:r>
            <a:r>
              <a:rPr kumimoji="1" lang="en-US" altLang="ja-JP" dirty="0"/>
              <a:t>- (11)</a:t>
            </a:r>
            <a:r>
              <a:rPr kumimoji="1" lang="ja-JP" altLang="en-US" dirty="0"/>
              <a:t> 証明書を安全に格納するサービス規格</a:t>
            </a:r>
          </a:p>
        </p:txBody>
      </p:sp>
      <p:sp>
        <p:nvSpPr>
          <p:cNvPr id="3" name="テキスト プレースホルダー 2">
            <a:extLst>
              <a:ext uri="{FF2B5EF4-FFF2-40B4-BE49-F238E27FC236}">
                <a16:creationId xmlns:a16="http://schemas.microsoft.com/office/drawing/2014/main" id="{0994E649-9398-6527-4CF6-013A773A9BEF}"/>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4" name="四角形: 角を丸くする 3">
            <a:extLst>
              <a:ext uri="{FF2B5EF4-FFF2-40B4-BE49-F238E27FC236}">
                <a16:creationId xmlns:a16="http://schemas.microsoft.com/office/drawing/2014/main" id="{A5EC8C09-DF51-4E23-F2CD-85BED0AE7AA2}"/>
              </a:ext>
            </a:extLst>
          </p:cNvPr>
          <p:cNvSpPr/>
          <p:nvPr/>
        </p:nvSpPr>
        <p:spPr bwMode="gray">
          <a:xfrm>
            <a:off x="3714514" y="2817488"/>
            <a:ext cx="2428875" cy="927496"/>
          </a:xfrm>
          <a:prstGeom prst="roundRect">
            <a:avLst>
              <a:gd name="adj" fmla="val 10040"/>
            </a:avLst>
          </a:prstGeom>
          <a:solidFill>
            <a:srgbClr val="86BC25">
              <a:lumMod val="40000"/>
              <a:lumOff val="60000"/>
            </a:srgbClr>
          </a:solidFill>
          <a:ln w="12700" algn="ctr">
            <a:solidFill>
              <a:srgbClr val="BBBCBC"/>
            </a:solid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eaLnBrk="1" fontAlgn="auto" hangingPunct="1">
              <a:spcBef>
                <a:spcPts val="0"/>
              </a:spcBef>
              <a:spcAft>
                <a:spcPts val="0"/>
              </a:spcAft>
            </a:pPr>
            <a:r>
              <a:rPr lang="en-US" altLang="ja-JP" sz="1200" kern="0">
                <a:solidFill>
                  <a:prstClr val="black"/>
                </a:solidFill>
                <a:latin typeface="Meiryo UI"/>
                <a:ea typeface="Meiryo UI"/>
                <a:cs typeface="Arial" charset="0"/>
              </a:rPr>
              <a:t>Identity</a:t>
            </a:r>
            <a:r>
              <a:rPr lang="ja-JP" altLang="en-US" sz="1200" kern="0">
                <a:solidFill>
                  <a:prstClr val="black"/>
                </a:solidFill>
                <a:latin typeface="Meiryo UI"/>
                <a:ea typeface="Meiryo UI"/>
                <a:cs typeface="Arial" charset="0"/>
              </a:rPr>
              <a:t>　</a:t>
            </a:r>
            <a:r>
              <a:rPr lang="en-US" altLang="ja-JP" sz="1200" kern="0">
                <a:solidFill>
                  <a:prstClr val="black"/>
                </a:solidFill>
                <a:latin typeface="Meiryo UI"/>
                <a:ea typeface="Meiryo UI"/>
                <a:cs typeface="Arial" charset="0"/>
              </a:rPr>
              <a:t>hub</a:t>
            </a:r>
            <a:endParaRPr lang="ja-JP" altLang="en-US" sz="1200" kern="0">
              <a:solidFill>
                <a:prstClr val="black"/>
              </a:solidFill>
              <a:latin typeface="Meiryo UI"/>
              <a:ea typeface="Meiryo UI"/>
              <a:cs typeface="Arial" charset="0"/>
            </a:endParaRPr>
          </a:p>
        </p:txBody>
      </p:sp>
      <p:sp>
        <p:nvSpPr>
          <p:cNvPr id="5" name="正方形/長方形 4">
            <a:extLst>
              <a:ext uri="{FF2B5EF4-FFF2-40B4-BE49-F238E27FC236}">
                <a16:creationId xmlns:a16="http://schemas.microsoft.com/office/drawing/2014/main" id="{96B5F57C-3FB8-41FD-51B7-4A1E7E93DCA1}"/>
              </a:ext>
            </a:extLst>
          </p:cNvPr>
          <p:cNvSpPr/>
          <p:nvPr/>
        </p:nvSpPr>
        <p:spPr bwMode="gray">
          <a:xfrm>
            <a:off x="3981214" y="3216734"/>
            <a:ext cx="1905000" cy="390525"/>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EDV</a:t>
            </a:r>
            <a:r>
              <a:rPr kumimoji="0" lang="ja-JP" altLang="en-US" sz="1200" b="0" i="0" u="none" strike="noStrike" kern="0" cap="none" spc="0" normalizeH="0" baseline="0" noProof="0">
                <a:ln>
                  <a:noFill/>
                </a:ln>
                <a:solidFill>
                  <a:prstClr val="black"/>
                </a:solidFill>
                <a:effectLst/>
                <a:uLnTx/>
                <a:uFillTx/>
                <a:latin typeface="Calibri Light"/>
                <a:ea typeface="Yu Gothic UI"/>
                <a:cs typeface="+mn-cs"/>
              </a:rPr>
              <a:t>クライアント</a:t>
            </a:r>
          </a:p>
        </p:txBody>
      </p:sp>
      <p:sp>
        <p:nvSpPr>
          <p:cNvPr id="6" name="正方形/長方形 5">
            <a:extLst>
              <a:ext uri="{FF2B5EF4-FFF2-40B4-BE49-F238E27FC236}">
                <a16:creationId xmlns:a16="http://schemas.microsoft.com/office/drawing/2014/main" id="{D7A0A224-4CBD-B7CD-BC74-686045A6E3BF}"/>
              </a:ext>
            </a:extLst>
          </p:cNvPr>
          <p:cNvSpPr/>
          <p:nvPr/>
        </p:nvSpPr>
        <p:spPr bwMode="gray">
          <a:xfrm>
            <a:off x="7049539" y="3216734"/>
            <a:ext cx="1143000" cy="390525"/>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mn-cs"/>
              </a:rPr>
              <a:t>認可サーバ</a:t>
            </a:r>
          </a:p>
        </p:txBody>
      </p:sp>
      <p:cxnSp>
        <p:nvCxnSpPr>
          <p:cNvPr id="7" name="直線矢印コネクタ 6">
            <a:extLst>
              <a:ext uri="{FF2B5EF4-FFF2-40B4-BE49-F238E27FC236}">
                <a16:creationId xmlns:a16="http://schemas.microsoft.com/office/drawing/2014/main" id="{65A4A407-B303-2A73-D4D9-8608E71D40CC}"/>
              </a:ext>
            </a:extLst>
          </p:cNvPr>
          <p:cNvCxnSpPr>
            <a:cxnSpLocks/>
            <a:stCxn id="6" idx="1"/>
            <a:endCxn id="5" idx="3"/>
          </p:cNvCxnSpPr>
          <p:nvPr/>
        </p:nvCxnSpPr>
        <p:spPr bwMode="gray">
          <a:xfrm flipH="1">
            <a:off x="5886214" y="3411997"/>
            <a:ext cx="1163325" cy="0"/>
          </a:xfrm>
          <a:prstGeom prst="straightConnector1">
            <a:avLst/>
          </a:prstGeom>
          <a:noFill/>
          <a:ln w="12700" cap="flat" cmpd="sng" algn="ctr">
            <a:solidFill>
              <a:srgbClr val="53565A"/>
            </a:solidFill>
            <a:prstDash val="solid"/>
            <a:tailEnd type="triangle"/>
          </a:ln>
          <a:effectLst/>
        </p:spPr>
      </p:cxnSp>
      <p:sp>
        <p:nvSpPr>
          <p:cNvPr id="8" name="テキスト ボックス 7">
            <a:extLst>
              <a:ext uri="{FF2B5EF4-FFF2-40B4-BE49-F238E27FC236}">
                <a16:creationId xmlns:a16="http://schemas.microsoft.com/office/drawing/2014/main" id="{D6B6B512-47D9-5246-A2D3-896425C4A9E4}"/>
              </a:ext>
            </a:extLst>
          </p:cNvPr>
          <p:cNvSpPr txBox="1"/>
          <p:nvPr/>
        </p:nvSpPr>
        <p:spPr bwMode="gray">
          <a:xfrm>
            <a:off x="6122757" y="3217121"/>
            <a:ext cx="1069965" cy="261610"/>
          </a:xfrm>
          <a:prstGeom prst="rect">
            <a:avLst/>
          </a:prstGeom>
          <a:noFill/>
        </p:spPr>
        <p:txBody>
          <a:bodyPr wrap="square">
            <a:spAutoFit/>
          </a:bodyPr>
          <a:lstStyle/>
          <a:p>
            <a:pPr algn="ctr" defTabSz="990564" eaLnBrk="1" fontAlgn="auto" hangingPunct="1">
              <a:spcBef>
                <a:spcPts val="0"/>
              </a:spcBef>
              <a:spcAft>
                <a:spcPts val="0"/>
              </a:spcAft>
              <a:buSzPct val="100000"/>
              <a:buFont typeface="Wingdings" panose="05000000000000000000" pitchFamily="2" charset="2"/>
              <a:buNone/>
            </a:pPr>
            <a:r>
              <a:rPr lang="en-US" altLang="ja-JP" sz="1050">
                <a:solidFill>
                  <a:prstClr val="black"/>
                </a:solidFill>
                <a:latin typeface="Arial" charset="0"/>
                <a:ea typeface="Yu Gothic UI"/>
                <a:cs typeface="Arial" charset="0"/>
              </a:rPr>
              <a:t>OAuth2</a:t>
            </a:r>
            <a:r>
              <a:rPr lang="ja-JP" altLang="en-US" sz="1050">
                <a:solidFill>
                  <a:prstClr val="black"/>
                </a:solidFill>
                <a:latin typeface="Arial" charset="0"/>
                <a:ea typeface="Yu Gothic UI"/>
                <a:cs typeface="Arial" charset="0"/>
              </a:rPr>
              <a:t>等</a:t>
            </a:r>
            <a:endParaRPr lang="ja-JP" altLang="en-US" sz="1050">
              <a:solidFill>
                <a:prstClr val="black"/>
              </a:solidFill>
              <a:latin typeface="Calibri Light"/>
              <a:ea typeface="Yu Gothic UI"/>
              <a:cs typeface="Arial" charset="0"/>
            </a:endParaRPr>
          </a:p>
        </p:txBody>
      </p:sp>
      <p:sp>
        <p:nvSpPr>
          <p:cNvPr id="9" name="四角形: 角を丸くする 8">
            <a:extLst>
              <a:ext uri="{FF2B5EF4-FFF2-40B4-BE49-F238E27FC236}">
                <a16:creationId xmlns:a16="http://schemas.microsoft.com/office/drawing/2014/main" id="{2CB4C5C2-41CD-23A9-6845-63A69AF1FA5F}"/>
              </a:ext>
            </a:extLst>
          </p:cNvPr>
          <p:cNvSpPr/>
          <p:nvPr/>
        </p:nvSpPr>
        <p:spPr bwMode="gray">
          <a:xfrm>
            <a:off x="2269419" y="4379212"/>
            <a:ext cx="2428875" cy="1548554"/>
          </a:xfrm>
          <a:prstGeom prst="roundRect">
            <a:avLst>
              <a:gd name="adj" fmla="val 10390"/>
            </a:avLst>
          </a:prstGeom>
          <a:solidFill>
            <a:srgbClr val="86BC25">
              <a:lumMod val="40000"/>
              <a:lumOff val="60000"/>
            </a:srgbClr>
          </a:solidFill>
          <a:ln w="12700" algn="ctr">
            <a:solidFill>
              <a:srgbClr val="BBBCBC"/>
            </a:solidFill>
            <a:miter lim="800000"/>
            <a:headEnd/>
            <a:tailEnd/>
          </a:ln>
        </p:spPr>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algn="ctr" eaLnBrk="1" fontAlgn="auto" hangingPunct="1">
              <a:spcBef>
                <a:spcPts val="0"/>
              </a:spcBef>
              <a:spcAft>
                <a:spcPts val="0"/>
              </a:spcAft>
            </a:pPr>
            <a:endParaRPr lang="ja-JP" altLang="en-US" sz="1200" kern="0">
              <a:solidFill>
                <a:prstClr val="black"/>
              </a:solidFill>
              <a:latin typeface="Meiryo UI"/>
              <a:ea typeface="Meiryo UI"/>
              <a:cs typeface="Arial" charset="0"/>
            </a:endParaRPr>
          </a:p>
        </p:txBody>
      </p:sp>
      <p:sp>
        <p:nvSpPr>
          <p:cNvPr id="10" name="四角形: 角を丸くする 9">
            <a:extLst>
              <a:ext uri="{FF2B5EF4-FFF2-40B4-BE49-F238E27FC236}">
                <a16:creationId xmlns:a16="http://schemas.microsoft.com/office/drawing/2014/main" id="{9811737B-E823-01DB-81B5-96EC0D928B03}"/>
              </a:ext>
            </a:extLst>
          </p:cNvPr>
          <p:cNvSpPr/>
          <p:nvPr/>
        </p:nvSpPr>
        <p:spPr bwMode="gray">
          <a:xfrm>
            <a:off x="2266715" y="3078233"/>
            <a:ext cx="1142999" cy="666750"/>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eaLnBrk="1" fontAlgn="auto" hangingPunct="1">
              <a:spcBef>
                <a:spcPts val="0"/>
              </a:spcBef>
              <a:spcAft>
                <a:spcPts val="0"/>
              </a:spcAft>
            </a:pPr>
            <a:r>
              <a:rPr lang="en-US" altLang="ja-JP" sz="1200" kern="0">
                <a:solidFill>
                  <a:prstClr val="black"/>
                </a:solidFill>
                <a:latin typeface="Meiryo UI"/>
                <a:ea typeface="Meiryo UI"/>
                <a:cs typeface="Arial" charset="0"/>
              </a:rPr>
              <a:t>Wallet</a:t>
            </a:r>
          </a:p>
          <a:p>
            <a:pPr algn="ctr" eaLnBrk="1" fontAlgn="auto" hangingPunct="1">
              <a:spcBef>
                <a:spcPts val="0"/>
              </a:spcBef>
              <a:spcAft>
                <a:spcPts val="0"/>
              </a:spcAft>
            </a:pPr>
            <a:r>
              <a:rPr lang="en-US" altLang="ja-JP" sz="1200" kern="0">
                <a:solidFill>
                  <a:prstClr val="black"/>
                </a:solidFill>
                <a:latin typeface="Meiryo UI"/>
                <a:ea typeface="Meiryo UI"/>
                <a:cs typeface="Arial" charset="0"/>
              </a:rPr>
              <a:t>(DID</a:t>
            </a:r>
            <a:r>
              <a:rPr lang="ja-JP" altLang="en-US" sz="1200" kern="0">
                <a:solidFill>
                  <a:prstClr val="black"/>
                </a:solidFill>
                <a:latin typeface="Meiryo UI"/>
                <a:ea typeface="Meiryo UI"/>
                <a:cs typeface="Arial" charset="0"/>
              </a:rPr>
              <a:t>に紐付け</a:t>
            </a:r>
            <a:r>
              <a:rPr lang="en-US" altLang="ja-JP" sz="1200" kern="0">
                <a:solidFill>
                  <a:prstClr val="black"/>
                </a:solidFill>
                <a:latin typeface="Meiryo UI"/>
                <a:ea typeface="Meiryo UI"/>
                <a:cs typeface="Arial" charset="0"/>
              </a:rPr>
              <a:t>)</a:t>
            </a:r>
          </a:p>
        </p:txBody>
      </p:sp>
      <p:sp>
        <p:nvSpPr>
          <p:cNvPr id="11" name="四角形: 角を丸くする 10">
            <a:extLst>
              <a:ext uri="{FF2B5EF4-FFF2-40B4-BE49-F238E27FC236}">
                <a16:creationId xmlns:a16="http://schemas.microsoft.com/office/drawing/2014/main" id="{F405F868-739A-41ED-B760-F7203A9921AF}"/>
              </a:ext>
            </a:extLst>
          </p:cNvPr>
          <p:cNvSpPr/>
          <p:nvPr/>
        </p:nvSpPr>
        <p:spPr bwMode="gray">
          <a:xfrm>
            <a:off x="2266715" y="2184137"/>
            <a:ext cx="1142999" cy="666750"/>
          </a:xfrm>
          <a:prstGeom prst="roundRect">
            <a:avLst/>
          </a:prstGeom>
          <a:solidFill>
            <a:srgbClr val="BBBCBC"/>
          </a:solidFill>
          <a:ln w="12700" algn="ctr">
            <a:solidFill>
              <a:srgbClr val="BBBCBC"/>
            </a:solidFill>
            <a:miter lim="800000"/>
            <a:headEnd/>
            <a:tailEnd/>
          </a:ln>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eaLnBrk="1" fontAlgn="auto" hangingPunct="1">
              <a:spcBef>
                <a:spcPts val="0"/>
              </a:spcBef>
              <a:spcAft>
                <a:spcPts val="0"/>
              </a:spcAft>
            </a:pPr>
            <a:r>
              <a:rPr lang="en-US" altLang="ja-JP" sz="1200" kern="0">
                <a:solidFill>
                  <a:prstClr val="black"/>
                </a:solidFill>
                <a:latin typeface="Meiryo UI"/>
                <a:ea typeface="Meiryo UI"/>
                <a:cs typeface="Arial" charset="0"/>
              </a:rPr>
              <a:t>Key Management Service</a:t>
            </a:r>
            <a:endParaRPr lang="ja-JP" altLang="en-US" sz="1200" kern="0">
              <a:solidFill>
                <a:prstClr val="black"/>
              </a:solidFill>
              <a:latin typeface="Meiryo UI"/>
              <a:ea typeface="Meiryo UI"/>
              <a:cs typeface="Arial" charset="0"/>
            </a:endParaRPr>
          </a:p>
        </p:txBody>
      </p:sp>
      <p:cxnSp>
        <p:nvCxnSpPr>
          <p:cNvPr id="12" name="直線矢印コネクタ 11">
            <a:extLst>
              <a:ext uri="{FF2B5EF4-FFF2-40B4-BE49-F238E27FC236}">
                <a16:creationId xmlns:a16="http://schemas.microsoft.com/office/drawing/2014/main" id="{5D08C942-C270-C2E6-0F75-BECE2721FFC2}"/>
              </a:ext>
            </a:extLst>
          </p:cNvPr>
          <p:cNvCxnSpPr>
            <a:stCxn id="10" idx="3"/>
            <a:endCxn id="5" idx="1"/>
          </p:cNvCxnSpPr>
          <p:nvPr/>
        </p:nvCxnSpPr>
        <p:spPr bwMode="gray">
          <a:xfrm>
            <a:off x="3409714" y="3411608"/>
            <a:ext cx="571500" cy="389"/>
          </a:xfrm>
          <a:prstGeom prst="straightConnector1">
            <a:avLst/>
          </a:prstGeom>
          <a:noFill/>
          <a:ln w="12700" cap="flat" cmpd="sng" algn="ctr">
            <a:solidFill>
              <a:srgbClr val="53565A"/>
            </a:solidFill>
            <a:prstDash val="sysDash"/>
            <a:tailEnd type="triangle"/>
          </a:ln>
          <a:effectLst/>
        </p:spPr>
      </p:cxnSp>
      <p:cxnSp>
        <p:nvCxnSpPr>
          <p:cNvPr id="13" name="直線矢印コネクタ 12">
            <a:extLst>
              <a:ext uri="{FF2B5EF4-FFF2-40B4-BE49-F238E27FC236}">
                <a16:creationId xmlns:a16="http://schemas.microsoft.com/office/drawing/2014/main" id="{C0CD10B5-C06E-FDDE-5930-579F204082E4}"/>
              </a:ext>
            </a:extLst>
          </p:cNvPr>
          <p:cNvCxnSpPr>
            <a:cxnSpLocks/>
            <a:stCxn id="10" idx="0"/>
            <a:endCxn id="11" idx="2"/>
          </p:cNvCxnSpPr>
          <p:nvPr/>
        </p:nvCxnSpPr>
        <p:spPr bwMode="gray">
          <a:xfrm flipV="1">
            <a:off x="2838215" y="2850887"/>
            <a:ext cx="0" cy="227346"/>
          </a:xfrm>
          <a:prstGeom prst="straightConnector1">
            <a:avLst/>
          </a:prstGeom>
          <a:noFill/>
          <a:ln w="12700" cap="flat" cmpd="sng" algn="ctr">
            <a:solidFill>
              <a:srgbClr val="53565A"/>
            </a:solidFill>
            <a:prstDash val="sysDash"/>
            <a:tailEnd type="triangle"/>
          </a:ln>
          <a:effectLst/>
        </p:spPr>
      </p:cxnSp>
      <p:cxnSp>
        <p:nvCxnSpPr>
          <p:cNvPr id="14" name="直線矢印コネクタ 13">
            <a:extLst>
              <a:ext uri="{FF2B5EF4-FFF2-40B4-BE49-F238E27FC236}">
                <a16:creationId xmlns:a16="http://schemas.microsoft.com/office/drawing/2014/main" id="{2B058329-52AF-7621-1822-266CF192E3F2}"/>
              </a:ext>
            </a:extLst>
          </p:cNvPr>
          <p:cNvCxnSpPr>
            <a:cxnSpLocks/>
            <a:stCxn id="11" idx="3"/>
          </p:cNvCxnSpPr>
          <p:nvPr/>
        </p:nvCxnSpPr>
        <p:spPr bwMode="gray">
          <a:xfrm>
            <a:off x="3409714" y="2517512"/>
            <a:ext cx="571500" cy="698834"/>
          </a:xfrm>
          <a:prstGeom prst="straightConnector1">
            <a:avLst/>
          </a:prstGeom>
          <a:noFill/>
          <a:ln w="12700" cap="flat" cmpd="sng" algn="ctr">
            <a:solidFill>
              <a:srgbClr val="53565A"/>
            </a:solidFill>
            <a:prstDash val="sysDash"/>
            <a:tailEnd type="triangle"/>
          </a:ln>
          <a:effectLst/>
        </p:spPr>
      </p:cxnSp>
      <p:sp>
        <p:nvSpPr>
          <p:cNvPr id="15" name="正方形/長方形 14">
            <a:extLst>
              <a:ext uri="{FF2B5EF4-FFF2-40B4-BE49-F238E27FC236}">
                <a16:creationId xmlns:a16="http://schemas.microsoft.com/office/drawing/2014/main" id="{3FFF4169-9349-4DB7-8D35-E6924B6E5A80}"/>
              </a:ext>
            </a:extLst>
          </p:cNvPr>
          <p:cNvSpPr/>
          <p:nvPr/>
        </p:nvSpPr>
        <p:spPr bwMode="gray">
          <a:xfrm>
            <a:off x="2531356" y="4476717"/>
            <a:ext cx="1905000" cy="323376"/>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mn-cs"/>
              </a:rPr>
              <a:t>認可機能</a:t>
            </a:r>
            <a:endParaRPr kumimoji="0" lang="en-US" altLang="ja-JP"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16" name="正方形/長方形 15">
            <a:extLst>
              <a:ext uri="{FF2B5EF4-FFF2-40B4-BE49-F238E27FC236}">
                <a16:creationId xmlns:a16="http://schemas.microsoft.com/office/drawing/2014/main" id="{2AAFB439-FE4F-2484-8F68-D534E611B81C}"/>
              </a:ext>
            </a:extLst>
          </p:cNvPr>
          <p:cNvSpPr/>
          <p:nvPr/>
        </p:nvSpPr>
        <p:spPr bwMode="gray">
          <a:xfrm>
            <a:off x="2531356" y="5291884"/>
            <a:ext cx="1905000" cy="323376"/>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Encrypted Vault Storage</a:t>
            </a:r>
          </a:p>
        </p:txBody>
      </p:sp>
      <p:sp>
        <p:nvSpPr>
          <p:cNvPr id="17" name="四角形: 角を丸くする 16">
            <a:extLst>
              <a:ext uri="{FF2B5EF4-FFF2-40B4-BE49-F238E27FC236}">
                <a16:creationId xmlns:a16="http://schemas.microsoft.com/office/drawing/2014/main" id="{3D2599E3-7EC4-4B24-235A-2A0C9819CDF8}"/>
              </a:ext>
            </a:extLst>
          </p:cNvPr>
          <p:cNvSpPr/>
          <p:nvPr/>
        </p:nvSpPr>
        <p:spPr bwMode="gray">
          <a:xfrm>
            <a:off x="2531356" y="4983448"/>
            <a:ext cx="622218" cy="283495"/>
          </a:xfrm>
          <a:prstGeom prst="roundRect">
            <a:avLst/>
          </a:prstGeom>
          <a:solidFill>
            <a:sysClr val="window" lastClr="FFFFFF"/>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800" b="0" i="0" u="none" strike="noStrike" kern="0" cap="none" spc="0" normalizeH="0" baseline="0" noProof="0">
                <a:ln>
                  <a:noFill/>
                </a:ln>
                <a:solidFill>
                  <a:prstClr val="black"/>
                </a:solidFill>
                <a:effectLst/>
                <a:uLnTx/>
                <a:uFillTx/>
                <a:latin typeface="Calibri Light"/>
                <a:ea typeface="Yu Gothic UI"/>
                <a:cs typeface="Arial" charset="0"/>
              </a:rPr>
              <a:t>権限設定</a:t>
            </a:r>
          </a:p>
        </p:txBody>
      </p:sp>
      <p:sp>
        <p:nvSpPr>
          <p:cNvPr id="18" name="四角形: 角を丸くする 17">
            <a:extLst>
              <a:ext uri="{FF2B5EF4-FFF2-40B4-BE49-F238E27FC236}">
                <a16:creationId xmlns:a16="http://schemas.microsoft.com/office/drawing/2014/main" id="{0B40D8A3-E602-173E-D016-6570AE1A1A6B}"/>
              </a:ext>
            </a:extLst>
          </p:cNvPr>
          <p:cNvSpPr/>
          <p:nvPr/>
        </p:nvSpPr>
        <p:spPr bwMode="gray">
          <a:xfrm>
            <a:off x="3171190" y="4983448"/>
            <a:ext cx="622218" cy="283495"/>
          </a:xfrm>
          <a:prstGeom prst="roundRect">
            <a:avLst/>
          </a:prstGeom>
          <a:solidFill>
            <a:sysClr val="window" lastClr="FFFFFF"/>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800" b="0" i="0" u="none" strike="noStrike" kern="0" cap="none" spc="0" normalizeH="0" baseline="0" noProof="0">
                <a:ln>
                  <a:noFill/>
                </a:ln>
                <a:solidFill>
                  <a:prstClr val="black"/>
                </a:solidFill>
                <a:effectLst/>
                <a:uLnTx/>
                <a:uFillTx/>
                <a:latin typeface="Calibri Light"/>
                <a:ea typeface="Yu Gothic UI"/>
                <a:cs typeface="Arial" charset="0"/>
              </a:rPr>
              <a:t>暗号化データ</a:t>
            </a:r>
          </a:p>
        </p:txBody>
      </p:sp>
      <p:sp>
        <p:nvSpPr>
          <p:cNvPr id="19" name="四角形: 角を丸くする 18">
            <a:extLst>
              <a:ext uri="{FF2B5EF4-FFF2-40B4-BE49-F238E27FC236}">
                <a16:creationId xmlns:a16="http://schemas.microsoft.com/office/drawing/2014/main" id="{A7FA82DC-DF47-31E6-08CD-972CA506AA22}"/>
              </a:ext>
            </a:extLst>
          </p:cNvPr>
          <p:cNvSpPr/>
          <p:nvPr/>
        </p:nvSpPr>
        <p:spPr bwMode="gray">
          <a:xfrm>
            <a:off x="3814138" y="4983448"/>
            <a:ext cx="622218" cy="283495"/>
          </a:xfrm>
          <a:prstGeom prst="roundRect">
            <a:avLst/>
          </a:prstGeom>
          <a:solidFill>
            <a:sysClr val="window" lastClr="FFFFFF"/>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800" b="0" i="0" u="none" strike="noStrike" kern="0" cap="none" spc="0" normalizeH="0" baseline="0" noProof="0">
                <a:ln>
                  <a:noFill/>
                </a:ln>
                <a:solidFill>
                  <a:prstClr val="black"/>
                </a:solidFill>
                <a:effectLst/>
                <a:uLnTx/>
                <a:uFillTx/>
                <a:latin typeface="Calibri Light"/>
                <a:ea typeface="Yu Gothic UI"/>
                <a:cs typeface="Arial" charset="0"/>
              </a:rPr>
              <a:t>インデックス</a:t>
            </a:r>
            <a:endParaRPr kumimoji="0" lang="en-US" altLang="ja-JP" sz="800" b="0" i="0" u="none" strike="noStrike" kern="0" cap="none" spc="0" normalizeH="0" baseline="0" noProof="0">
              <a:ln>
                <a:noFill/>
              </a:ln>
              <a:solidFill>
                <a:prstClr val="black"/>
              </a:solidFill>
              <a:effectLst/>
              <a:uLnTx/>
              <a:uFillTx/>
              <a:latin typeface="Calibri Light"/>
              <a:ea typeface="Yu Gothic UI"/>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800" b="0" i="0" u="none" strike="noStrike" kern="0" cap="none" spc="0" normalizeH="0" baseline="0" noProof="0">
                <a:ln>
                  <a:noFill/>
                </a:ln>
                <a:solidFill>
                  <a:prstClr val="black"/>
                </a:solidFill>
                <a:effectLst/>
                <a:uLnTx/>
                <a:uFillTx/>
                <a:latin typeface="Calibri Light"/>
                <a:ea typeface="Yu Gothic UI"/>
                <a:cs typeface="Arial" charset="0"/>
              </a:rPr>
              <a:t>(</a:t>
            </a:r>
            <a:r>
              <a:rPr kumimoji="0" lang="ja-JP" altLang="en-US" sz="800" b="0" i="0" u="none" strike="noStrike" kern="0" cap="none" spc="0" normalizeH="0" baseline="0" noProof="0">
                <a:ln>
                  <a:noFill/>
                </a:ln>
                <a:solidFill>
                  <a:prstClr val="black"/>
                </a:solidFill>
                <a:effectLst/>
                <a:uLnTx/>
                <a:uFillTx/>
                <a:latin typeface="Calibri Light"/>
                <a:ea typeface="Yu Gothic UI"/>
                <a:cs typeface="Arial" charset="0"/>
              </a:rPr>
              <a:t>メタデータ</a:t>
            </a:r>
            <a:r>
              <a:rPr kumimoji="0" lang="en-US" altLang="ja-JP" sz="800" b="0" i="0" u="none" strike="noStrike" kern="0" cap="none" spc="0" normalizeH="0" baseline="0" noProof="0">
                <a:ln>
                  <a:noFill/>
                </a:ln>
                <a:solidFill>
                  <a:prstClr val="black"/>
                </a:solidFill>
                <a:effectLst/>
                <a:uLnTx/>
                <a:uFillTx/>
                <a:latin typeface="Calibri Light"/>
                <a:ea typeface="Yu Gothic UI"/>
                <a:cs typeface="Arial" charset="0"/>
              </a:rPr>
              <a:t>)</a:t>
            </a:r>
          </a:p>
        </p:txBody>
      </p:sp>
      <p:sp>
        <p:nvSpPr>
          <p:cNvPr id="20" name="正方形/長方形 19">
            <a:extLst>
              <a:ext uri="{FF2B5EF4-FFF2-40B4-BE49-F238E27FC236}">
                <a16:creationId xmlns:a16="http://schemas.microsoft.com/office/drawing/2014/main" id="{4E25B5C4-E6D0-AB1C-EECE-F7C0B675A8C4}"/>
              </a:ext>
            </a:extLst>
          </p:cNvPr>
          <p:cNvSpPr/>
          <p:nvPr/>
        </p:nvSpPr>
        <p:spPr bwMode="gray">
          <a:xfrm>
            <a:off x="2531356" y="5791019"/>
            <a:ext cx="1905000" cy="323376"/>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Raw Byte Storage</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a:ln>
                  <a:noFill/>
                </a:ln>
                <a:solidFill>
                  <a:prstClr val="black"/>
                </a:solidFill>
                <a:effectLst/>
                <a:uLnTx/>
                <a:uFillTx/>
                <a:latin typeface="Calibri Light"/>
                <a:ea typeface="Yu Gothic UI"/>
                <a:cs typeface="+mn-cs"/>
              </a:rPr>
              <a:t>（クラウド、</a:t>
            </a:r>
            <a:r>
              <a:rPr kumimoji="0" lang="en-US" altLang="ja-JP" sz="1000" b="0" i="0" u="none" strike="noStrike" kern="0" cap="none" spc="0" normalizeH="0" baseline="0" noProof="0">
                <a:ln>
                  <a:noFill/>
                </a:ln>
                <a:solidFill>
                  <a:prstClr val="black"/>
                </a:solidFill>
                <a:effectLst/>
                <a:uLnTx/>
                <a:uFillTx/>
                <a:latin typeface="Calibri Light"/>
                <a:ea typeface="Yu Gothic UI"/>
                <a:cs typeface="+mn-cs"/>
              </a:rPr>
              <a:t>DB</a:t>
            </a:r>
            <a:r>
              <a:rPr kumimoji="0" lang="ja-JP" altLang="en-US" sz="1000" b="0" i="0" u="none" strike="noStrike" kern="0" cap="none" spc="0" normalizeH="0" baseline="0" noProof="0">
                <a:ln>
                  <a:noFill/>
                </a:ln>
                <a:solidFill>
                  <a:prstClr val="black"/>
                </a:solidFill>
                <a:effectLst/>
                <a:uLnTx/>
                <a:uFillTx/>
                <a:latin typeface="Calibri Light"/>
                <a:ea typeface="Yu Gothic UI"/>
                <a:cs typeface="+mn-cs"/>
              </a:rPr>
              <a:t>、ファイル、モバイル）</a:t>
            </a:r>
            <a:endParaRPr kumimoji="0" lang="en-US" altLang="ja-JP" sz="1000" b="0" i="0" u="none" strike="noStrike" kern="0" cap="none" spc="0" normalizeH="0" baseline="0" noProof="0">
              <a:ln>
                <a:noFill/>
              </a:ln>
              <a:solidFill>
                <a:prstClr val="black"/>
              </a:solidFill>
              <a:effectLst/>
              <a:uLnTx/>
              <a:uFillTx/>
              <a:latin typeface="Calibri Light"/>
              <a:ea typeface="Yu Gothic UI"/>
              <a:cs typeface="+mn-cs"/>
            </a:endParaRPr>
          </a:p>
        </p:txBody>
      </p:sp>
      <p:cxnSp>
        <p:nvCxnSpPr>
          <p:cNvPr id="21" name="直線矢印コネクタ 20">
            <a:extLst>
              <a:ext uri="{FF2B5EF4-FFF2-40B4-BE49-F238E27FC236}">
                <a16:creationId xmlns:a16="http://schemas.microsoft.com/office/drawing/2014/main" id="{15B73824-EAC8-F948-9C23-FC23A0E5AEB7}"/>
              </a:ext>
            </a:extLst>
          </p:cNvPr>
          <p:cNvCxnSpPr>
            <a:cxnSpLocks/>
            <a:endCxn id="17" idx="0"/>
          </p:cNvCxnSpPr>
          <p:nvPr/>
        </p:nvCxnSpPr>
        <p:spPr bwMode="gray">
          <a:xfrm>
            <a:off x="2842465" y="4800093"/>
            <a:ext cx="0" cy="183355"/>
          </a:xfrm>
          <a:prstGeom prst="straightConnector1">
            <a:avLst/>
          </a:prstGeom>
          <a:noFill/>
          <a:ln w="12700" cap="flat" cmpd="sng" algn="ctr">
            <a:solidFill>
              <a:srgbClr val="53565A"/>
            </a:solidFill>
            <a:prstDash val="solid"/>
            <a:tailEnd type="triangle"/>
          </a:ln>
          <a:effectLst/>
        </p:spPr>
      </p:cxnSp>
      <p:cxnSp>
        <p:nvCxnSpPr>
          <p:cNvPr id="22" name="直線矢印コネクタ 21">
            <a:extLst>
              <a:ext uri="{FF2B5EF4-FFF2-40B4-BE49-F238E27FC236}">
                <a16:creationId xmlns:a16="http://schemas.microsoft.com/office/drawing/2014/main" id="{EC11071F-4D69-0381-AD9E-AA4071467A66}"/>
              </a:ext>
            </a:extLst>
          </p:cNvPr>
          <p:cNvCxnSpPr>
            <a:cxnSpLocks/>
            <a:stCxn id="15" idx="2"/>
            <a:endCxn id="18" idx="0"/>
          </p:cNvCxnSpPr>
          <p:nvPr/>
        </p:nvCxnSpPr>
        <p:spPr bwMode="gray">
          <a:xfrm flipH="1">
            <a:off x="3482299" y="4800093"/>
            <a:ext cx="1557" cy="183355"/>
          </a:xfrm>
          <a:prstGeom prst="straightConnector1">
            <a:avLst/>
          </a:prstGeom>
          <a:noFill/>
          <a:ln w="12700" cap="flat" cmpd="sng" algn="ctr">
            <a:solidFill>
              <a:srgbClr val="53565A"/>
            </a:solidFill>
            <a:prstDash val="solid"/>
            <a:tailEnd type="triangle"/>
          </a:ln>
          <a:effectLst/>
        </p:spPr>
      </p:cxnSp>
      <p:cxnSp>
        <p:nvCxnSpPr>
          <p:cNvPr id="23" name="直線矢印コネクタ 22">
            <a:extLst>
              <a:ext uri="{FF2B5EF4-FFF2-40B4-BE49-F238E27FC236}">
                <a16:creationId xmlns:a16="http://schemas.microsoft.com/office/drawing/2014/main" id="{BBD444DA-6710-38A0-4C1E-B6294756B41F}"/>
              </a:ext>
            </a:extLst>
          </p:cNvPr>
          <p:cNvCxnSpPr>
            <a:cxnSpLocks/>
            <a:endCxn id="19" idx="0"/>
          </p:cNvCxnSpPr>
          <p:nvPr/>
        </p:nvCxnSpPr>
        <p:spPr bwMode="gray">
          <a:xfrm>
            <a:off x="4125247" y="4800093"/>
            <a:ext cx="0" cy="183355"/>
          </a:xfrm>
          <a:prstGeom prst="straightConnector1">
            <a:avLst/>
          </a:prstGeom>
          <a:noFill/>
          <a:ln w="12700" cap="flat" cmpd="sng" algn="ctr">
            <a:solidFill>
              <a:srgbClr val="53565A"/>
            </a:solidFill>
            <a:prstDash val="solid"/>
            <a:tailEnd type="triangle"/>
          </a:ln>
          <a:effectLst/>
        </p:spPr>
      </p:cxnSp>
      <p:cxnSp>
        <p:nvCxnSpPr>
          <p:cNvPr id="24" name="直線矢印コネクタ 23">
            <a:extLst>
              <a:ext uri="{FF2B5EF4-FFF2-40B4-BE49-F238E27FC236}">
                <a16:creationId xmlns:a16="http://schemas.microsoft.com/office/drawing/2014/main" id="{F8FA9736-BBF8-BACE-1690-362E885F8970}"/>
              </a:ext>
            </a:extLst>
          </p:cNvPr>
          <p:cNvCxnSpPr>
            <a:cxnSpLocks/>
            <a:stCxn id="16" idx="2"/>
            <a:endCxn id="20" idx="0"/>
          </p:cNvCxnSpPr>
          <p:nvPr/>
        </p:nvCxnSpPr>
        <p:spPr bwMode="gray">
          <a:xfrm>
            <a:off x="3483856" y="5615260"/>
            <a:ext cx="0" cy="175759"/>
          </a:xfrm>
          <a:prstGeom prst="straightConnector1">
            <a:avLst/>
          </a:prstGeom>
          <a:noFill/>
          <a:ln w="12700" cap="flat" cmpd="sng" algn="ctr">
            <a:solidFill>
              <a:srgbClr val="53565A"/>
            </a:solidFill>
            <a:prstDash val="solid"/>
            <a:tailEnd type="triangle"/>
          </a:ln>
          <a:effectLst/>
        </p:spPr>
      </p:cxnSp>
      <p:cxnSp>
        <p:nvCxnSpPr>
          <p:cNvPr id="25" name="コネクタ: カギ線 24">
            <a:extLst>
              <a:ext uri="{FF2B5EF4-FFF2-40B4-BE49-F238E27FC236}">
                <a16:creationId xmlns:a16="http://schemas.microsoft.com/office/drawing/2014/main" id="{B8AC2A20-6C68-1664-DECF-06D390F90E9C}"/>
              </a:ext>
            </a:extLst>
          </p:cNvPr>
          <p:cNvCxnSpPr>
            <a:cxnSpLocks/>
            <a:stCxn id="5" idx="2"/>
            <a:endCxn id="15" idx="0"/>
          </p:cNvCxnSpPr>
          <p:nvPr/>
        </p:nvCxnSpPr>
        <p:spPr bwMode="gray">
          <a:xfrm rot="5400000">
            <a:off x="3774056" y="3317059"/>
            <a:ext cx="869458" cy="1449858"/>
          </a:xfrm>
          <a:prstGeom prst="bentConnector3">
            <a:avLst/>
          </a:prstGeom>
          <a:noFill/>
          <a:ln w="12700" cap="flat" cmpd="sng" algn="ctr">
            <a:solidFill>
              <a:srgbClr val="53565A"/>
            </a:solidFill>
            <a:prstDash val="solid"/>
            <a:tailEnd type="triangle"/>
          </a:ln>
          <a:effectLst/>
        </p:spPr>
      </p:cxnSp>
      <p:sp>
        <p:nvSpPr>
          <p:cNvPr id="27" name="四角形: 角を丸くする 26">
            <a:extLst>
              <a:ext uri="{FF2B5EF4-FFF2-40B4-BE49-F238E27FC236}">
                <a16:creationId xmlns:a16="http://schemas.microsoft.com/office/drawing/2014/main" id="{4370D6E0-DE69-E45F-2F1B-14B1B3133B92}"/>
              </a:ext>
            </a:extLst>
          </p:cNvPr>
          <p:cNvSpPr/>
          <p:nvPr/>
        </p:nvSpPr>
        <p:spPr bwMode="gray">
          <a:xfrm>
            <a:off x="5220322" y="4379212"/>
            <a:ext cx="2428875" cy="1548554"/>
          </a:xfrm>
          <a:prstGeom prst="roundRect">
            <a:avLst>
              <a:gd name="adj" fmla="val 10390"/>
            </a:avLst>
          </a:prstGeom>
          <a:solidFill>
            <a:srgbClr val="86BC25">
              <a:lumMod val="40000"/>
              <a:lumOff val="60000"/>
            </a:srgbClr>
          </a:solidFill>
          <a:ln w="12700" algn="ctr">
            <a:solidFill>
              <a:srgbClr val="BBBCBC"/>
            </a:solidFill>
            <a:miter lim="800000"/>
            <a:headEnd/>
            <a:tailEnd/>
          </a:ln>
        </p:spPr>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algn="ctr" eaLnBrk="1" fontAlgn="auto" hangingPunct="1">
              <a:spcBef>
                <a:spcPts val="0"/>
              </a:spcBef>
              <a:spcAft>
                <a:spcPts val="0"/>
              </a:spcAft>
            </a:pPr>
            <a:endParaRPr lang="ja-JP" altLang="en-US" sz="1200" kern="0">
              <a:solidFill>
                <a:prstClr val="black"/>
              </a:solidFill>
              <a:latin typeface="Meiryo UI"/>
              <a:ea typeface="Meiryo UI"/>
              <a:cs typeface="Arial" charset="0"/>
            </a:endParaRPr>
          </a:p>
        </p:txBody>
      </p:sp>
      <p:sp>
        <p:nvSpPr>
          <p:cNvPr id="28" name="正方形/長方形 27">
            <a:extLst>
              <a:ext uri="{FF2B5EF4-FFF2-40B4-BE49-F238E27FC236}">
                <a16:creationId xmlns:a16="http://schemas.microsoft.com/office/drawing/2014/main" id="{E758B300-D461-4AF0-4FC6-2D307D9B4553}"/>
              </a:ext>
            </a:extLst>
          </p:cNvPr>
          <p:cNvSpPr/>
          <p:nvPr/>
        </p:nvSpPr>
        <p:spPr bwMode="gray">
          <a:xfrm>
            <a:off x="5482259" y="4476717"/>
            <a:ext cx="1905000" cy="323376"/>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mn-cs"/>
              </a:rPr>
              <a:t>認可機能</a:t>
            </a:r>
            <a:endParaRPr kumimoji="0" lang="en-US" altLang="ja-JP" sz="1200" b="0" i="0" u="none" strike="noStrike" kern="0" cap="none" spc="0" normalizeH="0" baseline="0" noProof="0">
              <a:ln>
                <a:noFill/>
              </a:ln>
              <a:solidFill>
                <a:prstClr val="black"/>
              </a:solidFill>
              <a:effectLst/>
              <a:uLnTx/>
              <a:uFillTx/>
              <a:latin typeface="Calibri Light"/>
              <a:ea typeface="Yu Gothic UI"/>
              <a:cs typeface="+mn-cs"/>
            </a:endParaRPr>
          </a:p>
        </p:txBody>
      </p:sp>
      <p:sp>
        <p:nvSpPr>
          <p:cNvPr id="29" name="正方形/長方形 28">
            <a:extLst>
              <a:ext uri="{FF2B5EF4-FFF2-40B4-BE49-F238E27FC236}">
                <a16:creationId xmlns:a16="http://schemas.microsoft.com/office/drawing/2014/main" id="{B4B52C34-B3C8-150A-DD8C-575E212ADC46}"/>
              </a:ext>
            </a:extLst>
          </p:cNvPr>
          <p:cNvSpPr/>
          <p:nvPr/>
        </p:nvSpPr>
        <p:spPr bwMode="gray">
          <a:xfrm>
            <a:off x="5482259" y="5291884"/>
            <a:ext cx="1905000" cy="323376"/>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Encrypted Vault Storage</a:t>
            </a:r>
          </a:p>
        </p:txBody>
      </p:sp>
      <p:sp>
        <p:nvSpPr>
          <p:cNvPr id="30" name="四角形: 角を丸くする 29">
            <a:extLst>
              <a:ext uri="{FF2B5EF4-FFF2-40B4-BE49-F238E27FC236}">
                <a16:creationId xmlns:a16="http://schemas.microsoft.com/office/drawing/2014/main" id="{8D6B5AAC-BD23-5C1C-70D8-C6FDB4B2AEA9}"/>
              </a:ext>
            </a:extLst>
          </p:cNvPr>
          <p:cNvSpPr/>
          <p:nvPr/>
        </p:nvSpPr>
        <p:spPr bwMode="gray">
          <a:xfrm>
            <a:off x="5482259" y="4983448"/>
            <a:ext cx="622218" cy="283495"/>
          </a:xfrm>
          <a:prstGeom prst="roundRect">
            <a:avLst/>
          </a:prstGeom>
          <a:solidFill>
            <a:sysClr val="window" lastClr="FFFFFF"/>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800" b="0" i="0" u="none" strike="noStrike" kern="0" cap="none" spc="0" normalizeH="0" baseline="0" noProof="0">
                <a:ln>
                  <a:noFill/>
                </a:ln>
                <a:solidFill>
                  <a:prstClr val="black"/>
                </a:solidFill>
                <a:effectLst/>
                <a:uLnTx/>
                <a:uFillTx/>
                <a:latin typeface="Calibri Light"/>
                <a:ea typeface="Yu Gothic UI"/>
                <a:cs typeface="Arial" charset="0"/>
              </a:rPr>
              <a:t>権限設定</a:t>
            </a:r>
          </a:p>
        </p:txBody>
      </p:sp>
      <p:sp>
        <p:nvSpPr>
          <p:cNvPr id="31" name="四角形: 角を丸くする 30">
            <a:extLst>
              <a:ext uri="{FF2B5EF4-FFF2-40B4-BE49-F238E27FC236}">
                <a16:creationId xmlns:a16="http://schemas.microsoft.com/office/drawing/2014/main" id="{E1103398-4707-4F8F-B14B-2C2B53A672E8}"/>
              </a:ext>
            </a:extLst>
          </p:cNvPr>
          <p:cNvSpPr/>
          <p:nvPr/>
        </p:nvSpPr>
        <p:spPr bwMode="gray">
          <a:xfrm>
            <a:off x="6122093" y="4983448"/>
            <a:ext cx="622218" cy="283495"/>
          </a:xfrm>
          <a:prstGeom prst="roundRect">
            <a:avLst/>
          </a:prstGeom>
          <a:solidFill>
            <a:sysClr val="window" lastClr="FFFFFF"/>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800" b="0" i="0" u="none" strike="noStrike" kern="0" cap="none" spc="0" normalizeH="0" baseline="0" noProof="0">
                <a:ln>
                  <a:noFill/>
                </a:ln>
                <a:solidFill>
                  <a:prstClr val="black"/>
                </a:solidFill>
                <a:effectLst/>
                <a:uLnTx/>
                <a:uFillTx/>
                <a:latin typeface="Calibri Light"/>
                <a:ea typeface="Yu Gothic UI"/>
                <a:cs typeface="Arial" charset="0"/>
              </a:rPr>
              <a:t>暗号化データ</a:t>
            </a:r>
          </a:p>
        </p:txBody>
      </p:sp>
      <p:sp>
        <p:nvSpPr>
          <p:cNvPr id="32" name="四角形: 角を丸くする 31">
            <a:extLst>
              <a:ext uri="{FF2B5EF4-FFF2-40B4-BE49-F238E27FC236}">
                <a16:creationId xmlns:a16="http://schemas.microsoft.com/office/drawing/2014/main" id="{D21AE600-0018-6ADA-27F2-5CDAE560699C}"/>
              </a:ext>
            </a:extLst>
          </p:cNvPr>
          <p:cNvSpPr/>
          <p:nvPr/>
        </p:nvSpPr>
        <p:spPr bwMode="gray">
          <a:xfrm>
            <a:off x="6765041" y="4983448"/>
            <a:ext cx="622218" cy="283495"/>
          </a:xfrm>
          <a:prstGeom prst="roundRect">
            <a:avLst/>
          </a:prstGeom>
          <a:solidFill>
            <a:sysClr val="window" lastClr="FFFFFF"/>
          </a:solidFill>
          <a:ln w="12700" algn="ctr">
            <a:solidFill>
              <a:sysClr val="windowText" lastClr="0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800" b="0" i="0" u="none" strike="noStrike" kern="0" cap="none" spc="0" normalizeH="0" baseline="0" noProof="0">
                <a:ln>
                  <a:noFill/>
                </a:ln>
                <a:solidFill>
                  <a:prstClr val="black"/>
                </a:solidFill>
                <a:effectLst/>
                <a:uLnTx/>
                <a:uFillTx/>
                <a:latin typeface="Calibri Light"/>
                <a:ea typeface="Yu Gothic UI"/>
                <a:cs typeface="Arial" charset="0"/>
              </a:rPr>
              <a:t>インデックス</a:t>
            </a:r>
            <a:endParaRPr kumimoji="0" lang="en-US" altLang="ja-JP" sz="800" b="0" i="0" u="none" strike="noStrike" kern="0" cap="none" spc="0" normalizeH="0" baseline="0" noProof="0">
              <a:ln>
                <a:noFill/>
              </a:ln>
              <a:solidFill>
                <a:prstClr val="black"/>
              </a:solidFill>
              <a:effectLst/>
              <a:uLnTx/>
              <a:uFillTx/>
              <a:latin typeface="Calibri Light"/>
              <a:ea typeface="Yu Gothic UI"/>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800" b="0" i="0" u="none" strike="noStrike" kern="0" cap="none" spc="0" normalizeH="0" baseline="0" noProof="0">
                <a:ln>
                  <a:noFill/>
                </a:ln>
                <a:solidFill>
                  <a:prstClr val="black"/>
                </a:solidFill>
                <a:effectLst/>
                <a:uLnTx/>
                <a:uFillTx/>
                <a:latin typeface="Calibri Light"/>
                <a:ea typeface="Yu Gothic UI"/>
                <a:cs typeface="Arial" charset="0"/>
              </a:rPr>
              <a:t>(</a:t>
            </a:r>
            <a:r>
              <a:rPr kumimoji="0" lang="ja-JP" altLang="en-US" sz="800" b="0" i="0" u="none" strike="noStrike" kern="0" cap="none" spc="0" normalizeH="0" baseline="0" noProof="0">
                <a:ln>
                  <a:noFill/>
                </a:ln>
                <a:solidFill>
                  <a:prstClr val="black"/>
                </a:solidFill>
                <a:effectLst/>
                <a:uLnTx/>
                <a:uFillTx/>
                <a:latin typeface="Calibri Light"/>
                <a:ea typeface="Yu Gothic UI"/>
                <a:cs typeface="Arial" charset="0"/>
              </a:rPr>
              <a:t>メタデータ</a:t>
            </a:r>
            <a:r>
              <a:rPr kumimoji="0" lang="en-US" altLang="ja-JP" sz="800" b="0" i="0" u="none" strike="noStrike" kern="0" cap="none" spc="0" normalizeH="0" baseline="0" noProof="0">
                <a:ln>
                  <a:noFill/>
                </a:ln>
                <a:solidFill>
                  <a:prstClr val="black"/>
                </a:solidFill>
                <a:effectLst/>
                <a:uLnTx/>
                <a:uFillTx/>
                <a:latin typeface="Calibri Light"/>
                <a:ea typeface="Yu Gothic UI"/>
                <a:cs typeface="Arial" charset="0"/>
              </a:rPr>
              <a:t>)</a:t>
            </a:r>
          </a:p>
        </p:txBody>
      </p:sp>
      <p:sp>
        <p:nvSpPr>
          <p:cNvPr id="33" name="正方形/長方形 32">
            <a:extLst>
              <a:ext uri="{FF2B5EF4-FFF2-40B4-BE49-F238E27FC236}">
                <a16:creationId xmlns:a16="http://schemas.microsoft.com/office/drawing/2014/main" id="{22386D38-FC48-22E9-9D88-FE9C31B4FB40}"/>
              </a:ext>
            </a:extLst>
          </p:cNvPr>
          <p:cNvSpPr/>
          <p:nvPr/>
        </p:nvSpPr>
        <p:spPr bwMode="gray">
          <a:xfrm>
            <a:off x="5482259" y="5791019"/>
            <a:ext cx="1905000" cy="323376"/>
          </a:xfrm>
          <a:prstGeom prst="rect">
            <a:avLst/>
          </a:prstGeom>
          <a:solidFill>
            <a:sysClr val="window" lastClr="FFFFFF"/>
          </a:solidFill>
          <a:ln w="25400" cap="flat" cmpd="sng" algn="ctr">
            <a:solidFill>
              <a:sysClr val="windowText" lastClr="000000"/>
            </a:solidFill>
            <a:prstDash val="solid"/>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Calibri Light"/>
                <a:ea typeface="Yu Gothic UI"/>
                <a:cs typeface="+mn-cs"/>
              </a:rPr>
              <a:t>Raw Byte Storage</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a:ln>
                  <a:noFill/>
                </a:ln>
                <a:solidFill>
                  <a:prstClr val="black"/>
                </a:solidFill>
                <a:effectLst/>
                <a:uLnTx/>
                <a:uFillTx/>
                <a:latin typeface="Calibri Light"/>
                <a:ea typeface="Yu Gothic UI"/>
                <a:cs typeface="+mn-cs"/>
              </a:rPr>
              <a:t>（クラウド、</a:t>
            </a:r>
            <a:r>
              <a:rPr kumimoji="0" lang="en-US" altLang="ja-JP" sz="1000" b="0" i="0" u="none" strike="noStrike" kern="0" cap="none" spc="0" normalizeH="0" baseline="0" noProof="0">
                <a:ln>
                  <a:noFill/>
                </a:ln>
                <a:solidFill>
                  <a:prstClr val="black"/>
                </a:solidFill>
                <a:effectLst/>
                <a:uLnTx/>
                <a:uFillTx/>
                <a:latin typeface="Calibri Light"/>
                <a:ea typeface="Yu Gothic UI"/>
                <a:cs typeface="+mn-cs"/>
              </a:rPr>
              <a:t>DB</a:t>
            </a:r>
            <a:r>
              <a:rPr kumimoji="0" lang="ja-JP" altLang="en-US" sz="1000" b="0" i="0" u="none" strike="noStrike" kern="0" cap="none" spc="0" normalizeH="0" baseline="0" noProof="0">
                <a:ln>
                  <a:noFill/>
                </a:ln>
                <a:solidFill>
                  <a:prstClr val="black"/>
                </a:solidFill>
                <a:effectLst/>
                <a:uLnTx/>
                <a:uFillTx/>
                <a:latin typeface="Calibri Light"/>
                <a:ea typeface="Yu Gothic UI"/>
                <a:cs typeface="+mn-cs"/>
              </a:rPr>
              <a:t>、ファイル、モバイル）</a:t>
            </a:r>
            <a:endParaRPr kumimoji="0" lang="en-US" altLang="ja-JP" sz="1000" b="0" i="0" u="none" strike="noStrike" kern="0" cap="none" spc="0" normalizeH="0" baseline="0" noProof="0">
              <a:ln>
                <a:noFill/>
              </a:ln>
              <a:solidFill>
                <a:prstClr val="black"/>
              </a:solidFill>
              <a:effectLst/>
              <a:uLnTx/>
              <a:uFillTx/>
              <a:latin typeface="Calibri Light"/>
              <a:ea typeface="Yu Gothic UI"/>
              <a:cs typeface="+mn-cs"/>
            </a:endParaRPr>
          </a:p>
        </p:txBody>
      </p:sp>
      <p:cxnSp>
        <p:nvCxnSpPr>
          <p:cNvPr id="34" name="直線矢印コネクタ 33">
            <a:extLst>
              <a:ext uri="{FF2B5EF4-FFF2-40B4-BE49-F238E27FC236}">
                <a16:creationId xmlns:a16="http://schemas.microsoft.com/office/drawing/2014/main" id="{9ECC9A1D-830C-7311-ADC7-349D98EBB29C}"/>
              </a:ext>
            </a:extLst>
          </p:cNvPr>
          <p:cNvCxnSpPr>
            <a:cxnSpLocks/>
            <a:endCxn id="30" idx="0"/>
          </p:cNvCxnSpPr>
          <p:nvPr/>
        </p:nvCxnSpPr>
        <p:spPr bwMode="gray">
          <a:xfrm>
            <a:off x="5793368" y="4800093"/>
            <a:ext cx="0" cy="183355"/>
          </a:xfrm>
          <a:prstGeom prst="straightConnector1">
            <a:avLst/>
          </a:prstGeom>
          <a:noFill/>
          <a:ln w="12700" cap="flat" cmpd="sng" algn="ctr">
            <a:solidFill>
              <a:srgbClr val="53565A"/>
            </a:solidFill>
            <a:prstDash val="solid"/>
            <a:tailEnd type="triangle"/>
          </a:ln>
          <a:effectLst/>
        </p:spPr>
      </p:cxnSp>
      <p:cxnSp>
        <p:nvCxnSpPr>
          <p:cNvPr id="35" name="直線矢印コネクタ 34">
            <a:extLst>
              <a:ext uri="{FF2B5EF4-FFF2-40B4-BE49-F238E27FC236}">
                <a16:creationId xmlns:a16="http://schemas.microsoft.com/office/drawing/2014/main" id="{62861B99-3720-3ECE-950D-1B394F4C6833}"/>
              </a:ext>
            </a:extLst>
          </p:cNvPr>
          <p:cNvCxnSpPr>
            <a:cxnSpLocks/>
            <a:stCxn id="28" idx="2"/>
            <a:endCxn id="31" idx="0"/>
          </p:cNvCxnSpPr>
          <p:nvPr/>
        </p:nvCxnSpPr>
        <p:spPr bwMode="gray">
          <a:xfrm flipH="1">
            <a:off x="6433202" y="4800093"/>
            <a:ext cx="1557" cy="183355"/>
          </a:xfrm>
          <a:prstGeom prst="straightConnector1">
            <a:avLst/>
          </a:prstGeom>
          <a:noFill/>
          <a:ln w="12700" cap="flat" cmpd="sng" algn="ctr">
            <a:solidFill>
              <a:srgbClr val="53565A"/>
            </a:solidFill>
            <a:prstDash val="solid"/>
            <a:tailEnd type="triangle"/>
          </a:ln>
          <a:effectLst/>
        </p:spPr>
      </p:cxnSp>
      <p:cxnSp>
        <p:nvCxnSpPr>
          <p:cNvPr id="36" name="直線矢印コネクタ 35">
            <a:extLst>
              <a:ext uri="{FF2B5EF4-FFF2-40B4-BE49-F238E27FC236}">
                <a16:creationId xmlns:a16="http://schemas.microsoft.com/office/drawing/2014/main" id="{EE80242C-ABB0-136C-75AA-1E25CBE2F152}"/>
              </a:ext>
            </a:extLst>
          </p:cNvPr>
          <p:cNvCxnSpPr>
            <a:cxnSpLocks/>
            <a:endCxn id="32" idx="0"/>
          </p:cNvCxnSpPr>
          <p:nvPr/>
        </p:nvCxnSpPr>
        <p:spPr bwMode="gray">
          <a:xfrm>
            <a:off x="7076150" y="4800093"/>
            <a:ext cx="0" cy="183355"/>
          </a:xfrm>
          <a:prstGeom prst="straightConnector1">
            <a:avLst/>
          </a:prstGeom>
          <a:noFill/>
          <a:ln w="12700" cap="flat" cmpd="sng" algn="ctr">
            <a:solidFill>
              <a:srgbClr val="53565A"/>
            </a:solidFill>
            <a:prstDash val="solid"/>
            <a:tailEnd type="triangle"/>
          </a:ln>
          <a:effectLst/>
        </p:spPr>
      </p:cxnSp>
      <p:cxnSp>
        <p:nvCxnSpPr>
          <p:cNvPr id="37" name="直線矢印コネクタ 36">
            <a:extLst>
              <a:ext uri="{FF2B5EF4-FFF2-40B4-BE49-F238E27FC236}">
                <a16:creationId xmlns:a16="http://schemas.microsoft.com/office/drawing/2014/main" id="{FF383F90-B5D1-B1B0-2C91-62D9736F10BC}"/>
              </a:ext>
            </a:extLst>
          </p:cNvPr>
          <p:cNvCxnSpPr>
            <a:cxnSpLocks/>
            <a:stCxn id="29" idx="2"/>
            <a:endCxn id="33" idx="0"/>
          </p:cNvCxnSpPr>
          <p:nvPr/>
        </p:nvCxnSpPr>
        <p:spPr bwMode="gray">
          <a:xfrm>
            <a:off x="6434759" y="5615260"/>
            <a:ext cx="0" cy="175759"/>
          </a:xfrm>
          <a:prstGeom prst="straightConnector1">
            <a:avLst/>
          </a:prstGeom>
          <a:noFill/>
          <a:ln w="12700" cap="flat" cmpd="sng" algn="ctr">
            <a:solidFill>
              <a:srgbClr val="53565A"/>
            </a:solidFill>
            <a:prstDash val="solid"/>
            <a:tailEnd type="triangle"/>
          </a:ln>
          <a:effectLst/>
        </p:spPr>
      </p:cxnSp>
      <p:cxnSp>
        <p:nvCxnSpPr>
          <p:cNvPr id="38" name="コネクタ: カギ線 37">
            <a:extLst>
              <a:ext uri="{FF2B5EF4-FFF2-40B4-BE49-F238E27FC236}">
                <a16:creationId xmlns:a16="http://schemas.microsoft.com/office/drawing/2014/main" id="{17A51C50-163A-1914-FFF4-AE8ABB0EB0CE}"/>
              </a:ext>
            </a:extLst>
          </p:cNvPr>
          <p:cNvCxnSpPr>
            <a:cxnSpLocks/>
            <a:stCxn id="5" idx="2"/>
            <a:endCxn id="28" idx="0"/>
          </p:cNvCxnSpPr>
          <p:nvPr/>
        </p:nvCxnSpPr>
        <p:spPr bwMode="gray">
          <a:xfrm rot="16200000" flipH="1">
            <a:off x="5249507" y="3291465"/>
            <a:ext cx="869458" cy="1501045"/>
          </a:xfrm>
          <a:prstGeom prst="bentConnector3">
            <a:avLst>
              <a:gd name="adj1" fmla="val 50000"/>
            </a:avLst>
          </a:prstGeom>
          <a:noFill/>
          <a:ln w="12700" cap="flat" cmpd="sng" algn="ctr">
            <a:solidFill>
              <a:srgbClr val="53565A"/>
            </a:solidFill>
            <a:prstDash val="solid"/>
            <a:tailEnd type="triangle"/>
          </a:ln>
          <a:effectLst/>
        </p:spPr>
      </p:cxnSp>
      <p:sp>
        <p:nvSpPr>
          <p:cNvPr id="39" name="テキスト プレースホルダー 2">
            <a:extLst>
              <a:ext uri="{FF2B5EF4-FFF2-40B4-BE49-F238E27FC236}">
                <a16:creationId xmlns:a16="http://schemas.microsoft.com/office/drawing/2014/main" id="{3CF73606-15A4-F728-30A2-31955DF6CC5A}"/>
              </a:ext>
            </a:extLst>
          </p:cNvPr>
          <p:cNvSpPr txBox="1">
            <a:spLocks/>
          </p:cNvSpPr>
          <p:nvPr/>
        </p:nvSpPr>
        <p:spPr>
          <a:xfrm>
            <a:off x="273050" y="906230"/>
            <a:ext cx="9359900" cy="1210996"/>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暗号化データ保管庫（</a:t>
            </a:r>
            <a:r>
              <a:rPr lang="en-US" altLang="ja-JP" dirty="0"/>
              <a:t>EDV</a:t>
            </a:r>
            <a:r>
              <a:rPr lang="ja-JP" altLang="en-US" dirty="0"/>
              <a:t>：</a:t>
            </a:r>
            <a:r>
              <a:rPr lang="en-US" altLang="ja-JP" dirty="0"/>
              <a:t>Encrypted Data Vault</a:t>
            </a:r>
            <a:r>
              <a:rPr lang="ja-JP" altLang="en-US" dirty="0"/>
              <a:t>）</a:t>
            </a:r>
            <a:r>
              <a:rPr kumimoji="1" lang="ja-JP" altLang="en-US" dirty="0"/>
              <a:t>は個人や企業が所有</a:t>
            </a:r>
            <a:r>
              <a:rPr kumimoji="1" lang="en-US" altLang="ja-JP" dirty="0"/>
              <a:t>(</a:t>
            </a:r>
            <a:r>
              <a:rPr kumimoji="1" lang="ja-JP" altLang="en-US" dirty="0"/>
              <a:t>契約</a:t>
            </a:r>
            <a:r>
              <a:rPr kumimoji="1" lang="en-US" altLang="ja-JP" dirty="0"/>
              <a:t>)</a:t>
            </a:r>
            <a:r>
              <a:rPr kumimoji="1" lang="ja-JP" altLang="en-US" dirty="0"/>
              <a:t>するクラウドストレージやモバイルストレージ等</a:t>
            </a:r>
            <a:r>
              <a:rPr kumimoji="0" lang="ja-JP" altLang="en-US" dirty="0"/>
              <a:t>のデータを安全に格納、インデックス、共有するためのメカニズムを定義する仕組みであり</a:t>
            </a:r>
            <a:r>
              <a:rPr kumimoji="0" lang="en-US" altLang="ja-JP" dirty="0"/>
              <a:t>W3C</a:t>
            </a:r>
            <a:r>
              <a:rPr kumimoji="0" lang="ja-JP" altLang="en-US" dirty="0"/>
              <a:t>で検討されている</a:t>
            </a:r>
            <a:endParaRPr kumimoji="0" lang="en-US" altLang="ja-JP" dirty="0"/>
          </a:p>
          <a:p>
            <a:r>
              <a:rPr lang="ja-JP" altLang="en-US" dirty="0"/>
              <a:t>ユーザや企業（エンティティ）はストレージプロバイダーに内容を知られることなくデータを格納可能で、かつプロバイダーの管理者がアクセスできなくなる仕組みを提供する。クライアントは</a:t>
            </a:r>
            <a:r>
              <a:rPr lang="en-US" altLang="ja-JP" dirty="0"/>
              <a:t>DID</a:t>
            </a:r>
            <a:r>
              <a:rPr lang="ja-JP" altLang="en-US" dirty="0"/>
              <a:t>に紐付けられたキーを使って独自の暗号化・復号を行うため、クライアントが参照先を完全に管理できる</a:t>
            </a:r>
            <a:endParaRPr kumimoji="0" lang="en-US" altLang="ja-JP" dirty="0"/>
          </a:p>
          <a:p>
            <a:endParaRPr lang="ja-JP" altLang="en-US" dirty="0"/>
          </a:p>
        </p:txBody>
      </p:sp>
      <p:sp>
        <p:nvSpPr>
          <p:cNvPr id="26" name="テキスト ボックス 25">
            <a:extLst>
              <a:ext uri="{FF2B5EF4-FFF2-40B4-BE49-F238E27FC236}">
                <a16:creationId xmlns:a16="http://schemas.microsoft.com/office/drawing/2014/main" id="{786A8BFF-572C-8782-7D58-D3C19DDA47EC}"/>
              </a:ext>
            </a:extLst>
          </p:cNvPr>
          <p:cNvSpPr txBox="1"/>
          <p:nvPr/>
        </p:nvSpPr>
        <p:spPr bwMode="gray">
          <a:xfrm>
            <a:off x="3722846" y="4109116"/>
            <a:ext cx="2355653" cy="276999"/>
          </a:xfrm>
          <a:prstGeom prst="rect">
            <a:avLst/>
          </a:prstGeom>
          <a:solidFill>
            <a:schemeClr val="accent2"/>
          </a:solidFill>
        </p:spPr>
        <p:txBody>
          <a:bodyPr wrap="square">
            <a:spAutoFit/>
          </a:bodyPr>
          <a:lstStyle/>
          <a:p>
            <a:pPr algn="ctr" eaLnBrk="1" fontAlgn="auto" hangingPunct="1">
              <a:spcBef>
                <a:spcPts val="0"/>
              </a:spcBef>
              <a:spcAft>
                <a:spcPts val="0"/>
              </a:spcAft>
            </a:pPr>
            <a:r>
              <a:rPr lang="en-US" altLang="ja-JP" sz="1200" kern="0" dirty="0">
                <a:solidFill>
                  <a:schemeClr val="bg1"/>
                </a:solidFill>
                <a:latin typeface="Meiryo UI"/>
                <a:ea typeface="Meiryo UI"/>
                <a:cs typeface="Arial" charset="0"/>
              </a:rPr>
              <a:t>Encrypted Data Vault</a:t>
            </a:r>
            <a:endParaRPr lang="ja-JP" altLang="en-US" sz="1200" kern="0" dirty="0">
              <a:solidFill>
                <a:schemeClr val="bg1"/>
              </a:solidFill>
              <a:latin typeface="Meiryo UI"/>
              <a:ea typeface="Meiryo UI"/>
              <a:cs typeface="Arial" charset="0"/>
            </a:endParaRPr>
          </a:p>
        </p:txBody>
      </p:sp>
      <p:sp>
        <p:nvSpPr>
          <p:cNvPr id="61" name="テキスト ボックス 60">
            <a:extLst>
              <a:ext uri="{FF2B5EF4-FFF2-40B4-BE49-F238E27FC236}">
                <a16:creationId xmlns:a16="http://schemas.microsoft.com/office/drawing/2014/main" id="{CE168777-BB30-D5E1-1A27-3D97E9F89B3C}"/>
              </a:ext>
            </a:extLst>
          </p:cNvPr>
          <p:cNvSpPr txBox="1"/>
          <p:nvPr/>
        </p:nvSpPr>
        <p:spPr>
          <a:xfrm>
            <a:off x="286585" y="6476600"/>
            <a:ext cx="5891368" cy="138499"/>
          </a:xfrm>
          <a:prstGeom prst="rect">
            <a:avLst/>
          </a:prstGeom>
          <a:noFill/>
        </p:spPr>
        <p:txBody>
          <a:bodyPr wrap="square" lIns="0" tIns="0" rIns="0" bIns="0" rtlCol="0">
            <a:spAutoFit/>
          </a:bodyPr>
          <a:lstStyle/>
          <a:p>
            <a:r>
              <a:rPr kumimoji="1" lang="ja-JP" altLang="en-US" sz="900" dirty="0">
                <a:latin typeface="+mn-ea"/>
                <a:ea typeface="+mn-ea"/>
              </a:rPr>
              <a:t>出所：</a:t>
            </a:r>
            <a:r>
              <a:rPr kumimoji="1" lang="en-US" altLang="ja-JP" sz="900" dirty="0">
                <a:latin typeface="+mn-ea"/>
                <a:ea typeface="+mn-ea"/>
                <a:hlinkClick r:id="rId5"/>
              </a:rPr>
              <a:t>https://identity.foundation/edv-spec/</a:t>
            </a:r>
            <a:endParaRPr kumimoji="1" lang="ja-JP" altLang="en-US" sz="900" dirty="0">
              <a:latin typeface="+mn-ea"/>
              <a:ea typeface="+mn-ea"/>
            </a:endParaRPr>
          </a:p>
        </p:txBody>
      </p:sp>
      <p:sp>
        <p:nvSpPr>
          <p:cNvPr id="40" name="正方形/長方形 39">
            <a:extLst>
              <a:ext uri="{FF2B5EF4-FFF2-40B4-BE49-F238E27FC236}">
                <a16:creationId xmlns:a16="http://schemas.microsoft.com/office/drawing/2014/main" id="{ADA8AE93-9D59-A3CB-D829-A0CEB2F7078C}"/>
              </a:ext>
            </a:extLst>
          </p:cNvPr>
          <p:cNvSpPr/>
          <p:nvPr/>
        </p:nvSpPr>
        <p:spPr>
          <a:xfrm>
            <a:off x="1875716" y="135476"/>
            <a:ext cx="980645" cy="1080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Credential Layer</a:t>
            </a:r>
            <a:endParaRPr lang="ja-JP" altLang="en-US" sz="600" dirty="0"/>
          </a:p>
        </p:txBody>
      </p:sp>
      <p:sp>
        <p:nvSpPr>
          <p:cNvPr id="41" name="正方形/長方形 40">
            <a:extLst>
              <a:ext uri="{FF2B5EF4-FFF2-40B4-BE49-F238E27FC236}">
                <a16:creationId xmlns:a16="http://schemas.microsoft.com/office/drawing/2014/main" id="{A9DF3395-9BFD-3AB5-6906-0BECD72DE757}"/>
              </a:ext>
            </a:extLst>
          </p:cNvPr>
          <p:cNvSpPr/>
          <p:nvPr/>
        </p:nvSpPr>
        <p:spPr>
          <a:xfrm>
            <a:off x="1875716" y="242366"/>
            <a:ext cx="491226" cy="172800"/>
          </a:xfrm>
          <a:prstGeom prst="rect">
            <a:avLst/>
          </a:prstGeom>
          <a:solidFill>
            <a:schemeClr val="bg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Credential</a:t>
            </a:r>
          </a:p>
          <a:p>
            <a:pPr algn="ctr"/>
            <a:r>
              <a:rPr lang="en-US" altLang="ja-JP" sz="500" dirty="0"/>
              <a:t>Format</a:t>
            </a:r>
            <a:endParaRPr kumimoji="1" lang="ja-JP" altLang="en-US" sz="500" dirty="0"/>
          </a:p>
        </p:txBody>
      </p:sp>
      <p:sp>
        <p:nvSpPr>
          <p:cNvPr id="42" name="正方形/長方形 41">
            <a:extLst>
              <a:ext uri="{FF2B5EF4-FFF2-40B4-BE49-F238E27FC236}">
                <a16:creationId xmlns:a16="http://schemas.microsoft.com/office/drawing/2014/main" id="{646848D7-7706-B4DB-7009-1C1998F9BE98}"/>
              </a:ext>
            </a:extLst>
          </p:cNvPr>
          <p:cNvSpPr/>
          <p:nvPr/>
        </p:nvSpPr>
        <p:spPr>
          <a:xfrm>
            <a:off x="2366942"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Credential</a:t>
            </a:r>
          </a:p>
          <a:p>
            <a:pPr algn="ctr"/>
            <a:r>
              <a:rPr lang="en-US" altLang="ja-JP" sz="500" dirty="0"/>
              <a:t>Proofing</a:t>
            </a:r>
            <a:endParaRPr lang="ja-JP" altLang="en-US" sz="500" dirty="0"/>
          </a:p>
        </p:txBody>
      </p:sp>
      <p:sp>
        <p:nvSpPr>
          <p:cNvPr id="59" name="正方形/長方形 58">
            <a:extLst>
              <a:ext uri="{FF2B5EF4-FFF2-40B4-BE49-F238E27FC236}">
                <a16:creationId xmlns:a16="http://schemas.microsoft.com/office/drawing/2014/main" id="{1FBD5A25-FFA6-C480-329B-3EB329628F67}"/>
              </a:ext>
            </a:extLst>
          </p:cNvPr>
          <p:cNvSpPr/>
          <p:nvPr/>
        </p:nvSpPr>
        <p:spPr>
          <a:xfrm>
            <a:off x="2858168"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Envelope</a:t>
            </a:r>
            <a:endParaRPr lang="ja-JP" altLang="en-US" sz="600" dirty="0"/>
          </a:p>
        </p:txBody>
      </p:sp>
      <p:sp>
        <p:nvSpPr>
          <p:cNvPr id="60" name="正方形/長方形 59">
            <a:extLst>
              <a:ext uri="{FF2B5EF4-FFF2-40B4-BE49-F238E27FC236}">
                <a16:creationId xmlns:a16="http://schemas.microsoft.com/office/drawing/2014/main" id="{108FA768-0886-B01A-9BB4-2D40A22A0E9B}"/>
              </a:ext>
            </a:extLst>
          </p:cNvPr>
          <p:cNvSpPr/>
          <p:nvPr/>
        </p:nvSpPr>
        <p:spPr>
          <a:xfrm>
            <a:off x="2856361" y="135476"/>
            <a:ext cx="983839"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a:t>Agent </a:t>
            </a:r>
            <a:r>
              <a:rPr lang="en-US" altLang="ja-JP" sz="600" dirty="0"/>
              <a:t>Layer</a:t>
            </a:r>
            <a:endParaRPr lang="ja-JP" altLang="en-US" sz="600" dirty="0"/>
          </a:p>
        </p:txBody>
      </p:sp>
      <p:sp>
        <p:nvSpPr>
          <p:cNvPr id="62" name="正方形/長方形 61">
            <a:extLst>
              <a:ext uri="{FF2B5EF4-FFF2-40B4-BE49-F238E27FC236}">
                <a16:creationId xmlns:a16="http://schemas.microsoft.com/office/drawing/2014/main" id="{F91C2DA3-2C36-A9CC-5514-86F2D1E73C2B}"/>
              </a:ext>
            </a:extLst>
          </p:cNvPr>
          <p:cNvSpPr/>
          <p:nvPr/>
        </p:nvSpPr>
        <p:spPr>
          <a:xfrm>
            <a:off x="334926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Transport</a:t>
            </a:r>
            <a:endParaRPr lang="ja-JP" altLang="en-US" sz="600" dirty="0"/>
          </a:p>
        </p:txBody>
      </p:sp>
      <p:sp>
        <p:nvSpPr>
          <p:cNvPr id="63" name="正方形/長方形 62">
            <a:extLst>
              <a:ext uri="{FF2B5EF4-FFF2-40B4-BE49-F238E27FC236}">
                <a16:creationId xmlns:a16="http://schemas.microsoft.com/office/drawing/2014/main" id="{1AD57396-2F39-4476-4343-C58E42F81220}"/>
              </a:ext>
            </a:extLst>
          </p:cNvPr>
          <p:cNvSpPr/>
          <p:nvPr/>
        </p:nvSpPr>
        <p:spPr>
          <a:xfrm>
            <a:off x="384065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DID Document</a:t>
            </a:r>
          </a:p>
          <a:p>
            <a:pPr algn="ctr"/>
            <a:r>
              <a:rPr kumimoji="1" lang="en-US" altLang="ja-JP" sz="500" dirty="0"/>
              <a:t>/DID Scaling</a:t>
            </a:r>
            <a:endParaRPr kumimoji="1" lang="ja-JP" altLang="en-US" sz="500" dirty="0"/>
          </a:p>
        </p:txBody>
      </p:sp>
      <p:sp>
        <p:nvSpPr>
          <p:cNvPr id="64" name="正方形/長方形 63">
            <a:extLst>
              <a:ext uri="{FF2B5EF4-FFF2-40B4-BE49-F238E27FC236}">
                <a16:creationId xmlns:a16="http://schemas.microsoft.com/office/drawing/2014/main" id="{A5DDC52C-472C-F178-FC00-F6D93E5D9D69}"/>
              </a:ext>
            </a:extLst>
          </p:cNvPr>
          <p:cNvSpPr/>
          <p:nvPr/>
        </p:nvSpPr>
        <p:spPr>
          <a:xfrm>
            <a:off x="4824207"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Anchor</a:t>
            </a:r>
            <a:r>
              <a:rPr lang="ja-JP" altLang="en-US" sz="600" dirty="0"/>
              <a:t> </a:t>
            </a:r>
            <a:r>
              <a:rPr kumimoji="1" lang="en-US" altLang="ja-JP" sz="600" dirty="0"/>
              <a:t>Types</a:t>
            </a:r>
            <a:endParaRPr kumimoji="1" lang="ja-JP" altLang="en-US" sz="600" dirty="0"/>
          </a:p>
        </p:txBody>
      </p:sp>
      <p:sp>
        <p:nvSpPr>
          <p:cNvPr id="65" name="正方形/長方形 64">
            <a:extLst>
              <a:ext uri="{FF2B5EF4-FFF2-40B4-BE49-F238E27FC236}">
                <a16:creationId xmlns:a16="http://schemas.microsoft.com/office/drawing/2014/main" id="{D65F7C41-F737-56D7-1074-16477E948505}"/>
              </a:ext>
            </a:extLst>
          </p:cNvPr>
          <p:cNvSpPr/>
          <p:nvPr/>
        </p:nvSpPr>
        <p:spPr>
          <a:xfrm>
            <a:off x="5315306"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 </a:t>
            </a:r>
            <a:r>
              <a:rPr lang="en-US" altLang="ja-JP" sz="500" dirty="0"/>
              <a:t>Resolution</a:t>
            </a:r>
            <a:endParaRPr kumimoji="1" lang="ja-JP" altLang="en-US" sz="500" dirty="0"/>
          </a:p>
        </p:txBody>
      </p:sp>
      <p:sp>
        <p:nvSpPr>
          <p:cNvPr id="66" name="正方形/長方形 65">
            <a:extLst>
              <a:ext uri="{FF2B5EF4-FFF2-40B4-BE49-F238E27FC236}">
                <a16:creationId xmlns:a16="http://schemas.microsoft.com/office/drawing/2014/main" id="{F1149CC8-9B17-04EF-BE24-3106789171D2}"/>
              </a:ext>
            </a:extLst>
          </p:cNvPr>
          <p:cNvSpPr/>
          <p:nvPr/>
        </p:nvSpPr>
        <p:spPr>
          <a:xfrm>
            <a:off x="5806532" y="242366"/>
            <a:ext cx="491226" cy="1728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DID-Anchored</a:t>
            </a:r>
          </a:p>
          <a:p>
            <a:pPr algn="ctr"/>
            <a:r>
              <a:rPr kumimoji="1" lang="en-US" altLang="ja-JP" sz="500" dirty="0" err="1"/>
              <a:t>Svcs</a:t>
            </a:r>
            <a:endParaRPr kumimoji="1" lang="en-US" altLang="ja-JP" sz="500" dirty="0"/>
          </a:p>
        </p:txBody>
      </p:sp>
      <p:sp>
        <p:nvSpPr>
          <p:cNvPr id="67" name="正方形/長方形 66">
            <a:extLst>
              <a:ext uri="{FF2B5EF4-FFF2-40B4-BE49-F238E27FC236}">
                <a16:creationId xmlns:a16="http://schemas.microsoft.com/office/drawing/2014/main" id="{C273E60B-B1E2-D931-1401-9432FF95BBB1}"/>
              </a:ext>
            </a:extLst>
          </p:cNvPr>
          <p:cNvSpPr/>
          <p:nvPr/>
        </p:nvSpPr>
        <p:spPr>
          <a:xfrm>
            <a:off x="6297630" y="242366"/>
            <a:ext cx="491226" cy="1728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500" dirty="0"/>
              <a:t>Disclosure</a:t>
            </a:r>
            <a:br>
              <a:rPr lang="en-US" altLang="ja-JP" sz="500" dirty="0"/>
            </a:br>
            <a:r>
              <a:rPr lang="en-US" altLang="ja-JP" sz="500" dirty="0"/>
              <a:t>/ZKP</a:t>
            </a:r>
          </a:p>
        </p:txBody>
      </p:sp>
      <p:sp>
        <p:nvSpPr>
          <p:cNvPr id="68" name="正方形/長方形 67">
            <a:extLst>
              <a:ext uri="{FF2B5EF4-FFF2-40B4-BE49-F238E27FC236}">
                <a16:creationId xmlns:a16="http://schemas.microsoft.com/office/drawing/2014/main" id="{664FD6F1-BF2C-0CB1-9C5F-5509B966930E}"/>
              </a:ext>
            </a:extLst>
          </p:cNvPr>
          <p:cNvSpPr/>
          <p:nvPr/>
        </p:nvSpPr>
        <p:spPr>
          <a:xfrm>
            <a:off x="6788856"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600" dirty="0"/>
              <a:t>Storage</a:t>
            </a:r>
          </a:p>
        </p:txBody>
      </p:sp>
      <p:sp>
        <p:nvSpPr>
          <p:cNvPr id="69" name="正方形/長方形 68">
            <a:extLst>
              <a:ext uri="{FF2B5EF4-FFF2-40B4-BE49-F238E27FC236}">
                <a16:creationId xmlns:a16="http://schemas.microsoft.com/office/drawing/2014/main" id="{761EAFAD-4110-8AD7-ADD8-730B85736907}"/>
              </a:ext>
            </a:extLst>
          </p:cNvPr>
          <p:cNvSpPr/>
          <p:nvPr/>
        </p:nvSpPr>
        <p:spPr>
          <a:xfrm>
            <a:off x="7279955"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Data Formats</a:t>
            </a:r>
          </a:p>
        </p:txBody>
      </p:sp>
      <p:sp>
        <p:nvSpPr>
          <p:cNvPr id="70" name="正方形/長方形 69">
            <a:extLst>
              <a:ext uri="{FF2B5EF4-FFF2-40B4-BE49-F238E27FC236}">
                <a16:creationId xmlns:a16="http://schemas.microsoft.com/office/drawing/2014/main" id="{37A0AF58-38D3-3D94-67FB-F1AB1EB1C9B1}"/>
              </a:ext>
            </a:extLst>
          </p:cNvPr>
          <p:cNvSpPr/>
          <p:nvPr/>
        </p:nvSpPr>
        <p:spPr>
          <a:xfrm>
            <a:off x="7771053" y="242366"/>
            <a:ext cx="491226" cy="172800"/>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500" dirty="0"/>
              <a:t>Crypto</a:t>
            </a:r>
          </a:p>
          <a:p>
            <a:pPr algn="ctr"/>
            <a:r>
              <a:rPr kumimoji="1" lang="en-US" altLang="ja-JP" sz="500" dirty="0"/>
              <a:t>Primitives</a:t>
            </a:r>
          </a:p>
        </p:txBody>
      </p:sp>
      <p:sp>
        <p:nvSpPr>
          <p:cNvPr id="71" name="正方形/長方形 70">
            <a:extLst>
              <a:ext uri="{FF2B5EF4-FFF2-40B4-BE49-F238E27FC236}">
                <a16:creationId xmlns:a16="http://schemas.microsoft.com/office/drawing/2014/main" id="{92FF0CE1-77B8-0BD6-570B-A94BB99A0173}"/>
              </a:ext>
            </a:extLst>
          </p:cNvPr>
          <p:cNvSpPr/>
          <p:nvPr/>
        </p:nvSpPr>
        <p:spPr>
          <a:xfrm>
            <a:off x="3837006" y="135476"/>
            <a:ext cx="2461601" cy="108000"/>
          </a:xfrm>
          <a:prstGeom prst="rect">
            <a:avLst/>
          </a:prstGeom>
          <a:solidFill>
            <a:schemeClr val="accent1">
              <a:lumMod val="20000"/>
              <a:lumOff val="80000"/>
            </a:schemeClr>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Public Trust Layer</a:t>
            </a:r>
            <a:endParaRPr lang="ja-JP" altLang="en-US" sz="600" dirty="0"/>
          </a:p>
        </p:txBody>
      </p:sp>
      <p:sp>
        <p:nvSpPr>
          <p:cNvPr id="72" name="正方形/長方形 71">
            <a:extLst>
              <a:ext uri="{FF2B5EF4-FFF2-40B4-BE49-F238E27FC236}">
                <a16:creationId xmlns:a16="http://schemas.microsoft.com/office/drawing/2014/main" id="{226E0DF6-16E1-5418-CFDA-E4404D019672}"/>
              </a:ext>
            </a:extLst>
          </p:cNvPr>
          <p:cNvSpPr/>
          <p:nvPr/>
        </p:nvSpPr>
        <p:spPr>
          <a:xfrm>
            <a:off x="6297503" y="135476"/>
            <a:ext cx="1964776" cy="108000"/>
          </a:xfrm>
          <a:prstGeom prst="rect">
            <a:avLst/>
          </a:prstGeom>
          <a:solidFill>
            <a:schemeClr val="bg1"/>
          </a:solidFill>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Vertical / Cross-cutting</a:t>
            </a:r>
            <a:endParaRPr lang="ja-JP" altLang="en-US" sz="600" dirty="0"/>
          </a:p>
        </p:txBody>
      </p:sp>
      <p:sp>
        <p:nvSpPr>
          <p:cNvPr id="43" name="正方形/長方形 42">
            <a:extLst>
              <a:ext uri="{FF2B5EF4-FFF2-40B4-BE49-F238E27FC236}">
                <a16:creationId xmlns:a16="http://schemas.microsoft.com/office/drawing/2014/main" id="{AB5FF656-2C85-D631-9889-B67370722E2E}"/>
              </a:ext>
            </a:extLst>
          </p:cNvPr>
          <p:cNvSpPr/>
          <p:nvPr/>
        </p:nvSpPr>
        <p:spPr>
          <a:xfrm>
            <a:off x="4332918" y="242366"/>
            <a:ext cx="491226" cy="169526"/>
          </a:xfrm>
          <a:prstGeom prst="rect">
            <a:avLst/>
          </a:prstGeom>
          <a:ln w="12700">
            <a:solidFill>
              <a:srgbClr val="0267B7"/>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600" dirty="0"/>
              <a:t>DID method</a:t>
            </a:r>
            <a:endParaRPr kumimoji="1" lang="ja-JP" altLang="en-US" sz="600" dirty="0"/>
          </a:p>
        </p:txBody>
      </p:sp>
    </p:spTree>
    <p:extLst>
      <p:ext uri="{BB962C8B-B14F-4D97-AF65-F5344CB8AC3E}">
        <p14:creationId xmlns:p14="http://schemas.microsoft.com/office/powerpoint/2010/main" val="3587805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E815BB-7224-3D8E-ED43-791430CD75EB}"/>
              </a:ext>
            </a:extLst>
          </p:cNvPr>
          <p:cNvSpPr>
            <a:spLocks noGrp="1"/>
          </p:cNvSpPr>
          <p:nvPr>
            <p:ph type="title"/>
          </p:nvPr>
        </p:nvSpPr>
        <p:spPr/>
        <p:txBody>
          <a:bodyPr/>
          <a:lstStyle/>
          <a:p>
            <a:r>
              <a:rPr kumimoji="1" lang="en-US" altLang="ja-JP" dirty="0"/>
              <a:t>5.3. </a:t>
            </a:r>
            <a:r>
              <a:rPr kumimoji="1" lang="en-US" altLang="ja-JP" dirty="0" err="1"/>
              <a:t>mDL</a:t>
            </a:r>
            <a:r>
              <a:rPr kumimoji="1" lang="ja-JP" altLang="en-US" dirty="0"/>
              <a:t>と</a:t>
            </a:r>
            <a:r>
              <a:rPr kumimoji="1" lang="en-US" altLang="ja-JP" dirty="0"/>
              <a:t>VC</a:t>
            </a:r>
            <a:r>
              <a:rPr kumimoji="1" lang="ja-JP" altLang="en-US" dirty="0"/>
              <a:t>の比較</a:t>
            </a:r>
          </a:p>
        </p:txBody>
      </p:sp>
      <p:sp>
        <p:nvSpPr>
          <p:cNvPr id="3" name="テキスト プレースホルダー 2">
            <a:extLst>
              <a:ext uri="{FF2B5EF4-FFF2-40B4-BE49-F238E27FC236}">
                <a16:creationId xmlns:a16="http://schemas.microsoft.com/office/drawing/2014/main" id="{FCDB3F96-A999-38D2-D749-38E35501A123}"/>
              </a:ext>
            </a:extLst>
          </p:cNvPr>
          <p:cNvSpPr>
            <a:spLocks noGrp="1"/>
          </p:cNvSpPr>
          <p:nvPr>
            <p:ph type="body" sz="quarter" idx="10"/>
          </p:nvPr>
        </p:nvSpPr>
        <p:spPr>
          <a:xfrm>
            <a:off x="273050" y="188913"/>
            <a:ext cx="7848600" cy="161583"/>
          </a:xfrm>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grpSp>
        <p:nvGrpSpPr>
          <p:cNvPr id="40" name="グループ化 39">
            <a:extLst>
              <a:ext uri="{FF2B5EF4-FFF2-40B4-BE49-F238E27FC236}">
                <a16:creationId xmlns:a16="http://schemas.microsoft.com/office/drawing/2014/main" id="{D64AB791-34F7-8107-4DCA-4C28136CCEEC}"/>
              </a:ext>
            </a:extLst>
          </p:cNvPr>
          <p:cNvGrpSpPr/>
          <p:nvPr/>
        </p:nvGrpSpPr>
        <p:grpSpPr>
          <a:xfrm>
            <a:off x="447674" y="2198332"/>
            <a:ext cx="9183749" cy="1033788"/>
            <a:chOff x="447674" y="2200275"/>
            <a:chExt cx="9183749" cy="1033788"/>
          </a:xfrm>
        </p:grpSpPr>
        <p:sp>
          <p:nvSpPr>
            <p:cNvPr id="4" name="正方形/長方形 3">
              <a:extLst>
                <a:ext uri="{FF2B5EF4-FFF2-40B4-BE49-F238E27FC236}">
                  <a16:creationId xmlns:a16="http://schemas.microsoft.com/office/drawing/2014/main" id="{43A3496E-71F9-DBA8-6DCF-6E11245B7302}"/>
                </a:ext>
              </a:extLst>
            </p:cNvPr>
            <p:cNvSpPr/>
            <p:nvPr/>
          </p:nvSpPr>
          <p:spPr bwMode="gray">
            <a:xfrm>
              <a:off x="447674" y="2200275"/>
              <a:ext cx="915375" cy="1033788"/>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200" b="0" i="0" u="none" strike="noStrike" kern="0" cap="none" spc="0" normalizeH="0" baseline="0" noProof="0">
                  <a:ln>
                    <a:noFill/>
                  </a:ln>
                  <a:solidFill>
                    <a:prstClr val="black"/>
                  </a:solidFill>
                  <a:effectLst/>
                  <a:uLnTx/>
                  <a:uFillTx/>
                  <a:latin typeface="Yu Gothic UI"/>
                  <a:ea typeface="Yu Gothic UI"/>
                  <a:cs typeface="Arial" charset="0"/>
                </a:rPr>
                <a:t>アーキテクチャ</a:t>
              </a:r>
            </a:p>
          </p:txBody>
        </p:sp>
        <p:sp>
          <p:nvSpPr>
            <p:cNvPr id="5" name="正方形/長方形 4">
              <a:extLst>
                <a:ext uri="{FF2B5EF4-FFF2-40B4-BE49-F238E27FC236}">
                  <a16:creationId xmlns:a16="http://schemas.microsoft.com/office/drawing/2014/main" id="{4DA1217F-537F-87EB-F1DF-FA6093D52DC0}"/>
                </a:ext>
              </a:extLst>
            </p:cNvPr>
            <p:cNvSpPr/>
            <p:nvPr/>
          </p:nvSpPr>
          <p:spPr bwMode="gray">
            <a:xfrm>
              <a:off x="1420662" y="2200275"/>
              <a:ext cx="4067334" cy="103378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発行機関のサーバから資格情報を取得することも可能であるが、その場合、発行者はいつ・誰によって使用されたか知ることができる（事前同意は行う）</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オプションとして証明性の検証用に</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VICAL</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によるルート証明書を配布できる</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失効確認</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a:t>
              </a:r>
              <a:endPar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6" name="正方形/長方形 5">
              <a:extLst>
                <a:ext uri="{FF2B5EF4-FFF2-40B4-BE49-F238E27FC236}">
                  <a16:creationId xmlns:a16="http://schemas.microsoft.com/office/drawing/2014/main" id="{5A8C6F4C-89C1-8274-59F2-77EC2BDB2924}"/>
                </a:ext>
              </a:extLst>
            </p:cNvPr>
            <p:cNvSpPr/>
            <p:nvPr/>
          </p:nvSpPr>
          <p:spPr bwMode="gray">
            <a:xfrm>
              <a:off x="5564089" y="2200275"/>
              <a:ext cx="4067334" cy="1033788"/>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indent="-171450" defTabSz="990564" eaLnBrk="1" fontAlgn="auto" hangingPunct="1">
                <a:spcBef>
                  <a:spcPts val="300"/>
                </a:spcBef>
                <a:spcAft>
                  <a:spcPts val="0"/>
                </a:spcAft>
                <a:buSzPct val="100000"/>
                <a:buFont typeface="Arial" panose="020B0604020202020204" pitchFamily="34" charset="0"/>
                <a:buChar char="•"/>
              </a:pPr>
              <a:r>
                <a:rPr kumimoji="0" lang="en-US" altLang="ja-JP" sz="1200" kern="0" dirty="0">
                  <a:solidFill>
                    <a:prstClr val="black"/>
                  </a:solidFill>
                  <a:latin typeface="Calibri Light"/>
                  <a:ea typeface="Yu Gothic UI"/>
                  <a:cs typeface="Arial" charset="0"/>
                </a:rPr>
                <a:t>VDR</a:t>
              </a:r>
              <a:r>
                <a:rPr kumimoji="0" lang="ja-JP" altLang="en-US" sz="1200" kern="0" dirty="0">
                  <a:solidFill>
                    <a:prstClr val="black"/>
                  </a:solidFill>
                  <a:latin typeface="Calibri Light"/>
                  <a:ea typeface="Yu Gothic UI"/>
                  <a:cs typeface="Arial" charset="0"/>
                </a:rPr>
                <a:t>に検証のためのメタ情報を格納し、所有者のデバイスに資格情報を格納することが前提</a:t>
              </a:r>
              <a:endParaRPr kumimoji="0" lang="en-US" altLang="ja-JP" sz="1200" kern="0" dirty="0">
                <a:solidFill>
                  <a:prstClr val="black"/>
                </a:solidFill>
                <a:latin typeface="Calibri Light"/>
                <a:ea typeface="Yu Gothic UI"/>
                <a:cs typeface="Arial" charset="0"/>
              </a:endParaRPr>
            </a:p>
          </p:txBody>
        </p:sp>
      </p:grpSp>
      <p:grpSp>
        <p:nvGrpSpPr>
          <p:cNvPr id="39" name="グループ化 38">
            <a:extLst>
              <a:ext uri="{FF2B5EF4-FFF2-40B4-BE49-F238E27FC236}">
                <a16:creationId xmlns:a16="http://schemas.microsoft.com/office/drawing/2014/main" id="{81D9D3FC-9806-0E28-680A-D4E7B4E46C79}"/>
              </a:ext>
            </a:extLst>
          </p:cNvPr>
          <p:cNvGrpSpPr/>
          <p:nvPr/>
        </p:nvGrpSpPr>
        <p:grpSpPr>
          <a:xfrm>
            <a:off x="447674" y="3273999"/>
            <a:ext cx="9183749" cy="660573"/>
            <a:chOff x="447674" y="3269008"/>
            <a:chExt cx="9183749" cy="660573"/>
          </a:xfrm>
        </p:grpSpPr>
        <p:sp>
          <p:nvSpPr>
            <p:cNvPr id="7" name="正方形/長方形 6">
              <a:extLst>
                <a:ext uri="{FF2B5EF4-FFF2-40B4-BE49-F238E27FC236}">
                  <a16:creationId xmlns:a16="http://schemas.microsoft.com/office/drawing/2014/main" id="{2EB0FDE6-C5B7-83D9-ECC3-79E606F97485}"/>
                </a:ext>
              </a:extLst>
            </p:cNvPr>
            <p:cNvSpPr/>
            <p:nvPr/>
          </p:nvSpPr>
          <p:spPr bwMode="gray">
            <a:xfrm>
              <a:off x="447674" y="3269008"/>
              <a:ext cx="915375" cy="649304"/>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200" b="0" i="0" u="none" strike="noStrike" kern="0" cap="none" spc="0" normalizeH="0" baseline="0" noProof="0">
                  <a:ln>
                    <a:noFill/>
                  </a:ln>
                  <a:solidFill>
                    <a:prstClr val="black"/>
                  </a:solidFill>
                  <a:effectLst/>
                  <a:uLnTx/>
                  <a:uFillTx/>
                  <a:latin typeface="Yu Gothic UI"/>
                  <a:ea typeface="Yu Gothic UI"/>
                  <a:cs typeface="Arial" charset="0"/>
                </a:rPr>
                <a:t>データモデル</a:t>
              </a:r>
            </a:p>
          </p:txBody>
        </p:sp>
        <p:sp>
          <p:nvSpPr>
            <p:cNvPr id="8" name="正方形/長方形 7">
              <a:extLst>
                <a:ext uri="{FF2B5EF4-FFF2-40B4-BE49-F238E27FC236}">
                  <a16:creationId xmlns:a16="http://schemas.microsoft.com/office/drawing/2014/main" id="{FA3E4310-928D-B4BB-0697-53A3E5D8DE07}"/>
                </a:ext>
              </a:extLst>
            </p:cNvPr>
            <p:cNvSpPr/>
            <p:nvPr/>
          </p:nvSpPr>
          <p:spPr bwMode="gray">
            <a:xfrm>
              <a:off x="1420662" y="3275156"/>
              <a:ext cx="4067334" cy="654425"/>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データモデルとして規定された用途</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運転免許</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がある</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フォーマットは</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CBOR(※)</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または</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JSON</a:t>
              </a: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基本名前空間と拡張用名前空間を持つ</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9" name="正方形/長方形 8">
              <a:extLst>
                <a:ext uri="{FF2B5EF4-FFF2-40B4-BE49-F238E27FC236}">
                  <a16:creationId xmlns:a16="http://schemas.microsoft.com/office/drawing/2014/main" id="{D1A384C4-8E33-AD88-9C99-8F8F6CAFD55C}"/>
                </a:ext>
              </a:extLst>
            </p:cNvPr>
            <p:cNvSpPr/>
            <p:nvPr/>
          </p:nvSpPr>
          <p:spPr bwMode="gray">
            <a:xfrm>
              <a:off x="5564089" y="3269008"/>
              <a:ext cx="4067334" cy="649304"/>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汎用的なモデルとして定義されている</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基本的な資格項目は存在しない</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JSONLD</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または</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JSON</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が標準である</a:t>
              </a:r>
              <a:r>
                <a:rPr kumimoji="0" lang="ja-JP" altLang="en-US" sz="1200" kern="0" dirty="0">
                  <a:solidFill>
                    <a:prstClr val="black"/>
                  </a:solidFill>
                  <a:latin typeface="Calibri Light"/>
                  <a:ea typeface="Yu Gothic UI"/>
                  <a:cs typeface="Arial" charset="0"/>
                </a:rPr>
                <a:t>が</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、他の形式でも利用可能</a:t>
              </a:r>
            </a:p>
          </p:txBody>
        </p:sp>
      </p:grpSp>
      <p:grpSp>
        <p:nvGrpSpPr>
          <p:cNvPr id="38" name="グループ化 37">
            <a:extLst>
              <a:ext uri="{FF2B5EF4-FFF2-40B4-BE49-F238E27FC236}">
                <a16:creationId xmlns:a16="http://schemas.microsoft.com/office/drawing/2014/main" id="{9BEFAB06-FF66-FB42-FC25-7851755174D3}"/>
              </a:ext>
            </a:extLst>
          </p:cNvPr>
          <p:cNvGrpSpPr/>
          <p:nvPr/>
        </p:nvGrpSpPr>
        <p:grpSpPr>
          <a:xfrm>
            <a:off x="447674" y="3952387"/>
            <a:ext cx="9183749" cy="789379"/>
            <a:chOff x="447674" y="3952875"/>
            <a:chExt cx="9183749" cy="789379"/>
          </a:xfrm>
        </p:grpSpPr>
        <p:sp>
          <p:nvSpPr>
            <p:cNvPr id="10" name="正方形/長方形 9">
              <a:extLst>
                <a:ext uri="{FF2B5EF4-FFF2-40B4-BE49-F238E27FC236}">
                  <a16:creationId xmlns:a16="http://schemas.microsoft.com/office/drawing/2014/main" id="{6DBAB6A7-D261-C183-2AC2-F3215A260DE8}"/>
                </a:ext>
              </a:extLst>
            </p:cNvPr>
            <p:cNvSpPr/>
            <p:nvPr/>
          </p:nvSpPr>
          <p:spPr bwMode="gray">
            <a:xfrm>
              <a:off x="447674" y="3952875"/>
              <a:ext cx="915375" cy="789379"/>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200" b="0" i="0" u="none" strike="noStrike" kern="0" cap="none" spc="0" normalizeH="0" baseline="0" noProof="0" dirty="0">
                  <a:ln>
                    <a:noFill/>
                  </a:ln>
                  <a:solidFill>
                    <a:prstClr val="black"/>
                  </a:solidFill>
                  <a:effectLst/>
                  <a:uLnTx/>
                  <a:uFillTx/>
                  <a:latin typeface="Yu Gothic UI"/>
                  <a:ea typeface="Yu Gothic UI"/>
                  <a:cs typeface="Arial" charset="0"/>
                </a:rPr>
                <a:t>通信プロトコル</a:t>
              </a:r>
            </a:p>
          </p:txBody>
        </p:sp>
        <p:sp>
          <p:nvSpPr>
            <p:cNvPr id="11" name="正方形/長方形 10">
              <a:extLst>
                <a:ext uri="{FF2B5EF4-FFF2-40B4-BE49-F238E27FC236}">
                  <a16:creationId xmlns:a16="http://schemas.microsoft.com/office/drawing/2014/main" id="{604E6AA9-DB22-FB8B-D33B-6EF83C53A73F}"/>
                </a:ext>
              </a:extLst>
            </p:cNvPr>
            <p:cNvSpPr/>
            <p:nvPr/>
          </p:nvSpPr>
          <p:spPr bwMode="gray">
            <a:xfrm>
              <a:off x="1420662" y="3952875"/>
              <a:ext cx="4067334" cy="789379"/>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err="1">
                  <a:ln>
                    <a:noFill/>
                  </a:ln>
                  <a:solidFill>
                    <a:prstClr val="black"/>
                  </a:solidFill>
                  <a:effectLst/>
                  <a:uLnTx/>
                  <a:uFillTx/>
                  <a:latin typeface="Calibri Light"/>
                  <a:ea typeface="Yu Gothic UI"/>
                  <a:cs typeface="Arial" charset="0"/>
                </a:rPr>
                <a:t>mDL</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とリーダー、発行機関とリーダーとの</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I/F</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を明確に定義</a:t>
              </a:r>
              <a:br>
                <a:rPr kumimoji="0" lang="en-US" altLang="ja-JP" sz="1200" kern="0" dirty="0">
                  <a:solidFill>
                    <a:prstClr val="black"/>
                  </a:solidFill>
                  <a:latin typeface="Calibri Light"/>
                  <a:ea typeface="Yu Gothic UI"/>
                  <a:cs typeface="Arial" charset="0"/>
                </a:rPr>
              </a:b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デバイス接続：</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NFC</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または</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QR</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を使用、通信</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I/F</a:t>
              </a:r>
              <a:r>
                <a:rPr kumimoji="0" lang="ja-JP" altLang="en-US" sz="1200" kern="0" dirty="0">
                  <a:solidFill>
                    <a:prstClr val="black"/>
                  </a:solidFill>
                  <a:latin typeface="Calibri Light"/>
                  <a:ea typeface="Yu Gothic UI"/>
                  <a:cs typeface="Arial" charset="0"/>
                </a:rPr>
                <a:t>：</a:t>
              </a:r>
              <a:r>
                <a:rPr kumimoji="0" lang="en-US" altLang="ja-JP" sz="1200" b="0" i="0" u="none" strike="noStrike" kern="0" cap="none" spc="0" normalizeH="0" baseline="0" noProof="0" dirty="0" err="1">
                  <a:ln>
                    <a:noFill/>
                  </a:ln>
                  <a:solidFill>
                    <a:prstClr val="black"/>
                  </a:solidFill>
                  <a:effectLst/>
                  <a:uLnTx/>
                  <a:uFillTx/>
                  <a:latin typeface="Calibri Light"/>
                  <a:ea typeface="Yu Gothic UI"/>
                  <a:cs typeface="Arial" charset="0"/>
                </a:rPr>
                <a:t>WiFi</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BLE</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NFC</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を使用</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a:t>
              </a: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サーバアクセスは</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API/OIDC</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のエンドポイント使用</a:t>
              </a:r>
            </a:p>
          </p:txBody>
        </p:sp>
        <p:sp>
          <p:nvSpPr>
            <p:cNvPr id="12" name="正方形/長方形 11">
              <a:extLst>
                <a:ext uri="{FF2B5EF4-FFF2-40B4-BE49-F238E27FC236}">
                  <a16:creationId xmlns:a16="http://schemas.microsoft.com/office/drawing/2014/main" id="{78ECBAEA-3BE2-02CA-34AC-4F8ACE90941F}"/>
                </a:ext>
              </a:extLst>
            </p:cNvPr>
            <p:cNvSpPr/>
            <p:nvPr/>
          </p:nvSpPr>
          <p:spPr bwMode="gray">
            <a:xfrm>
              <a:off x="5564089" y="3952875"/>
              <a:ext cx="4067334" cy="789379"/>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資格情報の交換に必要なインターフェイスは定義されていない</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p:txBody>
        </p:sp>
      </p:grpSp>
      <p:grpSp>
        <p:nvGrpSpPr>
          <p:cNvPr id="36" name="グループ化 35">
            <a:extLst>
              <a:ext uri="{FF2B5EF4-FFF2-40B4-BE49-F238E27FC236}">
                <a16:creationId xmlns:a16="http://schemas.microsoft.com/office/drawing/2014/main" id="{9C124E08-7132-20DB-E7CF-6C20F73535C5}"/>
              </a:ext>
            </a:extLst>
          </p:cNvPr>
          <p:cNvGrpSpPr/>
          <p:nvPr/>
        </p:nvGrpSpPr>
        <p:grpSpPr>
          <a:xfrm>
            <a:off x="283050" y="5522615"/>
            <a:ext cx="9348373" cy="920900"/>
            <a:chOff x="283050" y="5532381"/>
            <a:chExt cx="9348373" cy="865123"/>
          </a:xfrm>
        </p:grpSpPr>
        <p:sp>
          <p:nvSpPr>
            <p:cNvPr id="17" name="正方形/長方形 16">
              <a:extLst>
                <a:ext uri="{FF2B5EF4-FFF2-40B4-BE49-F238E27FC236}">
                  <a16:creationId xmlns:a16="http://schemas.microsoft.com/office/drawing/2014/main" id="{B3E28460-EA0B-3D34-4927-A664C32B7667}"/>
                </a:ext>
              </a:extLst>
            </p:cNvPr>
            <p:cNvSpPr/>
            <p:nvPr/>
          </p:nvSpPr>
          <p:spPr bwMode="gray">
            <a:xfrm>
              <a:off x="283050" y="5532381"/>
              <a:ext cx="1080000" cy="864662"/>
            </a:xfrm>
            <a:prstGeom prst="rect">
              <a:avLst/>
            </a:prstGeom>
            <a:solidFill>
              <a:srgbClr val="53565A">
                <a:lumMod val="20000"/>
                <a:lumOff val="80000"/>
              </a:srgbClr>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200" b="0" i="0" u="none" strike="noStrike" kern="0" cap="none" spc="0" normalizeH="0" baseline="0" noProof="0" dirty="0">
                  <a:ln>
                    <a:noFill/>
                  </a:ln>
                  <a:solidFill>
                    <a:prstClr val="black"/>
                  </a:solidFill>
                  <a:effectLst/>
                  <a:uLnTx/>
                  <a:uFillTx/>
                  <a:latin typeface="Yu Gothic UI"/>
                  <a:ea typeface="Yu Gothic UI"/>
                  <a:cs typeface="Arial" charset="0"/>
                </a:rPr>
                <a:t>共通事項</a:t>
              </a:r>
            </a:p>
          </p:txBody>
        </p:sp>
        <p:sp>
          <p:nvSpPr>
            <p:cNvPr id="13" name="正方形/長方形 12">
              <a:extLst>
                <a:ext uri="{FF2B5EF4-FFF2-40B4-BE49-F238E27FC236}">
                  <a16:creationId xmlns:a16="http://schemas.microsoft.com/office/drawing/2014/main" id="{C96DA012-DE26-96C2-9360-FB487FD0F291}"/>
                </a:ext>
              </a:extLst>
            </p:cNvPr>
            <p:cNvSpPr/>
            <p:nvPr/>
          </p:nvSpPr>
          <p:spPr bwMode="gray">
            <a:xfrm>
              <a:off x="1420662" y="5532842"/>
              <a:ext cx="8210761" cy="864662"/>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effectLst/>
                  <a:uLnTx/>
                  <a:uFillTx/>
                  <a:latin typeface="Calibri Light"/>
                  <a:ea typeface="Yu Gothic UI"/>
                  <a:cs typeface="Arial" charset="0"/>
                </a:rPr>
                <a:t>発行した資格情報を所有者の管理下にあるデバイスまたはレジストリに格納する</a:t>
              </a:r>
              <a:endParaRPr kumimoji="0" lang="en-US" altLang="ja-JP" sz="1200" b="0" i="0" u="none" strike="noStrike" kern="0" cap="none" spc="0" normalizeH="0" baseline="0" noProof="0" dirty="0">
                <a:ln>
                  <a:noFill/>
                </a:ln>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effectLst/>
                  <a:uLnTx/>
                  <a:uFillTx/>
                  <a:latin typeface="Calibri Light"/>
                  <a:ea typeface="Yu Gothic UI"/>
                  <a:cs typeface="Arial" charset="0"/>
                </a:rPr>
                <a:t>資格情報は完全に所有者に制御されて、検証者に提供する判断は所有者にある</a:t>
              </a:r>
              <a:endParaRPr kumimoji="0" lang="en-US" altLang="ja-JP" sz="1200" b="0" i="0" u="none" strike="noStrike" kern="0" cap="none" spc="0" normalizeH="0" baseline="0" noProof="0" dirty="0">
                <a:ln>
                  <a:noFill/>
                </a:ln>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effectLst/>
                  <a:uLnTx/>
                  <a:uFillTx/>
                  <a:latin typeface="Calibri Light"/>
                  <a:ea typeface="Yu Gothic UI"/>
                  <a:cs typeface="Arial" charset="0"/>
                </a:rPr>
                <a:t>発行者は所有者の同意なしに、認証情報を検証者に直接公開できない</a:t>
              </a:r>
              <a:endParaRPr kumimoji="0" lang="en-US" altLang="ja-JP" sz="1200" b="0" i="0" u="none" strike="noStrike" kern="0" cap="none" spc="0" normalizeH="0" baseline="0" noProof="0" dirty="0">
                <a:ln>
                  <a:noFill/>
                </a:ln>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effectLst/>
                  <a:uLnTx/>
                  <a:uFillTx/>
                  <a:latin typeface="Calibri Light"/>
                  <a:ea typeface="Yu Gothic UI"/>
                  <a:cs typeface="Arial" charset="0"/>
                </a:rPr>
                <a:t>所有者がいつ・どこで</a:t>
              </a:r>
              <a:r>
                <a:rPr kumimoji="0" lang="en-US" altLang="ja-JP" sz="1200" b="0" i="0" u="none" strike="noStrike" kern="0" cap="none" spc="0" normalizeH="0" baseline="0" noProof="0" dirty="0" err="1">
                  <a:ln>
                    <a:noFill/>
                  </a:ln>
                  <a:effectLst/>
                  <a:uLnTx/>
                  <a:uFillTx/>
                  <a:latin typeface="Calibri Light"/>
                  <a:ea typeface="Yu Gothic UI"/>
                  <a:cs typeface="Arial" charset="0"/>
                </a:rPr>
                <a:t>mDL</a:t>
              </a:r>
              <a:r>
                <a:rPr kumimoji="0" lang="ja-JP" altLang="en-US" sz="1200" b="0" i="0" u="none" strike="noStrike" kern="0" cap="none" spc="0" normalizeH="0" baseline="0" noProof="0" dirty="0">
                  <a:ln>
                    <a:noFill/>
                  </a:ln>
                  <a:effectLst/>
                  <a:uLnTx/>
                  <a:uFillTx/>
                  <a:latin typeface="Calibri Light"/>
                  <a:ea typeface="Yu Gothic UI"/>
                  <a:cs typeface="Arial" charset="0"/>
                </a:rPr>
                <a:t>を使用するか発行者・検証者は認識できない</a:t>
              </a:r>
              <a:endParaRPr kumimoji="0" lang="en-US" altLang="ja-JP" sz="1200" b="0" i="0" u="none" strike="noStrike" kern="0" cap="none" spc="0" normalizeH="0" baseline="0" noProof="0" dirty="0">
                <a:ln>
                  <a:noFill/>
                </a:ln>
                <a:effectLst/>
                <a:uLnTx/>
                <a:uFillTx/>
                <a:latin typeface="Calibri Light"/>
                <a:ea typeface="Yu Gothic UI"/>
                <a:cs typeface="Arial" charset="0"/>
              </a:endParaRPr>
            </a:p>
          </p:txBody>
        </p:sp>
      </p:grpSp>
      <p:grpSp>
        <p:nvGrpSpPr>
          <p:cNvPr id="37" name="グループ化 36">
            <a:extLst>
              <a:ext uri="{FF2B5EF4-FFF2-40B4-BE49-F238E27FC236}">
                <a16:creationId xmlns:a16="http://schemas.microsoft.com/office/drawing/2014/main" id="{36F88B37-A7E1-FC9B-7C33-17C41896D175}"/>
              </a:ext>
            </a:extLst>
          </p:cNvPr>
          <p:cNvGrpSpPr/>
          <p:nvPr/>
        </p:nvGrpSpPr>
        <p:grpSpPr>
          <a:xfrm>
            <a:off x="447674" y="4771614"/>
            <a:ext cx="9183749" cy="711404"/>
            <a:chOff x="447674" y="4794430"/>
            <a:chExt cx="9183749" cy="705900"/>
          </a:xfrm>
        </p:grpSpPr>
        <p:sp>
          <p:nvSpPr>
            <p:cNvPr id="14" name="正方形/長方形 13">
              <a:extLst>
                <a:ext uri="{FF2B5EF4-FFF2-40B4-BE49-F238E27FC236}">
                  <a16:creationId xmlns:a16="http://schemas.microsoft.com/office/drawing/2014/main" id="{002DC3F3-3A18-B39E-9CD7-E79F2E4B6646}"/>
                </a:ext>
              </a:extLst>
            </p:cNvPr>
            <p:cNvSpPr/>
            <p:nvPr/>
          </p:nvSpPr>
          <p:spPr bwMode="gray">
            <a:xfrm>
              <a:off x="447674" y="4794430"/>
              <a:ext cx="915375" cy="705900"/>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200" b="0" i="0" u="none" strike="noStrike" kern="0" cap="none" spc="0" normalizeH="0" baseline="0" noProof="0">
                  <a:ln>
                    <a:noFill/>
                  </a:ln>
                  <a:solidFill>
                    <a:prstClr val="black"/>
                  </a:solidFill>
                  <a:effectLst/>
                  <a:uLnTx/>
                  <a:uFillTx/>
                  <a:latin typeface="Yu Gothic UI"/>
                  <a:ea typeface="Yu Gothic UI"/>
                  <a:cs typeface="Arial" charset="0"/>
                </a:rPr>
                <a:t>セキュリティ</a:t>
              </a:r>
            </a:p>
          </p:txBody>
        </p:sp>
        <p:sp>
          <p:nvSpPr>
            <p:cNvPr id="15" name="正方形/長方形 14">
              <a:extLst>
                <a:ext uri="{FF2B5EF4-FFF2-40B4-BE49-F238E27FC236}">
                  <a16:creationId xmlns:a16="http://schemas.microsoft.com/office/drawing/2014/main" id="{8C100139-FE00-FD80-4D9E-B7613CA4201A}"/>
                </a:ext>
              </a:extLst>
            </p:cNvPr>
            <p:cNvSpPr/>
            <p:nvPr/>
          </p:nvSpPr>
          <p:spPr bwMode="gray">
            <a:xfrm>
              <a:off x="1420662" y="4794430"/>
              <a:ext cx="4067334" cy="705900"/>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effectLst/>
                  <a:uLnTx/>
                  <a:uFillTx/>
                  <a:latin typeface="Calibri Light"/>
                  <a:ea typeface="Yu Gothic UI"/>
                  <a:cs typeface="Arial" charset="0"/>
                </a:rPr>
                <a:t>セッション暗号化（</a:t>
              </a:r>
              <a:r>
                <a:rPr kumimoji="0" lang="en-US" altLang="ja-JP" sz="1200" b="0" i="0" u="none" strike="noStrike" kern="0" cap="none" spc="0" normalizeH="0" baseline="0" noProof="0" dirty="0">
                  <a:ln>
                    <a:noFill/>
                  </a:ln>
                  <a:effectLst/>
                  <a:uLnTx/>
                  <a:uFillTx/>
                  <a:latin typeface="Calibri Light"/>
                  <a:ea typeface="Yu Gothic UI"/>
                  <a:cs typeface="Arial" charset="0"/>
                </a:rPr>
                <a:t>AES</a:t>
              </a:r>
              <a:r>
                <a:rPr kumimoji="0" lang="ja-JP" altLang="en-US" sz="1200" b="0" i="0" u="none" strike="noStrike" kern="0" cap="none" spc="0" normalizeH="0" baseline="0" noProof="0" dirty="0">
                  <a:ln>
                    <a:noFill/>
                  </a:ln>
                  <a:effectLst/>
                  <a:uLnTx/>
                  <a:uFillTx/>
                  <a:latin typeface="Calibri Light"/>
                  <a:ea typeface="Yu Gothic UI"/>
                  <a:cs typeface="Arial" charset="0"/>
                </a:rPr>
                <a:t>）</a:t>
              </a:r>
              <a:endParaRPr kumimoji="0" lang="en-US" altLang="ja-JP" sz="1200" b="0" i="0" u="none" strike="noStrike" kern="0" cap="none" spc="0" normalizeH="0" baseline="0" noProof="0" dirty="0">
                <a:ln>
                  <a:noFill/>
                </a:ln>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en-US" altLang="ja-JP" sz="1200" b="0" i="0" u="none" strike="noStrike" kern="0" cap="none" spc="0" normalizeH="0" baseline="0" noProof="0" dirty="0">
                  <a:ln>
                    <a:noFill/>
                  </a:ln>
                  <a:effectLst/>
                  <a:uLnTx/>
                  <a:uFillTx/>
                  <a:latin typeface="Calibri Light"/>
                  <a:ea typeface="Yu Gothic UI"/>
                  <a:cs typeface="Arial" charset="0"/>
                </a:rPr>
                <a:t>MSO(Mobile Security Object)</a:t>
              </a:r>
              <a:r>
                <a:rPr kumimoji="0" lang="ja-JP" altLang="en-US" sz="1200" kern="0" dirty="0">
                  <a:latin typeface="Calibri Light"/>
                  <a:ea typeface="Yu Gothic UI"/>
                  <a:cs typeface="Arial" charset="0"/>
                </a:rPr>
                <a:t>に格納された情報に付与したデジタル</a:t>
              </a:r>
              <a:r>
                <a:rPr kumimoji="0" lang="ja-JP" altLang="en-US" sz="1200" b="0" i="0" u="none" strike="noStrike" kern="0" cap="none" spc="0" normalizeH="0" baseline="0" noProof="0" dirty="0">
                  <a:ln>
                    <a:noFill/>
                  </a:ln>
                  <a:effectLst/>
                  <a:uLnTx/>
                  <a:uFillTx/>
                  <a:latin typeface="Calibri Light"/>
                  <a:ea typeface="Yu Gothic UI"/>
                  <a:cs typeface="Arial" charset="0"/>
                </a:rPr>
                <a:t>署名を検証</a:t>
              </a:r>
              <a:endParaRPr kumimoji="0" lang="en-US" altLang="ja-JP" sz="1200" b="0" i="0" u="none" strike="noStrike" kern="0" cap="none" spc="0" normalizeH="0" baseline="0" noProof="0" dirty="0">
                <a:ln>
                  <a:noFill/>
                </a:ln>
                <a:effectLst/>
                <a:uLnTx/>
                <a:uFillTx/>
                <a:latin typeface="Calibri Light"/>
                <a:ea typeface="Yu Gothic UI"/>
                <a:cs typeface="Arial" charset="0"/>
              </a:endParaRPr>
            </a:p>
          </p:txBody>
        </p:sp>
        <p:sp>
          <p:nvSpPr>
            <p:cNvPr id="16" name="正方形/長方形 15">
              <a:extLst>
                <a:ext uri="{FF2B5EF4-FFF2-40B4-BE49-F238E27FC236}">
                  <a16:creationId xmlns:a16="http://schemas.microsoft.com/office/drawing/2014/main" id="{6C25C6F7-1B46-C54D-940F-7E658EBAB7BA}"/>
                </a:ext>
              </a:extLst>
            </p:cNvPr>
            <p:cNvSpPr/>
            <p:nvPr/>
          </p:nvSpPr>
          <p:spPr bwMode="gray">
            <a:xfrm>
              <a:off x="5564089" y="4794430"/>
              <a:ext cx="4067334" cy="705900"/>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特定形式のデジタル署名は未定義</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a:p>
              <a:pPr marL="171450" marR="0" lvl="0" indent="-171450" defTabSz="990564" eaLnBrk="1" fontAlgn="auto" latinLnBrk="0" hangingPunct="1">
                <a:lnSpc>
                  <a:spcPct val="100000"/>
                </a:lnSpc>
                <a:spcBef>
                  <a:spcPts val="300"/>
                </a:spcBef>
                <a:spcAft>
                  <a:spcPts val="0"/>
                </a:spcAft>
                <a:buClrTx/>
                <a:buSzPct val="100000"/>
                <a:buFont typeface="Arial" panose="020B0604020202020204" pitchFamily="34" charset="0"/>
                <a:buChar char="•"/>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全てのエンティティが</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VDR</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を信頼する必要がある。ただし、</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VDR</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に必要な条件は規定されていない</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p:txBody>
        </p:sp>
      </p:grpSp>
      <p:grpSp>
        <p:nvGrpSpPr>
          <p:cNvPr id="25" name="グループ化 24">
            <a:extLst>
              <a:ext uri="{FF2B5EF4-FFF2-40B4-BE49-F238E27FC236}">
                <a16:creationId xmlns:a16="http://schemas.microsoft.com/office/drawing/2014/main" id="{D42DC326-5590-2029-A2CD-B2094E772BF8}"/>
              </a:ext>
            </a:extLst>
          </p:cNvPr>
          <p:cNvGrpSpPr/>
          <p:nvPr/>
        </p:nvGrpSpPr>
        <p:grpSpPr>
          <a:xfrm>
            <a:off x="1420663" y="1374983"/>
            <a:ext cx="8212286" cy="195519"/>
            <a:chOff x="1420663" y="1309158"/>
            <a:chExt cx="8212286" cy="195519"/>
          </a:xfrm>
        </p:grpSpPr>
        <p:sp>
          <p:nvSpPr>
            <p:cNvPr id="18" name="正方形/長方形 17">
              <a:extLst>
                <a:ext uri="{FF2B5EF4-FFF2-40B4-BE49-F238E27FC236}">
                  <a16:creationId xmlns:a16="http://schemas.microsoft.com/office/drawing/2014/main" id="{4C995C9D-D488-4FC4-2EBD-555C1BD51408}"/>
                </a:ext>
              </a:extLst>
            </p:cNvPr>
            <p:cNvSpPr/>
            <p:nvPr/>
          </p:nvSpPr>
          <p:spPr bwMode="gray">
            <a:xfrm>
              <a:off x="1420663" y="1309158"/>
              <a:ext cx="4067333" cy="195519"/>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0" i="0" u="none" strike="noStrike" kern="0" cap="none" spc="0" normalizeH="0" baseline="0" noProof="0" err="1">
                  <a:ln>
                    <a:noFill/>
                  </a:ln>
                  <a:solidFill>
                    <a:prstClr val="white"/>
                  </a:solidFill>
                  <a:effectLst/>
                  <a:uLnTx/>
                  <a:uFillTx/>
                  <a:latin typeface="Yu Gothic UI"/>
                  <a:ea typeface="Yu Gothic UI"/>
                  <a:cs typeface="Arial" charset="0"/>
                </a:rPr>
                <a:t>mDL</a:t>
              </a:r>
              <a:endParaRPr kumimoji="0" lang="ja-JP" altLang="en-US" sz="1200" b="0" i="0" u="none" strike="noStrike" kern="0" cap="none" spc="0" normalizeH="0" baseline="0" noProof="0">
                <a:ln>
                  <a:noFill/>
                </a:ln>
                <a:solidFill>
                  <a:prstClr val="white"/>
                </a:solidFill>
                <a:effectLst/>
                <a:uLnTx/>
                <a:uFillTx/>
                <a:latin typeface="Yu Gothic UI"/>
                <a:ea typeface="Yu Gothic UI"/>
                <a:cs typeface="Arial" charset="0"/>
              </a:endParaRPr>
            </a:p>
          </p:txBody>
        </p:sp>
        <p:sp>
          <p:nvSpPr>
            <p:cNvPr id="19" name="正方形/長方形 18">
              <a:extLst>
                <a:ext uri="{FF2B5EF4-FFF2-40B4-BE49-F238E27FC236}">
                  <a16:creationId xmlns:a16="http://schemas.microsoft.com/office/drawing/2014/main" id="{73416C3A-92CC-16D8-84C3-2F11DC1F91D6}"/>
                </a:ext>
              </a:extLst>
            </p:cNvPr>
            <p:cNvSpPr/>
            <p:nvPr/>
          </p:nvSpPr>
          <p:spPr bwMode="gray">
            <a:xfrm>
              <a:off x="5564089" y="1309158"/>
              <a:ext cx="4068860" cy="195519"/>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0" i="0" u="none" strike="noStrike" kern="0" cap="none" spc="0" normalizeH="0" baseline="0" noProof="0">
                  <a:ln>
                    <a:noFill/>
                  </a:ln>
                  <a:solidFill>
                    <a:prstClr val="white"/>
                  </a:solidFill>
                  <a:effectLst/>
                  <a:uLnTx/>
                  <a:uFillTx/>
                  <a:latin typeface="Yu Gothic UI"/>
                  <a:ea typeface="Yu Gothic UI"/>
                  <a:cs typeface="Arial" charset="0"/>
                </a:rPr>
                <a:t>VC</a:t>
              </a:r>
              <a:endParaRPr kumimoji="0" lang="ja-JP" altLang="en-US" sz="1200" b="0" i="0" u="none" strike="noStrike" kern="0" cap="none" spc="0" normalizeH="0" baseline="0" noProof="0">
                <a:ln>
                  <a:noFill/>
                </a:ln>
                <a:solidFill>
                  <a:prstClr val="white"/>
                </a:solidFill>
                <a:effectLst/>
                <a:uLnTx/>
                <a:uFillTx/>
                <a:latin typeface="Yu Gothic UI"/>
                <a:ea typeface="Yu Gothic UI"/>
                <a:cs typeface="Arial" charset="0"/>
              </a:endParaRPr>
            </a:p>
          </p:txBody>
        </p:sp>
      </p:grpSp>
      <p:grpSp>
        <p:nvGrpSpPr>
          <p:cNvPr id="23" name="グループ化 22">
            <a:extLst>
              <a:ext uri="{FF2B5EF4-FFF2-40B4-BE49-F238E27FC236}">
                <a16:creationId xmlns:a16="http://schemas.microsoft.com/office/drawing/2014/main" id="{E83B9508-7900-4A3D-BAAA-A037A1797C8B}"/>
              </a:ext>
            </a:extLst>
          </p:cNvPr>
          <p:cNvGrpSpPr/>
          <p:nvPr/>
        </p:nvGrpSpPr>
        <p:grpSpPr>
          <a:xfrm>
            <a:off x="283050" y="1604033"/>
            <a:ext cx="9348373" cy="564452"/>
            <a:chOff x="283050" y="1534742"/>
            <a:chExt cx="9348373" cy="637942"/>
          </a:xfrm>
        </p:grpSpPr>
        <p:sp>
          <p:nvSpPr>
            <p:cNvPr id="20" name="正方形/長方形 19">
              <a:extLst>
                <a:ext uri="{FF2B5EF4-FFF2-40B4-BE49-F238E27FC236}">
                  <a16:creationId xmlns:a16="http://schemas.microsoft.com/office/drawing/2014/main" id="{0B0B3404-69F6-1CF2-A289-F1F42ABA46D7}"/>
                </a:ext>
              </a:extLst>
            </p:cNvPr>
            <p:cNvSpPr/>
            <p:nvPr/>
          </p:nvSpPr>
          <p:spPr bwMode="gray">
            <a:xfrm>
              <a:off x="283050" y="1534742"/>
              <a:ext cx="1080000" cy="637942"/>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200" b="1" kern="0" dirty="0">
                  <a:solidFill>
                    <a:prstClr val="white"/>
                  </a:solidFill>
                  <a:latin typeface="Yu Gothic UI"/>
                  <a:ea typeface="Yu Gothic UI"/>
                  <a:cs typeface="Arial" charset="0"/>
                </a:rPr>
                <a:t>サマリ</a:t>
              </a:r>
              <a:endParaRPr kumimoji="0" lang="ja-JP" altLang="en-US" sz="1200" b="1" i="0" u="none" strike="noStrike" kern="0" cap="none" spc="0" normalizeH="0" baseline="0" noProof="0" dirty="0">
                <a:ln>
                  <a:noFill/>
                </a:ln>
                <a:solidFill>
                  <a:prstClr val="white"/>
                </a:solidFill>
                <a:effectLst/>
                <a:uLnTx/>
                <a:uFillTx/>
                <a:latin typeface="Yu Gothic UI"/>
                <a:ea typeface="Yu Gothic UI"/>
                <a:cs typeface="Arial" charset="0"/>
              </a:endParaRPr>
            </a:p>
          </p:txBody>
        </p:sp>
        <p:sp>
          <p:nvSpPr>
            <p:cNvPr id="21" name="正方形/長方形 20">
              <a:extLst>
                <a:ext uri="{FF2B5EF4-FFF2-40B4-BE49-F238E27FC236}">
                  <a16:creationId xmlns:a16="http://schemas.microsoft.com/office/drawing/2014/main" id="{D5AAC86A-B322-2C83-EFEB-406D6FE1257A}"/>
                </a:ext>
              </a:extLst>
            </p:cNvPr>
            <p:cNvSpPr/>
            <p:nvPr/>
          </p:nvSpPr>
          <p:spPr bwMode="gray">
            <a:xfrm>
              <a:off x="1420662" y="1534742"/>
              <a:ext cx="4067334" cy="637942"/>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0" marR="0" lvl="0" indent="0" defTabSz="990564" eaLnBrk="1" fontAlgn="auto" latinLnBrk="0" hangingPunct="1">
                <a:lnSpc>
                  <a:spcPct val="100000"/>
                </a:lnSpc>
                <a:spcBef>
                  <a:spcPts val="300"/>
                </a:spcBef>
                <a:spcAft>
                  <a:spcPts val="0"/>
                </a:spcAft>
                <a:buClrTx/>
                <a:buSzPct val="100000"/>
                <a:buFontTx/>
                <a:buNone/>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各エンティティの役割、処理フロー、データモデル（基本項目）からハードウェア、通信規格まで厳密に決められており、最低限のサービスの互換性を担保</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22" name="正方形/長方形 21">
              <a:extLst>
                <a:ext uri="{FF2B5EF4-FFF2-40B4-BE49-F238E27FC236}">
                  <a16:creationId xmlns:a16="http://schemas.microsoft.com/office/drawing/2014/main" id="{10091DA3-540D-F7C4-05D2-980182DD2F3C}"/>
                </a:ext>
              </a:extLst>
            </p:cNvPr>
            <p:cNvSpPr/>
            <p:nvPr/>
          </p:nvSpPr>
          <p:spPr bwMode="gray">
            <a:xfrm>
              <a:off x="5564089" y="1534742"/>
              <a:ext cx="4067334" cy="637942"/>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0" marR="0" lvl="0" indent="0" defTabSz="990564" eaLnBrk="1" fontAlgn="auto" latinLnBrk="0" hangingPunct="1">
                <a:lnSpc>
                  <a:spcPct val="100000"/>
                </a:lnSpc>
                <a:spcBef>
                  <a:spcPts val="300"/>
                </a:spcBef>
                <a:spcAft>
                  <a:spcPts val="0"/>
                </a:spcAft>
                <a:buClrTx/>
                <a:buSzPct val="100000"/>
                <a:buFontTx/>
                <a:buNone/>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制御に必要な必要最低限のデータ項目のみ定義されており、ハードウェアやソフトウェアの詳細仕様が、明確に定義されていないため個別に解釈して独自実装するか、関連団体</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(OIDF</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や</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DIF</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等</a:t>
              </a:r>
              <a:r>
                <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rPr>
                <a:t>)</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に移譲</a:t>
              </a:r>
              <a:endParaRPr kumimoji="0" lang="en-US" altLang="ja-JP" sz="1200" b="0" i="0" u="none" strike="noStrike" kern="0" cap="none" spc="0" normalizeH="0" baseline="0" noProof="0" dirty="0">
                <a:ln>
                  <a:noFill/>
                </a:ln>
                <a:solidFill>
                  <a:prstClr val="black"/>
                </a:solidFill>
                <a:effectLst/>
                <a:uLnTx/>
                <a:uFillTx/>
                <a:latin typeface="Calibri Light"/>
                <a:ea typeface="Yu Gothic UI"/>
                <a:cs typeface="Arial" charset="0"/>
              </a:endParaRPr>
            </a:p>
          </p:txBody>
        </p:sp>
        <p:sp>
          <p:nvSpPr>
            <p:cNvPr id="24" name="正方形/長方形 23">
              <a:extLst>
                <a:ext uri="{FF2B5EF4-FFF2-40B4-BE49-F238E27FC236}">
                  <a16:creationId xmlns:a16="http://schemas.microsoft.com/office/drawing/2014/main" id="{E75D1DB3-4DB9-7D24-B367-C5405E2E6452}"/>
                </a:ext>
              </a:extLst>
            </p:cNvPr>
            <p:cNvSpPr/>
            <p:nvPr/>
          </p:nvSpPr>
          <p:spPr>
            <a:xfrm>
              <a:off x="283051" y="2036363"/>
              <a:ext cx="164624" cy="136321"/>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grpSp>
      <p:cxnSp>
        <p:nvCxnSpPr>
          <p:cNvPr id="26" name="コネクタ: カギ線 25">
            <a:extLst>
              <a:ext uri="{FF2B5EF4-FFF2-40B4-BE49-F238E27FC236}">
                <a16:creationId xmlns:a16="http://schemas.microsoft.com/office/drawing/2014/main" id="{DE095D5F-DD09-FE72-D49A-C6B72D0D2AFF}"/>
              </a:ext>
            </a:extLst>
          </p:cNvPr>
          <p:cNvCxnSpPr>
            <a:stCxn id="24" idx="2"/>
            <a:endCxn id="4" idx="1"/>
          </p:cNvCxnSpPr>
          <p:nvPr/>
        </p:nvCxnSpPr>
        <p:spPr>
          <a:xfrm rot="16200000" flipH="1">
            <a:off x="133148" y="2400699"/>
            <a:ext cx="546741" cy="82311"/>
          </a:xfrm>
          <a:prstGeom prst="bentConnector2">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88749035-811E-B069-7551-61736B4B747B}"/>
              </a:ext>
            </a:extLst>
          </p:cNvPr>
          <p:cNvCxnSpPr>
            <a:cxnSpLocks/>
            <a:stCxn id="24" idx="2"/>
            <a:endCxn id="7" idx="1"/>
          </p:cNvCxnSpPr>
          <p:nvPr/>
        </p:nvCxnSpPr>
        <p:spPr>
          <a:xfrm rot="16200000" flipH="1">
            <a:off x="-308565" y="2842412"/>
            <a:ext cx="1430166" cy="82311"/>
          </a:xfrm>
          <a:prstGeom prst="bentConnector2">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7ACDC252-8B76-EA10-1463-9B3502B5DEED}"/>
              </a:ext>
            </a:extLst>
          </p:cNvPr>
          <p:cNvCxnSpPr>
            <a:cxnSpLocks/>
            <a:stCxn id="24" idx="2"/>
            <a:endCxn id="10" idx="1"/>
          </p:cNvCxnSpPr>
          <p:nvPr/>
        </p:nvCxnSpPr>
        <p:spPr>
          <a:xfrm rot="16200000" flipH="1">
            <a:off x="-682778" y="3216625"/>
            <a:ext cx="2178592" cy="82311"/>
          </a:xfrm>
          <a:prstGeom prst="bentConnector2">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コネクタ: カギ線 32">
            <a:extLst>
              <a:ext uri="{FF2B5EF4-FFF2-40B4-BE49-F238E27FC236}">
                <a16:creationId xmlns:a16="http://schemas.microsoft.com/office/drawing/2014/main" id="{C11C876F-2A05-F13E-2042-2DFC86D8D46B}"/>
              </a:ext>
            </a:extLst>
          </p:cNvPr>
          <p:cNvCxnSpPr>
            <a:cxnSpLocks/>
            <a:stCxn id="24" idx="2"/>
          </p:cNvCxnSpPr>
          <p:nvPr/>
        </p:nvCxnSpPr>
        <p:spPr>
          <a:xfrm rot="16200000" flipH="1">
            <a:off x="-1078889" y="3612736"/>
            <a:ext cx="2970814" cy="82311"/>
          </a:xfrm>
          <a:prstGeom prst="bentConnector2">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コンテンツ プレースホルダー 2">
            <a:extLst>
              <a:ext uri="{FF2B5EF4-FFF2-40B4-BE49-F238E27FC236}">
                <a16:creationId xmlns:a16="http://schemas.microsoft.com/office/drawing/2014/main" id="{03E239B0-736C-D24C-84E2-7DF2FFF0800B}"/>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err="1"/>
              <a:t>mDL</a:t>
            </a:r>
            <a:r>
              <a:rPr kumimoji="1" lang="ja-JP" altLang="en-US" dirty="0"/>
              <a:t>と</a:t>
            </a:r>
            <a:r>
              <a:rPr kumimoji="1" lang="en-US" altLang="ja-JP" dirty="0"/>
              <a:t>VC</a:t>
            </a:r>
            <a:r>
              <a:rPr kumimoji="1" lang="ja-JP" altLang="en-US" dirty="0"/>
              <a:t>は両規格とも所有者が自身の資格情報を制御できるが、</a:t>
            </a:r>
            <a:r>
              <a:rPr kumimoji="1" lang="en-US" altLang="ja-JP" dirty="0" err="1"/>
              <a:t>mDL</a:t>
            </a:r>
            <a:r>
              <a:rPr kumimoji="1" lang="ja-JP" altLang="en-US" dirty="0"/>
              <a:t>はデータフォーマットや通信プロトコルまで厳密に定義されており、資格情報管理も発行機関が一元的に管理できる選択肢を残している点がもっとも大きな相違点としてあげられる</a:t>
            </a:r>
          </a:p>
        </p:txBody>
      </p:sp>
      <p:sp>
        <p:nvSpPr>
          <p:cNvPr id="28" name="テキスト ボックス 27">
            <a:extLst>
              <a:ext uri="{FF2B5EF4-FFF2-40B4-BE49-F238E27FC236}">
                <a16:creationId xmlns:a16="http://schemas.microsoft.com/office/drawing/2014/main" id="{84D116B0-C996-7248-2448-D70C91AA61FF}"/>
              </a:ext>
            </a:extLst>
          </p:cNvPr>
          <p:cNvSpPr txBox="1"/>
          <p:nvPr/>
        </p:nvSpPr>
        <p:spPr>
          <a:xfrm>
            <a:off x="283050" y="6507175"/>
            <a:ext cx="8438163" cy="138499"/>
          </a:xfrm>
          <a:prstGeom prst="rect">
            <a:avLst/>
          </a:prstGeom>
          <a:noFill/>
        </p:spPr>
        <p:txBody>
          <a:bodyPr wrap="square" lIns="0" tIns="0" rIns="0" bIns="0" rtlCol="0">
            <a:spAutoFit/>
          </a:bodyPr>
          <a:lstStyle/>
          <a:p>
            <a:r>
              <a:rPr lang="en-US" altLang="ja-JP" sz="900" dirty="0" err="1">
                <a:latin typeface="+mn-ea"/>
                <a:ea typeface="+mn-ea"/>
              </a:rPr>
              <a:t>m</a:t>
            </a:r>
            <a:r>
              <a:rPr kumimoji="1" lang="en-US" altLang="ja-JP" sz="900" dirty="0" err="1">
                <a:latin typeface="+mn-ea"/>
                <a:ea typeface="+mn-ea"/>
              </a:rPr>
              <a:t>DL</a:t>
            </a:r>
            <a:r>
              <a:rPr kumimoji="1" lang="ja-JP" altLang="en-US" sz="900" dirty="0">
                <a:latin typeface="+mn-ea"/>
                <a:ea typeface="+mn-ea"/>
              </a:rPr>
              <a:t>の規格</a:t>
            </a:r>
            <a:r>
              <a:rPr kumimoji="1" lang="en-US" altLang="ja-JP" sz="900" dirty="0">
                <a:latin typeface="+mn-ea"/>
                <a:ea typeface="+mn-ea"/>
              </a:rPr>
              <a:t>(ISO</a:t>
            </a:r>
            <a:r>
              <a:rPr kumimoji="1" lang="ja-JP" altLang="en-US" sz="900" dirty="0">
                <a:latin typeface="+mn-ea"/>
                <a:ea typeface="+mn-ea"/>
              </a:rPr>
              <a:t>シリーズ</a:t>
            </a:r>
            <a:r>
              <a:rPr kumimoji="1" lang="en-US" altLang="ja-JP" sz="900" dirty="0">
                <a:latin typeface="+mn-ea"/>
                <a:ea typeface="+mn-ea"/>
              </a:rPr>
              <a:t>)</a:t>
            </a:r>
            <a:r>
              <a:rPr kumimoji="1" lang="ja-JP" altLang="en-US" sz="900" dirty="0">
                <a:latin typeface="+mn-ea"/>
                <a:ea typeface="+mn-ea"/>
              </a:rPr>
              <a:t>、</a:t>
            </a:r>
            <a:r>
              <a:rPr kumimoji="1" lang="en-US" altLang="ja-JP" sz="900" dirty="0">
                <a:latin typeface="+mn-ea"/>
                <a:ea typeface="+mn-ea"/>
              </a:rPr>
              <a:t>Verifiable Credentials</a:t>
            </a:r>
            <a:r>
              <a:rPr kumimoji="1" lang="ja-JP" altLang="en-US" sz="900" dirty="0">
                <a:latin typeface="+mn-ea"/>
                <a:ea typeface="+mn-ea"/>
              </a:rPr>
              <a:t>の規格をもとに</a:t>
            </a:r>
            <a:r>
              <a:rPr kumimoji="1" lang="en-US" altLang="ja-JP" sz="900" dirty="0">
                <a:latin typeface="+mn-ea"/>
                <a:ea typeface="+mn-ea"/>
              </a:rPr>
              <a:t>TOPPAN</a:t>
            </a:r>
            <a:r>
              <a:rPr kumimoji="1" lang="ja-JP" altLang="en-US" sz="900" dirty="0">
                <a:latin typeface="+mn-ea"/>
                <a:ea typeface="+mn-ea"/>
              </a:rPr>
              <a:t>作成　</a:t>
            </a:r>
            <a:r>
              <a:rPr kumimoji="1" lang="en-US" altLang="ja-JP" sz="900" dirty="0">
                <a:latin typeface="+mn-ea"/>
                <a:ea typeface="+mn-ea"/>
              </a:rPr>
              <a:t>※</a:t>
            </a:r>
            <a:r>
              <a:rPr kumimoji="1" lang="en-US" altLang="ja-JP" sz="900" dirty="0" err="1">
                <a:latin typeface="+mn-ea"/>
                <a:ea typeface="+mn-ea"/>
              </a:rPr>
              <a:t>mDL</a:t>
            </a:r>
            <a:r>
              <a:rPr kumimoji="1" lang="ja-JP" altLang="en-US" sz="900" dirty="0">
                <a:latin typeface="+mn-ea"/>
                <a:ea typeface="+mn-ea"/>
              </a:rPr>
              <a:t>について詳細を確認したい場合、</a:t>
            </a:r>
            <a:r>
              <a:rPr kumimoji="1" lang="en-US" altLang="ja-JP" sz="900" dirty="0">
                <a:latin typeface="+mn-ea"/>
                <a:ea typeface="+mn-ea"/>
                <a:hlinkClick r:id="rId2"/>
              </a:rPr>
              <a:t>ISO</a:t>
            </a:r>
            <a:r>
              <a:rPr kumimoji="1" lang="ja-JP" altLang="en-US" sz="900" dirty="0">
                <a:latin typeface="+mn-ea"/>
                <a:ea typeface="+mn-ea"/>
                <a:hlinkClick r:id="rId2"/>
              </a:rPr>
              <a:t>サイト</a:t>
            </a:r>
            <a:r>
              <a:rPr kumimoji="1" lang="en-US" altLang="ja-JP" sz="900" dirty="0">
                <a:latin typeface="+mn-ea"/>
                <a:ea typeface="+mn-ea"/>
                <a:hlinkClick r:id="rId2"/>
              </a:rPr>
              <a:t>(ISO 18013-5)</a:t>
            </a:r>
            <a:r>
              <a:rPr kumimoji="1" lang="ja-JP" altLang="en-US" sz="900" dirty="0">
                <a:latin typeface="+mn-ea"/>
                <a:ea typeface="+mn-ea"/>
              </a:rPr>
              <a:t>から購入すること</a:t>
            </a:r>
          </a:p>
        </p:txBody>
      </p:sp>
    </p:spTree>
    <p:extLst>
      <p:ext uri="{BB962C8B-B14F-4D97-AF65-F5344CB8AC3E}">
        <p14:creationId xmlns:p14="http://schemas.microsoft.com/office/powerpoint/2010/main" val="4226987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C692FE-B352-4645-BC39-2F63B635E01F}"/>
              </a:ext>
            </a:extLst>
          </p:cNvPr>
          <p:cNvSpPr>
            <a:spLocks noGrp="1"/>
          </p:cNvSpPr>
          <p:nvPr>
            <p:ph type="title"/>
          </p:nvPr>
        </p:nvSpPr>
        <p:spPr/>
        <p:txBody>
          <a:bodyPr/>
          <a:lstStyle/>
          <a:p>
            <a:r>
              <a:rPr kumimoji="1" lang="en-US" altLang="ja-JP" dirty="0"/>
              <a:t>(</a:t>
            </a:r>
            <a:r>
              <a:rPr kumimoji="1" lang="ja-JP" altLang="en-US" dirty="0"/>
              <a:t>参考</a:t>
            </a:r>
            <a:r>
              <a:rPr kumimoji="1" lang="en-US" altLang="ja-JP" dirty="0"/>
              <a:t>) </a:t>
            </a:r>
            <a:r>
              <a:rPr kumimoji="1" lang="en-US" altLang="ja-JP" dirty="0" err="1"/>
              <a:t>Unlinkability</a:t>
            </a:r>
            <a:r>
              <a:rPr kumimoji="1" lang="ja-JP" altLang="en-US" dirty="0"/>
              <a:t>とは</a:t>
            </a:r>
          </a:p>
        </p:txBody>
      </p:sp>
      <p:sp>
        <p:nvSpPr>
          <p:cNvPr id="3" name="テキスト プレースホルダー 2">
            <a:extLst>
              <a:ext uri="{FF2B5EF4-FFF2-40B4-BE49-F238E27FC236}">
                <a16:creationId xmlns:a16="http://schemas.microsoft.com/office/drawing/2014/main" id="{844D4879-2DD7-4CC8-BEE1-999FADC04954}"/>
              </a:ext>
            </a:extLst>
          </p:cNvPr>
          <p:cNvSpPr>
            <a:spLocks noGrp="1"/>
          </p:cNvSpPr>
          <p:nvPr>
            <p:ph type="body" sz="quarter" idx="10"/>
          </p:nvPr>
        </p:nvSpPr>
        <p:spPr/>
        <p:txBody>
          <a:bodyPr/>
          <a:lstStyle/>
          <a:p>
            <a:r>
              <a:rPr lang="en-US" altLang="ja-JP" sz="1050" u="none" strike="noStrike" cap="none" dirty="0">
                <a:solidFill>
                  <a:schemeClr val="dk1"/>
                </a:solidFill>
                <a:latin typeface="+mn-ea"/>
                <a:ea typeface="+mn-ea"/>
                <a:cs typeface="Arial"/>
                <a:sym typeface="Arial"/>
              </a:rPr>
              <a:t>5.</a:t>
            </a:r>
            <a:r>
              <a:rPr lang="ja-JP" altLang="en-US" dirty="0">
                <a:solidFill>
                  <a:schemeClr val="dk1"/>
                </a:solidFill>
                <a:latin typeface="+mn-ea"/>
                <a:ea typeface="+mn-ea"/>
                <a:cs typeface="Arial"/>
                <a:sym typeface="Arial"/>
              </a:rPr>
              <a:t> 技術スタック</a:t>
            </a:r>
            <a:r>
              <a:rPr lang="ja-JP" altLang="en-US" sz="1050" u="none" strike="noStrike" cap="none" dirty="0">
                <a:solidFill>
                  <a:schemeClr val="dk1"/>
                </a:solidFill>
                <a:latin typeface="+mn-ea"/>
                <a:ea typeface="+mn-ea"/>
                <a:cs typeface="Arial"/>
                <a:sym typeface="Arial"/>
              </a:rPr>
              <a:t>詳細調査</a:t>
            </a:r>
          </a:p>
        </p:txBody>
      </p:sp>
      <p:sp>
        <p:nvSpPr>
          <p:cNvPr id="10" name="正方形/長方形 9">
            <a:extLst>
              <a:ext uri="{FF2B5EF4-FFF2-40B4-BE49-F238E27FC236}">
                <a16:creationId xmlns:a16="http://schemas.microsoft.com/office/drawing/2014/main" id="{03E4CD22-860C-6CED-1E86-E8FEE19160A1}"/>
              </a:ext>
            </a:extLst>
          </p:cNvPr>
          <p:cNvSpPr/>
          <p:nvPr/>
        </p:nvSpPr>
        <p:spPr>
          <a:xfrm>
            <a:off x="273050" y="908049"/>
            <a:ext cx="1511300" cy="3749431"/>
          </a:xfrm>
          <a:prstGeom prst="rect">
            <a:avLst/>
          </a:prstGeom>
          <a:solidFill>
            <a:schemeClr val="accent5">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spcBef>
                <a:spcPts val="600"/>
              </a:spcBef>
            </a:pPr>
            <a:r>
              <a:rPr kumimoji="1" lang="ja-JP" altLang="en-US" sz="1400" dirty="0"/>
              <a:t>背景</a:t>
            </a:r>
          </a:p>
        </p:txBody>
      </p:sp>
      <p:sp>
        <p:nvSpPr>
          <p:cNvPr id="11" name="正方形/長方形 10">
            <a:extLst>
              <a:ext uri="{FF2B5EF4-FFF2-40B4-BE49-F238E27FC236}">
                <a16:creationId xmlns:a16="http://schemas.microsoft.com/office/drawing/2014/main" id="{F6B12EDD-0609-F2D0-8A63-144FAA5C1588}"/>
              </a:ext>
            </a:extLst>
          </p:cNvPr>
          <p:cNvSpPr/>
          <p:nvPr/>
        </p:nvSpPr>
        <p:spPr>
          <a:xfrm>
            <a:off x="273050" y="4720825"/>
            <a:ext cx="1511300" cy="1615198"/>
          </a:xfrm>
          <a:prstGeom prst="rect">
            <a:avLst/>
          </a:prstGeom>
          <a:solidFill>
            <a:schemeClr val="accent5">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400" dirty="0"/>
              <a:t>VC/</a:t>
            </a:r>
            <a:r>
              <a:rPr kumimoji="1" lang="ja-JP" altLang="en-US" sz="1400" dirty="0"/>
              <a:t>ｍ</a:t>
            </a:r>
            <a:r>
              <a:rPr kumimoji="1" lang="en-US" altLang="ja-JP" sz="1400" dirty="0"/>
              <a:t>DL</a:t>
            </a:r>
            <a:r>
              <a:rPr kumimoji="1" lang="ja-JP" altLang="en-US" sz="1400" dirty="0"/>
              <a:t>を</a:t>
            </a:r>
            <a:endParaRPr kumimoji="1" lang="en-US" altLang="ja-JP" sz="1400" dirty="0"/>
          </a:p>
          <a:p>
            <a:pPr algn="ctr"/>
            <a:r>
              <a:rPr kumimoji="1" lang="ja-JP" altLang="en-US" sz="1400" dirty="0"/>
              <a:t>活用する際に</a:t>
            </a:r>
            <a:endParaRPr kumimoji="1" lang="en-US" altLang="ja-JP" sz="1400" dirty="0"/>
          </a:p>
          <a:p>
            <a:pPr algn="ctr"/>
            <a:r>
              <a:rPr kumimoji="1" lang="ja-JP" altLang="en-US" sz="1400" dirty="0"/>
              <a:t>留意すべき事例</a:t>
            </a:r>
          </a:p>
        </p:txBody>
      </p:sp>
      <p:sp>
        <p:nvSpPr>
          <p:cNvPr id="14" name="正方形/長方形 13">
            <a:extLst>
              <a:ext uri="{FF2B5EF4-FFF2-40B4-BE49-F238E27FC236}">
                <a16:creationId xmlns:a16="http://schemas.microsoft.com/office/drawing/2014/main" id="{4F12FDF5-42BB-0F13-18EC-16CA570DD48F}"/>
              </a:ext>
            </a:extLst>
          </p:cNvPr>
          <p:cNvSpPr/>
          <p:nvPr/>
        </p:nvSpPr>
        <p:spPr>
          <a:xfrm>
            <a:off x="1891430" y="908049"/>
            <a:ext cx="7741520" cy="3749431"/>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285750" indent="-285750">
              <a:spcBef>
                <a:spcPts val="600"/>
              </a:spcBef>
              <a:buFont typeface="Arial" panose="020B0604020202020204" pitchFamily="34" charset="0"/>
              <a:buChar char="•"/>
            </a:pPr>
            <a:r>
              <a:rPr kumimoji="1" lang="en-US" altLang="ja-JP" sz="1400" dirty="0"/>
              <a:t>ISO/IEC 29100</a:t>
            </a:r>
            <a:r>
              <a:rPr kumimoji="1" lang="ja-JP" altLang="en-US" sz="1400" dirty="0"/>
              <a:t>で定めている個人識別情報</a:t>
            </a:r>
            <a:r>
              <a:rPr kumimoji="1" lang="en-US" altLang="ja-JP" sz="1400" dirty="0"/>
              <a:t>(PII)</a:t>
            </a:r>
            <a:r>
              <a:rPr kumimoji="1" lang="ja-JP" altLang="en-US" sz="1400" dirty="0"/>
              <a:t>の処理に関わるアクターに適用されるプライバシー原則の中の１つに「収集の制限」があるが、現在は、インターネットサイトがサービスへのアクセス時に必要以上の情報を収集することが一般的となっている。</a:t>
            </a:r>
            <a:endParaRPr kumimoji="1" lang="en-US" altLang="ja-JP" sz="1400" dirty="0"/>
          </a:p>
          <a:p>
            <a:pPr marL="285750" indent="-285750">
              <a:spcBef>
                <a:spcPts val="600"/>
              </a:spcBef>
              <a:buFont typeface="Arial" panose="020B0604020202020204" pitchFamily="34" charset="0"/>
              <a:buChar char="•"/>
            </a:pPr>
            <a:r>
              <a:rPr kumimoji="1" lang="ja-JP" altLang="en-US" sz="1400" dirty="0"/>
              <a:t>例えば、</a:t>
            </a:r>
            <a:r>
              <a:rPr kumimoji="1" lang="en-US" altLang="ja-JP" sz="1400" dirty="0"/>
              <a:t>Web</a:t>
            </a:r>
            <a:r>
              <a:rPr kumimoji="1" lang="ja-JP" altLang="en-US" sz="1400" dirty="0"/>
              <a:t>サイトが</a:t>
            </a:r>
            <a:r>
              <a:rPr kumimoji="1" lang="en-US" altLang="ja-JP" sz="1400" dirty="0"/>
              <a:t>PII</a:t>
            </a:r>
            <a:r>
              <a:rPr kumimoji="1" lang="ja-JP" altLang="en-US" sz="1400" dirty="0"/>
              <a:t>の主体が特定の年齢以上であることのみを確認したいときに、ユーザーの永続的識別子などの不必要</a:t>
            </a:r>
            <a:r>
              <a:rPr lang="ja-JP" altLang="en-US" sz="1400" dirty="0"/>
              <a:t>な</a:t>
            </a:r>
            <a:r>
              <a:rPr kumimoji="1" lang="ja-JP" altLang="en-US" sz="1400" dirty="0"/>
              <a:t>情報まで取得していることが挙げられる。これによって同一の</a:t>
            </a:r>
            <a:r>
              <a:rPr kumimoji="1" lang="en-US" altLang="ja-JP" sz="1400" dirty="0"/>
              <a:t>PII</a:t>
            </a:r>
            <a:r>
              <a:rPr kumimoji="1" lang="ja-JP" altLang="en-US" sz="1400" dirty="0"/>
              <a:t>主体による異なるサイトへの訪問や、同一サイトへの二回以上の訪問をリンクすることが可能となっており「収集の制限」の原則が達成されていない状況である。</a:t>
            </a:r>
          </a:p>
          <a:p>
            <a:pPr marL="285750" indent="-285750">
              <a:spcBef>
                <a:spcPts val="600"/>
              </a:spcBef>
              <a:buFont typeface="Arial" panose="020B0604020202020204" pitchFamily="34" charset="0"/>
              <a:buChar char="•"/>
            </a:pPr>
            <a:r>
              <a:rPr kumimoji="1" lang="ja-JP" altLang="en-US" sz="1400" dirty="0"/>
              <a:t>収集の制限の原則に従うためには、上記のケースのサイトは</a:t>
            </a:r>
            <a:r>
              <a:rPr kumimoji="1" lang="en-US" altLang="ja-JP" sz="1400" dirty="0"/>
              <a:t>PII</a:t>
            </a:r>
            <a:r>
              <a:rPr kumimoji="1" lang="ja-JP" altLang="en-US" sz="1400" dirty="0"/>
              <a:t>主体による二回以上の訪問をリンクさせないタイプのエンティティ識別子を使用すべきで、二つのトランザクションが行われた場合、それらのトランザクションが同一ユーザーによるものか、異なる二人のユーザーによるものかを区別できないこと</a:t>
            </a:r>
            <a:r>
              <a:rPr kumimoji="1" lang="en-US" altLang="ja-JP" sz="1400" dirty="0"/>
              <a:t>(</a:t>
            </a:r>
            <a:r>
              <a:rPr kumimoji="1" lang="en-US" altLang="ja-JP" sz="1400" dirty="0" err="1"/>
              <a:t>Unlinkability</a:t>
            </a:r>
            <a:r>
              <a:rPr kumimoji="1" lang="ja-JP" altLang="en-US" sz="1400" dirty="0"/>
              <a:t>の</a:t>
            </a:r>
            <a:r>
              <a:rPr lang="ja-JP" altLang="en-US" sz="1400" dirty="0"/>
              <a:t>確保</a:t>
            </a:r>
            <a:r>
              <a:rPr kumimoji="1" lang="en-US" altLang="ja-JP" sz="1400" dirty="0"/>
              <a:t>)</a:t>
            </a:r>
            <a:r>
              <a:rPr kumimoji="1" lang="ja-JP" altLang="en-US" sz="1400" dirty="0"/>
              <a:t>が求められる。</a:t>
            </a:r>
          </a:p>
          <a:p>
            <a:pPr marL="285750" indent="-285750">
              <a:spcBef>
                <a:spcPts val="600"/>
              </a:spcBef>
              <a:buFont typeface="Arial" panose="020B0604020202020204" pitchFamily="34" charset="0"/>
              <a:buChar char="•"/>
            </a:pPr>
            <a:r>
              <a:rPr kumimoji="1" lang="ja-JP" altLang="en-US" sz="1400" dirty="0"/>
              <a:t>属性ベースのリンク不可能なエンティティ認証</a:t>
            </a:r>
            <a:r>
              <a:rPr kumimoji="1" lang="en-US" altLang="ja-JP" sz="1400" dirty="0"/>
              <a:t>(ABUEA</a:t>
            </a:r>
            <a:r>
              <a:rPr kumimoji="1" lang="ja-JP" altLang="en-US" sz="1400" dirty="0"/>
              <a:t>：</a:t>
            </a:r>
            <a:r>
              <a:rPr kumimoji="1" lang="en-US" altLang="ja-JP" sz="1400" dirty="0"/>
              <a:t>attribute-based </a:t>
            </a:r>
            <a:r>
              <a:rPr kumimoji="1" lang="en-US" altLang="ja-JP" sz="1400" dirty="0" err="1"/>
              <a:t>unlinkable</a:t>
            </a:r>
            <a:r>
              <a:rPr kumimoji="1" lang="en-US" altLang="ja-JP" sz="1400" dirty="0"/>
              <a:t> entity authentication)</a:t>
            </a:r>
            <a:r>
              <a:rPr kumimoji="1" lang="ja-JP" altLang="en-US" sz="1400" dirty="0"/>
              <a:t>は、</a:t>
            </a:r>
            <a:r>
              <a:rPr kumimoji="1" lang="en-US" altLang="ja-JP" sz="1400" dirty="0"/>
              <a:t>PII</a:t>
            </a:r>
            <a:r>
              <a:rPr kumimoji="1" lang="ja-JP" altLang="en-US" sz="1400" dirty="0"/>
              <a:t>主体が、</a:t>
            </a:r>
            <a:r>
              <a:rPr kumimoji="1" lang="en-US" altLang="ja-JP" sz="1400" dirty="0" err="1"/>
              <a:t>Unlinkability</a:t>
            </a:r>
            <a:r>
              <a:rPr lang="ja-JP" altLang="en-US" sz="1400" dirty="0"/>
              <a:t>を確保したうえで、</a:t>
            </a:r>
            <a:r>
              <a:rPr kumimoji="1" lang="ja-JP" altLang="en-US" sz="1400" dirty="0"/>
              <a:t>身元属性情報の真正性を確立する手段を提供することができこの関連技術標準をまとめたものが</a:t>
            </a:r>
            <a:r>
              <a:rPr kumimoji="1" lang="en-US" altLang="ja-JP" sz="1400" dirty="0"/>
              <a:t>ISO/IEC 27551(Information security, cybersecurity and privacy protection — Requirements for attribute-based </a:t>
            </a:r>
            <a:r>
              <a:rPr kumimoji="1" lang="en-US" altLang="ja-JP" sz="1400" dirty="0" err="1"/>
              <a:t>unlinkable</a:t>
            </a:r>
            <a:r>
              <a:rPr kumimoji="1" lang="en-US" altLang="ja-JP" sz="1400" dirty="0"/>
              <a:t> entity authentication)</a:t>
            </a:r>
            <a:r>
              <a:rPr kumimoji="1" lang="ja-JP" altLang="en-US" sz="1400" dirty="0"/>
              <a:t>で規定されている。</a:t>
            </a:r>
          </a:p>
        </p:txBody>
      </p:sp>
      <p:sp>
        <p:nvSpPr>
          <p:cNvPr id="15" name="正方形/長方形 14">
            <a:extLst>
              <a:ext uri="{FF2B5EF4-FFF2-40B4-BE49-F238E27FC236}">
                <a16:creationId xmlns:a16="http://schemas.microsoft.com/office/drawing/2014/main" id="{41456940-7A93-E87C-709B-EE4D42902103}"/>
              </a:ext>
            </a:extLst>
          </p:cNvPr>
          <p:cNvSpPr/>
          <p:nvPr/>
        </p:nvSpPr>
        <p:spPr>
          <a:xfrm>
            <a:off x="1891430" y="4720824"/>
            <a:ext cx="7741520" cy="1615198"/>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0"/>
              </a:spcBef>
            </a:pPr>
            <a:r>
              <a:rPr lang="en-US" altLang="ja-JP" sz="1400" dirty="0"/>
              <a:t>【VC】</a:t>
            </a:r>
          </a:p>
          <a:p>
            <a:pPr marL="285750" indent="-285750">
              <a:spcBef>
                <a:spcPts val="0"/>
              </a:spcBef>
              <a:buFont typeface="Arial" panose="020B0604020202020204" pitchFamily="34" charset="0"/>
              <a:buChar char="•"/>
            </a:pPr>
            <a:r>
              <a:rPr lang="ja-JP" altLang="en-US" sz="1400" dirty="0"/>
              <a:t>証明書の署名値を同一のものを使用した証明書を</a:t>
            </a:r>
            <a:r>
              <a:rPr lang="en-US" altLang="ja-JP" sz="1400" dirty="0"/>
              <a:t>Holder</a:t>
            </a:r>
            <a:r>
              <a:rPr lang="ja-JP" altLang="en-US" sz="1400" dirty="0"/>
              <a:t>が</a:t>
            </a:r>
            <a:r>
              <a:rPr lang="en-US" altLang="ja-JP" sz="1400" dirty="0"/>
              <a:t>Verifier</a:t>
            </a:r>
            <a:r>
              <a:rPr lang="ja-JP" altLang="en-US" sz="1400" dirty="0"/>
              <a:t>に証明書の提示を行うと、</a:t>
            </a:r>
            <a:r>
              <a:rPr lang="en-US" altLang="ja-JP" sz="1400" dirty="0"/>
              <a:t>Verifier</a:t>
            </a:r>
            <a:r>
              <a:rPr lang="ja-JP" altLang="en-US" sz="1400" dirty="0"/>
              <a:t>の結託によってどこに情報提示したか類推される</a:t>
            </a:r>
            <a:r>
              <a:rPr lang="en-US" altLang="ja-JP" sz="1400" dirty="0"/>
              <a:t>(P.21</a:t>
            </a:r>
            <a:r>
              <a:rPr lang="ja-JP" altLang="en-US" sz="1400" dirty="0"/>
              <a:t>参照</a:t>
            </a:r>
            <a:r>
              <a:rPr lang="en-US" altLang="ja-JP" sz="1400" dirty="0"/>
              <a:t>)</a:t>
            </a:r>
          </a:p>
          <a:p>
            <a:pPr>
              <a:spcBef>
                <a:spcPts val="0"/>
              </a:spcBef>
            </a:pPr>
            <a:r>
              <a:rPr kumimoji="1" lang="en-US" altLang="ja-JP" sz="1400" dirty="0"/>
              <a:t>【</a:t>
            </a:r>
            <a:r>
              <a:rPr kumimoji="1" lang="ja-JP" altLang="en-US" sz="1400" dirty="0"/>
              <a:t>ｍ</a:t>
            </a:r>
            <a:r>
              <a:rPr kumimoji="1" lang="en-US" altLang="ja-JP" sz="1400" dirty="0"/>
              <a:t>DL】</a:t>
            </a:r>
          </a:p>
          <a:p>
            <a:pPr marL="285750" indent="-285750">
              <a:spcBef>
                <a:spcPts val="0"/>
              </a:spcBef>
              <a:buFont typeface="Arial" panose="020B0604020202020204" pitchFamily="34" charset="0"/>
              <a:buChar char="•"/>
            </a:pPr>
            <a:r>
              <a:rPr kumimoji="1" lang="en-US" altLang="ja-JP" sz="1400" dirty="0"/>
              <a:t>Server Retrieval</a:t>
            </a:r>
            <a:r>
              <a:rPr kumimoji="1" lang="ja-JP" altLang="en-US" sz="1400" dirty="0"/>
              <a:t>で証明書の失効問い合わせを</a:t>
            </a:r>
            <a:r>
              <a:rPr kumimoji="1" lang="en-US" altLang="ja-JP" sz="1400" dirty="0"/>
              <a:t>Issuer</a:t>
            </a:r>
            <a:r>
              <a:rPr kumimoji="1" lang="ja-JP" altLang="en-US" sz="1400" dirty="0"/>
              <a:t>にすると、</a:t>
            </a:r>
            <a:r>
              <a:rPr kumimoji="1" lang="en-US" altLang="ja-JP" sz="1400" dirty="0"/>
              <a:t>Issuer</a:t>
            </a:r>
            <a:r>
              <a:rPr kumimoji="1" lang="ja-JP" altLang="en-US" sz="1400" dirty="0"/>
              <a:t>は、特定の</a:t>
            </a:r>
            <a:r>
              <a:rPr kumimoji="1" lang="en-US" altLang="ja-JP" sz="1400" dirty="0"/>
              <a:t>Holder</a:t>
            </a:r>
            <a:r>
              <a:rPr kumimoji="1" lang="ja-JP" altLang="en-US" sz="1400" dirty="0"/>
              <a:t>と</a:t>
            </a:r>
            <a:r>
              <a:rPr lang="en-US" altLang="ja-JP" sz="1400" dirty="0"/>
              <a:t>V</a:t>
            </a:r>
            <a:r>
              <a:rPr kumimoji="1" lang="en-US" altLang="ja-JP" sz="1400" dirty="0"/>
              <a:t>erifier</a:t>
            </a:r>
            <a:r>
              <a:rPr kumimoji="1" lang="ja-JP" altLang="en-US" sz="1400" dirty="0"/>
              <a:t>がやり取りしたかが類推できる</a:t>
            </a:r>
          </a:p>
        </p:txBody>
      </p:sp>
      <p:sp>
        <p:nvSpPr>
          <p:cNvPr id="16" name="テキスト ボックス 15">
            <a:extLst>
              <a:ext uri="{FF2B5EF4-FFF2-40B4-BE49-F238E27FC236}">
                <a16:creationId xmlns:a16="http://schemas.microsoft.com/office/drawing/2014/main" id="{8EAF926F-1710-5754-6A23-66079598170C}"/>
              </a:ext>
            </a:extLst>
          </p:cNvPr>
          <p:cNvSpPr txBox="1"/>
          <p:nvPr/>
        </p:nvSpPr>
        <p:spPr>
          <a:xfrm>
            <a:off x="283050" y="6386126"/>
            <a:ext cx="8438163" cy="138499"/>
          </a:xfrm>
          <a:prstGeom prst="rect">
            <a:avLst/>
          </a:prstGeom>
          <a:noFill/>
        </p:spPr>
        <p:txBody>
          <a:bodyPr wrap="square" lIns="0" tIns="0" rIns="0" bIns="0" rtlCol="0">
            <a:spAutoFit/>
          </a:bodyPr>
          <a:lstStyle/>
          <a:p>
            <a:r>
              <a:rPr kumimoji="1" lang="en-US" altLang="ja-JP" sz="900" dirty="0">
                <a:latin typeface="+mn-ea"/>
                <a:ea typeface="+mn-ea"/>
              </a:rPr>
              <a:t>※</a:t>
            </a:r>
            <a:r>
              <a:rPr kumimoji="1" lang="en-US" altLang="ja-JP" sz="900" dirty="0" err="1">
                <a:latin typeface="+mn-ea"/>
                <a:ea typeface="+mn-ea"/>
              </a:rPr>
              <a:t>Unlinkability</a:t>
            </a:r>
            <a:r>
              <a:rPr kumimoji="1" lang="ja-JP" altLang="en-US" sz="900" dirty="0">
                <a:latin typeface="+mn-ea"/>
                <a:ea typeface="+mn-ea"/>
              </a:rPr>
              <a:t>について詳細を確認したい場合、</a:t>
            </a:r>
            <a:r>
              <a:rPr kumimoji="1" lang="en-US" altLang="ja-JP" sz="900" dirty="0">
                <a:latin typeface="+mn-ea"/>
                <a:ea typeface="+mn-ea"/>
                <a:hlinkClick r:id="rId3"/>
              </a:rPr>
              <a:t>ISO</a:t>
            </a:r>
            <a:r>
              <a:rPr kumimoji="1" lang="ja-JP" altLang="en-US" sz="900" dirty="0">
                <a:latin typeface="+mn-ea"/>
                <a:ea typeface="+mn-ea"/>
                <a:hlinkClick r:id="rId3"/>
              </a:rPr>
              <a:t>サイト</a:t>
            </a:r>
            <a:r>
              <a:rPr kumimoji="1" lang="en-US" altLang="ja-JP" sz="900" dirty="0">
                <a:latin typeface="+mn-ea"/>
                <a:ea typeface="+mn-ea"/>
                <a:hlinkClick r:id="rId3"/>
              </a:rPr>
              <a:t>(ISO/IEC27551)</a:t>
            </a:r>
            <a:r>
              <a:rPr kumimoji="1" lang="ja-JP" altLang="en-US" sz="900" dirty="0">
                <a:latin typeface="+mn-ea"/>
                <a:ea typeface="+mn-ea"/>
              </a:rPr>
              <a:t>から購入すること</a:t>
            </a:r>
          </a:p>
        </p:txBody>
      </p:sp>
    </p:spTree>
    <p:extLst>
      <p:ext uri="{BB962C8B-B14F-4D97-AF65-F5344CB8AC3E}">
        <p14:creationId xmlns:p14="http://schemas.microsoft.com/office/powerpoint/2010/main" val="2781393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0775DB-CB57-F381-6D1C-5DF39456F658}"/>
              </a:ext>
            </a:extLst>
          </p:cNvPr>
          <p:cNvSpPr>
            <a:spLocks noGrp="1"/>
          </p:cNvSpPr>
          <p:nvPr>
            <p:ph type="title"/>
          </p:nvPr>
        </p:nvSpPr>
        <p:spPr>
          <a:xfrm>
            <a:off x="273050" y="439237"/>
            <a:ext cx="7848302" cy="246221"/>
          </a:xfrm>
        </p:spPr>
        <p:txBody>
          <a:bodyPr/>
          <a:lstStyle/>
          <a:p>
            <a:r>
              <a:rPr kumimoji="1" lang="en-US" altLang="ja-JP" dirty="0">
                <a:latin typeface="+mn-ea"/>
                <a:ea typeface="+mn-ea"/>
              </a:rPr>
              <a:t>6.1. </a:t>
            </a:r>
            <a:r>
              <a:rPr kumimoji="1" lang="ja-JP" altLang="en-US" dirty="0">
                <a:latin typeface="+mn-ea"/>
                <a:ea typeface="+mn-ea"/>
              </a:rPr>
              <a:t>サービス</a:t>
            </a:r>
            <a:r>
              <a:rPr kumimoji="1" lang="en-US" altLang="ja-JP" dirty="0">
                <a:latin typeface="+mn-ea"/>
                <a:ea typeface="+mn-ea"/>
              </a:rPr>
              <a:t> –</a:t>
            </a:r>
            <a:r>
              <a:rPr kumimoji="1" lang="ja-JP" altLang="en-US" dirty="0">
                <a:latin typeface="+mn-ea"/>
                <a:ea typeface="+mn-ea"/>
              </a:rPr>
              <a:t> </a:t>
            </a:r>
            <a:r>
              <a:rPr kumimoji="1" lang="en-US" altLang="ja-JP" dirty="0">
                <a:latin typeface="+mn-ea"/>
                <a:ea typeface="+mn-ea"/>
              </a:rPr>
              <a:t>6.1.1. </a:t>
            </a:r>
            <a:r>
              <a:rPr kumimoji="1" lang="ja-JP" altLang="en-US" dirty="0">
                <a:latin typeface="+mn-ea"/>
                <a:ea typeface="+mn-ea"/>
              </a:rPr>
              <a:t>サービス実装パターン </a:t>
            </a:r>
            <a:r>
              <a:rPr kumimoji="1" lang="en-US" altLang="ja-JP" dirty="0">
                <a:latin typeface="+mn-ea"/>
                <a:ea typeface="+mn-ea"/>
              </a:rPr>
              <a:t>(1) </a:t>
            </a:r>
            <a:r>
              <a:rPr kumimoji="0" lang="en-US" altLang="ja-JP" sz="1600" i="0" u="none" strike="noStrike" kern="0" cap="none" spc="0" normalizeH="0" baseline="0" noProof="0" dirty="0">
                <a:ln>
                  <a:noFill/>
                </a:ln>
                <a:effectLst/>
                <a:uLnTx/>
                <a:uFillTx/>
                <a:latin typeface="+mn-ea"/>
                <a:ea typeface="+mn-ea"/>
                <a:cs typeface="Arial" charset="0"/>
              </a:rPr>
              <a:t>JWT-VC</a:t>
            </a:r>
            <a:r>
              <a:rPr kumimoji="0" lang="ja-JP" altLang="en-US" sz="1600" kern="0" dirty="0">
                <a:latin typeface="+mn-ea"/>
                <a:ea typeface="+mn-ea"/>
                <a:cs typeface="Arial" charset="0"/>
              </a:rPr>
              <a:t>・</a:t>
            </a:r>
            <a:r>
              <a:rPr kumimoji="0" lang="en-US" altLang="ja-JP" sz="1600" kern="0" dirty="0">
                <a:latin typeface="+mn-ea"/>
                <a:ea typeface="+mn-ea"/>
                <a:cs typeface="Arial" charset="0"/>
              </a:rPr>
              <a:t>SD-JWT</a:t>
            </a:r>
            <a:r>
              <a:rPr kumimoji="0" lang="ja-JP" altLang="en-US" sz="1600" kern="0" dirty="0">
                <a:latin typeface="+mn-ea"/>
                <a:ea typeface="+mn-ea"/>
                <a:cs typeface="Arial" charset="0"/>
              </a:rPr>
              <a:t>・</a:t>
            </a:r>
            <a:r>
              <a:rPr kumimoji="0" lang="en-US" altLang="ja-JP" sz="1600" kern="0" dirty="0">
                <a:latin typeface="+mn-ea"/>
                <a:ea typeface="+mn-ea"/>
                <a:cs typeface="Arial" charset="0"/>
              </a:rPr>
              <a:t>LDP-VC</a:t>
            </a:r>
            <a:endParaRPr kumimoji="1" lang="ja-JP" altLang="en-US" dirty="0">
              <a:latin typeface="+mn-ea"/>
              <a:ea typeface="+mn-ea"/>
            </a:endParaRPr>
          </a:p>
        </p:txBody>
      </p:sp>
      <p:sp>
        <p:nvSpPr>
          <p:cNvPr id="3" name="テキスト プレースホルダー 2">
            <a:extLst>
              <a:ext uri="{FF2B5EF4-FFF2-40B4-BE49-F238E27FC236}">
                <a16:creationId xmlns:a16="http://schemas.microsoft.com/office/drawing/2014/main" id="{3E393779-BD99-236C-F0B1-1F44ED9D8407}"/>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pSp>
        <p:nvGrpSpPr>
          <p:cNvPr id="40" name="グループ化 39">
            <a:extLst>
              <a:ext uri="{FF2B5EF4-FFF2-40B4-BE49-F238E27FC236}">
                <a16:creationId xmlns:a16="http://schemas.microsoft.com/office/drawing/2014/main" id="{4E2BAD6F-1C49-5474-E7E1-1D46D0D860D4}"/>
              </a:ext>
            </a:extLst>
          </p:cNvPr>
          <p:cNvGrpSpPr/>
          <p:nvPr/>
        </p:nvGrpSpPr>
        <p:grpSpPr>
          <a:xfrm>
            <a:off x="4334013" y="5701163"/>
            <a:ext cx="4289192" cy="476127"/>
            <a:chOff x="3413149" y="5665717"/>
            <a:chExt cx="4710146" cy="476127"/>
          </a:xfrm>
        </p:grpSpPr>
        <p:sp>
          <p:nvSpPr>
            <p:cNvPr id="41" name="正方形/長方形 40">
              <a:extLst>
                <a:ext uri="{FF2B5EF4-FFF2-40B4-BE49-F238E27FC236}">
                  <a16:creationId xmlns:a16="http://schemas.microsoft.com/office/drawing/2014/main" id="{29047E59-597E-7C7C-D166-88A7EB13CEC0}"/>
                </a:ext>
              </a:extLst>
            </p:cNvPr>
            <p:cNvSpPr/>
            <p:nvPr/>
          </p:nvSpPr>
          <p:spPr bwMode="gray">
            <a:xfrm>
              <a:off x="6520588" y="5870096"/>
              <a:ext cx="658800" cy="27174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dirty="0">
                  <a:ln>
                    <a:noFill/>
                  </a:ln>
                  <a:solidFill>
                    <a:prstClr val="black"/>
                  </a:solidFill>
                  <a:effectLst/>
                  <a:uLnTx/>
                  <a:uFillTx/>
                  <a:latin typeface="+mn-ea"/>
                  <a:ea typeface="+mn-ea"/>
                  <a:cs typeface="Arial" charset="0"/>
                </a:rPr>
                <a:t>Web</a:t>
              </a:r>
              <a:r>
                <a:rPr kumimoji="0" lang="ja-JP" altLang="en-US" sz="900" b="0" i="0" u="none" strike="noStrike" kern="0" cap="none" spc="0" normalizeH="0" baseline="0" noProof="0" dirty="0">
                  <a:ln>
                    <a:noFill/>
                  </a:ln>
                  <a:solidFill>
                    <a:prstClr val="black"/>
                  </a:solidFill>
                  <a:effectLst/>
                  <a:uLnTx/>
                  <a:uFillTx/>
                  <a:latin typeface="+mn-ea"/>
                  <a:ea typeface="+mn-ea"/>
                  <a:cs typeface="Arial" charset="0"/>
                </a:rPr>
                <a:t> </a:t>
              </a:r>
              <a:r>
                <a:rPr kumimoji="0" lang="en-US" altLang="ja-JP" sz="900" b="0" i="0" u="none" strike="noStrike" kern="0" cap="none" spc="0" normalizeH="0" baseline="0" noProof="0" dirty="0">
                  <a:ln>
                    <a:noFill/>
                  </a:ln>
                  <a:solidFill>
                    <a:prstClr val="black"/>
                  </a:solidFill>
                  <a:effectLst/>
                  <a:uLnTx/>
                  <a:uFillTx/>
                  <a:latin typeface="+mn-ea"/>
                  <a:ea typeface="+mn-ea"/>
                  <a:cs typeface="Arial" charset="0"/>
                </a:rPr>
                <a:t>Server</a:t>
              </a:r>
              <a:endParaRPr kumimoji="0" lang="ja-JP" altLang="en-US" sz="900" b="0" i="0" u="none" strike="noStrike" kern="0" cap="none" spc="0" normalizeH="0" baseline="0" noProof="0" dirty="0">
                <a:ln>
                  <a:noFill/>
                </a:ln>
                <a:solidFill>
                  <a:prstClr val="black"/>
                </a:solidFill>
                <a:effectLst/>
                <a:uLnTx/>
                <a:uFillTx/>
                <a:latin typeface="+mn-ea"/>
                <a:ea typeface="+mn-ea"/>
                <a:cs typeface="Arial" charset="0"/>
              </a:endParaRPr>
            </a:p>
          </p:txBody>
        </p:sp>
        <p:grpSp>
          <p:nvGrpSpPr>
            <p:cNvPr id="42" name="グループ化 41">
              <a:extLst>
                <a:ext uri="{FF2B5EF4-FFF2-40B4-BE49-F238E27FC236}">
                  <a16:creationId xmlns:a16="http://schemas.microsoft.com/office/drawing/2014/main" id="{AC76B358-1D45-8C86-9754-91E46C10E55A}"/>
                </a:ext>
              </a:extLst>
            </p:cNvPr>
            <p:cNvGrpSpPr/>
            <p:nvPr/>
          </p:nvGrpSpPr>
          <p:grpSpPr>
            <a:xfrm>
              <a:off x="3413149" y="5870096"/>
              <a:ext cx="2061323" cy="271748"/>
              <a:chOff x="2371755" y="5870096"/>
              <a:chExt cx="2387542" cy="271748"/>
            </a:xfrm>
          </p:grpSpPr>
          <p:sp>
            <p:nvSpPr>
              <p:cNvPr id="46" name="四角形: 角を丸くする 47">
                <a:extLst>
                  <a:ext uri="{FF2B5EF4-FFF2-40B4-BE49-F238E27FC236}">
                    <a16:creationId xmlns:a16="http://schemas.microsoft.com/office/drawing/2014/main" id="{678CA875-6578-424B-EE5E-A9576EB22C11}"/>
                  </a:ext>
                </a:extLst>
              </p:cNvPr>
              <p:cNvSpPr/>
              <p:nvPr/>
            </p:nvSpPr>
            <p:spPr bwMode="gray">
              <a:xfrm>
                <a:off x="2371755" y="5870096"/>
                <a:ext cx="762000" cy="27174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dirty="0">
                    <a:ln>
                      <a:noFill/>
                    </a:ln>
                    <a:solidFill>
                      <a:prstClr val="black"/>
                    </a:solidFill>
                    <a:effectLst/>
                    <a:uLnTx/>
                    <a:uFillTx/>
                    <a:latin typeface="+mn-ea"/>
                    <a:ea typeface="+mn-ea"/>
                    <a:cs typeface="Arial" charset="0"/>
                  </a:rPr>
                  <a:t>Hyperledger</a:t>
                </a: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dirty="0">
                    <a:ln>
                      <a:noFill/>
                    </a:ln>
                    <a:solidFill>
                      <a:prstClr val="black"/>
                    </a:solidFill>
                    <a:effectLst/>
                    <a:uLnTx/>
                    <a:uFillTx/>
                    <a:latin typeface="+mn-ea"/>
                    <a:ea typeface="+mn-ea"/>
                    <a:cs typeface="Arial" charset="0"/>
                  </a:rPr>
                  <a:t>Indy</a:t>
                </a:r>
                <a:endParaRPr kumimoji="0" lang="ja-JP" altLang="en-US" sz="9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47" name="四角形: 角を丸くする 48">
                <a:extLst>
                  <a:ext uri="{FF2B5EF4-FFF2-40B4-BE49-F238E27FC236}">
                    <a16:creationId xmlns:a16="http://schemas.microsoft.com/office/drawing/2014/main" id="{B66F8929-94F9-AAAE-120D-FDF3119FD958}"/>
                  </a:ext>
                </a:extLst>
              </p:cNvPr>
              <p:cNvSpPr/>
              <p:nvPr/>
            </p:nvSpPr>
            <p:spPr bwMode="gray">
              <a:xfrm>
                <a:off x="3184526" y="5870096"/>
                <a:ext cx="762000" cy="27174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dirty="0">
                    <a:ln>
                      <a:noFill/>
                    </a:ln>
                    <a:solidFill>
                      <a:prstClr val="black"/>
                    </a:solidFill>
                    <a:effectLst/>
                    <a:uLnTx/>
                    <a:uFillTx/>
                    <a:latin typeface="+mn-ea"/>
                    <a:ea typeface="+mn-ea"/>
                    <a:cs typeface="Arial" charset="0"/>
                  </a:rPr>
                  <a:t>ION Network</a:t>
                </a:r>
                <a:endParaRPr kumimoji="0" lang="ja-JP" altLang="en-US" sz="9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48" name="四角形: 角を丸くする 49">
                <a:extLst>
                  <a:ext uri="{FF2B5EF4-FFF2-40B4-BE49-F238E27FC236}">
                    <a16:creationId xmlns:a16="http://schemas.microsoft.com/office/drawing/2014/main" id="{911C1774-DA0D-F5CC-C020-AA86246A9485}"/>
                  </a:ext>
                </a:extLst>
              </p:cNvPr>
              <p:cNvSpPr/>
              <p:nvPr/>
            </p:nvSpPr>
            <p:spPr bwMode="gray">
              <a:xfrm>
                <a:off x="3997297" y="5870096"/>
                <a:ext cx="762000" cy="27174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dirty="0">
                    <a:ln>
                      <a:noFill/>
                    </a:ln>
                    <a:solidFill>
                      <a:prstClr val="black"/>
                    </a:solidFill>
                    <a:effectLst/>
                    <a:uLnTx/>
                    <a:uFillTx/>
                    <a:latin typeface="+mn-ea"/>
                    <a:ea typeface="+mn-ea"/>
                    <a:cs typeface="Arial" charset="0"/>
                  </a:rPr>
                  <a:t>Ethereum</a:t>
                </a:r>
                <a:endParaRPr kumimoji="0" lang="ja-JP" altLang="en-US" sz="900" b="0" i="0" u="none" strike="noStrike" kern="0" cap="none" spc="0" normalizeH="0" baseline="0" noProof="0" dirty="0">
                  <a:ln>
                    <a:noFill/>
                  </a:ln>
                  <a:solidFill>
                    <a:prstClr val="black"/>
                  </a:solidFill>
                  <a:effectLst/>
                  <a:uLnTx/>
                  <a:uFillTx/>
                  <a:latin typeface="+mn-ea"/>
                  <a:ea typeface="+mn-ea"/>
                  <a:cs typeface="Arial" charset="0"/>
                </a:endParaRPr>
              </a:p>
            </p:txBody>
          </p:sp>
        </p:grpSp>
        <p:sp>
          <p:nvSpPr>
            <p:cNvPr id="43" name="正方形/長方形 42">
              <a:extLst>
                <a:ext uri="{FF2B5EF4-FFF2-40B4-BE49-F238E27FC236}">
                  <a16:creationId xmlns:a16="http://schemas.microsoft.com/office/drawing/2014/main" id="{66A3A4A3-6B51-2506-2177-492C80C84E62}"/>
                </a:ext>
              </a:extLst>
            </p:cNvPr>
            <p:cNvSpPr/>
            <p:nvPr/>
          </p:nvSpPr>
          <p:spPr bwMode="gray">
            <a:xfrm>
              <a:off x="5801017" y="5870096"/>
              <a:ext cx="658800" cy="27174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dirty="0">
                  <a:ln>
                    <a:noFill/>
                  </a:ln>
                  <a:solidFill>
                    <a:prstClr val="black"/>
                  </a:solidFill>
                  <a:effectLst/>
                  <a:uLnTx/>
                  <a:uFillTx/>
                  <a:latin typeface="+mn-ea"/>
                  <a:ea typeface="+mn-ea"/>
                  <a:cs typeface="Arial" charset="0"/>
                </a:rPr>
                <a:t>P2P</a:t>
              </a:r>
              <a:endParaRPr kumimoji="0" lang="ja-JP" altLang="en-US" sz="9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44" name="正方形/長方形 43">
              <a:extLst>
                <a:ext uri="{FF2B5EF4-FFF2-40B4-BE49-F238E27FC236}">
                  <a16:creationId xmlns:a16="http://schemas.microsoft.com/office/drawing/2014/main" id="{E50B9505-2511-5539-EF4F-053E89897D64}"/>
                </a:ext>
              </a:extLst>
            </p:cNvPr>
            <p:cNvSpPr/>
            <p:nvPr/>
          </p:nvSpPr>
          <p:spPr bwMode="gray">
            <a:xfrm>
              <a:off x="3418725" y="5665718"/>
              <a:ext cx="2281982" cy="159413"/>
            </a:xfrm>
            <a:prstGeom prst="rect">
              <a:avLst/>
            </a:prstGeom>
            <a:solidFill>
              <a:sysClr val="window" lastClr="FFFFFF">
                <a:lumMod val="6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100" b="0" i="0" u="none" strike="noStrike" kern="0" cap="none" spc="0" normalizeH="0" baseline="0" noProof="0" dirty="0">
                  <a:ln>
                    <a:noFill/>
                  </a:ln>
                  <a:solidFill>
                    <a:prstClr val="white"/>
                  </a:solidFill>
                  <a:effectLst/>
                  <a:uLnTx/>
                  <a:uFillTx/>
                  <a:latin typeface="+mn-ea"/>
                  <a:ea typeface="+mn-ea"/>
                  <a:cs typeface="Arial" charset="0"/>
                </a:rPr>
                <a:t>B/C</a:t>
              </a:r>
              <a:r>
                <a:rPr kumimoji="0" lang="ja-JP" altLang="en-US" sz="1100" b="0" i="0" u="none" strike="noStrike" kern="0" cap="none" spc="0" normalizeH="0" baseline="0" noProof="0" dirty="0">
                  <a:ln>
                    <a:noFill/>
                  </a:ln>
                  <a:solidFill>
                    <a:prstClr val="white"/>
                  </a:solidFill>
                  <a:effectLst/>
                  <a:uLnTx/>
                  <a:uFillTx/>
                  <a:latin typeface="+mn-ea"/>
                  <a:ea typeface="+mn-ea"/>
                  <a:cs typeface="Arial" charset="0"/>
                </a:rPr>
                <a:t>活用</a:t>
              </a:r>
            </a:p>
          </p:txBody>
        </p:sp>
        <p:sp>
          <p:nvSpPr>
            <p:cNvPr id="45" name="正方形/長方形 44">
              <a:extLst>
                <a:ext uri="{FF2B5EF4-FFF2-40B4-BE49-F238E27FC236}">
                  <a16:creationId xmlns:a16="http://schemas.microsoft.com/office/drawing/2014/main" id="{B65D4D66-22FA-7622-F2F0-70379C8A9799}"/>
                </a:ext>
              </a:extLst>
            </p:cNvPr>
            <p:cNvSpPr/>
            <p:nvPr/>
          </p:nvSpPr>
          <p:spPr bwMode="gray">
            <a:xfrm>
              <a:off x="5801017" y="5665717"/>
              <a:ext cx="2322278" cy="169914"/>
            </a:xfrm>
            <a:prstGeom prst="rect">
              <a:avLst/>
            </a:prstGeom>
            <a:solidFill>
              <a:sysClr val="window" lastClr="FFFFFF">
                <a:lumMod val="6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100" b="0" i="0" u="none" strike="noStrike" kern="0" cap="none" spc="0" normalizeH="0" baseline="0" noProof="0" dirty="0">
                  <a:ln>
                    <a:noFill/>
                  </a:ln>
                  <a:solidFill>
                    <a:prstClr val="white"/>
                  </a:solidFill>
                  <a:effectLst/>
                  <a:uLnTx/>
                  <a:uFillTx/>
                  <a:latin typeface="+mn-ea"/>
                  <a:ea typeface="+mn-ea"/>
                  <a:cs typeface="Arial" charset="0"/>
                </a:rPr>
                <a:t>B/C</a:t>
              </a:r>
              <a:r>
                <a:rPr kumimoji="0" lang="ja-JP" altLang="en-US" sz="1100" b="0" i="0" u="none" strike="noStrike" kern="0" cap="none" spc="0" normalizeH="0" baseline="0" noProof="0" dirty="0">
                  <a:ln>
                    <a:noFill/>
                  </a:ln>
                  <a:solidFill>
                    <a:prstClr val="white"/>
                  </a:solidFill>
                  <a:effectLst/>
                  <a:uLnTx/>
                  <a:uFillTx/>
                  <a:latin typeface="+mn-ea"/>
                  <a:ea typeface="+mn-ea"/>
                  <a:cs typeface="Arial" charset="0"/>
                </a:rPr>
                <a:t>非活用</a:t>
              </a:r>
            </a:p>
          </p:txBody>
        </p:sp>
        <p:sp>
          <p:nvSpPr>
            <p:cNvPr id="107" name="正方形/長方形 106">
              <a:extLst>
                <a:ext uri="{FF2B5EF4-FFF2-40B4-BE49-F238E27FC236}">
                  <a16:creationId xmlns:a16="http://schemas.microsoft.com/office/drawing/2014/main" id="{2C07842A-62F7-CF24-2418-7975F0FEE001}"/>
                </a:ext>
              </a:extLst>
            </p:cNvPr>
            <p:cNvSpPr/>
            <p:nvPr/>
          </p:nvSpPr>
          <p:spPr bwMode="gray">
            <a:xfrm>
              <a:off x="7212674" y="5870096"/>
              <a:ext cx="658800" cy="27174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dirty="0">
                  <a:ln>
                    <a:noFill/>
                  </a:ln>
                  <a:solidFill>
                    <a:prstClr val="black"/>
                  </a:solidFill>
                  <a:effectLst/>
                  <a:uLnTx/>
                  <a:uFillTx/>
                  <a:latin typeface="+mn-ea"/>
                  <a:ea typeface="+mn-ea"/>
                  <a:cs typeface="Arial" charset="0"/>
                </a:rPr>
                <a:t>IPFS</a:t>
              </a:r>
              <a:endParaRPr kumimoji="0" lang="ja-JP" altLang="en-US" sz="900" b="0" i="0" u="none" strike="noStrike" kern="0" cap="none" spc="0" normalizeH="0" baseline="0" noProof="0" dirty="0">
                <a:ln>
                  <a:noFill/>
                </a:ln>
                <a:solidFill>
                  <a:prstClr val="black"/>
                </a:solidFill>
                <a:effectLst/>
                <a:uLnTx/>
                <a:uFillTx/>
                <a:latin typeface="+mn-ea"/>
                <a:ea typeface="+mn-ea"/>
                <a:cs typeface="Arial" charset="0"/>
              </a:endParaRPr>
            </a:p>
          </p:txBody>
        </p:sp>
      </p:grpSp>
      <p:sp>
        <p:nvSpPr>
          <p:cNvPr id="8" name="テキスト ボックス 7">
            <a:extLst>
              <a:ext uri="{FF2B5EF4-FFF2-40B4-BE49-F238E27FC236}">
                <a16:creationId xmlns:a16="http://schemas.microsoft.com/office/drawing/2014/main" id="{7C2B6772-088A-3ED6-E4A4-12749CC3EA1D}"/>
              </a:ext>
            </a:extLst>
          </p:cNvPr>
          <p:cNvSpPr txBox="1"/>
          <p:nvPr/>
        </p:nvSpPr>
        <p:spPr bwMode="gray">
          <a:xfrm>
            <a:off x="4331194" y="4879759"/>
            <a:ext cx="1011511" cy="61276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latin typeface="+mn-ea"/>
                <a:ea typeface="+mn-ea"/>
                <a:cs typeface="Arial" charset="0"/>
              </a:rPr>
              <a:t>※did</a:t>
            </a:r>
            <a:r>
              <a:rPr kumimoji="0" lang="ja-JP" altLang="en-US" sz="1200" kern="0" dirty="0">
                <a:latin typeface="+mn-ea"/>
                <a:ea typeface="+mn-ea"/>
                <a:cs typeface="Arial" charset="0"/>
              </a:rPr>
              <a:t>を</a:t>
            </a:r>
            <a:endParaRPr kumimoji="0" lang="en-US" altLang="ja-JP" sz="1200" kern="0" dirty="0">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kern="0" dirty="0">
                <a:latin typeface="+mn-ea"/>
                <a:ea typeface="+mn-ea"/>
                <a:cs typeface="Arial" charset="0"/>
              </a:rPr>
              <a:t>活用しない</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11" name="テキスト ボックス 10">
            <a:extLst>
              <a:ext uri="{FF2B5EF4-FFF2-40B4-BE49-F238E27FC236}">
                <a16:creationId xmlns:a16="http://schemas.microsoft.com/office/drawing/2014/main" id="{432B8CBA-D9A0-1A9D-45DC-67B75D6253EC}"/>
              </a:ext>
            </a:extLst>
          </p:cNvPr>
          <p:cNvSpPr txBox="1"/>
          <p:nvPr/>
        </p:nvSpPr>
        <p:spPr bwMode="gray">
          <a:xfrm>
            <a:off x="560651" y="2641686"/>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フォーマット</a:t>
            </a:r>
          </a:p>
        </p:txBody>
      </p:sp>
      <p:sp>
        <p:nvSpPr>
          <p:cNvPr id="12" name="テキスト ボックス 11">
            <a:extLst>
              <a:ext uri="{FF2B5EF4-FFF2-40B4-BE49-F238E27FC236}">
                <a16:creationId xmlns:a16="http://schemas.microsoft.com/office/drawing/2014/main" id="{50F0B77F-250E-3AD9-EF3B-4E3BF1201580}"/>
              </a:ext>
            </a:extLst>
          </p:cNvPr>
          <p:cNvSpPr txBox="1"/>
          <p:nvPr/>
        </p:nvSpPr>
        <p:spPr bwMode="gray">
          <a:xfrm>
            <a:off x="560651" y="3662871"/>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エンティティ間の通信プロトコル</a:t>
            </a:r>
          </a:p>
        </p:txBody>
      </p:sp>
      <p:sp>
        <p:nvSpPr>
          <p:cNvPr id="13" name="テキスト ボックス 12">
            <a:extLst>
              <a:ext uri="{FF2B5EF4-FFF2-40B4-BE49-F238E27FC236}">
                <a16:creationId xmlns:a16="http://schemas.microsoft.com/office/drawing/2014/main" id="{D1F51856-526E-3220-EB69-B04BC4F11AE7}"/>
              </a:ext>
            </a:extLst>
          </p:cNvPr>
          <p:cNvSpPr txBox="1"/>
          <p:nvPr/>
        </p:nvSpPr>
        <p:spPr bwMode="gray">
          <a:xfrm>
            <a:off x="560651" y="4018047"/>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000" b="0" i="0" u="none" strike="noStrike" kern="0" cap="none" spc="0" normalizeH="0" baseline="0" noProof="0" dirty="0">
                <a:ln>
                  <a:noFill/>
                </a:ln>
                <a:solidFill>
                  <a:prstClr val="black"/>
                </a:solidFill>
                <a:effectLst/>
                <a:uLnTx/>
                <a:uFillTx/>
                <a:latin typeface="+mn-ea"/>
                <a:ea typeface="+mn-ea"/>
                <a:cs typeface="+mn-cs"/>
              </a:rPr>
              <a:t>通信</a:t>
            </a:r>
            <a:r>
              <a:rPr kumimoji="1" lang="en-US" altLang="ja-JP" sz="1000" b="0" i="0" u="none" strike="noStrike" kern="0" cap="none" spc="0" normalizeH="0" baseline="0" noProof="0" dirty="0">
                <a:ln>
                  <a:noFill/>
                </a:ln>
                <a:solidFill>
                  <a:prstClr val="black"/>
                </a:solidFill>
                <a:effectLst/>
                <a:uLnTx/>
                <a:uFillTx/>
                <a:latin typeface="+mn-ea"/>
                <a:ea typeface="+mn-ea"/>
                <a:cs typeface="+mn-cs"/>
              </a:rPr>
              <a:t>I/F(</a:t>
            </a:r>
            <a:r>
              <a:rPr kumimoji="1" lang="ja-JP" altLang="en-US" sz="1000" b="0" i="0" u="none" strike="noStrike" kern="0" cap="none" spc="0" normalizeH="0" baseline="0" noProof="0" dirty="0">
                <a:ln>
                  <a:noFill/>
                </a:ln>
                <a:solidFill>
                  <a:prstClr val="black"/>
                </a:solidFill>
                <a:effectLst/>
                <a:uLnTx/>
                <a:uFillTx/>
                <a:latin typeface="+mn-ea"/>
                <a:ea typeface="+mn-ea"/>
                <a:cs typeface="+mn-cs"/>
              </a:rPr>
              <a:t>デバイス連携</a:t>
            </a:r>
            <a:r>
              <a:rPr kumimoji="1" lang="en-US" altLang="ja-JP" sz="1000" b="0" i="0" u="none" strike="noStrike" kern="0" cap="none" spc="0" normalizeH="0" baseline="0" noProof="0" dirty="0">
                <a:ln>
                  <a:noFill/>
                </a:ln>
                <a:solidFill>
                  <a:prstClr val="black"/>
                </a:solidFill>
                <a:effectLst/>
                <a:uLnTx/>
                <a:uFillTx/>
                <a:latin typeface="+mn-ea"/>
                <a:ea typeface="+mn-ea"/>
                <a:cs typeface="+mn-cs"/>
              </a:rPr>
              <a:t>)</a:t>
            </a:r>
          </a:p>
        </p:txBody>
      </p:sp>
      <p:sp>
        <p:nvSpPr>
          <p:cNvPr id="15" name="テキスト ボックス 14">
            <a:extLst>
              <a:ext uri="{FF2B5EF4-FFF2-40B4-BE49-F238E27FC236}">
                <a16:creationId xmlns:a16="http://schemas.microsoft.com/office/drawing/2014/main" id="{71B08C31-129A-CDC1-291F-5FE09FF4CCF3}"/>
              </a:ext>
            </a:extLst>
          </p:cNvPr>
          <p:cNvSpPr txBox="1"/>
          <p:nvPr/>
        </p:nvSpPr>
        <p:spPr bwMode="gray">
          <a:xfrm>
            <a:off x="560651" y="3070166"/>
            <a:ext cx="1589367" cy="308168"/>
          </a:xfrm>
          <a:prstGeom prst="rect">
            <a:avLst/>
          </a:prstGeom>
          <a:solidFill>
            <a:schemeClr val="bg1"/>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利用される暗号方式</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kern="0" dirty="0">
                <a:solidFill>
                  <a:prstClr val="black"/>
                </a:solidFill>
                <a:latin typeface="+mn-ea"/>
                <a:ea typeface="+mn-ea"/>
                <a:cs typeface="Arial" charset="0"/>
              </a:rPr>
              <a:t>(</a:t>
            </a:r>
            <a:r>
              <a:rPr kumimoji="0" lang="ja-JP" altLang="en-US" sz="1000" kern="0" dirty="0">
                <a:solidFill>
                  <a:prstClr val="black"/>
                </a:solidFill>
                <a:latin typeface="+mn-ea"/>
                <a:ea typeface="+mn-ea"/>
                <a:cs typeface="Arial" charset="0"/>
              </a:rPr>
              <a:t>選択的属性開示含</a:t>
            </a:r>
            <a:r>
              <a:rPr kumimoji="0" lang="en-US" altLang="ja-JP" sz="1000" kern="0" dirty="0">
                <a:solidFill>
                  <a:prstClr val="black"/>
                </a:solidFill>
                <a:latin typeface="+mn-ea"/>
                <a:ea typeface="+mn-ea"/>
                <a:cs typeface="Arial" charset="0"/>
              </a:rPr>
              <a:t>)</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7" name="テキスト ボックス 16">
            <a:extLst>
              <a:ext uri="{FF2B5EF4-FFF2-40B4-BE49-F238E27FC236}">
                <a16:creationId xmlns:a16="http://schemas.microsoft.com/office/drawing/2014/main" id="{FE47B664-6052-6DF9-DCB1-FB0FDF9F1A92}"/>
              </a:ext>
            </a:extLst>
          </p:cNvPr>
          <p:cNvSpPr txBox="1"/>
          <p:nvPr/>
        </p:nvSpPr>
        <p:spPr bwMode="gray">
          <a:xfrm>
            <a:off x="560651" y="1932973"/>
            <a:ext cx="1589367"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18" name="テキスト ボックス 17">
            <a:extLst>
              <a:ext uri="{FF2B5EF4-FFF2-40B4-BE49-F238E27FC236}">
                <a16:creationId xmlns:a16="http://schemas.microsoft.com/office/drawing/2014/main" id="{2406F5F2-9B83-8D25-A752-040142BF250C}"/>
              </a:ext>
            </a:extLst>
          </p:cNvPr>
          <p:cNvSpPr txBox="1"/>
          <p:nvPr/>
        </p:nvSpPr>
        <p:spPr bwMode="gray">
          <a:xfrm>
            <a:off x="560651" y="2272302"/>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検証者に提供する</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19" name="テキスト ボックス 18">
            <a:extLst>
              <a:ext uri="{FF2B5EF4-FFF2-40B4-BE49-F238E27FC236}">
                <a16:creationId xmlns:a16="http://schemas.microsoft.com/office/drawing/2014/main" id="{3756D3A5-1D4A-DBFB-ADB6-4E6467269EE9}"/>
              </a:ext>
            </a:extLst>
          </p:cNvPr>
          <p:cNvSpPr txBox="1"/>
          <p:nvPr/>
        </p:nvSpPr>
        <p:spPr bwMode="gray">
          <a:xfrm>
            <a:off x="560651" y="4882757"/>
            <a:ext cx="1589367" cy="271313"/>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a:ln>
                  <a:noFill/>
                </a:ln>
                <a:effectLst/>
                <a:uLnTx/>
                <a:uFillTx/>
                <a:latin typeface="+mn-ea"/>
                <a:ea typeface="+mn-ea"/>
                <a:cs typeface="Arial" charset="0"/>
              </a:rPr>
              <a:t>システムアクセスの</a:t>
            </a:r>
            <a:endParaRPr kumimoji="0" lang="en-US" altLang="ja-JP" sz="1000" b="0" i="0" u="none" strike="noStrike" kern="0" cap="none" spc="0" normalizeH="0" baseline="0" noProof="0">
              <a:ln>
                <a:noFill/>
              </a:ln>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a:ln>
                  <a:noFill/>
                </a:ln>
                <a:effectLst/>
                <a:uLnTx/>
                <a:uFillTx/>
                <a:latin typeface="+mn-ea"/>
                <a:ea typeface="+mn-ea"/>
                <a:cs typeface="Arial" charset="0"/>
              </a:rPr>
              <a:t>ための識別子</a:t>
            </a:r>
            <a:endParaRPr kumimoji="0" lang="en-US" altLang="ja-JP" sz="1000" b="0" i="0" u="none" strike="noStrike" kern="0" cap="none" spc="0" normalizeH="0" baseline="0" noProof="0">
              <a:ln>
                <a:noFill/>
              </a:ln>
              <a:effectLst/>
              <a:uLnTx/>
              <a:uFillTx/>
              <a:latin typeface="+mn-ea"/>
              <a:ea typeface="+mn-ea"/>
              <a:cs typeface="Arial" charset="0"/>
            </a:endParaRPr>
          </a:p>
        </p:txBody>
      </p:sp>
      <p:sp>
        <p:nvSpPr>
          <p:cNvPr id="20" name="テキスト ボックス 19">
            <a:extLst>
              <a:ext uri="{FF2B5EF4-FFF2-40B4-BE49-F238E27FC236}">
                <a16:creationId xmlns:a16="http://schemas.microsoft.com/office/drawing/2014/main" id="{1F9D3E8B-7806-2A83-F84E-BC542B832306}"/>
              </a:ext>
            </a:extLst>
          </p:cNvPr>
          <p:cNvSpPr txBox="1"/>
          <p:nvPr/>
        </p:nvSpPr>
        <p:spPr bwMode="gray">
          <a:xfrm>
            <a:off x="560651" y="5221207"/>
            <a:ext cx="1589367" cy="271313"/>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kern="0" dirty="0">
                <a:latin typeface="+mn-ea"/>
                <a:ea typeface="+mn-ea"/>
                <a:cs typeface="Arial" charset="0"/>
              </a:rPr>
              <a:t>DID</a:t>
            </a:r>
            <a:r>
              <a:rPr kumimoji="0" lang="ja-JP" altLang="en-US" sz="1000" b="0" i="0" u="none" strike="noStrike" kern="0" cap="none" spc="0" normalizeH="0" baseline="0" noProof="0" dirty="0">
                <a:ln>
                  <a:noFill/>
                </a:ln>
                <a:effectLst/>
                <a:uLnTx/>
                <a:uFillTx/>
                <a:latin typeface="+mn-ea"/>
                <a:ea typeface="+mn-ea"/>
                <a:cs typeface="Arial" charset="0"/>
              </a:rPr>
              <a:t>メソッド</a:t>
            </a:r>
            <a:endParaRPr kumimoji="0" lang="en-US" altLang="ja-JP" sz="1000" b="0" i="0" u="none" strike="noStrike" kern="0" cap="none" spc="0" normalizeH="0" baseline="0" noProof="0" dirty="0">
              <a:ln>
                <a:noFill/>
              </a:ln>
              <a:effectLst/>
              <a:uLnTx/>
              <a:uFillTx/>
              <a:latin typeface="+mn-ea"/>
              <a:ea typeface="+mn-ea"/>
              <a:cs typeface="Arial" charset="0"/>
            </a:endParaRPr>
          </a:p>
        </p:txBody>
      </p:sp>
      <p:grpSp>
        <p:nvGrpSpPr>
          <p:cNvPr id="85" name="グループ化 84">
            <a:extLst>
              <a:ext uri="{FF2B5EF4-FFF2-40B4-BE49-F238E27FC236}">
                <a16:creationId xmlns:a16="http://schemas.microsoft.com/office/drawing/2014/main" id="{256A0713-4A49-ED55-6AE2-39DCBDCB9CB5}"/>
              </a:ext>
            </a:extLst>
          </p:cNvPr>
          <p:cNvGrpSpPr/>
          <p:nvPr/>
        </p:nvGrpSpPr>
        <p:grpSpPr>
          <a:xfrm>
            <a:off x="4322316" y="3659398"/>
            <a:ext cx="4300891" cy="628783"/>
            <a:chOff x="2331194" y="3767633"/>
            <a:chExt cx="4890281" cy="628783"/>
          </a:xfrm>
        </p:grpSpPr>
        <p:sp>
          <p:nvSpPr>
            <p:cNvPr id="6" name="テキスト ボックス 5">
              <a:extLst>
                <a:ext uri="{FF2B5EF4-FFF2-40B4-BE49-F238E27FC236}">
                  <a16:creationId xmlns:a16="http://schemas.microsoft.com/office/drawing/2014/main" id="{F113EEA0-B385-DFC1-7DC5-6FCF66BD6BFD}"/>
                </a:ext>
              </a:extLst>
            </p:cNvPr>
            <p:cNvSpPr txBox="1"/>
            <p:nvPr/>
          </p:nvSpPr>
          <p:spPr bwMode="gray">
            <a:xfrm>
              <a:off x="2341289" y="3767633"/>
              <a:ext cx="2401192"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DIDcomm</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(v1 / v2)</a:t>
              </a:r>
            </a:p>
          </p:txBody>
        </p:sp>
        <p:sp>
          <p:nvSpPr>
            <p:cNvPr id="38" name="テキスト ボックス 37">
              <a:extLst>
                <a:ext uri="{FF2B5EF4-FFF2-40B4-BE49-F238E27FC236}">
                  <a16:creationId xmlns:a16="http://schemas.microsoft.com/office/drawing/2014/main" id="{7189A920-5443-6A2F-D6AC-7580534CA50B}"/>
                </a:ext>
              </a:extLst>
            </p:cNvPr>
            <p:cNvSpPr txBox="1"/>
            <p:nvPr/>
          </p:nvSpPr>
          <p:spPr bwMode="gray">
            <a:xfrm>
              <a:off x="4820283" y="3767633"/>
              <a:ext cx="2401192"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SIOP v2</a:t>
              </a:r>
            </a:p>
          </p:txBody>
        </p:sp>
        <p:sp>
          <p:nvSpPr>
            <p:cNvPr id="91" name="テキスト ボックス 90">
              <a:extLst>
                <a:ext uri="{FF2B5EF4-FFF2-40B4-BE49-F238E27FC236}">
                  <a16:creationId xmlns:a16="http://schemas.microsoft.com/office/drawing/2014/main" id="{0F69E24E-0115-72D4-C8F5-03C9546E9549}"/>
                </a:ext>
              </a:extLst>
            </p:cNvPr>
            <p:cNvSpPr txBox="1"/>
            <p:nvPr/>
          </p:nvSpPr>
          <p:spPr bwMode="gray">
            <a:xfrm>
              <a:off x="5681840" y="4125103"/>
              <a:ext cx="104460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BLE</a:t>
              </a:r>
            </a:p>
          </p:txBody>
        </p:sp>
        <p:sp>
          <p:nvSpPr>
            <p:cNvPr id="92" name="テキスト ボックス 91">
              <a:extLst>
                <a:ext uri="{FF2B5EF4-FFF2-40B4-BE49-F238E27FC236}">
                  <a16:creationId xmlns:a16="http://schemas.microsoft.com/office/drawing/2014/main" id="{8625F149-FBCD-B459-696E-FE2B70AD9EAC}"/>
                </a:ext>
              </a:extLst>
            </p:cNvPr>
            <p:cNvSpPr txBox="1"/>
            <p:nvPr/>
          </p:nvSpPr>
          <p:spPr bwMode="gray">
            <a:xfrm>
              <a:off x="2331194" y="4125103"/>
              <a:ext cx="104460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連携なし</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93" name="テキスト ボックス 92">
              <a:extLst>
                <a:ext uri="{FF2B5EF4-FFF2-40B4-BE49-F238E27FC236}">
                  <a16:creationId xmlns:a16="http://schemas.microsoft.com/office/drawing/2014/main" id="{7CD2785F-4A4B-7BF8-4FD0-2790754A4186}"/>
                </a:ext>
              </a:extLst>
            </p:cNvPr>
            <p:cNvSpPr txBox="1"/>
            <p:nvPr/>
          </p:nvSpPr>
          <p:spPr bwMode="gray">
            <a:xfrm>
              <a:off x="3452894" y="4125103"/>
              <a:ext cx="104460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QR</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94" name="テキスト ボックス 93">
              <a:extLst>
                <a:ext uri="{FF2B5EF4-FFF2-40B4-BE49-F238E27FC236}">
                  <a16:creationId xmlns:a16="http://schemas.microsoft.com/office/drawing/2014/main" id="{25708F17-40C6-9331-DF67-B9573DE43475}"/>
                </a:ext>
              </a:extLst>
            </p:cNvPr>
            <p:cNvSpPr txBox="1"/>
            <p:nvPr/>
          </p:nvSpPr>
          <p:spPr bwMode="gray">
            <a:xfrm>
              <a:off x="4575734" y="4125103"/>
              <a:ext cx="104460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NFC</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grpSp>
      <p:sp>
        <p:nvSpPr>
          <p:cNvPr id="55" name="テキスト ボックス 54">
            <a:extLst>
              <a:ext uri="{FF2B5EF4-FFF2-40B4-BE49-F238E27FC236}">
                <a16:creationId xmlns:a16="http://schemas.microsoft.com/office/drawing/2014/main" id="{529255F5-0440-3DC0-B558-CFDEA0FA2D89}"/>
              </a:ext>
            </a:extLst>
          </p:cNvPr>
          <p:cNvSpPr txBox="1"/>
          <p:nvPr/>
        </p:nvSpPr>
        <p:spPr bwMode="gray">
          <a:xfrm>
            <a:off x="5399971" y="4879760"/>
            <a:ext cx="3223237" cy="271312"/>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effectLst/>
                <a:uLnTx/>
                <a:uFillTx/>
                <a:latin typeface="+mn-ea"/>
                <a:ea typeface="+mn-ea"/>
                <a:cs typeface="Arial" charset="0"/>
              </a:rPr>
              <a:t>DID</a:t>
            </a:r>
            <a:r>
              <a:rPr kumimoji="0" lang="ja-JP" altLang="en-US" sz="1200" b="0" i="0" u="none" strike="noStrike" kern="0" cap="none" spc="0" normalizeH="0" baseline="0" noProof="0" dirty="0">
                <a:ln>
                  <a:noFill/>
                </a:ln>
                <a:effectLst/>
                <a:uLnTx/>
                <a:uFillTx/>
                <a:latin typeface="+mn-ea"/>
                <a:ea typeface="+mn-ea"/>
                <a:cs typeface="Arial" charset="0"/>
              </a:rPr>
              <a:t>メソッド</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56" name="テキスト ボックス 55">
            <a:extLst>
              <a:ext uri="{FF2B5EF4-FFF2-40B4-BE49-F238E27FC236}">
                <a16:creationId xmlns:a16="http://schemas.microsoft.com/office/drawing/2014/main" id="{2A2CCF89-7158-A59B-4C40-39D3AB0BDADD}"/>
              </a:ext>
            </a:extLst>
          </p:cNvPr>
          <p:cNvSpPr txBox="1"/>
          <p:nvPr/>
        </p:nvSpPr>
        <p:spPr bwMode="gray">
          <a:xfrm>
            <a:off x="5399972" y="5234976"/>
            <a:ext cx="878904" cy="24845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effectLst/>
                <a:uLnTx/>
                <a:uFillTx/>
                <a:latin typeface="+mn-ea"/>
                <a:ea typeface="+mn-ea"/>
                <a:cs typeface="Arial" charset="0"/>
              </a:rPr>
              <a:t>did</a:t>
            </a:r>
            <a:r>
              <a:rPr kumimoji="0" lang="ja-JP" altLang="en-US" sz="1200" b="0" i="0" u="none" strike="noStrike" kern="0" cap="none" spc="0" normalizeH="0" baseline="0" noProof="0" dirty="0">
                <a:ln>
                  <a:noFill/>
                </a:ln>
                <a:effectLst/>
                <a:uLnTx/>
                <a:uFillTx/>
                <a:latin typeface="+mn-ea"/>
                <a:ea typeface="+mn-ea"/>
                <a:cs typeface="Arial" charset="0"/>
              </a:rPr>
              <a:t>：</a:t>
            </a:r>
            <a:r>
              <a:rPr kumimoji="0" lang="en-US" altLang="ja-JP" sz="1200" b="0" i="0" u="none" strike="noStrike" kern="0" cap="none" spc="0" normalizeH="0" baseline="0" noProof="0" dirty="0" err="1">
                <a:ln>
                  <a:noFill/>
                </a:ln>
                <a:effectLst/>
                <a:uLnTx/>
                <a:uFillTx/>
                <a:latin typeface="+mn-ea"/>
                <a:ea typeface="+mn-ea"/>
                <a:cs typeface="Arial" charset="0"/>
              </a:rPr>
              <a:t>indy</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57" name="テキスト ボックス 56">
            <a:extLst>
              <a:ext uri="{FF2B5EF4-FFF2-40B4-BE49-F238E27FC236}">
                <a16:creationId xmlns:a16="http://schemas.microsoft.com/office/drawing/2014/main" id="{6F126DAA-86EB-7C9C-A6FA-EE5DBCE8C297}"/>
              </a:ext>
            </a:extLst>
          </p:cNvPr>
          <p:cNvSpPr txBox="1"/>
          <p:nvPr/>
        </p:nvSpPr>
        <p:spPr bwMode="gray">
          <a:xfrm>
            <a:off x="6336143" y="5234976"/>
            <a:ext cx="878904" cy="24845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effectLst/>
                <a:uLnTx/>
                <a:uFillTx/>
                <a:latin typeface="+mn-ea"/>
                <a:ea typeface="+mn-ea"/>
                <a:cs typeface="Arial" charset="0"/>
              </a:rPr>
              <a:t>did</a:t>
            </a:r>
            <a:r>
              <a:rPr kumimoji="0" lang="ja-JP" altLang="en-US" sz="1200" b="0" i="0" u="none" strike="noStrike" kern="0" cap="none" spc="0" normalizeH="0" baseline="0" noProof="0" dirty="0">
                <a:ln>
                  <a:noFill/>
                </a:ln>
                <a:effectLst/>
                <a:uLnTx/>
                <a:uFillTx/>
                <a:latin typeface="+mn-ea"/>
                <a:ea typeface="+mn-ea"/>
                <a:cs typeface="Arial" charset="0"/>
              </a:rPr>
              <a:t>：</a:t>
            </a:r>
            <a:r>
              <a:rPr kumimoji="0" lang="en-US" altLang="ja-JP" sz="1200" b="0" i="0" u="none" strike="noStrike" kern="0" cap="none" spc="0" normalizeH="0" baseline="0" noProof="0" dirty="0">
                <a:ln>
                  <a:noFill/>
                </a:ln>
                <a:effectLst/>
                <a:uLnTx/>
                <a:uFillTx/>
                <a:latin typeface="+mn-ea"/>
                <a:ea typeface="+mn-ea"/>
                <a:cs typeface="Arial" charset="0"/>
              </a:rPr>
              <a:t>web</a:t>
            </a:r>
          </a:p>
        </p:txBody>
      </p:sp>
      <p:sp>
        <p:nvSpPr>
          <p:cNvPr id="58" name="テキスト ボックス 57">
            <a:extLst>
              <a:ext uri="{FF2B5EF4-FFF2-40B4-BE49-F238E27FC236}">
                <a16:creationId xmlns:a16="http://schemas.microsoft.com/office/drawing/2014/main" id="{D819DD7E-8927-0CA6-6FD1-6A9B52592108}"/>
              </a:ext>
            </a:extLst>
          </p:cNvPr>
          <p:cNvSpPr txBox="1"/>
          <p:nvPr/>
        </p:nvSpPr>
        <p:spPr bwMode="gray">
          <a:xfrm>
            <a:off x="7272314" y="5234976"/>
            <a:ext cx="878904" cy="24845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effectLst/>
                <a:uLnTx/>
                <a:uFillTx/>
                <a:latin typeface="+mn-ea"/>
                <a:ea typeface="+mn-ea"/>
                <a:cs typeface="Arial" charset="0"/>
              </a:rPr>
              <a:t>did</a:t>
            </a:r>
            <a:r>
              <a:rPr kumimoji="0" lang="ja-JP" altLang="en-US" sz="1200" b="0" i="0" u="none" strike="noStrike" kern="0" cap="none" spc="0" normalizeH="0" baseline="0" noProof="0" dirty="0">
                <a:ln>
                  <a:noFill/>
                </a:ln>
                <a:effectLst/>
                <a:uLnTx/>
                <a:uFillTx/>
                <a:latin typeface="+mn-ea"/>
                <a:ea typeface="+mn-ea"/>
                <a:cs typeface="Arial" charset="0"/>
              </a:rPr>
              <a:t>：</a:t>
            </a:r>
            <a:r>
              <a:rPr kumimoji="0" lang="en-US" altLang="ja-JP" sz="1200" b="0" i="0" u="none" strike="noStrike" kern="0" cap="none" spc="0" normalizeH="0" baseline="0" noProof="0" dirty="0" err="1">
                <a:ln>
                  <a:noFill/>
                </a:ln>
                <a:effectLst/>
                <a:uLnTx/>
                <a:uFillTx/>
                <a:latin typeface="+mn-ea"/>
                <a:ea typeface="+mn-ea"/>
                <a:cs typeface="Arial" charset="0"/>
              </a:rPr>
              <a:t>sov</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65" name="正方形/長方形 64">
            <a:extLst>
              <a:ext uri="{FF2B5EF4-FFF2-40B4-BE49-F238E27FC236}">
                <a16:creationId xmlns:a16="http://schemas.microsoft.com/office/drawing/2014/main" id="{E32B8FE8-75CF-D1E3-691F-B6FA94EA4875}"/>
              </a:ext>
            </a:extLst>
          </p:cNvPr>
          <p:cNvSpPr/>
          <p:nvPr/>
        </p:nvSpPr>
        <p:spPr>
          <a:xfrm>
            <a:off x="273051" y="908050"/>
            <a:ext cx="1876968" cy="849093"/>
          </a:xfrm>
          <a:prstGeom prst="rect">
            <a:avLst/>
          </a:prstGeom>
          <a:solidFill>
            <a:schemeClr val="accent1"/>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dirty="0">
                <a:solidFill>
                  <a:schemeClr val="bg1"/>
                </a:solidFill>
                <a:latin typeface="+mn-ea"/>
              </a:rPr>
              <a:t>総評</a:t>
            </a:r>
          </a:p>
        </p:txBody>
      </p:sp>
      <p:grpSp>
        <p:nvGrpSpPr>
          <p:cNvPr id="70" name="グループ化 69">
            <a:extLst>
              <a:ext uri="{FF2B5EF4-FFF2-40B4-BE49-F238E27FC236}">
                <a16:creationId xmlns:a16="http://schemas.microsoft.com/office/drawing/2014/main" id="{67E1660B-53A9-E261-D3E9-EDF027B4EF1B}"/>
              </a:ext>
            </a:extLst>
          </p:cNvPr>
          <p:cNvGrpSpPr/>
          <p:nvPr/>
        </p:nvGrpSpPr>
        <p:grpSpPr>
          <a:xfrm>
            <a:off x="4330925" y="2628798"/>
            <a:ext cx="4270184" cy="271313"/>
            <a:chOff x="2341289" y="2709133"/>
            <a:chExt cx="2478994" cy="271313"/>
          </a:xfrm>
        </p:grpSpPr>
        <p:sp>
          <p:nvSpPr>
            <p:cNvPr id="4" name="テキスト ボックス 3">
              <a:extLst>
                <a:ext uri="{FF2B5EF4-FFF2-40B4-BE49-F238E27FC236}">
                  <a16:creationId xmlns:a16="http://schemas.microsoft.com/office/drawing/2014/main" id="{EDB48461-4991-4502-A211-563BDD47451E}"/>
                </a:ext>
              </a:extLst>
            </p:cNvPr>
            <p:cNvSpPr txBox="1"/>
            <p:nvPr/>
          </p:nvSpPr>
          <p:spPr bwMode="gray">
            <a:xfrm>
              <a:off x="2341289" y="2709133"/>
              <a:ext cx="795450"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JWT-VC</a:t>
              </a:r>
            </a:p>
          </p:txBody>
        </p:sp>
        <p:sp>
          <p:nvSpPr>
            <p:cNvPr id="28" name="テキスト ボックス 27">
              <a:extLst>
                <a:ext uri="{FF2B5EF4-FFF2-40B4-BE49-F238E27FC236}">
                  <a16:creationId xmlns:a16="http://schemas.microsoft.com/office/drawing/2014/main" id="{3B713683-55A2-F6A6-63EC-5B32CA35FF3A}"/>
                </a:ext>
              </a:extLst>
            </p:cNvPr>
            <p:cNvSpPr txBox="1"/>
            <p:nvPr/>
          </p:nvSpPr>
          <p:spPr bwMode="gray">
            <a:xfrm>
              <a:off x="4024833" y="2709133"/>
              <a:ext cx="795450"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LDP-VC</a:t>
              </a:r>
            </a:p>
          </p:txBody>
        </p:sp>
        <p:sp>
          <p:nvSpPr>
            <p:cNvPr id="33" name="テキスト ボックス 32">
              <a:extLst>
                <a:ext uri="{FF2B5EF4-FFF2-40B4-BE49-F238E27FC236}">
                  <a16:creationId xmlns:a16="http://schemas.microsoft.com/office/drawing/2014/main" id="{942A4E2F-53E1-1367-A547-5BA8AD36266D}"/>
                </a:ext>
              </a:extLst>
            </p:cNvPr>
            <p:cNvSpPr txBox="1"/>
            <p:nvPr/>
          </p:nvSpPr>
          <p:spPr bwMode="gray">
            <a:xfrm>
              <a:off x="3181528" y="2709133"/>
              <a:ext cx="795450"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SD JWT-VC</a:t>
              </a:r>
            </a:p>
          </p:txBody>
        </p:sp>
      </p:grpSp>
      <p:sp>
        <p:nvSpPr>
          <p:cNvPr id="5" name="テキスト ボックス 4">
            <a:extLst>
              <a:ext uri="{FF2B5EF4-FFF2-40B4-BE49-F238E27FC236}">
                <a16:creationId xmlns:a16="http://schemas.microsoft.com/office/drawing/2014/main" id="{38F832E0-8773-545E-3DF8-09545703D2F8}"/>
              </a:ext>
            </a:extLst>
          </p:cNvPr>
          <p:cNvSpPr txBox="1"/>
          <p:nvPr/>
        </p:nvSpPr>
        <p:spPr bwMode="gray">
          <a:xfrm>
            <a:off x="4322318" y="2278427"/>
            <a:ext cx="2247983"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Verifiable Presentations</a:t>
            </a:r>
          </a:p>
        </p:txBody>
      </p:sp>
      <p:sp>
        <p:nvSpPr>
          <p:cNvPr id="37" name="テキスト ボックス 36">
            <a:extLst>
              <a:ext uri="{FF2B5EF4-FFF2-40B4-BE49-F238E27FC236}">
                <a16:creationId xmlns:a16="http://schemas.microsoft.com/office/drawing/2014/main" id="{A357CFC3-1384-6A2A-D98F-801B4BAF7357}"/>
              </a:ext>
            </a:extLst>
          </p:cNvPr>
          <p:cNvSpPr txBox="1"/>
          <p:nvPr/>
        </p:nvSpPr>
        <p:spPr bwMode="gray">
          <a:xfrm>
            <a:off x="6641529" y="2278326"/>
            <a:ext cx="1963152"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OID4VP</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66" name="正方形/長方形 65">
            <a:extLst>
              <a:ext uri="{FF2B5EF4-FFF2-40B4-BE49-F238E27FC236}">
                <a16:creationId xmlns:a16="http://schemas.microsoft.com/office/drawing/2014/main" id="{9B000D2B-1C79-3DA2-E98C-FD1A21A5E984}"/>
              </a:ext>
            </a:extLst>
          </p:cNvPr>
          <p:cNvSpPr/>
          <p:nvPr/>
        </p:nvSpPr>
        <p:spPr>
          <a:xfrm>
            <a:off x="2188955" y="908050"/>
            <a:ext cx="6970726" cy="849093"/>
          </a:xfrm>
          <a:prstGeom prst="rect">
            <a:avLst/>
          </a:prstGeom>
          <a:solidFill>
            <a:schemeClr val="bg1">
              <a:lumMod val="95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400" dirty="0">
                <a:latin typeface="+mn-ea"/>
              </a:rPr>
              <a:t>Credential Layer</a:t>
            </a:r>
            <a:r>
              <a:rPr lang="ja-JP" altLang="en-US" sz="1400">
                <a:latin typeface="+mn-ea"/>
              </a:rPr>
              <a:t>の証明書フォーマットおよび</a:t>
            </a:r>
            <a:r>
              <a:rPr lang="ja-JP" altLang="en-US" sz="1400" dirty="0">
                <a:latin typeface="+mn-ea"/>
              </a:rPr>
              <a:t>署名</a:t>
            </a:r>
            <a:r>
              <a:rPr lang="ja-JP" altLang="en-US" sz="1400">
                <a:latin typeface="+mn-ea"/>
              </a:rPr>
              <a:t>アルゴリズムの暗号方式は下位レイヤに影響しないため、組合せのバリエーションが多い。検証者に提供する証明書の項目を</a:t>
            </a:r>
            <a:r>
              <a:rPr lang="ja-JP" altLang="en-US" sz="1400" dirty="0">
                <a:latin typeface="+mn-ea"/>
              </a:rPr>
              <a:t>選択的</a:t>
            </a:r>
            <a:r>
              <a:rPr lang="ja-JP" altLang="en-US" sz="1400">
                <a:latin typeface="+mn-ea"/>
              </a:rPr>
              <a:t>に</a:t>
            </a:r>
            <a:r>
              <a:rPr lang="ja-JP" altLang="en-US" sz="1400" dirty="0">
                <a:latin typeface="+mn-ea"/>
              </a:rPr>
              <a:t>開示</a:t>
            </a:r>
            <a:r>
              <a:rPr lang="ja-JP" altLang="en-US" sz="1400">
                <a:latin typeface="+mn-ea"/>
              </a:rPr>
              <a:t>するため既存フォーマットで対応するか、より高機能かつ柔軟性の高い組合せにするかで異なる</a:t>
            </a:r>
            <a:endParaRPr lang="en-US" altLang="ja-JP" sz="1400" dirty="0">
              <a:latin typeface="+mn-ea"/>
            </a:endParaRPr>
          </a:p>
        </p:txBody>
      </p:sp>
      <p:grpSp>
        <p:nvGrpSpPr>
          <p:cNvPr id="175" name="グループ化 174">
            <a:extLst>
              <a:ext uri="{FF2B5EF4-FFF2-40B4-BE49-F238E27FC236}">
                <a16:creationId xmlns:a16="http://schemas.microsoft.com/office/drawing/2014/main" id="{5BCD8970-B439-F039-F2FE-53169E05DF7D}"/>
              </a:ext>
            </a:extLst>
          </p:cNvPr>
          <p:cNvGrpSpPr/>
          <p:nvPr/>
        </p:nvGrpSpPr>
        <p:grpSpPr>
          <a:xfrm>
            <a:off x="4321890" y="3107113"/>
            <a:ext cx="3919039" cy="271313"/>
            <a:chOff x="4298710" y="3344466"/>
            <a:chExt cx="2561234" cy="271313"/>
          </a:xfrm>
        </p:grpSpPr>
        <p:sp>
          <p:nvSpPr>
            <p:cNvPr id="32" name="テキスト ボックス 31">
              <a:extLst>
                <a:ext uri="{FF2B5EF4-FFF2-40B4-BE49-F238E27FC236}">
                  <a16:creationId xmlns:a16="http://schemas.microsoft.com/office/drawing/2014/main" id="{A0185A97-D765-0C68-E248-153B3E9FE940}"/>
                </a:ext>
              </a:extLst>
            </p:cNvPr>
            <p:cNvSpPr txBox="1"/>
            <p:nvPr/>
          </p:nvSpPr>
          <p:spPr bwMode="gray">
            <a:xfrm>
              <a:off x="4298710" y="3344466"/>
              <a:ext cx="825491"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ECDSA</a:t>
              </a:r>
            </a:p>
          </p:txBody>
        </p:sp>
        <p:sp>
          <p:nvSpPr>
            <p:cNvPr id="79" name="テキスト ボックス 78">
              <a:extLst>
                <a:ext uri="{FF2B5EF4-FFF2-40B4-BE49-F238E27FC236}">
                  <a16:creationId xmlns:a16="http://schemas.microsoft.com/office/drawing/2014/main" id="{604DD658-83B3-C818-E6F6-CC420B193914}"/>
                </a:ext>
              </a:extLst>
            </p:cNvPr>
            <p:cNvSpPr txBox="1"/>
            <p:nvPr/>
          </p:nvSpPr>
          <p:spPr bwMode="gray">
            <a:xfrm>
              <a:off x="5168356" y="3344466"/>
              <a:ext cx="820112"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E</a:t>
              </a:r>
              <a:r>
                <a:rPr kumimoji="0" lang="en-US" altLang="ja-JP" sz="1200" kern="0" dirty="0">
                  <a:solidFill>
                    <a:prstClr val="black"/>
                  </a:solidFill>
                  <a:latin typeface="+mn-ea"/>
                  <a:ea typeface="+mn-ea"/>
                  <a:cs typeface="Arial" charset="0"/>
                </a:rPr>
                <a:t>d</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DSA</a:t>
              </a:r>
            </a:p>
          </p:txBody>
        </p:sp>
        <p:sp>
          <p:nvSpPr>
            <p:cNvPr id="80" name="テキスト ボックス 79">
              <a:extLst>
                <a:ext uri="{FF2B5EF4-FFF2-40B4-BE49-F238E27FC236}">
                  <a16:creationId xmlns:a16="http://schemas.microsoft.com/office/drawing/2014/main" id="{0C24BD6E-42F1-08D6-2037-F6EC56E7310F}"/>
                </a:ext>
              </a:extLst>
            </p:cNvPr>
            <p:cNvSpPr txBox="1"/>
            <p:nvPr/>
          </p:nvSpPr>
          <p:spPr bwMode="gray">
            <a:xfrm>
              <a:off x="6039832" y="3344466"/>
              <a:ext cx="820112"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BBS+</a:t>
              </a:r>
            </a:p>
          </p:txBody>
        </p:sp>
      </p:grpSp>
      <p:sp>
        <p:nvSpPr>
          <p:cNvPr id="97" name="四角形: 角を丸くする 96">
            <a:extLst>
              <a:ext uri="{FF2B5EF4-FFF2-40B4-BE49-F238E27FC236}">
                <a16:creationId xmlns:a16="http://schemas.microsoft.com/office/drawing/2014/main" id="{6DA480B9-C46F-8308-5B68-AD25DAD0C418}"/>
              </a:ext>
            </a:extLst>
          </p:cNvPr>
          <p:cNvSpPr/>
          <p:nvPr/>
        </p:nvSpPr>
        <p:spPr>
          <a:xfrm>
            <a:off x="8697358" y="2272302"/>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latin typeface="+mn-ea"/>
              </a:rPr>
              <a:t>2</a:t>
            </a:r>
            <a:endParaRPr kumimoji="1" lang="ja-JP" altLang="en-US" sz="1100" dirty="0">
              <a:latin typeface="+mn-ea"/>
            </a:endParaRPr>
          </a:p>
        </p:txBody>
      </p:sp>
      <p:sp>
        <p:nvSpPr>
          <p:cNvPr id="98" name="四角形: 角を丸くする 97">
            <a:extLst>
              <a:ext uri="{FF2B5EF4-FFF2-40B4-BE49-F238E27FC236}">
                <a16:creationId xmlns:a16="http://schemas.microsoft.com/office/drawing/2014/main" id="{ADFEE255-8B28-A5CE-1520-45CA068D42FC}"/>
              </a:ext>
            </a:extLst>
          </p:cNvPr>
          <p:cNvSpPr/>
          <p:nvPr/>
        </p:nvSpPr>
        <p:spPr>
          <a:xfrm>
            <a:off x="8697358" y="2631911"/>
            <a:ext cx="396478" cy="746422"/>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100" dirty="0">
                <a:latin typeface="+mn-ea"/>
              </a:rPr>
              <a:t>7</a:t>
            </a:r>
            <a:r>
              <a:rPr kumimoji="1" lang="ja-JP" altLang="en-US" sz="1100" dirty="0">
                <a:latin typeface="+mn-ea"/>
              </a:rPr>
              <a:t>*</a:t>
            </a:r>
          </a:p>
        </p:txBody>
      </p:sp>
      <p:sp>
        <p:nvSpPr>
          <p:cNvPr id="102" name="四角形: 角を丸くする 101">
            <a:extLst>
              <a:ext uri="{FF2B5EF4-FFF2-40B4-BE49-F238E27FC236}">
                <a16:creationId xmlns:a16="http://schemas.microsoft.com/office/drawing/2014/main" id="{8FC720BA-2546-E3C2-DBA8-14F056D67436}"/>
              </a:ext>
            </a:extLst>
          </p:cNvPr>
          <p:cNvSpPr/>
          <p:nvPr/>
        </p:nvSpPr>
        <p:spPr>
          <a:xfrm>
            <a:off x="8697358" y="3659398"/>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latin typeface="+mn-ea"/>
              </a:rPr>
              <a:t>2</a:t>
            </a:r>
            <a:endParaRPr kumimoji="1" lang="ja-JP" altLang="en-US" sz="1100" dirty="0">
              <a:latin typeface="+mn-ea"/>
            </a:endParaRPr>
          </a:p>
        </p:txBody>
      </p:sp>
      <p:sp>
        <p:nvSpPr>
          <p:cNvPr id="103" name="四角形: 角を丸くする 102">
            <a:extLst>
              <a:ext uri="{FF2B5EF4-FFF2-40B4-BE49-F238E27FC236}">
                <a16:creationId xmlns:a16="http://schemas.microsoft.com/office/drawing/2014/main" id="{1E43D823-E8F1-073B-C1B7-90712F6F1A66}"/>
              </a:ext>
            </a:extLst>
          </p:cNvPr>
          <p:cNvSpPr/>
          <p:nvPr/>
        </p:nvSpPr>
        <p:spPr>
          <a:xfrm>
            <a:off x="8697358" y="4016868"/>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100" dirty="0">
                <a:latin typeface="+mn-ea"/>
              </a:rPr>
              <a:t>4</a:t>
            </a:r>
            <a:endParaRPr kumimoji="1" lang="ja-JP" altLang="en-US" sz="1100" dirty="0">
              <a:latin typeface="+mn-ea"/>
            </a:endParaRPr>
          </a:p>
        </p:txBody>
      </p:sp>
      <p:sp>
        <p:nvSpPr>
          <p:cNvPr id="109" name="四角形: 角を丸くする 108">
            <a:extLst>
              <a:ext uri="{FF2B5EF4-FFF2-40B4-BE49-F238E27FC236}">
                <a16:creationId xmlns:a16="http://schemas.microsoft.com/office/drawing/2014/main" id="{D40B0713-2C80-3922-5B13-4445FF79075C}"/>
              </a:ext>
            </a:extLst>
          </p:cNvPr>
          <p:cNvSpPr/>
          <p:nvPr/>
        </p:nvSpPr>
        <p:spPr>
          <a:xfrm>
            <a:off x="8697358" y="4879759"/>
            <a:ext cx="396478" cy="496697"/>
          </a:xfrm>
          <a:prstGeom prst="roundRect">
            <a:avLst/>
          </a:prstGeom>
          <a:solidFill>
            <a:srgbClr val="D9D9D9"/>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latin typeface="+mn-ea"/>
              </a:rPr>
              <a:t>100</a:t>
            </a:r>
          </a:p>
          <a:p>
            <a:pPr algn="ctr"/>
            <a:r>
              <a:rPr lang="ja-JP" altLang="en-US" sz="1100" dirty="0">
                <a:latin typeface="+mn-ea"/>
              </a:rPr>
              <a:t>以上</a:t>
            </a:r>
            <a:endParaRPr kumimoji="1" lang="ja-JP" altLang="en-US" sz="1100" dirty="0">
              <a:latin typeface="+mn-ea"/>
            </a:endParaRPr>
          </a:p>
        </p:txBody>
      </p:sp>
      <p:sp>
        <p:nvSpPr>
          <p:cNvPr id="112" name="正方形/長方形 111">
            <a:extLst>
              <a:ext uri="{FF2B5EF4-FFF2-40B4-BE49-F238E27FC236}">
                <a16:creationId xmlns:a16="http://schemas.microsoft.com/office/drawing/2014/main" id="{883A54B0-6B5C-A5A4-BDFF-9258F016ED2E}"/>
              </a:ext>
            </a:extLst>
          </p:cNvPr>
          <p:cNvSpPr/>
          <p:nvPr/>
        </p:nvSpPr>
        <p:spPr>
          <a:xfrm>
            <a:off x="413886" y="4774594"/>
            <a:ext cx="8749365" cy="1674530"/>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13" name="正方形/長方形 112">
            <a:extLst>
              <a:ext uri="{FF2B5EF4-FFF2-40B4-BE49-F238E27FC236}">
                <a16:creationId xmlns:a16="http://schemas.microsoft.com/office/drawing/2014/main" id="{2E857419-EADF-F8B3-FD7F-45BEFCACD7DD}"/>
              </a:ext>
            </a:extLst>
          </p:cNvPr>
          <p:cNvSpPr/>
          <p:nvPr/>
        </p:nvSpPr>
        <p:spPr>
          <a:xfrm>
            <a:off x="9227545" y="4762586"/>
            <a:ext cx="409344" cy="346781"/>
          </a:xfrm>
          <a:prstGeom prst="rect">
            <a:avLst/>
          </a:prstGeom>
          <a:solidFill>
            <a:schemeClr val="bg1">
              <a:lumMod val="75000"/>
            </a:schemeClr>
          </a:solidFill>
          <a:ln w="12700">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N/A</a:t>
            </a:r>
            <a:endParaRPr kumimoji="1" lang="ja-JP" altLang="en-US" sz="1200" dirty="0">
              <a:solidFill>
                <a:schemeClr val="bg1"/>
              </a:solidFill>
              <a:latin typeface="+mn-ea"/>
            </a:endParaRPr>
          </a:p>
        </p:txBody>
      </p:sp>
      <p:sp>
        <p:nvSpPr>
          <p:cNvPr id="117" name="テキスト ボックス 116">
            <a:extLst>
              <a:ext uri="{FF2B5EF4-FFF2-40B4-BE49-F238E27FC236}">
                <a16:creationId xmlns:a16="http://schemas.microsoft.com/office/drawing/2014/main" id="{BD9F3503-FD2E-07FB-4574-38C3F7E909C8}"/>
              </a:ext>
            </a:extLst>
          </p:cNvPr>
          <p:cNvSpPr txBox="1"/>
          <p:nvPr/>
        </p:nvSpPr>
        <p:spPr bwMode="gray">
          <a:xfrm>
            <a:off x="560651" y="4345170"/>
            <a:ext cx="1589367" cy="271313"/>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0" sz="1000" b="0" i="0" u="none" strike="noStrike" kern="0" cap="none" spc="0" normalizeH="0" baseline="0">
                <a:ln>
                  <a:noFill/>
                </a:ln>
                <a:solidFill>
                  <a:prstClr val="black"/>
                </a:solidFill>
                <a:effectLst/>
                <a:uLnTx/>
                <a:uFillTx/>
                <a:latin typeface="Calibri Light"/>
                <a:ea typeface="Yu Gothic UI"/>
                <a:cs typeface="Arial" charset="0"/>
              </a:defRPr>
            </a:lvl1pPr>
          </a:lstStyle>
          <a:p>
            <a:r>
              <a:rPr lang="ja-JP" altLang="en-US" dirty="0">
                <a:latin typeface="+mn-ea"/>
                <a:ea typeface="+mn-ea"/>
              </a:rPr>
              <a:t>鍵管理関連</a:t>
            </a:r>
            <a:endParaRPr lang="en-US" altLang="ja-JP" dirty="0">
              <a:latin typeface="+mn-ea"/>
              <a:ea typeface="+mn-ea"/>
            </a:endParaRPr>
          </a:p>
        </p:txBody>
      </p:sp>
      <p:sp>
        <p:nvSpPr>
          <p:cNvPr id="118" name="正方形/長方形 117">
            <a:extLst>
              <a:ext uri="{FF2B5EF4-FFF2-40B4-BE49-F238E27FC236}">
                <a16:creationId xmlns:a16="http://schemas.microsoft.com/office/drawing/2014/main" id="{2E80AB4D-B735-4CCD-7AB5-DFC97CD8D51B}"/>
              </a:ext>
            </a:extLst>
          </p:cNvPr>
          <p:cNvSpPr/>
          <p:nvPr/>
        </p:nvSpPr>
        <p:spPr>
          <a:xfrm>
            <a:off x="4322316" y="4359823"/>
            <a:ext cx="4300892" cy="256660"/>
          </a:xfrm>
          <a:prstGeom prst="rect">
            <a:avLst/>
          </a:prstGeom>
          <a:solidFill>
            <a:schemeClr val="bg1">
              <a:lumMod val="85000"/>
            </a:schemeClr>
          </a:solidFill>
          <a:ln>
            <a:solidFill>
              <a:sysClr val="windowText" lastClr="000000"/>
            </a:solidFill>
          </a:ln>
        </p:spPr>
        <p:txBody>
          <a:bodyPr wrap="none" lIns="0" tIns="0" rIns="0" bIns="0" rtlCol="0" anchor="ctr" anchorCtr="0">
            <a:noAutofit/>
          </a:bodyPr>
          <a:lstStyle/>
          <a:p>
            <a:pPr algn="ctr" defTabSz="990564" eaLnBrk="1" fontAlgn="auto" hangingPunct="1">
              <a:spcBef>
                <a:spcPts val="0"/>
              </a:spcBef>
              <a:spcAft>
                <a:spcPts val="0"/>
              </a:spcAft>
              <a:buSzPct val="100000"/>
            </a:pPr>
            <a:r>
              <a:rPr kumimoji="0" lang="ja-JP" altLang="en-US" sz="900" kern="0" dirty="0">
                <a:solidFill>
                  <a:prstClr val="black"/>
                </a:solidFill>
                <a:latin typeface="+mn-ea"/>
                <a:ea typeface="+mn-ea"/>
                <a:cs typeface="Arial" charset="0"/>
              </a:rPr>
              <a:t>ウォレット等を実装するハードウェアの種類によって対応すべきパターンが異なる　</a:t>
            </a:r>
            <a:endParaRPr kumimoji="0" lang="en-US" altLang="ja-JP" sz="900" kern="0" dirty="0">
              <a:solidFill>
                <a:prstClr val="black"/>
              </a:solidFill>
              <a:latin typeface="+mn-ea"/>
              <a:ea typeface="+mn-ea"/>
              <a:cs typeface="Arial" charset="0"/>
            </a:endParaRPr>
          </a:p>
          <a:p>
            <a:pPr algn="ctr" defTabSz="990564" eaLnBrk="1" fontAlgn="auto" hangingPunct="1">
              <a:spcBef>
                <a:spcPts val="0"/>
              </a:spcBef>
              <a:spcAft>
                <a:spcPts val="0"/>
              </a:spcAft>
              <a:buSzPct val="100000"/>
            </a:pPr>
            <a:r>
              <a:rPr kumimoji="0" lang="en-US" altLang="ja-JP" sz="900" kern="0" dirty="0">
                <a:solidFill>
                  <a:prstClr val="black"/>
                </a:solidFill>
                <a:latin typeface="+mn-ea"/>
                <a:ea typeface="+mn-ea"/>
                <a:cs typeface="Arial" charset="0"/>
              </a:rPr>
              <a:t>※HSM/TEE/</a:t>
            </a:r>
            <a:r>
              <a:rPr kumimoji="0" lang="en-US" altLang="ja-JP" sz="900" kern="0" dirty="0" err="1">
                <a:solidFill>
                  <a:prstClr val="black"/>
                </a:solidFill>
                <a:latin typeface="+mn-ea"/>
                <a:ea typeface="+mn-ea"/>
                <a:cs typeface="Arial" charset="0"/>
              </a:rPr>
              <a:t>SmartCard</a:t>
            </a:r>
            <a:r>
              <a:rPr kumimoji="0" lang="ja-JP" altLang="en-US" sz="900" kern="0" dirty="0">
                <a:solidFill>
                  <a:prstClr val="black"/>
                </a:solidFill>
                <a:latin typeface="+mn-ea"/>
                <a:ea typeface="+mn-ea"/>
                <a:cs typeface="Arial" charset="0"/>
              </a:rPr>
              <a:t>等がある</a:t>
            </a:r>
            <a:endParaRPr kumimoji="0" lang="en-US" altLang="ja-JP" sz="900" kern="0" dirty="0">
              <a:solidFill>
                <a:prstClr val="black"/>
              </a:solidFill>
              <a:latin typeface="+mn-ea"/>
              <a:ea typeface="+mn-ea"/>
              <a:cs typeface="Arial" charset="0"/>
            </a:endParaRPr>
          </a:p>
        </p:txBody>
      </p:sp>
      <p:sp>
        <p:nvSpPr>
          <p:cNvPr id="119" name="四角形: 角を丸くする 118">
            <a:extLst>
              <a:ext uri="{FF2B5EF4-FFF2-40B4-BE49-F238E27FC236}">
                <a16:creationId xmlns:a16="http://schemas.microsoft.com/office/drawing/2014/main" id="{0599A96B-ECD7-65B9-68C9-941F363837C8}"/>
              </a:ext>
            </a:extLst>
          </p:cNvPr>
          <p:cNvSpPr/>
          <p:nvPr/>
        </p:nvSpPr>
        <p:spPr>
          <a:xfrm>
            <a:off x="8697358" y="4357644"/>
            <a:ext cx="396478" cy="271313"/>
          </a:xfrm>
          <a:prstGeom prst="roundRect">
            <a:avLst/>
          </a:prstGeom>
          <a:solidFill>
            <a:srgbClr val="D9D9D9"/>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100" dirty="0">
                <a:latin typeface="+mn-ea"/>
              </a:rPr>
              <a:t>N/A</a:t>
            </a:r>
            <a:endParaRPr kumimoji="1" lang="ja-JP" altLang="en-US" sz="1100" dirty="0">
              <a:latin typeface="+mn-ea"/>
            </a:endParaRPr>
          </a:p>
        </p:txBody>
      </p:sp>
      <p:sp>
        <p:nvSpPr>
          <p:cNvPr id="120" name="テキスト ボックス 119">
            <a:extLst>
              <a:ext uri="{FF2B5EF4-FFF2-40B4-BE49-F238E27FC236}">
                <a16:creationId xmlns:a16="http://schemas.microsoft.com/office/drawing/2014/main" id="{ACBAB18C-8F3C-BAAD-4CC7-631A67D72588}"/>
              </a:ext>
            </a:extLst>
          </p:cNvPr>
          <p:cNvSpPr txBox="1"/>
          <p:nvPr/>
        </p:nvSpPr>
        <p:spPr bwMode="gray">
          <a:xfrm>
            <a:off x="553916" y="5701163"/>
            <a:ext cx="1589367" cy="476125"/>
          </a:xfrm>
          <a:prstGeom prst="rect">
            <a:avLst/>
          </a:prstGeom>
          <a:solidFill>
            <a:schemeClr val="bg1">
              <a:lumMod val="85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DID Document</a:t>
            </a: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格納方式</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a:t>
            </a: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ストレージ</a:t>
            </a: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a:t>
            </a:r>
          </a:p>
        </p:txBody>
      </p:sp>
      <p:sp>
        <p:nvSpPr>
          <p:cNvPr id="135" name="楕円 134">
            <a:extLst>
              <a:ext uri="{FF2B5EF4-FFF2-40B4-BE49-F238E27FC236}">
                <a16:creationId xmlns:a16="http://schemas.microsoft.com/office/drawing/2014/main" id="{3C230BB9-0668-9922-C108-7989D2035F58}"/>
              </a:ext>
            </a:extLst>
          </p:cNvPr>
          <p:cNvSpPr/>
          <p:nvPr/>
        </p:nvSpPr>
        <p:spPr>
          <a:xfrm>
            <a:off x="8806767" y="3888429"/>
            <a:ext cx="180000" cy="180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solidFill>
                  <a:schemeClr val="bg1"/>
                </a:solidFill>
                <a:latin typeface="+mn-ea"/>
              </a:rPr>
              <a:t>×</a:t>
            </a:r>
            <a:endParaRPr kumimoji="1" lang="ja-JP" altLang="en-US" sz="1100" dirty="0">
              <a:solidFill>
                <a:schemeClr val="bg1"/>
              </a:solidFill>
              <a:latin typeface="+mn-ea"/>
            </a:endParaRPr>
          </a:p>
        </p:txBody>
      </p:sp>
      <p:sp>
        <p:nvSpPr>
          <p:cNvPr id="137" name="楕円 136">
            <a:extLst>
              <a:ext uri="{FF2B5EF4-FFF2-40B4-BE49-F238E27FC236}">
                <a16:creationId xmlns:a16="http://schemas.microsoft.com/office/drawing/2014/main" id="{67905E46-0259-8AF7-4D71-1023582E6800}"/>
              </a:ext>
            </a:extLst>
          </p:cNvPr>
          <p:cNvSpPr/>
          <p:nvPr/>
        </p:nvSpPr>
        <p:spPr>
          <a:xfrm>
            <a:off x="8806767" y="2496694"/>
            <a:ext cx="180000" cy="180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solidFill>
                  <a:schemeClr val="bg1"/>
                </a:solidFill>
                <a:latin typeface="+mn-ea"/>
              </a:rPr>
              <a:t>×</a:t>
            </a:r>
            <a:endParaRPr kumimoji="1" lang="ja-JP" altLang="en-US" sz="1100" dirty="0">
              <a:solidFill>
                <a:schemeClr val="bg1"/>
              </a:solidFill>
              <a:latin typeface="+mn-ea"/>
            </a:endParaRPr>
          </a:p>
        </p:txBody>
      </p:sp>
      <p:cxnSp>
        <p:nvCxnSpPr>
          <p:cNvPr id="140" name="直線矢印コネクタ 139">
            <a:extLst>
              <a:ext uri="{FF2B5EF4-FFF2-40B4-BE49-F238E27FC236}">
                <a16:creationId xmlns:a16="http://schemas.microsoft.com/office/drawing/2014/main" id="{F0A2C47B-218F-965A-508C-3E7FF5968EEE}"/>
              </a:ext>
            </a:extLst>
          </p:cNvPr>
          <p:cNvCxnSpPr>
            <a:cxnSpLocks/>
            <a:stCxn id="109" idx="2"/>
            <a:endCxn id="9" idx="0"/>
          </p:cNvCxnSpPr>
          <p:nvPr/>
        </p:nvCxnSpPr>
        <p:spPr>
          <a:xfrm>
            <a:off x="8895597" y="5376456"/>
            <a:ext cx="0" cy="33860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41" name="正方形/長方形 140">
            <a:extLst>
              <a:ext uri="{FF2B5EF4-FFF2-40B4-BE49-F238E27FC236}">
                <a16:creationId xmlns:a16="http://schemas.microsoft.com/office/drawing/2014/main" id="{9304B69F-5D52-6C71-6B3D-6F3BE3333A32}"/>
              </a:ext>
            </a:extLst>
          </p:cNvPr>
          <p:cNvSpPr/>
          <p:nvPr/>
        </p:nvSpPr>
        <p:spPr>
          <a:xfrm>
            <a:off x="413886" y="3520071"/>
            <a:ext cx="8749365" cy="1151173"/>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42" name="正方形/長方形 141">
            <a:extLst>
              <a:ext uri="{FF2B5EF4-FFF2-40B4-BE49-F238E27FC236}">
                <a16:creationId xmlns:a16="http://schemas.microsoft.com/office/drawing/2014/main" id="{3BA1D69D-D2F5-956E-AD20-8DC6A8F13B0B}"/>
              </a:ext>
            </a:extLst>
          </p:cNvPr>
          <p:cNvSpPr/>
          <p:nvPr/>
        </p:nvSpPr>
        <p:spPr>
          <a:xfrm>
            <a:off x="413886" y="1866479"/>
            <a:ext cx="8749365" cy="1545374"/>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14" name="正方形/長方形 113">
            <a:extLst>
              <a:ext uri="{FF2B5EF4-FFF2-40B4-BE49-F238E27FC236}">
                <a16:creationId xmlns:a16="http://schemas.microsoft.com/office/drawing/2014/main" id="{34A34FEE-4B84-9A12-ACDD-E8AC97AD86E4}"/>
              </a:ext>
            </a:extLst>
          </p:cNvPr>
          <p:cNvSpPr/>
          <p:nvPr/>
        </p:nvSpPr>
        <p:spPr>
          <a:xfrm>
            <a:off x="9219022" y="3528639"/>
            <a:ext cx="409344" cy="346781"/>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solidFill>
                  <a:schemeClr val="bg1"/>
                </a:solidFill>
                <a:latin typeface="+mn-ea"/>
              </a:rPr>
              <a:t>８</a:t>
            </a:r>
          </a:p>
        </p:txBody>
      </p:sp>
      <p:sp>
        <p:nvSpPr>
          <p:cNvPr id="115" name="正方形/長方形 114">
            <a:extLst>
              <a:ext uri="{FF2B5EF4-FFF2-40B4-BE49-F238E27FC236}">
                <a16:creationId xmlns:a16="http://schemas.microsoft.com/office/drawing/2014/main" id="{DDEC5DAB-23D8-8127-626B-712CE7F52A57}"/>
              </a:ext>
            </a:extLst>
          </p:cNvPr>
          <p:cNvSpPr/>
          <p:nvPr/>
        </p:nvSpPr>
        <p:spPr>
          <a:xfrm>
            <a:off x="9227545" y="1862862"/>
            <a:ext cx="409344" cy="346781"/>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14</a:t>
            </a:r>
            <a:endParaRPr kumimoji="1" lang="ja-JP" altLang="en-US" sz="1200" dirty="0">
              <a:solidFill>
                <a:schemeClr val="bg1"/>
              </a:solidFill>
              <a:latin typeface="+mn-ea"/>
            </a:endParaRPr>
          </a:p>
        </p:txBody>
      </p:sp>
      <p:cxnSp>
        <p:nvCxnSpPr>
          <p:cNvPr id="147" name="直線コネクタ 146">
            <a:extLst>
              <a:ext uri="{FF2B5EF4-FFF2-40B4-BE49-F238E27FC236}">
                <a16:creationId xmlns:a16="http://schemas.microsoft.com/office/drawing/2014/main" id="{A5EC6DD5-3962-58F5-EE30-63142CA11031}"/>
              </a:ext>
            </a:extLst>
          </p:cNvPr>
          <p:cNvCxnSpPr>
            <a:cxnSpLocks/>
          </p:cNvCxnSpPr>
          <p:nvPr/>
        </p:nvCxnSpPr>
        <p:spPr>
          <a:xfrm flipH="1">
            <a:off x="4953445" y="2900111"/>
            <a:ext cx="62581" cy="207002"/>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直線コネクタ 147">
            <a:extLst>
              <a:ext uri="{FF2B5EF4-FFF2-40B4-BE49-F238E27FC236}">
                <a16:creationId xmlns:a16="http://schemas.microsoft.com/office/drawing/2014/main" id="{1D4F5B25-F462-CBAF-699D-C96CD8CA555A}"/>
              </a:ext>
            </a:extLst>
          </p:cNvPr>
          <p:cNvCxnSpPr>
            <a:cxnSpLocks/>
          </p:cNvCxnSpPr>
          <p:nvPr/>
        </p:nvCxnSpPr>
        <p:spPr>
          <a:xfrm>
            <a:off x="5016026" y="2900111"/>
            <a:ext cx="1263981" cy="207002"/>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直線コネクタ 150">
            <a:extLst>
              <a:ext uri="{FF2B5EF4-FFF2-40B4-BE49-F238E27FC236}">
                <a16:creationId xmlns:a16="http://schemas.microsoft.com/office/drawing/2014/main" id="{DE662D82-2606-98EF-0E3C-352AF5A9D897}"/>
              </a:ext>
            </a:extLst>
          </p:cNvPr>
          <p:cNvCxnSpPr>
            <a:cxnSpLocks/>
          </p:cNvCxnSpPr>
          <p:nvPr/>
        </p:nvCxnSpPr>
        <p:spPr>
          <a:xfrm flipH="1">
            <a:off x="6280007" y="2900111"/>
            <a:ext cx="183371" cy="207002"/>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4" name="直線コネクタ 153">
            <a:extLst>
              <a:ext uri="{FF2B5EF4-FFF2-40B4-BE49-F238E27FC236}">
                <a16:creationId xmlns:a16="http://schemas.microsoft.com/office/drawing/2014/main" id="{7CBD4E0D-4BA4-B512-1975-0373BDFB4236}"/>
              </a:ext>
            </a:extLst>
          </p:cNvPr>
          <p:cNvCxnSpPr>
            <a:cxnSpLocks/>
          </p:cNvCxnSpPr>
          <p:nvPr/>
        </p:nvCxnSpPr>
        <p:spPr>
          <a:xfrm flipV="1">
            <a:off x="4953445" y="2900111"/>
            <a:ext cx="1509933" cy="207002"/>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4755A8EF-51D8-F753-3A26-634D93575E65}"/>
              </a:ext>
            </a:extLst>
          </p:cNvPr>
          <p:cNvCxnSpPr>
            <a:cxnSpLocks/>
          </p:cNvCxnSpPr>
          <p:nvPr/>
        </p:nvCxnSpPr>
        <p:spPr>
          <a:xfrm flipV="1">
            <a:off x="7613485" y="2900111"/>
            <a:ext cx="302526" cy="207002"/>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直線コネクタ 160">
            <a:extLst>
              <a:ext uri="{FF2B5EF4-FFF2-40B4-BE49-F238E27FC236}">
                <a16:creationId xmlns:a16="http://schemas.microsoft.com/office/drawing/2014/main" id="{E2373904-171F-5261-378E-73A3912EF3B9}"/>
              </a:ext>
            </a:extLst>
          </p:cNvPr>
          <p:cNvCxnSpPr>
            <a:cxnSpLocks/>
          </p:cNvCxnSpPr>
          <p:nvPr/>
        </p:nvCxnSpPr>
        <p:spPr>
          <a:xfrm flipV="1">
            <a:off x="6280007" y="2900111"/>
            <a:ext cx="1636004" cy="207002"/>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5" name="直線コネクタ 164">
            <a:extLst>
              <a:ext uri="{FF2B5EF4-FFF2-40B4-BE49-F238E27FC236}">
                <a16:creationId xmlns:a16="http://schemas.microsoft.com/office/drawing/2014/main" id="{A9AC1355-0D01-ED66-2A26-99E268890DD3}"/>
              </a:ext>
            </a:extLst>
          </p:cNvPr>
          <p:cNvCxnSpPr>
            <a:cxnSpLocks/>
          </p:cNvCxnSpPr>
          <p:nvPr/>
        </p:nvCxnSpPr>
        <p:spPr>
          <a:xfrm flipV="1">
            <a:off x="4953445" y="2900111"/>
            <a:ext cx="2962566" cy="207002"/>
          </a:xfrm>
          <a:prstGeom prst="line">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0" name="正方形/長方形 189">
            <a:extLst>
              <a:ext uri="{FF2B5EF4-FFF2-40B4-BE49-F238E27FC236}">
                <a16:creationId xmlns:a16="http://schemas.microsoft.com/office/drawing/2014/main" id="{F4A2A6D7-D756-E4F5-2EF7-D369E861ED7D}"/>
              </a:ext>
            </a:extLst>
          </p:cNvPr>
          <p:cNvSpPr/>
          <p:nvPr/>
        </p:nvSpPr>
        <p:spPr>
          <a:xfrm>
            <a:off x="9227545" y="908050"/>
            <a:ext cx="409344" cy="849093"/>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b="1" dirty="0">
                <a:solidFill>
                  <a:schemeClr val="bg1"/>
                </a:solidFill>
                <a:latin typeface="+mn-ea"/>
              </a:rPr>
              <a:t>112</a:t>
            </a:r>
            <a:endParaRPr kumimoji="1" lang="ja-JP" altLang="en-US" sz="1200" b="1" dirty="0">
              <a:solidFill>
                <a:schemeClr val="bg1"/>
              </a:solidFill>
              <a:latin typeface="+mn-ea"/>
            </a:endParaRPr>
          </a:p>
        </p:txBody>
      </p:sp>
      <p:sp>
        <p:nvSpPr>
          <p:cNvPr id="191" name="テキスト ボックス 190">
            <a:extLst>
              <a:ext uri="{FF2B5EF4-FFF2-40B4-BE49-F238E27FC236}">
                <a16:creationId xmlns:a16="http://schemas.microsoft.com/office/drawing/2014/main" id="{13EBCBCA-E0C1-C927-D6E6-3B261BBFA20A}"/>
              </a:ext>
            </a:extLst>
          </p:cNvPr>
          <p:cNvSpPr txBox="1"/>
          <p:nvPr/>
        </p:nvSpPr>
        <p:spPr bwMode="gray">
          <a:xfrm>
            <a:off x="4330926" y="1932974"/>
            <a:ext cx="4270186" cy="271313"/>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VC Data Model(v1.0</a:t>
            </a:r>
            <a:r>
              <a:rPr kumimoji="0" lang="ja-JP" altLang="en-US" sz="1200" kern="0" dirty="0">
                <a:solidFill>
                  <a:prstClr val="black"/>
                </a:solidFill>
                <a:latin typeface="+mn-ea"/>
                <a:ea typeface="+mn-ea"/>
                <a:cs typeface="Arial" charset="0"/>
              </a:rPr>
              <a:t> </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v1.1 / v2.0)</a:t>
            </a:r>
          </a:p>
        </p:txBody>
      </p:sp>
      <p:sp>
        <p:nvSpPr>
          <p:cNvPr id="192" name="テキスト ボックス 191">
            <a:extLst>
              <a:ext uri="{FF2B5EF4-FFF2-40B4-BE49-F238E27FC236}">
                <a16:creationId xmlns:a16="http://schemas.microsoft.com/office/drawing/2014/main" id="{BE18C0D1-FD94-112F-B2B1-CF99364E4A3D}"/>
              </a:ext>
            </a:extLst>
          </p:cNvPr>
          <p:cNvSpPr txBox="1"/>
          <p:nvPr/>
        </p:nvSpPr>
        <p:spPr bwMode="gray">
          <a:xfrm>
            <a:off x="553916" y="6202756"/>
            <a:ext cx="1589367" cy="211274"/>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名前解決</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93" name="テキスト ボックス 192">
            <a:extLst>
              <a:ext uri="{FF2B5EF4-FFF2-40B4-BE49-F238E27FC236}">
                <a16:creationId xmlns:a16="http://schemas.microsoft.com/office/drawing/2014/main" id="{F642DFCC-C4B3-C42B-E0D8-F4274A80B7DD}"/>
              </a:ext>
            </a:extLst>
          </p:cNvPr>
          <p:cNvSpPr txBox="1"/>
          <p:nvPr/>
        </p:nvSpPr>
        <p:spPr bwMode="gray">
          <a:xfrm>
            <a:off x="4339093" y="6211755"/>
            <a:ext cx="4284116" cy="198914"/>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Universal Resolver</a:t>
            </a:r>
          </a:p>
        </p:txBody>
      </p:sp>
      <p:sp>
        <p:nvSpPr>
          <p:cNvPr id="194" name="楕円 193">
            <a:extLst>
              <a:ext uri="{FF2B5EF4-FFF2-40B4-BE49-F238E27FC236}">
                <a16:creationId xmlns:a16="http://schemas.microsoft.com/office/drawing/2014/main" id="{26A3FF05-C1A5-182B-9770-E3DE1D822CEB}"/>
              </a:ext>
            </a:extLst>
          </p:cNvPr>
          <p:cNvSpPr/>
          <p:nvPr/>
        </p:nvSpPr>
        <p:spPr>
          <a:xfrm>
            <a:off x="9307151" y="2677961"/>
            <a:ext cx="252000" cy="252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400" b="1" dirty="0">
                <a:solidFill>
                  <a:schemeClr val="bg1"/>
                </a:solidFill>
                <a:latin typeface="+mn-ea"/>
              </a:rPr>
              <a:t>×</a:t>
            </a:r>
            <a:endParaRPr kumimoji="1" lang="ja-JP" altLang="en-US" sz="1400" b="1" dirty="0">
              <a:solidFill>
                <a:schemeClr val="bg1"/>
              </a:solidFill>
              <a:latin typeface="+mn-ea"/>
            </a:endParaRPr>
          </a:p>
        </p:txBody>
      </p:sp>
      <p:sp>
        <p:nvSpPr>
          <p:cNvPr id="195" name="楕円 194">
            <a:extLst>
              <a:ext uri="{FF2B5EF4-FFF2-40B4-BE49-F238E27FC236}">
                <a16:creationId xmlns:a16="http://schemas.microsoft.com/office/drawing/2014/main" id="{824B46BE-D8E1-137B-9803-FAE1FD179468}"/>
              </a:ext>
            </a:extLst>
          </p:cNvPr>
          <p:cNvSpPr/>
          <p:nvPr/>
        </p:nvSpPr>
        <p:spPr>
          <a:xfrm>
            <a:off x="9300298" y="4172101"/>
            <a:ext cx="252000" cy="252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400" b="1" dirty="0">
                <a:solidFill>
                  <a:schemeClr val="bg1"/>
                </a:solidFill>
                <a:latin typeface="+mn-ea"/>
              </a:rPr>
              <a:t>×</a:t>
            </a:r>
            <a:endParaRPr kumimoji="1" lang="ja-JP" altLang="en-US" sz="1400" b="1" dirty="0">
              <a:solidFill>
                <a:schemeClr val="bg1"/>
              </a:solidFill>
              <a:latin typeface="+mn-ea"/>
            </a:endParaRPr>
          </a:p>
        </p:txBody>
      </p:sp>
      <p:sp>
        <p:nvSpPr>
          <p:cNvPr id="196" name="楕円 195">
            <a:extLst>
              <a:ext uri="{FF2B5EF4-FFF2-40B4-BE49-F238E27FC236}">
                <a16:creationId xmlns:a16="http://schemas.microsoft.com/office/drawing/2014/main" id="{EB946CDB-1522-0EF9-1B1F-C828BC79CCE5}"/>
              </a:ext>
            </a:extLst>
          </p:cNvPr>
          <p:cNvSpPr/>
          <p:nvPr/>
        </p:nvSpPr>
        <p:spPr>
          <a:xfrm>
            <a:off x="9306217" y="1653483"/>
            <a:ext cx="252000" cy="252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b="1" dirty="0">
                <a:solidFill>
                  <a:schemeClr val="bg1"/>
                </a:solidFill>
                <a:latin typeface="+mn-ea"/>
              </a:rPr>
              <a:t>＝</a:t>
            </a:r>
          </a:p>
        </p:txBody>
      </p:sp>
      <p:sp>
        <p:nvSpPr>
          <p:cNvPr id="197" name="テキスト ボックス 196">
            <a:extLst>
              <a:ext uri="{FF2B5EF4-FFF2-40B4-BE49-F238E27FC236}">
                <a16:creationId xmlns:a16="http://schemas.microsoft.com/office/drawing/2014/main" id="{CA401311-6B51-AA10-6427-BF8304970F21}"/>
              </a:ext>
            </a:extLst>
          </p:cNvPr>
          <p:cNvSpPr txBox="1"/>
          <p:nvPr/>
        </p:nvSpPr>
        <p:spPr>
          <a:xfrm>
            <a:off x="5193565" y="5545757"/>
            <a:ext cx="2558393" cy="138499"/>
          </a:xfrm>
          <a:prstGeom prst="rect">
            <a:avLst/>
          </a:prstGeom>
          <a:noFill/>
        </p:spPr>
        <p:txBody>
          <a:bodyPr wrap="none" lIns="0" tIns="0" rIns="0" bIns="0" rtlCol="0">
            <a:spAutoFit/>
          </a:bodyPr>
          <a:lstStyle/>
          <a:p>
            <a:r>
              <a:rPr lang="en-US" altLang="ja-JP" sz="900" dirty="0">
                <a:latin typeface="+mn-ea"/>
                <a:ea typeface="+mn-ea"/>
              </a:rPr>
              <a:t>※d</a:t>
            </a:r>
            <a:r>
              <a:rPr kumimoji="1" lang="en-US" altLang="ja-JP" sz="900" dirty="0">
                <a:latin typeface="+mn-ea"/>
                <a:ea typeface="+mn-ea"/>
              </a:rPr>
              <a:t>id</a:t>
            </a:r>
            <a:r>
              <a:rPr kumimoji="1" lang="ja-JP" altLang="en-US" sz="900" dirty="0">
                <a:latin typeface="+mn-ea"/>
                <a:ea typeface="+mn-ea"/>
              </a:rPr>
              <a:t>メソッドで格納方式は一意に決定されることが多い</a:t>
            </a:r>
          </a:p>
        </p:txBody>
      </p:sp>
      <p:sp>
        <p:nvSpPr>
          <p:cNvPr id="110" name="二等辺三角形 109">
            <a:extLst>
              <a:ext uri="{FF2B5EF4-FFF2-40B4-BE49-F238E27FC236}">
                <a16:creationId xmlns:a16="http://schemas.microsoft.com/office/drawing/2014/main" id="{DDB706A5-58BF-D727-CBC8-ADD83221676D}"/>
              </a:ext>
            </a:extLst>
          </p:cNvPr>
          <p:cNvSpPr/>
          <p:nvPr/>
        </p:nvSpPr>
        <p:spPr>
          <a:xfrm rot="10800000">
            <a:off x="1165837" y="5487216"/>
            <a:ext cx="365524" cy="270358"/>
          </a:xfrm>
          <a:prstGeom prst="triangle">
            <a:avLst/>
          </a:prstGeom>
          <a:solidFill>
            <a:schemeClr val="bg1">
              <a:lumMod val="50000"/>
            </a:schemeClr>
          </a:solidFill>
          <a:ln w="1270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9" name="四角形: 角を丸くする 8">
            <a:extLst>
              <a:ext uri="{FF2B5EF4-FFF2-40B4-BE49-F238E27FC236}">
                <a16:creationId xmlns:a16="http://schemas.microsoft.com/office/drawing/2014/main" id="{CDF5F498-D4D8-92E9-6ADE-5AA8A072FBC8}"/>
              </a:ext>
            </a:extLst>
          </p:cNvPr>
          <p:cNvSpPr/>
          <p:nvPr/>
        </p:nvSpPr>
        <p:spPr>
          <a:xfrm>
            <a:off x="8697358" y="5715058"/>
            <a:ext cx="396478" cy="496697"/>
          </a:xfrm>
          <a:prstGeom prst="roundRect">
            <a:avLst/>
          </a:prstGeom>
          <a:solidFill>
            <a:srgbClr val="D9D9D9"/>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latin typeface="+mn-ea"/>
              </a:rPr>
              <a:t>N/A</a:t>
            </a:r>
          </a:p>
        </p:txBody>
      </p:sp>
      <p:sp>
        <p:nvSpPr>
          <p:cNvPr id="7" name="正方形/長方形 6">
            <a:extLst>
              <a:ext uri="{FF2B5EF4-FFF2-40B4-BE49-F238E27FC236}">
                <a16:creationId xmlns:a16="http://schemas.microsoft.com/office/drawing/2014/main" id="{8C34F2A0-145C-8BEF-C0D7-E5A007D5C1CF}"/>
              </a:ext>
            </a:extLst>
          </p:cNvPr>
          <p:cNvSpPr/>
          <p:nvPr/>
        </p:nvSpPr>
        <p:spPr>
          <a:xfrm>
            <a:off x="2215722" y="3491082"/>
            <a:ext cx="2059701" cy="1154694"/>
          </a:xfrm>
          <a:prstGeom prst="rect">
            <a:avLst/>
          </a:prstGeom>
          <a:no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r>
              <a:rPr lang="en-US" altLang="ja-JP" sz="1050" dirty="0">
                <a:latin typeface="+mn-ea"/>
              </a:rPr>
              <a:t>JWT-VC</a:t>
            </a:r>
            <a:r>
              <a:rPr lang="ja-JP" altLang="en-US" sz="1050" dirty="0">
                <a:latin typeface="+mn-ea"/>
              </a:rPr>
              <a:t>、</a:t>
            </a:r>
            <a:r>
              <a:rPr lang="en-US" altLang="ja-JP" sz="1050" dirty="0">
                <a:latin typeface="+mn-ea"/>
              </a:rPr>
              <a:t>SD-JWT</a:t>
            </a:r>
            <a:r>
              <a:rPr lang="ja-JP" altLang="en-US" sz="1050" dirty="0">
                <a:latin typeface="+mn-ea"/>
              </a:rPr>
              <a:t>、</a:t>
            </a:r>
            <a:r>
              <a:rPr lang="en-US" altLang="ja-JP" sz="1050" dirty="0">
                <a:latin typeface="+mn-ea"/>
              </a:rPr>
              <a:t>LDP-VC</a:t>
            </a:r>
            <a:r>
              <a:rPr lang="ja-JP" altLang="en-US" sz="1050" dirty="0">
                <a:latin typeface="+mn-ea"/>
              </a:rPr>
              <a:t>は別レイヤの実装に影響しないものの、</a:t>
            </a:r>
            <a:r>
              <a:rPr kumimoji="1" lang="en-US" altLang="ja-JP" sz="1050" dirty="0">
                <a:latin typeface="+mn-ea"/>
              </a:rPr>
              <a:t>DIF</a:t>
            </a:r>
            <a:r>
              <a:rPr kumimoji="1" lang="ja-JP" altLang="en-US" sz="1050" dirty="0">
                <a:latin typeface="+mn-ea"/>
              </a:rPr>
              <a:t>で規定する</a:t>
            </a:r>
            <a:r>
              <a:rPr kumimoji="1" lang="en-US" altLang="ja-JP" sz="1050" dirty="0" err="1">
                <a:latin typeface="+mn-ea"/>
              </a:rPr>
              <a:t>DIDComm</a:t>
            </a:r>
            <a:r>
              <a:rPr lang="ja-JP" altLang="en-US" sz="1050" dirty="0">
                <a:latin typeface="+mn-ea"/>
              </a:rPr>
              <a:t>か、</a:t>
            </a:r>
            <a:r>
              <a:rPr lang="en-US" altLang="ja-JP" sz="1050" dirty="0">
                <a:latin typeface="+mn-ea"/>
              </a:rPr>
              <a:t>OIDF</a:t>
            </a:r>
            <a:r>
              <a:rPr lang="ja-JP" altLang="en-US" sz="1050" dirty="0">
                <a:latin typeface="+mn-ea"/>
              </a:rPr>
              <a:t>の自己発行を規定した</a:t>
            </a:r>
            <a:r>
              <a:rPr lang="en-US" altLang="ja-JP" sz="1050" dirty="0">
                <a:latin typeface="+mn-ea"/>
              </a:rPr>
              <a:t>SIOP</a:t>
            </a:r>
            <a:r>
              <a:rPr kumimoji="1" lang="ja-JP" altLang="en-US" sz="1050" dirty="0">
                <a:latin typeface="+mn-ea"/>
              </a:rPr>
              <a:t>に大別される。</a:t>
            </a:r>
            <a:r>
              <a:rPr lang="ja-JP" altLang="en-US" sz="1050" dirty="0">
                <a:latin typeface="+mn-ea"/>
              </a:rPr>
              <a:t>デバイス連携・鍵管理については明確に定義されていないため、自前で実装が必要。</a:t>
            </a:r>
            <a:endParaRPr lang="en-US" altLang="ja-JP" sz="1050" dirty="0">
              <a:latin typeface="+mn-ea"/>
            </a:endParaRPr>
          </a:p>
        </p:txBody>
      </p:sp>
      <p:sp>
        <p:nvSpPr>
          <p:cNvPr id="10" name="正方形/長方形 9">
            <a:extLst>
              <a:ext uri="{FF2B5EF4-FFF2-40B4-BE49-F238E27FC236}">
                <a16:creationId xmlns:a16="http://schemas.microsoft.com/office/drawing/2014/main" id="{77F579E7-32DC-54C6-CAC0-C437B582A872}"/>
              </a:ext>
            </a:extLst>
          </p:cNvPr>
          <p:cNvSpPr/>
          <p:nvPr/>
        </p:nvSpPr>
        <p:spPr>
          <a:xfrm>
            <a:off x="2195106" y="4887120"/>
            <a:ext cx="2059701" cy="1526910"/>
          </a:xfrm>
          <a:prstGeom prst="rect">
            <a:avLst/>
          </a:prstGeom>
          <a:solidFill>
            <a:schemeClr val="bg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r>
              <a:rPr lang="en-US" altLang="ja-JP" sz="1050" dirty="0">
                <a:latin typeface="+mn-ea"/>
              </a:rPr>
              <a:t>JWT-VC</a:t>
            </a:r>
            <a:r>
              <a:rPr lang="ja-JP" altLang="en-US" sz="1050">
                <a:latin typeface="+mn-ea"/>
              </a:rPr>
              <a:t>、</a:t>
            </a:r>
            <a:r>
              <a:rPr lang="en-US" altLang="ja-JP" sz="1050" dirty="0">
                <a:latin typeface="+mn-ea"/>
              </a:rPr>
              <a:t>SD-JWT</a:t>
            </a:r>
            <a:r>
              <a:rPr lang="ja-JP" altLang="en-US" sz="1050">
                <a:latin typeface="+mn-ea"/>
              </a:rPr>
              <a:t>、</a:t>
            </a:r>
            <a:r>
              <a:rPr lang="en-US" altLang="ja-JP" sz="1050" dirty="0">
                <a:latin typeface="+mn-ea"/>
              </a:rPr>
              <a:t>LDP-VC</a:t>
            </a:r>
            <a:r>
              <a:rPr lang="ja-JP" altLang="en-US" sz="1050">
                <a:latin typeface="+mn-ea"/>
              </a:rPr>
              <a:t>は別レイヤの実装に影響しないため、本レイヤにおける組合せはプラットフォームごとに異なり、複数存在するため、パターンを絞り込むことが出来ない。</a:t>
            </a:r>
            <a:endParaRPr lang="ja-JP" altLang="en-US" sz="1050" dirty="0">
              <a:latin typeface="+mn-ea"/>
            </a:endParaRPr>
          </a:p>
        </p:txBody>
      </p:sp>
      <p:sp>
        <p:nvSpPr>
          <p:cNvPr id="14" name="正方形/長方形 13">
            <a:extLst>
              <a:ext uri="{FF2B5EF4-FFF2-40B4-BE49-F238E27FC236}">
                <a16:creationId xmlns:a16="http://schemas.microsoft.com/office/drawing/2014/main" id="{A2999671-3CA9-6A42-C768-B9DE55EF369A}"/>
              </a:ext>
            </a:extLst>
          </p:cNvPr>
          <p:cNvSpPr/>
          <p:nvPr/>
        </p:nvSpPr>
        <p:spPr>
          <a:xfrm>
            <a:off x="2197092" y="1881222"/>
            <a:ext cx="2059701" cy="1437028"/>
          </a:xfrm>
          <a:prstGeom prst="rect">
            <a:avLst/>
          </a:prstGeom>
          <a:solidFill>
            <a:schemeClr val="bg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r>
              <a:rPr lang="en-US" altLang="ja-JP" sz="1050" dirty="0">
                <a:latin typeface="+mn-ea"/>
              </a:rPr>
              <a:t>W3C</a:t>
            </a:r>
            <a:r>
              <a:rPr lang="ja-JP" altLang="en-US" sz="1050" dirty="0">
                <a:latin typeface="+mn-ea"/>
              </a:rPr>
              <a:t>に準拠しつつ独自に実装するパターンと</a:t>
            </a:r>
            <a:r>
              <a:rPr lang="en-US" altLang="ja-JP" sz="1050" dirty="0">
                <a:latin typeface="+mn-ea"/>
              </a:rPr>
              <a:t>OIDF</a:t>
            </a:r>
            <a:r>
              <a:rPr lang="ja-JP" altLang="en-US" sz="1050" dirty="0">
                <a:latin typeface="+mn-ea"/>
              </a:rPr>
              <a:t>で規定している</a:t>
            </a:r>
            <a:r>
              <a:rPr lang="en-US" altLang="ja-JP" sz="1050" dirty="0">
                <a:latin typeface="+mn-ea"/>
              </a:rPr>
              <a:t>OID4VP</a:t>
            </a:r>
            <a:r>
              <a:rPr lang="ja-JP" altLang="en-US" sz="1050" dirty="0">
                <a:latin typeface="+mn-ea"/>
              </a:rPr>
              <a:t>に対応する</a:t>
            </a:r>
            <a:r>
              <a:rPr lang="en-US" altLang="ja-JP" sz="1050" dirty="0">
                <a:latin typeface="+mn-ea"/>
              </a:rPr>
              <a:t>2</a:t>
            </a:r>
            <a:r>
              <a:rPr lang="ja-JP" altLang="en-US" sz="1050" dirty="0">
                <a:latin typeface="+mn-ea"/>
              </a:rPr>
              <a:t>パターンに大別される。</a:t>
            </a:r>
            <a:r>
              <a:rPr kumimoji="1" lang="ja-JP" altLang="en-US" sz="1050" dirty="0">
                <a:latin typeface="+mn-ea"/>
              </a:rPr>
              <a:t>証明書のフォーマットは選択的開示対応を既存フォーマットで行うか、厳密に構造化された新しいフォーマットで行うかで別れる。</a:t>
            </a:r>
            <a:endParaRPr kumimoji="1" lang="en-US" altLang="ja-JP" sz="1050" dirty="0">
              <a:latin typeface="+mn-ea"/>
            </a:endParaRPr>
          </a:p>
          <a:p>
            <a:r>
              <a:rPr lang="ja-JP" altLang="en-US" sz="1050" dirty="0">
                <a:latin typeface="+mn-ea"/>
              </a:rPr>
              <a:t>証明書と署名</a:t>
            </a:r>
            <a:r>
              <a:rPr kumimoji="1" lang="ja-JP" altLang="en-US" sz="1050" dirty="0">
                <a:latin typeface="+mn-ea"/>
              </a:rPr>
              <a:t>方式の組み合わせは事例ベースで確認*</a:t>
            </a:r>
          </a:p>
        </p:txBody>
      </p:sp>
      <p:sp>
        <p:nvSpPr>
          <p:cNvPr id="23" name="テキスト ボックス 22">
            <a:extLst>
              <a:ext uri="{FF2B5EF4-FFF2-40B4-BE49-F238E27FC236}">
                <a16:creationId xmlns:a16="http://schemas.microsoft.com/office/drawing/2014/main" id="{C89EA451-27DB-6975-FE6C-9908C5528BE5}"/>
              </a:ext>
            </a:extLst>
          </p:cNvPr>
          <p:cNvSpPr txBox="1"/>
          <p:nvPr/>
        </p:nvSpPr>
        <p:spPr>
          <a:xfrm>
            <a:off x="413886" y="6448028"/>
            <a:ext cx="8749365" cy="230832"/>
          </a:xfrm>
          <a:prstGeom prst="rect">
            <a:avLst/>
          </a:prstGeom>
          <a:noFill/>
        </p:spPr>
        <p:txBody>
          <a:bodyPr wrap="square">
            <a:spAutoFit/>
          </a:bodyPr>
          <a:lstStyle/>
          <a:p>
            <a:r>
              <a:rPr lang="en-US" altLang="ja-JP" sz="900" dirty="0">
                <a:solidFill>
                  <a:srgbClr val="62B5E5"/>
                </a:solidFill>
                <a:latin typeface="+mn-ea"/>
                <a:ea typeface="+mn-ea"/>
                <a:hlinkClick r:id="rId2">
                  <a:extLst>
                    <a:ext uri="{A12FA001-AC4F-418D-AE19-62706E023703}">
                      <ahyp:hlinkClr xmlns:ahyp="http://schemas.microsoft.com/office/drawing/2018/hyperlinkcolor" val="tx"/>
                    </a:ext>
                  </a:extLst>
                </a:hlinkClick>
              </a:rPr>
              <a:t>https://docs.google.com/spreadsheets/d/1X93ptJcmfX1NZEo5E7ElnqJ-knDS4Dj6JOYSJ_2PsUw/edit#gid=1590639334</a:t>
            </a:r>
            <a:endParaRPr lang="en-US" altLang="ja-JP" sz="900" dirty="0">
              <a:latin typeface="+mn-ea"/>
              <a:ea typeface="+mn-ea"/>
            </a:endParaRPr>
          </a:p>
        </p:txBody>
      </p:sp>
      <p:sp>
        <p:nvSpPr>
          <p:cNvPr id="24" name="テキスト ボックス 23">
            <a:extLst>
              <a:ext uri="{FF2B5EF4-FFF2-40B4-BE49-F238E27FC236}">
                <a16:creationId xmlns:a16="http://schemas.microsoft.com/office/drawing/2014/main" id="{5DA7B49E-FE8B-5C5C-A96F-DBB75BDC3028}"/>
              </a:ext>
            </a:extLst>
          </p:cNvPr>
          <p:cNvSpPr txBox="1"/>
          <p:nvPr/>
        </p:nvSpPr>
        <p:spPr>
          <a:xfrm>
            <a:off x="413886" y="6506645"/>
            <a:ext cx="48090" cy="138499"/>
          </a:xfrm>
          <a:prstGeom prst="rect">
            <a:avLst/>
          </a:prstGeom>
          <a:noFill/>
        </p:spPr>
        <p:txBody>
          <a:bodyPr wrap="none" lIns="0" tIns="0" rIns="0" bIns="0" rtlCol="0">
            <a:spAutoFit/>
          </a:bodyPr>
          <a:lstStyle/>
          <a:p>
            <a:r>
              <a:rPr kumimoji="1" lang="ja-JP" altLang="en-US" sz="900" dirty="0">
                <a:latin typeface="+mn-ea"/>
                <a:ea typeface="+mn-ea"/>
              </a:rPr>
              <a:t>*</a:t>
            </a:r>
          </a:p>
        </p:txBody>
      </p:sp>
      <p:sp>
        <p:nvSpPr>
          <p:cNvPr id="16" name="正方形/長方形 15">
            <a:extLst>
              <a:ext uri="{FF2B5EF4-FFF2-40B4-BE49-F238E27FC236}">
                <a16:creationId xmlns:a16="http://schemas.microsoft.com/office/drawing/2014/main" id="{E9332B97-22BF-38D0-5728-F569951E0C2A}"/>
              </a:ext>
            </a:extLst>
          </p:cNvPr>
          <p:cNvSpPr/>
          <p:nvPr/>
        </p:nvSpPr>
        <p:spPr bwMode="gray">
          <a:xfrm rot="16200000">
            <a:off x="792158" y="4135302"/>
            <a:ext cx="169692" cy="1378658"/>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2" name="正方形/長方形 21">
            <a:extLst>
              <a:ext uri="{FF2B5EF4-FFF2-40B4-BE49-F238E27FC236}">
                <a16:creationId xmlns:a16="http://schemas.microsoft.com/office/drawing/2014/main" id="{FE38E956-7043-263E-5C7D-A9393C87C65F}"/>
              </a:ext>
            </a:extLst>
          </p:cNvPr>
          <p:cNvSpPr/>
          <p:nvPr/>
        </p:nvSpPr>
        <p:spPr bwMode="gray">
          <a:xfrm rot="16200000">
            <a:off x="792158" y="2864675"/>
            <a:ext cx="169692" cy="1378658"/>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kern="0" dirty="0">
                <a:solidFill>
                  <a:prstClr val="white"/>
                </a:solidFill>
                <a:latin typeface="+mn-ea"/>
                <a:ea typeface="+mn-ea"/>
                <a:cs typeface="Arial" charset="0"/>
              </a:rPr>
              <a:t>Agent</a:t>
            </a: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5" name="正方形/長方形 24">
            <a:extLst>
              <a:ext uri="{FF2B5EF4-FFF2-40B4-BE49-F238E27FC236}">
                <a16:creationId xmlns:a16="http://schemas.microsoft.com/office/drawing/2014/main" id="{527F48FE-7A02-F5E6-164A-B3F296900A70}"/>
              </a:ext>
            </a:extLst>
          </p:cNvPr>
          <p:cNvSpPr/>
          <p:nvPr/>
        </p:nvSpPr>
        <p:spPr bwMode="gray">
          <a:xfrm rot="16200000">
            <a:off x="792158" y="1188482"/>
            <a:ext cx="169692" cy="1378658"/>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Tree>
    <p:extLst>
      <p:ext uri="{BB962C8B-B14F-4D97-AF65-F5344CB8AC3E}">
        <p14:creationId xmlns:p14="http://schemas.microsoft.com/office/powerpoint/2010/main" val="2221257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EABF44-3EC8-2F88-AC42-9D5995DFE9DC}"/>
              </a:ext>
            </a:extLst>
          </p:cNvPr>
          <p:cNvSpPr>
            <a:spLocks noGrp="1"/>
          </p:cNvSpPr>
          <p:nvPr>
            <p:ph type="title"/>
          </p:nvPr>
        </p:nvSpPr>
        <p:spPr/>
        <p:txBody>
          <a:bodyPr/>
          <a:lstStyle/>
          <a:p>
            <a:r>
              <a:rPr kumimoji="1" lang="en-US" altLang="ja-JP" dirty="0">
                <a:latin typeface="+mn-ea"/>
                <a:ea typeface="+mn-ea"/>
              </a:rPr>
              <a:t>6.1. </a:t>
            </a:r>
            <a:r>
              <a:rPr kumimoji="1" lang="ja-JP" altLang="en-US" dirty="0">
                <a:latin typeface="+mn-ea"/>
                <a:ea typeface="+mn-ea"/>
              </a:rPr>
              <a:t>サービス </a:t>
            </a:r>
            <a:r>
              <a:rPr kumimoji="1" lang="en-US" altLang="ja-JP" dirty="0">
                <a:latin typeface="+mn-ea"/>
                <a:ea typeface="+mn-ea"/>
              </a:rPr>
              <a:t>–</a:t>
            </a:r>
            <a:r>
              <a:rPr kumimoji="1" lang="ja-JP" altLang="en-US" dirty="0">
                <a:latin typeface="+mn-ea"/>
                <a:ea typeface="+mn-ea"/>
              </a:rPr>
              <a:t> </a:t>
            </a:r>
            <a:r>
              <a:rPr kumimoji="1" lang="en-US" altLang="ja-JP" dirty="0">
                <a:latin typeface="+mn-ea"/>
                <a:ea typeface="+mn-ea"/>
              </a:rPr>
              <a:t>6.1.1. </a:t>
            </a:r>
            <a:r>
              <a:rPr kumimoji="1" lang="ja-JP" altLang="en-US" dirty="0">
                <a:latin typeface="+mn-ea"/>
                <a:ea typeface="+mn-ea"/>
              </a:rPr>
              <a:t>サービス実装パターン </a:t>
            </a:r>
            <a:r>
              <a:rPr kumimoji="1" lang="en-US" altLang="ja-JP" dirty="0">
                <a:latin typeface="+mn-ea"/>
                <a:ea typeface="+mn-ea"/>
              </a:rPr>
              <a:t>(2) </a:t>
            </a:r>
            <a:r>
              <a:rPr lang="en-US" altLang="ja-JP" kern="0" dirty="0" err="1">
                <a:latin typeface="+mn-ea"/>
                <a:ea typeface="+mn-ea"/>
                <a:cs typeface="Arial" charset="0"/>
              </a:rPr>
              <a:t>AnonCreds</a:t>
            </a:r>
            <a:endParaRPr kumimoji="1" lang="ja-JP" altLang="en-US" dirty="0">
              <a:latin typeface="+mn-ea"/>
              <a:ea typeface="+mn-ea"/>
            </a:endParaRPr>
          </a:p>
        </p:txBody>
      </p:sp>
      <p:sp>
        <p:nvSpPr>
          <p:cNvPr id="3" name="テキスト プレースホルダー 2">
            <a:extLst>
              <a:ext uri="{FF2B5EF4-FFF2-40B4-BE49-F238E27FC236}">
                <a16:creationId xmlns:a16="http://schemas.microsoft.com/office/drawing/2014/main" id="{556A7BED-84BC-9A5B-9D7C-D1900D3BC019}"/>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sp>
        <p:nvSpPr>
          <p:cNvPr id="5" name="正方形/長方形 4">
            <a:extLst>
              <a:ext uri="{FF2B5EF4-FFF2-40B4-BE49-F238E27FC236}">
                <a16:creationId xmlns:a16="http://schemas.microsoft.com/office/drawing/2014/main" id="{1C0DFC89-FFA3-53C5-8D50-54512A30BD23}"/>
              </a:ext>
            </a:extLst>
          </p:cNvPr>
          <p:cNvSpPr/>
          <p:nvPr/>
        </p:nvSpPr>
        <p:spPr bwMode="gray">
          <a:xfrm>
            <a:off x="7452100" y="6000061"/>
            <a:ext cx="899916" cy="27174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a:ln>
                  <a:noFill/>
                </a:ln>
                <a:solidFill>
                  <a:prstClr val="black"/>
                </a:solidFill>
                <a:effectLst/>
                <a:uLnTx/>
                <a:uFillTx/>
                <a:latin typeface="+mn-ea"/>
                <a:ea typeface="+mn-ea"/>
                <a:cs typeface="Arial" charset="0"/>
              </a:rPr>
              <a:t>Web</a:t>
            </a:r>
            <a:r>
              <a:rPr kumimoji="0" lang="ja-JP" altLang="en-US" sz="900" b="0" i="0" u="none" strike="noStrike" kern="0" cap="none" spc="0" normalizeH="0" baseline="0" noProof="0">
                <a:ln>
                  <a:noFill/>
                </a:ln>
                <a:solidFill>
                  <a:prstClr val="black"/>
                </a:solidFill>
                <a:effectLst/>
                <a:uLnTx/>
                <a:uFillTx/>
                <a:latin typeface="+mn-ea"/>
                <a:ea typeface="+mn-ea"/>
                <a:cs typeface="Arial" charset="0"/>
              </a:rPr>
              <a:t> </a:t>
            </a:r>
            <a:r>
              <a:rPr kumimoji="0" lang="en-US" altLang="ja-JP" sz="900" b="0" i="0" u="none" strike="noStrike" kern="0" cap="none" spc="0" normalizeH="0" baseline="0" noProof="0">
                <a:ln>
                  <a:noFill/>
                </a:ln>
                <a:solidFill>
                  <a:prstClr val="black"/>
                </a:solidFill>
                <a:effectLst/>
                <a:uLnTx/>
                <a:uFillTx/>
                <a:latin typeface="+mn-ea"/>
                <a:ea typeface="+mn-ea"/>
                <a:cs typeface="Arial" charset="0"/>
              </a:rPr>
              <a:t>Server</a:t>
            </a:r>
            <a:endParaRPr kumimoji="0" lang="ja-JP" altLang="en-US" sz="900" b="0" i="0" u="none" strike="noStrike" kern="0" cap="none" spc="0" normalizeH="0" baseline="0" noProof="0">
              <a:ln>
                <a:noFill/>
              </a:ln>
              <a:solidFill>
                <a:prstClr val="black"/>
              </a:solidFill>
              <a:effectLst/>
              <a:uLnTx/>
              <a:uFillTx/>
              <a:latin typeface="+mn-ea"/>
              <a:ea typeface="+mn-ea"/>
              <a:cs typeface="Arial" charset="0"/>
            </a:endParaRPr>
          </a:p>
        </p:txBody>
      </p:sp>
      <p:sp>
        <p:nvSpPr>
          <p:cNvPr id="11" name="四角形: 角を丸くする 47">
            <a:extLst>
              <a:ext uri="{FF2B5EF4-FFF2-40B4-BE49-F238E27FC236}">
                <a16:creationId xmlns:a16="http://schemas.microsoft.com/office/drawing/2014/main" id="{A73E43FA-E7E1-AC75-6C40-2E7D44F08527}"/>
              </a:ext>
            </a:extLst>
          </p:cNvPr>
          <p:cNvSpPr/>
          <p:nvPr/>
        </p:nvSpPr>
        <p:spPr bwMode="gray">
          <a:xfrm>
            <a:off x="4304094" y="6000061"/>
            <a:ext cx="898666" cy="27174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dirty="0">
                <a:ln>
                  <a:noFill/>
                </a:ln>
                <a:solidFill>
                  <a:prstClr val="black"/>
                </a:solidFill>
                <a:effectLst/>
                <a:uLnTx/>
                <a:uFillTx/>
                <a:latin typeface="+mn-ea"/>
                <a:ea typeface="+mn-ea"/>
                <a:cs typeface="Arial" charset="0"/>
              </a:rPr>
              <a:t>Hyperledger Indy</a:t>
            </a:r>
            <a:endParaRPr kumimoji="0" lang="ja-JP" altLang="en-US" sz="9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2" name="四角形: 角を丸くする 48">
            <a:extLst>
              <a:ext uri="{FF2B5EF4-FFF2-40B4-BE49-F238E27FC236}">
                <a16:creationId xmlns:a16="http://schemas.microsoft.com/office/drawing/2014/main" id="{83632BE4-FAD5-2C64-561B-40CF39FB9B3D}"/>
              </a:ext>
            </a:extLst>
          </p:cNvPr>
          <p:cNvSpPr/>
          <p:nvPr/>
        </p:nvSpPr>
        <p:spPr bwMode="gray">
          <a:xfrm>
            <a:off x="5266105" y="6000061"/>
            <a:ext cx="898666" cy="271748"/>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b="0" i="0" u="none" strike="noStrike" kern="0" cap="none" spc="0" normalizeH="0" baseline="0" noProof="0" dirty="0" err="1">
                <a:ln>
                  <a:noFill/>
                </a:ln>
                <a:solidFill>
                  <a:prstClr val="black"/>
                </a:solidFill>
                <a:effectLst/>
                <a:uLnTx/>
                <a:uFillTx/>
                <a:latin typeface="+mn-ea"/>
                <a:ea typeface="+mn-ea"/>
                <a:cs typeface="Arial" charset="0"/>
              </a:rPr>
              <a:t>cheqd</a:t>
            </a:r>
            <a:endParaRPr kumimoji="0" lang="ja-JP" altLang="en-US" sz="900" b="0" i="0" u="none" strike="noStrike" kern="0" cap="none" spc="0" normalizeH="0" baseline="0" noProof="0">
              <a:ln>
                <a:noFill/>
              </a:ln>
              <a:solidFill>
                <a:prstClr val="black"/>
              </a:solidFill>
              <a:effectLst/>
              <a:uLnTx/>
              <a:uFillTx/>
              <a:latin typeface="+mn-ea"/>
              <a:ea typeface="+mn-ea"/>
              <a:cs typeface="Arial" charset="0"/>
            </a:endParaRPr>
          </a:p>
        </p:txBody>
      </p:sp>
      <p:sp>
        <p:nvSpPr>
          <p:cNvPr id="8" name="正方形/長方形 7">
            <a:extLst>
              <a:ext uri="{FF2B5EF4-FFF2-40B4-BE49-F238E27FC236}">
                <a16:creationId xmlns:a16="http://schemas.microsoft.com/office/drawing/2014/main" id="{EC2552BF-251B-DE40-8B30-82E45AE12F63}"/>
              </a:ext>
            </a:extLst>
          </p:cNvPr>
          <p:cNvSpPr/>
          <p:nvPr/>
        </p:nvSpPr>
        <p:spPr bwMode="gray">
          <a:xfrm>
            <a:off x="4312260" y="5785054"/>
            <a:ext cx="2801804" cy="159413"/>
          </a:xfrm>
          <a:prstGeom prst="rect">
            <a:avLst/>
          </a:prstGeom>
          <a:solidFill>
            <a:sysClr val="window" lastClr="FFFFFF">
              <a:lumMod val="6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100" b="0" i="0" u="none" strike="noStrike" kern="0" cap="none" spc="0" normalizeH="0" baseline="0" noProof="0">
                <a:ln>
                  <a:noFill/>
                </a:ln>
                <a:solidFill>
                  <a:prstClr val="white"/>
                </a:solidFill>
                <a:effectLst/>
                <a:uLnTx/>
                <a:uFillTx/>
                <a:latin typeface="+mn-ea"/>
                <a:ea typeface="+mn-ea"/>
                <a:cs typeface="Arial" charset="0"/>
              </a:rPr>
              <a:t>B/C</a:t>
            </a:r>
            <a:r>
              <a:rPr kumimoji="0" lang="ja-JP" altLang="en-US" sz="1100" b="0" i="0" u="none" strike="noStrike" kern="0" cap="none" spc="0" normalizeH="0" baseline="0" noProof="0">
                <a:ln>
                  <a:noFill/>
                </a:ln>
                <a:solidFill>
                  <a:prstClr val="white"/>
                </a:solidFill>
                <a:effectLst/>
                <a:uLnTx/>
                <a:uFillTx/>
                <a:latin typeface="+mn-ea"/>
                <a:ea typeface="+mn-ea"/>
                <a:cs typeface="Arial" charset="0"/>
              </a:rPr>
              <a:t>活用</a:t>
            </a:r>
          </a:p>
        </p:txBody>
      </p:sp>
      <p:sp>
        <p:nvSpPr>
          <p:cNvPr id="9" name="正方形/長方形 8">
            <a:extLst>
              <a:ext uri="{FF2B5EF4-FFF2-40B4-BE49-F238E27FC236}">
                <a16:creationId xmlns:a16="http://schemas.microsoft.com/office/drawing/2014/main" id="{680F5EA8-45F1-F292-432F-07DA6AB77982}"/>
              </a:ext>
            </a:extLst>
          </p:cNvPr>
          <p:cNvSpPr/>
          <p:nvPr/>
        </p:nvSpPr>
        <p:spPr bwMode="gray">
          <a:xfrm>
            <a:off x="7188215" y="5785053"/>
            <a:ext cx="1408161" cy="169914"/>
          </a:xfrm>
          <a:prstGeom prst="rect">
            <a:avLst/>
          </a:prstGeom>
          <a:solidFill>
            <a:sysClr val="window" lastClr="FFFFFF">
              <a:lumMod val="6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100" b="0" i="0" u="none" strike="noStrike" kern="0" cap="none" spc="0" normalizeH="0" baseline="0" noProof="0" dirty="0">
                <a:ln>
                  <a:noFill/>
                </a:ln>
                <a:solidFill>
                  <a:prstClr val="white"/>
                </a:solidFill>
                <a:effectLst/>
                <a:uLnTx/>
                <a:uFillTx/>
                <a:latin typeface="+mn-ea"/>
                <a:ea typeface="+mn-ea"/>
                <a:cs typeface="Arial" charset="0"/>
              </a:rPr>
              <a:t>B/C</a:t>
            </a:r>
            <a:r>
              <a:rPr kumimoji="0" lang="ja-JP" altLang="en-US" sz="1100" b="0" i="0" u="none" strike="noStrike" kern="0" cap="none" spc="0" normalizeH="0" baseline="0" noProof="0" dirty="0">
                <a:ln>
                  <a:noFill/>
                </a:ln>
                <a:solidFill>
                  <a:prstClr val="white"/>
                </a:solidFill>
                <a:effectLst/>
                <a:uLnTx/>
                <a:uFillTx/>
                <a:latin typeface="+mn-ea"/>
                <a:ea typeface="+mn-ea"/>
                <a:cs typeface="Arial" charset="0"/>
              </a:rPr>
              <a:t>非活用</a:t>
            </a:r>
          </a:p>
        </p:txBody>
      </p:sp>
      <p:sp>
        <p:nvSpPr>
          <p:cNvPr id="15" name="テキスト ボックス 14">
            <a:extLst>
              <a:ext uri="{FF2B5EF4-FFF2-40B4-BE49-F238E27FC236}">
                <a16:creationId xmlns:a16="http://schemas.microsoft.com/office/drawing/2014/main" id="{509E2F32-4126-F08D-CDB7-03863D0CD4CA}"/>
              </a:ext>
            </a:extLst>
          </p:cNvPr>
          <p:cNvSpPr txBox="1"/>
          <p:nvPr/>
        </p:nvSpPr>
        <p:spPr bwMode="gray">
          <a:xfrm>
            <a:off x="560651" y="2633891"/>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フォーマット</a:t>
            </a:r>
          </a:p>
        </p:txBody>
      </p:sp>
      <p:sp>
        <p:nvSpPr>
          <p:cNvPr id="16" name="テキスト ボックス 15">
            <a:extLst>
              <a:ext uri="{FF2B5EF4-FFF2-40B4-BE49-F238E27FC236}">
                <a16:creationId xmlns:a16="http://schemas.microsoft.com/office/drawing/2014/main" id="{1689B155-333C-7D35-8553-FEFB5E1990DF}"/>
              </a:ext>
            </a:extLst>
          </p:cNvPr>
          <p:cNvSpPr txBox="1"/>
          <p:nvPr/>
        </p:nvSpPr>
        <p:spPr bwMode="gray">
          <a:xfrm>
            <a:off x="560651" y="3688039"/>
            <a:ext cx="1589367" cy="26784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エンティティ間の通信プロトコル</a:t>
            </a:r>
          </a:p>
        </p:txBody>
      </p:sp>
      <p:sp>
        <p:nvSpPr>
          <p:cNvPr id="17" name="テキスト ボックス 16">
            <a:extLst>
              <a:ext uri="{FF2B5EF4-FFF2-40B4-BE49-F238E27FC236}">
                <a16:creationId xmlns:a16="http://schemas.microsoft.com/office/drawing/2014/main" id="{E3F6DC52-128B-CB32-5DB4-3BF0B567D590}"/>
              </a:ext>
            </a:extLst>
          </p:cNvPr>
          <p:cNvSpPr txBox="1"/>
          <p:nvPr/>
        </p:nvSpPr>
        <p:spPr bwMode="gray">
          <a:xfrm>
            <a:off x="560651" y="4043214"/>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000" b="0" i="0" u="none" strike="noStrike" kern="0" cap="none" spc="0" normalizeH="0" baseline="0" noProof="0" dirty="0">
                <a:ln>
                  <a:noFill/>
                </a:ln>
                <a:solidFill>
                  <a:prstClr val="black"/>
                </a:solidFill>
                <a:effectLst/>
                <a:uLnTx/>
                <a:uFillTx/>
                <a:latin typeface="+mn-ea"/>
                <a:ea typeface="+mn-ea"/>
                <a:cs typeface="+mn-cs"/>
              </a:rPr>
              <a:t>通信</a:t>
            </a:r>
            <a:r>
              <a:rPr kumimoji="1" lang="en-US" altLang="ja-JP" sz="1000" b="0" i="0" u="none" strike="noStrike" kern="0" cap="none" spc="0" normalizeH="0" baseline="0" noProof="0" dirty="0">
                <a:ln>
                  <a:noFill/>
                </a:ln>
                <a:solidFill>
                  <a:prstClr val="black"/>
                </a:solidFill>
                <a:effectLst/>
                <a:uLnTx/>
                <a:uFillTx/>
                <a:latin typeface="+mn-ea"/>
                <a:ea typeface="+mn-ea"/>
                <a:cs typeface="+mn-cs"/>
              </a:rPr>
              <a:t>I/F(</a:t>
            </a:r>
            <a:r>
              <a:rPr kumimoji="1" lang="ja-JP" altLang="en-US" sz="1000" b="0" i="0" u="none" strike="noStrike" kern="0" cap="none" spc="0" normalizeH="0" baseline="0" noProof="0" dirty="0">
                <a:ln>
                  <a:noFill/>
                </a:ln>
                <a:solidFill>
                  <a:prstClr val="black"/>
                </a:solidFill>
                <a:effectLst/>
                <a:uLnTx/>
                <a:uFillTx/>
                <a:latin typeface="+mn-ea"/>
                <a:ea typeface="+mn-ea"/>
                <a:cs typeface="+mn-cs"/>
              </a:rPr>
              <a:t>デバイス連携</a:t>
            </a:r>
            <a:r>
              <a:rPr kumimoji="1" lang="en-US" altLang="ja-JP" sz="1000" b="0" i="0" u="none" strike="noStrike" kern="0" cap="none" spc="0" normalizeH="0" baseline="0" noProof="0" dirty="0">
                <a:ln>
                  <a:noFill/>
                </a:ln>
                <a:solidFill>
                  <a:prstClr val="black"/>
                </a:solidFill>
                <a:effectLst/>
                <a:uLnTx/>
                <a:uFillTx/>
                <a:latin typeface="+mn-ea"/>
                <a:ea typeface="+mn-ea"/>
                <a:cs typeface="+mn-cs"/>
              </a:rPr>
              <a:t>)</a:t>
            </a:r>
          </a:p>
        </p:txBody>
      </p:sp>
      <p:sp>
        <p:nvSpPr>
          <p:cNvPr id="18" name="テキスト ボックス 17">
            <a:extLst>
              <a:ext uri="{FF2B5EF4-FFF2-40B4-BE49-F238E27FC236}">
                <a16:creationId xmlns:a16="http://schemas.microsoft.com/office/drawing/2014/main" id="{FF831C83-3000-1925-75EE-C10462EA6247}"/>
              </a:ext>
            </a:extLst>
          </p:cNvPr>
          <p:cNvSpPr txBox="1"/>
          <p:nvPr/>
        </p:nvSpPr>
        <p:spPr bwMode="gray">
          <a:xfrm>
            <a:off x="560651" y="3023729"/>
            <a:ext cx="1589367" cy="338717"/>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利用される暗号方式</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kern="0" dirty="0">
                <a:solidFill>
                  <a:prstClr val="black"/>
                </a:solidFill>
                <a:latin typeface="+mn-ea"/>
                <a:ea typeface="+mn-ea"/>
                <a:cs typeface="Arial" charset="0"/>
              </a:rPr>
              <a:t>(</a:t>
            </a:r>
            <a:r>
              <a:rPr kumimoji="0" lang="ja-JP" altLang="en-US" sz="1000" kern="0" dirty="0">
                <a:solidFill>
                  <a:prstClr val="black"/>
                </a:solidFill>
                <a:latin typeface="+mn-ea"/>
                <a:ea typeface="+mn-ea"/>
                <a:cs typeface="Arial" charset="0"/>
              </a:rPr>
              <a:t>選択的属性開示含</a:t>
            </a:r>
            <a:r>
              <a:rPr kumimoji="0" lang="en-US" altLang="ja-JP" sz="1000" kern="0" dirty="0">
                <a:solidFill>
                  <a:prstClr val="black"/>
                </a:solidFill>
                <a:latin typeface="+mn-ea"/>
                <a:ea typeface="+mn-ea"/>
                <a:cs typeface="Arial" charset="0"/>
              </a:rPr>
              <a:t>)</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9" name="テキスト ボックス 18">
            <a:extLst>
              <a:ext uri="{FF2B5EF4-FFF2-40B4-BE49-F238E27FC236}">
                <a16:creationId xmlns:a16="http://schemas.microsoft.com/office/drawing/2014/main" id="{0B83F7DA-9A66-8602-92D3-A2FCF7F10F75}"/>
              </a:ext>
            </a:extLst>
          </p:cNvPr>
          <p:cNvSpPr txBox="1"/>
          <p:nvPr/>
        </p:nvSpPr>
        <p:spPr bwMode="gray">
          <a:xfrm>
            <a:off x="560651" y="1941362"/>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20" name="テキスト ボックス 19">
            <a:extLst>
              <a:ext uri="{FF2B5EF4-FFF2-40B4-BE49-F238E27FC236}">
                <a16:creationId xmlns:a16="http://schemas.microsoft.com/office/drawing/2014/main" id="{81C8A9CD-DAC8-598A-772E-3523160E434C}"/>
              </a:ext>
            </a:extLst>
          </p:cNvPr>
          <p:cNvSpPr txBox="1"/>
          <p:nvPr/>
        </p:nvSpPr>
        <p:spPr bwMode="gray">
          <a:xfrm>
            <a:off x="560651" y="2280691"/>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検証者に提供する</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21" name="テキスト ボックス 20">
            <a:extLst>
              <a:ext uri="{FF2B5EF4-FFF2-40B4-BE49-F238E27FC236}">
                <a16:creationId xmlns:a16="http://schemas.microsoft.com/office/drawing/2014/main" id="{C065AE87-4360-6C9B-C4D0-B8BB6EFB44DB}"/>
              </a:ext>
            </a:extLst>
          </p:cNvPr>
          <p:cNvSpPr txBox="1"/>
          <p:nvPr/>
        </p:nvSpPr>
        <p:spPr bwMode="gray">
          <a:xfrm>
            <a:off x="560651" y="4966647"/>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effectLst/>
                <a:uLnTx/>
                <a:uFillTx/>
                <a:latin typeface="+mn-ea"/>
                <a:ea typeface="+mn-ea"/>
                <a:cs typeface="Arial" charset="0"/>
              </a:rPr>
              <a:t>システムアクセスの</a:t>
            </a:r>
            <a:endParaRPr kumimoji="0" lang="en-US" altLang="ja-JP" sz="1000" b="0" i="0" u="none" strike="noStrike" kern="0" cap="none" spc="0" normalizeH="0" baseline="0" noProof="0" dirty="0">
              <a:ln>
                <a:noFill/>
              </a:ln>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effectLst/>
                <a:uLnTx/>
                <a:uFillTx/>
                <a:latin typeface="+mn-ea"/>
                <a:ea typeface="+mn-ea"/>
                <a:cs typeface="Arial" charset="0"/>
              </a:rPr>
              <a:t>ための識別子</a:t>
            </a:r>
            <a:endParaRPr kumimoji="0" lang="en-US" altLang="ja-JP" sz="1000" b="0" i="0" u="none" strike="noStrike" kern="0" cap="none" spc="0" normalizeH="0" baseline="0" noProof="0" dirty="0">
              <a:ln>
                <a:noFill/>
              </a:ln>
              <a:effectLst/>
              <a:uLnTx/>
              <a:uFillTx/>
              <a:latin typeface="+mn-ea"/>
              <a:ea typeface="+mn-ea"/>
              <a:cs typeface="Arial" charset="0"/>
            </a:endParaRPr>
          </a:p>
        </p:txBody>
      </p:sp>
      <p:sp>
        <p:nvSpPr>
          <p:cNvPr id="22" name="テキスト ボックス 21">
            <a:extLst>
              <a:ext uri="{FF2B5EF4-FFF2-40B4-BE49-F238E27FC236}">
                <a16:creationId xmlns:a16="http://schemas.microsoft.com/office/drawing/2014/main" id="{E977883F-AC01-1275-D46F-32ABDAD65D33}"/>
              </a:ext>
            </a:extLst>
          </p:cNvPr>
          <p:cNvSpPr txBox="1"/>
          <p:nvPr/>
        </p:nvSpPr>
        <p:spPr bwMode="gray">
          <a:xfrm>
            <a:off x="560651" y="5305098"/>
            <a:ext cx="1589367" cy="262222"/>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effectLst/>
                <a:uLnTx/>
                <a:uFillTx/>
                <a:latin typeface="+mn-ea"/>
                <a:ea typeface="+mn-ea"/>
                <a:cs typeface="Arial" charset="0"/>
              </a:rPr>
              <a:t>DID</a:t>
            </a:r>
            <a:r>
              <a:rPr kumimoji="0" lang="ja-JP" altLang="en-US" sz="1000" b="0" i="0" u="none" strike="noStrike" kern="0" cap="none" spc="0" normalizeH="0" baseline="0" noProof="0" dirty="0">
                <a:ln>
                  <a:noFill/>
                </a:ln>
                <a:effectLst/>
                <a:uLnTx/>
                <a:uFillTx/>
                <a:latin typeface="+mn-ea"/>
                <a:ea typeface="+mn-ea"/>
                <a:cs typeface="Arial" charset="0"/>
              </a:rPr>
              <a:t>メソッド</a:t>
            </a:r>
            <a:endParaRPr kumimoji="0" lang="en-US" altLang="ja-JP" sz="1000" b="0" i="0" u="none" strike="noStrike" kern="0" cap="none" spc="0" normalizeH="0" baseline="0" noProof="0" dirty="0">
              <a:ln>
                <a:noFill/>
              </a:ln>
              <a:effectLst/>
              <a:uLnTx/>
              <a:uFillTx/>
              <a:latin typeface="+mn-ea"/>
              <a:ea typeface="+mn-ea"/>
              <a:cs typeface="Arial" charset="0"/>
            </a:endParaRPr>
          </a:p>
        </p:txBody>
      </p:sp>
      <p:grpSp>
        <p:nvGrpSpPr>
          <p:cNvPr id="23" name="グループ化 22">
            <a:extLst>
              <a:ext uri="{FF2B5EF4-FFF2-40B4-BE49-F238E27FC236}">
                <a16:creationId xmlns:a16="http://schemas.microsoft.com/office/drawing/2014/main" id="{010B505C-DE13-EB78-EF89-6165B3D11A6C}"/>
              </a:ext>
            </a:extLst>
          </p:cNvPr>
          <p:cNvGrpSpPr/>
          <p:nvPr/>
        </p:nvGrpSpPr>
        <p:grpSpPr>
          <a:xfrm>
            <a:off x="4295484" y="3684565"/>
            <a:ext cx="4267972" cy="628783"/>
            <a:chOff x="2331194" y="3767633"/>
            <a:chExt cx="4852849" cy="628783"/>
          </a:xfrm>
        </p:grpSpPr>
        <p:sp>
          <p:nvSpPr>
            <p:cNvPr id="24" name="テキスト ボックス 23">
              <a:extLst>
                <a:ext uri="{FF2B5EF4-FFF2-40B4-BE49-F238E27FC236}">
                  <a16:creationId xmlns:a16="http://schemas.microsoft.com/office/drawing/2014/main" id="{634B6A6B-A07E-AC38-A137-5D9DBB7258A6}"/>
                </a:ext>
              </a:extLst>
            </p:cNvPr>
            <p:cNvSpPr txBox="1"/>
            <p:nvPr/>
          </p:nvSpPr>
          <p:spPr bwMode="gray">
            <a:xfrm>
              <a:off x="2341287" y="3767633"/>
              <a:ext cx="4842756"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DIDcomm</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(v1 / v2)</a:t>
              </a:r>
            </a:p>
          </p:txBody>
        </p:sp>
        <p:sp>
          <p:nvSpPr>
            <p:cNvPr id="26" name="テキスト ボックス 25">
              <a:extLst>
                <a:ext uri="{FF2B5EF4-FFF2-40B4-BE49-F238E27FC236}">
                  <a16:creationId xmlns:a16="http://schemas.microsoft.com/office/drawing/2014/main" id="{350393C2-551E-C59F-7475-AF1B33543601}"/>
                </a:ext>
              </a:extLst>
            </p:cNvPr>
            <p:cNvSpPr txBox="1"/>
            <p:nvPr/>
          </p:nvSpPr>
          <p:spPr bwMode="gray">
            <a:xfrm>
              <a:off x="5681840" y="4125103"/>
              <a:ext cx="104460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BLE</a:t>
              </a:r>
            </a:p>
          </p:txBody>
        </p:sp>
        <p:sp>
          <p:nvSpPr>
            <p:cNvPr id="27" name="テキスト ボックス 26">
              <a:extLst>
                <a:ext uri="{FF2B5EF4-FFF2-40B4-BE49-F238E27FC236}">
                  <a16:creationId xmlns:a16="http://schemas.microsoft.com/office/drawing/2014/main" id="{44BD5C8C-3AFD-7E3A-BA32-B263CFD96C92}"/>
                </a:ext>
              </a:extLst>
            </p:cNvPr>
            <p:cNvSpPr txBox="1"/>
            <p:nvPr/>
          </p:nvSpPr>
          <p:spPr bwMode="gray">
            <a:xfrm>
              <a:off x="2331194" y="4125103"/>
              <a:ext cx="104460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連携なし</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8" name="テキスト ボックス 27">
              <a:extLst>
                <a:ext uri="{FF2B5EF4-FFF2-40B4-BE49-F238E27FC236}">
                  <a16:creationId xmlns:a16="http://schemas.microsoft.com/office/drawing/2014/main" id="{3C773A07-A8F6-F54D-702B-B0768268C09E}"/>
                </a:ext>
              </a:extLst>
            </p:cNvPr>
            <p:cNvSpPr txBox="1"/>
            <p:nvPr/>
          </p:nvSpPr>
          <p:spPr bwMode="gray">
            <a:xfrm>
              <a:off x="3452894" y="4125103"/>
              <a:ext cx="104460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QR</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9" name="テキスト ボックス 28">
              <a:extLst>
                <a:ext uri="{FF2B5EF4-FFF2-40B4-BE49-F238E27FC236}">
                  <a16:creationId xmlns:a16="http://schemas.microsoft.com/office/drawing/2014/main" id="{F08B254B-1024-D5D0-AA1E-453D5D623949}"/>
                </a:ext>
              </a:extLst>
            </p:cNvPr>
            <p:cNvSpPr txBox="1"/>
            <p:nvPr/>
          </p:nvSpPr>
          <p:spPr bwMode="gray">
            <a:xfrm>
              <a:off x="4575734" y="4125103"/>
              <a:ext cx="104460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NFC</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grpSp>
      <p:sp>
        <p:nvSpPr>
          <p:cNvPr id="30" name="テキスト ボックス 29">
            <a:extLst>
              <a:ext uri="{FF2B5EF4-FFF2-40B4-BE49-F238E27FC236}">
                <a16:creationId xmlns:a16="http://schemas.microsoft.com/office/drawing/2014/main" id="{A6ED1EA4-B0D6-C5A7-A1CC-E8602B1B4C89}"/>
              </a:ext>
            </a:extLst>
          </p:cNvPr>
          <p:cNvSpPr txBox="1"/>
          <p:nvPr/>
        </p:nvSpPr>
        <p:spPr bwMode="gray">
          <a:xfrm>
            <a:off x="7188215" y="5193986"/>
            <a:ext cx="1408161" cy="169914"/>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effectLst/>
                <a:uLnTx/>
                <a:uFillTx/>
                <a:latin typeface="+mn-ea"/>
                <a:ea typeface="+mn-ea"/>
                <a:cs typeface="Arial" charset="0"/>
              </a:rPr>
              <a:t>DID</a:t>
            </a:r>
            <a:r>
              <a:rPr kumimoji="0" lang="ja-JP" altLang="en-US" sz="1200" kern="0" dirty="0">
                <a:latin typeface="+mn-ea"/>
                <a:ea typeface="+mn-ea"/>
                <a:cs typeface="Arial" charset="0"/>
              </a:rPr>
              <a:t>メソッド</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31" name="テキスト ボックス 30">
            <a:extLst>
              <a:ext uri="{FF2B5EF4-FFF2-40B4-BE49-F238E27FC236}">
                <a16:creationId xmlns:a16="http://schemas.microsoft.com/office/drawing/2014/main" id="{21F87577-689A-1AA8-2798-C6BF4D8B9EA1}"/>
              </a:ext>
            </a:extLst>
          </p:cNvPr>
          <p:cNvSpPr txBox="1"/>
          <p:nvPr/>
        </p:nvSpPr>
        <p:spPr bwMode="gray">
          <a:xfrm>
            <a:off x="7199349" y="5411721"/>
            <a:ext cx="1396864" cy="15559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did</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indy</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34" name="正方形/長方形 33">
            <a:extLst>
              <a:ext uri="{FF2B5EF4-FFF2-40B4-BE49-F238E27FC236}">
                <a16:creationId xmlns:a16="http://schemas.microsoft.com/office/drawing/2014/main" id="{822A4015-63B7-C1D6-4CBA-74E9C4E2D60D}"/>
              </a:ext>
            </a:extLst>
          </p:cNvPr>
          <p:cNvSpPr/>
          <p:nvPr/>
        </p:nvSpPr>
        <p:spPr>
          <a:xfrm>
            <a:off x="273051" y="908050"/>
            <a:ext cx="1876968" cy="849093"/>
          </a:xfrm>
          <a:prstGeom prst="rect">
            <a:avLst/>
          </a:prstGeom>
          <a:solidFill>
            <a:schemeClr val="accent1"/>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dirty="0">
                <a:solidFill>
                  <a:schemeClr val="bg1"/>
                </a:solidFill>
                <a:latin typeface="+mn-ea"/>
              </a:rPr>
              <a:t>総評</a:t>
            </a:r>
          </a:p>
        </p:txBody>
      </p:sp>
      <p:sp>
        <p:nvSpPr>
          <p:cNvPr id="35" name="テキスト ボックス 34">
            <a:extLst>
              <a:ext uri="{FF2B5EF4-FFF2-40B4-BE49-F238E27FC236}">
                <a16:creationId xmlns:a16="http://schemas.microsoft.com/office/drawing/2014/main" id="{0941B217-7297-F4E5-B61E-BAFA6C30FB66}"/>
              </a:ext>
            </a:extLst>
          </p:cNvPr>
          <p:cNvSpPr txBox="1"/>
          <p:nvPr/>
        </p:nvSpPr>
        <p:spPr bwMode="gray">
          <a:xfrm>
            <a:off x="4304094" y="1941363"/>
            <a:ext cx="4270186" cy="271313"/>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VC Data Model(v1.0/ v1.1 / v2.0)</a:t>
            </a:r>
          </a:p>
        </p:txBody>
      </p:sp>
      <p:sp>
        <p:nvSpPr>
          <p:cNvPr id="37" name="テキスト ボックス 36">
            <a:extLst>
              <a:ext uri="{FF2B5EF4-FFF2-40B4-BE49-F238E27FC236}">
                <a16:creationId xmlns:a16="http://schemas.microsoft.com/office/drawing/2014/main" id="{AC39B65A-397E-D32C-CA65-83E58EADF801}"/>
              </a:ext>
            </a:extLst>
          </p:cNvPr>
          <p:cNvSpPr txBox="1"/>
          <p:nvPr/>
        </p:nvSpPr>
        <p:spPr bwMode="gray">
          <a:xfrm>
            <a:off x="4304094" y="2637187"/>
            <a:ext cx="4267971"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err="1">
                <a:solidFill>
                  <a:prstClr val="black"/>
                </a:solidFill>
                <a:latin typeface="+mn-ea"/>
                <a:ea typeface="+mn-ea"/>
                <a:cs typeface="Arial" charset="0"/>
              </a:rPr>
              <a:t>AnonCreds</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40" name="テキスト ボックス 39">
            <a:extLst>
              <a:ext uri="{FF2B5EF4-FFF2-40B4-BE49-F238E27FC236}">
                <a16:creationId xmlns:a16="http://schemas.microsoft.com/office/drawing/2014/main" id="{715E39DB-16AA-F5A2-EA29-67334D6C8F99}"/>
              </a:ext>
            </a:extLst>
          </p:cNvPr>
          <p:cNvSpPr txBox="1"/>
          <p:nvPr/>
        </p:nvSpPr>
        <p:spPr bwMode="gray">
          <a:xfrm>
            <a:off x="4295486" y="2286816"/>
            <a:ext cx="4267971"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Verifiable Presentations</a:t>
            </a:r>
          </a:p>
        </p:txBody>
      </p:sp>
      <p:sp>
        <p:nvSpPr>
          <p:cNvPr id="42" name="正方形/長方形 41">
            <a:extLst>
              <a:ext uri="{FF2B5EF4-FFF2-40B4-BE49-F238E27FC236}">
                <a16:creationId xmlns:a16="http://schemas.microsoft.com/office/drawing/2014/main" id="{654AD073-F59F-65C9-697E-24367B1EDBD1}"/>
              </a:ext>
            </a:extLst>
          </p:cNvPr>
          <p:cNvSpPr/>
          <p:nvPr/>
        </p:nvSpPr>
        <p:spPr>
          <a:xfrm>
            <a:off x="2188955" y="908050"/>
            <a:ext cx="6970726" cy="849093"/>
          </a:xfrm>
          <a:prstGeom prst="rect">
            <a:avLst/>
          </a:prstGeom>
          <a:solidFill>
            <a:schemeClr val="bg1">
              <a:lumMod val="95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400" dirty="0" err="1">
                <a:latin typeface="+mn-ea"/>
              </a:rPr>
              <a:t>AnonCreds</a:t>
            </a:r>
            <a:r>
              <a:rPr lang="ja-JP" altLang="en-US" sz="1400">
                <a:latin typeface="+mn-ea"/>
              </a:rPr>
              <a:t>は</a:t>
            </a:r>
            <a:r>
              <a:rPr lang="en-US" altLang="ja-JP" sz="1400" dirty="0" err="1">
                <a:latin typeface="+mn-ea"/>
              </a:rPr>
              <a:t>Hyperleder</a:t>
            </a:r>
            <a:r>
              <a:rPr lang="ja-JP" altLang="en-US" sz="1400">
                <a:latin typeface="+mn-ea"/>
              </a:rPr>
              <a:t>プロジェクトで検討されている。レガシー仕様では</a:t>
            </a:r>
            <a:r>
              <a:rPr lang="en-US" altLang="ja-JP" sz="1400" dirty="0">
                <a:latin typeface="+mn-ea"/>
              </a:rPr>
              <a:t>Hyperledger Indy</a:t>
            </a:r>
            <a:r>
              <a:rPr lang="ja-JP" altLang="en-US" sz="1400">
                <a:latin typeface="+mn-ea"/>
              </a:rPr>
              <a:t>を前提に検討されていたが、近年では様々なプラットフォームに対応することが検討されている。ただし、前提となるバリエーションはそれほど多くない。</a:t>
            </a:r>
            <a:endParaRPr lang="ja-JP" altLang="en-US" sz="1400" dirty="0">
              <a:latin typeface="+mn-ea"/>
            </a:endParaRPr>
          </a:p>
        </p:txBody>
      </p:sp>
      <p:grpSp>
        <p:nvGrpSpPr>
          <p:cNvPr id="43" name="グループ化 42">
            <a:extLst>
              <a:ext uri="{FF2B5EF4-FFF2-40B4-BE49-F238E27FC236}">
                <a16:creationId xmlns:a16="http://schemas.microsoft.com/office/drawing/2014/main" id="{91CD52B5-A008-B05A-B97A-A362F85B0C31}"/>
              </a:ext>
            </a:extLst>
          </p:cNvPr>
          <p:cNvGrpSpPr/>
          <p:nvPr/>
        </p:nvGrpSpPr>
        <p:grpSpPr>
          <a:xfrm>
            <a:off x="4295057" y="3023822"/>
            <a:ext cx="4277008" cy="338717"/>
            <a:chOff x="4298710" y="3344466"/>
            <a:chExt cx="1689758" cy="271313"/>
          </a:xfrm>
        </p:grpSpPr>
        <p:sp>
          <p:nvSpPr>
            <p:cNvPr id="44" name="テキスト ボックス 43">
              <a:extLst>
                <a:ext uri="{FF2B5EF4-FFF2-40B4-BE49-F238E27FC236}">
                  <a16:creationId xmlns:a16="http://schemas.microsoft.com/office/drawing/2014/main" id="{26FE8EA8-41DB-8FDD-CD3F-A7D745838D9E}"/>
                </a:ext>
              </a:extLst>
            </p:cNvPr>
            <p:cNvSpPr txBox="1"/>
            <p:nvPr/>
          </p:nvSpPr>
          <p:spPr bwMode="gray">
            <a:xfrm>
              <a:off x="4298710" y="3344466"/>
              <a:ext cx="825491"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CL</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45" name="テキスト ボックス 44">
              <a:extLst>
                <a:ext uri="{FF2B5EF4-FFF2-40B4-BE49-F238E27FC236}">
                  <a16:creationId xmlns:a16="http://schemas.microsoft.com/office/drawing/2014/main" id="{0AC3B935-BA1D-4BA7-C389-57B077D223EA}"/>
                </a:ext>
              </a:extLst>
            </p:cNvPr>
            <p:cNvSpPr txBox="1"/>
            <p:nvPr/>
          </p:nvSpPr>
          <p:spPr bwMode="gray">
            <a:xfrm>
              <a:off x="5168356" y="3344466"/>
              <a:ext cx="820112"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BBS+</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grpSp>
      <p:sp>
        <p:nvSpPr>
          <p:cNvPr id="49" name="四角形: 角を丸くする 48">
            <a:extLst>
              <a:ext uri="{FF2B5EF4-FFF2-40B4-BE49-F238E27FC236}">
                <a16:creationId xmlns:a16="http://schemas.microsoft.com/office/drawing/2014/main" id="{C2F9EF45-5BA8-A91E-0E78-F0281FD6B1D0}"/>
              </a:ext>
            </a:extLst>
          </p:cNvPr>
          <p:cNvSpPr/>
          <p:nvPr/>
        </p:nvSpPr>
        <p:spPr>
          <a:xfrm>
            <a:off x="8670526" y="2280691"/>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latin typeface="+mn-ea"/>
              </a:rPr>
              <a:t>2</a:t>
            </a:r>
            <a:endParaRPr kumimoji="1" lang="ja-JP" altLang="en-US" sz="1100" dirty="0">
              <a:latin typeface="+mn-ea"/>
            </a:endParaRPr>
          </a:p>
        </p:txBody>
      </p:sp>
      <p:sp>
        <p:nvSpPr>
          <p:cNvPr id="50" name="四角形: 角を丸くする 49">
            <a:extLst>
              <a:ext uri="{FF2B5EF4-FFF2-40B4-BE49-F238E27FC236}">
                <a16:creationId xmlns:a16="http://schemas.microsoft.com/office/drawing/2014/main" id="{4DDD509E-6E3B-BCA4-B793-1FEC7F50CE58}"/>
              </a:ext>
            </a:extLst>
          </p:cNvPr>
          <p:cNvSpPr/>
          <p:nvPr/>
        </p:nvSpPr>
        <p:spPr>
          <a:xfrm>
            <a:off x="8670526" y="2640300"/>
            <a:ext cx="396478" cy="746422"/>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latin typeface="+mn-ea"/>
              </a:rPr>
              <a:t>2</a:t>
            </a:r>
            <a:endParaRPr kumimoji="1" lang="ja-JP" altLang="en-US" sz="1100" dirty="0">
              <a:latin typeface="+mn-ea"/>
            </a:endParaRPr>
          </a:p>
        </p:txBody>
      </p:sp>
      <p:sp>
        <p:nvSpPr>
          <p:cNvPr id="51" name="四角形: 角を丸くする 50">
            <a:extLst>
              <a:ext uri="{FF2B5EF4-FFF2-40B4-BE49-F238E27FC236}">
                <a16:creationId xmlns:a16="http://schemas.microsoft.com/office/drawing/2014/main" id="{36C10B65-C8BF-72CC-BD7D-5F63B5916C4B}"/>
              </a:ext>
            </a:extLst>
          </p:cNvPr>
          <p:cNvSpPr/>
          <p:nvPr/>
        </p:nvSpPr>
        <p:spPr>
          <a:xfrm>
            <a:off x="8670526" y="3684565"/>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100" dirty="0">
                <a:latin typeface="+mn-ea"/>
              </a:rPr>
              <a:t>１</a:t>
            </a:r>
          </a:p>
        </p:txBody>
      </p:sp>
      <p:sp>
        <p:nvSpPr>
          <p:cNvPr id="52" name="四角形: 角を丸くする 51">
            <a:extLst>
              <a:ext uri="{FF2B5EF4-FFF2-40B4-BE49-F238E27FC236}">
                <a16:creationId xmlns:a16="http://schemas.microsoft.com/office/drawing/2014/main" id="{C4631FCC-75ED-B1C4-8EBD-BBA8757E3834}"/>
              </a:ext>
            </a:extLst>
          </p:cNvPr>
          <p:cNvSpPr/>
          <p:nvPr/>
        </p:nvSpPr>
        <p:spPr>
          <a:xfrm>
            <a:off x="8670526" y="4042035"/>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100" dirty="0">
                <a:latin typeface="+mn-ea"/>
              </a:rPr>
              <a:t>4</a:t>
            </a:r>
            <a:endParaRPr kumimoji="1" lang="ja-JP" altLang="en-US" sz="1100" dirty="0">
              <a:latin typeface="+mn-ea"/>
            </a:endParaRPr>
          </a:p>
        </p:txBody>
      </p:sp>
      <p:sp>
        <p:nvSpPr>
          <p:cNvPr id="53" name="正方形/長方形 52">
            <a:extLst>
              <a:ext uri="{FF2B5EF4-FFF2-40B4-BE49-F238E27FC236}">
                <a16:creationId xmlns:a16="http://schemas.microsoft.com/office/drawing/2014/main" id="{6037172E-B699-8795-9893-803FEBE5C61C}"/>
              </a:ext>
            </a:extLst>
          </p:cNvPr>
          <p:cNvSpPr/>
          <p:nvPr/>
        </p:nvSpPr>
        <p:spPr>
          <a:xfrm>
            <a:off x="2188956" y="3583102"/>
            <a:ext cx="2059701" cy="1071021"/>
          </a:xfrm>
          <a:prstGeom prst="rect">
            <a:avLst/>
          </a:prstGeom>
          <a:solidFill>
            <a:schemeClr val="bg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r>
              <a:rPr kumimoji="1" lang="ja-JP" altLang="en-US" sz="1100">
                <a:latin typeface="+mn-ea"/>
              </a:rPr>
              <a:t>証明書を安全に伝達するためのプロトコルとして</a:t>
            </a:r>
            <a:r>
              <a:rPr lang="en-US" altLang="ja-JP" sz="1100" dirty="0" err="1">
                <a:latin typeface="+mn-ea"/>
              </a:rPr>
              <a:t>DIDComm</a:t>
            </a:r>
            <a:r>
              <a:rPr lang="ja-JP" altLang="en-US" sz="1100">
                <a:latin typeface="+mn-ea"/>
              </a:rPr>
              <a:t>が定義、デバイス連携は対象外、鍵管理は以下で検討</a:t>
            </a:r>
            <a:br>
              <a:rPr lang="en-US" altLang="ja-JP" sz="1100" dirty="0">
                <a:latin typeface="+mn-ea"/>
              </a:rPr>
            </a:br>
            <a:r>
              <a:rPr kumimoji="1" lang="en-US" altLang="ja-JP" sz="1100" dirty="0">
                <a:latin typeface="+mn-ea"/>
                <a:hlinkClick r:id="rId2"/>
              </a:rPr>
              <a:t>https://github.com/hyperledger/aries-askar</a:t>
            </a:r>
            <a:endParaRPr lang="en-US" altLang="ja-JP" sz="1100" dirty="0">
              <a:latin typeface="+mn-ea"/>
            </a:endParaRPr>
          </a:p>
          <a:p>
            <a:endParaRPr kumimoji="1" lang="ja-JP" altLang="en-US" sz="1100">
              <a:latin typeface="+mn-ea"/>
            </a:endParaRPr>
          </a:p>
        </p:txBody>
      </p:sp>
      <p:sp>
        <p:nvSpPr>
          <p:cNvPr id="54" name="正方形/長方形 53">
            <a:extLst>
              <a:ext uri="{FF2B5EF4-FFF2-40B4-BE49-F238E27FC236}">
                <a16:creationId xmlns:a16="http://schemas.microsoft.com/office/drawing/2014/main" id="{37477029-6CEB-08A8-9F52-F30BE791353F}"/>
              </a:ext>
            </a:extLst>
          </p:cNvPr>
          <p:cNvSpPr/>
          <p:nvPr/>
        </p:nvSpPr>
        <p:spPr>
          <a:xfrm>
            <a:off x="2188956" y="4888181"/>
            <a:ext cx="2059701" cy="1609739"/>
          </a:xfrm>
          <a:prstGeom prst="rect">
            <a:avLst/>
          </a:prstGeom>
          <a:solidFill>
            <a:schemeClr val="bg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r>
              <a:rPr lang="en-US" altLang="ja-JP" sz="1100" dirty="0">
                <a:latin typeface="+mn-ea"/>
              </a:rPr>
              <a:t>DID</a:t>
            </a:r>
            <a:r>
              <a:rPr lang="ja-JP" altLang="en-US" sz="1100" dirty="0">
                <a:latin typeface="+mn-ea"/>
              </a:rPr>
              <a:t>メソッドは</a:t>
            </a:r>
            <a:r>
              <a:rPr lang="en-US" altLang="ja-JP" sz="1100" dirty="0" err="1">
                <a:latin typeface="+mn-ea"/>
              </a:rPr>
              <a:t>AnonCreds</a:t>
            </a:r>
            <a:r>
              <a:rPr lang="en-US" altLang="ja-JP" sz="1100" dirty="0">
                <a:latin typeface="+mn-ea"/>
              </a:rPr>
              <a:t> Methods Registry</a:t>
            </a:r>
            <a:r>
              <a:rPr lang="ja-JP" altLang="en-US" sz="1100" dirty="0">
                <a:latin typeface="+mn-ea"/>
              </a:rPr>
              <a:t>にて定義されている、レガシー仕様として</a:t>
            </a:r>
            <a:r>
              <a:rPr lang="en-US" altLang="ja-JP" sz="1100" dirty="0">
                <a:latin typeface="+mn-ea"/>
              </a:rPr>
              <a:t>Hyperledger Indy</a:t>
            </a:r>
            <a:r>
              <a:rPr lang="ja-JP" altLang="en-US" sz="1100" dirty="0">
                <a:latin typeface="+mn-ea"/>
              </a:rPr>
              <a:t>を利用する場合には</a:t>
            </a:r>
            <a:r>
              <a:rPr lang="en-US" altLang="ja-JP" sz="1100" dirty="0" err="1">
                <a:latin typeface="+mn-ea"/>
              </a:rPr>
              <a:t>did:indy</a:t>
            </a:r>
            <a:r>
              <a:rPr lang="ja-JP" altLang="en-US" sz="1100" dirty="0">
                <a:latin typeface="+mn-ea"/>
              </a:rPr>
              <a:t>が推奨されているが、新規としては</a:t>
            </a:r>
            <a:r>
              <a:rPr lang="en-US" altLang="ja-JP" sz="1100" dirty="0">
                <a:latin typeface="+mn-ea"/>
              </a:rPr>
              <a:t>4</a:t>
            </a:r>
            <a:r>
              <a:rPr lang="ja-JP" altLang="en-US" sz="1100" dirty="0">
                <a:latin typeface="+mn-ea"/>
              </a:rPr>
              <a:t>種類定義されている。</a:t>
            </a:r>
            <a:r>
              <a:rPr lang="en-US" altLang="ja-JP" sz="1100" dirty="0">
                <a:latin typeface="+mn-ea"/>
              </a:rPr>
              <a:t>HTTP</a:t>
            </a:r>
            <a:r>
              <a:rPr lang="ja-JP" altLang="en-US" sz="1100" dirty="0">
                <a:latin typeface="+mn-ea"/>
              </a:rPr>
              <a:t>は</a:t>
            </a:r>
            <a:r>
              <a:rPr lang="en-US" altLang="ja-JP" sz="1100" dirty="0" err="1">
                <a:latin typeface="+mn-ea"/>
              </a:rPr>
              <a:t>did:web</a:t>
            </a:r>
            <a:r>
              <a:rPr lang="ja-JP" altLang="en-US" sz="1100" dirty="0">
                <a:latin typeface="+mn-ea"/>
              </a:rPr>
              <a:t>とほぼ同一</a:t>
            </a:r>
            <a:endParaRPr lang="en-US" altLang="ja-JP" sz="1100" dirty="0">
              <a:latin typeface="+mn-ea"/>
            </a:endParaRPr>
          </a:p>
          <a:p>
            <a:r>
              <a:rPr lang="en-US" altLang="ja-JP" sz="1100" dirty="0">
                <a:latin typeface="+mn-ea"/>
                <a:hlinkClick r:id="rId3"/>
              </a:rPr>
              <a:t>https://hyperledger.github.io/anoncreds-methods-registry/</a:t>
            </a:r>
            <a:endParaRPr lang="en-US" altLang="ja-JP" sz="1100" dirty="0">
              <a:latin typeface="+mn-ea"/>
            </a:endParaRPr>
          </a:p>
        </p:txBody>
      </p:sp>
      <p:sp>
        <p:nvSpPr>
          <p:cNvPr id="56" name="四角形: 角を丸くする 55">
            <a:extLst>
              <a:ext uri="{FF2B5EF4-FFF2-40B4-BE49-F238E27FC236}">
                <a16:creationId xmlns:a16="http://schemas.microsoft.com/office/drawing/2014/main" id="{62E68F8E-C135-4121-B49B-33C5D4F55C38}"/>
              </a:ext>
            </a:extLst>
          </p:cNvPr>
          <p:cNvSpPr/>
          <p:nvPr/>
        </p:nvSpPr>
        <p:spPr>
          <a:xfrm>
            <a:off x="8670526" y="4963648"/>
            <a:ext cx="396478" cy="1322997"/>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100">
                <a:latin typeface="+mn-ea"/>
              </a:rPr>
              <a:t>基本</a:t>
            </a:r>
            <a:endParaRPr lang="en-US" altLang="ja-JP" sz="1100" dirty="0">
              <a:latin typeface="+mn-ea"/>
            </a:endParaRPr>
          </a:p>
          <a:p>
            <a:pPr algn="ctr"/>
            <a:r>
              <a:rPr lang="en-US" altLang="ja-JP" sz="1100" dirty="0">
                <a:latin typeface="+mn-ea"/>
              </a:rPr>
              <a:t>4</a:t>
            </a:r>
            <a:endParaRPr lang="ja-JP" altLang="en-US" sz="1100" dirty="0">
              <a:latin typeface="+mn-ea"/>
            </a:endParaRPr>
          </a:p>
        </p:txBody>
      </p:sp>
      <p:sp>
        <p:nvSpPr>
          <p:cNvPr id="57" name="二等辺三角形 56">
            <a:extLst>
              <a:ext uri="{FF2B5EF4-FFF2-40B4-BE49-F238E27FC236}">
                <a16:creationId xmlns:a16="http://schemas.microsoft.com/office/drawing/2014/main" id="{AFEAA062-9B6E-73F8-7ACB-03AAD24A7348}"/>
              </a:ext>
            </a:extLst>
          </p:cNvPr>
          <p:cNvSpPr/>
          <p:nvPr/>
        </p:nvSpPr>
        <p:spPr>
          <a:xfrm rot="10800000">
            <a:off x="5924053" y="5612283"/>
            <a:ext cx="1060704" cy="141501"/>
          </a:xfrm>
          <a:prstGeom prst="triangle">
            <a:avLst/>
          </a:prstGeom>
          <a:solidFill>
            <a:schemeClr val="bg1">
              <a:lumMod val="75000"/>
            </a:schemeClr>
          </a:solidFill>
          <a:ln w="12700">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59" name="正方形/長方形 58">
            <a:extLst>
              <a:ext uri="{FF2B5EF4-FFF2-40B4-BE49-F238E27FC236}">
                <a16:creationId xmlns:a16="http://schemas.microsoft.com/office/drawing/2014/main" id="{1DD0F815-21B7-71B0-A15B-DE73932B5F12}"/>
              </a:ext>
            </a:extLst>
          </p:cNvPr>
          <p:cNvSpPr/>
          <p:nvPr/>
        </p:nvSpPr>
        <p:spPr>
          <a:xfrm>
            <a:off x="413886" y="4816539"/>
            <a:ext cx="8749365" cy="1701546"/>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60" name="正方形/長方形 59">
            <a:extLst>
              <a:ext uri="{FF2B5EF4-FFF2-40B4-BE49-F238E27FC236}">
                <a16:creationId xmlns:a16="http://schemas.microsoft.com/office/drawing/2014/main" id="{9D479B57-2D92-BE50-51C7-F233D292ACB6}"/>
              </a:ext>
            </a:extLst>
          </p:cNvPr>
          <p:cNvSpPr/>
          <p:nvPr/>
        </p:nvSpPr>
        <p:spPr bwMode="gray">
          <a:xfrm rot="16200000">
            <a:off x="792158" y="4135302"/>
            <a:ext cx="169692" cy="1378658"/>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62" name="テキスト ボックス 61">
            <a:extLst>
              <a:ext uri="{FF2B5EF4-FFF2-40B4-BE49-F238E27FC236}">
                <a16:creationId xmlns:a16="http://schemas.microsoft.com/office/drawing/2014/main" id="{F21D74ED-03A4-B1C5-63B3-9F7499C2156C}"/>
              </a:ext>
            </a:extLst>
          </p:cNvPr>
          <p:cNvSpPr txBox="1"/>
          <p:nvPr/>
        </p:nvSpPr>
        <p:spPr bwMode="gray">
          <a:xfrm>
            <a:off x="560651" y="4377720"/>
            <a:ext cx="1589367" cy="26393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000" b="0" i="0" u="none" strike="noStrike" kern="0" cap="none" spc="0" normalizeH="0" baseline="0">
                <a:ln>
                  <a:noFill/>
                </a:ln>
                <a:solidFill>
                  <a:prstClr val="black"/>
                </a:solidFill>
                <a:effectLst/>
                <a:uLnTx/>
                <a:uFillTx/>
                <a:latin typeface="Calibri Light"/>
                <a:ea typeface="Yu Gothic UI"/>
              </a:defRPr>
            </a:lvl1pPr>
          </a:lstStyle>
          <a:p>
            <a:r>
              <a:rPr lang="ja-JP" altLang="en-US" dirty="0">
                <a:latin typeface="+mn-ea"/>
                <a:ea typeface="+mn-ea"/>
              </a:rPr>
              <a:t>鍵管理関連</a:t>
            </a:r>
            <a:endParaRPr lang="en-US" altLang="ja-JP" dirty="0">
              <a:latin typeface="+mn-ea"/>
              <a:ea typeface="+mn-ea"/>
            </a:endParaRPr>
          </a:p>
        </p:txBody>
      </p:sp>
      <p:sp>
        <p:nvSpPr>
          <p:cNvPr id="63" name="正方形/長方形 62">
            <a:extLst>
              <a:ext uri="{FF2B5EF4-FFF2-40B4-BE49-F238E27FC236}">
                <a16:creationId xmlns:a16="http://schemas.microsoft.com/office/drawing/2014/main" id="{F6AC495E-4BCC-E8DE-0469-B6C5806DDBD0}"/>
              </a:ext>
            </a:extLst>
          </p:cNvPr>
          <p:cNvSpPr/>
          <p:nvPr/>
        </p:nvSpPr>
        <p:spPr>
          <a:xfrm>
            <a:off x="4295484" y="4384990"/>
            <a:ext cx="4300892" cy="25666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algn="ctr" defTabSz="990564" eaLnBrk="1" fontAlgn="auto" hangingPunct="1">
              <a:spcBef>
                <a:spcPts val="0"/>
              </a:spcBef>
              <a:spcAft>
                <a:spcPts val="0"/>
              </a:spcAft>
              <a:buSzPct val="100000"/>
            </a:pPr>
            <a:r>
              <a:rPr kumimoji="0" lang="en-US" altLang="ja-JP" sz="1200" kern="0" dirty="0">
                <a:solidFill>
                  <a:prstClr val="black"/>
                </a:solidFill>
                <a:latin typeface="+mn-ea"/>
                <a:ea typeface="+mn-ea"/>
                <a:cs typeface="Arial" charset="0"/>
              </a:rPr>
              <a:t>Aries-askar</a:t>
            </a:r>
            <a:endParaRPr kumimoji="0" lang="ja-JP" altLang="en-US" sz="1200" kern="0" dirty="0">
              <a:solidFill>
                <a:prstClr val="black"/>
              </a:solidFill>
              <a:latin typeface="+mn-ea"/>
              <a:ea typeface="+mn-ea"/>
              <a:cs typeface="Arial" charset="0"/>
            </a:endParaRPr>
          </a:p>
        </p:txBody>
      </p:sp>
      <p:sp>
        <p:nvSpPr>
          <p:cNvPr id="64" name="四角形: 角を丸くする 63">
            <a:extLst>
              <a:ext uri="{FF2B5EF4-FFF2-40B4-BE49-F238E27FC236}">
                <a16:creationId xmlns:a16="http://schemas.microsoft.com/office/drawing/2014/main" id="{3B455C10-5C1E-BBCC-A470-4009C4DFB1CA}"/>
              </a:ext>
            </a:extLst>
          </p:cNvPr>
          <p:cNvSpPr/>
          <p:nvPr/>
        </p:nvSpPr>
        <p:spPr>
          <a:xfrm>
            <a:off x="8670526" y="4382811"/>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latin typeface="+mn-ea"/>
              </a:rPr>
              <a:t>1</a:t>
            </a:r>
            <a:endParaRPr lang="ja-JP" altLang="en-US" sz="1100" dirty="0">
              <a:latin typeface="+mn-ea"/>
            </a:endParaRPr>
          </a:p>
        </p:txBody>
      </p:sp>
      <p:sp>
        <p:nvSpPr>
          <p:cNvPr id="65" name="テキスト ボックス 64">
            <a:extLst>
              <a:ext uri="{FF2B5EF4-FFF2-40B4-BE49-F238E27FC236}">
                <a16:creationId xmlns:a16="http://schemas.microsoft.com/office/drawing/2014/main" id="{291875B8-0396-B1EE-3F95-62114C789B9F}"/>
              </a:ext>
            </a:extLst>
          </p:cNvPr>
          <p:cNvSpPr txBox="1"/>
          <p:nvPr/>
        </p:nvSpPr>
        <p:spPr bwMode="gray">
          <a:xfrm>
            <a:off x="553916" y="5747328"/>
            <a:ext cx="1589367" cy="476125"/>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DID Document</a:t>
            </a: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格納方式</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a:t>
            </a: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ストレージ</a:t>
            </a: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a:t>
            </a:r>
          </a:p>
        </p:txBody>
      </p:sp>
      <p:sp>
        <p:nvSpPr>
          <p:cNvPr id="66" name="楕円 65">
            <a:extLst>
              <a:ext uri="{FF2B5EF4-FFF2-40B4-BE49-F238E27FC236}">
                <a16:creationId xmlns:a16="http://schemas.microsoft.com/office/drawing/2014/main" id="{252C8C7F-72AD-C3AB-9B64-ACEE409B9234}"/>
              </a:ext>
            </a:extLst>
          </p:cNvPr>
          <p:cNvSpPr/>
          <p:nvPr/>
        </p:nvSpPr>
        <p:spPr>
          <a:xfrm>
            <a:off x="8779935" y="3913596"/>
            <a:ext cx="180000" cy="180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solidFill>
                  <a:schemeClr val="bg1"/>
                </a:solidFill>
                <a:latin typeface="+mn-ea"/>
              </a:rPr>
              <a:t>×</a:t>
            </a:r>
            <a:endParaRPr kumimoji="1" lang="ja-JP" altLang="en-US" sz="1100" dirty="0">
              <a:solidFill>
                <a:schemeClr val="bg1"/>
              </a:solidFill>
              <a:latin typeface="+mn-ea"/>
            </a:endParaRPr>
          </a:p>
        </p:txBody>
      </p:sp>
      <p:sp>
        <p:nvSpPr>
          <p:cNvPr id="68" name="楕円 67">
            <a:extLst>
              <a:ext uri="{FF2B5EF4-FFF2-40B4-BE49-F238E27FC236}">
                <a16:creationId xmlns:a16="http://schemas.microsoft.com/office/drawing/2014/main" id="{8664BD82-688E-EED6-B45B-8FBFD75B59AA}"/>
              </a:ext>
            </a:extLst>
          </p:cNvPr>
          <p:cNvSpPr/>
          <p:nvPr/>
        </p:nvSpPr>
        <p:spPr>
          <a:xfrm>
            <a:off x="8779935" y="2505083"/>
            <a:ext cx="180000" cy="180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solidFill>
                  <a:schemeClr val="bg1"/>
                </a:solidFill>
                <a:latin typeface="+mn-ea"/>
              </a:rPr>
              <a:t>×</a:t>
            </a:r>
            <a:endParaRPr kumimoji="1" lang="ja-JP" altLang="en-US" sz="1100" dirty="0">
              <a:solidFill>
                <a:schemeClr val="bg1"/>
              </a:solidFill>
              <a:latin typeface="+mn-ea"/>
            </a:endParaRPr>
          </a:p>
        </p:txBody>
      </p:sp>
      <p:sp>
        <p:nvSpPr>
          <p:cNvPr id="70" name="正方形/長方形 69">
            <a:extLst>
              <a:ext uri="{FF2B5EF4-FFF2-40B4-BE49-F238E27FC236}">
                <a16:creationId xmlns:a16="http://schemas.microsoft.com/office/drawing/2014/main" id="{E9D8DCC0-B8EA-856D-55E4-5696410CF8FB}"/>
              </a:ext>
            </a:extLst>
          </p:cNvPr>
          <p:cNvSpPr/>
          <p:nvPr/>
        </p:nvSpPr>
        <p:spPr>
          <a:xfrm>
            <a:off x="413886" y="3545238"/>
            <a:ext cx="8749365" cy="1154694"/>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71" name="正方形/長方形 70">
            <a:extLst>
              <a:ext uri="{FF2B5EF4-FFF2-40B4-BE49-F238E27FC236}">
                <a16:creationId xmlns:a16="http://schemas.microsoft.com/office/drawing/2014/main" id="{97532226-EE4A-2BAE-A931-0F4E2680A007}"/>
              </a:ext>
            </a:extLst>
          </p:cNvPr>
          <p:cNvSpPr/>
          <p:nvPr/>
        </p:nvSpPr>
        <p:spPr>
          <a:xfrm>
            <a:off x="413886" y="1874868"/>
            <a:ext cx="8749365" cy="1545374"/>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72" name="正方形/長方形 71">
            <a:extLst>
              <a:ext uri="{FF2B5EF4-FFF2-40B4-BE49-F238E27FC236}">
                <a16:creationId xmlns:a16="http://schemas.microsoft.com/office/drawing/2014/main" id="{7BC8ED2D-F3FC-11CE-E18A-1EB71CACD166}"/>
              </a:ext>
            </a:extLst>
          </p:cNvPr>
          <p:cNvSpPr/>
          <p:nvPr/>
        </p:nvSpPr>
        <p:spPr bwMode="gray">
          <a:xfrm rot="16200000">
            <a:off x="792158" y="2864675"/>
            <a:ext cx="169692" cy="1378658"/>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kern="0" dirty="0">
                <a:solidFill>
                  <a:prstClr val="white"/>
                </a:solidFill>
                <a:latin typeface="+mn-ea"/>
                <a:ea typeface="+mn-ea"/>
                <a:cs typeface="Arial" charset="0"/>
              </a:rPr>
              <a:t>Agent</a:t>
            </a: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73" name="正方形/長方形 72">
            <a:extLst>
              <a:ext uri="{FF2B5EF4-FFF2-40B4-BE49-F238E27FC236}">
                <a16:creationId xmlns:a16="http://schemas.microsoft.com/office/drawing/2014/main" id="{7056BFF5-E0DC-3DC5-4D75-1991319C3AEE}"/>
              </a:ext>
            </a:extLst>
          </p:cNvPr>
          <p:cNvSpPr/>
          <p:nvPr/>
        </p:nvSpPr>
        <p:spPr bwMode="gray">
          <a:xfrm rot="16200000">
            <a:off x="792158" y="1188482"/>
            <a:ext cx="169692" cy="1378658"/>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74" name="正方形/長方形 73">
            <a:extLst>
              <a:ext uri="{FF2B5EF4-FFF2-40B4-BE49-F238E27FC236}">
                <a16:creationId xmlns:a16="http://schemas.microsoft.com/office/drawing/2014/main" id="{4E25E2AE-4799-0172-7F2F-ACACE80FD0C9}"/>
              </a:ext>
            </a:extLst>
          </p:cNvPr>
          <p:cNvSpPr/>
          <p:nvPr/>
        </p:nvSpPr>
        <p:spPr>
          <a:xfrm>
            <a:off x="9219022" y="3553806"/>
            <a:ext cx="409344" cy="346781"/>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4</a:t>
            </a:r>
            <a:endParaRPr kumimoji="1" lang="ja-JP" altLang="en-US" sz="1200" dirty="0">
              <a:solidFill>
                <a:schemeClr val="bg1"/>
              </a:solidFill>
              <a:latin typeface="+mn-ea"/>
            </a:endParaRPr>
          </a:p>
        </p:txBody>
      </p:sp>
      <p:sp>
        <p:nvSpPr>
          <p:cNvPr id="75" name="正方形/長方形 74">
            <a:extLst>
              <a:ext uri="{FF2B5EF4-FFF2-40B4-BE49-F238E27FC236}">
                <a16:creationId xmlns:a16="http://schemas.microsoft.com/office/drawing/2014/main" id="{B3765193-6838-2EEB-6EAE-6D16FA170A5D}"/>
              </a:ext>
            </a:extLst>
          </p:cNvPr>
          <p:cNvSpPr/>
          <p:nvPr/>
        </p:nvSpPr>
        <p:spPr>
          <a:xfrm>
            <a:off x="9227545" y="1871251"/>
            <a:ext cx="409344" cy="346781"/>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200" dirty="0">
                <a:solidFill>
                  <a:schemeClr val="bg1"/>
                </a:solidFill>
                <a:latin typeface="+mn-ea"/>
              </a:rPr>
              <a:t>4</a:t>
            </a:r>
            <a:endParaRPr kumimoji="1" lang="ja-JP" altLang="en-US" sz="1200" dirty="0">
              <a:solidFill>
                <a:schemeClr val="bg1"/>
              </a:solidFill>
              <a:latin typeface="+mn-ea"/>
            </a:endParaRPr>
          </a:p>
        </p:txBody>
      </p:sp>
      <p:sp>
        <p:nvSpPr>
          <p:cNvPr id="83" name="正方形/長方形 82">
            <a:extLst>
              <a:ext uri="{FF2B5EF4-FFF2-40B4-BE49-F238E27FC236}">
                <a16:creationId xmlns:a16="http://schemas.microsoft.com/office/drawing/2014/main" id="{48427BF7-D881-EF23-8F61-AC848B2AFCEE}"/>
              </a:ext>
            </a:extLst>
          </p:cNvPr>
          <p:cNvSpPr/>
          <p:nvPr/>
        </p:nvSpPr>
        <p:spPr>
          <a:xfrm>
            <a:off x="2188956" y="1949694"/>
            <a:ext cx="2059701" cy="1437028"/>
          </a:xfrm>
          <a:prstGeom prst="rect">
            <a:avLst/>
          </a:prstGeom>
          <a:solidFill>
            <a:schemeClr val="bg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r>
              <a:rPr kumimoji="1" lang="ja-JP" altLang="en-US" sz="1100" dirty="0">
                <a:latin typeface="+mn-ea"/>
              </a:rPr>
              <a:t>当初は</a:t>
            </a:r>
            <a:r>
              <a:rPr kumimoji="1" lang="en-US" altLang="ja-JP" sz="1100" dirty="0">
                <a:latin typeface="+mn-ea"/>
              </a:rPr>
              <a:t>CL</a:t>
            </a:r>
            <a:r>
              <a:rPr kumimoji="1" lang="ja-JP" altLang="en-US" sz="1100" dirty="0">
                <a:latin typeface="+mn-ea"/>
              </a:rPr>
              <a:t>署名のみ対応していたが、</a:t>
            </a:r>
            <a:r>
              <a:rPr kumimoji="1" lang="en-US" altLang="ja-JP" sz="1100" dirty="0" err="1">
                <a:latin typeface="+mn-ea"/>
              </a:rPr>
              <a:t>AnonCreds</a:t>
            </a:r>
            <a:r>
              <a:rPr kumimoji="1" lang="en-US" altLang="ja-JP" sz="1100" dirty="0">
                <a:latin typeface="+mn-ea"/>
              </a:rPr>
              <a:t> v2</a:t>
            </a:r>
            <a:r>
              <a:rPr kumimoji="1" lang="ja-JP" altLang="en-US" sz="1100" dirty="0">
                <a:latin typeface="+mn-ea"/>
              </a:rPr>
              <a:t>において、</a:t>
            </a:r>
            <a:r>
              <a:rPr kumimoji="1" lang="en-US" altLang="ja-JP" sz="1100" dirty="0">
                <a:latin typeface="+mn-ea"/>
              </a:rPr>
              <a:t>PS</a:t>
            </a:r>
            <a:r>
              <a:rPr kumimoji="1" lang="ja-JP" altLang="en-US" sz="1100" dirty="0">
                <a:latin typeface="+mn-ea"/>
              </a:rPr>
              <a:t>署名に対応し、</a:t>
            </a:r>
            <a:r>
              <a:rPr kumimoji="1" lang="en-US" altLang="ja-JP" sz="1100" dirty="0">
                <a:latin typeface="+mn-ea"/>
              </a:rPr>
              <a:t>BBS+</a:t>
            </a:r>
            <a:r>
              <a:rPr kumimoji="1" lang="ja-JP" altLang="en-US" sz="1100" dirty="0">
                <a:latin typeface="+mn-ea"/>
              </a:rPr>
              <a:t>署名もサポートしている。また、ポスト量子オプションも検証している。</a:t>
            </a:r>
            <a:br>
              <a:rPr kumimoji="1" lang="en-US" altLang="ja-JP" sz="1100" dirty="0">
                <a:latin typeface="+mn-ea"/>
              </a:rPr>
            </a:br>
            <a:r>
              <a:rPr kumimoji="1" lang="en-US" altLang="ja-JP" sz="1100" dirty="0">
                <a:latin typeface="+mn-ea"/>
                <a:hlinkClick r:id="rId4"/>
              </a:rPr>
              <a:t>https://github.com/hyperledger/anoncreds-v2-rs</a:t>
            </a:r>
            <a:endParaRPr kumimoji="1" lang="en-US" altLang="ja-JP" sz="1100" dirty="0">
              <a:latin typeface="+mn-ea"/>
            </a:endParaRPr>
          </a:p>
        </p:txBody>
      </p:sp>
      <p:sp>
        <p:nvSpPr>
          <p:cNvPr id="84" name="正方形/長方形 83">
            <a:extLst>
              <a:ext uri="{FF2B5EF4-FFF2-40B4-BE49-F238E27FC236}">
                <a16:creationId xmlns:a16="http://schemas.microsoft.com/office/drawing/2014/main" id="{D5A2AAD0-EAD9-9E2D-A17E-045E8947088D}"/>
              </a:ext>
            </a:extLst>
          </p:cNvPr>
          <p:cNvSpPr/>
          <p:nvPr/>
        </p:nvSpPr>
        <p:spPr>
          <a:xfrm>
            <a:off x="9227545" y="908050"/>
            <a:ext cx="409344" cy="849093"/>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b="1" dirty="0">
                <a:solidFill>
                  <a:schemeClr val="bg1"/>
                </a:solidFill>
                <a:latin typeface="+mn-ea"/>
              </a:rPr>
              <a:t>64</a:t>
            </a:r>
            <a:endParaRPr kumimoji="1" lang="ja-JP" altLang="en-US" sz="1200" b="1" dirty="0">
              <a:solidFill>
                <a:schemeClr val="bg1"/>
              </a:solidFill>
              <a:latin typeface="+mn-ea"/>
            </a:endParaRPr>
          </a:p>
        </p:txBody>
      </p:sp>
      <p:sp>
        <p:nvSpPr>
          <p:cNvPr id="38" name="正方形/長方形 37">
            <a:extLst>
              <a:ext uri="{FF2B5EF4-FFF2-40B4-BE49-F238E27FC236}">
                <a16:creationId xmlns:a16="http://schemas.microsoft.com/office/drawing/2014/main" id="{6F414536-3624-2AFD-4A6C-365D9BD37362}"/>
              </a:ext>
            </a:extLst>
          </p:cNvPr>
          <p:cNvSpPr/>
          <p:nvPr/>
        </p:nvSpPr>
        <p:spPr>
          <a:xfrm>
            <a:off x="9227545" y="4804531"/>
            <a:ext cx="409344" cy="346781"/>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4</a:t>
            </a:r>
            <a:endParaRPr lang="ja-JP" altLang="en-US" sz="1200" dirty="0">
              <a:solidFill>
                <a:schemeClr val="bg1"/>
              </a:solidFill>
              <a:latin typeface="+mn-ea"/>
            </a:endParaRPr>
          </a:p>
        </p:txBody>
      </p:sp>
      <p:sp>
        <p:nvSpPr>
          <p:cNvPr id="39" name="テキスト ボックス 38">
            <a:extLst>
              <a:ext uri="{FF2B5EF4-FFF2-40B4-BE49-F238E27FC236}">
                <a16:creationId xmlns:a16="http://schemas.microsoft.com/office/drawing/2014/main" id="{2CB09AA7-5909-0E7D-AFB4-ED61093507B5}"/>
              </a:ext>
            </a:extLst>
          </p:cNvPr>
          <p:cNvSpPr txBox="1"/>
          <p:nvPr/>
        </p:nvSpPr>
        <p:spPr bwMode="gray">
          <a:xfrm>
            <a:off x="553916" y="6286646"/>
            <a:ext cx="1589367" cy="211274"/>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名前解決</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41" name="楕円 65">
            <a:extLst>
              <a:ext uri="{FF2B5EF4-FFF2-40B4-BE49-F238E27FC236}">
                <a16:creationId xmlns:a16="http://schemas.microsoft.com/office/drawing/2014/main" id="{114CA9D5-793C-986E-B348-9D4B600393A7}"/>
              </a:ext>
            </a:extLst>
          </p:cNvPr>
          <p:cNvSpPr/>
          <p:nvPr/>
        </p:nvSpPr>
        <p:spPr>
          <a:xfrm>
            <a:off x="8779935" y="4266204"/>
            <a:ext cx="180000" cy="180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solidFill>
                  <a:schemeClr val="bg1"/>
                </a:solidFill>
                <a:latin typeface="+mn-ea"/>
              </a:rPr>
              <a:t>×</a:t>
            </a:r>
            <a:endParaRPr kumimoji="1" lang="ja-JP" altLang="en-US" sz="1100" dirty="0">
              <a:solidFill>
                <a:schemeClr val="bg1"/>
              </a:solidFill>
              <a:latin typeface="+mn-ea"/>
            </a:endParaRPr>
          </a:p>
        </p:txBody>
      </p:sp>
      <p:sp>
        <p:nvSpPr>
          <p:cNvPr id="48" name="テキスト ボックス 47">
            <a:extLst>
              <a:ext uri="{FF2B5EF4-FFF2-40B4-BE49-F238E27FC236}">
                <a16:creationId xmlns:a16="http://schemas.microsoft.com/office/drawing/2014/main" id="{00E46413-90A8-82FB-C9BE-7221FBC199B1}"/>
              </a:ext>
            </a:extLst>
          </p:cNvPr>
          <p:cNvSpPr txBox="1"/>
          <p:nvPr/>
        </p:nvSpPr>
        <p:spPr bwMode="gray">
          <a:xfrm>
            <a:off x="4327494" y="5411721"/>
            <a:ext cx="669616" cy="15559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effectLst/>
                <a:uLnTx/>
                <a:uFillTx/>
                <a:latin typeface="+mn-ea"/>
                <a:ea typeface="+mn-ea"/>
                <a:cs typeface="Arial" charset="0"/>
              </a:rPr>
              <a:t>HTTP</a:t>
            </a:r>
          </a:p>
        </p:txBody>
      </p:sp>
      <p:sp>
        <p:nvSpPr>
          <p:cNvPr id="58" name="テキスト ボックス 57">
            <a:extLst>
              <a:ext uri="{FF2B5EF4-FFF2-40B4-BE49-F238E27FC236}">
                <a16:creationId xmlns:a16="http://schemas.microsoft.com/office/drawing/2014/main" id="{8B543ED4-FC08-2C95-ECB9-403586649AA2}"/>
              </a:ext>
            </a:extLst>
          </p:cNvPr>
          <p:cNvSpPr txBox="1"/>
          <p:nvPr/>
        </p:nvSpPr>
        <p:spPr bwMode="gray">
          <a:xfrm>
            <a:off x="5033928" y="5411721"/>
            <a:ext cx="669616" cy="15559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effectLst/>
                <a:uLnTx/>
                <a:uFillTx/>
                <a:latin typeface="+mn-ea"/>
                <a:ea typeface="+mn-ea"/>
                <a:cs typeface="Arial" charset="0"/>
              </a:rPr>
              <a:t>cheqd</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67" name="テキスト ボックス 66">
            <a:extLst>
              <a:ext uri="{FF2B5EF4-FFF2-40B4-BE49-F238E27FC236}">
                <a16:creationId xmlns:a16="http://schemas.microsoft.com/office/drawing/2014/main" id="{028E73C5-57E9-36FB-1AB7-1EC68ABC69F4}"/>
              </a:ext>
            </a:extLst>
          </p:cNvPr>
          <p:cNvSpPr txBox="1"/>
          <p:nvPr/>
        </p:nvSpPr>
        <p:spPr bwMode="gray">
          <a:xfrm>
            <a:off x="5740362" y="5411721"/>
            <a:ext cx="669616" cy="15559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effectLst/>
                <a:uLnTx/>
                <a:uFillTx/>
                <a:latin typeface="+mn-ea"/>
                <a:ea typeface="+mn-ea"/>
                <a:cs typeface="Arial" charset="0"/>
              </a:rPr>
              <a:t>Cardano</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77" name="テキスト ボックス 76">
            <a:extLst>
              <a:ext uri="{FF2B5EF4-FFF2-40B4-BE49-F238E27FC236}">
                <a16:creationId xmlns:a16="http://schemas.microsoft.com/office/drawing/2014/main" id="{0DD20AC8-4335-BAE0-59ED-1F6C6E880223}"/>
              </a:ext>
            </a:extLst>
          </p:cNvPr>
          <p:cNvSpPr txBox="1"/>
          <p:nvPr/>
        </p:nvSpPr>
        <p:spPr bwMode="gray">
          <a:xfrm>
            <a:off x="4331193" y="5193985"/>
            <a:ext cx="2782871" cy="169914"/>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latin typeface="+mn-ea"/>
                <a:ea typeface="+mn-ea"/>
                <a:cs typeface="Arial" charset="0"/>
              </a:rPr>
              <a:t>※DID</a:t>
            </a:r>
            <a:r>
              <a:rPr kumimoji="0" lang="ja-JP" altLang="en-US" sz="1200" kern="0" dirty="0">
                <a:latin typeface="+mn-ea"/>
                <a:ea typeface="+mn-ea"/>
                <a:cs typeface="Arial" charset="0"/>
              </a:rPr>
              <a:t>を活用しない</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78" name="テキスト ボックス 77">
            <a:extLst>
              <a:ext uri="{FF2B5EF4-FFF2-40B4-BE49-F238E27FC236}">
                <a16:creationId xmlns:a16="http://schemas.microsoft.com/office/drawing/2014/main" id="{EB6B3530-8552-7262-E405-AEB8056293BD}"/>
              </a:ext>
            </a:extLst>
          </p:cNvPr>
          <p:cNvSpPr txBox="1"/>
          <p:nvPr/>
        </p:nvSpPr>
        <p:spPr bwMode="gray">
          <a:xfrm>
            <a:off x="6446796" y="5417532"/>
            <a:ext cx="669616" cy="155598"/>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effectLst/>
                <a:uLnTx/>
                <a:uFillTx/>
                <a:latin typeface="+mn-ea"/>
                <a:ea typeface="+mn-ea"/>
                <a:cs typeface="Arial" charset="0"/>
              </a:rPr>
              <a:t>それ以外</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80" name="テキスト ボックス 79">
            <a:extLst>
              <a:ext uri="{FF2B5EF4-FFF2-40B4-BE49-F238E27FC236}">
                <a16:creationId xmlns:a16="http://schemas.microsoft.com/office/drawing/2014/main" id="{8F0FD963-F07B-0E1E-C2D4-F481A3EFEC52}"/>
              </a:ext>
            </a:extLst>
          </p:cNvPr>
          <p:cNvSpPr txBox="1"/>
          <p:nvPr/>
        </p:nvSpPr>
        <p:spPr bwMode="gray">
          <a:xfrm>
            <a:off x="4331193" y="4969859"/>
            <a:ext cx="4265020" cy="169914"/>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err="1">
                <a:solidFill>
                  <a:prstClr val="black"/>
                </a:solidFill>
                <a:latin typeface="+mn-ea"/>
                <a:ea typeface="+mn-ea"/>
                <a:cs typeface="Arial" charset="0"/>
              </a:rPr>
              <a:t>AnonCreds</a:t>
            </a:r>
            <a:r>
              <a:rPr kumimoji="0" lang="en-US" altLang="ja-JP" sz="1200" kern="0" dirty="0">
                <a:solidFill>
                  <a:prstClr val="black"/>
                </a:solidFill>
                <a:latin typeface="+mn-ea"/>
                <a:ea typeface="+mn-ea"/>
                <a:cs typeface="Arial" charset="0"/>
              </a:rPr>
              <a:t> Methods Registry</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81" name="四角形: 角を丸くする 48">
            <a:extLst>
              <a:ext uri="{FF2B5EF4-FFF2-40B4-BE49-F238E27FC236}">
                <a16:creationId xmlns:a16="http://schemas.microsoft.com/office/drawing/2014/main" id="{AC331D2D-4FDA-35C0-42DD-D5C253FE8471}"/>
              </a:ext>
            </a:extLst>
          </p:cNvPr>
          <p:cNvSpPr/>
          <p:nvPr/>
        </p:nvSpPr>
        <p:spPr bwMode="gray">
          <a:xfrm>
            <a:off x="6228115" y="6000061"/>
            <a:ext cx="898666" cy="271748"/>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900" kern="0" dirty="0" err="1">
                <a:solidFill>
                  <a:prstClr val="black"/>
                </a:solidFill>
                <a:latin typeface="+mn-ea"/>
                <a:ea typeface="+mn-ea"/>
                <a:cs typeface="Arial" charset="0"/>
              </a:rPr>
              <a:t>Cardano</a:t>
            </a:r>
            <a:endParaRPr kumimoji="0" lang="ja-JP" altLang="en-US" sz="900" b="0" i="0" u="none" strike="noStrike" kern="0" cap="none" spc="0" normalizeH="0" baseline="0" noProof="0">
              <a:ln>
                <a:noFill/>
              </a:ln>
              <a:solidFill>
                <a:prstClr val="black"/>
              </a:solidFill>
              <a:effectLst/>
              <a:uLnTx/>
              <a:uFillTx/>
              <a:latin typeface="+mn-ea"/>
              <a:ea typeface="+mn-ea"/>
              <a:cs typeface="Arial" charset="0"/>
            </a:endParaRPr>
          </a:p>
        </p:txBody>
      </p:sp>
      <p:sp>
        <p:nvSpPr>
          <p:cNvPr id="4" name="楕円 3">
            <a:extLst>
              <a:ext uri="{FF2B5EF4-FFF2-40B4-BE49-F238E27FC236}">
                <a16:creationId xmlns:a16="http://schemas.microsoft.com/office/drawing/2014/main" id="{600807D3-1DDC-5A96-614B-33D104E9DC13}"/>
              </a:ext>
            </a:extLst>
          </p:cNvPr>
          <p:cNvSpPr/>
          <p:nvPr/>
        </p:nvSpPr>
        <p:spPr>
          <a:xfrm>
            <a:off x="9307151" y="2677961"/>
            <a:ext cx="252000" cy="252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400" b="1" dirty="0">
                <a:solidFill>
                  <a:schemeClr val="bg1"/>
                </a:solidFill>
                <a:latin typeface="+mn-ea"/>
              </a:rPr>
              <a:t>×</a:t>
            </a:r>
            <a:endParaRPr kumimoji="1" lang="ja-JP" altLang="en-US" sz="1400" b="1" dirty="0">
              <a:solidFill>
                <a:schemeClr val="bg1"/>
              </a:solidFill>
              <a:latin typeface="+mn-ea"/>
            </a:endParaRPr>
          </a:p>
        </p:txBody>
      </p:sp>
      <p:sp>
        <p:nvSpPr>
          <p:cNvPr id="6" name="楕円 5">
            <a:extLst>
              <a:ext uri="{FF2B5EF4-FFF2-40B4-BE49-F238E27FC236}">
                <a16:creationId xmlns:a16="http://schemas.microsoft.com/office/drawing/2014/main" id="{3329A956-EBBC-5F05-0255-D3462B365223}"/>
              </a:ext>
            </a:extLst>
          </p:cNvPr>
          <p:cNvSpPr/>
          <p:nvPr/>
        </p:nvSpPr>
        <p:spPr>
          <a:xfrm>
            <a:off x="9300298" y="4172101"/>
            <a:ext cx="252000" cy="252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400" b="1" dirty="0">
                <a:solidFill>
                  <a:schemeClr val="bg1"/>
                </a:solidFill>
                <a:latin typeface="+mn-ea"/>
              </a:rPr>
              <a:t>×</a:t>
            </a:r>
            <a:endParaRPr kumimoji="1" lang="ja-JP" altLang="en-US" sz="1400" b="1" dirty="0">
              <a:solidFill>
                <a:schemeClr val="bg1"/>
              </a:solidFill>
              <a:latin typeface="+mn-ea"/>
            </a:endParaRPr>
          </a:p>
        </p:txBody>
      </p:sp>
      <p:sp>
        <p:nvSpPr>
          <p:cNvPr id="7" name="楕円 6">
            <a:extLst>
              <a:ext uri="{FF2B5EF4-FFF2-40B4-BE49-F238E27FC236}">
                <a16:creationId xmlns:a16="http://schemas.microsoft.com/office/drawing/2014/main" id="{9E767593-8B1C-041D-9280-A08BCE14C0C6}"/>
              </a:ext>
            </a:extLst>
          </p:cNvPr>
          <p:cNvSpPr/>
          <p:nvPr/>
        </p:nvSpPr>
        <p:spPr>
          <a:xfrm>
            <a:off x="9306217" y="1653483"/>
            <a:ext cx="252000" cy="252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b="1" dirty="0">
                <a:solidFill>
                  <a:schemeClr val="bg1"/>
                </a:solidFill>
                <a:latin typeface="+mn-ea"/>
              </a:rPr>
              <a:t>＝</a:t>
            </a:r>
          </a:p>
        </p:txBody>
      </p:sp>
      <p:sp>
        <p:nvSpPr>
          <p:cNvPr id="10" name="テキスト ボックス 9">
            <a:extLst>
              <a:ext uri="{FF2B5EF4-FFF2-40B4-BE49-F238E27FC236}">
                <a16:creationId xmlns:a16="http://schemas.microsoft.com/office/drawing/2014/main" id="{81533761-0163-3A2A-664F-F2C911C2092C}"/>
              </a:ext>
            </a:extLst>
          </p:cNvPr>
          <p:cNvSpPr txBox="1"/>
          <p:nvPr/>
        </p:nvSpPr>
        <p:spPr bwMode="gray">
          <a:xfrm>
            <a:off x="4327494" y="6308859"/>
            <a:ext cx="4295715" cy="198914"/>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Universal Resolver</a:t>
            </a:r>
          </a:p>
        </p:txBody>
      </p:sp>
    </p:spTree>
    <p:extLst>
      <p:ext uri="{BB962C8B-B14F-4D97-AF65-F5344CB8AC3E}">
        <p14:creationId xmlns:p14="http://schemas.microsoft.com/office/powerpoint/2010/main" val="23808873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AED71D-9775-00F4-0DB2-3951E193D7CB}"/>
              </a:ext>
            </a:extLst>
          </p:cNvPr>
          <p:cNvSpPr>
            <a:spLocks noGrp="1"/>
          </p:cNvSpPr>
          <p:nvPr>
            <p:ph type="title"/>
          </p:nvPr>
        </p:nvSpPr>
        <p:spPr>
          <a:xfrm>
            <a:off x="273050" y="439237"/>
            <a:ext cx="7848302" cy="246221"/>
          </a:xfrm>
        </p:spPr>
        <p:txBody>
          <a:bodyPr/>
          <a:lstStyle/>
          <a:p>
            <a:r>
              <a:rPr kumimoji="1" lang="en-US" altLang="ja-JP" dirty="0"/>
              <a:t>6.1. </a:t>
            </a:r>
            <a:r>
              <a:rPr kumimoji="1" lang="ja-JP" altLang="en-US" dirty="0"/>
              <a:t>サービス </a:t>
            </a:r>
            <a:r>
              <a:rPr kumimoji="1" lang="en-US" altLang="ja-JP" dirty="0"/>
              <a:t>–</a:t>
            </a:r>
            <a:r>
              <a:rPr kumimoji="1" lang="ja-JP" altLang="en-US" dirty="0"/>
              <a:t> </a:t>
            </a:r>
            <a:r>
              <a:rPr kumimoji="1" lang="en-US" altLang="ja-JP" dirty="0"/>
              <a:t>6.1.1. </a:t>
            </a:r>
            <a:r>
              <a:rPr kumimoji="1" lang="ja-JP" altLang="en-US" dirty="0"/>
              <a:t>サービス実装パターン</a:t>
            </a:r>
            <a:r>
              <a:rPr kumimoji="1" lang="en-US" altLang="ja-JP" dirty="0"/>
              <a:t> (3) </a:t>
            </a:r>
            <a:r>
              <a:rPr kumimoji="1" lang="en-US" altLang="ja-JP" dirty="0" err="1"/>
              <a:t>mDL</a:t>
            </a:r>
            <a:endParaRPr kumimoji="1" lang="ja-JP" altLang="en-US" dirty="0"/>
          </a:p>
        </p:txBody>
      </p:sp>
      <p:sp>
        <p:nvSpPr>
          <p:cNvPr id="3" name="テキスト プレースホルダー 2">
            <a:extLst>
              <a:ext uri="{FF2B5EF4-FFF2-40B4-BE49-F238E27FC236}">
                <a16:creationId xmlns:a16="http://schemas.microsoft.com/office/drawing/2014/main" id="{3AA9C082-CE97-1C4C-0F66-9780A5223FBC}"/>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sp>
        <p:nvSpPr>
          <p:cNvPr id="14" name="テキスト ボックス 13">
            <a:extLst>
              <a:ext uri="{FF2B5EF4-FFF2-40B4-BE49-F238E27FC236}">
                <a16:creationId xmlns:a16="http://schemas.microsoft.com/office/drawing/2014/main" id="{08C5E614-3CDC-8371-A260-3077E4347159}"/>
              </a:ext>
            </a:extLst>
          </p:cNvPr>
          <p:cNvSpPr txBox="1"/>
          <p:nvPr/>
        </p:nvSpPr>
        <p:spPr bwMode="gray">
          <a:xfrm>
            <a:off x="4304362" y="4972632"/>
            <a:ext cx="4292013" cy="612760"/>
          </a:xfrm>
          <a:prstGeom prst="rect">
            <a:avLst/>
          </a:prstGeom>
          <a:solidFill>
            <a:schemeClr val="bg1">
              <a:lumMod val="75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latin typeface="+mn-ea"/>
                <a:ea typeface="+mn-ea"/>
                <a:cs typeface="Arial" charset="0"/>
              </a:rPr>
              <a:t>※DID</a:t>
            </a:r>
            <a:r>
              <a:rPr kumimoji="0" lang="ja-JP" altLang="en-US" sz="1200" kern="0" dirty="0">
                <a:latin typeface="+mn-ea"/>
                <a:ea typeface="+mn-ea"/>
                <a:cs typeface="Arial" charset="0"/>
              </a:rPr>
              <a:t>を</a:t>
            </a:r>
            <a:endParaRPr kumimoji="0" lang="en-US" altLang="ja-JP" sz="1200" kern="0" dirty="0">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kern="0" dirty="0">
                <a:latin typeface="+mn-ea"/>
                <a:ea typeface="+mn-ea"/>
                <a:cs typeface="Arial" charset="0"/>
              </a:rPr>
              <a:t>活用しない</a:t>
            </a:r>
            <a:endParaRPr kumimoji="0" lang="en-US" altLang="ja-JP" sz="1200" b="0" i="0" u="none" strike="noStrike" kern="0" cap="none" spc="0" normalizeH="0" baseline="0" noProof="0" dirty="0">
              <a:ln>
                <a:noFill/>
              </a:ln>
              <a:effectLst/>
              <a:uLnTx/>
              <a:uFillTx/>
              <a:latin typeface="+mn-ea"/>
              <a:ea typeface="+mn-ea"/>
              <a:cs typeface="Arial" charset="0"/>
            </a:endParaRPr>
          </a:p>
        </p:txBody>
      </p:sp>
      <p:sp>
        <p:nvSpPr>
          <p:cNvPr id="15" name="テキスト ボックス 14">
            <a:extLst>
              <a:ext uri="{FF2B5EF4-FFF2-40B4-BE49-F238E27FC236}">
                <a16:creationId xmlns:a16="http://schemas.microsoft.com/office/drawing/2014/main" id="{09CAE291-15EA-7B41-6C6B-C917FE1221A1}"/>
              </a:ext>
            </a:extLst>
          </p:cNvPr>
          <p:cNvSpPr txBox="1"/>
          <p:nvPr/>
        </p:nvSpPr>
        <p:spPr bwMode="gray">
          <a:xfrm>
            <a:off x="560651" y="2715908"/>
            <a:ext cx="1589367" cy="345474"/>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フォーマット</a:t>
            </a:r>
          </a:p>
        </p:txBody>
      </p:sp>
      <p:sp>
        <p:nvSpPr>
          <p:cNvPr id="16" name="テキスト ボックス 15">
            <a:extLst>
              <a:ext uri="{FF2B5EF4-FFF2-40B4-BE49-F238E27FC236}">
                <a16:creationId xmlns:a16="http://schemas.microsoft.com/office/drawing/2014/main" id="{6F0C7562-868B-4ED8-D900-B4A4CF65E91C}"/>
              </a:ext>
            </a:extLst>
          </p:cNvPr>
          <p:cNvSpPr txBox="1"/>
          <p:nvPr/>
        </p:nvSpPr>
        <p:spPr bwMode="gray">
          <a:xfrm>
            <a:off x="560651" y="3704816"/>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エンティティ間の通信プロトコル</a:t>
            </a:r>
          </a:p>
        </p:txBody>
      </p:sp>
      <p:sp>
        <p:nvSpPr>
          <p:cNvPr id="17" name="テキスト ボックス 16">
            <a:extLst>
              <a:ext uri="{FF2B5EF4-FFF2-40B4-BE49-F238E27FC236}">
                <a16:creationId xmlns:a16="http://schemas.microsoft.com/office/drawing/2014/main" id="{A16AC74A-CC8D-144A-1E42-685FCA7D7708}"/>
              </a:ext>
            </a:extLst>
          </p:cNvPr>
          <p:cNvSpPr txBox="1"/>
          <p:nvPr/>
        </p:nvSpPr>
        <p:spPr bwMode="gray">
          <a:xfrm>
            <a:off x="560651" y="4043808"/>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000" b="0" i="0" u="none" strike="noStrike" kern="0" cap="none" spc="0" normalizeH="0" baseline="0" noProof="0" dirty="0">
                <a:ln>
                  <a:noFill/>
                </a:ln>
                <a:solidFill>
                  <a:prstClr val="black"/>
                </a:solidFill>
                <a:effectLst/>
                <a:uLnTx/>
                <a:uFillTx/>
                <a:latin typeface="+mn-ea"/>
                <a:ea typeface="+mn-ea"/>
                <a:cs typeface="+mn-cs"/>
              </a:rPr>
              <a:t>通信</a:t>
            </a:r>
            <a:r>
              <a:rPr kumimoji="1" lang="en-US" altLang="ja-JP" sz="1000" b="0" i="0" u="none" strike="noStrike" kern="0" cap="none" spc="0" normalizeH="0" baseline="0" noProof="0" dirty="0">
                <a:ln>
                  <a:noFill/>
                </a:ln>
                <a:solidFill>
                  <a:prstClr val="black"/>
                </a:solidFill>
                <a:effectLst/>
                <a:uLnTx/>
                <a:uFillTx/>
                <a:latin typeface="+mn-ea"/>
                <a:ea typeface="+mn-ea"/>
                <a:cs typeface="+mn-cs"/>
              </a:rPr>
              <a:t>I/F(</a:t>
            </a:r>
            <a:r>
              <a:rPr kumimoji="1" lang="ja-JP" altLang="en-US" sz="1000" b="0" i="0" u="none" strike="noStrike" kern="0" cap="none" spc="0" normalizeH="0" baseline="0" noProof="0" dirty="0">
                <a:ln>
                  <a:noFill/>
                </a:ln>
                <a:solidFill>
                  <a:prstClr val="black"/>
                </a:solidFill>
                <a:effectLst/>
                <a:uLnTx/>
                <a:uFillTx/>
                <a:latin typeface="+mn-ea"/>
                <a:ea typeface="+mn-ea"/>
                <a:cs typeface="+mn-cs"/>
              </a:rPr>
              <a:t>デバイス連携</a:t>
            </a:r>
            <a:r>
              <a:rPr kumimoji="1" lang="en-US" altLang="ja-JP" sz="1000" b="0" i="0" u="none" strike="noStrike" kern="0" cap="none" spc="0" normalizeH="0" baseline="0" noProof="0" dirty="0">
                <a:ln>
                  <a:noFill/>
                </a:ln>
                <a:solidFill>
                  <a:prstClr val="black"/>
                </a:solidFill>
                <a:effectLst/>
                <a:uLnTx/>
                <a:uFillTx/>
                <a:latin typeface="+mn-ea"/>
                <a:ea typeface="+mn-ea"/>
                <a:cs typeface="+mn-cs"/>
              </a:rPr>
              <a:t>)</a:t>
            </a:r>
          </a:p>
        </p:txBody>
      </p:sp>
      <p:sp>
        <p:nvSpPr>
          <p:cNvPr id="18" name="テキスト ボックス 17">
            <a:extLst>
              <a:ext uri="{FF2B5EF4-FFF2-40B4-BE49-F238E27FC236}">
                <a16:creationId xmlns:a16="http://schemas.microsoft.com/office/drawing/2014/main" id="{BAFFC729-B3FC-FDD8-5B87-26CF3685C7C6}"/>
              </a:ext>
            </a:extLst>
          </p:cNvPr>
          <p:cNvSpPr txBox="1"/>
          <p:nvPr/>
        </p:nvSpPr>
        <p:spPr bwMode="gray">
          <a:xfrm>
            <a:off x="560651" y="3117192"/>
            <a:ext cx="1589367" cy="27792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利用される暗号方式</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kern="0" dirty="0">
                <a:solidFill>
                  <a:prstClr val="black"/>
                </a:solidFill>
                <a:latin typeface="+mn-ea"/>
                <a:ea typeface="+mn-ea"/>
                <a:cs typeface="Arial" charset="0"/>
              </a:rPr>
              <a:t>(</a:t>
            </a:r>
            <a:r>
              <a:rPr kumimoji="0" lang="ja-JP" altLang="en-US" sz="1000" kern="0" dirty="0">
                <a:solidFill>
                  <a:prstClr val="black"/>
                </a:solidFill>
                <a:latin typeface="+mn-ea"/>
                <a:ea typeface="+mn-ea"/>
                <a:cs typeface="Arial" charset="0"/>
              </a:rPr>
              <a:t>選択的属性開示含</a:t>
            </a:r>
            <a:r>
              <a:rPr kumimoji="0" lang="en-US" altLang="ja-JP" sz="1000" kern="0" dirty="0">
                <a:solidFill>
                  <a:prstClr val="black"/>
                </a:solidFill>
                <a:latin typeface="+mn-ea"/>
                <a:ea typeface="+mn-ea"/>
                <a:cs typeface="Arial" charset="0"/>
              </a:rPr>
              <a:t>)</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9" name="テキスト ボックス 18">
            <a:extLst>
              <a:ext uri="{FF2B5EF4-FFF2-40B4-BE49-F238E27FC236}">
                <a16:creationId xmlns:a16="http://schemas.microsoft.com/office/drawing/2014/main" id="{92E06F52-56E4-71C0-4845-C88E1D2F71FB}"/>
              </a:ext>
            </a:extLst>
          </p:cNvPr>
          <p:cNvSpPr txBox="1"/>
          <p:nvPr/>
        </p:nvSpPr>
        <p:spPr bwMode="gray">
          <a:xfrm>
            <a:off x="560651" y="1949751"/>
            <a:ext cx="1589367" cy="271313"/>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20" name="テキスト ボックス 19">
            <a:extLst>
              <a:ext uri="{FF2B5EF4-FFF2-40B4-BE49-F238E27FC236}">
                <a16:creationId xmlns:a16="http://schemas.microsoft.com/office/drawing/2014/main" id="{80043C26-0EDE-D0BB-927F-82D0B5E7DFE6}"/>
              </a:ext>
            </a:extLst>
          </p:cNvPr>
          <p:cNvSpPr txBox="1"/>
          <p:nvPr/>
        </p:nvSpPr>
        <p:spPr bwMode="gray">
          <a:xfrm>
            <a:off x="560651" y="2297078"/>
            <a:ext cx="1589367" cy="35115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検証者に提供する</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21" name="テキスト ボックス 20">
            <a:extLst>
              <a:ext uri="{FF2B5EF4-FFF2-40B4-BE49-F238E27FC236}">
                <a16:creationId xmlns:a16="http://schemas.microsoft.com/office/drawing/2014/main" id="{D9D02A6F-3E73-C71B-53E6-FFAD83432327}"/>
              </a:ext>
            </a:extLst>
          </p:cNvPr>
          <p:cNvSpPr txBox="1"/>
          <p:nvPr/>
        </p:nvSpPr>
        <p:spPr bwMode="gray">
          <a:xfrm>
            <a:off x="560651" y="4991814"/>
            <a:ext cx="1589367" cy="271313"/>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a:ln>
                  <a:noFill/>
                </a:ln>
                <a:solidFill>
                  <a:prstClr val="black"/>
                </a:solidFill>
                <a:effectLst/>
                <a:uLnTx/>
                <a:uFillTx/>
                <a:latin typeface="+mn-ea"/>
                <a:ea typeface="+mn-ea"/>
                <a:cs typeface="Arial" charset="0"/>
              </a:rPr>
              <a:t>システムアクセスの</a:t>
            </a:r>
            <a:endParaRPr kumimoji="0" lang="en-US" altLang="ja-JP" sz="10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000" b="0" i="0" u="none" strike="noStrike" kern="0" cap="none" spc="0" normalizeH="0" baseline="0" noProof="0">
                <a:ln>
                  <a:noFill/>
                </a:ln>
                <a:solidFill>
                  <a:prstClr val="black"/>
                </a:solidFill>
                <a:effectLst/>
                <a:uLnTx/>
                <a:uFillTx/>
                <a:latin typeface="+mn-ea"/>
                <a:ea typeface="+mn-ea"/>
                <a:cs typeface="Arial" charset="0"/>
              </a:rPr>
              <a:t>ための識別子</a:t>
            </a:r>
            <a:endParaRPr kumimoji="0" lang="en-US" altLang="ja-JP" sz="1000" b="0" i="0" u="none" strike="noStrike" kern="0" cap="none" spc="0" normalizeH="0" baseline="0" noProof="0">
              <a:ln>
                <a:noFill/>
              </a:ln>
              <a:solidFill>
                <a:prstClr val="black"/>
              </a:solidFill>
              <a:effectLst/>
              <a:uLnTx/>
              <a:uFillTx/>
              <a:latin typeface="+mn-ea"/>
              <a:ea typeface="+mn-ea"/>
              <a:cs typeface="Arial" charset="0"/>
            </a:endParaRPr>
          </a:p>
        </p:txBody>
      </p:sp>
      <p:sp>
        <p:nvSpPr>
          <p:cNvPr id="22" name="テキスト ボックス 21">
            <a:extLst>
              <a:ext uri="{FF2B5EF4-FFF2-40B4-BE49-F238E27FC236}">
                <a16:creationId xmlns:a16="http://schemas.microsoft.com/office/drawing/2014/main" id="{7B0325B0-7336-538B-CE80-03DCAEBE6E44}"/>
              </a:ext>
            </a:extLst>
          </p:cNvPr>
          <p:cNvSpPr txBox="1"/>
          <p:nvPr/>
        </p:nvSpPr>
        <p:spPr bwMode="gray">
          <a:xfrm>
            <a:off x="560651" y="5305988"/>
            <a:ext cx="1589367" cy="271313"/>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kern="0" dirty="0">
                <a:latin typeface="+mn-ea"/>
                <a:ea typeface="+mn-ea"/>
                <a:cs typeface="Arial" charset="0"/>
              </a:rPr>
              <a:t>DID</a:t>
            </a:r>
            <a:r>
              <a:rPr kumimoji="0" lang="ja-JP" altLang="en-US" sz="1000" b="0" i="0" u="none" strike="noStrike" kern="0" cap="none" spc="0" normalizeH="0" baseline="0" noProof="0" dirty="0">
                <a:ln>
                  <a:noFill/>
                </a:ln>
                <a:effectLst/>
                <a:uLnTx/>
                <a:uFillTx/>
                <a:latin typeface="+mn-ea"/>
                <a:ea typeface="+mn-ea"/>
                <a:cs typeface="Arial" charset="0"/>
              </a:rPr>
              <a:t>メソッド</a:t>
            </a:r>
            <a:endParaRPr kumimoji="0" lang="en-US" altLang="ja-JP" sz="1000" b="0" i="0" u="none" strike="noStrike" kern="0" cap="none" spc="0" normalizeH="0" baseline="0" noProof="0" dirty="0">
              <a:ln>
                <a:noFill/>
              </a:ln>
              <a:effectLst/>
              <a:uLnTx/>
              <a:uFillTx/>
              <a:latin typeface="+mn-ea"/>
              <a:ea typeface="+mn-ea"/>
              <a:cs typeface="Arial" charset="0"/>
            </a:endParaRPr>
          </a:p>
        </p:txBody>
      </p:sp>
      <p:sp>
        <p:nvSpPr>
          <p:cNvPr id="24" name="テキスト ボックス 23">
            <a:extLst>
              <a:ext uri="{FF2B5EF4-FFF2-40B4-BE49-F238E27FC236}">
                <a16:creationId xmlns:a16="http://schemas.microsoft.com/office/drawing/2014/main" id="{0B9F5FD6-0D0B-6F50-F83E-2E1C800AC5CB}"/>
              </a:ext>
            </a:extLst>
          </p:cNvPr>
          <p:cNvSpPr txBox="1"/>
          <p:nvPr/>
        </p:nvSpPr>
        <p:spPr bwMode="gray">
          <a:xfrm>
            <a:off x="6608912" y="3701343"/>
            <a:ext cx="1954115"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SIOP</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6" name="テキスト ボックス 25">
            <a:extLst>
              <a:ext uri="{FF2B5EF4-FFF2-40B4-BE49-F238E27FC236}">
                <a16:creationId xmlns:a16="http://schemas.microsoft.com/office/drawing/2014/main" id="{2962EBA9-5B43-9D4A-5186-3599B35FEF52}"/>
              </a:ext>
            </a:extLst>
          </p:cNvPr>
          <p:cNvSpPr txBox="1"/>
          <p:nvPr/>
        </p:nvSpPr>
        <p:spPr bwMode="gray">
          <a:xfrm>
            <a:off x="4295484" y="4042629"/>
            <a:ext cx="918709"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kern="0" dirty="0">
                <a:solidFill>
                  <a:prstClr val="black"/>
                </a:solidFill>
                <a:latin typeface="+mn-ea"/>
                <a:ea typeface="+mn-ea"/>
                <a:cs typeface="Arial" charset="0"/>
              </a:rPr>
              <a:t>Server</a:t>
            </a:r>
            <a:r>
              <a:rPr kumimoji="0" lang="ja-JP" altLang="en-US" sz="1000" kern="0" dirty="0">
                <a:solidFill>
                  <a:prstClr val="black"/>
                </a:solidFill>
                <a:latin typeface="+mn-ea"/>
                <a:ea typeface="+mn-ea"/>
                <a:cs typeface="Arial" charset="0"/>
              </a:rPr>
              <a:t> </a:t>
            </a:r>
            <a:r>
              <a:rPr kumimoji="0" lang="en-US" altLang="ja-JP" sz="1000" kern="0" dirty="0">
                <a:solidFill>
                  <a:prstClr val="black"/>
                </a:solidFill>
                <a:latin typeface="+mn-ea"/>
                <a:ea typeface="+mn-ea"/>
                <a:cs typeface="Arial" charset="0"/>
              </a:rPr>
              <a:t>retrieval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(Same </a:t>
            </a:r>
            <a:r>
              <a:rPr kumimoji="0" lang="en-US" altLang="ja-JP" sz="1000" kern="0" dirty="0">
                <a:solidFill>
                  <a:prstClr val="black"/>
                </a:solidFill>
                <a:latin typeface="+mn-ea"/>
                <a:ea typeface="+mn-ea"/>
                <a:cs typeface="Arial" charset="0"/>
              </a:rPr>
              <a:t>de</a:t>
            </a: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vice)</a:t>
            </a:r>
          </a:p>
        </p:txBody>
      </p:sp>
      <p:sp>
        <p:nvSpPr>
          <p:cNvPr id="27" name="テキスト ボックス 26">
            <a:extLst>
              <a:ext uri="{FF2B5EF4-FFF2-40B4-BE49-F238E27FC236}">
                <a16:creationId xmlns:a16="http://schemas.microsoft.com/office/drawing/2014/main" id="{48C32B0E-E379-4E24-26D0-5245FE69E939}"/>
              </a:ext>
            </a:extLst>
          </p:cNvPr>
          <p:cNvSpPr txBox="1"/>
          <p:nvPr/>
        </p:nvSpPr>
        <p:spPr bwMode="gray">
          <a:xfrm>
            <a:off x="5281994" y="4042629"/>
            <a:ext cx="918709"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Device retrieval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kern="0" dirty="0">
                <a:solidFill>
                  <a:prstClr val="black"/>
                </a:solidFill>
                <a:latin typeface="+mn-ea"/>
                <a:ea typeface="+mn-ea"/>
                <a:cs typeface="Arial" charset="0"/>
              </a:rPr>
              <a:t>(NFC)</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6" name="テキスト ボックス 5">
            <a:extLst>
              <a:ext uri="{FF2B5EF4-FFF2-40B4-BE49-F238E27FC236}">
                <a16:creationId xmlns:a16="http://schemas.microsoft.com/office/drawing/2014/main" id="{38DD4496-B5EB-1E5B-8CAE-0B118F1CE6E4}"/>
              </a:ext>
            </a:extLst>
          </p:cNvPr>
          <p:cNvSpPr txBox="1"/>
          <p:nvPr/>
        </p:nvSpPr>
        <p:spPr bwMode="gray">
          <a:xfrm>
            <a:off x="6286621" y="4042629"/>
            <a:ext cx="918709"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Device retrieval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kern="0" dirty="0">
                <a:solidFill>
                  <a:prstClr val="black"/>
                </a:solidFill>
                <a:latin typeface="+mn-ea"/>
                <a:ea typeface="+mn-ea"/>
                <a:cs typeface="Arial" charset="0"/>
              </a:rPr>
              <a:t>(QR)</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7" name="テキスト ボックス 6">
            <a:extLst>
              <a:ext uri="{FF2B5EF4-FFF2-40B4-BE49-F238E27FC236}">
                <a16:creationId xmlns:a16="http://schemas.microsoft.com/office/drawing/2014/main" id="{717A21D6-3706-6D5F-35DE-90E8A998B2D7}"/>
              </a:ext>
            </a:extLst>
          </p:cNvPr>
          <p:cNvSpPr txBox="1"/>
          <p:nvPr/>
        </p:nvSpPr>
        <p:spPr bwMode="gray">
          <a:xfrm>
            <a:off x="7293632" y="4042629"/>
            <a:ext cx="918709"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Device retrieval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kern="0" dirty="0">
                <a:solidFill>
                  <a:prstClr val="black"/>
                </a:solidFill>
                <a:latin typeface="+mn-ea"/>
                <a:ea typeface="+mn-ea"/>
                <a:cs typeface="Arial" charset="0"/>
              </a:rPr>
              <a:t>(BLE)</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34" name="テキスト ボックス 33">
            <a:extLst>
              <a:ext uri="{FF2B5EF4-FFF2-40B4-BE49-F238E27FC236}">
                <a16:creationId xmlns:a16="http://schemas.microsoft.com/office/drawing/2014/main" id="{E2B07E26-A8AE-C020-6C28-777B7EC8B271}"/>
              </a:ext>
            </a:extLst>
          </p:cNvPr>
          <p:cNvSpPr txBox="1"/>
          <p:nvPr/>
        </p:nvSpPr>
        <p:spPr bwMode="gray">
          <a:xfrm>
            <a:off x="4304094" y="1958084"/>
            <a:ext cx="4267971" cy="330996"/>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kern="0" dirty="0">
                <a:solidFill>
                  <a:prstClr val="black"/>
                </a:solidFill>
                <a:latin typeface="+mn-ea"/>
                <a:ea typeface="+mn-ea"/>
                <a:cs typeface="Arial" charset="0"/>
              </a:rPr>
              <a:t>ｍ</a:t>
            </a:r>
            <a:r>
              <a:rPr kumimoji="0" lang="en-US" altLang="ja-JP" sz="1200" kern="0" dirty="0">
                <a:solidFill>
                  <a:prstClr val="black"/>
                </a:solidFill>
                <a:latin typeface="+mn-ea"/>
                <a:ea typeface="+mn-ea"/>
                <a:cs typeface="Arial" charset="0"/>
              </a:rPr>
              <a:t>DL</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37" name="テキスト ボックス 36">
            <a:extLst>
              <a:ext uri="{FF2B5EF4-FFF2-40B4-BE49-F238E27FC236}">
                <a16:creationId xmlns:a16="http://schemas.microsoft.com/office/drawing/2014/main" id="{BD37B351-BFA6-9E73-606E-EECFE62EB1A0}"/>
              </a:ext>
            </a:extLst>
          </p:cNvPr>
          <p:cNvSpPr txBox="1"/>
          <p:nvPr/>
        </p:nvSpPr>
        <p:spPr bwMode="gray">
          <a:xfrm>
            <a:off x="4295057" y="3119281"/>
            <a:ext cx="1102854"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ES256</a:t>
            </a:r>
          </a:p>
        </p:txBody>
      </p:sp>
      <p:sp>
        <p:nvSpPr>
          <p:cNvPr id="43" name="四角形: 角を丸くする 42">
            <a:extLst>
              <a:ext uri="{FF2B5EF4-FFF2-40B4-BE49-F238E27FC236}">
                <a16:creationId xmlns:a16="http://schemas.microsoft.com/office/drawing/2014/main" id="{1383514B-8291-51BC-7BF8-F099DA72AEB9}"/>
              </a:ext>
            </a:extLst>
          </p:cNvPr>
          <p:cNvSpPr/>
          <p:nvPr/>
        </p:nvSpPr>
        <p:spPr>
          <a:xfrm>
            <a:off x="8670526" y="4058813"/>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100" dirty="0">
                <a:latin typeface="+mn-ea"/>
              </a:rPr>
              <a:t>4</a:t>
            </a:r>
            <a:endParaRPr kumimoji="1" lang="ja-JP" altLang="en-US" sz="1100" dirty="0">
              <a:latin typeface="+mn-ea"/>
            </a:endParaRPr>
          </a:p>
        </p:txBody>
      </p:sp>
      <p:sp>
        <p:nvSpPr>
          <p:cNvPr id="44" name="正方形/長方形 43">
            <a:extLst>
              <a:ext uri="{FF2B5EF4-FFF2-40B4-BE49-F238E27FC236}">
                <a16:creationId xmlns:a16="http://schemas.microsoft.com/office/drawing/2014/main" id="{35CBA5DE-7D57-3688-CE34-B79F11220012}"/>
              </a:ext>
            </a:extLst>
          </p:cNvPr>
          <p:cNvSpPr/>
          <p:nvPr/>
        </p:nvSpPr>
        <p:spPr>
          <a:xfrm>
            <a:off x="2188956" y="3599881"/>
            <a:ext cx="2059701" cy="1058548"/>
          </a:xfrm>
          <a:prstGeom prst="rect">
            <a:avLst/>
          </a:prstGeom>
          <a:solidFill>
            <a:schemeClr val="bg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defTabSz="990564" eaLnBrk="1" fontAlgn="auto" hangingPunct="1">
              <a:spcBef>
                <a:spcPts val="0"/>
              </a:spcBef>
              <a:spcAft>
                <a:spcPts val="0"/>
              </a:spcAft>
              <a:buSzPct val="100000"/>
            </a:pPr>
            <a:r>
              <a:rPr lang="en-US" altLang="ja-JP" sz="1100" dirty="0">
                <a:solidFill>
                  <a:srgbClr val="374151"/>
                </a:solidFill>
                <a:latin typeface="+mn-ea"/>
              </a:rPr>
              <a:t>ISO</a:t>
            </a:r>
            <a:r>
              <a:rPr lang="ja-JP" altLang="en-US" sz="1100" dirty="0">
                <a:solidFill>
                  <a:srgbClr val="374151"/>
                </a:solidFill>
                <a:latin typeface="+mn-ea"/>
              </a:rPr>
              <a:t>で定めた通信プロトコルがあるものの、他の方式での実装も可能。</a:t>
            </a:r>
            <a:endParaRPr lang="en-US" altLang="ja-JP" sz="1100" dirty="0">
              <a:solidFill>
                <a:srgbClr val="374151"/>
              </a:solidFill>
              <a:latin typeface="+mn-ea"/>
            </a:endParaRPr>
          </a:p>
          <a:p>
            <a:pPr defTabSz="990564" eaLnBrk="1" fontAlgn="auto" hangingPunct="1">
              <a:spcBef>
                <a:spcPts val="0"/>
              </a:spcBef>
              <a:spcAft>
                <a:spcPts val="0"/>
              </a:spcAft>
              <a:buSzPct val="100000"/>
            </a:pPr>
            <a:r>
              <a:rPr lang="ja-JP" altLang="en-US" sz="1100" dirty="0">
                <a:solidFill>
                  <a:srgbClr val="374151"/>
                </a:solidFill>
                <a:latin typeface="+mn-ea"/>
              </a:rPr>
              <a:t>デバイス連携も想定されているため、組合せは多い。</a:t>
            </a:r>
            <a:endParaRPr lang="en-US" altLang="ja-JP" sz="1100" dirty="0">
              <a:solidFill>
                <a:srgbClr val="374151"/>
              </a:solidFill>
              <a:latin typeface="+mn-ea"/>
            </a:endParaRPr>
          </a:p>
          <a:p>
            <a:pPr defTabSz="990564" eaLnBrk="1" fontAlgn="auto" hangingPunct="1">
              <a:spcBef>
                <a:spcPts val="0"/>
              </a:spcBef>
              <a:spcAft>
                <a:spcPts val="0"/>
              </a:spcAft>
              <a:buSzPct val="100000"/>
            </a:pPr>
            <a:r>
              <a:rPr lang="en-US" altLang="ja-JP" sz="1100" dirty="0">
                <a:solidFill>
                  <a:srgbClr val="374151"/>
                </a:solidFill>
                <a:latin typeface="+mn-ea"/>
                <a:hlinkClick r:id="rId2"/>
              </a:rPr>
              <a:t>https://www.iso.org/standard/69084.html</a:t>
            </a:r>
            <a:endParaRPr lang="en-US" altLang="ja-JP" sz="1100" dirty="0">
              <a:solidFill>
                <a:srgbClr val="374151"/>
              </a:solidFill>
              <a:latin typeface="+mn-ea"/>
            </a:endParaRPr>
          </a:p>
        </p:txBody>
      </p:sp>
      <p:sp>
        <p:nvSpPr>
          <p:cNvPr id="45" name="正方形/長方形 44">
            <a:extLst>
              <a:ext uri="{FF2B5EF4-FFF2-40B4-BE49-F238E27FC236}">
                <a16:creationId xmlns:a16="http://schemas.microsoft.com/office/drawing/2014/main" id="{0B3A8E1C-4D91-2548-6D25-128AB3ECEDDF}"/>
              </a:ext>
            </a:extLst>
          </p:cNvPr>
          <p:cNvSpPr/>
          <p:nvPr/>
        </p:nvSpPr>
        <p:spPr>
          <a:xfrm>
            <a:off x="2188956" y="4913348"/>
            <a:ext cx="2059701" cy="1609739"/>
          </a:xfrm>
          <a:prstGeom prst="rect">
            <a:avLst/>
          </a:prstGeom>
          <a:solidFill>
            <a:schemeClr val="bg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defTabSz="990564" eaLnBrk="1" fontAlgn="auto" hangingPunct="1">
              <a:spcBef>
                <a:spcPts val="0"/>
              </a:spcBef>
              <a:spcAft>
                <a:spcPts val="0"/>
              </a:spcAft>
              <a:buSzPct val="100000"/>
            </a:pPr>
            <a:r>
              <a:rPr lang="en-US" altLang="ja-JP" sz="1100" dirty="0" err="1">
                <a:solidFill>
                  <a:srgbClr val="374151"/>
                </a:solidFill>
                <a:latin typeface="+mn-ea"/>
              </a:rPr>
              <a:t>mDL</a:t>
            </a:r>
            <a:r>
              <a:rPr lang="ja-JP" altLang="en-US" sz="1100" dirty="0">
                <a:solidFill>
                  <a:srgbClr val="374151"/>
                </a:solidFill>
                <a:latin typeface="+mn-ea"/>
              </a:rPr>
              <a:t>においては、</a:t>
            </a:r>
            <a:r>
              <a:rPr lang="en-US" altLang="ja-JP" sz="1100" dirty="0">
                <a:solidFill>
                  <a:srgbClr val="374151"/>
                </a:solidFill>
                <a:latin typeface="+mn-ea"/>
              </a:rPr>
              <a:t>Issuer </a:t>
            </a:r>
            <a:r>
              <a:rPr lang="en-US" altLang="ja-JP" sz="1100" dirty="0" err="1">
                <a:solidFill>
                  <a:srgbClr val="374151"/>
                </a:solidFill>
                <a:latin typeface="+mn-ea"/>
              </a:rPr>
              <a:t>Athority</a:t>
            </a:r>
            <a:r>
              <a:rPr lang="ja-JP" altLang="en-US" sz="1100" dirty="0">
                <a:solidFill>
                  <a:srgbClr val="374151"/>
                </a:solidFill>
                <a:latin typeface="+mn-ea"/>
              </a:rPr>
              <a:t>が</a:t>
            </a:r>
            <a:r>
              <a:rPr lang="en-US" altLang="ja-JP" sz="1100" dirty="0">
                <a:solidFill>
                  <a:srgbClr val="374151"/>
                </a:solidFill>
                <a:latin typeface="+mn-ea"/>
              </a:rPr>
              <a:t>Holder</a:t>
            </a:r>
            <a:r>
              <a:rPr lang="ja-JP" altLang="en-US" sz="1100" dirty="0">
                <a:solidFill>
                  <a:srgbClr val="374151"/>
                </a:solidFill>
                <a:latin typeface="+mn-ea"/>
              </a:rPr>
              <a:t>に対し証明書を直接送信するか、またはサーバに格納するかの</a:t>
            </a:r>
            <a:r>
              <a:rPr lang="en-US" altLang="ja-JP" sz="1100" dirty="0">
                <a:solidFill>
                  <a:srgbClr val="374151"/>
                </a:solidFill>
                <a:latin typeface="+mn-ea"/>
              </a:rPr>
              <a:t>2</a:t>
            </a:r>
            <a:r>
              <a:rPr lang="ja-JP" altLang="en-US" sz="1100" dirty="0">
                <a:solidFill>
                  <a:srgbClr val="374151"/>
                </a:solidFill>
                <a:latin typeface="+mn-ea"/>
              </a:rPr>
              <a:t>つの選択肢が存在する。</a:t>
            </a:r>
            <a:endParaRPr lang="en-US" altLang="ja-JP" sz="1100" dirty="0">
              <a:solidFill>
                <a:srgbClr val="374151"/>
              </a:solidFill>
              <a:latin typeface="+mn-ea"/>
            </a:endParaRPr>
          </a:p>
          <a:p>
            <a:pPr defTabSz="990564" eaLnBrk="1" fontAlgn="auto" hangingPunct="1">
              <a:spcBef>
                <a:spcPts val="0"/>
              </a:spcBef>
              <a:spcAft>
                <a:spcPts val="0"/>
              </a:spcAft>
              <a:buSzPct val="100000"/>
            </a:pPr>
            <a:r>
              <a:rPr lang="ja-JP" altLang="en-US" sz="1100" dirty="0">
                <a:solidFill>
                  <a:srgbClr val="374151"/>
                </a:solidFill>
                <a:latin typeface="+mn-ea"/>
              </a:rPr>
              <a:t>ストレージはローカルかサーバか選択可能だが、サーバの派生で</a:t>
            </a:r>
            <a:r>
              <a:rPr lang="en-US" altLang="ja-JP" sz="1100" dirty="0">
                <a:solidFill>
                  <a:srgbClr val="374151"/>
                </a:solidFill>
                <a:latin typeface="+mn-ea"/>
              </a:rPr>
              <a:t>B/C</a:t>
            </a:r>
            <a:r>
              <a:rPr lang="ja-JP" altLang="en-US" sz="1100" dirty="0">
                <a:solidFill>
                  <a:srgbClr val="374151"/>
                </a:solidFill>
                <a:latin typeface="+mn-ea"/>
              </a:rPr>
              <a:t>に格納することも特定条件をクリアすることで可能</a:t>
            </a:r>
            <a:r>
              <a:rPr lang="en-US" altLang="ja-JP" sz="1100" dirty="0">
                <a:solidFill>
                  <a:srgbClr val="374151"/>
                </a:solidFill>
                <a:latin typeface="+mn-ea"/>
              </a:rPr>
              <a:t>(</a:t>
            </a:r>
            <a:r>
              <a:rPr lang="ja-JP" altLang="en-US" sz="1100" dirty="0">
                <a:solidFill>
                  <a:srgbClr val="374151"/>
                </a:solidFill>
                <a:latin typeface="+mn-ea"/>
              </a:rPr>
              <a:t>通信暗号化、</a:t>
            </a:r>
            <a:r>
              <a:rPr lang="en-US" altLang="ja-JP" sz="1100" dirty="0">
                <a:solidFill>
                  <a:srgbClr val="374151"/>
                </a:solidFill>
                <a:latin typeface="+mn-ea"/>
              </a:rPr>
              <a:t>JWS</a:t>
            </a:r>
            <a:r>
              <a:rPr lang="ja-JP" altLang="en-US" sz="1100" dirty="0">
                <a:solidFill>
                  <a:srgbClr val="374151"/>
                </a:solidFill>
                <a:latin typeface="+mn-ea"/>
              </a:rPr>
              <a:t>署名対応、アクセス制御</a:t>
            </a:r>
            <a:r>
              <a:rPr lang="en-US" altLang="ja-JP" sz="1100" dirty="0">
                <a:solidFill>
                  <a:srgbClr val="374151"/>
                </a:solidFill>
                <a:latin typeface="+mn-ea"/>
              </a:rPr>
              <a:t>)</a:t>
            </a:r>
            <a:endParaRPr lang="ja-JP" altLang="en-US" sz="1100" dirty="0">
              <a:solidFill>
                <a:srgbClr val="374151"/>
              </a:solidFill>
              <a:latin typeface="+mn-ea"/>
            </a:endParaRPr>
          </a:p>
        </p:txBody>
      </p:sp>
      <p:sp>
        <p:nvSpPr>
          <p:cNvPr id="50" name="正方形/長方形 49">
            <a:extLst>
              <a:ext uri="{FF2B5EF4-FFF2-40B4-BE49-F238E27FC236}">
                <a16:creationId xmlns:a16="http://schemas.microsoft.com/office/drawing/2014/main" id="{AA7281B5-70B2-3EA6-1A3C-5466E53C266F}"/>
              </a:ext>
            </a:extLst>
          </p:cNvPr>
          <p:cNvSpPr/>
          <p:nvPr/>
        </p:nvSpPr>
        <p:spPr>
          <a:xfrm>
            <a:off x="413886" y="4841706"/>
            <a:ext cx="8749365" cy="1701546"/>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52" name="正方形/長方形 51">
            <a:extLst>
              <a:ext uri="{FF2B5EF4-FFF2-40B4-BE49-F238E27FC236}">
                <a16:creationId xmlns:a16="http://schemas.microsoft.com/office/drawing/2014/main" id="{681A7B27-6A19-21FC-3A7A-A54E45ABC20C}"/>
              </a:ext>
            </a:extLst>
          </p:cNvPr>
          <p:cNvSpPr/>
          <p:nvPr/>
        </p:nvSpPr>
        <p:spPr>
          <a:xfrm>
            <a:off x="9227545" y="4829698"/>
            <a:ext cx="409344" cy="346781"/>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3</a:t>
            </a:r>
            <a:endParaRPr kumimoji="1" lang="ja-JP" altLang="en-US" sz="1200" dirty="0">
              <a:solidFill>
                <a:schemeClr val="bg1"/>
              </a:solidFill>
              <a:latin typeface="+mn-ea"/>
            </a:endParaRPr>
          </a:p>
        </p:txBody>
      </p:sp>
      <p:sp>
        <p:nvSpPr>
          <p:cNvPr id="53" name="テキスト ボックス 52">
            <a:extLst>
              <a:ext uri="{FF2B5EF4-FFF2-40B4-BE49-F238E27FC236}">
                <a16:creationId xmlns:a16="http://schemas.microsoft.com/office/drawing/2014/main" id="{4C857767-1DBD-B04E-5748-0A9A79F997A0}"/>
              </a:ext>
            </a:extLst>
          </p:cNvPr>
          <p:cNvSpPr txBox="1"/>
          <p:nvPr/>
        </p:nvSpPr>
        <p:spPr bwMode="gray">
          <a:xfrm>
            <a:off x="560651" y="4387115"/>
            <a:ext cx="1589367" cy="271313"/>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0" sz="1000" b="0" i="0" u="none" strike="noStrike" kern="0" cap="none" spc="0" normalizeH="0" baseline="0">
                <a:ln>
                  <a:noFill/>
                </a:ln>
                <a:solidFill>
                  <a:prstClr val="black"/>
                </a:solidFill>
                <a:effectLst/>
                <a:uLnTx/>
                <a:uFillTx/>
                <a:latin typeface="Calibri Light"/>
                <a:ea typeface="Yu Gothic UI"/>
                <a:cs typeface="Arial" charset="0"/>
              </a:defRPr>
            </a:lvl1pPr>
          </a:lstStyle>
          <a:p>
            <a:r>
              <a:rPr lang="ja-JP" altLang="en-US" dirty="0">
                <a:latin typeface="+mn-ea"/>
                <a:ea typeface="+mn-ea"/>
              </a:rPr>
              <a:t>鍵</a:t>
            </a:r>
            <a:r>
              <a:rPr lang="ja-JP" altLang="en-US">
                <a:latin typeface="+mn-ea"/>
                <a:ea typeface="+mn-ea"/>
              </a:rPr>
              <a:t>管理関連</a:t>
            </a:r>
            <a:endParaRPr lang="en-US" altLang="ja-JP" dirty="0">
              <a:latin typeface="+mn-ea"/>
              <a:ea typeface="+mn-ea"/>
            </a:endParaRPr>
          </a:p>
        </p:txBody>
      </p:sp>
      <p:sp>
        <p:nvSpPr>
          <p:cNvPr id="54" name="正方形/長方形 53">
            <a:extLst>
              <a:ext uri="{FF2B5EF4-FFF2-40B4-BE49-F238E27FC236}">
                <a16:creationId xmlns:a16="http://schemas.microsoft.com/office/drawing/2014/main" id="{238239CF-1647-DEC8-5146-331DD857572F}"/>
              </a:ext>
            </a:extLst>
          </p:cNvPr>
          <p:cNvSpPr/>
          <p:nvPr/>
        </p:nvSpPr>
        <p:spPr>
          <a:xfrm>
            <a:off x="4295484" y="4401768"/>
            <a:ext cx="4300892" cy="256660"/>
          </a:xfrm>
          <a:prstGeom prst="rect">
            <a:avLst/>
          </a:prstGeom>
          <a:solidFill>
            <a:schemeClr val="bg1">
              <a:lumMod val="75000"/>
            </a:schemeClr>
          </a:solidFill>
          <a:ln>
            <a:solidFill>
              <a:sysClr val="windowText" lastClr="000000"/>
            </a:solidFill>
          </a:ln>
        </p:spPr>
        <p:txBody>
          <a:bodyPr wrap="none" lIns="0" tIns="0" rIns="0" bIns="0" rtlCol="0" anchor="ctr" anchorCtr="0">
            <a:noAutofit/>
          </a:bodyPr>
          <a:lstStyle/>
          <a:p>
            <a:pPr algn="ctr" defTabSz="990564" eaLnBrk="1" fontAlgn="auto" hangingPunct="1">
              <a:spcBef>
                <a:spcPts val="0"/>
              </a:spcBef>
              <a:spcAft>
                <a:spcPts val="0"/>
              </a:spcAft>
              <a:buSzPct val="100000"/>
            </a:pPr>
            <a:r>
              <a:rPr kumimoji="0" lang="ja-JP" altLang="en-US" sz="1200" kern="0" dirty="0">
                <a:solidFill>
                  <a:prstClr val="black"/>
                </a:solidFill>
                <a:latin typeface="+mn-ea"/>
                <a:ea typeface="+mn-ea"/>
                <a:cs typeface="Arial" charset="0"/>
              </a:rPr>
              <a:t>なし</a:t>
            </a:r>
          </a:p>
        </p:txBody>
      </p:sp>
      <p:sp>
        <p:nvSpPr>
          <p:cNvPr id="55" name="四角形: 角を丸くする 54">
            <a:extLst>
              <a:ext uri="{FF2B5EF4-FFF2-40B4-BE49-F238E27FC236}">
                <a16:creationId xmlns:a16="http://schemas.microsoft.com/office/drawing/2014/main" id="{E4BECA25-AFE0-AC0F-6855-4AF366E1CD25}"/>
              </a:ext>
            </a:extLst>
          </p:cNvPr>
          <p:cNvSpPr/>
          <p:nvPr/>
        </p:nvSpPr>
        <p:spPr>
          <a:xfrm>
            <a:off x="8670526" y="4399589"/>
            <a:ext cx="396478" cy="271313"/>
          </a:xfrm>
          <a:prstGeom prst="roundRect">
            <a:avLst/>
          </a:prstGeom>
          <a:solidFill>
            <a:srgbClr val="D9D9D9"/>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100" dirty="0">
                <a:latin typeface="+mn-ea"/>
              </a:rPr>
              <a:t>N/A</a:t>
            </a:r>
            <a:endParaRPr kumimoji="1" lang="ja-JP" altLang="en-US" sz="1100" dirty="0">
              <a:latin typeface="+mn-ea"/>
            </a:endParaRPr>
          </a:p>
        </p:txBody>
      </p:sp>
      <p:sp>
        <p:nvSpPr>
          <p:cNvPr id="56" name="テキスト ボックス 55">
            <a:extLst>
              <a:ext uri="{FF2B5EF4-FFF2-40B4-BE49-F238E27FC236}">
                <a16:creationId xmlns:a16="http://schemas.microsoft.com/office/drawing/2014/main" id="{35935018-CA95-16CA-A48B-B0D78DEFF91C}"/>
              </a:ext>
            </a:extLst>
          </p:cNvPr>
          <p:cNvSpPr txBox="1"/>
          <p:nvPr/>
        </p:nvSpPr>
        <p:spPr bwMode="gray">
          <a:xfrm>
            <a:off x="553916" y="5654946"/>
            <a:ext cx="1589367" cy="582847"/>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DID Document</a:t>
            </a: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格納方式</a:t>
            </a:r>
            <a:endParaRPr kumimoji="0" lang="en-US" altLang="ja-JP" sz="10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a:t>
            </a:r>
            <a:r>
              <a:rPr kumimoji="0" lang="ja-JP" altLang="en-US" sz="1000" b="0" i="0" u="none" strike="noStrike" kern="0" cap="none" spc="0" normalizeH="0" baseline="0" noProof="0" dirty="0">
                <a:ln>
                  <a:noFill/>
                </a:ln>
                <a:solidFill>
                  <a:prstClr val="black"/>
                </a:solidFill>
                <a:effectLst/>
                <a:uLnTx/>
                <a:uFillTx/>
                <a:latin typeface="+mn-ea"/>
                <a:ea typeface="+mn-ea"/>
                <a:cs typeface="Arial" charset="0"/>
              </a:rPr>
              <a:t>ストレージ</a:t>
            </a:r>
            <a:r>
              <a:rPr kumimoji="0" lang="en-US" altLang="ja-JP" sz="1000" b="0" i="0" u="none" strike="noStrike" kern="0" cap="none" spc="0" normalizeH="0" baseline="0" noProof="0" dirty="0">
                <a:ln>
                  <a:noFill/>
                </a:ln>
                <a:solidFill>
                  <a:prstClr val="black"/>
                </a:solidFill>
                <a:effectLst/>
                <a:uLnTx/>
                <a:uFillTx/>
                <a:latin typeface="+mn-ea"/>
                <a:ea typeface="+mn-ea"/>
                <a:cs typeface="Arial" charset="0"/>
              </a:rPr>
              <a:t>)</a:t>
            </a:r>
          </a:p>
        </p:txBody>
      </p:sp>
      <p:sp>
        <p:nvSpPr>
          <p:cNvPr id="60" name="正方形/長方形 59">
            <a:extLst>
              <a:ext uri="{FF2B5EF4-FFF2-40B4-BE49-F238E27FC236}">
                <a16:creationId xmlns:a16="http://schemas.microsoft.com/office/drawing/2014/main" id="{E200325B-F684-123C-5959-2207DAACD7DB}"/>
              </a:ext>
            </a:extLst>
          </p:cNvPr>
          <p:cNvSpPr/>
          <p:nvPr/>
        </p:nvSpPr>
        <p:spPr>
          <a:xfrm>
            <a:off x="413886" y="3562016"/>
            <a:ext cx="8749365" cy="1154694"/>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61" name="正方形/長方形 60">
            <a:extLst>
              <a:ext uri="{FF2B5EF4-FFF2-40B4-BE49-F238E27FC236}">
                <a16:creationId xmlns:a16="http://schemas.microsoft.com/office/drawing/2014/main" id="{277A6AC3-BB84-70D6-FE5C-E7517002A40F}"/>
              </a:ext>
            </a:extLst>
          </p:cNvPr>
          <p:cNvSpPr/>
          <p:nvPr/>
        </p:nvSpPr>
        <p:spPr>
          <a:xfrm>
            <a:off x="413886" y="1883257"/>
            <a:ext cx="8749365" cy="1545374"/>
          </a:xfrm>
          <a:prstGeom prst="rect">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64" name="正方形/長方形 63">
            <a:extLst>
              <a:ext uri="{FF2B5EF4-FFF2-40B4-BE49-F238E27FC236}">
                <a16:creationId xmlns:a16="http://schemas.microsoft.com/office/drawing/2014/main" id="{C773324F-3892-A6FD-08B9-6C7AE94053A1}"/>
              </a:ext>
            </a:extLst>
          </p:cNvPr>
          <p:cNvSpPr/>
          <p:nvPr/>
        </p:nvSpPr>
        <p:spPr>
          <a:xfrm>
            <a:off x="9219022" y="3570584"/>
            <a:ext cx="409344" cy="346781"/>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4</a:t>
            </a:r>
            <a:endParaRPr kumimoji="1" lang="ja-JP" altLang="en-US" sz="1200" dirty="0">
              <a:solidFill>
                <a:schemeClr val="bg1"/>
              </a:solidFill>
              <a:latin typeface="+mn-ea"/>
            </a:endParaRPr>
          </a:p>
        </p:txBody>
      </p:sp>
      <p:sp>
        <p:nvSpPr>
          <p:cNvPr id="65" name="正方形/長方形 64">
            <a:extLst>
              <a:ext uri="{FF2B5EF4-FFF2-40B4-BE49-F238E27FC236}">
                <a16:creationId xmlns:a16="http://schemas.microsoft.com/office/drawing/2014/main" id="{6B906D32-7BA9-E91E-567F-847054ED9C88}"/>
              </a:ext>
            </a:extLst>
          </p:cNvPr>
          <p:cNvSpPr/>
          <p:nvPr/>
        </p:nvSpPr>
        <p:spPr>
          <a:xfrm>
            <a:off x="9227545" y="1879640"/>
            <a:ext cx="409344" cy="346781"/>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200" dirty="0">
                <a:solidFill>
                  <a:schemeClr val="bg1"/>
                </a:solidFill>
                <a:latin typeface="+mn-ea"/>
              </a:rPr>
              <a:t>12</a:t>
            </a:r>
            <a:endParaRPr kumimoji="1" lang="ja-JP" altLang="en-US" sz="1200" dirty="0">
              <a:solidFill>
                <a:schemeClr val="bg1"/>
              </a:solidFill>
              <a:latin typeface="+mn-ea"/>
            </a:endParaRPr>
          </a:p>
        </p:txBody>
      </p:sp>
      <p:sp>
        <p:nvSpPr>
          <p:cNvPr id="66" name="正方形/長方形 65">
            <a:extLst>
              <a:ext uri="{FF2B5EF4-FFF2-40B4-BE49-F238E27FC236}">
                <a16:creationId xmlns:a16="http://schemas.microsoft.com/office/drawing/2014/main" id="{1A7CB1A1-4F47-1FF8-ADD4-03C2EAD0CA66}"/>
              </a:ext>
            </a:extLst>
          </p:cNvPr>
          <p:cNvSpPr/>
          <p:nvPr/>
        </p:nvSpPr>
        <p:spPr>
          <a:xfrm>
            <a:off x="2188956" y="1958083"/>
            <a:ext cx="2059701" cy="1437028"/>
          </a:xfrm>
          <a:prstGeom prst="rect">
            <a:avLst/>
          </a:prstGeom>
          <a:solidFill>
            <a:schemeClr val="bg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marL="0" marR="0" lvl="0" indent="0"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lang="en-US" altLang="ja-JP" sz="1100" b="0" i="0" dirty="0">
                <a:solidFill>
                  <a:srgbClr val="374151"/>
                </a:solidFill>
                <a:effectLst/>
                <a:latin typeface="+mn-ea"/>
              </a:rPr>
              <a:t>ISO/IEC 18013-5</a:t>
            </a:r>
            <a:r>
              <a:rPr lang="ja-JP" altLang="en-US" sz="1100" dirty="0">
                <a:solidFill>
                  <a:srgbClr val="374151"/>
                </a:solidFill>
                <a:latin typeface="+mn-ea"/>
              </a:rPr>
              <a:t>では</a:t>
            </a:r>
            <a:r>
              <a:rPr lang="ja-JP" altLang="en-US" sz="1100" b="0" i="0" dirty="0">
                <a:solidFill>
                  <a:srgbClr val="374151"/>
                </a:solidFill>
                <a:effectLst/>
                <a:latin typeface="+mn-ea"/>
              </a:rPr>
              <a:t>デジタル運転免許証の提示と検証に関する一連のプロトコルとデータ交換フォーマットを定義されており、証明書モデルは実装や具体的なアプリケーションに依存する。署名アルゴリズムは</a:t>
            </a:r>
            <a:r>
              <a:rPr lang="en-US" altLang="ja-JP" sz="1100" dirty="0">
                <a:solidFill>
                  <a:srgbClr val="374151"/>
                </a:solidFill>
                <a:latin typeface="+mn-ea"/>
              </a:rPr>
              <a:t>ECDSA</a:t>
            </a:r>
            <a:r>
              <a:rPr lang="ja-JP" altLang="en-US" sz="1100" dirty="0">
                <a:solidFill>
                  <a:srgbClr val="374151"/>
                </a:solidFill>
                <a:latin typeface="+mn-ea"/>
              </a:rPr>
              <a:t>および</a:t>
            </a:r>
            <a:r>
              <a:rPr lang="en-US" altLang="ja-JP" sz="1100" dirty="0" err="1">
                <a:solidFill>
                  <a:srgbClr val="374151"/>
                </a:solidFill>
                <a:latin typeface="+mn-ea"/>
              </a:rPr>
              <a:t>EdDSA</a:t>
            </a:r>
            <a:r>
              <a:rPr lang="ja-JP" altLang="en-US" sz="1100" dirty="0">
                <a:solidFill>
                  <a:srgbClr val="374151"/>
                </a:solidFill>
                <a:latin typeface="+mn-ea"/>
              </a:rPr>
              <a:t>が規定されている。</a:t>
            </a:r>
            <a:endParaRPr kumimoji="0" lang="en-US" altLang="ja-JP" sz="1100" b="0" i="0" u="none" strike="noStrike" kern="0" cap="none" spc="0" normalizeH="0" baseline="0" noProof="0" dirty="0">
              <a:ln>
                <a:noFill/>
              </a:ln>
              <a:solidFill>
                <a:prstClr val="black"/>
              </a:solidFill>
              <a:effectLst/>
              <a:uLnTx/>
              <a:uFillTx/>
              <a:latin typeface="+mn-ea"/>
              <a:cs typeface="Arial" charset="0"/>
            </a:endParaRPr>
          </a:p>
        </p:txBody>
      </p:sp>
      <p:sp>
        <p:nvSpPr>
          <p:cNvPr id="68" name="正方形/長方形 67">
            <a:extLst>
              <a:ext uri="{FF2B5EF4-FFF2-40B4-BE49-F238E27FC236}">
                <a16:creationId xmlns:a16="http://schemas.microsoft.com/office/drawing/2014/main" id="{F72F1C5F-D462-EAC2-B25D-7420132A643F}"/>
              </a:ext>
            </a:extLst>
          </p:cNvPr>
          <p:cNvSpPr/>
          <p:nvPr/>
        </p:nvSpPr>
        <p:spPr>
          <a:xfrm>
            <a:off x="273051" y="908050"/>
            <a:ext cx="1876968" cy="849093"/>
          </a:xfrm>
          <a:prstGeom prst="rect">
            <a:avLst/>
          </a:prstGeom>
          <a:solidFill>
            <a:schemeClr val="accent1"/>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dirty="0">
                <a:solidFill>
                  <a:schemeClr val="bg1"/>
                </a:solidFill>
                <a:latin typeface="+mn-ea"/>
              </a:rPr>
              <a:t>総評</a:t>
            </a:r>
          </a:p>
        </p:txBody>
      </p:sp>
      <p:sp>
        <p:nvSpPr>
          <p:cNvPr id="69" name="正方形/長方形 68">
            <a:extLst>
              <a:ext uri="{FF2B5EF4-FFF2-40B4-BE49-F238E27FC236}">
                <a16:creationId xmlns:a16="http://schemas.microsoft.com/office/drawing/2014/main" id="{971A4FA3-8F9D-5D7C-D895-475F51C3842A}"/>
              </a:ext>
            </a:extLst>
          </p:cNvPr>
          <p:cNvSpPr/>
          <p:nvPr/>
        </p:nvSpPr>
        <p:spPr>
          <a:xfrm>
            <a:off x="2188955" y="908050"/>
            <a:ext cx="6970726" cy="849093"/>
          </a:xfrm>
          <a:prstGeom prst="rect">
            <a:avLst/>
          </a:prstGeom>
          <a:solidFill>
            <a:schemeClr val="bg1">
              <a:lumMod val="95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400" dirty="0" err="1">
                <a:latin typeface="+mn-ea"/>
              </a:rPr>
              <a:t>mDL</a:t>
            </a:r>
            <a:r>
              <a:rPr lang="ja-JP" altLang="en-US" sz="1400">
                <a:latin typeface="+mn-ea"/>
              </a:rPr>
              <a:t>は</a:t>
            </a:r>
            <a:r>
              <a:rPr lang="en-US" altLang="ja-JP" sz="1400" dirty="0">
                <a:latin typeface="+mn-ea"/>
              </a:rPr>
              <a:t>ISO</a:t>
            </a:r>
            <a:r>
              <a:rPr lang="ja-JP" altLang="en-US" sz="1400">
                <a:latin typeface="+mn-ea"/>
              </a:rPr>
              <a:t>にて厳密に処理方式からフォーマット、デバイス連携、エンティティ間のデータの受け渡し方法等を明確に定義しているため、</a:t>
            </a:r>
            <a:r>
              <a:rPr lang="en-US" altLang="ja-JP" sz="1400" dirty="0">
                <a:latin typeface="+mn-ea"/>
              </a:rPr>
              <a:t>ISO</a:t>
            </a:r>
            <a:r>
              <a:rPr lang="ja-JP" altLang="en-US" sz="1400">
                <a:latin typeface="+mn-ea"/>
              </a:rPr>
              <a:t>内ではそれほどバリエーションがないが、仕様そのものは特定のフォーマットや実装に依存しないため、複数の仕様に適用させることが可能。</a:t>
            </a:r>
            <a:endParaRPr lang="ja-JP" altLang="en-US" sz="1400" dirty="0">
              <a:latin typeface="+mn-ea"/>
            </a:endParaRPr>
          </a:p>
        </p:txBody>
      </p:sp>
      <p:sp>
        <p:nvSpPr>
          <p:cNvPr id="70" name="正方形/長方形 69">
            <a:extLst>
              <a:ext uri="{FF2B5EF4-FFF2-40B4-BE49-F238E27FC236}">
                <a16:creationId xmlns:a16="http://schemas.microsoft.com/office/drawing/2014/main" id="{395AE88C-2BF2-16E7-E3EB-1FE64B7BEEE2}"/>
              </a:ext>
            </a:extLst>
          </p:cNvPr>
          <p:cNvSpPr/>
          <p:nvPr/>
        </p:nvSpPr>
        <p:spPr>
          <a:xfrm>
            <a:off x="9227545" y="908050"/>
            <a:ext cx="409344" cy="849093"/>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200" b="1" dirty="0">
                <a:solidFill>
                  <a:schemeClr val="bg1"/>
                </a:solidFill>
                <a:latin typeface="+mn-ea"/>
              </a:rPr>
              <a:t>144</a:t>
            </a:r>
            <a:endParaRPr kumimoji="1" lang="ja-JP" altLang="en-US" sz="1200" b="1" dirty="0">
              <a:solidFill>
                <a:schemeClr val="bg1"/>
              </a:solidFill>
              <a:latin typeface="+mn-ea"/>
            </a:endParaRPr>
          </a:p>
        </p:txBody>
      </p:sp>
      <p:sp>
        <p:nvSpPr>
          <p:cNvPr id="71" name="テキスト ボックス 70">
            <a:extLst>
              <a:ext uri="{FF2B5EF4-FFF2-40B4-BE49-F238E27FC236}">
                <a16:creationId xmlns:a16="http://schemas.microsoft.com/office/drawing/2014/main" id="{48C8C73E-87E1-9163-AF7C-655853EF96CC}"/>
              </a:ext>
            </a:extLst>
          </p:cNvPr>
          <p:cNvSpPr txBox="1"/>
          <p:nvPr/>
        </p:nvSpPr>
        <p:spPr bwMode="gray">
          <a:xfrm>
            <a:off x="553916" y="6311813"/>
            <a:ext cx="1589367" cy="211274"/>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0" sz="1000" b="0" i="0" u="none" strike="noStrike" kern="0" cap="none" spc="0" normalizeH="0" baseline="0">
                <a:ln>
                  <a:noFill/>
                </a:ln>
                <a:solidFill>
                  <a:prstClr val="black"/>
                </a:solidFill>
                <a:effectLst/>
                <a:uLnTx/>
                <a:uFillTx/>
                <a:latin typeface="Calibri Light"/>
                <a:ea typeface="Yu Gothic UI"/>
                <a:cs typeface="Arial" charset="0"/>
              </a:defRPr>
            </a:lvl1pPr>
          </a:lstStyle>
          <a:p>
            <a:r>
              <a:rPr lang="ja-JP" altLang="en-US">
                <a:latin typeface="+mn-ea"/>
                <a:ea typeface="+mn-ea"/>
              </a:rPr>
              <a:t>名前解決</a:t>
            </a:r>
            <a:endParaRPr lang="en-US" altLang="ja-JP" dirty="0">
              <a:latin typeface="+mn-ea"/>
              <a:ea typeface="+mn-ea"/>
            </a:endParaRPr>
          </a:p>
        </p:txBody>
      </p:sp>
      <p:sp>
        <p:nvSpPr>
          <p:cNvPr id="5" name="テキスト ボックス 4">
            <a:extLst>
              <a:ext uri="{FF2B5EF4-FFF2-40B4-BE49-F238E27FC236}">
                <a16:creationId xmlns:a16="http://schemas.microsoft.com/office/drawing/2014/main" id="{B06AC633-5ECF-BFC0-DBB4-1188C510605A}"/>
              </a:ext>
            </a:extLst>
          </p:cNvPr>
          <p:cNvSpPr txBox="1"/>
          <p:nvPr/>
        </p:nvSpPr>
        <p:spPr bwMode="gray">
          <a:xfrm>
            <a:off x="4304094" y="2734191"/>
            <a:ext cx="4267971" cy="330996"/>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a:solidFill>
                  <a:prstClr val="black"/>
                </a:solidFill>
                <a:latin typeface="+mn-ea"/>
                <a:ea typeface="+mn-ea"/>
                <a:cs typeface="Arial" charset="0"/>
              </a:rPr>
              <a:t>mdoc</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9" name="テキスト ボックス 8">
            <a:extLst>
              <a:ext uri="{FF2B5EF4-FFF2-40B4-BE49-F238E27FC236}">
                <a16:creationId xmlns:a16="http://schemas.microsoft.com/office/drawing/2014/main" id="{C6033314-25DD-01DD-F345-7CA51D422CB1}"/>
              </a:ext>
            </a:extLst>
          </p:cNvPr>
          <p:cNvSpPr txBox="1"/>
          <p:nvPr/>
        </p:nvSpPr>
        <p:spPr bwMode="gray">
          <a:xfrm>
            <a:off x="5511054" y="2361454"/>
            <a:ext cx="1707253" cy="311867"/>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Verifiable Presentations</a:t>
            </a:r>
          </a:p>
        </p:txBody>
      </p:sp>
      <p:sp>
        <p:nvSpPr>
          <p:cNvPr id="10" name="テキスト ボックス 9">
            <a:extLst>
              <a:ext uri="{FF2B5EF4-FFF2-40B4-BE49-F238E27FC236}">
                <a16:creationId xmlns:a16="http://schemas.microsoft.com/office/drawing/2014/main" id="{D9DCFDA0-00B7-2E89-4A3E-024CD4D708C6}"/>
              </a:ext>
            </a:extLst>
          </p:cNvPr>
          <p:cNvSpPr txBox="1"/>
          <p:nvPr/>
        </p:nvSpPr>
        <p:spPr bwMode="gray">
          <a:xfrm>
            <a:off x="7293631" y="2360907"/>
            <a:ext cx="1278433" cy="311867"/>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OID4VP</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1" name="テキスト ボックス 10">
            <a:extLst>
              <a:ext uri="{FF2B5EF4-FFF2-40B4-BE49-F238E27FC236}">
                <a16:creationId xmlns:a16="http://schemas.microsoft.com/office/drawing/2014/main" id="{B9BDF389-9765-362D-B96E-43366857A4A0}"/>
              </a:ext>
            </a:extLst>
          </p:cNvPr>
          <p:cNvSpPr txBox="1"/>
          <p:nvPr/>
        </p:nvSpPr>
        <p:spPr bwMode="gray">
          <a:xfrm>
            <a:off x="4304936" y="3699467"/>
            <a:ext cx="2238103"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defPPr>
              <a:defRPr lang="ja-JP"/>
            </a:defPPr>
            <a:lvl1pPr algn="ctr" defTabSz="990564" eaLnBrk="1" fontAlgn="auto" hangingPunct="1">
              <a:spcBef>
                <a:spcPts val="0"/>
              </a:spcBef>
              <a:spcAft>
                <a:spcPts val="0"/>
              </a:spcAft>
              <a:buSzPct val="100000"/>
              <a:defRPr sz="1200" b="0" i="0">
                <a:solidFill>
                  <a:srgbClr val="374151"/>
                </a:solidFill>
                <a:effectLst/>
                <a:latin typeface="__Inter_e66fe9"/>
              </a:defRPr>
            </a:lvl1pPr>
          </a:lstStyle>
          <a:p>
            <a:r>
              <a:rPr lang="en-US" altLang="ja-JP" dirty="0">
                <a:latin typeface="+mn-ea"/>
                <a:ea typeface="+mn-ea"/>
              </a:rPr>
              <a:t>ISO/IEC 18013-5</a:t>
            </a:r>
          </a:p>
        </p:txBody>
      </p:sp>
      <p:sp>
        <p:nvSpPr>
          <p:cNvPr id="12" name="テキスト ボックス 11">
            <a:extLst>
              <a:ext uri="{FF2B5EF4-FFF2-40B4-BE49-F238E27FC236}">
                <a16:creationId xmlns:a16="http://schemas.microsoft.com/office/drawing/2014/main" id="{8411328A-2E63-349B-19E5-F1044E136F0B}"/>
              </a:ext>
            </a:extLst>
          </p:cNvPr>
          <p:cNvSpPr txBox="1"/>
          <p:nvPr/>
        </p:nvSpPr>
        <p:spPr bwMode="gray">
          <a:xfrm>
            <a:off x="7604937" y="3119281"/>
            <a:ext cx="96712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EdDSA</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3" name="テキスト ボックス 12">
            <a:extLst>
              <a:ext uri="{FF2B5EF4-FFF2-40B4-BE49-F238E27FC236}">
                <a16:creationId xmlns:a16="http://schemas.microsoft.com/office/drawing/2014/main" id="{0EAFC208-2E92-AC99-EC20-DBEE58A04F5A}"/>
              </a:ext>
            </a:extLst>
          </p:cNvPr>
          <p:cNvSpPr txBox="1"/>
          <p:nvPr/>
        </p:nvSpPr>
        <p:spPr bwMode="gray">
          <a:xfrm>
            <a:off x="5511054" y="3119281"/>
            <a:ext cx="93379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ES384</a:t>
            </a:r>
          </a:p>
        </p:txBody>
      </p:sp>
      <p:sp>
        <p:nvSpPr>
          <p:cNvPr id="25" name="テキスト ボックス 24">
            <a:extLst>
              <a:ext uri="{FF2B5EF4-FFF2-40B4-BE49-F238E27FC236}">
                <a16:creationId xmlns:a16="http://schemas.microsoft.com/office/drawing/2014/main" id="{72313D1E-4547-9645-233A-A78E16E27A77}"/>
              </a:ext>
            </a:extLst>
          </p:cNvPr>
          <p:cNvSpPr txBox="1"/>
          <p:nvPr/>
        </p:nvSpPr>
        <p:spPr bwMode="gray">
          <a:xfrm>
            <a:off x="6557995" y="3119281"/>
            <a:ext cx="933798" cy="271313"/>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ES512</a:t>
            </a:r>
          </a:p>
        </p:txBody>
      </p:sp>
      <p:sp>
        <p:nvSpPr>
          <p:cNvPr id="28" name="四角形: 角を丸くする 48">
            <a:extLst>
              <a:ext uri="{FF2B5EF4-FFF2-40B4-BE49-F238E27FC236}">
                <a16:creationId xmlns:a16="http://schemas.microsoft.com/office/drawing/2014/main" id="{E9A3756F-5593-C450-8167-B92092B3EC10}"/>
              </a:ext>
            </a:extLst>
          </p:cNvPr>
          <p:cNvSpPr/>
          <p:nvPr/>
        </p:nvSpPr>
        <p:spPr>
          <a:xfrm>
            <a:off x="8670526" y="2373751"/>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100" dirty="0">
                <a:latin typeface="+mn-ea"/>
              </a:rPr>
              <a:t>3</a:t>
            </a:r>
            <a:endParaRPr kumimoji="1" lang="ja-JP" altLang="en-US" sz="1100" dirty="0">
              <a:latin typeface="+mn-ea"/>
            </a:endParaRPr>
          </a:p>
        </p:txBody>
      </p:sp>
      <p:sp>
        <p:nvSpPr>
          <p:cNvPr id="29" name="楕円 67">
            <a:extLst>
              <a:ext uri="{FF2B5EF4-FFF2-40B4-BE49-F238E27FC236}">
                <a16:creationId xmlns:a16="http://schemas.microsoft.com/office/drawing/2014/main" id="{62742294-B6F0-6641-0797-EDB481143ADD}"/>
              </a:ext>
            </a:extLst>
          </p:cNvPr>
          <p:cNvSpPr/>
          <p:nvPr/>
        </p:nvSpPr>
        <p:spPr>
          <a:xfrm>
            <a:off x="8779935" y="2736781"/>
            <a:ext cx="180000" cy="180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solidFill>
                  <a:schemeClr val="bg1"/>
                </a:solidFill>
                <a:latin typeface="+mn-ea"/>
              </a:rPr>
              <a:t>×</a:t>
            </a:r>
            <a:endParaRPr kumimoji="1" lang="ja-JP" altLang="en-US" sz="1100" dirty="0">
              <a:solidFill>
                <a:schemeClr val="bg1"/>
              </a:solidFill>
              <a:latin typeface="+mn-ea"/>
            </a:endParaRPr>
          </a:p>
        </p:txBody>
      </p:sp>
      <p:sp>
        <p:nvSpPr>
          <p:cNvPr id="30" name="四角形: 角を丸くする 48">
            <a:extLst>
              <a:ext uri="{FF2B5EF4-FFF2-40B4-BE49-F238E27FC236}">
                <a16:creationId xmlns:a16="http://schemas.microsoft.com/office/drawing/2014/main" id="{3BF91153-536C-7CF0-313E-9A6B2B912D5B}"/>
              </a:ext>
            </a:extLst>
          </p:cNvPr>
          <p:cNvSpPr/>
          <p:nvPr/>
        </p:nvSpPr>
        <p:spPr>
          <a:xfrm>
            <a:off x="8669419" y="3053722"/>
            <a:ext cx="396478" cy="330996"/>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100" dirty="0">
                <a:latin typeface="+mn-ea"/>
              </a:rPr>
              <a:t>4</a:t>
            </a:r>
            <a:endParaRPr kumimoji="1" lang="ja-JP" altLang="en-US" sz="1100" dirty="0">
              <a:latin typeface="+mn-ea"/>
            </a:endParaRPr>
          </a:p>
        </p:txBody>
      </p:sp>
      <p:sp>
        <p:nvSpPr>
          <p:cNvPr id="31" name="テキスト ボックス 30">
            <a:extLst>
              <a:ext uri="{FF2B5EF4-FFF2-40B4-BE49-F238E27FC236}">
                <a16:creationId xmlns:a16="http://schemas.microsoft.com/office/drawing/2014/main" id="{3D4029F1-9813-68FE-87D2-39274A1E6CE0}"/>
              </a:ext>
            </a:extLst>
          </p:cNvPr>
          <p:cNvSpPr txBox="1"/>
          <p:nvPr/>
        </p:nvSpPr>
        <p:spPr bwMode="gray">
          <a:xfrm>
            <a:off x="4295057" y="2356732"/>
            <a:ext cx="1151703" cy="311867"/>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algn="ctr" defTabSz="990564" eaLnBrk="1" fontAlgn="auto" hangingPunct="1">
              <a:spcBef>
                <a:spcPts val="0"/>
              </a:spcBef>
              <a:spcAft>
                <a:spcPts val="0"/>
              </a:spcAft>
              <a:buSzPct val="100000"/>
              <a:defRPr/>
            </a:pPr>
            <a:r>
              <a:rPr lang="en-US" altLang="ja-JP" sz="1200" b="0" i="0" dirty="0">
                <a:solidFill>
                  <a:srgbClr val="374151"/>
                </a:solidFill>
                <a:effectLst/>
                <a:latin typeface="+mn-ea"/>
                <a:ea typeface="+mn-ea"/>
              </a:rPr>
              <a:t>ISO/IEC 18013-5</a:t>
            </a:r>
            <a:endParaRPr kumimoji="0" lang="en-US" altLang="ja-JP" sz="16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33" name="正方形/長方形 32">
            <a:extLst>
              <a:ext uri="{FF2B5EF4-FFF2-40B4-BE49-F238E27FC236}">
                <a16:creationId xmlns:a16="http://schemas.microsoft.com/office/drawing/2014/main" id="{D665438E-A575-ACB4-8488-3214795404B3}"/>
              </a:ext>
            </a:extLst>
          </p:cNvPr>
          <p:cNvSpPr/>
          <p:nvPr/>
        </p:nvSpPr>
        <p:spPr bwMode="gray">
          <a:xfrm>
            <a:off x="4312260" y="5697520"/>
            <a:ext cx="1198794" cy="169913"/>
          </a:xfrm>
          <a:prstGeom prst="rect">
            <a:avLst/>
          </a:prstGeom>
          <a:solidFill>
            <a:sysClr val="window" lastClr="FFFFFF">
              <a:lumMod val="6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100" b="0" i="0" u="none" strike="noStrike" kern="0" cap="none" spc="0" normalizeH="0" baseline="0" noProof="0">
                <a:ln>
                  <a:noFill/>
                </a:ln>
                <a:solidFill>
                  <a:prstClr val="white"/>
                </a:solidFill>
                <a:effectLst/>
                <a:uLnTx/>
                <a:uFillTx/>
                <a:latin typeface="+mn-ea"/>
                <a:ea typeface="+mn-ea"/>
                <a:cs typeface="Arial" charset="0"/>
              </a:rPr>
              <a:t>B/C</a:t>
            </a:r>
            <a:r>
              <a:rPr kumimoji="0" lang="ja-JP" altLang="en-US" sz="1100" b="0" i="0" u="none" strike="noStrike" kern="0" cap="none" spc="0" normalizeH="0" baseline="0" noProof="0">
                <a:ln>
                  <a:noFill/>
                </a:ln>
                <a:solidFill>
                  <a:prstClr val="white"/>
                </a:solidFill>
                <a:effectLst/>
                <a:uLnTx/>
                <a:uFillTx/>
                <a:latin typeface="+mn-ea"/>
                <a:ea typeface="+mn-ea"/>
                <a:cs typeface="Arial" charset="0"/>
              </a:rPr>
              <a:t>活用</a:t>
            </a:r>
          </a:p>
        </p:txBody>
      </p:sp>
      <p:sp>
        <p:nvSpPr>
          <p:cNvPr id="35" name="正方形/長方形 34">
            <a:extLst>
              <a:ext uri="{FF2B5EF4-FFF2-40B4-BE49-F238E27FC236}">
                <a16:creationId xmlns:a16="http://schemas.microsoft.com/office/drawing/2014/main" id="{B0B2D050-B357-821A-E256-0587448DC8E8}"/>
              </a:ext>
            </a:extLst>
          </p:cNvPr>
          <p:cNvSpPr/>
          <p:nvPr/>
        </p:nvSpPr>
        <p:spPr bwMode="gray">
          <a:xfrm>
            <a:off x="5574657" y="5697519"/>
            <a:ext cx="3021719" cy="169914"/>
          </a:xfrm>
          <a:prstGeom prst="rect">
            <a:avLst/>
          </a:prstGeom>
          <a:solidFill>
            <a:sysClr val="window" lastClr="FFFFFF">
              <a:lumMod val="65000"/>
            </a:sys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100" b="0" i="0" u="none" strike="noStrike" kern="0" cap="none" spc="0" normalizeH="0" baseline="0" noProof="0" dirty="0">
                <a:ln>
                  <a:noFill/>
                </a:ln>
                <a:solidFill>
                  <a:prstClr val="white"/>
                </a:solidFill>
                <a:effectLst/>
                <a:uLnTx/>
                <a:uFillTx/>
                <a:latin typeface="+mn-ea"/>
                <a:ea typeface="+mn-ea"/>
                <a:cs typeface="Arial" charset="0"/>
              </a:rPr>
              <a:t>B/C</a:t>
            </a:r>
            <a:r>
              <a:rPr kumimoji="0" lang="ja-JP" altLang="en-US" sz="1100" b="0" i="0" u="none" strike="noStrike" kern="0" cap="none" spc="0" normalizeH="0" baseline="0" noProof="0" dirty="0">
                <a:ln>
                  <a:noFill/>
                </a:ln>
                <a:solidFill>
                  <a:prstClr val="white"/>
                </a:solidFill>
                <a:effectLst/>
                <a:uLnTx/>
                <a:uFillTx/>
                <a:latin typeface="+mn-ea"/>
                <a:ea typeface="+mn-ea"/>
                <a:cs typeface="Arial" charset="0"/>
              </a:rPr>
              <a:t>非活用</a:t>
            </a:r>
          </a:p>
        </p:txBody>
      </p:sp>
      <p:sp>
        <p:nvSpPr>
          <p:cNvPr id="36" name="テキスト ボックス 35">
            <a:extLst>
              <a:ext uri="{FF2B5EF4-FFF2-40B4-BE49-F238E27FC236}">
                <a16:creationId xmlns:a16="http://schemas.microsoft.com/office/drawing/2014/main" id="{7A6891D7-FF9D-2996-613A-A8116D875CA5}"/>
              </a:ext>
            </a:extLst>
          </p:cNvPr>
          <p:cNvSpPr txBox="1"/>
          <p:nvPr/>
        </p:nvSpPr>
        <p:spPr bwMode="gray">
          <a:xfrm>
            <a:off x="6834639" y="5921388"/>
            <a:ext cx="1747355" cy="268544"/>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kern="0">
                <a:solidFill>
                  <a:prstClr val="black"/>
                </a:solidFill>
                <a:latin typeface="+mn-ea"/>
                <a:ea typeface="+mn-ea"/>
                <a:cs typeface="Arial" charset="0"/>
              </a:rPr>
              <a:t>ローカルストレージ</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38" name="テキスト ボックス 37">
            <a:extLst>
              <a:ext uri="{FF2B5EF4-FFF2-40B4-BE49-F238E27FC236}">
                <a16:creationId xmlns:a16="http://schemas.microsoft.com/office/drawing/2014/main" id="{53080222-1DF9-A118-1BDC-0DDC6B8AE94F}"/>
              </a:ext>
            </a:extLst>
          </p:cNvPr>
          <p:cNvSpPr txBox="1"/>
          <p:nvPr/>
        </p:nvSpPr>
        <p:spPr bwMode="gray">
          <a:xfrm>
            <a:off x="5564402" y="5921387"/>
            <a:ext cx="1205944" cy="268544"/>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kern="0">
                <a:solidFill>
                  <a:prstClr val="black"/>
                </a:solidFill>
                <a:latin typeface="+mn-ea"/>
                <a:ea typeface="+mn-ea"/>
                <a:cs typeface="Arial" charset="0"/>
              </a:rPr>
              <a:t>サーバ</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40" name="テキスト ボックス 39">
            <a:extLst>
              <a:ext uri="{FF2B5EF4-FFF2-40B4-BE49-F238E27FC236}">
                <a16:creationId xmlns:a16="http://schemas.microsoft.com/office/drawing/2014/main" id="{303DB445-E1E3-8549-6720-0C2C0BC04FA3}"/>
              </a:ext>
            </a:extLst>
          </p:cNvPr>
          <p:cNvSpPr txBox="1"/>
          <p:nvPr/>
        </p:nvSpPr>
        <p:spPr bwMode="gray">
          <a:xfrm>
            <a:off x="4312260" y="5921388"/>
            <a:ext cx="1187848" cy="268543"/>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800" kern="0" dirty="0">
                <a:solidFill>
                  <a:prstClr val="black"/>
                </a:solidFill>
                <a:latin typeface="+mn-ea"/>
                <a:ea typeface="+mn-ea"/>
                <a:cs typeface="Arial" charset="0"/>
              </a:rPr>
              <a:t>特定条件をクリアすれば可能（プライベートチェーン必須）</a:t>
            </a:r>
            <a:endParaRPr kumimoji="0" lang="en-US" altLang="ja-JP" sz="8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41" name="正方形/長方形 40">
            <a:extLst>
              <a:ext uri="{FF2B5EF4-FFF2-40B4-BE49-F238E27FC236}">
                <a16:creationId xmlns:a16="http://schemas.microsoft.com/office/drawing/2014/main" id="{910365F5-0F04-5D96-8E14-765E0EB99225}"/>
              </a:ext>
            </a:extLst>
          </p:cNvPr>
          <p:cNvSpPr/>
          <p:nvPr/>
        </p:nvSpPr>
        <p:spPr>
          <a:xfrm>
            <a:off x="4305571" y="6268164"/>
            <a:ext cx="4290804" cy="221134"/>
          </a:xfrm>
          <a:prstGeom prst="rect">
            <a:avLst/>
          </a:prstGeom>
          <a:solidFill>
            <a:schemeClr val="bg1">
              <a:lumMod val="75000"/>
            </a:schemeClr>
          </a:solidFill>
          <a:ln>
            <a:solidFill>
              <a:sysClr val="windowText" lastClr="000000"/>
            </a:solidFill>
          </a:ln>
        </p:spPr>
        <p:txBody>
          <a:bodyPr wrap="none" lIns="0" tIns="0" rIns="0" bIns="0" rtlCol="0" anchor="ctr" anchorCtr="0">
            <a:noAutofit/>
          </a:bodyPr>
          <a:lstStyle/>
          <a:p>
            <a:pPr algn="ctr" defTabSz="990564" eaLnBrk="1" fontAlgn="auto" hangingPunct="1">
              <a:spcBef>
                <a:spcPts val="0"/>
              </a:spcBef>
              <a:spcAft>
                <a:spcPts val="0"/>
              </a:spcAft>
              <a:buSzPct val="100000"/>
            </a:pPr>
            <a:r>
              <a:rPr kumimoji="0" lang="ja-JP" altLang="en-US" sz="1200" kern="0" dirty="0">
                <a:solidFill>
                  <a:prstClr val="black"/>
                </a:solidFill>
                <a:latin typeface="+mn-ea"/>
                <a:ea typeface="+mn-ea"/>
                <a:cs typeface="Arial" charset="0"/>
              </a:rPr>
              <a:t>なし</a:t>
            </a:r>
          </a:p>
        </p:txBody>
      </p:sp>
      <p:sp>
        <p:nvSpPr>
          <p:cNvPr id="42" name="四角形: 角を丸くする 42">
            <a:extLst>
              <a:ext uri="{FF2B5EF4-FFF2-40B4-BE49-F238E27FC236}">
                <a16:creationId xmlns:a16="http://schemas.microsoft.com/office/drawing/2014/main" id="{52CF6097-7BF1-97CD-FCD1-9E5B42CBF143}"/>
              </a:ext>
            </a:extLst>
          </p:cNvPr>
          <p:cNvSpPr/>
          <p:nvPr/>
        </p:nvSpPr>
        <p:spPr>
          <a:xfrm>
            <a:off x="8681574" y="5893579"/>
            <a:ext cx="396478" cy="271313"/>
          </a:xfrm>
          <a:prstGeom prst="roundRect">
            <a:avLst/>
          </a:prstGeom>
          <a:solidFill>
            <a:schemeClr val="accent1">
              <a:lumMod val="20000"/>
              <a:lumOff val="80000"/>
            </a:schemeClr>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100" dirty="0">
                <a:latin typeface="+mn-ea"/>
              </a:rPr>
              <a:t>3</a:t>
            </a:r>
            <a:endParaRPr kumimoji="1" lang="ja-JP" altLang="en-US" sz="1100" dirty="0">
              <a:latin typeface="+mn-ea"/>
            </a:endParaRPr>
          </a:p>
        </p:txBody>
      </p:sp>
      <p:sp>
        <p:nvSpPr>
          <p:cNvPr id="4" name="楕円 3">
            <a:extLst>
              <a:ext uri="{FF2B5EF4-FFF2-40B4-BE49-F238E27FC236}">
                <a16:creationId xmlns:a16="http://schemas.microsoft.com/office/drawing/2014/main" id="{E856E60C-BA78-6E4B-AE00-A94F080E5191}"/>
              </a:ext>
            </a:extLst>
          </p:cNvPr>
          <p:cNvSpPr/>
          <p:nvPr/>
        </p:nvSpPr>
        <p:spPr>
          <a:xfrm>
            <a:off x="9307151" y="2677961"/>
            <a:ext cx="252000" cy="252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400" b="1" dirty="0">
                <a:solidFill>
                  <a:schemeClr val="bg1"/>
                </a:solidFill>
                <a:latin typeface="+mn-ea"/>
              </a:rPr>
              <a:t>×</a:t>
            </a:r>
            <a:endParaRPr kumimoji="1" lang="ja-JP" altLang="en-US" sz="1400" b="1" dirty="0">
              <a:solidFill>
                <a:schemeClr val="bg1"/>
              </a:solidFill>
              <a:latin typeface="+mn-ea"/>
            </a:endParaRPr>
          </a:p>
        </p:txBody>
      </p:sp>
      <p:sp>
        <p:nvSpPr>
          <p:cNvPr id="8" name="楕円 7">
            <a:extLst>
              <a:ext uri="{FF2B5EF4-FFF2-40B4-BE49-F238E27FC236}">
                <a16:creationId xmlns:a16="http://schemas.microsoft.com/office/drawing/2014/main" id="{611A229F-9D6A-C029-8DBF-5B92C1775A6D}"/>
              </a:ext>
            </a:extLst>
          </p:cNvPr>
          <p:cNvSpPr/>
          <p:nvPr/>
        </p:nvSpPr>
        <p:spPr>
          <a:xfrm>
            <a:off x="9300298" y="4172101"/>
            <a:ext cx="252000" cy="252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400" b="1" dirty="0">
                <a:solidFill>
                  <a:schemeClr val="bg1"/>
                </a:solidFill>
                <a:latin typeface="+mn-ea"/>
              </a:rPr>
              <a:t>×</a:t>
            </a:r>
            <a:endParaRPr kumimoji="1" lang="ja-JP" altLang="en-US" sz="1400" b="1" dirty="0">
              <a:solidFill>
                <a:schemeClr val="bg1"/>
              </a:solidFill>
              <a:latin typeface="+mn-ea"/>
            </a:endParaRPr>
          </a:p>
        </p:txBody>
      </p:sp>
      <p:sp>
        <p:nvSpPr>
          <p:cNvPr id="23" name="楕円 22">
            <a:extLst>
              <a:ext uri="{FF2B5EF4-FFF2-40B4-BE49-F238E27FC236}">
                <a16:creationId xmlns:a16="http://schemas.microsoft.com/office/drawing/2014/main" id="{8AD371D2-11E3-984A-6EE2-2244F4F40D0E}"/>
              </a:ext>
            </a:extLst>
          </p:cNvPr>
          <p:cNvSpPr/>
          <p:nvPr/>
        </p:nvSpPr>
        <p:spPr>
          <a:xfrm>
            <a:off x="9306217" y="1653483"/>
            <a:ext cx="252000" cy="252000"/>
          </a:xfrm>
          <a:prstGeom prst="ellipse">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400" b="1" dirty="0">
                <a:solidFill>
                  <a:schemeClr val="bg1"/>
                </a:solidFill>
                <a:latin typeface="+mn-ea"/>
              </a:rPr>
              <a:t>＝</a:t>
            </a:r>
          </a:p>
        </p:txBody>
      </p:sp>
      <p:sp>
        <p:nvSpPr>
          <p:cNvPr id="32" name="正方形/長方形 31">
            <a:extLst>
              <a:ext uri="{FF2B5EF4-FFF2-40B4-BE49-F238E27FC236}">
                <a16:creationId xmlns:a16="http://schemas.microsoft.com/office/drawing/2014/main" id="{D396B497-A48A-6837-EC92-956ADE6DB19A}"/>
              </a:ext>
            </a:extLst>
          </p:cNvPr>
          <p:cNvSpPr/>
          <p:nvPr/>
        </p:nvSpPr>
        <p:spPr bwMode="gray">
          <a:xfrm rot="16200000">
            <a:off x="792158" y="4135302"/>
            <a:ext cx="169692" cy="1378658"/>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46" name="正方形/長方形 45">
            <a:extLst>
              <a:ext uri="{FF2B5EF4-FFF2-40B4-BE49-F238E27FC236}">
                <a16:creationId xmlns:a16="http://schemas.microsoft.com/office/drawing/2014/main" id="{7EADB9EE-E3D7-AC69-BABC-B65BAEA489F9}"/>
              </a:ext>
            </a:extLst>
          </p:cNvPr>
          <p:cNvSpPr/>
          <p:nvPr/>
        </p:nvSpPr>
        <p:spPr bwMode="gray">
          <a:xfrm rot="16200000">
            <a:off x="792158" y="2864675"/>
            <a:ext cx="169692" cy="1378658"/>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kern="0" dirty="0">
                <a:solidFill>
                  <a:prstClr val="white"/>
                </a:solidFill>
                <a:latin typeface="+mn-ea"/>
                <a:ea typeface="+mn-ea"/>
                <a:cs typeface="Arial" charset="0"/>
              </a:rPr>
              <a:t>Agent</a:t>
            </a: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47" name="正方形/長方形 46">
            <a:extLst>
              <a:ext uri="{FF2B5EF4-FFF2-40B4-BE49-F238E27FC236}">
                <a16:creationId xmlns:a16="http://schemas.microsoft.com/office/drawing/2014/main" id="{ABB0AAD0-0BBB-3FAD-F63F-9F93556BB3B1}"/>
              </a:ext>
            </a:extLst>
          </p:cNvPr>
          <p:cNvSpPr/>
          <p:nvPr/>
        </p:nvSpPr>
        <p:spPr bwMode="gray">
          <a:xfrm rot="16200000">
            <a:off x="792158" y="1188482"/>
            <a:ext cx="169692" cy="1378658"/>
          </a:xfrm>
          <a:prstGeom prst="rect">
            <a:avLst/>
          </a:prstGeom>
          <a:solidFill>
            <a:schemeClr val="accent1"/>
          </a:solidFill>
          <a:ln w="12700" algn="ctr">
            <a:solidFill>
              <a:schemeClr val="accent1"/>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Tree>
    <p:extLst>
      <p:ext uri="{BB962C8B-B14F-4D97-AF65-F5344CB8AC3E}">
        <p14:creationId xmlns:p14="http://schemas.microsoft.com/office/powerpoint/2010/main" val="1890255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CB5BF4-3EB7-0894-41C5-126850D021A5}"/>
              </a:ext>
            </a:extLst>
          </p:cNvPr>
          <p:cNvSpPr>
            <a:spLocks noGrp="1"/>
          </p:cNvSpPr>
          <p:nvPr>
            <p:ph type="title"/>
          </p:nvPr>
        </p:nvSpPr>
        <p:spPr/>
        <p:txBody>
          <a:bodyPr/>
          <a:lstStyle/>
          <a:p>
            <a:r>
              <a:rPr kumimoji="1" lang="en-US" altLang="ja-JP" dirty="0"/>
              <a:t>6.1. </a:t>
            </a:r>
            <a:r>
              <a:rPr kumimoji="1" lang="ja-JP" altLang="en-US" dirty="0"/>
              <a:t>サービス </a:t>
            </a:r>
            <a:r>
              <a:rPr kumimoji="1" lang="en-US" altLang="ja-JP" dirty="0"/>
              <a:t>–</a:t>
            </a:r>
            <a:r>
              <a:rPr kumimoji="1" lang="ja-JP" altLang="en-US" dirty="0"/>
              <a:t> </a:t>
            </a:r>
            <a:r>
              <a:rPr kumimoji="1" lang="en-US" altLang="ja-JP" dirty="0"/>
              <a:t>6.1.2. </a:t>
            </a:r>
            <a:r>
              <a:rPr kumimoji="1" lang="ja-JP" altLang="en-US" dirty="0"/>
              <a:t>サービス実装詳細 </a:t>
            </a:r>
            <a:r>
              <a:rPr kumimoji="1" lang="en-US" altLang="ja-JP" dirty="0"/>
              <a:t>(1)</a:t>
            </a:r>
            <a:r>
              <a:rPr kumimoji="1" lang="ja-JP" altLang="en-US" dirty="0"/>
              <a:t> </a:t>
            </a:r>
            <a:r>
              <a:rPr kumimoji="1" lang="en-US" altLang="ja-JP" dirty="0"/>
              <a:t>EU DIW</a:t>
            </a:r>
            <a:r>
              <a:rPr kumimoji="1" lang="ja-JP" altLang="en-US" dirty="0"/>
              <a:t>（</a:t>
            </a:r>
            <a:r>
              <a:rPr kumimoji="1" lang="en-US" altLang="ja-JP" dirty="0"/>
              <a:t>EU ARF</a:t>
            </a:r>
            <a:r>
              <a:rPr kumimoji="1" lang="ja-JP" altLang="en-US" dirty="0"/>
              <a:t>で策定されているもの）</a:t>
            </a:r>
          </a:p>
        </p:txBody>
      </p:sp>
      <p:sp>
        <p:nvSpPr>
          <p:cNvPr id="3" name="テキスト プレースホルダー 2">
            <a:extLst>
              <a:ext uri="{FF2B5EF4-FFF2-40B4-BE49-F238E27FC236}">
                <a16:creationId xmlns:a16="http://schemas.microsoft.com/office/drawing/2014/main" id="{7C308A1F-27BD-6D46-C029-6353C2FDF4BA}"/>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pic>
        <p:nvPicPr>
          <p:cNvPr id="73" name="Picture 2" descr="EUDIW">
            <a:extLst>
              <a:ext uri="{FF2B5EF4-FFF2-40B4-BE49-F238E27FC236}">
                <a16:creationId xmlns:a16="http://schemas.microsoft.com/office/drawing/2014/main" id="{7B6E8E1B-5C55-5BEC-18AB-462B2A0B1A4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3232"/>
          <a:stretch/>
        </p:blipFill>
        <p:spPr bwMode="auto">
          <a:xfrm>
            <a:off x="480885" y="1711558"/>
            <a:ext cx="4232419" cy="2682997"/>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グループ化 73">
            <a:extLst>
              <a:ext uri="{FF2B5EF4-FFF2-40B4-BE49-F238E27FC236}">
                <a16:creationId xmlns:a16="http://schemas.microsoft.com/office/drawing/2014/main" id="{B7843E56-1DC8-3757-8173-4837A973843B}"/>
              </a:ext>
            </a:extLst>
          </p:cNvPr>
          <p:cNvGrpSpPr/>
          <p:nvPr/>
        </p:nvGrpSpPr>
        <p:grpSpPr>
          <a:xfrm>
            <a:off x="359364" y="4732038"/>
            <a:ext cx="4338299" cy="1654357"/>
            <a:chOff x="613563" y="4607128"/>
            <a:chExt cx="4006166" cy="2111322"/>
          </a:xfrm>
        </p:grpSpPr>
        <p:sp>
          <p:nvSpPr>
            <p:cNvPr id="75" name="正方形/長方形 74">
              <a:extLst>
                <a:ext uri="{FF2B5EF4-FFF2-40B4-BE49-F238E27FC236}">
                  <a16:creationId xmlns:a16="http://schemas.microsoft.com/office/drawing/2014/main" id="{78E26C6F-6128-995E-B0A9-100E731962FD}"/>
                </a:ext>
              </a:extLst>
            </p:cNvPr>
            <p:cNvSpPr/>
            <p:nvPr/>
          </p:nvSpPr>
          <p:spPr bwMode="gray">
            <a:xfrm>
              <a:off x="613563" y="4607128"/>
              <a:ext cx="1504762" cy="636105"/>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証明書</a:t>
              </a:r>
              <a:endPar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a:t>
              </a:r>
              <a:r>
                <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rPr>
                <a:t>Attestations</a:t>
              </a: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a:t>
              </a:r>
            </a:p>
          </p:txBody>
        </p:sp>
        <p:sp>
          <p:nvSpPr>
            <p:cNvPr id="76" name="正方形/長方形 75">
              <a:extLst>
                <a:ext uri="{FF2B5EF4-FFF2-40B4-BE49-F238E27FC236}">
                  <a16:creationId xmlns:a16="http://schemas.microsoft.com/office/drawing/2014/main" id="{451CF368-AB08-7061-3770-8E79C9071A86}"/>
                </a:ext>
              </a:extLst>
            </p:cNvPr>
            <p:cNvSpPr/>
            <p:nvPr/>
          </p:nvSpPr>
          <p:spPr bwMode="gray">
            <a:xfrm>
              <a:off x="2462938" y="4607128"/>
              <a:ext cx="2156791" cy="636104"/>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個人識別データ</a:t>
              </a:r>
              <a:endPar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a:t>
              </a:r>
              <a:r>
                <a:rPr kumimoji="0" lang="en-US" altLang="ja-JP" sz="1200" b="0" i="0" u="none" strike="noStrike" kern="0" cap="none" spc="0" normalizeH="0" baseline="0" noProof="0" err="1">
                  <a:ln>
                    <a:noFill/>
                  </a:ln>
                  <a:solidFill>
                    <a:prstClr val="black"/>
                  </a:solidFill>
                  <a:effectLst/>
                  <a:uLnTx/>
                  <a:uFillTx/>
                  <a:latin typeface="Calibri Light"/>
                  <a:ea typeface="Yu Gothic UI"/>
                  <a:cs typeface="Arial" charset="0"/>
                </a:rPr>
                <a:t>PID:Person</a:t>
              </a:r>
              <a:r>
                <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rPr>
                <a:t> Identification Data</a:t>
              </a: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a:t>
              </a:r>
            </a:p>
          </p:txBody>
        </p:sp>
        <p:sp>
          <p:nvSpPr>
            <p:cNvPr id="77" name="正方形/長方形 76">
              <a:extLst>
                <a:ext uri="{FF2B5EF4-FFF2-40B4-BE49-F238E27FC236}">
                  <a16:creationId xmlns:a16="http://schemas.microsoft.com/office/drawing/2014/main" id="{D8012AE0-709F-1BBE-345C-5A41C4264A37}"/>
                </a:ext>
              </a:extLst>
            </p:cNvPr>
            <p:cNvSpPr/>
            <p:nvPr/>
          </p:nvSpPr>
          <p:spPr bwMode="gray">
            <a:xfrm>
              <a:off x="2462938" y="5344737"/>
              <a:ext cx="2156791" cy="636104"/>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100" b="0" i="0" u="none" strike="noStrike" kern="0" cap="none" spc="0" normalizeH="0" baseline="0" noProof="0">
                  <a:ln>
                    <a:noFill/>
                  </a:ln>
                  <a:solidFill>
                    <a:srgbClr val="333333"/>
                  </a:solidFill>
                  <a:effectLst/>
                  <a:uLnTx/>
                  <a:uFillTx/>
                  <a:latin typeface="Lato" panose="020F0502020204030203" pitchFamily="34" charset="0"/>
                  <a:ea typeface="Yu Gothic UI"/>
                  <a:cs typeface="Arial" charset="0"/>
                </a:rPr>
                <a:t>適格な属性の電子証明</a:t>
              </a:r>
              <a:endParaRPr kumimoji="0" lang="en-US" altLang="ja-JP" sz="1100" b="0" i="0" u="none" strike="noStrike" kern="0" cap="none" spc="0" normalizeH="0" baseline="0" noProof="0">
                <a:ln>
                  <a:noFill/>
                </a:ln>
                <a:solidFill>
                  <a:srgbClr val="333333"/>
                </a:solidFill>
                <a:effectLst/>
                <a:uLnTx/>
                <a:uFillTx/>
                <a:latin typeface="Lato" panose="020F0502020204030203" pitchFamily="34" charset="0"/>
                <a:ea typeface="Yu Gothic UI"/>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a:t>
              </a:r>
              <a:r>
                <a:rPr kumimoji="0" lang="en-US" altLang="ja-JP" sz="1200" b="0" i="0" u="none" strike="noStrike" kern="0" cap="none" spc="0" normalizeH="0" baseline="0" noProof="0" err="1">
                  <a:ln>
                    <a:noFill/>
                  </a:ln>
                  <a:solidFill>
                    <a:prstClr val="black"/>
                  </a:solidFill>
                  <a:effectLst/>
                  <a:uLnTx/>
                  <a:uFillTx/>
                  <a:latin typeface="Calibri Light"/>
                  <a:ea typeface="Yu Gothic UI"/>
                  <a:cs typeface="Arial" charset="0"/>
                </a:rPr>
                <a:t>QEAA:Qualified</a:t>
              </a:r>
              <a:r>
                <a:rPr kumimoji="0" lang="en-US" altLang="ja-JP" sz="1200" b="0" i="0" u="none" strike="noStrike" kern="0" cap="none" spc="0" normalizeH="0" baseline="0" noProof="0">
                  <a:ln>
                    <a:noFill/>
                  </a:ln>
                  <a:solidFill>
                    <a:prstClr val="black"/>
                  </a:solidFill>
                  <a:effectLst/>
                  <a:uLnTx/>
                  <a:uFillTx/>
                  <a:latin typeface="Calibri Light"/>
                  <a:ea typeface="Yu Gothic UI"/>
                  <a:cs typeface="Arial" charset="0"/>
                </a:rPr>
                <a:t> Electronic Attestation of Attributes</a:t>
              </a:r>
              <a:r>
                <a:rPr kumimoji="0" lang="ja-JP" altLang="en-US" sz="1200" b="0" i="0" u="none" strike="noStrike" kern="0" cap="none" spc="0" normalizeH="0" baseline="0" noProof="0">
                  <a:ln>
                    <a:noFill/>
                  </a:ln>
                  <a:solidFill>
                    <a:prstClr val="black"/>
                  </a:solidFill>
                  <a:effectLst/>
                  <a:uLnTx/>
                  <a:uFillTx/>
                  <a:latin typeface="Calibri Light"/>
                  <a:ea typeface="Yu Gothic UI"/>
                  <a:cs typeface="Arial" charset="0"/>
                </a:rPr>
                <a:t>）</a:t>
              </a:r>
            </a:p>
          </p:txBody>
        </p:sp>
        <p:sp>
          <p:nvSpPr>
            <p:cNvPr id="78" name="正方形/長方形 77">
              <a:extLst>
                <a:ext uri="{FF2B5EF4-FFF2-40B4-BE49-F238E27FC236}">
                  <a16:creationId xmlns:a16="http://schemas.microsoft.com/office/drawing/2014/main" id="{3B1C1462-71F9-0547-139F-39BAE097723E}"/>
                </a:ext>
              </a:extLst>
            </p:cNvPr>
            <p:cNvSpPr/>
            <p:nvPr/>
          </p:nvSpPr>
          <p:spPr bwMode="gray">
            <a:xfrm>
              <a:off x="2462938" y="6082346"/>
              <a:ext cx="2156791" cy="636104"/>
            </a:xfrm>
            <a:prstGeom prst="rect">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100" b="0" i="0" u="none" strike="noStrike" kern="0" cap="none" spc="0" normalizeH="0" baseline="0" noProof="0" dirty="0">
                  <a:ln>
                    <a:noFill/>
                  </a:ln>
                  <a:solidFill>
                    <a:srgbClr val="333333"/>
                  </a:solidFill>
                  <a:effectLst/>
                  <a:uLnTx/>
                  <a:uFillTx/>
                  <a:latin typeface="Lato" panose="020F0502020204030203" pitchFamily="34" charset="0"/>
                  <a:ea typeface="Yu Gothic UI"/>
                  <a:cs typeface="Arial" charset="0"/>
                </a:rPr>
                <a:t>非適格な属性の電子証明</a:t>
              </a:r>
              <a:endParaRPr kumimoji="0" lang="en-US" altLang="ja-JP" sz="1100" b="0" i="0" u="none" strike="noStrike" kern="0" cap="none" spc="0" normalizeH="0" baseline="0" noProof="0" dirty="0">
                <a:ln>
                  <a:noFill/>
                </a:ln>
                <a:solidFill>
                  <a:srgbClr val="333333"/>
                </a:solidFill>
                <a:effectLst/>
                <a:uLnTx/>
                <a:uFillTx/>
                <a:latin typeface="Lato" panose="020F0502020204030203" pitchFamily="34" charset="0"/>
                <a:ea typeface="Yu Gothic UI"/>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a:t>
              </a:r>
              <a:r>
                <a:rPr kumimoji="0" lang="en-US" altLang="ja-JP" sz="1200" b="0" i="0" u="none" strike="noStrike" kern="0" cap="none" spc="0" normalizeH="0" baseline="0" noProof="0" dirty="0" err="1">
                  <a:ln>
                    <a:noFill/>
                  </a:ln>
                  <a:solidFill>
                    <a:prstClr val="black"/>
                  </a:solidFill>
                  <a:effectLst/>
                  <a:uLnTx/>
                  <a:uFillTx/>
                  <a:latin typeface="Calibri Light"/>
                  <a:ea typeface="Yu Gothic UI"/>
                  <a:cs typeface="Arial" charset="0"/>
                </a:rPr>
                <a:t>EAA:</a:t>
              </a:r>
              <a:r>
                <a:rPr kumimoji="0" lang="en-US" altLang="ja-JP" sz="1100" b="0" i="0" u="none" strike="noStrike" kern="0" cap="none" spc="0" normalizeH="0" baseline="0" noProof="0" dirty="0" err="1">
                  <a:ln>
                    <a:noFill/>
                  </a:ln>
                  <a:solidFill>
                    <a:srgbClr val="3C3C3C"/>
                  </a:solidFill>
                  <a:effectLst/>
                  <a:uLnTx/>
                  <a:uFillTx/>
                  <a:latin typeface="Roboto" panose="02000000000000000000" pitchFamily="2" charset="0"/>
                  <a:ea typeface="Yu Gothic UI"/>
                  <a:cs typeface="Arial" charset="0"/>
                </a:rPr>
                <a:t>Non-qualified</a:t>
              </a:r>
              <a:r>
                <a:rPr kumimoji="0" lang="en-US" altLang="ja-JP" sz="1100" b="0" i="0" u="none" strike="noStrike" kern="0" cap="none" spc="0" normalizeH="0" baseline="0" noProof="0" dirty="0">
                  <a:ln>
                    <a:noFill/>
                  </a:ln>
                  <a:solidFill>
                    <a:srgbClr val="3C3C3C"/>
                  </a:solidFill>
                  <a:effectLst/>
                  <a:uLnTx/>
                  <a:uFillTx/>
                  <a:latin typeface="Roboto" panose="02000000000000000000" pitchFamily="2" charset="0"/>
                  <a:ea typeface="Yu Gothic UI"/>
                  <a:cs typeface="Arial" charset="0"/>
                </a:rPr>
                <a:t> Electronic Attestation of Attributes</a:t>
              </a:r>
              <a:r>
                <a:rPr kumimoji="0" lang="ja-JP" altLang="en-US" sz="1200" b="0" i="0" u="none" strike="noStrike" kern="0" cap="none" spc="0" normalizeH="0" baseline="0" noProof="0" dirty="0">
                  <a:ln>
                    <a:noFill/>
                  </a:ln>
                  <a:solidFill>
                    <a:prstClr val="black"/>
                  </a:solidFill>
                  <a:effectLst/>
                  <a:uLnTx/>
                  <a:uFillTx/>
                  <a:latin typeface="Calibri Light"/>
                  <a:ea typeface="Yu Gothic UI"/>
                  <a:cs typeface="Arial" charset="0"/>
                </a:rPr>
                <a:t>）</a:t>
              </a:r>
            </a:p>
          </p:txBody>
        </p:sp>
        <p:cxnSp>
          <p:nvCxnSpPr>
            <p:cNvPr id="79" name="カギ線コネクタ 16">
              <a:extLst>
                <a:ext uri="{FF2B5EF4-FFF2-40B4-BE49-F238E27FC236}">
                  <a16:creationId xmlns:a16="http://schemas.microsoft.com/office/drawing/2014/main" id="{787EB256-14F7-2F8C-CDDC-88DC96AC7BAA}"/>
                </a:ext>
              </a:extLst>
            </p:cNvPr>
            <p:cNvCxnSpPr>
              <a:cxnSpLocks/>
              <a:stCxn id="75" idx="3"/>
              <a:endCxn id="77" idx="1"/>
            </p:cNvCxnSpPr>
            <p:nvPr/>
          </p:nvCxnSpPr>
          <p:spPr bwMode="gray">
            <a:xfrm>
              <a:off x="2118325" y="4925180"/>
              <a:ext cx="344614" cy="737609"/>
            </a:xfrm>
            <a:prstGeom prst="bentConnector3">
              <a:avLst/>
            </a:prstGeom>
            <a:noFill/>
            <a:ln w="12700" cap="flat" cmpd="sng" algn="ctr">
              <a:solidFill>
                <a:srgbClr val="53565A"/>
              </a:solidFill>
              <a:prstDash val="solid"/>
            </a:ln>
            <a:effectLst/>
          </p:spPr>
        </p:cxnSp>
        <p:cxnSp>
          <p:nvCxnSpPr>
            <p:cNvPr id="80" name="カギ線コネクタ 17">
              <a:extLst>
                <a:ext uri="{FF2B5EF4-FFF2-40B4-BE49-F238E27FC236}">
                  <a16:creationId xmlns:a16="http://schemas.microsoft.com/office/drawing/2014/main" id="{453F6BE3-F0C1-AEE0-CF94-C57575463753}"/>
                </a:ext>
              </a:extLst>
            </p:cNvPr>
            <p:cNvCxnSpPr>
              <a:cxnSpLocks/>
              <a:stCxn id="75" idx="3"/>
              <a:endCxn id="78" idx="1"/>
            </p:cNvCxnSpPr>
            <p:nvPr/>
          </p:nvCxnSpPr>
          <p:spPr bwMode="gray">
            <a:xfrm>
              <a:off x="2118325" y="4925180"/>
              <a:ext cx="344614" cy="1475217"/>
            </a:xfrm>
            <a:prstGeom prst="bentConnector3">
              <a:avLst/>
            </a:prstGeom>
            <a:noFill/>
            <a:ln w="12700" cap="flat" cmpd="sng" algn="ctr">
              <a:solidFill>
                <a:srgbClr val="53565A"/>
              </a:solidFill>
              <a:prstDash val="solid"/>
            </a:ln>
            <a:effectLst/>
          </p:spPr>
        </p:cxnSp>
        <p:cxnSp>
          <p:nvCxnSpPr>
            <p:cNvPr id="81" name="直線コネクタ 80">
              <a:extLst>
                <a:ext uri="{FF2B5EF4-FFF2-40B4-BE49-F238E27FC236}">
                  <a16:creationId xmlns:a16="http://schemas.microsoft.com/office/drawing/2014/main" id="{B4237D34-27B4-C507-0D1F-89E44C0C6290}"/>
                </a:ext>
              </a:extLst>
            </p:cNvPr>
            <p:cNvCxnSpPr>
              <a:cxnSpLocks/>
              <a:stCxn id="75" idx="3"/>
              <a:endCxn id="76" idx="1"/>
            </p:cNvCxnSpPr>
            <p:nvPr/>
          </p:nvCxnSpPr>
          <p:spPr bwMode="gray">
            <a:xfrm>
              <a:off x="2118325" y="4925180"/>
              <a:ext cx="344614" cy="0"/>
            </a:xfrm>
            <a:prstGeom prst="line">
              <a:avLst/>
            </a:prstGeom>
            <a:noFill/>
            <a:ln w="12700" cap="flat" cmpd="sng" algn="ctr">
              <a:solidFill>
                <a:srgbClr val="53565A"/>
              </a:solidFill>
              <a:prstDash val="solid"/>
            </a:ln>
            <a:effectLst/>
          </p:spPr>
        </p:cxnSp>
      </p:grpSp>
      <p:sp>
        <p:nvSpPr>
          <p:cNvPr id="82" name="テキスト ボックス 81">
            <a:extLst>
              <a:ext uri="{FF2B5EF4-FFF2-40B4-BE49-F238E27FC236}">
                <a16:creationId xmlns:a16="http://schemas.microsoft.com/office/drawing/2014/main" id="{5ADBEC8C-3B09-CC5A-6ACF-CE0F2F06FD9F}"/>
              </a:ext>
            </a:extLst>
          </p:cNvPr>
          <p:cNvSpPr txBox="1"/>
          <p:nvPr/>
        </p:nvSpPr>
        <p:spPr bwMode="gray">
          <a:xfrm>
            <a:off x="1514224" y="4460762"/>
            <a:ext cx="2001010" cy="253916"/>
          </a:xfrm>
          <a:prstGeom prst="rect">
            <a:avLst/>
          </a:prstGeom>
          <a:noFill/>
        </p:spPr>
        <p:txBody>
          <a:bodyPr wrap="square">
            <a:spAutoFit/>
          </a:bodyPr>
          <a:lstStyle/>
          <a:p>
            <a:pPr defTabSz="990564" eaLnBrk="1" fontAlgn="auto" hangingPunct="1">
              <a:spcBef>
                <a:spcPts val="0"/>
              </a:spcBef>
              <a:spcAft>
                <a:spcPts val="0"/>
              </a:spcAft>
            </a:pPr>
            <a:r>
              <a:rPr lang="en-US" altLang="ja-JP" sz="1050">
                <a:solidFill>
                  <a:prstClr val="black"/>
                </a:solidFill>
                <a:latin typeface="Yu Gothic UI"/>
                <a:ea typeface="Yu Gothic UI"/>
                <a:cs typeface="Arial" charset="0"/>
              </a:rPr>
              <a:t>EUDI</a:t>
            </a:r>
            <a:r>
              <a:rPr lang="ja-JP" altLang="en-US" sz="1050">
                <a:solidFill>
                  <a:prstClr val="black"/>
                </a:solidFill>
                <a:latin typeface="Yu Gothic UI"/>
                <a:ea typeface="Yu Gothic UI"/>
                <a:cs typeface="Arial" charset="0"/>
              </a:rPr>
              <a:t>ウォレットに格納する証明書</a:t>
            </a:r>
          </a:p>
        </p:txBody>
      </p:sp>
      <p:sp>
        <p:nvSpPr>
          <p:cNvPr id="83" name="正方形/長方形 82">
            <a:extLst>
              <a:ext uri="{FF2B5EF4-FFF2-40B4-BE49-F238E27FC236}">
                <a16:creationId xmlns:a16="http://schemas.microsoft.com/office/drawing/2014/main" id="{E28F579E-639E-1141-7E39-65FB6B20B07B}"/>
              </a:ext>
            </a:extLst>
          </p:cNvPr>
          <p:cNvSpPr/>
          <p:nvPr/>
        </p:nvSpPr>
        <p:spPr bwMode="gray">
          <a:xfrm>
            <a:off x="273050" y="1451946"/>
            <a:ext cx="4481175" cy="204086"/>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0" i="0" u="none" strike="noStrike" kern="0" cap="none" spc="0" normalizeH="0" baseline="0" noProof="0">
                <a:ln>
                  <a:noFill/>
                </a:ln>
                <a:solidFill>
                  <a:prstClr val="white"/>
                </a:solidFill>
                <a:effectLst/>
                <a:uLnTx/>
                <a:uFillTx/>
                <a:latin typeface="Calibri Light"/>
                <a:ea typeface="Yu Gothic UI"/>
                <a:cs typeface="Arial" charset="0"/>
              </a:rPr>
              <a:t>EUDI</a:t>
            </a: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ウォレットの機能構成</a:t>
            </a:r>
          </a:p>
        </p:txBody>
      </p:sp>
      <p:sp>
        <p:nvSpPr>
          <p:cNvPr id="84" name="正方形/長方形 83">
            <a:extLst>
              <a:ext uri="{FF2B5EF4-FFF2-40B4-BE49-F238E27FC236}">
                <a16:creationId xmlns:a16="http://schemas.microsoft.com/office/drawing/2014/main" id="{041E9967-A216-FAF1-3E91-51C36CF84C51}"/>
              </a:ext>
            </a:extLst>
          </p:cNvPr>
          <p:cNvSpPr/>
          <p:nvPr/>
        </p:nvSpPr>
        <p:spPr bwMode="gray">
          <a:xfrm>
            <a:off x="273050" y="4469387"/>
            <a:ext cx="4481175" cy="198526"/>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400" b="0" i="0" u="none" strike="noStrike" kern="0" cap="none" spc="0" normalizeH="0" baseline="0" noProof="0" dirty="0">
                <a:ln>
                  <a:noFill/>
                </a:ln>
                <a:solidFill>
                  <a:prstClr val="white"/>
                </a:solidFill>
                <a:effectLst/>
                <a:uLnTx/>
                <a:uFillTx/>
                <a:latin typeface="Calibri Light"/>
                <a:ea typeface="Yu Gothic UI"/>
                <a:cs typeface="Arial" charset="0"/>
              </a:rPr>
              <a:t>EUDI</a:t>
            </a:r>
            <a:r>
              <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rPr>
              <a:t>ウォレットに格納される証明書構成</a:t>
            </a:r>
          </a:p>
        </p:txBody>
      </p:sp>
      <p:grpSp>
        <p:nvGrpSpPr>
          <p:cNvPr id="117" name="グループ化 116">
            <a:extLst>
              <a:ext uri="{FF2B5EF4-FFF2-40B4-BE49-F238E27FC236}">
                <a16:creationId xmlns:a16="http://schemas.microsoft.com/office/drawing/2014/main" id="{4C14E5D7-73C8-E91E-DC67-871D22791F69}"/>
              </a:ext>
            </a:extLst>
          </p:cNvPr>
          <p:cNvGrpSpPr/>
          <p:nvPr/>
        </p:nvGrpSpPr>
        <p:grpSpPr>
          <a:xfrm>
            <a:off x="5146162" y="1451946"/>
            <a:ext cx="4486788" cy="4934450"/>
            <a:chOff x="5146162" y="1484313"/>
            <a:chExt cx="4335980" cy="5113337"/>
          </a:xfrm>
        </p:grpSpPr>
        <p:sp>
          <p:nvSpPr>
            <p:cNvPr id="85" name="正方形/長方形 84">
              <a:extLst>
                <a:ext uri="{FF2B5EF4-FFF2-40B4-BE49-F238E27FC236}">
                  <a16:creationId xmlns:a16="http://schemas.microsoft.com/office/drawing/2014/main" id="{741CBA89-1264-0CC3-85A8-EDF12681BF90}"/>
                </a:ext>
              </a:extLst>
            </p:cNvPr>
            <p:cNvSpPr/>
            <p:nvPr/>
          </p:nvSpPr>
          <p:spPr bwMode="gray">
            <a:xfrm>
              <a:off x="5146162" y="1484313"/>
              <a:ext cx="4335980"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pPr>
              <a:r>
                <a:rPr kumimoji="0" lang="ja-JP" altLang="en-US" sz="1400" b="0" i="0" u="none" strike="noStrike" kern="0" cap="none" spc="0" normalizeH="0" baseline="0" noProof="0" dirty="0">
                  <a:ln>
                    <a:noFill/>
                  </a:ln>
                  <a:solidFill>
                    <a:prstClr val="white"/>
                  </a:solidFill>
                  <a:effectLst/>
                  <a:uLnTx/>
                  <a:uFillTx/>
                  <a:latin typeface="+mn-ea"/>
                  <a:ea typeface="+mn-ea"/>
                  <a:cs typeface="Arial" charset="0"/>
                </a:rPr>
                <a:t>実装技術スタック詳細</a:t>
              </a:r>
            </a:p>
          </p:txBody>
        </p:sp>
        <p:sp>
          <p:nvSpPr>
            <p:cNvPr id="86" name="テキスト ボックス 85">
              <a:extLst>
                <a:ext uri="{FF2B5EF4-FFF2-40B4-BE49-F238E27FC236}">
                  <a16:creationId xmlns:a16="http://schemas.microsoft.com/office/drawing/2014/main" id="{4067927B-AE9F-3015-23F6-D2CA6B76CFE3}"/>
                </a:ext>
              </a:extLst>
            </p:cNvPr>
            <p:cNvSpPr txBox="1"/>
            <p:nvPr/>
          </p:nvSpPr>
          <p:spPr bwMode="gray">
            <a:xfrm>
              <a:off x="7086925" y="5210863"/>
              <a:ext cx="239353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N/A</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87" name="テキスト ボックス 86">
              <a:extLst>
                <a:ext uri="{FF2B5EF4-FFF2-40B4-BE49-F238E27FC236}">
                  <a16:creationId xmlns:a16="http://schemas.microsoft.com/office/drawing/2014/main" id="{AFD01428-208F-9E9E-D5BC-F9553E632285}"/>
                </a:ext>
              </a:extLst>
            </p:cNvPr>
            <p:cNvSpPr txBox="1"/>
            <p:nvPr/>
          </p:nvSpPr>
          <p:spPr bwMode="gray">
            <a:xfrm>
              <a:off x="7086925" y="5704911"/>
              <a:ext cx="239353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Holder: </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スマホストレージ（</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SE</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等）</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Issuer</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N/A</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88" name="テキスト ボックス 87">
              <a:extLst>
                <a:ext uri="{FF2B5EF4-FFF2-40B4-BE49-F238E27FC236}">
                  <a16:creationId xmlns:a16="http://schemas.microsoft.com/office/drawing/2014/main" id="{6A9CF608-B092-CB9C-C85B-112D5788294C}"/>
                </a:ext>
              </a:extLst>
            </p:cNvPr>
            <p:cNvSpPr txBox="1"/>
            <p:nvPr/>
          </p:nvSpPr>
          <p:spPr bwMode="gray">
            <a:xfrm>
              <a:off x="7086925" y="6198959"/>
              <a:ext cx="239353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N/A</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89" name="テキスト ボックス 88">
              <a:extLst>
                <a:ext uri="{FF2B5EF4-FFF2-40B4-BE49-F238E27FC236}">
                  <a16:creationId xmlns:a16="http://schemas.microsoft.com/office/drawing/2014/main" id="{2ABB07B0-49ED-0E61-F764-ECF0F0C8DFC5}"/>
                </a:ext>
              </a:extLst>
            </p:cNvPr>
            <p:cNvSpPr txBox="1"/>
            <p:nvPr/>
          </p:nvSpPr>
          <p:spPr bwMode="gray">
            <a:xfrm>
              <a:off x="7086925" y="3728719"/>
              <a:ext cx="239353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OID4VP</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90" name="テキスト ボックス 89">
              <a:extLst>
                <a:ext uri="{FF2B5EF4-FFF2-40B4-BE49-F238E27FC236}">
                  <a16:creationId xmlns:a16="http://schemas.microsoft.com/office/drawing/2014/main" id="{CEC9440E-8BF3-B078-DFA9-BE498C9FEDD7}"/>
                </a:ext>
              </a:extLst>
            </p:cNvPr>
            <p:cNvSpPr txBox="1"/>
            <p:nvPr/>
          </p:nvSpPr>
          <p:spPr bwMode="gray">
            <a:xfrm>
              <a:off x="7086925" y="4222767"/>
              <a:ext cx="239353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SIOPv2/OID4VP</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91" name="テキスト ボックス 90">
              <a:extLst>
                <a:ext uri="{FF2B5EF4-FFF2-40B4-BE49-F238E27FC236}">
                  <a16:creationId xmlns:a16="http://schemas.microsoft.com/office/drawing/2014/main" id="{089240DA-C3A3-15B9-9968-65C159573D0A}"/>
                </a:ext>
              </a:extLst>
            </p:cNvPr>
            <p:cNvSpPr txBox="1"/>
            <p:nvPr/>
          </p:nvSpPr>
          <p:spPr bwMode="gray">
            <a:xfrm>
              <a:off x="7086924" y="4716815"/>
              <a:ext cx="239353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NFC</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Bluetooth</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QR</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コード</a:t>
              </a:r>
            </a:p>
          </p:txBody>
        </p:sp>
        <p:grpSp>
          <p:nvGrpSpPr>
            <p:cNvPr id="92" name="グループ化 91">
              <a:extLst>
                <a:ext uri="{FF2B5EF4-FFF2-40B4-BE49-F238E27FC236}">
                  <a16:creationId xmlns:a16="http://schemas.microsoft.com/office/drawing/2014/main" id="{E15C5447-28D6-917C-7960-35019AA85A83}"/>
                </a:ext>
              </a:extLst>
            </p:cNvPr>
            <p:cNvGrpSpPr/>
            <p:nvPr/>
          </p:nvGrpSpPr>
          <p:grpSpPr>
            <a:xfrm>
              <a:off x="7086925" y="1753711"/>
              <a:ext cx="2393529" cy="396000"/>
              <a:chOff x="7086925" y="1753711"/>
              <a:chExt cx="2393529" cy="396000"/>
            </a:xfrm>
          </p:grpSpPr>
          <p:sp>
            <p:nvSpPr>
              <p:cNvPr id="93" name="テキスト ボックス 92">
                <a:extLst>
                  <a:ext uri="{FF2B5EF4-FFF2-40B4-BE49-F238E27FC236}">
                    <a16:creationId xmlns:a16="http://schemas.microsoft.com/office/drawing/2014/main" id="{9E03060F-DCA9-775F-1393-771A77669683}"/>
                  </a:ext>
                </a:extLst>
              </p:cNvPr>
              <p:cNvSpPr txBox="1"/>
              <p:nvPr/>
            </p:nvSpPr>
            <p:spPr bwMode="gray">
              <a:xfrm>
                <a:off x="7086925" y="1753711"/>
                <a:ext cx="151924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Verifiable Credential</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94" name="テキスト ボックス 93">
                <a:extLst>
                  <a:ext uri="{FF2B5EF4-FFF2-40B4-BE49-F238E27FC236}">
                    <a16:creationId xmlns:a16="http://schemas.microsoft.com/office/drawing/2014/main" id="{5AF7E20A-F26C-A382-3FF4-C37B44ABD91C}"/>
                  </a:ext>
                </a:extLst>
              </p:cNvPr>
              <p:cNvSpPr txBox="1"/>
              <p:nvPr/>
            </p:nvSpPr>
            <p:spPr bwMode="gray">
              <a:xfrm>
                <a:off x="8667979" y="1753711"/>
                <a:ext cx="812475"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mDL</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grpSp>
        <p:grpSp>
          <p:nvGrpSpPr>
            <p:cNvPr id="95" name="グループ化 94">
              <a:extLst>
                <a:ext uri="{FF2B5EF4-FFF2-40B4-BE49-F238E27FC236}">
                  <a16:creationId xmlns:a16="http://schemas.microsoft.com/office/drawing/2014/main" id="{E54799C0-6271-39AB-160E-B6B72414E122}"/>
                </a:ext>
              </a:extLst>
            </p:cNvPr>
            <p:cNvGrpSpPr/>
            <p:nvPr/>
          </p:nvGrpSpPr>
          <p:grpSpPr>
            <a:xfrm>
              <a:off x="7086925" y="2247759"/>
              <a:ext cx="2393525" cy="396000"/>
              <a:chOff x="7086925" y="2255818"/>
              <a:chExt cx="2393525" cy="396000"/>
            </a:xfrm>
          </p:grpSpPr>
          <p:sp>
            <p:nvSpPr>
              <p:cNvPr id="96" name="テキスト ボックス 95">
                <a:extLst>
                  <a:ext uri="{FF2B5EF4-FFF2-40B4-BE49-F238E27FC236}">
                    <a16:creationId xmlns:a16="http://schemas.microsoft.com/office/drawing/2014/main" id="{3AA46EBD-1C44-101F-FD29-2F79EF693B46}"/>
                  </a:ext>
                </a:extLst>
              </p:cNvPr>
              <p:cNvSpPr txBox="1"/>
              <p:nvPr/>
            </p:nvSpPr>
            <p:spPr bwMode="gray">
              <a:xfrm>
                <a:off x="7086925" y="2255818"/>
                <a:ext cx="722909"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SD-JWT</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JSON</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a:t>
                </a:r>
              </a:p>
            </p:txBody>
          </p:sp>
          <p:sp>
            <p:nvSpPr>
              <p:cNvPr id="97" name="テキスト ボックス 96">
                <a:extLst>
                  <a:ext uri="{FF2B5EF4-FFF2-40B4-BE49-F238E27FC236}">
                    <a16:creationId xmlns:a16="http://schemas.microsoft.com/office/drawing/2014/main" id="{7E546B13-EC9C-AEFD-1A3D-DF5460832B3B}"/>
                  </a:ext>
                </a:extLst>
              </p:cNvPr>
              <p:cNvSpPr txBox="1"/>
              <p:nvPr/>
            </p:nvSpPr>
            <p:spPr bwMode="gray">
              <a:xfrm>
                <a:off x="8667976" y="2255818"/>
                <a:ext cx="81247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mdoc</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(CBOR)</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98" name="テキスト ボックス 97">
                <a:extLst>
                  <a:ext uri="{FF2B5EF4-FFF2-40B4-BE49-F238E27FC236}">
                    <a16:creationId xmlns:a16="http://schemas.microsoft.com/office/drawing/2014/main" id="{FF307FFF-6015-EC90-71FF-B10B2CE8FCEC}"/>
                  </a:ext>
                </a:extLst>
              </p:cNvPr>
              <p:cNvSpPr txBox="1"/>
              <p:nvPr/>
            </p:nvSpPr>
            <p:spPr bwMode="gray">
              <a:xfrm>
                <a:off x="7883256" y="2255818"/>
                <a:ext cx="722909"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LDP-VC</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JSON</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a:t>
                </a:r>
              </a:p>
            </p:txBody>
          </p:sp>
        </p:grpSp>
        <p:sp>
          <p:nvSpPr>
            <p:cNvPr id="99" name="テキスト ボックス 98">
              <a:extLst>
                <a:ext uri="{FF2B5EF4-FFF2-40B4-BE49-F238E27FC236}">
                  <a16:creationId xmlns:a16="http://schemas.microsoft.com/office/drawing/2014/main" id="{E9A0274C-449B-AAD7-4F62-2F2F81785E1B}"/>
                </a:ext>
              </a:extLst>
            </p:cNvPr>
            <p:cNvSpPr txBox="1"/>
            <p:nvPr/>
          </p:nvSpPr>
          <p:spPr bwMode="gray">
            <a:xfrm>
              <a:off x="5451507" y="2247702"/>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フォーマット</a:t>
              </a:r>
            </a:p>
          </p:txBody>
        </p:sp>
        <p:sp>
          <p:nvSpPr>
            <p:cNvPr id="100" name="テキスト ボックス 99">
              <a:extLst>
                <a:ext uri="{FF2B5EF4-FFF2-40B4-BE49-F238E27FC236}">
                  <a16:creationId xmlns:a16="http://schemas.microsoft.com/office/drawing/2014/main" id="{D49E0144-03E1-EC36-7649-75402C0EDEBA}"/>
                </a:ext>
              </a:extLst>
            </p:cNvPr>
            <p:cNvSpPr txBox="1"/>
            <p:nvPr/>
          </p:nvSpPr>
          <p:spPr bwMode="gray">
            <a:xfrm>
              <a:off x="5451507" y="4224179"/>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エンティティ間の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通信プロトコル</a:t>
              </a:r>
            </a:p>
          </p:txBody>
        </p:sp>
        <p:sp>
          <p:nvSpPr>
            <p:cNvPr id="101" name="テキスト ボックス 100">
              <a:extLst>
                <a:ext uri="{FF2B5EF4-FFF2-40B4-BE49-F238E27FC236}">
                  <a16:creationId xmlns:a16="http://schemas.microsoft.com/office/drawing/2014/main" id="{7DD45EE0-2BA9-9353-6AA4-A841396C8C94}"/>
                </a:ext>
              </a:extLst>
            </p:cNvPr>
            <p:cNvSpPr txBox="1"/>
            <p:nvPr/>
          </p:nvSpPr>
          <p:spPr bwMode="gray">
            <a:xfrm>
              <a:off x="5451507" y="4718170"/>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a:ln>
                    <a:noFill/>
                  </a:ln>
                  <a:solidFill>
                    <a:prstClr val="black"/>
                  </a:solidFill>
                  <a:effectLst/>
                  <a:uLnTx/>
                  <a:uFillTx/>
                  <a:latin typeface="+mn-ea"/>
                  <a:ea typeface="+mn-ea"/>
                  <a:cs typeface="+mn-cs"/>
                </a:rPr>
                <a:t>通信</a:t>
              </a:r>
              <a:r>
                <a:rPr kumimoji="1" lang="en-US" altLang="ja-JP" sz="1200" b="0" i="0" u="none" strike="noStrike" kern="0" cap="none" spc="0" normalizeH="0" baseline="0" noProof="0">
                  <a:ln>
                    <a:noFill/>
                  </a:ln>
                  <a:solidFill>
                    <a:prstClr val="black"/>
                  </a:solidFill>
                  <a:effectLst/>
                  <a:uLnTx/>
                  <a:uFillTx/>
                  <a:latin typeface="+mn-ea"/>
                  <a:ea typeface="+mn-ea"/>
                  <a:cs typeface="+mn-cs"/>
                </a:rPr>
                <a:t>I/F</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0" i="0" u="none" strike="noStrike" kern="0" cap="none" spc="0" normalizeH="0" baseline="0" noProof="0">
                  <a:ln>
                    <a:noFill/>
                  </a:ln>
                  <a:solidFill>
                    <a:prstClr val="black"/>
                  </a:solidFill>
                  <a:effectLst/>
                  <a:uLnTx/>
                  <a:uFillTx/>
                  <a:latin typeface="+mn-ea"/>
                  <a:ea typeface="+mn-ea"/>
                  <a:cs typeface="+mn-cs"/>
                </a:rPr>
                <a:t>(</a:t>
              </a:r>
              <a:r>
                <a:rPr kumimoji="1" lang="ja-JP" altLang="en-US" sz="1200" b="0" i="0" u="none" strike="noStrike" kern="0" cap="none" spc="0" normalizeH="0" baseline="0" noProof="0">
                  <a:ln>
                    <a:noFill/>
                  </a:ln>
                  <a:solidFill>
                    <a:prstClr val="black"/>
                  </a:solidFill>
                  <a:effectLst/>
                  <a:uLnTx/>
                  <a:uFillTx/>
                  <a:latin typeface="+mn-ea"/>
                  <a:ea typeface="+mn-ea"/>
                  <a:cs typeface="+mn-cs"/>
                </a:rPr>
                <a:t>デバイス連携</a:t>
              </a:r>
              <a:r>
                <a:rPr kumimoji="1" lang="en-US" altLang="ja-JP" sz="1200" b="0" i="0" u="none" strike="noStrike" kern="0" cap="none" spc="0" normalizeH="0" baseline="0" noProof="0">
                  <a:ln>
                    <a:noFill/>
                  </a:ln>
                  <a:solidFill>
                    <a:prstClr val="black"/>
                  </a:solidFill>
                  <a:effectLst/>
                  <a:uLnTx/>
                  <a:uFillTx/>
                  <a:latin typeface="+mn-ea"/>
                  <a:ea typeface="+mn-ea"/>
                  <a:cs typeface="+mn-cs"/>
                </a:rPr>
                <a:t>)</a:t>
              </a:r>
            </a:p>
          </p:txBody>
        </p:sp>
        <p:sp>
          <p:nvSpPr>
            <p:cNvPr id="102" name="テキスト ボックス 101">
              <a:extLst>
                <a:ext uri="{FF2B5EF4-FFF2-40B4-BE49-F238E27FC236}">
                  <a16:creationId xmlns:a16="http://schemas.microsoft.com/office/drawing/2014/main" id="{AE588482-B41E-7B84-4E72-8CEE5979B01F}"/>
                </a:ext>
              </a:extLst>
            </p:cNvPr>
            <p:cNvSpPr txBox="1"/>
            <p:nvPr/>
          </p:nvSpPr>
          <p:spPr bwMode="gray">
            <a:xfrm>
              <a:off x="5451507" y="6200143"/>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a:ln>
                    <a:noFill/>
                  </a:ln>
                  <a:solidFill>
                    <a:prstClr val="black"/>
                  </a:solidFill>
                  <a:effectLst/>
                  <a:uLnTx/>
                  <a:uFillTx/>
                  <a:latin typeface="+mn-ea"/>
                  <a:ea typeface="+mn-ea"/>
                  <a:cs typeface="+mn-cs"/>
                </a:rPr>
                <a:t>名前解決</a:t>
              </a:r>
              <a:endParaRPr kumimoji="1" lang="en-US" altLang="ja-JP" sz="1200" b="0" i="0" u="none" strike="noStrike" kern="0" cap="none" spc="0" normalizeH="0" baseline="0" noProof="0">
                <a:ln>
                  <a:noFill/>
                </a:ln>
                <a:solidFill>
                  <a:prstClr val="black"/>
                </a:solidFill>
                <a:effectLst/>
                <a:uLnTx/>
                <a:uFillTx/>
                <a:latin typeface="+mn-ea"/>
                <a:ea typeface="+mn-ea"/>
                <a:cs typeface="+mn-cs"/>
              </a:endParaRPr>
            </a:p>
          </p:txBody>
        </p:sp>
        <p:sp>
          <p:nvSpPr>
            <p:cNvPr id="103" name="テキスト ボックス 102">
              <a:extLst>
                <a:ext uri="{FF2B5EF4-FFF2-40B4-BE49-F238E27FC236}">
                  <a16:creationId xmlns:a16="http://schemas.microsoft.com/office/drawing/2014/main" id="{21DF3862-2E98-FB74-8F06-B5BD33A3D420}"/>
                </a:ext>
              </a:extLst>
            </p:cNvPr>
            <p:cNvSpPr txBox="1"/>
            <p:nvPr/>
          </p:nvSpPr>
          <p:spPr bwMode="gray">
            <a:xfrm>
              <a:off x="5451371" y="274169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実現方式</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04" name="テキスト ボックス 103">
              <a:extLst>
                <a:ext uri="{FF2B5EF4-FFF2-40B4-BE49-F238E27FC236}">
                  <a16:creationId xmlns:a16="http://schemas.microsoft.com/office/drawing/2014/main" id="{F5F5D418-1C60-DDC7-A1D8-02AC2FFDD407}"/>
                </a:ext>
              </a:extLst>
            </p:cNvPr>
            <p:cNvSpPr txBox="1"/>
            <p:nvPr/>
          </p:nvSpPr>
          <p:spPr bwMode="gray">
            <a:xfrm>
              <a:off x="5451371" y="3235685"/>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署名方式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05" name="テキスト ボックス 104">
              <a:extLst>
                <a:ext uri="{FF2B5EF4-FFF2-40B4-BE49-F238E27FC236}">
                  <a16:creationId xmlns:a16="http://schemas.microsoft.com/office/drawing/2014/main" id="{D1F6DD7B-C592-DDD0-8185-C9B2BAD77A10}"/>
                </a:ext>
              </a:extLst>
            </p:cNvPr>
            <p:cNvSpPr txBox="1"/>
            <p:nvPr/>
          </p:nvSpPr>
          <p:spPr bwMode="gray">
            <a:xfrm>
              <a:off x="5451507" y="1753711"/>
              <a:ext cx="1589367"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106" name="テキスト ボックス 105">
              <a:extLst>
                <a:ext uri="{FF2B5EF4-FFF2-40B4-BE49-F238E27FC236}">
                  <a16:creationId xmlns:a16="http://schemas.microsoft.com/office/drawing/2014/main" id="{4F51F7BE-4CE0-C79C-0FD6-652E983B0672}"/>
                </a:ext>
              </a:extLst>
            </p:cNvPr>
            <p:cNvSpPr txBox="1"/>
            <p:nvPr/>
          </p:nvSpPr>
          <p:spPr bwMode="gray">
            <a:xfrm>
              <a:off x="5451507" y="3730188"/>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検証者に提供する</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107" name="テキスト ボックス 106">
              <a:extLst>
                <a:ext uri="{FF2B5EF4-FFF2-40B4-BE49-F238E27FC236}">
                  <a16:creationId xmlns:a16="http://schemas.microsoft.com/office/drawing/2014/main" id="{24954B25-1D21-12EA-EA96-5BA8C5214610}"/>
                </a:ext>
              </a:extLst>
            </p:cNvPr>
            <p:cNvSpPr txBox="1"/>
            <p:nvPr/>
          </p:nvSpPr>
          <p:spPr bwMode="gray">
            <a:xfrm>
              <a:off x="5451507" y="521216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システムアクセスの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ための識別子</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08" name="テキスト ボックス 107">
              <a:extLst>
                <a:ext uri="{FF2B5EF4-FFF2-40B4-BE49-F238E27FC236}">
                  <a16:creationId xmlns:a16="http://schemas.microsoft.com/office/drawing/2014/main" id="{F668C234-EC69-3F3B-C271-E30DCF4252F9}"/>
                </a:ext>
              </a:extLst>
            </p:cNvPr>
            <p:cNvSpPr txBox="1"/>
            <p:nvPr/>
          </p:nvSpPr>
          <p:spPr bwMode="gray">
            <a:xfrm>
              <a:off x="5451507" y="5706152"/>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DID Document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格納方式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ストレージ</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p>
          </p:txBody>
        </p:sp>
        <p:sp>
          <p:nvSpPr>
            <p:cNvPr id="109" name="正方形/長方形 108">
              <a:extLst>
                <a:ext uri="{FF2B5EF4-FFF2-40B4-BE49-F238E27FC236}">
                  <a16:creationId xmlns:a16="http://schemas.microsoft.com/office/drawing/2014/main" id="{3FF6FF1A-C3ED-454D-5549-882283015EE9}"/>
                </a:ext>
              </a:extLst>
            </p:cNvPr>
            <p:cNvSpPr/>
            <p:nvPr/>
          </p:nvSpPr>
          <p:spPr bwMode="gray">
            <a:xfrm>
              <a:off x="5146162" y="1753711"/>
              <a:ext cx="259023" cy="2372477"/>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110" name="正方形/長方形 109">
              <a:extLst>
                <a:ext uri="{FF2B5EF4-FFF2-40B4-BE49-F238E27FC236}">
                  <a16:creationId xmlns:a16="http://schemas.microsoft.com/office/drawing/2014/main" id="{9B90AD94-90DA-8B55-A414-B1A5A53CAD94}"/>
                </a:ext>
              </a:extLst>
            </p:cNvPr>
            <p:cNvSpPr/>
            <p:nvPr/>
          </p:nvSpPr>
          <p:spPr bwMode="gray">
            <a:xfrm>
              <a:off x="5146162" y="4224179"/>
              <a:ext cx="259023" cy="889991"/>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Agent Layer</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111" name="正方形/長方形 110">
              <a:extLst>
                <a:ext uri="{FF2B5EF4-FFF2-40B4-BE49-F238E27FC236}">
                  <a16:creationId xmlns:a16="http://schemas.microsoft.com/office/drawing/2014/main" id="{CD26121D-7EDF-BF98-8566-FD3C47DB87D0}"/>
                </a:ext>
              </a:extLst>
            </p:cNvPr>
            <p:cNvSpPr/>
            <p:nvPr/>
          </p:nvSpPr>
          <p:spPr bwMode="gray">
            <a:xfrm>
              <a:off x="5146162" y="5204018"/>
              <a:ext cx="259023" cy="1393632"/>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112" name="テキスト ボックス 111">
              <a:extLst>
                <a:ext uri="{FF2B5EF4-FFF2-40B4-BE49-F238E27FC236}">
                  <a16:creationId xmlns:a16="http://schemas.microsoft.com/office/drawing/2014/main" id="{676B1264-2EC0-CC4F-38B8-39CF63751A88}"/>
                </a:ext>
              </a:extLst>
            </p:cNvPr>
            <p:cNvSpPr txBox="1"/>
            <p:nvPr/>
          </p:nvSpPr>
          <p:spPr bwMode="gray">
            <a:xfrm>
              <a:off x="7086925" y="2742750"/>
              <a:ext cx="239353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effectLst/>
                  <a:uLnTx/>
                  <a:uFillTx/>
                  <a:latin typeface="+mn-ea"/>
                  <a:ea typeface="+mn-ea"/>
                  <a:cs typeface="Arial" charset="0"/>
                </a:rPr>
                <a:t>(SD-JWT</a:t>
              </a:r>
              <a:r>
                <a:rPr kumimoji="0" lang="ja-JP" altLang="en-US" sz="1200" b="0" i="0" u="none" strike="noStrike" kern="0" cap="none" spc="0" normalizeH="0" baseline="0" noProof="0" dirty="0">
                  <a:ln>
                    <a:noFill/>
                  </a:ln>
                  <a:effectLst/>
                  <a:uLnTx/>
                  <a:uFillTx/>
                  <a:latin typeface="+mn-ea"/>
                  <a:ea typeface="+mn-ea"/>
                  <a:cs typeface="Arial" charset="0"/>
                </a:rPr>
                <a:t> ゼロ知識証明は</a:t>
              </a:r>
              <a:r>
                <a:rPr kumimoji="0" lang="ja-JP" altLang="en-US" sz="1200" kern="0" dirty="0">
                  <a:latin typeface="+mn-ea"/>
                  <a:ea typeface="+mn-ea"/>
                  <a:cs typeface="Arial" charset="0"/>
                </a:rPr>
                <a:t>オプション</a:t>
              </a:r>
              <a:r>
                <a:rPr kumimoji="0" lang="en-US" altLang="ja-JP" sz="1200" b="0" i="0" u="none" strike="noStrike" kern="0" cap="none" spc="0" normalizeH="0" baseline="0" noProof="0" dirty="0">
                  <a:ln>
                    <a:noFill/>
                  </a:ln>
                  <a:effectLst/>
                  <a:uLnTx/>
                  <a:uFillTx/>
                  <a:latin typeface="+mn-ea"/>
                  <a:ea typeface="+mn-ea"/>
                  <a:cs typeface="Arial" charset="0"/>
                </a:rPr>
                <a:t>)</a:t>
              </a:r>
              <a:endParaRPr kumimoji="0" lang="ja-JP" altLang="en-US" sz="1200" b="0" i="0" u="none" strike="noStrike" kern="0" cap="none" spc="0" normalizeH="0" baseline="0" noProof="0" dirty="0">
                <a:ln>
                  <a:noFill/>
                </a:ln>
                <a:effectLst/>
                <a:uLnTx/>
                <a:uFillTx/>
                <a:latin typeface="+mn-ea"/>
                <a:ea typeface="+mn-ea"/>
                <a:cs typeface="Arial" charset="0"/>
              </a:endParaRPr>
            </a:p>
          </p:txBody>
        </p:sp>
        <p:sp>
          <p:nvSpPr>
            <p:cNvPr id="113" name="テキスト ボックス 112">
              <a:extLst>
                <a:ext uri="{FF2B5EF4-FFF2-40B4-BE49-F238E27FC236}">
                  <a16:creationId xmlns:a16="http://schemas.microsoft.com/office/drawing/2014/main" id="{562BFE51-CD2D-AFC8-5309-16A8064C3F13}"/>
                </a:ext>
              </a:extLst>
            </p:cNvPr>
            <p:cNvSpPr txBox="1"/>
            <p:nvPr/>
          </p:nvSpPr>
          <p:spPr bwMode="gray">
            <a:xfrm>
              <a:off x="7086925" y="3236798"/>
              <a:ext cx="239353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ECDSA/</a:t>
              </a: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EdDSA</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grpSp>
      <p:sp>
        <p:nvSpPr>
          <p:cNvPr id="116" name="コンテンツ プレースホルダー 2">
            <a:extLst>
              <a:ext uri="{FF2B5EF4-FFF2-40B4-BE49-F238E27FC236}">
                <a16:creationId xmlns:a16="http://schemas.microsoft.com/office/drawing/2014/main" id="{3D96030D-CEBD-EC90-1A38-ABDF95DD02D6}"/>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a:t>ARF</a:t>
            </a:r>
            <a:r>
              <a:rPr kumimoji="1" lang="ja-JP" altLang="en-US" dirty="0"/>
              <a:t>はその目的として</a:t>
            </a:r>
            <a:r>
              <a:rPr kumimoji="1" lang="en-US" altLang="ja-JP" dirty="0"/>
              <a:t>EUDI</a:t>
            </a:r>
            <a:r>
              <a:rPr kumimoji="1" lang="ja-JP" altLang="en-US" dirty="0"/>
              <a:t>ウォレット中心の仕様、エコシステムの各アクターの役割、ウォレットの機能要件および非機能要件等を定義している。</a:t>
            </a:r>
          </a:p>
        </p:txBody>
      </p:sp>
      <p:sp>
        <p:nvSpPr>
          <p:cNvPr id="4" name="テキスト ボックス 3">
            <a:extLst>
              <a:ext uri="{FF2B5EF4-FFF2-40B4-BE49-F238E27FC236}">
                <a16:creationId xmlns:a16="http://schemas.microsoft.com/office/drawing/2014/main" id="{D3DD9023-18CB-867B-E3D3-13F168C02A34}"/>
              </a:ext>
            </a:extLst>
          </p:cNvPr>
          <p:cNvSpPr txBox="1"/>
          <p:nvPr/>
        </p:nvSpPr>
        <p:spPr>
          <a:xfrm>
            <a:off x="273050" y="6475026"/>
            <a:ext cx="8676741" cy="138499"/>
          </a:xfrm>
          <a:prstGeom prst="rect">
            <a:avLst/>
          </a:prstGeom>
          <a:noFill/>
        </p:spPr>
        <p:txBody>
          <a:bodyPr wrap="square" lIns="0" tIns="0" rIns="0" bIns="0" rtlCol="0">
            <a:spAutoFit/>
          </a:bodyPr>
          <a:lstStyle/>
          <a:p>
            <a:r>
              <a:rPr kumimoji="1" lang="ja-JP" altLang="en-US" sz="900" dirty="0">
                <a:latin typeface="+mn-ea"/>
                <a:ea typeface="+mn-ea"/>
              </a:rPr>
              <a:t>出所：</a:t>
            </a:r>
            <a:r>
              <a:rPr kumimoji="1" lang="en-US" altLang="ja-JP" sz="900" dirty="0">
                <a:latin typeface="+mn-ea"/>
                <a:ea typeface="+mn-ea"/>
                <a:hlinkClick r:id="rId3"/>
              </a:rPr>
              <a:t>https://digital-strategy.ec.europa.eu/en/library/european-digital-identity-wallet-architecture-and-reference-framework</a:t>
            </a:r>
            <a:endParaRPr kumimoji="1" lang="ja-JP" altLang="en-US" sz="900" dirty="0">
              <a:latin typeface="+mn-ea"/>
              <a:ea typeface="+mn-ea"/>
            </a:endParaRPr>
          </a:p>
        </p:txBody>
      </p:sp>
    </p:spTree>
    <p:extLst>
      <p:ext uri="{BB962C8B-B14F-4D97-AF65-F5344CB8AC3E}">
        <p14:creationId xmlns:p14="http://schemas.microsoft.com/office/powerpoint/2010/main" val="39706125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04CC9B-2F94-3302-42E2-5D9181115F7A}"/>
              </a:ext>
            </a:extLst>
          </p:cNvPr>
          <p:cNvSpPr>
            <a:spLocks noGrp="1"/>
          </p:cNvSpPr>
          <p:nvPr>
            <p:ph type="title"/>
          </p:nvPr>
        </p:nvSpPr>
        <p:spPr/>
        <p:txBody>
          <a:bodyPr/>
          <a:lstStyle/>
          <a:p>
            <a:r>
              <a:rPr kumimoji="1" lang="en-US" altLang="ja-JP" dirty="0"/>
              <a:t>6.1. </a:t>
            </a:r>
            <a:r>
              <a:rPr kumimoji="1" lang="ja-JP" altLang="en-US" dirty="0"/>
              <a:t>サービス </a:t>
            </a:r>
            <a:r>
              <a:rPr kumimoji="1" lang="en-US" altLang="ja-JP" dirty="0"/>
              <a:t>–</a:t>
            </a:r>
            <a:r>
              <a:rPr kumimoji="1" lang="ja-JP" altLang="en-US" dirty="0"/>
              <a:t> </a:t>
            </a:r>
            <a:r>
              <a:rPr kumimoji="1" lang="en-US" altLang="ja-JP" dirty="0"/>
              <a:t>6.1.2. </a:t>
            </a:r>
            <a:r>
              <a:rPr kumimoji="1" lang="ja-JP" altLang="en-US" dirty="0"/>
              <a:t>サービス実装詳細 </a:t>
            </a:r>
            <a:r>
              <a:rPr kumimoji="1" lang="en-US" altLang="ja-JP" dirty="0"/>
              <a:t>(2)</a:t>
            </a:r>
            <a:r>
              <a:rPr kumimoji="1" lang="ja-JP" altLang="en-US" dirty="0"/>
              <a:t> </a:t>
            </a:r>
            <a:r>
              <a:rPr kumimoji="1" lang="en-US" altLang="ja-JP" dirty="0"/>
              <a:t>Lissi</a:t>
            </a:r>
            <a:endParaRPr kumimoji="1" lang="ja-JP" altLang="en-US" dirty="0"/>
          </a:p>
        </p:txBody>
      </p:sp>
      <p:sp>
        <p:nvSpPr>
          <p:cNvPr id="3" name="テキスト プレースホルダー 2">
            <a:extLst>
              <a:ext uri="{FF2B5EF4-FFF2-40B4-BE49-F238E27FC236}">
                <a16:creationId xmlns:a16="http://schemas.microsoft.com/office/drawing/2014/main" id="{C60FBB8B-5127-581A-736A-B90633403AAD}"/>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4" name="表 11">
            <a:extLst>
              <a:ext uri="{FF2B5EF4-FFF2-40B4-BE49-F238E27FC236}">
                <a16:creationId xmlns:a16="http://schemas.microsoft.com/office/drawing/2014/main" id="{1B8A49E3-3D37-54B5-6F52-58A1A7DE81FF}"/>
              </a:ext>
            </a:extLst>
          </p:cNvPr>
          <p:cNvGraphicFramePr>
            <a:graphicFrameLocks noGrp="1"/>
          </p:cNvGraphicFramePr>
          <p:nvPr>
            <p:extLst>
              <p:ext uri="{D42A27DB-BD31-4B8C-83A1-F6EECF244321}">
                <p14:modId xmlns:p14="http://schemas.microsoft.com/office/powerpoint/2010/main" val="1810692856"/>
              </p:ext>
            </p:extLst>
          </p:nvPr>
        </p:nvGraphicFramePr>
        <p:xfrm>
          <a:off x="283221" y="1751250"/>
          <a:ext cx="4490392" cy="4077071"/>
        </p:xfrm>
        <a:graphic>
          <a:graphicData uri="http://schemas.openxmlformats.org/drawingml/2006/table">
            <a:tbl>
              <a:tblPr firstRow="1" bandRow="1"/>
              <a:tblGrid>
                <a:gridCol w="1100517">
                  <a:extLst>
                    <a:ext uri="{9D8B030D-6E8A-4147-A177-3AD203B41FA5}">
                      <a16:colId xmlns:a16="http://schemas.microsoft.com/office/drawing/2014/main" val="840277757"/>
                    </a:ext>
                  </a:extLst>
                </a:gridCol>
                <a:gridCol w="3389875">
                  <a:extLst>
                    <a:ext uri="{9D8B030D-6E8A-4147-A177-3AD203B41FA5}">
                      <a16:colId xmlns:a16="http://schemas.microsoft.com/office/drawing/2014/main" val="2286964954"/>
                    </a:ext>
                  </a:extLst>
                </a:gridCol>
              </a:tblGrid>
              <a:tr h="124832">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開発元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algn="l" defTabSz="914400" rtl="0" eaLnBrk="1" latinLnBrk="0" hangingPunct="1"/>
                      <a:r>
                        <a:rPr kumimoji="1" lang="en-US" altLang="ja-JP" sz="1200" kern="1200">
                          <a:solidFill>
                            <a:schemeClr val="tx1"/>
                          </a:solidFill>
                          <a:latin typeface="+mn-ea"/>
                          <a:ea typeface="+mn-ea"/>
                          <a:cs typeface="+mn-cs"/>
                        </a:rPr>
                        <a:t>Lissi GmbH</a:t>
                      </a:r>
                      <a:endParaRPr kumimoji="1" lang="en-US" altLang="ja-JP" sz="1200" kern="1200" dirty="0">
                        <a:solidFill>
                          <a:schemeClr val="tx1"/>
                        </a:solidFill>
                        <a:latin typeface="+mn-ea"/>
                        <a:ea typeface="+mn-ea"/>
                        <a:cs typeface="+mn-cs"/>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37991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サービス概要</a:t>
                      </a:r>
                      <a:endParaRPr lang="en-US" altLang="ja-JP" sz="120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buFont typeface="Arial" panose="020B0604020202020204" pitchFamily="34" charset="0"/>
                        <a:buChar char="•"/>
                      </a:pPr>
                      <a:r>
                        <a:rPr lang="en-US" altLang="ja-JP" sz="1200">
                          <a:effectLst/>
                          <a:latin typeface="+mn-ea"/>
                          <a:ea typeface="+mn-ea"/>
                        </a:rPr>
                        <a:t>eIDAS2.0</a:t>
                      </a:r>
                      <a:r>
                        <a:rPr lang="ja-JP" altLang="en-US" sz="1200">
                          <a:effectLst/>
                          <a:latin typeface="+mn-ea"/>
                          <a:ea typeface="+mn-ea"/>
                        </a:rPr>
                        <a:t>に準拠しているウォレットを提供</a:t>
                      </a:r>
                      <a:endParaRPr lang="en-US" altLang="ja-JP" sz="1200">
                        <a:effectLst/>
                        <a:latin typeface="+mn-ea"/>
                        <a:ea typeface="+mn-ea"/>
                      </a:endParaRPr>
                    </a:p>
                    <a:p>
                      <a:pPr marL="171450" indent="-171450">
                        <a:buFont typeface="Arial" panose="020B0604020202020204" pitchFamily="34" charset="0"/>
                        <a:buChar char="•"/>
                      </a:pPr>
                      <a:r>
                        <a:rPr kumimoji="1" lang="en-US" altLang="ja-JP" sz="1200" kern="1200">
                          <a:solidFill>
                            <a:schemeClr val="tx1"/>
                          </a:solidFill>
                          <a:effectLst/>
                          <a:latin typeface="+mn-ea"/>
                          <a:ea typeface="Yu Gothic UI"/>
                          <a:cs typeface="+mn-cs"/>
                        </a:rPr>
                        <a:t>IDunion(</a:t>
                      </a:r>
                      <a:r>
                        <a:rPr kumimoji="1" lang="ja-JP" altLang="en-US" sz="1200" kern="1200">
                          <a:solidFill>
                            <a:schemeClr val="tx1"/>
                          </a:solidFill>
                          <a:effectLst/>
                          <a:latin typeface="+mn-ea"/>
                          <a:ea typeface="Yu Gothic UI"/>
                          <a:cs typeface="+mn-cs"/>
                        </a:rPr>
                        <a:t>ドイツ</a:t>
                      </a:r>
                      <a:r>
                        <a:rPr kumimoji="1" lang="en-US" altLang="ja-JP" sz="1200" kern="1200">
                          <a:solidFill>
                            <a:schemeClr val="tx1"/>
                          </a:solidFill>
                          <a:effectLst/>
                          <a:latin typeface="+mn-ea"/>
                          <a:ea typeface="Yu Gothic UI"/>
                          <a:cs typeface="+mn-cs"/>
                        </a:rPr>
                        <a:t>)</a:t>
                      </a:r>
                      <a:r>
                        <a:rPr kumimoji="1" lang="ja-JP" altLang="en-US" sz="1200" kern="1200">
                          <a:solidFill>
                            <a:schemeClr val="tx1"/>
                          </a:solidFill>
                          <a:effectLst/>
                          <a:latin typeface="+mn-ea"/>
                          <a:ea typeface="Yu Gothic UI"/>
                          <a:cs typeface="+mn-cs"/>
                        </a:rPr>
                        <a:t>の</a:t>
                      </a:r>
                      <a:r>
                        <a:rPr kumimoji="1" lang="en-US" altLang="ja-JP" sz="1200" kern="1200">
                          <a:solidFill>
                            <a:schemeClr val="tx1"/>
                          </a:solidFill>
                          <a:effectLst/>
                          <a:latin typeface="+mn-ea"/>
                          <a:ea typeface="Yu Gothic UI"/>
                          <a:cs typeface="+mn-cs"/>
                        </a:rPr>
                        <a:t>IDunion</a:t>
                      </a:r>
                      <a:r>
                        <a:rPr kumimoji="1" lang="ja-JP" altLang="en-US" sz="1200" kern="1200">
                          <a:solidFill>
                            <a:schemeClr val="tx1"/>
                          </a:solidFill>
                          <a:effectLst/>
                          <a:latin typeface="+mn-ea"/>
                          <a:ea typeface="Yu Gothic UI"/>
                          <a:cs typeface="+mn-cs"/>
                        </a:rPr>
                        <a:t>ネットワークをサポート</a:t>
                      </a:r>
                      <a:endParaRPr lang="en-US" altLang="ja-JP" sz="1200" dirty="0">
                        <a:effectLst/>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44550905"/>
                  </a:ext>
                </a:extLst>
              </a:tr>
              <a:tr h="15841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利用事例</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lang="ja-JP" altLang="en-US" sz="1200" dirty="0">
                          <a:effectLst/>
                          <a:latin typeface="+mn-ea"/>
                          <a:ea typeface="+mn-ea"/>
                        </a:rPr>
                        <a:t>顧客の会員証</a:t>
                      </a:r>
                      <a:endParaRPr lang="en-US" altLang="ja-JP" sz="1200" dirty="0">
                        <a:effectLst/>
                        <a:latin typeface="+mn-ea"/>
                        <a:ea typeface="+mn-ea"/>
                      </a:endParaRPr>
                    </a:p>
                    <a:p>
                      <a:pPr marL="171450" indent="-171450">
                        <a:spcBef>
                          <a:spcPts val="600"/>
                        </a:spcBef>
                        <a:buFont typeface="Arial" panose="020B0604020202020204" pitchFamily="34" charset="0"/>
                        <a:buChar char="•"/>
                      </a:pPr>
                      <a:r>
                        <a:rPr lang="ja-JP" altLang="en-US" sz="1200" dirty="0">
                          <a:effectLst/>
                          <a:latin typeface="+mn-ea"/>
                          <a:ea typeface="+mn-ea"/>
                        </a:rPr>
                        <a:t>従業員の資格証</a:t>
                      </a:r>
                      <a:endParaRPr lang="en-US" altLang="ja-JP" sz="1200" dirty="0">
                        <a:effectLst/>
                        <a:latin typeface="+mn-ea"/>
                        <a:ea typeface="+mn-ea"/>
                      </a:endParaRPr>
                    </a:p>
                    <a:p>
                      <a:pPr marL="171450" indent="-171450">
                        <a:spcBef>
                          <a:spcPts val="600"/>
                        </a:spcBef>
                        <a:buFont typeface="Arial" panose="020B0604020202020204" pitchFamily="34" charset="0"/>
                        <a:buChar char="•"/>
                      </a:pPr>
                      <a:r>
                        <a:rPr lang="ja-JP" altLang="en-US" sz="1200" dirty="0">
                          <a:effectLst/>
                          <a:latin typeface="+mn-ea"/>
                          <a:ea typeface="+mn-ea"/>
                        </a:rPr>
                        <a:t>従業員・顧客の</a:t>
                      </a:r>
                      <a:r>
                        <a:rPr lang="en-US" altLang="ja-JP" sz="1200" dirty="0">
                          <a:effectLst/>
                          <a:latin typeface="+mn-ea"/>
                          <a:ea typeface="+mn-ea"/>
                        </a:rPr>
                        <a:t>ID</a:t>
                      </a:r>
                      <a:r>
                        <a:rPr lang="ja-JP" altLang="en-US" sz="1200" dirty="0">
                          <a:effectLst/>
                          <a:latin typeface="+mn-ea"/>
                          <a:ea typeface="+mn-ea"/>
                        </a:rPr>
                        <a:t>アクセスマネジメント</a:t>
                      </a:r>
                      <a:endParaRPr lang="en-US" altLang="ja-JP" sz="1200" dirty="0">
                        <a:effectLst/>
                        <a:latin typeface="+mn-ea"/>
                        <a:ea typeface="+mn-ea"/>
                      </a:endParaRPr>
                    </a:p>
                    <a:p>
                      <a:pPr marL="0" indent="0">
                        <a:spcBef>
                          <a:spcPts val="600"/>
                        </a:spcBef>
                        <a:buFont typeface="Arial" panose="020B0604020202020204" pitchFamily="34" charset="0"/>
                        <a:buNone/>
                      </a:pPr>
                      <a:r>
                        <a:rPr lang="en-US" altLang="ja-JP" sz="1200" dirty="0">
                          <a:effectLst/>
                          <a:latin typeface="+mn-ea"/>
                          <a:ea typeface="+mn-ea"/>
                        </a:rPr>
                        <a:t>※30</a:t>
                      </a:r>
                      <a:r>
                        <a:rPr lang="ja-JP" altLang="en-US" sz="1200" dirty="0">
                          <a:effectLst/>
                          <a:latin typeface="+mn-ea"/>
                          <a:ea typeface="+mn-ea"/>
                        </a:rPr>
                        <a:t>ほどのユースケース事例があると記載されている</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78474215"/>
                  </a:ext>
                </a:extLst>
              </a:tr>
              <a:tr h="282311">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n-ea"/>
                          <a:ea typeface="+mn-ea"/>
                          <a:cs typeface="+mn-cs"/>
                        </a:rPr>
                        <a:t>関与</a:t>
                      </a:r>
                      <a:r>
                        <a:rPr kumimoji="1" lang="en-US" altLang="ja-JP" sz="1200" kern="1200" dirty="0">
                          <a:solidFill>
                            <a:schemeClr val="tx1"/>
                          </a:solidFill>
                          <a:latin typeface="+mn-ea"/>
                          <a:ea typeface="+mn-ea"/>
                          <a:cs typeface="+mn-cs"/>
                        </a:rPr>
                        <a:t>/</a:t>
                      </a:r>
                      <a:r>
                        <a:rPr kumimoji="1" lang="ja-JP" altLang="en-US" sz="1200" kern="1200" dirty="0">
                          <a:solidFill>
                            <a:schemeClr val="tx1"/>
                          </a:solidFill>
                          <a:latin typeface="+mn-ea"/>
                          <a:ea typeface="+mn-ea"/>
                          <a:cs typeface="+mn-cs"/>
                        </a:rPr>
                        <a:t>参照している主要規格団体・フレームワーク</a:t>
                      </a:r>
                      <a:endParaRPr kumimoji="1" lang="en-US" altLang="ja-JP" sz="1200" kern="1200" dirty="0">
                        <a:solidFill>
                          <a:schemeClr val="tx1"/>
                        </a:solidFill>
                        <a:latin typeface="+mn-ea"/>
                        <a:ea typeface="+mn-ea"/>
                        <a:cs typeface="+mn-cs"/>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rPr>
                        <a:t>eIDAS2.0</a:t>
                      </a:r>
                    </a:p>
                    <a:p>
                      <a:pPr marL="171450" indent="-171450">
                        <a:spcBef>
                          <a:spcPts val="600"/>
                        </a:spcBef>
                        <a:buFont typeface="Arial" panose="020B0604020202020204" pitchFamily="34" charset="0"/>
                        <a:buChar char="•"/>
                      </a:pPr>
                      <a:r>
                        <a:rPr kumimoji="1" lang="en-US" altLang="ja-JP" sz="1200" dirty="0" err="1">
                          <a:latin typeface="+mn-ea"/>
                          <a:ea typeface="+mn-ea"/>
                        </a:rPr>
                        <a:t>IDUnion</a:t>
                      </a:r>
                      <a:r>
                        <a:rPr kumimoji="1" lang="en-US" altLang="ja-JP" sz="1200" dirty="0">
                          <a:latin typeface="+mn-ea"/>
                          <a:ea typeface="+mn-ea"/>
                        </a:rPr>
                        <a:t> network</a:t>
                      </a:r>
                    </a:p>
                    <a:p>
                      <a:pPr marL="171450" indent="-171450">
                        <a:spcBef>
                          <a:spcPts val="600"/>
                        </a:spcBef>
                        <a:buFont typeface="Arial" panose="020B0604020202020204" pitchFamily="34" charset="0"/>
                        <a:buChar char="•"/>
                      </a:pPr>
                      <a:r>
                        <a:rPr kumimoji="1" lang="en-US" altLang="ja-JP" sz="1200" kern="1200" dirty="0">
                          <a:solidFill>
                            <a:schemeClr val="tx1"/>
                          </a:solidFill>
                          <a:latin typeface="+mn-ea"/>
                          <a:ea typeface="Yu Gothic UI"/>
                          <a:cs typeface="+mn-cs"/>
                        </a:rPr>
                        <a:t>W3C (W3C VC,</a:t>
                      </a:r>
                      <a:r>
                        <a:rPr kumimoji="1" lang="ja-JP" altLang="en-US" sz="1200" kern="1200" dirty="0">
                          <a:solidFill>
                            <a:schemeClr val="tx1"/>
                          </a:solidFill>
                          <a:latin typeface="+mn-ea"/>
                          <a:ea typeface="Yu Gothic UI"/>
                          <a:cs typeface="+mn-cs"/>
                        </a:rPr>
                        <a:t> </a:t>
                      </a:r>
                      <a:r>
                        <a:rPr kumimoji="1" lang="en-US" altLang="ja-JP" sz="1200" kern="1200" dirty="0">
                          <a:solidFill>
                            <a:schemeClr val="tx1"/>
                          </a:solidFill>
                          <a:latin typeface="+mn-ea"/>
                          <a:ea typeface="Yu Gothic UI"/>
                          <a:cs typeface="+mn-cs"/>
                        </a:rPr>
                        <a:t>SD-JWT)</a:t>
                      </a:r>
                    </a:p>
                    <a:p>
                      <a:pPr marL="171450" indent="-171450">
                        <a:spcBef>
                          <a:spcPts val="600"/>
                        </a:spcBef>
                        <a:buFont typeface="Arial" panose="020B0604020202020204" pitchFamily="34" charset="0"/>
                        <a:buChar char="•"/>
                      </a:pPr>
                      <a:r>
                        <a:rPr kumimoji="1" lang="en-US" altLang="ja-JP" sz="1200" kern="1200" dirty="0">
                          <a:solidFill>
                            <a:schemeClr val="tx1"/>
                          </a:solidFill>
                          <a:latin typeface="+mn-ea"/>
                          <a:ea typeface="Yu Gothic UI"/>
                          <a:cs typeface="+mn-cs"/>
                        </a:rPr>
                        <a:t>DIF (</a:t>
                      </a:r>
                      <a:r>
                        <a:rPr kumimoji="1" lang="en-US" altLang="ja-JP" sz="1200" kern="1200" dirty="0" err="1">
                          <a:solidFill>
                            <a:schemeClr val="tx1"/>
                          </a:solidFill>
                          <a:latin typeface="+mn-ea"/>
                          <a:ea typeface="Yu Gothic UI"/>
                          <a:cs typeface="+mn-cs"/>
                        </a:rPr>
                        <a:t>DIDComm</a:t>
                      </a:r>
                      <a:r>
                        <a:rPr kumimoji="1" lang="en-US" altLang="ja-JP" sz="1200" kern="1200" dirty="0">
                          <a:solidFill>
                            <a:schemeClr val="tx1"/>
                          </a:solidFill>
                          <a:latin typeface="+mn-ea"/>
                          <a:ea typeface="Yu Gothic UI"/>
                          <a:cs typeface="+mn-cs"/>
                        </a:rPr>
                        <a:t>)</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rPr>
                        <a:t>OpenID Foundation (OID4VP, SIOPv2)</a:t>
                      </a:r>
                    </a:p>
                    <a:p>
                      <a:pPr marL="171450" indent="-171450">
                        <a:spcBef>
                          <a:spcPts val="600"/>
                        </a:spcBef>
                        <a:buFont typeface="Arial" panose="020B0604020202020204" pitchFamily="34" charset="0"/>
                        <a:buChar char="•"/>
                      </a:pPr>
                      <a:r>
                        <a:rPr kumimoji="1" lang="en-US" altLang="ja-JP" sz="1200" dirty="0">
                          <a:latin typeface="+mn-ea"/>
                          <a:ea typeface="+mn-ea"/>
                        </a:rPr>
                        <a:t>Hyperledger Foundation (</a:t>
                      </a:r>
                      <a:r>
                        <a:rPr kumimoji="1" lang="en-US" altLang="ja-JP" sz="1200" dirty="0" err="1">
                          <a:latin typeface="+mn-ea"/>
                          <a:ea typeface="+mn-ea"/>
                        </a:rPr>
                        <a:t>AnonCreds</a:t>
                      </a:r>
                      <a:r>
                        <a:rPr kumimoji="1" lang="en-US" altLang="ja-JP" sz="1200" dirty="0">
                          <a:latin typeface="+mn-ea"/>
                          <a:ea typeface="+mn-ea"/>
                        </a:rPr>
                        <a:t> / Indy / Aries)</a:t>
                      </a:r>
                    </a:p>
                    <a:p>
                      <a:pPr marL="171450" indent="-171450">
                        <a:spcBef>
                          <a:spcPts val="600"/>
                        </a:spcBef>
                        <a:buFont typeface="Arial" panose="020B0604020202020204" pitchFamily="34" charset="0"/>
                        <a:buChar char="•"/>
                      </a:pPr>
                      <a:r>
                        <a:rPr kumimoji="1" lang="en-US" altLang="ja-JP" sz="1200" dirty="0">
                          <a:latin typeface="+mn-ea"/>
                          <a:ea typeface="+mn-ea"/>
                        </a:rPr>
                        <a:t>ISO/IEC 18013</a:t>
                      </a:r>
                      <a:r>
                        <a:rPr kumimoji="1" lang="ja-JP" altLang="en-US" sz="1200" dirty="0">
                          <a:latin typeface="+mn-ea"/>
                          <a:ea typeface="+mn-ea"/>
                        </a:rPr>
                        <a:t>シリーズ　等</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545442620"/>
                  </a:ext>
                </a:extLst>
              </a:tr>
              <a:tr h="282311">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今後の動向</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N/A</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40510083"/>
                  </a:ext>
                </a:extLst>
              </a:tr>
            </a:tbl>
          </a:graphicData>
        </a:graphic>
      </p:graphicFrame>
      <p:sp>
        <p:nvSpPr>
          <p:cNvPr id="5" name="正方形/長方形 4">
            <a:extLst>
              <a:ext uri="{FF2B5EF4-FFF2-40B4-BE49-F238E27FC236}">
                <a16:creationId xmlns:a16="http://schemas.microsoft.com/office/drawing/2014/main" id="{31583C14-FFC4-5665-454D-26154D06EE0A}"/>
              </a:ext>
            </a:extLst>
          </p:cNvPr>
          <p:cNvSpPr/>
          <p:nvPr/>
        </p:nvSpPr>
        <p:spPr bwMode="gray">
          <a:xfrm>
            <a:off x="5146161" y="1468130"/>
            <a:ext cx="4474001" cy="195644"/>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mn-ea"/>
                <a:ea typeface="+mn-ea"/>
                <a:cs typeface="Arial" charset="0"/>
              </a:rPr>
              <a:t>実装技術スタック詳細</a:t>
            </a:r>
          </a:p>
        </p:txBody>
      </p:sp>
      <p:grpSp>
        <p:nvGrpSpPr>
          <p:cNvPr id="6" name="グループ化 5">
            <a:extLst>
              <a:ext uri="{FF2B5EF4-FFF2-40B4-BE49-F238E27FC236}">
                <a16:creationId xmlns:a16="http://schemas.microsoft.com/office/drawing/2014/main" id="{8D8824D0-D488-69FA-3440-85B7FE8CCBC0}"/>
              </a:ext>
            </a:extLst>
          </p:cNvPr>
          <p:cNvGrpSpPr/>
          <p:nvPr/>
        </p:nvGrpSpPr>
        <p:grpSpPr>
          <a:xfrm>
            <a:off x="5146161" y="1726384"/>
            <a:ext cx="4486789" cy="4643558"/>
            <a:chOff x="5146162" y="1753711"/>
            <a:chExt cx="4348742" cy="4843939"/>
          </a:xfrm>
        </p:grpSpPr>
        <p:sp>
          <p:nvSpPr>
            <p:cNvPr id="7" name="テキスト ボックス 6">
              <a:extLst>
                <a:ext uri="{FF2B5EF4-FFF2-40B4-BE49-F238E27FC236}">
                  <a16:creationId xmlns:a16="http://schemas.microsoft.com/office/drawing/2014/main" id="{EA2CFC0B-03A0-ADDE-1500-50A3B6D56AEA}"/>
                </a:ext>
              </a:extLst>
            </p:cNvPr>
            <p:cNvSpPr txBox="1"/>
            <p:nvPr/>
          </p:nvSpPr>
          <p:spPr bwMode="gray">
            <a:xfrm>
              <a:off x="5451507" y="2247702"/>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フォーマット</a:t>
              </a:r>
            </a:p>
          </p:txBody>
        </p:sp>
        <p:sp>
          <p:nvSpPr>
            <p:cNvPr id="8" name="テキスト ボックス 7">
              <a:extLst>
                <a:ext uri="{FF2B5EF4-FFF2-40B4-BE49-F238E27FC236}">
                  <a16:creationId xmlns:a16="http://schemas.microsoft.com/office/drawing/2014/main" id="{12594FE3-FA21-9329-25D5-CEDB77722AF1}"/>
                </a:ext>
              </a:extLst>
            </p:cNvPr>
            <p:cNvSpPr txBox="1"/>
            <p:nvPr/>
          </p:nvSpPr>
          <p:spPr bwMode="gray">
            <a:xfrm>
              <a:off x="7087196" y="2247702"/>
              <a:ext cx="2405931" cy="396000"/>
            </a:xfrm>
            <a:prstGeom prst="rect">
              <a:avLst/>
            </a:prstGeom>
            <a:solidFill>
              <a:sysClr val="window" lastClr="FFFFFF"/>
            </a:solidFill>
            <a:ln>
              <a:solidFill>
                <a:sysClr val="windowText" lastClr="000000"/>
              </a:solidFill>
            </a:ln>
          </p:spPr>
          <p:txBody>
            <a:bodyPr wrap="squar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0" sz="1200" b="0" i="0" u="none" strike="noStrike" kern="0" cap="none" spc="0" normalizeH="0" baseline="0">
                  <a:ln>
                    <a:noFill/>
                  </a:ln>
                  <a:solidFill>
                    <a:prstClr val="black"/>
                  </a:solidFill>
                  <a:effectLst/>
                  <a:uLnTx/>
                  <a:uFillTx/>
                  <a:latin typeface="Calibri Light"/>
                  <a:ea typeface="Yu Gothic UI"/>
                  <a:cs typeface="Arial" charset="0"/>
                </a:defRPr>
              </a:lvl1pPr>
            </a:lstStyle>
            <a:p>
              <a:r>
                <a:rPr lang="en-US" altLang="ja-JP" dirty="0">
                  <a:latin typeface="+mn-ea"/>
                  <a:ea typeface="+mn-ea"/>
                </a:rPr>
                <a:t>CBOR+MSO</a:t>
              </a:r>
              <a:r>
                <a:rPr lang="ja-JP" altLang="en-US" dirty="0">
                  <a:latin typeface="+mn-ea"/>
                  <a:ea typeface="+mn-ea"/>
                </a:rPr>
                <a:t>、</a:t>
              </a:r>
              <a:r>
                <a:rPr lang="en-US" altLang="ja-JP" dirty="0">
                  <a:latin typeface="+mn-ea"/>
                  <a:ea typeface="+mn-ea"/>
                </a:rPr>
                <a:t>SD-JWT VC</a:t>
              </a:r>
              <a:r>
                <a:rPr lang="ja-JP" altLang="en-US" dirty="0">
                  <a:latin typeface="+mn-ea"/>
                  <a:ea typeface="+mn-ea"/>
                </a:rPr>
                <a:t>、</a:t>
              </a:r>
              <a:endParaRPr lang="en-US" altLang="ja-JP" dirty="0">
                <a:latin typeface="+mn-ea"/>
                <a:ea typeface="+mn-ea"/>
              </a:endParaRPr>
            </a:p>
            <a:p>
              <a:r>
                <a:rPr lang="en-US" altLang="ja-JP" dirty="0">
                  <a:latin typeface="+mn-ea"/>
                  <a:ea typeface="+mn-ea"/>
                </a:rPr>
                <a:t>JSON-LD+LD-Proofs</a:t>
              </a:r>
            </a:p>
          </p:txBody>
        </p:sp>
        <p:sp>
          <p:nvSpPr>
            <p:cNvPr id="9" name="テキスト ボックス 8">
              <a:extLst>
                <a:ext uri="{FF2B5EF4-FFF2-40B4-BE49-F238E27FC236}">
                  <a16:creationId xmlns:a16="http://schemas.microsoft.com/office/drawing/2014/main" id="{2FB14753-05C2-366F-495A-204F650C7728}"/>
                </a:ext>
              </a:extLst>
            </p:cNvPr>
            <p:cNvSpPr txBox="1"/>
            <p:nvPr/>
          </p:nvSpPr>
          <p:spPr bwMode="gray">
            <a:xfrm>
              <a:off x="5451507" y="4224179"/>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エンティティ間の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通信プロトコル</a:t>
              </a:r>
            </a:p>
          </p:txBody>
        </p:sp>
        <p:sp>
          <p:nvSpPr>
            <p:cNvPr id="10" name="テキスト ボックス 9">
              <a:extLst>
                <a:ext uri="{FF2B5EF4-FFF2-40B4-BE49-F238E27FC236}">
                  <a16:creationId xmlns:a16="http://schemas.microsoft.com/office/drawing/2014/main" id="{BD6A9A5A-5C35-996E-064E-8B88C87F91F7}"/>
                </a:ext>
              </a:extLst>
            </p:cNvPr>
            <p:cNvSpPr txBox="1"/>
            <p:nvPr/>
          </p:nvSpPr>
          <p:spPr bwMode="gray">
            <a:xfrm>
              <a:off x="7087196" y="4224179"/>
              <a:ext cx="2405931"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algn="ctr" defTabSz="990564" eaLnBrk="1" fontAlgn="auto" hangingPunct="1">
                <a:spcBef>
                  <a:spcPts val="0"/>
                </a:spcBef>
                <a:spcAft>
                  <a:spcPts val="0"/>
                </a:spcAft>
                <a:buSzPct val="100000"/>
                <a:defRPr/>
              </a:pPr>
              <a:r>
                <a:rPr kumimoji="0" lang="en-US" altLang="ja-JP" sz="1200" kern="0" dirty="0">
                  <a:solidFill>
                    <a:prstClr val="black"/>
                  </a:solidFill>
                  <a:latin typeface="+mn-ea"/>
                  <a:ea typeface="+mn-ea"/>
                  <a:cs typeface="Arial" charset="0"/>
                </a:rPr>
                <a:t>ISO/IEC18013-5:2021, SIOP v2,</a:t>
              </a:r>
            </a:p>
            <a:p>
              <a:pPr algn="ctr" defTabSz="990564" eaLnBrk="1" fontAlgn="auto" hangingPunct="1">
                <a:spcBef>
                  <a:spcPts val="0"/>
                </a:spcBef>
                <a:spcAft>
                  <a:spcPts val="0"/>
                </a:spcAft>
                <a:buSzPct val="100000"/>
                <a:defRPr/>
              </a:pPr>
              <a:r>
                <a:rPr kumimoji="0" lang="en-US" altLang="ja-JP" sz="1200" kern="0" dirty="0">
                  <a:solidFill>
                    <a:prstClr val="black"/>
                  </a:solidFill>
                  <a:latin typeface="+mn-ea"/>
                  <a:ea typeface="+mn-ea"/>
                  <a:cs typeface="Arial" charset="0"/>
                </a:rPr>
                <a:t> </a:t>
              </a:r>
              <a:r>
                <a:rPr kumimoji="0" lang="en-US" altLang="ja-JP" sz="1200" kern="0" dirty="0" err="1">
                  <a:solidFill>
                    <a:prstClr val="black"/>
                  </a:solidFill>
                  <a:latin typeface="+mn-ea"/>
                  <a:ea typeface="+mn-ea"/>
                  <a:cs typeface="Arial" charset="0"/>
                </a:rPr>
                <a:t>DIDComm</a:t>
              </a:r>
              <a:endParaRPr kumimoji="0" lang="en-US" altLang="ja-JP" sz="1200" kern="0" dirty="0">
                <a:solidFill>
                  <a:prstClr val="black"/>
                </a:solidFill>
                <a:latin typeface="+mn-ea"/>
                <a:ea typeface="+mn-ea"/>
                <a:cs typeface="Arial" charset="0"/>
              </a:endParaRPr>
            </a:p>
          </p:txBody>
        </p:sp>
        <p:sp>
          <p:nvSpPr>
            <p:cNvPr id="11" name="テキスト ボックス 10">
              <a:extLst>
                <a:ext uri="{FF2B5EF4-FFF2-40B4-BE49-F238E27FC236}">
                  <a16:creationId xmlns:a16="http://schemas.microsoft.com/office/drawing/2014/main" id="{DAB78FD7-7639-DA01-996A-718F39542047}"/>
                </a:ext>
              </a:extLst>
            </p:cNvPr>
            <p:cNvSpPr txBox="1"/>
            <p:nvPr/>
          </p:nvSpPr>
          <p:spPr bwMode="gray">
            <a:xfrm>
              <a:off x="5451507" y="4718170"/>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dirty="0">
                  <a:ln>
                    <a:noFill/>
                  </a:ln>
                  <a:solidFill>
                    <a:prstClr val="black"/>
                  </a:solidFill>
                  <a:effectLst/>
                  <a:uLnTx/>
                  <a:uFillTx/>
                  <a:latin typeface="+mn-ea"/>
                  <a:ea typeface="+mn-ea"/>
                  <a:cs typeface="+mn-cs"/>
                </a:rPr>
                <a:t>通信</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I/F</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r>
                <a:rPr kumimoji="1" lang="ja-JP" altLang="en-US" sz="1200" b="0" i="0" u="none" strike="noStrike" kern="0" cap="none" spc="0" normalizeH="0" baseline="0" noProof="0" dirty="0">
                  <a:ln>
                    <a:noFill/>
                  </a:ln>
                  <a:solidFill>
                    <a:prstClr val="black"/>
                  </a:solidFill>
                  <a:effectLst/>
                  <a:uLnTx/>
                  <a:uFillTx/>
                  <a:latin typeface="+mn-ea"/>
                  <a:ea typeface="+mn-ea"/>
                  <a:cs typeface="+mn-cs"/>
                </a:rPr>
                <a:t>デバイス連携</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p>
          </p:txBody>
        </p:sp>
        <p:sp>
          <p:nvSpPr>
            <p:cNvPr id="12" name="テキスト ボックス 11">
              <a:extLst>
                <a:ext uri="{FF2B5EF4-FFF2-40B4-BE49-F238E27FC236}">
                  <a16:creationId xmlns:a16="http://schemas.microsoft.com/office/drawing/2014/main" id="{2283BEFC-C19A-19F1-40C2-5EF52369B9BF}"/>
                </a:ext>
              </a:extLst>
            </p:cNvPr>
            <p:cNvSpPr txBox="1"/>
            <p:nvPr/>
          </p:nvSpPr>
          <p:spPr bwMode="gray">
            <a:xfrm>
              <a:off x="7087196" y="4718170"/>
              <a:ext cx="2405931"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QR</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コード</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e-mail </a:t>
              </a:r>
            </a:p>
          </p:txBody>
        </p:sp>
        <p:sp>
          <p:nvSpPr>
            <p:cNvPr id="13" name="テキスト ボックス 12">
              <a:extLst>
                <a:ext uri="{FF2B5EF4-FFF2-40B4-BE49-F238E27FC236}">
                  <a16:creationId xmlns:a16="http://schemas.microsoft.com/office/drawing/2014/main" id="{76357825-8F39-933E-C3BC-BD17CB50EFEB}"/>
                </a:ext>
              </a:extLst>
            </p:cNvPr>
            <p:cNvSpPr txBox="1"/>
            <p:nvPr/>
          </p:nvSpPr>
          <p:spPr bwMode="gray">
            <a:xfrm>
              <a:off x="5451507" y="6200143"/>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0" sz="1200" b="0" i="0" u="none" strike="noStrike" kern="0" cap="none" spc="0" normalizeH="0" baseline="0">
                  <a:ln>
                    <a:noFill/>
                  </a:ln>
                  <a:solidFill>
                    <a:prstClr val="black"/>
                  </a:solidFill>
                  <a:effectLst/>
                  <a:uLnTx/>
                  <a:uFillTx/>
                  <a:latin typeface="Calibri Light"/>
                  <a:ea typeface="Yu Gothic UI"/>
                  <a:cs typeface="Arial" charset="0"/>
                </a:defRPr>
              </a:lvl1pPr>
            </a:lstStyle>
            <a:p>
              <a:r>
                <a:rPr lang="ja-JP" altLang="en-US">
                  <a:latin typeface="+mn-ea"/>
                  <a:ea typeface="+mn-ea"/>
                </a:rPr>
                <a:t>名前解決</a:t>
              </a:r>
              <a:endParaRPr lang="en-US" altLang="ja-JP" dirty="0">
                <a:latin typeface="+mn-ea"/>
                <a:ea typeface="+mn-ea"/>
              </a:endParaRPr>
            </a:p>
          </p:txBody>
        </p:sp>
        <p:sp>
          <p:nvSpPr>
            <p:cNvPr id="14" name="テキスト ボックス 13">
              <a:extLst>
                <a:ext uri="{FF2B5EF4-FFF2-40B4-BE49-F238E27FC236}">
                  <a16:creationId xmlns:a16="http://schemas.microsoft.com/office/drawing/2014/main" id="{EA6AAD01-F305-9306-DBC1-15C83EEBFB8E}"/>
                </a:ext>
              </a:extLst>
            </p:cNvPr>
            <p:cNvSpPr txBox="1"/>
            <p:nvPr/>
          </p:nvSpPr>
          <p:spPr bwMode="gray">
            <a:xfrm>
              <a:off x="7087196" y="6200143"/>
              <a:ext cx="2405931"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N/A</a:t>
              </a:r>
            </a:p>
          </p:txBody>
        </p:sp>
        <p:sp>
          <p:nvSpPr>
            <p:cNvPr id="15" name="テキスト ボックス 14">
              <a:extLst>
                <a:ext uri="{FF2B5EF4-FFF2-40B4-BE49-F238E27FC236}">
                  <a16:creationId xmlns:a16="http://schemas.microsoft.com/office/drawing/2014/main" id="{64318AD8-3112-170B-1CE2-0D7AB1357BF1}"/>
                </a:ext>
              </a:extLst>
            </p:cNvPr>
            <p:cNvSpPr txBox="1"/>
            <p:nvPr/>
          </p:nvSpPr>
          <p:spPr bwMode="gray">
            <a:xfrm>
              <a:off x="5451371" y="274169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実現方式</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6" name="テキスト ボックス 15">
              <a:extLst>
                <a:ext uri="{FF2B5EF4-FFF2-40B4-BE49-F238E27FC236}">
                  <a16:creationId xmlns:a16="http://schemas.microsoft.com/office/drawing/2014/main" id="{3A944054-790F-70BA-56A0-C2385FDB3FAE}"/>
                </a:ext>
              </a:extLst>
            </p:cNvPr>
            <p:cNvSpPr txBox="1"/>
            <p:nvPr/>
          </p:nvSpPr>
          <p:spPr bwMode="gray">
            <a:xfrm>
              <a:off x="7087196" y="2741691"/>
              <a:ext cx="2405931"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0" sz="1200" b="0" i="0" u="none" strike="noStrike" kern="0" cap="none" spc="0" normalizeH="0" baseline="0">
                  <a:ln>
                    <a:noFill/>
                  </a:ln>
                  <a:solidFill>
                    <a:prstClr val="black"/>
                  </a:solidFill>
                  <a:effectLst/>
                  <a:uLnTx/>
                  <a:uFillTx/>
                  <a:latin typeface="Calibri Light"/>
                  <a:ea typeface="Yu Gothic UI"/>
                  <a:cs typeface="Arial" charset="0"/>
                </a:defRPr>
              </a:lvl1pPr>
            </a:lstStyle>
            <a:p>
              <a:r>
                <a:rPr lang="en-US" altLang="ja-JP" dirty="0">
                  <a:latin typeface="+mn-ea"/>
                  <a:ea typeface="+mn-ea"/>
                </a:rPr>
                <a:t>SD-JWT</a:t>
              </a:r>
            </a:p>
          </p:txBody>
        </p:sp>
        <p:sp>
          <p:nvSpPr>
            <p:cNvPr id="17" name="テキスト ボックス 16">
              <a:extLst>
                <a:ext uri="{FF2B5EF4-FFF2-40B4-BE49-F238E27FC236}">
                  <a16:creationId xmlns:a16="http://schemas.microsoft.com/office/drawing/2014/main" id="{DDC0684A-F7B6-EDE4-34AF-C52F06380CC9}"/>
                </a:ext>
              </a:extLst>
            </p:cNvPr>
            <p:cNvSpPr txBox="1"/>
            <p:nvPr/>
          </p:nvSpPr>
          <p:spPr bwMode="gray">
            <a:xfrm>
              <a:off x="5451371" y="3235685"/>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署名方式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8" name="テキスト ボックス 17">
              <a:extLst>
                <a:ext uri="{FF2B5EF4-FFF2-40B4-BE49-F238E27FC236}">
                  <a16:creationId xmlns:a16="http://schemas.microsoft.com/office/drawing/2014/main" id="{16B42202-FC1A-D919-AD85-483219182C48}"/>
                </a:ext>
              </a:extLst>
            </p:cNvPr>
            <p:cNvSpPr txBox="1"/>
            <p:nvPr/>
          </p:nvSpPr>
          <p:spPr bwMode="gray">
            <a:xfrm>
              <a:off x="7087196" y="3235685"/>
              <a:ext cx="2405931"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ECDSA</a:t>
              </a:r>
            </a:p>
          </p:txBody>
        </p:sp>
        <p:sp>
          <p:nvSpPr>
            <p:cNvPr id="19" name="テキスト ボックス 18">
              <a:extLst>
                <a:ext uri="{FF2B5EF4-FFF2-40B4-BE49-F238E27FC236}">
                  <a16:creationId xmlns:a16="http://schemas.microsoft.com/office/drawing/2014/main" id="{3FBD14C2-1F4D-A3F2-8F7A-EB1C62769DC8}"/>
                </a:ext>
              </a:extLst>
            </p:cNvPr>
            <p:cNvSpPr txBox="1"/>
            <p:nvPr/>
          </p:nvSpPr>
          <p:spPr bwMode="gray">
            <a:xfrm>
              <a:off x="5451507" y="1753711"/>
              <a:ext cx="1589367"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20" name="テキスト ボックス 19">
              <a:extLst>
                <a:ext uri="{FF2B5EF4-FFF2-40B4-BE49-F238E27FC236}">
                  <a16:creationId xmlns:a16="http://schemas.microsoft.com/office/drawing/2014/main" id="{FF20BB54-328A-D4CA-F421-CE41D47B3200}"/>
                </a:ext>
              </a:extLst>
            </p:cNvPr>
            <p:cNvSpPr txBox="1"/>
            <p:nvPr/>
          </p:nvSpPr>
          <p:spPr bwMode="gray">
            <a:xfrm>
              <a:off x="7087196" y="1753711"/>
              <a:ext cx="2405931" cy="396000"/>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ISO/IEC18013-5:2021, W3C VC</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1" name="テキスト ボックス 20">
              <a:extLst>
                <a:ext uri="{FF2B5EF4-FFF2-40B4-BE49-F238E27FC236}">
                  <a16:creationId xmlns:a16="http://schemas.microsoft.com/office/drawing/2014/main" id="{28FCE184-BB73-EC5D-0BD9-2C19D5939499}"/>
                </a:ext>
              </a:extLst>
            </p:cNvPr>
            <p:cNvSpPr txBox="1"/>
            <p:nvPr/>
          </p:nvSpPr>
          <p:spPr bwMode="gray">
            <a:xfrm>
              <a:off x="5451507" y="3730188"/>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検証者に提供する</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22" name="テキスト ボックス 21">
              <a:extLst>
                <a:ext uri="{FF2B5EF4-FFF2-40B4-BE49-F238E27FC236}">
                  <a16:creationId xmlns:a16="http://schemas.microsoft.com/office/drawing/2014/main" id="{BA5C78FE-619C-9CF6-096E-D684EBAD90F6}"/>
                </a:ext>
              </a:extLst>
            </p:cNvPr>
            <p:cNvSpPr txBox="1"/>
            <p:nvPr/>
          </p:nvSpPr>
          <p:spPr bwMode="gray">
            <a:xfrm>
              <a:off x="7076577" y="3730188"/>
              <a:ext cx="2405931"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algn="ctr" defTabSz="990564" eaLnBrk="1" fontAlgn="auto" hangingPunct="1">
                <a:spcBef>
                  <a:spcPts val="0"/>
                </a:spcBef>
                <a:spcAft>
                  <a:spcPts val="0"/>
                </a:spcAft>
                <a:buSzPct val="100000"/>
                <a:defRPr/>
              </a:pPr>
              <a:r>
                <a:rPr kumimoji="0" lang="en-US" altLang="ja-JP" sz="1200" kern="0" dirty="0">
                  <a:solidFill>
                    <a:prstClr val="black"/>
                  </a:solidFill>
                  <a:latin typeface="+mn-ea"/>
                  <a:ea typeface="+mn-ea"/>
                  <a:cs typeface="Arial" charset="0"/>
                </a:rPr>
                <a:t>ISO/IEC18013-5:2021, OID4VP</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3" name="テキスト ボックス 22">
              <a:extLst>
                <a:ext uri="{FF2B5EF4-FFF2-40B4-BE49-F238E27FC236}">
                  <a16:creationId xmlns:a16="http://schemas.microsoft.com/office/drawing/2014/main" id="{BA85447D-3E27-7C29-5A00-93E58BFB61C9}"/>
                </a:ext>
              </a:extLst>
            </p:cNvPr>
            <p:cNvSpPr txBox="1"/>
            <p:nvPr/>
          </p:nvSpPr>
          <p:spPr bwMode="gray">
            <a:xfrm>
              <a:off x="5451507" y="521216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システムアクセスの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ための識別子</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4" name="テキスト ボックス 23">
              <a:extLst>
                <a:ext uri="{FF2B5EF4-FFF2-40B4-BE49-F238E27FC236}">
                  <a16:creationId xmlns:a16="http://schemas.microsoft.com/office/drawing/2014/main" id="{7F8B75E5-7C32-7CDB-61D7-49D343DD3967}"/>
                </a:ext>
              </a:extLst>
            </p:cNvPr>
            <p:cNvSpPr txBox="1"/>
            <p:nvPr/>
          </p:nvSpPr>
          <p:spPr bwMode="gray">
            <a:xfrm>
              <a:off x="7087657" y="5212161"/>
              <a:ext cx="1156877"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N/A</a:t>
              </a:r>
            </a:p>
          </p:txBody>
        </p:sp>
        <p:sp>
          <p:nvSpPr>
            <p:cNvPr id="25" name="テキスト ボックス 24">
              <a:extLst>
                <a:ext uri="{FF2B5EF4-FFF2-40B4-BE49-F238E27FC236}">
                  <a16:creationId xmlns:a16="http://schemas.microsoft.com/office/drawing/2014/main" id="{CF4AD0C4-3B1A-94E6-6764-BBE6D27459E5}"/>
                </a:ext>
              </a:extLst>
            </p:cNvPr>
            <p:cNvSpPr txBox="1"/>
            <p:nvPr/>
          </p:nvSpPr>
          <p:spPr bwMode="gray">
            <a:xfrm>
              <a:off x="5451507" y="5706152"/>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sz="1200" b="0" i="0" u="none" strike="noStrike" kern="0" cap="none" spc="0" normalizeH="0" baseline="0">
                  <a:ln>
                    <a:noFill/>
                  </a:ln>
                  <a:solidFill>
                    <a:prstClr val="black"/>
                  </a:solidFill>
                  <a:effectLst/>
                  <a:uLnTx/>
                  <a:uFillTx/>
                  <a:latin typeface="Calibri Light"/>
                  <a:ea typeface="Yu Gothic UI"/>
                </a:defRPr>
              </a:lvl1pPr>
            </a:lstStyle>
            <a:p>
              <a:r>
                <a:rPr lang="en-US" altLang="ja-JP" dirty="0">
                  <a:latin typeface="+mn-ea"/>
                  <a:ea typeface="+mn-ea"/>
                </a:rPr>
                <a:t>DID Document</a:t>
              </a:r>
              <a:r>
                <a:rPr lang="ja-JP" altLang="en-US" dirty="0">
                  <a:latin typeface="+mn-ea"/>
                  <a:ea typeface="+mn-ea"/>
                </a:rPr>
                <a:t>格納方式</a:t>
              </a:r>
              <a:endParaRPr lang="en-US" altLang="ja-JP" dirty="0">
                <a:latin typeface="+mn-ea"/>
                <a:ea typeface="+mn-ea"/>
              </a:endParaRPr>
            </a:p>
            <a:p>
              <a:r>
                <a:rPr lang="en-US" altLang="ja-JP" dirty="0">
                  <a:latin typeface="+mn-ea"/>
                  <a:ea typeface="+mn-ea"/>
                </a:rPr>
                <a:t>(</a:t>
              </a:r>
              <a:r>
                <a:rPr lang="ja-JP" altLang="en-US" dirty="0">
                  <a:latin typeface="+mn-ea"/>
                  <a:ea typeface="+mn-ea"/>
                </a:rPr>
                <a:t>ストレージ</a:t>
              </a:r>
              <a:r>
                <a:rPr lang="en-US" altLang="ja-JP" dirty="0">
                  <a:latin typeface="+mn-ea"/>
                  <a:ea typeface="+mn-ea"/>
                </a:rPr>
                <a:t>)</a:t>
              </a:r>
            </a:p>
          </p:txBody>
        </p:sp>
        <p:sp>
          <p:nvSpPr>
            <p:cNvPr id="26" name="テキスト ボックス 25">
              <a:extLst>
                <a:ext uri="{FF2B5EF4-FFF2-40B4-BE49-F238E27FC236}">
                  <a16:creationId xmlns:a16="http://schemas.microsoft.com/office/drawing/2014/main" id="{8B1784B4-385C-71D5-A4DF-2225E9A74CF2}"/>
                </a:ext>
              </a:extLst>
            </p:cNvPr>
            <p:cNvSpPr txBox="1"/>
            <p:nvPr/>
          </p:nvSpPr>
          <p:spPr bwMode="gray">
            <a:xfrm>
              <a:off x="7087107" y="5706152"/>
              <a:ext cx="1162511"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スマホストレージ</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SE</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等）</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7" name="正方形/長方形 26">
              <a:extLst>
                <a:ext uri="{FF2B5EF4-FFF2-40B4-BE49-F238E27FC236}">
                  <a16:creationId xmlns:a16="http://schemas.microsoft.com/office/drawing/2014/main" id="{812D1046-7B51-5DEF-1F98-0BEC16373B0B}"/>
                </a:ext>
              </a:extLst>
            </p:cNvPr>
            <p:cNvSpPr/>
            <p:nvPr/>
          </p:nvSpPr>
          <p:spPr bwMode="gray">
            <a:xfrm>
              <a:off x="5146162" y="1763963"/>
              <a:ext cx="259023" cy="2362225"/>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8" name="正方形/長方形 27">
              <a:extLst>
                <a:ext uri="{FF2B5EF4-FFF2-40B4-BE49-F238E27FC236}">
                  <a16:creationId xmlns:a16="http://schemas.microsoft.com/office/drawing/2014/main" id="{382F2ADB-41CC-CC47-1059-F77EB7F1ACA3}"/>
                </a:ext>
              </a:extLst>
            </p:cNvPr>
            <p:cNvSpPr/>
            <p:nvPr/>
          </p:nvSpPr>
          <p:spPr bwMode="gray">
            <a:xfrm>
              <a:off x="5146162" y="4224179"/>
              <a:ext cx="259023" cy="889991"/>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Agent Layer</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29" name="正方形/長方形 28">
              <a:extLst>
                <a:ext uri="{FF2B5EF4-FFF2-40B4-BE49-F238E27FC236}">
                  <a16:creationId xmlns:a16="http://schemas.microsoft.com/office/drawing/2014/main" id="{F9C7FCDF-BD3B-863B-0303-C386FD190E69}"/>
                </a:ext>
              </a:extLst>
            </p:cNvPr>
            <p:cNvSpPr/>
            <p:nvPr/>
          </p:nvSpPr>
          <p:spPr bwMode="gray">
            <a:xfrm>
              <a:off x="5146162" y="5204018"/>
              <a:ext cx="259023" cy="1393632"/>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36" name="テキスト ボックス 35">
              <a:extLst>
                <a:ext uri="{FF2B5EF4-FFF2-40B4-BE49-F238E27FC236}">
                  <a16:creationId xmlns:a16="http://schemas.microsoft.com/office/drawing/2014/main" id="{4D393BD6-5D45-F3AF-5D72-4A4472C266DE}"/>
                </a:ext>
              </a:extLst>
            </p:cNvPr>
            <p:cNvSpPr txBox="1"/>
            <p:nvPr/>
          </p:nvSpPr>
          <p:spPr bwMode="gray">
            <a:xfrm>
              <a:off x="8332942" y="5212161"/>
              <a:ext cx="1156877"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err="1">
                  <a:solidFill>
                    <a:prstClr val="black"/>
                  </a:solidFill>
                  <a:latin typeface="+mn-ea"/>
                  <a:ea typeface="+mn-ea"/>
                  <a:cs typeface="Arial" charset="0"/>
                </a:rPr>
                <a:t>didi:indy</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37" name="テキスト ボックス 36">
              <a:extLst>
                <a:ext uri="{FF2B5EF4-FFF2-40B4-BE49-F238E27FC236}">
                  <a16:creationId xmlns:a16="http://schemas.microsoft.com/office/drawing/2014/main" id="{68FDDE11-5941-7BC7-78C3-E2A8305DA0FD}"/>
                </a:ext>
              </a:extLst>
            </p:cNvPr>
            <p:cNvSpPr txBox="1"/>
            <p:nvPr/>
          </p:nvSpPr>
          <p:spPr bwMode="gray">
            <a:xfrm>
              <a:off x="8332393" y="5706152"/>
              <a:ext cx="1162511"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Hyperledger</a:t>
              </a:r>
              <a:r>
                <a:rPr kumimoji="0" lang="ja-JP" altLang="en-US" sz="1200" kern="0" dirty="0">
                  <a:solidFill>
                    <a:prstClr val="black"/>
                  </a:solidFill>
                  <a:latin typeface="+mn-ea"/>
                  <a:ea typeface="+mn-ea"/>
                  <a:cs typeface="Arial" charset="0"/>
                </a:rPr>
                <a:t> </a:t>
              </a:r>
              <a:r>
                <a:rPr kumimoji="0" lang="en-US" altLang="ja-JP" sz="1200" kern="0" dirty="0">
                  <a:solidFill>
                    <a:prstClr val="black"/>
                  </a:solidFill>
                  <a:latin typeface="+mn-ea"/>
                  <a:ea typeface="+mn-ea"/>
                  <a:cs typeface="Arial" charset="0"/>
                </a:rPr>
                <a:t>Indy</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grpSp>
      <p:sp>
        <p:nvSpPr>
          <p:cNvPr id="30" name="正方形/長方形 29">
            <a:extLst>
              <a:ext uri="{FF2B5EF4-FFF2-40B4-BE49-F238E27FC236}">
                <a16:creationId xmlns:a16="http://schemas.microsoft.com/office/drawing/2014/main" id="{28600A8F-FAD5-8A61-392A-7647DA201567}"/>
              </a:ext>
            </a:extLst>
          </p:cNvPr>
          <p:cNvSpPr/>
          <p:nvPr/>
        </p:nvSpPr>
        <p:spPr bwMode="gray">
          <a:xfrm>
            <a:off x="283068" y="1468129"/>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31" name="コンテンツ プレースホルダー 2">
            <a:extLst>
              <a:ext uri="{FF2B5EF4-FFF2-40B4-BE49-F238E27FC236}">
                <a16:creationId xmlns:a16="http://schemas.microsoft.com/office/drawing/2014/main" id="{FA814F82-D98A-CBA5-DA47-768EB7F01F25}"/>
              </a:ext>
            </a:extLst>
          </p:cNvPr>
          <p:cNvSpPr txBox="1">
            <a:spLocks/>
          </p:cNvSpPr>
          <p:nvPr/>
        </p:nvSpPr>
        <p:spPr>
          <a:xfrm>
            <a:off x="273050" y="899958"/>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Lissi</a:t>
            </a:r>
            <a:r>
              <a:rPr lang="ja-JP" altLang="en-US" dirty="0"/>
              <a:t>は、</a:t>
            </a:r>
            <a:r>
              <a:rPr lang="en-US" altLang="ja-JP" dirty="0"/>
              <a:t>EUDIW</a:t>
            </a:r>
            <a:r>
              <a:rPr lang="ja-JP" altLang="en-US" dirty="0"/>
              <a:t>の</a:t>
            </a:r>
            <a:r>
              <a:rPr lang="en-US" altLang="ja-JP" dirty="0"/>
              <a:t>ARF</a:t>
            </a:r>
            <a:r>
              <a:rPr lang="ja-JP" altLang="en-US" dirty="0"/>
              <a:t>の技術標準</a:t>
            </a:r>
            <a:r>
              <a:rPr lang="en-US" altLang="ja-JP" dirty="0"/>
              <a:t>(SD-JWT</a:t>
            </a:r>
            <a:r>
              <a:rPr lang="ja-JP" altLang="en-US" dirty="0"/>
              <a:t>、</a:t>
            </a:r>
            <a:r>
              <a:rPr lang="en-US" altLang="ja-JP" dirty="0"/>
              <a:t>OID4VC</a:t>
            </a:r>
            <a:r>
              <a:rPr lang="ja-JP" altLang="en-US" dirty="0"/>
              <a:t>系等</a:t>
            </a:r>
            <a:r>
              <a:rPr lang="en-US" altLang="ja-JP" dirty="0"/>
              <a:t>)</a:t>
            </a:r>
            <a:r>
              <a:rPr lang="ja-JP" altLang="en-US" dirty="0"/>
              <a:t>と、</a:t>
            </a:r>
            <a:r>
              <a:rPr lang="en-US" altLang="ja-JP" dirty="0" err="1"/>
              <a:t>IDUnion</a:t>
            </a:r>
            <a:r>
              <a:rPr lang="ja-JP" altLang="en-US" dirty="0"/>
              <a:t>ネットワークで構想している技術仕様</a:t>
            </a:r>
            <a:r>
              <a:rPr lang="en-US" altLang="ja-JP" dirty="0"/>
              <a:t>(Hyperledger </a:t>
            </a:r>
            <a:r>
              <a:rPr lang="en-US" altLang="ja-JP" dirty="0" err="1"/>
              <a:t>AnonCreds</a:t>
            </a:r>
            <a:r>
              <a:rPr lang="en-US" altLang="ja-JP" dirty="0"/>
              <a:t> / Indy</a:t>
            </a:r>
            <a:r>
              <a:rPr lang="ja-JP" altLang="en-US" dirty="0"/>
              <a:t>、</a:t>
            </a:r>
            <a:r>
              <a:rPr lang="en-US" altLang="ja-JP" dirty="0" err="1"/>
              <a:t>DIDComm</a:t>
            </a:r>
            <a:r>
              <a:rPr lang="ja-JP" altLang="en-US" dirty="0"/>
              <a:t>等</a:t>
            </a:r>
            <a:r>
              <a:rPr lang="en-US" altLang="ja-JP" dirty="0"/>
              <a:t>)</a:t>
            </a:r>
            <a:r>
              <a:rPr lang="ja-JP" altLang="en-US" dirty="0"/>
              <a:t>の双方に対応している</a:t>
            </a:r>
            <a:endParaRPr kumimoji="1" lang="ja-JP" altLang="en-US" dirty="0"/>
          </a:p>
        </p:txBody>
      </p:sp>
      <p:sp>
        <p:nvSpPr>
          <p:cNvPr id="34" name="テキスト ボックス 33">
            <a:extLst>
              <a:ext uri="{FF2B5EF4-FFF2-40B4-BE49-F238E27FC236}">
                <a16:creationId xmlns:a16="http://schemas.microsoft.com/office/drawing/2014/main" id="{518CCE6D-F086-4187-5E80-F704B66492D5}"/>
              </a:ext>
            </a:extLst>
          </p:cNvPr>
          <p:cNvSpPr txBox="1"/>
          <p:nvPr/>
        </p:nvSpPr>
        <p:spPr>
          <a:xfrm>
            <a:off x="351226" y="6296942"/>
            <a:ext cx="5706674" cy="276999"/>
          </a:xfrm>
          <a:prstGeom prst="rect">
            <a:avLst/>
          </a:prstGeom>
          <a:noFill/>
        </p:spPr>
        <p:txBody>
          <a:bodyPr wrap="square" lIns="0" tIns="0" rIns="0" bIns="0" rtlCol="0">
            <a:spAutoFit/>
          </a:bodyPr>
          <a:lstStyle/>
          <a:p>
            <a:r>
              <a:rPr kumimoji="1" lang="ja-JP" altLang="en-US" sz="900" dirty="0">
                <a:latin typeface="+mn-ea"/>
                <a:ea typeface="+mn-ea"/>
              </a:rPr>
              <a:t>出所：</a:t>
            </a:r>
            <a:r>
              <a:rPr kumimoji="1" lang="en-US" altLang="ja-JP" sz="900" dirty="0">
                <a:latin typeface="+mn-ea"/>
                <a:ea typeface="+mn-ea"/>
                <a:hlinkClick r:id="rId2"/>
              </a:rPr>
              <a:t>https://www.lissi.id/eidas-2-0</a:t>
            </a:r>
            <a:endParaRPr kumimoji="1" lang="en-US" altLang="ja-JP" sz="900" dirty="0">
              <a:latin typeface="+mn-ea"/>
              <a:ea typeface="+mn-ea"/>
            </a:endParaRPr>
          </a:p>
          <a:p>
            <a:r>
              <a:rPr kumimoji="1" lang="ja-JP" altLang="en-US" sz="900" dirty="0">
                <a:latin typeface="+mn-ea"/>
                <a:ea typeface="+mn-ea"/>
              </a:rPr>
              <a:t>　　　</a:t>
            </a:r>
            <a:r>
              <a:rPr kumimoji="1" lang="en-US" altLang="ja-JP" sz="900" dirty="0">
                <a:latin typeface="+mn-ea"/>
                <a:ea typeface="+mn-ea"/>
                <a:hlinkClick r:id="rId3"/>
              </a:rPr>
              <a:t>https://idunion.org/wp-content/uploads/2023/07/2023_06_05_TDI_Framework_for_Walletsecurity.pdf</a:t>
            </a:r>
            <a:endParaRPr kumimoji="1" lang="en-US" altLang="ja-JP" sz="900" dirty="0">
              <a:latin typeface="+mn-ea"/>
              <a:ea typeface="+mn-ea"/>
            </a:endParaRPr>
          </a:p>
        </p:txBody>
      </p:sp>
    </p:spTree>
    <p:extLst>
      <p:ext uri="{BB962C8B-B14F-4D97-AF65-F5344CB8AC3E}">
        <p14:creationId xmlns:p14="http://schemas.microsoft.com/office/powerpoint/2010/main" val="17959776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18659F-3954-F21C-88EF-4CA80676FB8B}"/>
              </a:ext>
            </a:extLst>
          </p:cNvPr>
          <p:cNvSpPr>
            <a:spLocks noGrp="1"/>
          </p:cNvSpPr>
          <p:nvPr>
            <p:ph type="title"/>
          </p:nvPr>
        </p:nvSpPr>
        <p:spPr/>
        <p:txBody>
          <a:bodyPr/>
          <a:lstStyle/>
          <a:p>
            <a:r>
              <a:rPr kumimoji="1" lang="en-US" altLang="ja-JP" dirty="0">
                <a:latin typeface="+mn-ea"/>
                <a:ea typeface="+mn-ea"/>
              </a:rPr>
              <a:t>6.1. </a:t>
            </a:r>
            <a:r>
              <a:rPr kumimoji="1" lang="ja-JP" altLang="en-US" dirty="0">
                <a:latin typeface="+mn-ea"/>
                <a:ea typeface="+mn-ea"/>
              </a:rPr>
              <a:t>サービス </a:t>
            </a:r>
            <a:r>
              <a:rPr kumimoji="1" lang="en-US" altLang="ja-JP" dirty="0">
                <a:latin typeface="+mn-ea"/>
                <a:ea typeface="+mn-ea"/>
              </a:rPr>
              <a:t>–</a:t>
            </a:r>
            <a:r>
              <a:rPr kumimoji="1" lang="ja-JP" altLang="en-US" dirty="0">
                <a:latin typeface="+mn-ea"/>
                <a:ea typeface="+mn-ea"/>
              </a:rPr>
              <a:t> </a:t>
            </a:r>
            <a:r>
              <a:rPr kumimoji="1" lang="en-US" altLang="ja-JP" dirty="0">
                <a:latin typeface="+mn-ea"/>
                <a:ea typeface="+mn-ea"/>
              </a:rPr>
              <a:t>6.1.2. </a:t>
            </a:r>
            <a:r>
              <a:rPr kumimoji="1" lang="ja-JP" altLang="en-US" dirty="0">
                <a:latin typeface="+mn-ea"/>
                <a:ea typeface="+mn-ea"/>
              </a:rPr>
              <a:t>サービス実装詳細 </a:t>
            </a:r>
            <a:r>
              <a:rPr kumimoji="1" lang="en-US" altLang="ja-JP" dirty="0">
                <a:latin typeface="+mn-ea"/>
                <a:ea typeface="+mn-ea"/>
              </a:rPr>
              <a:t>(3)</a:t>
            </a:r>
            <a:r>
              <a:rPr kumimoji="1" lang="ja-JP" altLang="en-US" dirty="0">
                <a:latin typeface="+mn-ea"/>
                <a:ea typeface="+mn-ea"/>
              </a:rPr>
              <a:t> </a:t>
            </a:r>
            <a:r>
              <a:rPr kumimoji="1" lang="en-US" altLang="ja-JP" dirty="0">
                <a:latin typeface="+mn-ea"/>
                <a:ea typeface="+mn-ea"/>
              </a:rPr>
              <a:t>Microsoft </a:t>
            </a:r>
            <a:r>
              <a:rPr kumimoji="1" lang="en-US" altLang="ja-JP" dirty="0" err="1">
                <a:latin typeface="+mn-ea"/>
                <a:ea typeface="+mn-ea"/>
              </a:rPr>
              <a:t>Entra</a:t>
            </a:r>
            <a:r>
              <a:rPr kumimoji="1" lang="ja-JP" altLang="en-US" dirty="0">
                <a:latin typeface="+mn-ea"/>
                <a:ea typeface="+mn-ea"/>
              </a:rPr>
              <a:t> </a:t>
            </a:r>
            <a:r>
              <a:rPr kumimoji="1" lang="en-US" altLang="ja-JP" dirty="0">
                <a:latin typeface="+mn-ea"/>
                <a:ea typeface="+mn-ea"/>
              </a:rPr>
              <a:t>Verified</a:t>
            </a:r>
            <a:r>
              <a:rPr kumimoji="1" lang="ja-JP" altLang="en-US" dirty="0">
                <a:latin typeface="+mn-ea"/>
                <a:ea typeface="+mn-ea"/>
              </a:rPr>
              <a:t> </a:t>
            </a:r>
            <a:r>
              <a:rPr kumimoji="1" lang="en-US" altLang="ja-JP" dirty="0">
                <a:latin typeface="+mn-ea"/>
                <a:ea typeface="+mn-ea"/>
              </a:rPr>
              <a:t>ID</a:t>
            </a:r>
            <a:endParaRPr kumimoji="1" lang="ja-JP" altLang="en-US" dirty="0">
              <a:latin typeface="+mn-ea"/>
              <a:ea typeface="+mn-ea"/>
            </a:endParaRPr>
          </a:p>
        </p:txBody>
      </p:sp>
      <p:sp>
        <p:nvSpPr>
          <p:cNvPr id="3" name="テキスト プレースホルダー 2">
            <a:extLst>
              <a:ext uri="{FF2B5EF4-FFF2-40B4-BE49-F238E27FC236}">
                <a16:creationId xmlns:a16="http://schemas.microsoft.com/office/drawing/2014/main" id="{9F86D19D-7D82-1E52-D15F-CC5E339AA41D}"/>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pSp>
        <p:nvGrpSpPr>
          <p:cNvPr id="30" name="グループ化 29">
            <a:extLst>
              <a:ext uri="{FF2B5EF4-FFF2-40B4-BE49-F238E27FC236}">
                <a16:creationId xmlns:a16="http://schemas.microsoft.com/office/drawing/2014/main" id="{390741AC-2F72-8885-3746-F93B63BD0CB4}"/>
              </a:ext>
            </a:extLst>
          </p:cNvPr>
          <p:cNvGrpSpPr/>
          <p:nvPr/>
        </p:nvGrpSpPr>
        <p:grpSpPr>
          <a:xfrm>
            <a:off x="5146162" y="1484313"/>
            <a:ext cx="4486788" cy="4876027"/>
            <a:chOff x="5146162" y="1484313"/>
            <a:chExt cx="4342239" cy="5113337"/>
          </a:xfrm>
        </p:grpSpPr>
        <p:sp>
          <p:nvSpPr>
            <p:cNvPr id="4" name="正方形/長方形 3">
              <a:extLst>
                <a:ext uri="{FF2B5EF4-FFF2-40B4-BE49-F238E27FC236}">
                  <a16:creationId xmlns:a16="http://schemas.microsoft.com/office/drawing/2014/main" id="{C14D4731-405A-11E6-38D5-3BA1E6C670E4}"/>
                </a:ext>
              </a:extLst>
            </p:cNvPr>
            <p:cNvSpPr/>
            <p:nvPr/>
          </p:nvSpPr>
          <p:spPr bwMode="gray">
            <a:xfrm>
              <a:off x="5146163" y="1484313"/>
              <a:ext cx="4331682"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mn-ea"/>
                  <a:ea typeface="+mn-ea"/>
                  <a:cs typeface="Arial" charset="0"/>
                </a:rPr>
                <a:t>実装技術スタック詳細</a:t>
              </a:r>
            </a:p>
          </p:txBody>
        </p:sp>
        <p:sp>
          <p:nvSpPr>
            <p:cNvPr id="5" name="テキスト ボックス 4">
              <a:extLst>
                <a:ext uri="{FF2B5EF4-FFF2-40B4-BE49-F238E27FC236}">
                  <a16:creationId xmlns:a16="http://schemas.microsoft.com/office/drawing/2014/main" id="{33E912AF-BFD8-2572-3A81-AA2E39F44F59}"/>
                </a:ext>
              </a:extLst>
            </p:cNvPr>
            <p:cNvSpPr txBox="1"/>
            <p:nvPr/>
          </p:nvSpPr>
          <p:spPr bwMode="gray">
            <a:xfrm>
              <a:off x="7096666" y="2255594"/>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JWT – VC</a:t>
              </a:r>
            </a:p>
          </p:txBody>
        </p:sp>
        <p:sp>
          <p:nvSpPr>
            <p:cNvPr id="6" name="テキスト ボックス 5">
              <a:extLst>
                <a:ext uri="{FF2B5EF4-FFF2-40B4-BE49-F238E27FC236}">
                  <a16:creationId xmlns:a16="http://schemas.microsoft.com/office/drawing/2014/main" id="{D6EB0134-9EAB-2FFC-7F5A-9CEF3B789A7E}"/>
                </a:ext>
              </a:extLst>
            </p:cNvPr>
            <p:cNvSpPr txBox="1"/>
            <p:nvPr/>
          </p:nvSpPr>
          <p:spPr bwMode="gray">
            <a:xfrm>
              <a:off x="7096666" y="4223193"/>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SIOPv2</a:t>
              </a:r>
            </a:p>
          </p:txBody>
        </p:sp>
        <p:sp>
          <p:nvSpPr>
            <p:cNvPr id="7" name="テキスト ボックス 6">
              <a:extLst>
                <a:ext uri="{FF2B5EF4-FFF2-40B4-BE49-F238E27FC236}">
                  <a16:creationId xmlns:a16="http://schemas.microsoft.com/office/drawing/2014/main" id="{20F2E60E-093E-F95C-C66D-ACE897F1A1C9}"/>
                </a:ext>
              </a:extLst>
            </p:cNvPr>
            <p:cNvSpPr txBox="1"/>
            <p:nvPr/>
          </p:nvSpPr>
          <p:spPr bwMode="gray">
            <a:xfrm>
              <a:off x="7096666" y="4716198"/>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QR</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コード</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8" name="テキスト ボックス 7">
              <a:extLst>
                <a:ext uri="{FF2B5EF4-FFF2-40B4-BE49-F238E27FC236}">
                  <a16:creationId xmlns:a16="http://schemas.microsoft.com/office/drawing/2014/main" id="{2F143A53-9773-719A-B8FC-D352E205DC32}"/>
                </a:ext>
              </a:extLst>
            </p:cNvPr>
            <p:cNvSpPr txBox="1"/>
            <p:nvPr/>
          </p:nvSpPr>
          <p:spPr bwMode="gray">
            <a:xfrm>
              <a:off x="7096666" y="6195213"/>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Universal Resolver</a:t>
              </a:r>
            </a:p>
          </p:txBody>
        </p:sp>
        <p:sp>
          <p:nvSpPr>
            <p:cNvPr id="9" name="テキスト ボックス 8">
              <a:extLst>
                <a:ext uri="{FF2B5EF4-FFF2-40B4-BE49-F238E27FC236}">
                  <a16:creationId xmlns:a16="http://schemas.microsoft.com/office/drawing/2014/main" id="{1FCCA313-A5C1-BDBF-D93E-B73B2F795DB9}"/>
                </a:ext>
              </a:extLst>
            </p:cNvPr>
            <p:cNvSpPr txBox="1"/>
            <p:nvPr/>
          </p:nvSpPr>
          <p:spPr bwMode="gray">
            <a:xfrm>
              <a:off x="7096666" y="1762589"/>
              <a:ext cx="2389884" cy="396000"/>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Verifiable Credentials </a:t>
              </a:r>
              <a:br>
                <a:rPr kumimoji="0" lang="en-US" altLang="ja-JP" sz="1200" b="0" i="0" u="none" strike="noStrike" kern="0" cap="none" spc="0" normalizeH="0" baseline="0" noProof="0">
                  <a:ln>
                    <a:noFill/>
                  </a:ln>
                  <a:solidFill>
                    <a:prstClr val="black"/>
                  </a:solidFill>
                  <a:effectLst/>
                  <a:uLnTx/>
                  <a:uFillTx/>
                  <a:latin typeface="+mn-ea"/>
                  <a:ea typeface="+mn-ea"/>
                  <a:cs typeface="Arial" charset="0"/>
                </a:rPr>
              </a:b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Data Model v1.1</a:t>
              </a:r>
            </a:p>
          </p:txBody>
        </p:sp>
        <p:sp>
          <p:nvSpPr>
            <p:cNvPr id="10" name="テキスト ボックス 9">
              <a:extLst>
                <a:ext uri="{FF2B5EF4-FFF2-40B4-BE49-F238E27FC236}">
                  <a16:creationId xmlns:a16="http://schemas.microsoft.com/office/drawing/2014/main" id="{066ADB1F-F6D5-604A-5817-6EC98081EDD3}"/>
                </a:ext>
              </a:extLst>
            </p:cNvPr>
            <p:cNvSpPr txBox="1"/>
            <p:nvPr/>
          </p:nvSpPr>
          <p:spPr bwMode="gray">
            <a:xfrm>
              <a:off x="7086925" y="3730188"/>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O</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ID4VP</a:t>
              </a:r>
            </a:p>
          </p:txBody>
        </p:sp>
        <p:sp>
          <p:nvSpPr>
            <p:cNvPr id="11" name="テキスト ボックス 10">
              <a:extLst>
                <a:ext uri="{FF2B5EF4-FFF2-40B4-BE49-F238E27FC236}">
                  <a16:creationId xmlns:a16="http://schemas.microsoft.com/office/drawing/2014/main" id="{14721E5F-89EA-CD45-181E-C74EEE957890}"/>
                </a:ext>
              </a:extLst>
            </p:cNvPr>
            <p:cNvSpPr txBox="1"/>
            <p:nvPr/>
          </p:nvSpPr>
          <p:spPr bwMode="gray">
            <a:xfrm>
              <a:off x="7096665" y="5209203"/>
              <a:ext cx="1160535"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did:web</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2" name="テキスト ボックス 11">
              <a:extLst>
                <a:ext uri="{FF2B5EF4-FFF2-40B4-BE49-F238E27FC236}">
                  <a16:creationId xmlns:a16="http://schemas.microsoft.com/office/drawing/2014/main" id="{B2CF191D-16D5-A5FD-D6D0-B3F95EE4761F}"/>
                </a:ext>
              </a:extLst>
            </p:cNvPr>
            <p:cNvSpPr txBox="1"/>
            <p:nvPr/>
          </p:nvSpPr>
          <p:spPr bwMode="gray">
            <a:xfrm>
              <a:off x="8327866" y="5209203"/>
              <a:ext cx="1160535"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did:ion</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3" name="テキスト ボックス 12">
              <a:extLst>
                <a:ext uri="{FF2B5EF4-FFF2-40B4-BE49-F238E27FC236}">
                  <a16:creationId xmlns:a16="http://schemas.microsoft.com/office/drawing/2014/main" id="{A4AA8376-B8BB-6D31-7BF9-7E9C448936C4}"/>
                </a:ext>
              </a:extLst>
            </p:cNvPr>
            <p:cNvSpPr txBox="1"/>
            <p:nvPr/>
          </p:nvSpPr>
          <p:spPr bwMode="gray">
            <a:xfrm>
              <a:off x="7096665" y="5702208"/>
              <a:ext cx="1160535"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W</a:t>
              </a: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eb</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サーバ</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4" name="テキスト ボックス 13">
              <a:extLst>
                <a:ext uri="{FF2B5EF4-FFF2-40B4-BE49-F238E27FC236}">
                  <a16:creationId xmlns:a16="http://schemas.microsoft.com/office/drawing/2014/main" id="{D6AA644D-82B3-5087-C90D-074913BB0FCB}"/>
                </a:ext>
              </a:extLst>
            </p:cNvPr>
            <p:cNvSpPr txBox="1"/>
            <p:nvPr/>
          </p:nvSpPr>
          <p:spPr bwMode="gray">
            <a:xfrm>
              <a:off x="8327866" y="5702208"/>
              <a:ext cx="1160535"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err="1">
                  <a:solidFill>
                    <a:prstClr val="black"/>
                  </a:solidFill>
                  <a:latin typeface="+mn-ea"/>
                  <a:ea typeface="+mn-ea"/>
                  <a:cs typeface="Arial" charset="0"/>
                </a:rPr>
                <a:t>i</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on</a:t>
              </a:r>
              <a:r>
                <a:rPr kumimoji="0" lang="en-US" altLang="ja-JP" sz="1200" kern="0" dirty="0">
                  <a:solidFill>
                    <a:prstClr val="black"/>
                  </a:solidFill>
                  <a:latin typeface="+mn-ea"/>
                  <a:ea typeface="+mn-ea"/>
                  <a:cs typeface="Arial" charset="0"/>
                </a:rPr>
                <a:t> network</a:t>
              </a:r>
              <a:b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b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(bitcoin</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レイヤ２</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a:t>
              </a:r>
            </a:p>
          </p:txBody>
        </p:sp>
        <p:sp>
          <p:nvSpPr>
            <p:cNvPr id="15" name="テキスト ボックス 14">
              <a:extLst>
                <a:ext uri="{FF2B5EF4-FFF2-40B4-BE49-F238E27FC236}">
                  <a16:creationId xmlns:a16="http://schemas.microsoft.com/office/drawing/2014/main" id="{9FAD24C5-9D1B-5B4F-B8E2-C5848BDB609F}"/>
                </a:ext>
              </a:extLst>
            </p:cNvPr>
            <p:cNvSpPr txBox="1"/>
            <p:nvPr/>
          </p:nvSpPr>
          <p:spPr bwMode="gray">
            <a:xfrm>
              <a:off x="5451507" y="2247702"/>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フォーマット</a:t>
              </a:r>
            </a:p>
          </p:txBody>
        </p:sp>
        <p:sp>
          <p:nvSpPr>
            <p:cNvPr id="16" name="テキスト ボックス 15">
              <a:extLst>
                <a:ext uri="{FF2B5EF4-FFF2-40B4-BE49-F238E27FC236}">
                  <a16:creationId xmlns:a16="http://schemas.microsoft.com/office/drawing/2014/main" id="{02D45853-4E2E-0A66-1781-D70D9120BDAD}"/>
                </a:ext>
              </a:extLst>
            </p:cNvPr>
            <p:cNvSpPr txBox="1"/>
            <p:nvPr/>
          </p:nvSpPr>
          <p:spPr bwMode="gray">
            <a:xfrm>
              <a:off x="5451507" y="4224179"/>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エンティティ間の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通信プロトコル</a:t>
              </a:r>
            </a:p>
          </p:txBody>
        </p:sp>
        <p:sp>
          <p:nvSpPr>
            <p:cNvPr id="17" name="テキスト ボックス 16">
              <a:extLst>
                <a:ext uri="{FF2B5EF4-FFF2-40B4-BE49-F238E27FC236}">
                  <a16:creationId xmlns:a16="http://schemas.microsoft.com/office/drawing/2014/main" id="{4091ECC2-7E6E-0053-6477-A9104DE6B9A8}"/>
                </a:ext>
              </a:extLst>
            </p:cNvPr>
            <p:cNvSpPr txBox="1"/>
            <p:nvPr/>
          </p:nvSpPr>
          <p:spPr bwMode="gray">
            <a:xfrm>
              <a:off x="5451507" y="4718170"/>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dirty="0">
                  <a:ln>
                    <a:noFill/>
                  </a:ln>
                  <a:solidFill>
                    <a:prstClr val="black"/>
                  </a:solidFill>
                  <a:effectLst/>
                  <a:uLnTx/>
                  <a:uFillTx/>
                  <a:latin typeface="+mn-ea"/>
                  <a:ea typeface="+mn-ea"/>
                  <a:cs typeface="+mn-cs"/>
                </a:rPr>
                <a:t>通信</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I/F</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r>
                <a:rPr kumimoji="1" lang="ja-JP" altLang="en-US" sz="1200" b="0" i="0" u="none" strike="noStrike" kern="0" cap="none" spc="0" normalizeH="0" baseline="0" noProof="0" dirty="0">
                  <a:ln>
                    <a:noFill/>
                  </a:ln>
                  <a:solidFill>
                    <a:prstClr val="black"/>
                  </a:solidFill>
                  <a:effectLst/>
                  <a:uLnTx/>
                  <a:uFillTx/>
                  <a:latin typeface="+mn-ea"/>
                  <a:ea typeface="+mn-ea"/>
                  <a:cs typeface="+mn-cs"/>
                </a:rPr>
                <a:t>デバイス連携</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p>
          </p:txBody>
        </p:sp>
        <p:sp>
          <p:nvSpPr>
            <p:cNvPr id="18" name="テキスト ボックス 17">
              <a:extLst>
                <a:ext uri="{FF2B5EF4-FFF2-40B4-BE49-F238E27FC236}">
                  <a16:creationId xmlns:a16="http://schemas.microsoft.com/office/drawing/2014/main" id="{D72A00AB-F39A-1C95-9360-BD3418EE7C82}"/>
                </a:ext>
              </a:extLst>
            </p:cNvPr>
            <p:cNvSpPr txBox="1"/>
            <p:nvPr/>
          </p:nvSpPr>
          <p:spPr bwMode="gray">
            <a:xfrm>
              <a:off x="5451507" y="6200143"/>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a:ln>
                    <a:noFill/>
                  </a:ln>
                  <a:solidFill>
                    <a:prstClr val="black"/>
                  </a:solidFill>
                  <a:effectLst/>
                  <a:uLnTx/>
                  <a:uFillTx/>
                  <a:latin typeface="+mn-ea"/>
                  <a:ea typeface="+mn-ea"/>
                  <a:cs typeface="+mn-cs"/>
                </a:rPr>
                <a:t>名前解決</a:t>
              </a:r>
              <a:endParaRPr kumimoji="1" lang="en-US" altLang="ja-JP" sz="1200" b="0" i="0" u="none" strike="noStrike" kern="0" cap="none" spc="0" normalizeH="0" baseline="0" noProof="0">
                <a:ln>
                  <a:noFill/>
                </a:ln>
                <a:solidFill>
                  <a:prstClr val="black"/>
                </a:solidFill>
                <a:effectLst/>
                <a:uLnTx/>
                <a:uFillTx/>
                <a:latin typeface="+mn-ea"/>
                <a:ea typeface="+mn-ea"/>
                <a:cs typeface="+mn-cs"/>
              </a:endParaRPr>
            </a:p>
          </p:txBody>
        </p:sp>
        <p:sp>
          <p:nvSpPr>
            <p:cNvPr id="19" name="テキスト ボックス 18">
              <a:extLst>
                <a:ext uri="{FF2B5EF4-FFF2-40B4-BE49-F238E27FC236}">
                  <a16:creationId xmlns:a16="http://schemas.microsoft.com/office/drawing/2014/main" id="{C00B07D6-A3C7-EEED-7EE7-6445221C9A79}"/>
                </a:ext>
              </a:extLst>
            </p:cNvPr>
            <p:cNvSpPr txBox="1"/>
            <p:nvPr/>
          </p:nvSpPr>
          <p:spPr bwMode="gray">
            <a:xfrm>
              <a:off x="5451371" y="274169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実現方式</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0" name="テキスト ボックス 19">
              <a:extLst>
                <a:ext uri="{FF2B5EF4-FFF2-40B4-BE49-F238E27FC236}">
                  <a16:creationId xmlns:a16="http://schemas.microsoft.com/office/drawing/2014/main" id="{80EE1342-5EA1-43C2-9B9B-7DEFF122C23F}"/>
                </a:ext>
              </a:extLst>
            </p:cNvPr>
            <p:cNvSpPr txBox="1"/>
            <p:nvPr/>
          </p:nvSpPr>
          <p:spPr bwMode="gray">
            <a:xfrm>
              <a:off x="5451371" y="3235685"/>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署名方式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1" name="テキスト ボックス 20">
              <a:extLst>
                <a:ext uri="{FF2B5EF4-FFF2-40B4-BE49-F238E27FC236}">
                  <a16:creationId xmlns:a16="http://schemas.microsoft.com/office/drawing/2014/main" id="{E34EA1B7-59DA-168F-FC35-24B5074C2124}"/>
                </a:ext>
              </a:extLst>
            </p:cNvPr>
            <p:cNvSpPr txBox="1"/>
            <p:nvPr/>
          </p:nvSpPr>
          <p:spPr bwMode="gray">
            <a:xfrm>
              <a:off x="5451507" y="1753711"/>
              <a:ext cx="1589367"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22" name="テキスト ボックス 21">
              <a:extLst>
                <a:ext uri="{FF2B5EF4-FFF2-40B4-BE49-F238E27FC236}">
                  <a16:creationId xmlns:a16="http://schemas.microsoft.com/office/drawing/2014/main" id="{46A5EFE1-6A0D-68F1-46B4-3A6CE1393523}"/>
                </a:ext>
              </a:extLst>
            </p:cNvPr>
            <p:cNvSpPr txBox="1"/>
            <p:nvPr/>
          </p:nvSpPr>
          <p:spPr bwMode="gray">
            <a:xfrm>
              <a:off x="5451507" y="3730188"/>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検証者に提供する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23" name="テキスト ボックス 22">
              <a:extLst>
                <a:ext uri="{FF2B5EF4-FFF2-40B4-BE49-F238E27FC236}">
                  <a16:creationId xmlns:a16="http://schemas.microsoft.com/office/drawing/2014/main" id="{FFD8CC97-E1C4-12EC-536C-CABF2CC5CE8A}"/>
                </a:ext>
              </a:extLst>
            </p:cNvPr>
            <p:cNvSpPr txBox="1"/>
            <p:nvPr/>
          </p:nvSpPr>
          <p:spPr bwMode="gray">
            <a:xfrm>
              <a:off x="5451507" y="521216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システムアクセスの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ための識別子</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4" name="テキスト ボックス 23">
              <a:extLst>
                <a:ext uri="{FF2B5EF4-FFF2-40B4-BE49-F238E27FC236}">
                  <a16:creationId xmlns:a16="http://schemas.microsoft.com/office/drawing/2014/main" id="{B2BEE7C2-63AA-54EB-D787-55204F340F26}"/>
                </a:ext>
              </a:extLst>
            </p:cNvPr>
            <p:cNvSpPr txBox="1"/>
            <p:nvPr/>
          </p:nvSpPr>
          <p:spPr bwMode="gray">
            <a:xfrm>
              <a:off x="5451507" y="5706152"/>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DID Document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格納方式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ストレージ</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p>
          </p:txBody>
        </p:sp>
        <p:sp>
          <p:nvSpPr>
            <p:cNvPr id="25" name="正方形/長方形 24">
              <a:extLst>
                <a:ext uri="{FF2B5EF4-FFF2-40B4-BE49-F238E27FC236}">
                  <a16:creationId xmlns:a16="http://schemas.microsoft.com/office/drawing/2014/main" id="{A0D3DD1E-6C88-FBFF-6A93-9252C9CA1941}"/>
                </a:ext>
              </a:extLst>
            </p:cNvPr>
            <p:cNvSpPr/>
            <p:nvPr/>
          </p:nvSpPr>
          <p:spPr bwMode="gray">
            <a:xfrm>
              <a:off x="5146162" y="1753711"/>
              <a:ext cx="259023" cy="2372477"/>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6" name="正方形/長方形 25">
              <a:extLst>
                <a:ext uri="{FF2B5EF4-FFF2-40B4-BE49-F238E27FC236}">
                  <a16:creationId xmlns:a16="http://schemas.microsoft.com/office/drawing/2014/main" id="{F4D75D5B-0DE0-7230-4881-5526AA20B0C4}"/>
                </a:ext>
              </a:extLst>
            </p:cNvPr>
            <p:cNvSpPr/>
            <p:nvPr/>
          </p:nvSpPr>
          <p:spPr bwMode="gray">
            <a:xfrm>
              <a:off x="5146162" y="4224179"/>
              <a:ext cx="259023" cy="889991"/>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Agent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7" name="正方形/長方形 26">
              <a:extLst>
                <a:ext uri="{FF2B5EF4-FFF2-40B4-BE49-F238E27FC236}">
                  <a16:creationId xmlns:a16="http://schemas.microsoft.com/office/drawing/2014/main" id="{508A37C5-69B2-7934-60D3-2C5FB4653A95}"/>
                </a:ext>
              </a:extLst>
            </p:cNvPr>
            <p:cNvSpPr/>
            <p:nvPr/>
          </p:nvSpPr>
          <p:spPr bwMode="gray">
            <a:xfrm>
              <a:off x="5146162" y="5204018"/>
              <a:ext cx="259023" cy="1393632"/>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28" name="テキスト ボックス 27">
              <a:extLst>
                <a:ext uri="{FF2B5EF4-FFF2-40B4-BE49-F238E27FC236}">
                  <a16:creationId xmlns:a16="http://schemas.microsoft.com/office/drawing/2014/main" id="{A6E1D4E6-E224-475B-7E6E-386E4DBD9203}"/>
                </a:ext>
              </a:extLst>
            </p:cNvPr>
            <p:cNvSpPr txBox="1"/>
            <p:nvPr/>
          </p:nvSpPr>
          <p:spPr bwMode="gray">
            <a:xfrm>
              <a:off x="7096666" y="2742681"/>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選択的開示は実装検討中</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9" name="テキスト ボックス 28">
              <a:extLst>
                <a:ext uri="{FF2B5EF4-FFF2-40B4-BE49-F238E27FC236}">
                  <a16:creationId xmlns:a16="http://schemas.microsoft.com/office/drawing/2014/main" id="{5BA8CB1F-7ECD-94AD-21B4-DC43F2D1E7AB}"/>
                </a:ext>
              </a:extLst>
            </p:cNvPr>
            <p:cNvSpPr txBox="1"/>
            <p:nvPr/>
          </p:nvSpPr>
          <p:spPr bwMode="gray">
            <a:xfrm>
              <a:off x="7096666" y="3235685"/>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EdDSA</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grpSp>
      <p:sp>
        <p:nvSpPr>
          <p:cNvPr id="31" name="正方形/長方形 30">
            <a:extLst>
              <a:ext uri="{FF2B5EF4-FFF2-40B4-BE49-F238E27FC236}">
                <a16:creationId xmlns:a16="http://schemas.microsoft.com/office/drawing/2014/main" id="{C5024DFF-762E-77B2-94FE-EDC657F20855}"/>
              </a:ext>
            </a:extLst>
          </p:cNvPr>
          <p:cNvSpPr/>
          <p:nvPr/>
        </p:nvSpPr>
        <p:spPr bwMode="gray">
          <a:xfrm>
            <a:off x="283068" y="1484313"/>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mn-ea"/>
                <a:ea typeface="+mn-ea"/>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mn-ea"/>
              <a:ea typeface="+mn-ea"/>
              <a:cs typeface="Arial" charset="0"/>
            </a:endParaRPr>
          </a:p>
        </p:txBody>
      </p:sp>
      <p:graphicFrame>
        <p:nvGraphicFramePr>
          <p:cNvPr id="32" name="表 11">
            <a:extLst>
              <a:ext uri="{FF2B5EF4-FFF2-40B4-BE49-F238E27FC236}">
                <a16:creationId xmlns:a16="http://schemas.microsoft.com/office/drawing/2014/main" id="{75110163-F26A-C97F-DB5A-AA94D14D3BD2}"/>
              </a:ext>
            </a:extLst>
          </p:cNvPr>
          <p:cNvGraphicFramePr>
            <a:graphicFrameLocks noGrp="1"/>
          </p:cNvGraphicFramePr>
          <p:nvPr>
            <p:extLst>
              <p:ext uri="{D42A27DB-BD31-4B8C-83A1-F6EECF244321}">
                <p14:modId xmlns:p14="http://schemas.microsoft.com/office/powerpoint/2010/main" val="378821579"/>
              </p:ext>
            </p:extLst>
          </p:nvPr>
        </p:nvGraphicFramePr>
        <p:xfrm>
          <a:off x="283068" y="1777281"/>
          <a:ext cx="4473287" cy="4466913"/>
        </p:xfrm>
        <a:graphic>
          <a:graphicData uri="http://schemas.openxmlformats.org/drawingml/2006/table">
            <a:tbl>
              <a:tblPr firstRow="1" bandRow="1"/>
              <a:tblGrid>
                <a:gridCol w="1169911">
                  <a:extLst>
                    <a:ext uri="{9D8B030D-6E8A-4147-A177-3AD203B41FA5}">
                      <a16:colId xmlns:a16="http://schemas.microsoft.com/office/drawing/2014/main" val="840277757"/>
                    </a:ext>
                  </a:extLst>
                </a:gridCol>
                <a:gridCol w="3303376">
                  <a:extLst>
                    <a:ext uri="{9D8B030D-6E8A-4147-A177-3AD203B41FA5}">
                      <a16:colId xmlns:a16="http://schemas.microsoft.com/office/drawing/2014/main" val="2286964954"/>
                    </a:ext>
                  </a:extLst>
                </a:gridCol>
              </a:tblGrid>
              <a:tr h="398847">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開発元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Microsoft</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887371">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サービス概要</a:t>
                      </a:r>
                      <a:endParaRPr lang="en-US" altLang="ja-JP" sz="120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lang="ja-JP" altLang="en-US" sz="1200" dirty="0">
                          <a:effectLst/>
                          <a:latin typeface="+mn-ea"/>
                          <a:ea typeface="+mn-ea"/>
                        </a:rPr>
                        <a:t>従業員・顧客等の資格情報の発行・検証が可能なサービスを提供</a:t>
                      </a:r>
                      <a:endParaRPr lang="en-US" altLang="ja-JP" sz="1200" dirty="0">
                        <a:effectLst/>
                        <a:latin typeface="+mn-ea"/>
                        <a:ea typeface="+mn-ea"/>
                      </a:endParaRPr>
                    </a:p>
                    <a:p>
                      <a:pPr marL="171450" indent="-171450">
                        <a:spcBef>
                          <a:spcPts val="600"/>
                        </a:spcBef>
                        <a:buFont typeface="Arial" panose="020B0604020202020204" pitchFamily="34" charset="0"/>
                        <a:buChar char="•"/>
                      </a:pPr>
                      <a:r>
                        <a:rPr lang="en-US" altLang="ja-JP" sz="1200" dirty="0">
                          <a:effectLst/>
                          <a:latin typeface="+mn-ea"/>
                          <a:ea typeface="+mn-ea"/>
                        </a:rPr>
                        <a:t>Microsoft </a:t>
                      </a:r>
                      <a:r>
                        <a:rPr lang="en-US" altLang="ja-JP" sz="1200" dirty="0" err="1">
                          <a:effectLst/>
                          <a:latin typeface="+mn-ea"/>
                          <a:ea typeface="+mn-ea"/>
                        </a:rPr>
                        <a:t>Entra</a:t>
                      </a:r>
                      <a:r>
                        <a:rPr lang="en-US" altLang="ja-JP" sz="1200" dirty="0">
                          <a:effectLst/>
                          <a:latin typeface="+mn-ea"/>
                          <a:ea typeface="+mn-ea"/>
                        </a:rPr>
                        <a:t> ID </a:t>
                      </a:r>
                      <a:r>
                        <a:rPr lang="ja-JP" altLang="en-US" sz="1200" dirty="0">
                          <a:effectLst/>
                          <a:latin typeface="+mn-ea"/>
                          <a:ea typeface="+mn-ea"/>
                        </a:rPr>
                        <a:t>のサービスに含まれており、</a:t>
                      </a:r>
                      <a:r>
                        <a:rPr lang="en-US" altLang="ja-JP" sz="1200" dirty="0">
                          <a:effectLst/>
                          <a:latin typeface="+mn-ea"/>
                          <a:ea typeface="+mn-ea"/>
                        </a:rPr>
                        <a:t>Identity Access Management </a:t>
                      </a:r>
                      <a:r>
                        <a:rPr lang="ja-JP" altLang="en-US" sz="1200" dirty="0">
                          <a:effectLst/>
                          <a:latin typeface="+mn-ea"/>
                          <a:ea typeface="+mn-ea"/>
                        </a:rPr>
                        <a:t>関連のサービスの拡張で、追加費用なしで利用可能</a:t>
                      </a:r>
                      <a:endParaRPr lang="en-US" altLang="ja-JP" sz="1200" dirty="0">
                        <a:effectLst/>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44550905"/>
                  </a:ext>
                </a:extLst>
              </a:tr>
              <a:tr h="1099840">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利用事例</a:t>
                      </a:r>
                      <a:endParaRPr lang="en-US" altLang="ja-JP" sz="120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rPr>
                        <a:t>NHS(National Health Service)</a:t>
                      </a:r>
                      <a:br>
                        <a:rPr kumimoji="1" lang="en-US" altLang="ja-JP" sz="1200" dirty="0">
                          <a:latin typeface="+mn-ea"/>
                          <a:ea typeface="+mn-ea"/>
                        </a:rPr>
                      </a:br>
                      <a:r>
                        <a:rPr kumimoji="1" lang="ja-JP" altLang="en-US" sz="1200" dirty="0">
                          <a:latin typeface="+mn-ea"/>
                          <a:ea typeface="+mn-ea"/>
                        </a:rPr>
                        <a:t>医療従事者の資格管理</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ja-JP" altLang="en-US" sz="1200" dirty="0">
                          <a:latin typeface="+mn-ea"/>
                          <a:ea typeface="+mn-ea"/>
                        </a:rPr>
                        <a:t>ロイヤルメルボルン工科大学</a:t>
                      </a:r>
                      <a:br>
                        <a:rPr kumimoji="1" lang="en-US" altLang="ja-JP" sz="1200" dirty="0">
                          <a:latin typeface="+mn-ea"/>
                          <a:ea typeface="+mn-ea"/>
                        </a:rPr>
                      </a:br>
                      <a:r>
                        <a:rPr kumimoji="1" lang="ja-JP" altLang="en-US" sz="1200" dirty="0">
                          <a:latin typeface="+mn-ea"/>
                          <a:ea typeface="+mn-ea"/>
                        </a:rPr>
                        <a:t>成績証明書としての活用</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ja-JP" altLang="en-US" sz="1200" dirty="0">
                          <a:latin typeface="+mn-ea"/>
                          <a:ea typeface="+mn-ea"/>
                        </a:rPr>
                        <a:t>イギリス教育省</a:t>
                      </a:r>
                      <a:br>
                        <a:rPr kumimoji="1" lang="en-US" altLang="ja-JP" sz="1200" dirty="0">
                          <a:latin typeface="+mn-ea"/>
                          <a:ea typeface="+mn-ea"/>
                        </a:rPr>
                      </a:br>
                      <a:r>
                        <a:rPr kumimoji="1" lang="ja-JP" altLang="en-US" sz="1200" dirty="0">
                          <a:latin typeface="+mn-ea"/>
                          <a:ea typeface="+mn-ea"/>
                        </a:rPr>
                        <a:t>成績証明書としての活用</a:t>
                      </a:r>
                      <a:r>
                        <a:rPr kumimoji="1" lang="en-US" altLang="ja-JP" sz="1200" dirty="0">
                          <a:latin typeface="+mn-ea"/>
                          <a:ea typeface="+mn-ea"/>
                        </a:rPr>
                        <a:t>(</a:t>
                      </a:r>
                      <a:r>
                        <a:rPr kumimoji="1" lang="ja-JP" altLang="en-US" sz="1200" dirty="0">
                          <a:latin typeface="+mn-ea"/>
                          <a:ea typeface="+mn-ea"/>
                        </a:rPr>
                        <a:t>実証</a:t>
                      </a:r>
                      <a:r>
                        <a:rPr kumimoji="1" lang="en-US" altLang="ja-JP" sz="1200" dirty="0">
                          <a:latin typeface="+mn-ea"/>
                          <a:ea typeface="+mn-ea"/>
                        </a:rPr>
                        <a:t>)</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78474215"/>
                  </a:ext>
                </a:extLst>
              </a:tr>
              <a:tr h="79988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n-ea"/>
                          <a:ea typeface="+mn-ea"/>
                          <a:cs typeface="+mn-cs"/>
                        </a:rPr>
                        <a:t>関与</a:t>
                      </a:r>
                      <a:r>
                        <a:rPr kumimoji="1" lang="en-US" altLang="ja-JP" sz="1200" kern="1200" dirty="0">
                          <a:solidFill>
                            <a:schemeClr val="tx1"/>
                          </a:solidFill>
                          <a:latin typeface="+mn-ea"/>
                          <a:ea typeface="+mn-ea"/>
                          <a:cs typeface="+mn-cs"/>
                        </a:rPr>
                        <a:t>/</a:t>
                      </a:r>
                      <a:r>
                        <a:rPr kumimoji="1" lang="ja-JP" altLang="en-US" sz="1200" kern="1200" dirty="0">
                          <a:solidFill>
                            <a:schemeClr val="tx1"/>
                          </a:solidFill>
                          <a:latin typeface="+mn-ea"/>
                          <a:ea typeface="+mn-ea"/>
                          <a:cs typeface="+mn-cs"/>
                        </a:rPr>
                        <a:t>参照している主要規格団体・フレームワーク</a:t>
                      </a:r>
                      <a:endParaRPr kumimoji="1" lang="en-US" altLang="ja-JP" sz="1200" kern="1200" dirty="0">
                        <a:solidFill>
                          <a:schemeClr val="tx1"/>
                        </a:solidFill>
                        <a:latin typeface="+mn-ea"/>
                        <a:ea typeface="+mn-ea"/>
                        <a:cs typeface="+mn-cs"/>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rPr>
                        <a:t>W3C (VC</a:t>
                      </a:r>
                      <a:r>
                        <a:rPr kumimoji="1" lang="ja-JP" altLang="en-US" sz="1200" dirty="0">
                          <a:latin typeface="+mn-ea"/>
                          <a:ea typeface="+mn-ea"/>
                        </a:rPr>
                        <a:t>データモデル、</a:t>
                      </a:r>
                      <a:r>
                        <a:rPr kumimoji="1" lang="en-US" altLang="ja-JP" sz="1200" dirty="0">
                          <a:latin typeface="+mn-ea"/>
                          <a:ea typeface="+mn-ea"/>
                        </a:rPr>
                        <a:t>JWT-VC</a:t>
                      </a:r>
                      <a:r>
                        <a:rPr kumimoji="1" lang="ja-JP" altLang="en-US" sz="1200" dirty="0">
                          <a:latin typeface="+mn-ea"/>
                          <a:ea typeface="+mn-ea"/>
                        </a:rPr>
                        <a:t>等</a:t>
                      </a:r>
                      <a:r>
                        <a:rPr kumimoji="1" lang="en-US" altLang="ja-JP" sz="1200" dirty="0">
                          <a:latin typeface="+mn-ea"/>
                          <a:ea typeface="+mn-ea"/>
                        </a:rPr>
                        <a:t>)</a:t>
                      </a:r>
                    </a:p>
                    <a:p>
                      <a:pPr marL="171450" indent="-171450">
                        <a:spcBef>
                          <a:spcPts val="600"/>
                        </a:spcBef>
                        <a:buFont typeface="Arial" panose="020B0604020202020204" pitchFamily="34" charset="0"/>
                        <a:buChar char="•"/>
                      </a:pPr>
                      <a:r>
                        <a:rPr kumimoji="1" lang="en-US" altLang="ja-JP" sz="1200" dirty="0">
                          <a:latin typeface="+mn-ea"/>
                          <a:ea typeface="+mn-ea"/>
                        </a:rPr>
                        <a:t>IETF (JWT-VC) </a:t>
                      </a:r>
                    </a:p>
                    <a:p>
                      <a:pPr marL="171450" indent="-171450">
                        <a:spcBef>
                          <a:spcPts val="600"/>
                        </a:spcBef>
                        <a:buFont typeface="Arial" panose="020B0604020202020204" pitchFamily="34" charset="0"/>
                        <a:buChar char="•"/>
                      </a:pPr>
                      <a:r>
                        <a:rPr kumimoji="1" lang="en-US" altLang="ja-JP" sz="1200" dirty="0">
                          <a:latin typeface="+mn-ea"/>
                          <a:ea typeface="+mn-ea"/>
                        </a:rPr>
                        <a:t>DIF (Presentation Exchange v1.0 / Well Known DID Configuration </a:t>
                      </a:r>
                      <a:r>
                        <a:rPr kumimoji="1" lang="ja-JP" altLang="en-US" sz="1200" dirty="0">
                          <a:latin typeface="+mn-ea"/>
                          <a:ea typeface="+mn-ea"/>
                        </a:rPr>
                        <a:t>等に準拠</a:t>
                      </a:r>
                      <a:r>
                        <a:rPr kumimoji="1" lang="en-US" altLang="ja-JP" sz="1200" dirty="0">
                          <a:latin typeface="+mn-ea"/>
                          <a:ea typeface="+mn-ea"/>
                        </a:rPr>
                        <a:t>)</a:t>
                      </a:r>
                    </a:p>
                    <a:p>
                      <a:pPr marL="171450" indent="-171450">
                        <a:spcBef>
                          <a:spcPts val="600"/>
                        </a:spcBef>
                        <a:buFont typeface="Arial" panose="020B0604020202020204" pitchFamily="34" charset="0"/>
                        <a:buChar char="•"/>
                      </a:pPr>
                      <a:r>
                        <a:rPr kumimoji="1" lang="en-US" altLang="ja-JP" sz="1200" dirty="0">
                          <a:latin typeface="+mn-ea"/>
                          <a:ea typeface="+mn-ea"/>
                        </a:rPr>
                        <a:t>OIDF (SIOPv2 /</a:t>
                      </a:r>
                      <a:r>
                        <a:rPr kumimoji="1" lang="ja-JP" altLang="en-US" sz="1200" dirty="0">
                          <a:latin typeface="+mn-ea"/>
                          <a:ea typeface="+mn-ea"/>
                        </a:rPr>
                        <a:t> </a:t>
                      </a:r>
                      <a:r>
                        <a:rPr kumimoji="1" lang="en-US" altLang="ja-JP" sz="1200" dirty="0">
                          <a:latin typeface="+mn-ea"/>
                          <a:ea typeface="+mn-ea"/>
                        </a:rPr>
                        <a:t>OID4VC)</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545442620"/>
                  </a:ext>
                </a:extLst>
              </a:tr>
              <a:tr h="410466">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今後の動向</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N/A</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154406790"/>
                  </a:ext>
                </a:extLst>
              </a:tr>
            </a:tbl>
          </a:graphicData>
        </a:graphic>
      </p:graphicFrame>
      <p:sp>
        <p:nvSpPr>
          <p:cNvPr id="33" name="コンテンツ プレースホルダー 2">
            <a:extLst>
              <a:ext uri="{FF2B5EF4-FFF2-40B4-BE49-F238E27FC236}">
                <a16:creationId xmlns:a16="http://schemas.microsoft.com/office/drawing/2014/main" id="{66E7FC8B-2B76-5DA2-AE9E-94FADC91B7D7}"/>
              </a:ext>
            </a:extLst>
          </p:cNvPr>
          <p:cNvSpPr txBox="1">
            <a:spLocks/>
          </p:cNvSpPr>
          <p:nvPr/>
        </p:nvSpPr>
        <p:spPr>
          <a:xfrm>
            <a:off x="273050" y="899958"/>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latin typeface="+mn-ea"/>
                <a:ea typeface="+mn-ea"/>
              </a:rPr>
              <a:t>Microsoft</a:t>
            </a:r>
            <a:r>
              <a:rPr lang="ja-JP" altLang="en-US" dirty="0">
                <a:latin typeface="+mn-ea"/>
                <a:ea typeface="+mn-ea"/>
              </a:rPr>
              <a:t> </a:t>
            </a:r>
            <a:r>
              <a:rPr lang="en-US" altLang="ja-JP" dirty="0" err="1">
                <a:latin typeface="+mn-ea"/>
                <a:ea typeface="+mn-ea"/>
              </a:rPr>
              <a:t>Entra</a:t>
            </a:r>
            <a:r>
              <a:rPr lang="en-US" altLang="ja-JP" dirty="0">
                <a:latin typeface="+mn-ea"/>
                <a:ea typeface="+mn-ea"/>
              </a:rPr>
              <a:t> Verified ID</a:t>
            </a:r>
            <a:r>
              <a:rPr lang="ja-JP" altLang="en-US" dirty="0">
                <a:latin typeface="+mn-ea"/>
                <a:ea typeface="+mn-ea"/>
              </a:rPr>
              <a:t>は、</a:t>
            </a:r>
            <a:r>
              <a:rPr lang="en-US" altLang="ja-JP" dirty="0">
                <a:latin typeface="+mn-ea"/>
                <a:ea typeface="+mn-ea"/>
              </a:rPr>
              <a:t>Web</a:t>
            </a:r>
            <a:r>
              <a:rPr lang="ja-JP" altLang="en-US" dirty="0">
                <a:latin typeface="+mn-ea"/>
                <a:ea typeface="+mn-ea"/>
              </a:rPr>
              <a:t>サーバ、ブロックチェーン</a:t>
            </a:r>
            <a:r>
              <a:rPr lang="en-US" altLang="ja-JP" dirty="0">
                <a:latin typeface="+mn-ea"/>
                <a:ea typeface="+mn-ea"/>
              </a:rPr>
              <a:t>(ion</a:t>
            </a:r>
            <a:r>
              <a:rPr lang="ja-JP" altLang="en-US" dirty="0">
                <a:latin typeface="+mn-ea"/>
                <a:ea typeface="+mn-ea"/>
              </a:rPr>
              <a:t> </a:t>
            </a:r>
            <a:r>
              <a:rPr lang="en-US" altLang="ja-JP" dirty="0">
                <a:latin typeface="+mn-ea"/>
                <a:ea typeface="+mn-ea"/>
              </a:rPr>
              <a:t>network)</a:t>
            </a:r>
            <a:r>
              <a:rPr lang="ja-JP" altLang="en-US" dirty="0">
                <a:latin typeface="+mn-ea"/>
                <a:ea typeface="+mn-ea"/>
              </a:rPr>
              <a:t>のストレージに対応した証明書発行・検証サービスを提供している</a:t>
            </a:r>
            <a:endParaRPr kumimoji="1" lang="ja-JP" altLang="en-US" dirty="0">
              <a:latin typeface="+mn-ea"/>
              <a:ea typeface="+mn-ea"/>
            </a:endParaRPr>
          </a:p>
        </p:txBody>
      </p:sp>
      <p:sp>
        <p:nvSpPr>
          <p:cNvPr id="34" name="テキスト ボックス 33">
            <a:extLst>
              <a:ext uri="{FF2B5EF4-FFF2-40B4-BE49-F238E27FC236}">
                <a16:creationId xmlns:a16="http://schemas.microsoft.com/office/drawing/2014/main" id="{424966A4-D789-765A-AA36-7D9014E2E3DE}"/>
              </a:ext>
            </a:extLst>
          </p:cNvPr>
          <p:cNvSpPr txBox="1"/>
          <p:nvPr/>
        </p:nvSpPr>
        <p:spPr>
          <a:xfrm>
            <a:off x="283068" y="6416984"/>
            <a:ext cx="5107167" cy="138499"/>
          </a:xfrm>
          <a:prstGeom prst="rect">
            <a:avLst/>
          </a:prstGeom>
          <a:noFill/>
        </p:spPr>
        <p:txBody>
          <a:bodyPr wrap="none" lIns="0" tIns="0" rIns="0" bIns="0" rtlCol="0">
            <a:spAutoFit/>
          </a:bodyPr>
          <a:lstStyle/>
          <a:p>
            <a:r>
              <a:rPr lang="ja-JP" altLang="en-US" sz="900" dirty="0">
                <a:latin typeface="+mn-ea"/>
                <a:ea typeface="+mn-ea"/>
              </a:rPr>
              <a:t>出所：</a:t>
            </a:r>
            <a:r>
              <a:rPr lang="en-US" altLang="ja-JP" sz="900" dirty="0">
                <a:latin typeface="+mn-ea"/>
                <a:ea typeface="+mn-ea"/>
                <a:hlinkClick r:id="rId2"/>
              </a:rPr>
              <a:t>https://www.microsoft.com/ja-jp/security/business/identity-access/microsoft-entra-verified-id</a:t>
            </a:r>
            <a:endParaRPr kumimoji="1" lang="ja-JP" altLang="en-US" sz="900" dirty="0">
              <a:latin typeface="+mn-ea"/>
              <a:ea typeface="+mn-ea"/>
            </a:endParaRPr>
          </a:p>
        </p:txBody>
      </p:sp>
    </p:spTree>
    <p:extLst>
      <p:ext uri="{BB962C8B-B14F-4D97-AF65-F5344CB8AC3E}">
        <p14:creationId xmlns:p14="http://schemas.microsoft.com/office/powerpoint/2010/main" val="6390084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1887EB-663F-2465-BB30-B5BAC827ED75}"/>
              </a:ext>
            </a:extLst>
          </p:cNvPr>
          <p:cNvSpPr>
            <a:spLocks noGrp="1"/>
          </p:cNvSpPr>
          <p:nvPr>
            <p:ph type="title"/>
          </p:nvPr>
        </p:nvSpPr>
        <p:spPr/>
        <p:txBody>
          <a:bodyPr/>
          <a:lstStyle/>
          <a:p>
            <a:r>
              <a:rPr kumimoji="1" lang="en-US" altLang="ja-JP" dirty="0"/>
              <a:t>6.1. </a:t>
            </a:r>
            <a:r>
              <a:rPr kumimoji="1" lang="ja-JP" altLang="en-US" dirty="0"/>
              <a:t>サービス </a:t>
            </a:r>
            <a:r>
              <a:rPr kumimoji="1" lang="en-US" altLang="ja-JP" dirty="0"/>
              <a:t>–</a:t>
            </a:r>
            <a:r>
              <a:rPr kumimoji="1" lang="ja-JP" altLang="en-US" dirty="0"/>
              <a:t> </a:t>
            </a:r>
            <a:r>
              <a:rPr kumimoji="1" lang="en-US" altLang="ja-JP" dirty="0"/>
              <a:t>6.1.2. </a:t>
            </a:r>
            <a:r>
              <a:rPr kumimoji="1" lang="ja-JP" altLang="en-US" dirty="0"/>
              <a:t>サービス実装詳細 </a:t>
            </a:r>
            <a:r>
              <a:rPr kumimoji="1" lang="en-US" altLang="ja-JP" dirty="0"/>
              <a:t>(4)</a:t>
            </a:r>
            <a:r>
              <a:rPr kumimoji="1" lang="ja-JP" altLang="en-US" dirty="0"/>
              <a:t> </a:t>
            </a:r>
            <a:r>
              <a:rPr kumimoji="1" lang="en-US" altLang="ja-JP" dirty="0" err="1"/>
              <a:t>AnonCreds</a:t>
            </a:r>
            <a:endParaRPr kumimoji="1" lang="ja-JP" altLang="en-US" dirty="0"/>
          </a:p>
        </p:txBody>
      </p:sp>
      <p:sp>
        <p:nvSpPr>
          <p:cNvPr id="3" name="テキスト プレースホルダー 2">
            <a:extLst>
              <a:ext uri="{FF2B5EF4-FFF2-40B4-BE49-F238E27FC236}">
                <a16:creationId xmlns:a16="http://schemas.microsoft.com/office/drawing/2014/main" id="{31E181C9-C1B0-03D4-4667-DAA66D441A06}"/>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pSp>
        <p:nvGrpSpPr>
          <p:cNvPr id="12" name="グループ化 11">
            <a:extLst>
              <a:ext uri="{FF2B5EF4-FFF2-40B4-BE49-F238E27FC236}">
                <a16:creationId xmlns:a16="http://schemas.microsoft.com/office/drawing/2014/main" id="{DF1F7D3D-D344-8C63-58B7-87ADC5A04C81}"/>
              </a:ext>
            </a:extLst>
          </p:cNvPr>
          <p:cNvGrpSpPr/>
          <p:nvPr/>
        </p:nvGrpSpPr>
        <p:grpSpPr>
          <a:xfrm>
            <a:off x="5132388" y="1484313"/>
            <a:ext cx="4500561" cy="4827475"/>
            <a:chOff x="5132388" y="1484313"/>
            <a:chExt cx="4500561" cy="5113337"/>
          </a:xfrm>
        </p:grpSpPr>
        <p:sp>
          <p:nvSpPr>
            <p:cNvPr id="4" name="正方形/長方形 3">
              <a:extLst>
                <a:ext uri="{FF2B5EF4-FFF2-40B4-BE49-F238E27FC236}">
                  <a16:creationId xmlns:a16="http://schemas.microsoft.com/office/drawing/2014/main" id="{79B187FA-95BB-ACA0-40AD-15A539CAADD3}"/>
                </a:ext>
              </a:extLst>
            </p:cNvPr>
            <p:cNvSpPr/>
            <p:nvPr/>
          </p:nvSpPr>
          <p:spPr bwMode="gray">
            <a:xfrm>
              <a:off x="5132388" y="1484313"/>
              <a:ext cx="450056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mn-ea"/>
                  <a:ea typeface="+mn-ea"/>
                  <a:cs typeface="Arial" charset="0"/>
                </a:rPr>
                <a:t>実装技術スタック詳細</a:t>
              </a:r>
            </a:p>
          </p:txBody>
        </p:sp>
        <p:sp>
          <p:nvSpPr>
            <p:cNvPr id="5" name="テキスト ボックス 4">
              <a:extLst>
                <a:ext uri="{FF2B5EF4-FFF2-40B4-BE49-F238E27FC236}">
                  <a16:creationId xmlns:a16="http://schemas.microsoft.com/office/drawing/2014/main" id="{D880AE34-84CB-44F9-0B70-F0E0A4EFC912}"/>
                </a:ext>
              </a:extLst>
            </p:cNvPr>
            <p:cNvSpPr txBox="1"/>
            <p:nvPr/>
          </p:nvSpPr>
          <p:spPr bwMode="gray">
            <a:xfrm>
              <a:off x="7151287" y="2247759"/>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AnonCreds</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6" name="テキスト ボックス 5">
              <a:extLst>
                <a:ext uri="{FF2B5EF4-FFF2-40B4-BE49-F238E27FC236}">
                  <a16:creationId xmlns:a16="http://schemas.microsoft.com/office/drawing/2014/main" id="{CCA9C016-DB0E-0064-4E68-12FB3190A1C0}"/>
                </a:ext>
              </a:extLst>
            </p:cNvPr>
            <p:cNvSpPr txBox="1"/>
            <p:nvPr/>
          </p:nvSpPr>
          <p:spPr bwMode="gray">
            <a:xfrm>
              <a:off x="7142118" y="3725063"/>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Verifiable Presentations</a:t>
              </a:r>
            </a:p>
          </p:txBody>
        </p:sp>
        <p:sp>
          <p:nvSpPr>
            <p:cNvPr id="7" name="テキスト ボックス 6">
              <a:extLst>
                <a:ext uri="{FF2B5EF4-FFF2-40B4-BE49-F238E27FC236}">
                  <a16:creationId xmlns:a16="http://schemas.microsoft.com/office/drawing/2014/main" id="{348ABC37-53D5-501E-EE97-6E1797D7D35C}"/>
                </a:ext>
              </a:extLst>
            </p:cNvPr>
            <p:cNvSpPr txBox="1"/>
            <p:nvPr/>
          </p:nvSpPr>
          <p:spPr bwMode="gray">
            <a:xfrm>
              <a:off x="7151287" y="4219111"/>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DIDComm</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V2</a:t>
              </a:r>
            </a:p>
          </p:txBody>
        </p:sp>
        <p:sp>
          <p:nvSpPr>
            <p:cNvPr id="8" name="テキスト ボックス 7">
              <a:extLst>
                <a:ext uri="{FF2B5EF4-FFF2-40B4-BE49-F238E27FC236}">
                  <a16:creationId xmlns:a16="http://schemas.microsoft.com/office/drawing/2014/main" id="{8EDD60E5-1BE4-7841-7631-1B5673D8F728}"/>
                </a:ext>
              </a:extLst>
            </p:cNvPr>
            <p:cNvSpPr txBox="1"/>
            <p:nvPr/>
          </p:nvSpPr>
          <p:spPr bwMode="gray">
            <a:xfrm>
              <a:off x="7151287" y="4713159"/>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N</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A</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9" name="テキスト ボックス 8">
              <a:extLst>
                <a:ext uri="{FF2B5EF4-FFF2-40B4-BE49-F238E27FC236}">
                  <a16:creationId xmlns:a16="http://schemas.microsoft.com/office/drawing/2014/main" id="{35A9DC81-364B-92E5-3EFE-20B9EEF8A877}"/>
                </a:ext>
              </a:extLst>
            </p:cNvPr>
            <p:cNvSpPr txBox="1"/>
            <p:nvPr/>
          </p:nvSpPr>
          <p:spPr bwMode="gray">
            <a:xfrm>
              <a:off x="7151287" y="5207207"/>
              <a:ext cx="2479920" cy="396000"/>
            </a:xfrm>
            <a:prstGeom prst="rect">
              <a:avLst/>
            </a:prstGeom>
            <a:solidFill>
              <a:schemeClr val="bg1"/>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did:indy</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link secrets)</a:t>
              </a:r>
            </a:p>
          </p:txBody>
        </p:sp>
        <p:sp>
          <p:nvSpPr>
            <p:cNvPr id="10" name="テキスト ボックス 9">
              <a:extLst>
                <a:ext uri="{FF2B5EF4-FFF2-40B4-BE49-F238E27FC236}">
                  <a16:creationId xmlns:a16="http://schemas.microsoft.com/office/drawing/2014/main" id="{30D27D3C-F0AF-95E5-45D4-140A111FF0A9}"/>
                </a:ext>
              </a:extLst>
            </p:cNvPr>
            <p:cNvSpPr txBox="1"/>
            <p:nvPr/>
          </p:nvSpPr>
          <p:spPr bwMode="gray">
            <a:xfrm>
              <a:off x="7151287" y="5701255"/>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a:rPr>
                <a:t>Hyperledger </a:t>
              </a:r>
              <a:r>
                <a:rPr kumimoji="0" lang="en-US" altLang="ja-JP" sz="1200" kern="0">
                  <a:solidFill>
                    <a:prstClr val="black"/>
                  </a:solidFill>
                  <a:latin typeface="+mn-ea"/>
                  <a:ea typeface="+mn-ea"/>
                  <a:cs typeface="Arial"/>
                </a:rPr>
                <a:t>Indy</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1" name="テキスト ボックス 10">
              <a:extLst>
                <a:ext uri="{FF2B5EF4-FFF2-40B4-BE49-F238E27FC236}">
                  <a16:creationId xmlns:a16="http://schemas.microsoft.com/office/drawing/2014/main" id="{58D6907D-2091-6334-49EB-E11A96979841}"/>
                </a:ext>
              </a:extLst>
            </p:cNvPr>
            <p:cNvSpPr txBox="1"/>
            <p:nvPr/>
          </p:nvSpPr>
          <p:spPr bwMode="gray">
            <a:xfrm>
              <a:off x="7151287" y="6195303"/>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Universal Resolver</a:t>
              </a:r>
            </a:p>
          </p:txBody>
        </p:sp>
        <p:sp>
          <p:nvSpPr>
            <p:cNvPr id="13" name="テキスト ボックス 12">
              <a:extLst>
                <a:ext uri="{FF2B5EF4-FFF2-40B4-BE49-F238E27FC236}">
                  <a16:creationId xmlns:a16="http://schemas.microsoft.com/office/drawing/2014/main" id="{8B2F58CE-259B-328A-5E9E-539FC5DAD870}"/>
                </a:ext>
              </a:extLst>
            </p:cNvPr>
            <p:cNvSpPr txBox="1"/>
            <p:nvPr/>
          </p:nvSpPr>
          <p:spPr bwMode="gray">
            <a:xfrm>
              <a:off x="7151287" y="1753711"/>
              <a:ext cx="2479920" cy="396000"/>
            </a:xfrm>
            <a:prstGeom prst="rect">
              <a:avLst/>
            </a:prstGeom>
            <a:solidFill>
              <a:schemeClr val="bg1"/>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Verifiable Credentials </a:t>
              </a:r>
              <a:b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b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Data Model v1.1</a:t>
              </a:r>
            </a:p>
          </p:txBody>
        </p:sp>
        <p:sp>
          <p:nvSpPr>
            <p:cNvPr id="14" name="テキスト ボックス 13">
              <a:extLst>
                <a:ext uri="{FF2B5EF4-FFF2-40B4-BE49-F238E27FC236}">
                  <a16:creationId xmlns:a16="http://schemas.microsoft.com/office/drawing/2014/main" id="{0D9F2F2E-AEF9-5075-D731-AE52345A83AB}"/>
                </a:ext>
              </a:extLst>
            </p:cNvPr>
            <p:cNvSpPr txBox="1"/>
            <p:nvPr/>
          </p:nvSpPr>
          <p:spPr bwMode="gray">
            <a:xfrm>
              <a:off x="5461969" y="2247702"/>
              <a:ext cx="164147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フォーマット</a:t>
              </a:r>
            </a:p>
          </p:txBody>
        </p:sp>
        <p:sp>
          <p:nvSpPr>
            <p:cNvPr id="15" name="テキスト ボックス 14">
              <a:extLst>
                <a:ext uri="{FF2B5EF4-FFF2-40B4-BE49-F238E27FC236}">
                  <a16:creationId xmlns:a16="http://schemas.microsoft.com/office/drawing/2014/main" id="{41E2D3A3-0178-4C2F-FE84-E8C481869639}"/>
                </a:ext>
              </a:extLst>
            </p:cNvPr>
            <p:cNvSpPr txBox="1"/>
            <p:nvPr/>
          </p:nvSpPr>
          <p:spPr bwMode="gray">
            <a:xfrm>
              <a:off x="5461969" y="4224179"/>
              <a:ext cx="164147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エンティティ間の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通信プロトコル</a:t>
              </a:r>
            </a:p>
          </p:txBody>
        </p:sp>
        <p:sp>
          <p:nvSpPr>
            <p:cNvPr id="16" name="テキスト ボックス 15">
              <a:extLst>
                <a:ext uri="{FF2B5EF4-FFF2-40B4-BE49-F238E27FC236}">
                  <a16:creationId xmlns:a16="http://schemas.microsoft.com/office/drawing/2014/main" id="{9F831D06-782D-0E10-2A44-B7737A100C97}"/>
                </a:ext>
              </a:extLst>
            </p:cNvPr>
            <p:cNvSpPr txBox="1"/>
            <p:nvPr/>
          </p:nvSpPr>
          <p:spPr bwMode="gray">
            <a:xfrm>
              <a:off x="5461969" y="4718170"/>
              <a:ext cx="164147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a:ln>
                    <a:noFill/>
                  </a:ln>
                  <a:solidFill>
                    <a:prstClr val="black"/>
                  </a:solidFill>
                  <a:effectLst/>
                  <a:uLnTx/>
                  <a:uFillTx/>
                  <a:latin typeface="+mn-ea"/>
                  <a:ea typeface="+mn-ea"/>
                  <a:cs typeface="+mn-cs"/>
                </a:rPr>
                <a:t>通信</a:t>
              </a:r>
              <a:r>
                <a:rPr kumimoji="1" lang="en-US" altLang="ja-JP" sz="1200" b="0" i="0" u="none" strike="noStrike" kern="0" cap="none" spc="0" normalizeH="0" baseline="0" noProof="0">
                  <a:ln>
                    <a:noFill/>
                  </a:ln>
                  <a:solidFill>
                    <a:prstClr val="black"/>
                  </a:solidFill>
                  <a:effectLst/>
                  <a:uLnTx/>
                  <a:uFillTx/>
                  <a:latin typeface="+mn-ea"/>
                  <a:ea typeface="+mn-ea"/>
                  <a:cs typeface="+mn-cs"/>
                </a:rPr>
                <a:t>I/F</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0" i="0" u="none" strike="noStrike" kern="0" cap="none" spc="0" normalizeH="0" baseline="0" noProof="0">
                  <a:ln>
                    <a:noFill/>
                  </a:ln>
                  <a:solidFill>
                    <a:prstClr val="black"/>
                  </a:solidFill>
                  <a:effectLst/>
                  <a:uLnTx/>
                  <a:uFillTx/>
                  <a:latin typeface="+mn-ea"/>
                  <a:ea typeface="+mn-ea"/>
                  <a:cs typeface="+mn-cs"/>
                </a:rPr>
                <a:t>(</a:t>
              </a:r>
              <a:r>
                <a:rPr kumimoji="1" lang="ja-JP" altLang="en-US" sz="1200" b="0" i="0" u="none" strike="noStrike" kern="0" cap="none" spc="0" normalizeH="0" baseline="0" noProof="0">
                  <a:ln>
                    <a:noFill/>
                  </a:ln>
                  <a:solidFill>
                    <a:prstClr val="black"/>
                  </a:solidFill>
                  <a:effectLst/>
                  <a:uLnTx/>
                  <a:uFillTx/>
                  <a:latin typeface="+mn-ea"/>
                  <a:ea typeface="+mn-ea"/>
                  <a:cs typeface="+mn-cs"/>
                </a:rPr>
                <a:t>デバイス連携</a:t>
              </a:r>
              <a:r>
                <a:rPr kumimoji="1" lang="en-US" altLang="ja-JP" sz="1200" b="0" i="0" u="none" strike="noStrike" kern="0" cap="none" spc="0" normalizeH="0" baseline="0" noProof="0">
                  <a:ln>
                    <a:noFill/>
                  </a:ln>
                  <a:solidFill>
                    <a:prstClr val="black"/>
                  </a:solidFill>
                  <a:effectLst/>
                  <a:uLnTx/>
                  <a:uFillTx/>
                  <a:latin typeface="+mn-ea"/>
                  <a:ea typeface="+mn-ea"/>
                  <a:cs typeface="+mn-cs"/>
                </a:rPr>
                <a:t>)</a:t>
              </a:r>
            </a:p>
          </p:txBody>
        </p:sp>
        <p:sp>
          <p:nvSpPr>
            <p:cNvPr id="17" name="テキスト ボックス 16">
              <a:extLst>
                <a:ext uri="{FF2B5EF4-FFF2-40B4-BE49-F238E27FC236}">
                  <a16:creationId xmlns:a16="http://schemas.microsoft.com/office/drawing/2014/main" id="{19C26A8E-ACD9-61F4-9969-94D572D96A13}"/>
                </a:ext>
              </a:extLst>
            </p:cNvPr>
            <p:cNvSpPr txBox="1"/>
            <p:nvPr/>
          </p:nvSpPr>
          <p:spPr bwMode="gray">
            <a:xfrm>
              <a:off x="5461969" y="6200143"/>
              <a:ext cx="164147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dirty="0">
                  <a:ln>
                    <a:noFill/>
                  </a:ln>
                  <a:solidFill>
                    <a:prstClr val="black"/>
                  </a:solidFill>
                  <a:effectLst/>
                  <a:uLnTx/>
                  <a:uFillTx/>
                  <a:latin typeface="+mn-ea"/>
                  <a:ea typeface="+mn-ea"/>
                  <a:cs typeface="+mn-cs"/>
                </a:rPr>
                <a:t>名前解決</a:t>
              </a:r>
              <a:endParaRPr kumimoji="1" lang="en-US" altLang="ja-JP" sz="1200" b="0" i="0" u="none" strike="noStrike" kern="0" cap="none" spc="0" normalizeH="0" baseline="0" noProof="0" dirty="0">
                <a:ln>
                  <a:noFill/>
                </a:ln>
                <a:solidFill>
                  <a:prstClr val="black"/>
                </a:solidFill>
                <a:effectLst/>
                <a:uLnTx/>
                <a:uFillTx/>
                <a:latin typeface="+mn-ea"/>
                <a:ea typeface="+mn-ea"/>
                <a:cs typeface="+mn-cs"/>
              </a:endParaRPr>
            </a:p>
          </p:txBody>
        </p:sp>
        <p:sp>
          <p:nvSpPr>
            <p:cNvPr id="18" name="テキスト ボックス 17">
              <a:extLst>
                <a:ext uri="{FF2B5EF4-FFF2-40B4-BE49-F238E27FC236}">
                  <a16:creationId xmlns:a16="http://schemas.microsoft.com/office/drawing/2014/main" id="{E44FF438-D0F8-5184-FBD6-0C52840D9C36}"/>
                </a:ext>
              </a:extLst>
            </p:cNvPr>
            <p:cNvSpPr txBox="1"/>
            <p:nvPr/>
          </p:nvSpPr>
          <p:spPr bwMode="gray">
            <a:xfrm>
              <a:off x="5461828" y="2741691"/>
              <a:ext cx="164147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実現方式</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9" name="テキスト ボックス 18">
              <a:extLst>
                <a:ext uri="{FF2B5EF4-FFF2-40B4-BE49-F238E27FC236}">
                  <a16:creationId xmlns:a16="http://schemas.microsoft.com/office/drawing/2014/main" id="{BE5247A3-5096-BD0B-821A-10867C01912B}"/>
                </a:ext>
              </a:extLst>
            </p:cNvPr>
            <p:cNvSpPr txBox="1"/>
            <p:nvPr/>
          </p:nvSpPr>
          <p:spPr bwMode="gray">
            <a:xfrm>
              <a:off x="5461828" y="3235685"/>
              <a:ext cx="164147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署名方式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0" name="テキスト ボックス 19">
              <a:extLst>
                <a:ext uri="{FF2B5EF4-FFF2-40B4-BE49-F238E27FC236}">
                  <a16:creationId xmlns:a16="http://schemas.microsoft.com/office/drawing/2014/main" id="{1A44A1F7-4FE5-D789-B72B-22C2E1A59E77}"/>
                </a:ext>
              </a:extLst>
            </p:cNvPr>
            <p:cNvSpPr txBox="1"/>
            <p:nvPr/>
          </p:nvSpPr>
          <p:spPr bwMode="gray">
            <a:xfrm>
              <a:off x="5461969" y="1753711"/>
              <a:ext cx="1641477"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21" name="テキスト ボックス 20">
              <a:extLst>
                <a:ext uri="{FF2B5EF4-FFF2-40B4-BE49-F238E27FC236}">
                  <a16:creationId xmlns:a16="http://schemas.microsoft.com/office/drawing/2014/main" id="{CCF8C8D2-54AF-BEDC-4BD9-FB166870DFD4}"/>
                </a:ext>
              </a:extLst>
            </p:cNvPr>
            <p:cNvSpPr txBox="1"/>
            <p:nvPr/>
          </p:nvSpPr>
          <p:spPr bwMode="gray">
            <a:xfrm>
              <a:off x="5461969" y="3730188"/>
              <a:ext cx="164147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検証者に提供する</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22" name="テキスト ボックス 21">
              <a:extLst>
                <a:ext uri="{FF2B5EF4-FFF2-40B4-BE49-F238E27FC236}">
                  <a16:creationId xmlns:a16="http://schemas.microsoft.com/office/drawing/2014/main" id="{69139063-BEA9-72C6-8852-E3A9AD871AE2}"/>
                </a:ext>
              </a:extLst>
            </p:cNvPr>
            <p:cNvSpPr txBox="1"/>
            <p:nvPr/>
          </p:nvSpPr>
          <p:spPr bwMode="gray">
            <a:xfrm>
              <a:off x="5461969" y="5212161"/>
              <a:ext cx="164147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システムアクセスの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ための識別子</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3" name="テキスト ボックス 22">
              <a:extLst>
                <a:ext uri="{FF2B5EF4-FFF2-40B4-BE49-F238E27FC236}">
                  <a16:creationId xmlns:a16="http://schemas.microsoft.com/office/drawing/2014/main" id="{F29DEB17-0952-BACC-85D0-AD59C806B43F}"/>
                </a:ext>
              </a:extLst>
            </p:cNvPr>
            <p:cNvSpPr txBox="1"/>
            <p:nvPr/>
          </p:nvSpPr>
          <p:spPr bwMode="gray">
            <a:xfrm>
              <a:off x="5461969" y="5706152"/>
              <a:ext cx="164147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DID Document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格納方式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ストレージ</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p>
          </p:txBody>
        </p:sp>
        <p:sp>
          <p:nvSpPr>
            <p:cNvPr id="24" name="正方形/長方形 23">
              <a:extLst>
                <a:ext uri="{FF2B5EF4-FFF2-40B4-BE49-F238E27FC236}">
                  <a16:creationId xmlns:a16="http://schemas.microsoft.com/office/drawing/2014/main" id="{F8F436CA-5DE1-285D-B7AD-2492891A0349}"/>
                </a:ext>
              </a:extLst>
            </p:cNvPr>
            <p:cNvSpPr/>
            <p:nvPr/>
          </p:nvSpPr>
          <p:spPr bwMode="gray">
            <a:xfrm>
              <a:off x="5146613" y="1753711"/>
              <a:ext cx="267516" cy="2372477"/>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5" name="正方形/長方形 24">
              <a:extLst>
                <a:ext uri="{FF2B5EF4-FFF2-40B4-BE49-F238E27FC236}">
                  <a16:creationId xmlns:a16="http://schemas.microsoft.com/office/drawing/2014/main" id="{49B6D8A2-3841-1A38-6B22-523E41655AF9}"/>
                </a:ext>
              </a:extLst>
            </p:cNvPr>
            <p:cNvSpPr/>
            <p:nvPr/>
          </p:nvSpPr>
          <p:spPr bwMode="gray">
            <a:xfrm>
              <a:off x="5146613" y="4224179"/>
              <a:ext cx="267516" cy="889991"/>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Agent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6" name="正方形/長方形 25">
              <a:extLst>
                <a:ext uri="{FF2B5EF4-FFF2-40B4-BE49-F238E27FC236}">
                  <a16:creationId xmlns:a16="http://schemas.microsoft.com/office/drawing/2014/main" id="{CE1B7551-0496-4CFB-AF1F-0901ABFE50FF}"/>
                </a:ext>
              </a:extLst>
            </p:cNvPr>
            <p:cNvSpPr/>
            <p:nvPr/>
          </p:nvSpPr>
          <p:spPr bwMode="gray">
            <a:xfrm>
              <a:off x="5146613" y="5204018"/>
              <a:ext cx="267516" cy="1393632"/>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7" name="テキスト ボックス 26">
              <a:extLst>
                <a:ext uri="{FF2B5EF4-FFF2-40B4-BE49-F238E27FC236}">
                  <a16:creationId xmlns:a16="http://schemas.microsoft.com/office/drawing/2014/main" id="{64D6FF31-BB57-6643-4726-DD60C9FAE679}"/>
                </a:ext>
              </a:extLst>
            </p:cNvPr>
            <p:cNvSpPr txBox="1"/>
            <p:nvPr/>
          </p:nvSpPr>
          <p:spPr bwMode="gray">
            <a:xfrm>
              <a:off x="7151287" y="2743372"/>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AnonCred</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 ZKPs</a:t>
              </a:r>
            </a:p>
          </p:txBody>
        </p:sp>
        <p:sp>
          <p:nvSpPr>
            <p:cNvPr id="28" name="テキスト ボックス 27">
              <a:extLst>
                <a:ext uri="{FF2B5EF4-FFF2-40B4-BE49-F238E27FC236}">
                  <a16:creationId xmlns:a16="http://schemas.microsoft.com/office/drawing/2014/main" id="{875F97D0-7805-66A6-CE82-F81ED42EF83C}"/>
                </a:ext>
              </a:extLst>
            </p:cNvPr>
            <p:cNvSpPr txBox="1"/>
            <p:nvPr/>
          </p:nvSpPr>
          <p:spPr bwMode="gray">
            <a:xfrm>
              <a:off x="7151287" y="3237420"/>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CL(Ver.1.0)</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BBS</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(Ver.2.0)</a:t>
              </a: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grpSp>
      <p:graphicFrame>
        <p:nvGraphicFramePr>
          <p:cNvPr id="29" name="表 11">
            <a:extLst>
              <a:ext uri="{FF2B5EF4-FFF2-40B4-BE49-F238E27FC236}">
                <a16:creationId xmlns:a16="http://schemas.microsoft.com/office/drawing/2014/main" id="{740F8ABF-28FE-80FD-CD1C-7030CE1A2D0F}"/>
              </a:ext>
            </a:extLst>
          </p:cNvPr>
          <p:cNvGraphicFramePr>
            <a:graphicFrameLocks noGrp="1"/>
          </p:cNvGraphicFramePr>
          <p:nvPr>
            <p:extLst>
              <p:ext uri="{D42A27DB-BD31-4B8C-83A1-F6EECF244321}">
                <p14:modId xmlns:p14="http://schemas.microsoft.com/office/powerpoint/2010/main" val="2367586169"/>
              </p:ext>
            </p:extLst>
          </p:nvPr>
        </p:nvGraphicFramePr>
        <p:xfrm>
          <a:off x="283068" y="1787329"/>
          <a:ext cx="4473287" cy="2924875"/>
        </p:xfrm>
        <a:graphic>
          <a:graphicData uri="http://schemas.openxmlformats.org/drawingml/2006/table">
            <a:tbl>
              <a:tblPr firstRow="1" bandRow="1"/>
              <a:tblGrid>
                <a:gridCol w="1169911">
                  <a:extLst>
                    <a:ext uri="{9D8B030D-6E8A-4147-A177-3AD203B41FA5}">
                      <a16:colId xmlns:a16="http://schemas.microsoft.com/office/drawing/2014/main" val="840277757"/>
                    </a:ext>
                  </a:extLst>
                </a:gridCol>
                <a:gridCol w="3303376">
                  <a:extLst>
                    <a:ext uri="{9D8B030D-6E8A-4147-A177-3AD203B41FA5}">
                      <a16:colId xmlns:a16="http://schemas.microsoft.com/office/drawing/2014/main" val="2286964954"/>
                    </a:ext>
                  </a:extLst>
                </a:gridCol>
              </a:tblGrid>
              <a:tr h="24573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開発元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Hyperledger Foundation</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29667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サービス概要</a:t>
                      </a:r>
                      <a:endParaRPr lang="en-US" altLang="ja-JP" sz="120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7800" indent="-177800">
                        <a:buFont typeface="Arial" panose="020B0604020202020204" pitchFamily="34" charset="0"/>
                        <a:buChar char="•"/>
                      </a:pPr>
                      <a:r>
                        <a:rPr lang="en-US" altLang="ja-JP" sz="1200" dirty="0">
                          <a:effectLst/>
                          <a:latin typeface="+mn-ea"/>
                          <a:ea typeface="+mn-ea"/>
                        </a:rPr>
                        <a:t>VC</a:t>
                      </a:r>
                      <a:r>
                        <a:rPr lang="ja-JP" altLang="en-US" sz="1200" dirty="0">
                          <a:effectLst/>
                          <a:latin typeface="+mn-ea"/>
                          <a:ea typeface="+mn-ea"/>
                        </a:rPr>
                        <a:t>の検証に重要なプライバシー保護</a:t>
                      </a:r>
                      <a:r>
                        <a:rPr lang="en-US" altLang="ja-JP" sz="1200" dirty="0">
                          <a:effectLst/>
                          <a:latin typeface="+mn-ea"/>
                          <a:ea typeface="+mn-ea"/>
                        </a:rPr>
                        <a:t>(</a:t>
                      </a:r>
                      <a:r>
                        <a:rPr lang="ja-JP" altLang="en-US" sz="1200" dirty="0">
                          <a:effectLst/>
                          <a:latin typeface="+mn-ea"/>
                          <a:ea typeface="+mn-ea"/>
                        </a:rPr>
                        <a:t>ゼロ知識証明</a:t>
                      </a:r>
                      <a:r>
                        <a:rPr lang="en-US" altLang="ja-JP" sz="1200" dirty="0">
                          <a:effectLst/>
                          <a:latin typeface="+mn-ea"/>
                          <a:ea typeface="+mn-ea"/>
                        </a:rPr>
                        <a:t>)</a:t>
                      </a:r>
                      <a:r>
                        <a:rPr lang="ja-JP" altLang="en-US" sz="1200" dirty="0">
                          <a:effectLst/>
                          <a:latin typeface="+mn-ea"/>
                          <a:ea typeface="+mn-ea"/>
                        </a:rPr>
                        <a:t>機能を基本機能として追加されていることが特徴</a:t>
                      </a:r>
                      <a:endParaRPr lang="en-US" altLang="ja-JP" sz="1200" dirty="0">
                        <a:effectLst/>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44550905"/>
                  </a:ext>
                </a:extLst>
              </a:tr>
              <a:tr h="471235">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利用事例</a:t>
                      </a:r>
                      <a:endParaRPr lang="en-US" altLang="ja-JP" sz="120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ja-JP" altLang="en-US" sz="1200" dirty="0">
                          <a:latin typeface="+mn-ea"/>
                          <a:ea typeface="+mn-ea"/>
                        </a:rPr>
                        <a:t>他</a:t>
                      </a:r>
                      <a:r>
                        <a:rPr kumimoji="1" lang="en-US" altLang="ja-JP" sz="1200" dirty="0">
                          <a:latin typeface="+mn-ea"/>
                          <a:ea typeface="+mn-ea"/>
                        </a:rPr>
                        <a:t>Hyperledger Indy</a:t>
                      </a:r>
                      <a:r>
                        <a:rPr kumimoji="1" lang="ja-JP" altLang="en-US" sz="1200" dirty="0">
                          <a:latin typeface="+mn-ea"/>
                          <a:ea typeface="+mn-ea"/>
                        </a:rPr>
                        <a:t>等を活用しているサービス</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8474215"/>
                  </a:ext>
                </a:extLst>
              </a:tr>
              <a:tr h="785457">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n-ea"/>
                          <a:ea typeface="Yu Gothic UI"/>
                          <a:cs typeface="+mn-cs"/>
                        </a:rPr>
                        <a:t>関与</a:t>
                      </a:r>
                      <a:r>
                        <a:rPr kumimoji="1" lang="en-US" altLang="ja-JP" sz="1200" kern="1200" dirty="0">
                          <a:solidFill>
                            <a:schemeClr val="tx1"/>
                          </a:solidFill>
                          <a:latin typeface="+mn-ea"/>
                          <a:ea typeface="Yu Gothic UI"/>
                          <a:cs typeface="+mn-cs"/>
                        </a:rPr>
                        <a:t>/</a:t>
                      </a:r>
                      <a:r>
                        <a:rPr kumimoji="1" lang="ja-JP" altLang="en-US" sz="1200" kern="1200" dirty="0">
                          <a:solidFill>
                            <a:schemeClr val="tx1"/>
                          </a:solidFill>
                          <a:latin typeface="+mn-ea"/>
                          <a:ea typeface="Yu Gothic UI"/>
                          <a:cs typeface="+mn-cs"/>
                        </a:rPr>
                        <a:t>参照している主要規格団体・フレームワーク</a:t>
                      </a:r>
                      <a:endParaRPr kumimoji="1" lang="en-US" altLang="ja-JP" sz="1200" kern="1200" dirty="0">
                        <a:solidFill>
                          <a:schemeClr val="tx1"/>
                        </a:solidFill>
                        <a:latin typeface="+mn-ea"/>
                        <a:ea typeface="Yu Gothic UI"/>
                        <a:cs typeface="+mn-cs"/>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buFont typeface="Arial" panose="020B0604020202020204" pitchFamily="34" charset="0"/>
                        <a:buChar char="•"/>
                      </a:pPr>
                      <a:r>
                        <a:rPr kumimoji="1" lang="en-US" altLang="ja-JP" sz="1200" dirty="0">
                          <a:latin typeface="+mn-ea"/>
                          <a:ea typeface="+mn-ea"/>
                        </a:rPr>
                        <a:t>W3C</a:t>
                      </a:r>
                    </a:p>
                    <a:p>
                      <a:pPr marL="171450" indent="-171450">
                        <a:buFont typeface="Arial" panose="020B0604020202020204" pitchFamily="34" charset="0"/>
                        <a:buChar char="•"/>
                      </a:pPr>
                      <a:r>
                        <a:rPr kumimoji="1" lang="en-US" altLang="ja-JP" sz="1200" dirty="0">
                          <a:latin typeface="+mn-ea"/>
                          <a:ea typeface="+mn-ea"/>
                        </a:rPr>
                        <a:t>Hyperledger </a:t>
                      </a:r>
                      <a:r>
                        <a:rPr kumimoji="1" lang="ja-JP" altLang="en-US" sz="1200" dirty="0">
                          <a:latin typeface="+mn-ea"/>
                          <a:ea typeface="+mn-ea"/>
                        </a:rPr>
                        <a:t>プロジェクト</a:t>
                      </a:r>
                      <a:r>
                        <a:rPr kumimoji="1" lang="en-US" altLang="ja-JP" sz="1200" dirty="0">
                          <a:latin typeface="+mn-ea"/>
                          <a:ea typeface="+mn-ea"/>
                        </a:rPr>
                        <a:t>(Indy / Aries )</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545442620"/>
                  </a:ext>
                </a:extLst>
              </a:tr>
              <a:tr h="57337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今後の動向</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err="1">
                          <a:latin typeface="+mn-ea"/>
                          <a:ea typeface="+mn-ea"/>
                        </a:rPr>
                        <a:t>AnonCreds</a:t>
                      </a:r>
                      <a:r>
                        <a:rPr kumimoji="1" lang="en-US" altLang="ja-JP" sz="1200" dirty="0">
                          <a:latin typeface="+mn-ea"/>
                          <a:ea typeface="+mn-ea"/>
                        </a:rPr>
                        <a:t> v2</a:t>
                      </a:r>
                      <a:r>
                        <a:rPr kumimoji="1" lang="ja-JP" altLang="en-US" sz="1200" dirty="0">
                          <a:latin typeface="+mn-ea"/>
                          <a:ea typeface="+mn-ea"/>
                        </a:rPr>
                        <a:t>に向けた取り組み</a:t>
                      </a:r>
                      <a:br>
                        <a:rPr kumimoji="1" lang="en-US" altLang="ja-JP" sz="1200" dirty="0">
                          <a:latin typeface="+mn-ea"/>
                          <a:ea typeface="+mn-ea"/>
                        </a:rPr>
                      </a:br>
                      <a:r>
                        <a:rPr kumimoji="1" lang="en-US" altLang="ja-JP" sz="1200" dirty="0">
                          <a:latin typeface="+mn-ea"/>
                          <a:ea typeface="+mn-ea"/>
                        </a:rPr>
                        <a:t>(BBS+</a:t>
                      </a:r>
                      <a:r>
                        <a:rPr kumimoji="1" lang="ja-JP" altLang="en-US" sz="1200" dirty="0">
                          <a:latin typeface="+mn-ea"/>
                          <a:ea typeface="+mn-ea"/>
                        </a:rPr>
                        <a:t>署名への対応</a:t>
                      </a:r>
                      <a:r>
                        <a:rPr kumimoji="1" lang="en-US" altLang="ja-JP" sz="1200" dirty="0">
                          <a:latin typeface="+mn-ea"/>
                          <a:ea typeface="+mn-ea"/>
                        </a:rPr>
                        <a:t>)</a:t>
                      </a:r>
                    </a:p>
                    <a:p>
                      <a:pPr marL="171450" indent="-171450">
                        <a:spcBef>
                          <a:spcPts val="600"/>
                        </a:spcBef>
                        <a:buFont typeface="Arial" panose="020B0604020202020204" pitchFamily="34" charset="0"/>
                        <a:buChar char="•"/>
                      </a:pPr>
                      <a:r>
                        <a:rPr kumimoji="1" lang="en-US" altLang="ja-JP" sz="1200" dirty="0">
                          <a:latin typeface="+mn-ea"/>
                          <a:ea typeface="+mn-ea"/>
                        </a:rPr>
                        <a:t>OpenID Foundation</a:t>
                      </a:r>
                      <a:r>
                        <a:rPr kumimoji="1" lang="ja-JP" altLang="en-US" sz="1200" dirty="0">
                          <a:latin typeface="+mn-ea"/>
                          <a:ea typeface="+mn-ea"/>
                        </a:rPr>
                        <a:t>系の規格への対応</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154406790"/>
                  </a:ext>
                </a:extLst>
              </a:tr>
            </a:tbl>
          </a:graphicData>
        </a:graphic>
      </p:graphicFrame>
      <p:sp>
        <p:nvSpPr>
          <p:cNvPr id="30" name="正方形/長方形 29">
            <a:extLst>
              <a:ext uri="{FF2B5EF4-FFF2-40B4-BE49-F238E27FC236}">
                <a16:creationId xmlns:a16="http://schemas.microsoft.com/office/drawing/2014/main" id="{C1CF4820-DDC1-4C1F-C73C-11FE2F2D14B1}"/>
              </a:ext>
            </a:extLst>
          </p:cNvPr>
          <p:cNvSpPr/>
          <p:nvPr/>
        </p:nvSpPr>
        <p:spPr bwMode="gray">
          <a:xfrm>
            <a:off x="283068" y="1484313"/>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31" name="テキスト ボックス 30">
            <a:extLst>
              <a:ext uri="{FF2B5EF4-FFF2-40B4-BE49-F238E27FC236}">
                <a16:creationId xmlns:a16="http://schemas.microsoft.com/office/drawing/2014/main" id="{E5718571-24AC-A33B-FB5D-006ACEBB3072}"/>
              </a:ext>
            </a:extLst>
          </p:cNvPr>
          <p:cNvSpPr txBox="1"/>
          <p:nvPr/>
        </p:nvSpPr>
        <p:spPr>
          <a:xfrm>
            <a:off x="283068" y="6380134"/>
            <a:ext cx="2834109" cy="138499"/>
          </a:xfrm>
          <a:prstGeom prst="rect">
            <a:avLst/>
          </a:prstGeom>
          <a:noFill/>
        </p:spPr>
        <p:txBody>
          <a:bodyPr wrap="none" lIns="0" tIns="0" rIns="0" bIns="0" rtlCol="0">
            <a:spAutoFit/>
          </a:bodyPr>
          <a:lstStyle/>
          <a:p>
            <a:r>
              <a:rPr kumimoji="1" lang="ja-JP" altLang="en-US" sz="900" dirty="0">
                <a:latin typeface="+mn-ea"/>
                <a:ea typeface="+mn-ea"/>
              </a:rPr>
              <a:t>出所：</a:t>
            </a:r>
            <a:r>
              <a:rPr kumimoji="1" lang="en-US" altLang="ja-JP" sz="900" dirty="0">
                <a:latin typeface="+mn-ea"/>
                <a:ea typeface="+mn-ea"/>
                <a:hlinkClick r:id="rId2"/>
              </a:rPr>
              <a:t>https://www.hyperledger.org/projects/anoncreds</a:t>
            </a:r>
            <a:endParaRPr kumimoji="1" lang="ja-JP" altLang="en-US" sz="900" dirty="0">
              <a:latin typeface="+mn-ea"/>
              <a:ea typeface="+mn-ea"/>
            </a:endParaRPr>
          </a:p>
        </p:txBody>
      </p:sp>
      <p:sp>
        <p:nvSpPr>
          <p:cNvPr id="32" name="コンテンツ プレースホルダー 2">
            <a:extLst>
              <a:ext uri="{FF2B5EF4-FFF2-40B4-BE49-F238E27FC236}">
                <a16:creationId xmlns:a16="http://schemas.microsoft.com/office/drawing/2014/main" id="{396C72F3-06D4-71D6-A8C2-49B3FF6A9D02}"/>
              </a:ext>
            </a:extLst>
          </p:cNvPr>
          <p:cNvSpPr txBox="1">
            <a:spLocks/>
          </p:cNvSpPr>
          <p:nvPr/>
        </p:nvSpPr>
        <p:spPr>
          <a:xfrm>
            <a:off x="273050" y="899958"/>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err="1">
                <a:latin typeface="+mn-ea"/>
                <a:ea typeface="+mn-ea"/>
              </a:rPr>
              <a:t>AnonCreds</a:t>
            </a:r>
            <a:r>
              <a:rPr kumimoji="1" lang="ja-JP" altLang="en-US" dirty="0">
                <a:latin typeface="+mn-ea"/>
                <a:ea typeface="+mn-ea"/>
              </a:rPr>
              <a:t>は</a:t>
            </a:r>
            <a:r>
              <a:rPr kumimoji="1" lang="en-US" altLang="ja-JP" dirty="0">
                <a:latin typeface="+mn-ea"/>
                <a:ea typeface="+mn-ea"/>
              </a:rPr>
              <a:t>Hyperledger Foundation</a:t>
            </a:r>
            <a:r>
              <a:rPr kumimoji="1" lang="ja-JP" altLang="en-US" dirty="0">
                <a:latin typeface="+mn-ea"/>
                <a:ea typeface="+mn-ea"/>
              </a:rPr>
              <a:t>がサポート、</a:t>
            </a:r>
            <a:r>
              <a:rPr lang="ja-JP" altLang="en-US" dirty="0">
                <a:latin typeface="+mn-ea"/>
                <a:ea typeface="+mn-ea"/>
              </a:rPr>
              <a:t>現在は</a:t>
            </a:r>
            <a:r>
              <a:rPr lang="en-US" altLang="ja-JP" dirty="0">
                <a:latin typeface="+mn-ea"/>
                <a:ea typeface="+mn-ea"/>
              </a:rPr>
              <a:t>OID4VC</a:t>
            </a:r>
            <a:r>
              <a:rPr lang="ja-JP" altLang="en-US" dirty="0">
                <a:latin typeface="+mn-ea"/>
                <a:ea typeface="+mn-ea"/>
              </a:rPr>
              <a:t>系への対応がないが今後対応が期待される</a:t>
            </a:r>
            <a:endParaRPr kumimoji="1" lang="en-US" altLang="ja-JP" dirty="0">
              <a:latin typeface="+mn-ea"/>
              <a:ea typeface="+mn-ea"/>
            </a:endParaRPr>
          </a:p>
        </p:txBody>
      </p:sp>
    </p:spTree>
    <p:extLst>
      <p:ext uri="{BB962C8B-B14F-4D97-AF65-F5344CB8AC3E}">
        <p14:creationId xmlns:p14="http://schemas.microsoft.com/office/powerpoint/2010/main" val="3320927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B6D8A4-2633-F9BE-CA42-9E3A366619FB}"/>
              </a:ext>
            </a:extLst>
          </p:cNvPr>
          <p:cNvSpPr>
            <a:spLocks noGrp="1"/>
          </p:cNvSpPr>
          <p:nvPr>
            <p:ph type="title"/>
          </p:nvPr>
        </p:nvSpPr>
        <p:spPr>
          <a:xfrm>
            <a:off x="273050" y="439237"/>
            <a:ext cx="7848302" cy="246221"/>
          </a:xfrm>
        </p:spPr>
        <p:txBody>
          <a:bodyPr/>
          <a:lstStyle/>
          <a:p>
            <a:r>
              <a:rPr kumimoji="1" lang="en-US" altLang="ja-JP" dirty="0">
                <a:latin typeface="+mn-ea"/>
                <a:ea typeface="+mn-ea"/>
              </a:rPr>
              <a:t>6.1. </a:t>
            </a:r>
            <a:r>
              <a:rPr kumimoji="1" lang="ja-JP" altLang="en-US" dirty="0">
                <a:latin typeface="+mn-ea"/>
                <a:ea typeface="+mn-ea"/>
              </a:rPr>
              <a:t>サービス </a:t>
            </a:r>
            <a:r>
              <a:rPr kumimoji="1" lang="en-US" altLang="ja-JP" dirty="0">
                <a:latin typeface="+mn-ea"/>
                <a:ea typeface="+mn-ea"/>
              </a:rPr>
              <a:t>–</a:t>
            </a:r>
            <a:r>
              <a:rPr kumimoji="1" lang="ja-JP" altLang="en-US" dirty="0">
                <a:latin typeface="+mn-ea"/>
                <a:ea typeface="+mn-ea"/>
              </a:rPr>
              <a:t> </a:t>
            </a:r>
            <a:r>
              <a:rPr kumimoji="1" lang="en-US" altLang="ja-JP" dirty="0">
                <a:latin typeface="+mn-ea"/>
                <a:ea typeface="+mn-ea"/>
              </a:rPr>
              <a:t>6.1.2. </a:t>
            </a:r>
            <a:r>
              <a:rPr kumimoji="1" lang="ja-JP" altLang="en-US" dirty="0">
                <a:latin typeface="+mn-ea"/>
                <a:ea typeface="+mn-ea"/>
              </a:rPr>
              <a:t>サービス実装詳細 </a:t>
            </a:r>
            <a:r>
              <a:rPr kumimoji="1" lang="en-US" altLang="ja-JP" dirty="0">
                <a:latin typeface="+mn-ea"/>
                <a:ea typeface="+mn-ea"/>
              </a:rPr>
              <a:t>(5)</a:t>
            </a:r>
            <a:r>
              <a:rPr kumimoji="1" lang="ja-JP" altLang="en-US" dirty="0">
                <a:latin typeface="+mn-ea"/>
                <a:ea typeface="+mn-ea"/>
              </a:rPr>
              <a:t> </a:t>
            </a:r>
            <a:r>
              <a:rPr kumimoji="1" lang="en-US" altLang="ja-JP" dirty="0">
                <a:latin typeface="+mn-ea"/>
                <a:ea typeface="+mn-ea"/>
              </a:rPr>
              <a:t>BC Digital Trust</a:t>
            </a:r>
            <a:endParaRPr kumimoji="1" lang="ja-JP" altLang="en-US" dirty="0">
              <a:latin typeface="+mn-ea"/>
              <a:ea typeface="+mn-ea"/>
            </a:endParaRPr>
          </a:p>
        </p:txBody>
      </p:sp>
      <p:sp>
        <p:nvSpPr>
          <p:cNvPr id="3" name="テキスト プレースホルダー 2">
            <a:extLst>
              <a:ext uri="{FF2B5EF4-FFF2-40B4-BE49-F238E27FC236}">
                <a16:creationId xmlns:a16="http://schemas.microsoft.com/office/drawing/2014/main" id="{57EEF696-235C-27BD-536C-1E080F4CEAD6}"/>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pSp>
        <p:nvGrpSpPr>
          <p:cNvPr id="34" name="グループ化 33">
            <a:extLst>
              <a:ext uri="{FF2B5EF4-FFF2-40B4-BE49-F238E27FC236}">
                <a16:creationId xmlns:a16="http://schemas.microsoft.com/office/drawing/2014/main" id="{ACCFF89C-6B90-66F0-2ABB-F8C30478F5C8}"/>
              </a:ext>
            </a:extLst>
          </p:cNvPr>
          <p:cNvGrpSpPr/>
          <p:nvPr/>
        </p:nvGrpSpPr>
        <p:grpSpPr>
          <a:xfrm>
            <a:off x="5146162" y="1484313"/>
            <a:ext cx="4486788" cy="4843659"/>
            <a:chOff x="5146162" y="1484313"/>
            <a:chExt cx="4486788" cy="5113337"/>
          </a:xfrm>
        </p:grpSpPr>
        <p:sp>
          <p:nvSpPr>
            <p:cNvPr id="4" name="正方形/長方形 3">
              <a:extLst>
                <a:ext uri="{FF2B5EF4-FFF2-40B4-BE49-F238E27FC236}">
                  <a16:creationId xmlns:a16="http://schemas.microsoft.com/office/drawing/2014/main" id="{610312AD-882D-B93E-9FAD-7997DE86384B}"/>
                </a:ext>
              </a:extLst>
            </p:cNvPr>
            <p:cNvSpPr/>
            <p:nvPr/>
          </p:nvSpPr>
          <p:spPr bwMode="gray">
            <a:xfrm>
              <a:off x="5146163" y="1484313"/>
              <a:ext cx="4484958"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mn-ea"/>
                  <a:ea typeface="+mn-ea"/>
                  <a:cs typeface="Arial" charset="0"/>
                </a:rPr>
                <a:t>実装技術スタック詳細</a:t>
              </a:r>
            </a:p>
          </p:txBody>
        </p:sp>
        <p:sp>
          <p:nvSpPr>
            <p:cNvPr id="5" name="テキスト ボックス 4">
              <a:extLst>
                <a:ext uri="{FF2B5EF4-FFF2-40B4-BE49-F238E27FC236}">
                  <a16:creationId xmlns:a16="http://schemas.microsoft.com/office/drawing/2014/main" id="{A5D2182D-D17B-1BE9-8367-C02BF76EC8FF}"/>
                </a:ext>
              </a:extLst>
            </p:cNvPr>
            <p:cNvSpPr txBox="1"/>
            <p:nvPr/>
          </p:nvSpPr>
          <p:spPr bwMode="gray">
            <a:xfrm>
              <a:off x="5461200" y="2247702"/>
              <a:ext cx="1639820"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フォーマット</a:t>
              </a:r>
            </a:p>
          </p:txBody>
        </p:sp>
        <p:sp>
          <p:nvSpPr>
            <p:cNvPr id="6" name="テキスト ボックス 5">
              <a:extLst>
                <a:ext uri="{FF2B5EF4-FFF2-40B4-BE49-F238E27FC236}">
                  <a16:creationId xmlns:a16="http://schemas.microsoft.com/office/drawing/2014/main" id="{52782535-30A3-C34B-1ADA-BCFC94108E66}"/>
                </a:ext>
              </a:extLst>
            </p:cNvPr>
            <p:cNvSpPr txBox="1"/>
            <p:nvPr/>
          </p:nvSpPr>
          <p:spPr bwMode="gray">
            <a:xfrm>
              <a:off x="5461200" y="4224179"/>
              <a:ext cx="1639820"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エンティティ間の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通信プロトコル</a:t>
              </a:r>
            </a:p>
          </p:txBody>
        </p:sp>
        <p:sp>
          <p:nvSpPr>
            <p:cNvPr id="7" name="テキスト ボックス 6">
              <a:extLst>
                <a:ext uri="{FF2B5EF4-FFF2-40B4-BE49-F238E27FC236}">
                  <a16:creationId xmlns:a16="http://schemas.microsoft.com/office/drawing/2014/main" id="{0F50426D-FAB0-A98D-2F64-E4D8DD64C516}"/>
                </a:ext>
              </a:extLst>
            </p:cNvPr>
            <p:cNvSpPr txBox="1"/>
            <p:nvPr/>
          </p:nvSpPr>
          <p:spPr bwMode="gray">
            <a:xfrm>
              <a:off x="5461200" y="4718170"/>
              <a:ext cx="1639820"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dirty="0">
                  <a:ln>
                    <a:noFill/>
                  </a:ln>
                  <a:solidFill>
                    <a:prstClr val="black"/>
                  </a:solidFill>
                  <a:effectLst/>
                  <a:uLnTx/>
                  <a:uFillTx/>
                  <a:latin typeface="+mn-ea"/>
                  <a:ea typeface="+mn-ea"/>
                  <a:cs typeface="+mn-cs"/>
                </a:rPr>
                <a:t>通信</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I/F</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r>
                <a:rPr kumimoji="1" lang="ja-JP" altLang="en-US" sz="1200" b="0" i="0" u="none" strike="noStrike" kern="0" cap="none" spc="0" normalizeH="0" baseline="0" noProof="0" dirty="0">
                  <a:ln>
                    <a:noFill/>
                  </a:ln>
                  <a:solidFill>
                    <a:prstClr val="black"/>
                  </a:solidFill>
                  <a:effectLst/>
                  <a:uLnTx/>
                  <a:uFillTx/>
                  <a:latin typeface="+mn-ea"/>
                  <a:ea typeface="+mn-ea"/>
                  <a:cs typeface="+mn-cs"/>
                </a:rPr>
                <a:t>デバイス連携</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p>
          </p:txBody>
        </p:sp>
        <p:sp>
          <p:nvSpPr>
            <p:cNvPr id="8" name="テキスト ボックス 7">
              <a:extLst>
                <a:ext uri="{FF2B5EF4-FFF2-40B4-BE49-F238E27FC236}">
                  <a16:creationId xmlns:a16="http://schemas.microsoft.com/office/drawing/2014/main" id="{BDADABFB-48BE-A3E3-3DA3-E73464589B44}"/>
                </a:ext>
              </a:extLst>
            </p:cNvPr>
            <p:cNvSpPr txBox="1"/>
            <p:nvPr/>
          </p:nvSpPr>
          <p:spPr bwMode="gray">
            <a:xfrm>
              <a:off x="5461200" y="6200143"/>
              <a:ext cx="1639820"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a:ln>
                    <a:noFill/>
                  </a:ln>
                  <a:solidFill>
                    <a:prstClr val="black"/>
                  </a:solidFill>
                  <a:effectLst/>
                  <a:uLnTx/>
                  <a:uFillTx/>
                  <a:latin typeface="+mn-ea"/>
                  <a:ea typeface="+mn-ea"/>
                  <a:cs typeface="+mn-cs"/>
                </a:rPr>
                <a:t>名前解決</a:t>
              </a:r>
              <a:endParaRPr kumimoji="1" lang="en-US" altLang="ja-JP" sz="1200" b="0" i="0" u="none" strike="noStrike" kern="0" cap="none" spc="0" normalizeH="0" baseline="0" noProof="0">
                <a:ln>
                  <a:noFill/>
                </a:ln>
                <a:solidFill>
                  <a:prstClr val="black"/>
                </a:solidFill>
                <a:effectLst/>
                <a:uLnTx/>
                <a:uFillTx/>
                <a:latin typeface="+mn-ea"/>
                <a:ea typeface="+mn-ea"/>
                <a:cs typeface="+mn-cs"/>
              </a:endParaRPr>
            </a:p>
          </p:txBody>
        </p:sp>
        <p:sp>
          <p:nvSpPr>
            <p:cNvPr id="9" name="テキスト ボックス 8">
              <a:extLst>
                <a:ext uri="{FF2B5EF4-FFF2-40B4-BE49-F238E27FC236}">
                  <a16:creationId xmlns:a16="http://schemas.microsoft.com/office/drawing/2014/main" id="{4B5F2979-71C1-066B-0902-764F77F43AB3}"/>
                </a:ext>
              </a:extLst>
            </p:cNvPr>
            <p:cNvSpPr txBox="1"/>
            <p:nvPr/>
          </p:nvSpPr>
          <p:spPr bwMode="gray">
            <a:xfrm>
              <a:off x="5461060" y="2741691"/>
              <a:ext cx="1639820"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実現方式</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0" name="テキスト ボックス 9">
              <a:extLst>
                <a:ext uri="{FF2B5EF4-FFF2-40B4-BE49-F238E27FC236}">
                  <a16:creationId xmlns:a16="http://schemas.microsoft.com/office/drawing/2014/main" id="{7602CFB7-38BA-C4B4-ED69-07CD2CF1D259}"/>
                </a:ext>
              </a:extLst>
            </p:cNvPr>
            <p:cNvSpPr txBox="1"/>
            <p:nvPr/>
          </p:nvSpPr>
          <p:spPr bwMode="gray">
            <a:xfrm>
              <a:off x="5461060" y="3235685"/>
              <a:ext cx="1639820"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署名方式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1" name="テキスト ボックス 10">
              <a:extLst>
                <a:ext uri="{FF2B5EF4-FFF2-40B4-BE49-F238E27FC236}">
                  <a16:creationId xmlns:a16="http://schemas.microsoft.com/office/drawing/2014/main" id="{C11F08F1-9D83-9DDD-10FC-C3875AF5B65A}"/>
                </a:ext>
              </a:extLst>
            </p:cNvPr>
            <p:cNvSpPr txBox="1"/>
            <p:nvPr/>
          </p:nvSpPr>
          <p:spPr bwMode="gray">
            <a:xfrm>
              <a:off x="5461200" y="1753711"/>
              <a:ext cx="16398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12" name="テキスト ボックス 11">
              <a:extLst>
                <a:ext uri="{FF2B5EF4-FFF2-40B4-BE49-F238E27FC236}">
                  <a16:creationId xmlns:a16="http://schemas.microsoft.com/office/drawing/2014/main" id="{4CF02AA0-1C49-1DEB-975B-363CBD4CBA76}"/>
                </a:ext>
              </a:extLst>
            </p:cNvPr>
            <p:cNvSpPr txBox="1"/>
            <p:nvPr/>
          </p:nvSpPr>
          <p:spPr bwMode="gray">
            <a:xfrm>
              <a:off x="5461200" y="3730188"/>
              <a:ext cx="1639820"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検証者に提供する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13" name="テキスト ボックス 12">
              <a:extLst>
                <a:ext uri="{FF2B5EF4-FFF2-40B4-BE49-F238E27FC236}">
                  <a16:creationId xmlns:a16="http://schemas.microsoft.com/office/drawing/2014/main" id="{997FA910-55EF-7A89-406B-E703B16C5521}"/>
                </a:ext>
              </a:extLst>
            </p:cNvPr>
            <p:cNvSpPr txBox="1"/>
            <p:nvPr/>
          </p:nvSpPr>
          <p:spPr bwMode="gray">
            <a:xfrm>
              <a:off x="5461200" y="5212161"/>
              <a:ext cx="1639820"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システムアクセスの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ための識別子</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4" name="テキスト ボックス 13">
              <a:extLst>
                <a:ext uri="{FF2B5EF4-FFF2-40B4-BE49-F238E27FC236}">
                  <a16:creationId xmlns:a16="http://schemas.microsoft.com/office/drawing/2014/main" id="{EFBC5667-B849-5950-2F8A-EE8245194F8A}"/>
                </a:ext>
              </a:extLst>
            </p:cNvPr>
            <p:cNvSpPr txBox="1"/>
            <p:nvPr/>
          </p:nvSpPr>
          <p:spPr bwMode="gray">
            <a:xfrm>
              <a:off x="5461200" y="5706152"/>
              <a:ext cx="1639820"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DID Document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格納方式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ストレージ</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p>
          </p:txBody>
        </p:sp>
        <p:sp>
          <p:nvSpPr>
            <p:cNvPr id="15" name="正方形/長方形 14">
              <a:extLst>
                <a:ext uri="{FF2B5EF4-FFF2-40B4-BE49-F238E27FC236}">
                  <a16:creationId xmlns:a16="http://schemas.microsoft.com/office/drawing/2014/main" id="{4948D005-833F-7954-E6FE-1F08416A2B74}"/>
                </a:ext>
              </a:extLst>
            </p:cNvPr>
            <p:cNvSpPr/>
            <p:nvPr/>
          </p:nvSpPr>
          <p:spPr bwMode="gray">
            <a:xfrm>
              <a:off x="5146162" y="1763963"/>
              <a:ext cx="267246" cy="2362225"/>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16" name="正方形/長方形 15">
              <a:extLst>
                <a:ext uri="{FF2B5EF4-FFF2-40B4-BE49-F238E27FC236}">
                  <a16:creationId xmlns:a16="http://schemas.microsoft.com/office/drawing/2014/main" id="{F5A01809-CDE5-C54E-C961-4934FA5BD536}"/>
                </a:ext>
              </a:extLst>
            </p:cNvPr>
            <p:cNvSpPr/>
            <p:nvPr/>
          </p:nvSpPr>
          <p:spPr bwMode="gray">
            <a:xfrm>
              <a:off x="5146162" y="4224179"/>
              <a:ext cx="267246" cy="889991"/>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Agent Layer</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17" name="正方形/長方形 16">
              <a:extLst>
                <a:ext uri="{FF2B5EF4-FFF2-40B4-BE49-F238E27FC236}">
                  <a16:creationId xmlns:a16="http://schemas.microsoft.com/office/drawing/2014/main" id="{83993293-C2A1-E950-E7B6-DD4F2127F013}"/>
                </a:ext>
              </a:extLst>
            </p:cNvPr>
            <p:cNvSpPr/>
            <p:nvPr/>
          </p:nvSpPr>
          <p:spPr bwMode="gray">
            <a:xfrm>
              <a:off x="5146162" y="5204018"/>
              <a:ext cx="267246" cy="1393632"/>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18" name="テキスト ボックス 17">
              <a:extLst>
                <a:ext uri="{FF2B5EF4-FFF2-40B4-BE49-F238E27FC236}">
                  <a16:creationId xmlns:a16="http://schemas.microsoft.com/office/drawing/2014/main" id="{C9E573BC-1E8C-469D-BC6B-CAFD17667EB7}"/>
                </a:ext>
              </a:extLst>
            </p:cNvPr>
            <p:cNvSpPr txBox="1"/>
            <p:nvPr/>
          </p:nvSpPr>
          <p:spPr bwMode="gray">
            <a:xfrm>
              <a:off x="7148813" y="2247702"/>
              <a:ext cx="2482306" cy="396000"/>
            </a:xfrm>
            <a:prstGeom prst="rect">
              <a:avLst/>
            </a:prstGeom>
            <a:solidFill>
              <a:sysClr val="window" lastClr="FFFFFF"/>
            </a:solidFill>
            <a:ln>
              <a:solidFill>
                <a:sysClr val="windowText" lastClr="000000"/>
              </a:solidFill>
            </a:ln>
          </p:spPr>
          <p:txBody>
            <a:bodyPr wrap="squar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0" sz="1200" b="0" i="0" u="none" strike="noStrike" kern="0" cap="none" spc="0" normalizeH="0" baseline="0">
                  <a:ln>
                    <a:noFill/>
                  </a:ln>
                  <a:solidFill>
                    <a:prstClr val="black"/>
                  </a:solidFill>
                  <a:effectLst/>
                  <a:uLnTx/>
                  <a:uFillTx/>
                  <a:latin typeface="Calibri Light"/>
                  <a:ea typeface="Yu Gothic UI"/>
                  <a:cs typeface="Arial" charset="0"/>
                </a:defRPr>
              </a:lvl1pPr>
            </a:lstStyle>
            <a:p>
              <a:r>
                <a:rPr lang="en-US" altLang="ja-JP" dirty="0">
                  <a:latin typeface="+mn-ea"/>
                  <a:ea typeface="+mn-ea"/>
                </a:rPr>
                <a:t>JSON-LD + LD-Signatures </a:t>
              </a:r>
            </a:p>
          </p:txBody>
        </p:sp>
        <p:sp>
          <p:nvSpPr>
            <p:cNvPr id="19" name="テキスト ボックス 18">
              <a:extLst>
                <a:ext uri="{FF2B5EF4-FFF2-40B4-BE49-F238E27FC236}">
                  <a16:creationId xmlns:a16="http://schemas.microsoft.com/office/drawing/2014/main" id="{CC575BAF-E029-D870-4118-37AF5EBEDF88}"/>
                </a:ext>
              </a:extLst>
            </p:cNvPr>
            <p:cNvSpPr txBox="1"/>
            <p:nvPr/>
          </p:nvSpPr>
          <p:spPr bwMode="gray">
            <a:xfrm>
              <a:off x="7148813" y="4224179"/>
              <a:ext cx="24823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algn="ctr" defTabSz="990564" eaLnBrk="1" fontAlgn="auto" hangingPunct="1">
                <a:spcBef>
                  <a:spcPts val="0"/>
                </a:spcBef>
                <a:spcAft>
                  <a:spcPts val="0"/>
                </a:spcAft>
                <a:buSzPct val="100000"/>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DIDcomm</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V2</a:t>
              </a:r>
            </a:p>
          </p:txBody>
        </p:sp>
        <p:sp>
          <p:nvSpPr>
            <p:cNvPr id="20" name="テキスト ボックス 19">
              <a:extLst>
                <a:ext uri="{FF2B5EF4-FFF2-40B4-BE49-F238E27FC236}">
                  <a16:creationId xmlns:a16="http://schemas.microsoft.com/office/drawing/2014/main" id="{3E838FC1-C480-AE34-4785-AB8F16533278}"/>
                </a:ext>
              </a:extLst>
            </p:cNvPr>
            <p:cNvSpPr txBox="1"/>
            <p:nvPr/>
          </p:nvSpPr>
          <p:spPr bwMode="gray">
            <a:xfrm>
              <a:off x="7148813" y="4718170"/>
              <a:ext cx="24823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QR</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コード</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1" name="テキスト ボックス 20">
              <a:extLst>
                <a:ext uri="{FF2B5EF4-FFF2-40B4-BE49-F238E27FC236}">
                  <a16:creationId xmlns:a16="http://schemas.microsoft.com/office/drawing/2014/main" id="{4CB7EB10-314F-7334-BCFD-8323AFB748BB}"/>
                </a:ext>
              </a:extLst>
            </p:cNvPr>
            <p:cNvSpPr txBox="1"/>
            <p:nvPr/>
          </p:nvSpPr>
          <p:spPr bwMode="gray">
            <a:xfrm>
              <a:off x="7148813" y="6200143"/>
              <a:ext cx="24823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Universal Resolver</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2" name="テキスト ボックス 21">
              <a:extLst>
                <a:ext uri="{FF2B5EF4-FFF2-40B4-BE49-F238E27FC236}">
                  <a16:creationId xmlns:a16="http://schemas.microsoft.com/office/drawing/2014/main" id="{AEF47C4D-C0A7-CBE7-ED71-ABA1C2D1B7CE}"/>
                </a:ext>
              </a:extLst>
            </p:cNvPr>
            <p:cNvSpPr txBox="1"/>
            <p:nvPr/>
          </p:nvSpPr>
          <p:spPr bwMode="gray">
            <a:xfrm>
              <a:off x="7148813" y="2741691"/>
              <a:ext cx="24823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i="0" u="none" strike="noStrike" kern="0" cap="none" spc="0" normalizeH="0" baseline="0" noProof="0" dirty="0" err="1">
                  <a:ln>
                    <a:noFill/>
                  </a:ln>
                  <a:solidFill>
                    <a:srgbClr val="000000"/>
                  </a:solidFill>
                  <a:effectLst/>
                  <a:uLnTx/>
                  <a:uFillTx/>
                  <a:latin typeface="+mn-ea"/>
                  <a:ea typeface="+mn-ea"/>
                  <a:cs typeface="Arial" charset="0"/>
                </a:rPr>
                <a:t>LD-Signature+BBS</a:t>
              </a:r>
              <a:r>
                <a:rPr kumimoji="0" lang="en-US" altLang="ja-JP" sz="1200" i="0" u="none" strike="noStrike" kern="0" cap="none" spc="0" normalizeH="0" baseline="0" noProof="0" dirty="0">
                  <a:ln>
                    <a:noFill/>
                  </a:ln>
                  <a:solidFill>
                    <a:srgbClr val="000000"/>
                  </a:solidFill>
                  <a:effectLst/>
                  <a:uLnTx/>
                  <a:uFillTx/>
                  <a:latin typeface="+mn-ea"/>
                  <a:ea typeface="+mn-ea"/>
                  <a:cs typeface="Arial" charset="0"/>
                </a:rPr>
                <a:t>+</a:t>
              </a:r>
              <a:r>
                <a:rPr kumimoji="0" lang="ja-JP" altLang="en-US" sz="1200" i="0" u="none" strike="noStrike" kern="0" cap="none" spc="0" normalizeH="0" baseline="0" noProof="0" dirty="0">
                  <a:ln>
                    <a:noFill/>
                  </a:ln>
                  <a:solidFill>
                    <a:srgbClr val="000000"/>
                  </a:solidFill>
                  <a:effectLst/>
                  <a:uLnTx/>
                  <a:uFillTx/>
                  <a:latin typeface="+mn-ea"/>
                  <a:ea typeface="+mn-ea"/>
                  <a:cs typeface="Arial" charset="0"/>
                </a:rPr>
                <a:t>、</a:t>
              </a:r>
              <a:r>
                <a:rPr kumimoji="0" lang="en-US" altLang="ja-JP" sz="1200" i="0" u="none" strike="noStrike" kern="0" cap="none" spc="0" normalizeH="0" baseline="0" noProof="0" dirty="0">
                  <a:ln>
                    <a:noFill/>
                  </a:ln>
                  <a:solidFill>
                    <a:srgbClr val="000000"/>
                  </a:solidFill>
                  <a:effectLst/>
                  <a:uLnTx/>
                  <a:uFillTx/>
                  <a:latin typeface="+mn-ea"/>
                  <a:ea typeface="+mn-ea"/>
                  <a:cs typeface="Arial" charset="0"/>
                </a:rPr>
                <a:t> ZKP</a:t>
              </a:r>
            </a:p>
          </p:txBody>
        </p:sp>
        <p:sp>
          <p:nvSpPr>
            <p:cNvPr id="23" name="テキスト ボックス 22">
              <a:extLst>
                <a:ext uri="{FF2B5EF4-FFF2-40B4-BE49-F238E27FC236}">
                  <a16:creationId xmlns:a16="http://schemas.microsoft.com/office/drawing/2014/main" id="{14B234F1-5B6F-6574-6F20-E8A6A1ADE710}"/>
                </a:ext>
              </a:extLst>
            </p:cNvPr>
            <p:cNvSpPr txBox="1"/>
            <p:nvPr/>
          </p:nvSpPr>
          <p:spPr bwMode="gray">
            <a:xfrm>
              <a:off x="7148813" y="3235685"/>
              <a:ext cx="24823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EdDSA</a:t>
              </a:r>
              <a:r>
                <a:rPr kumimoji="0" lang="ja-JP" altLang="en-US" sz="1200" kern="0" dirty="0">
                  <a:solidFill>
                    <a:prstClr val="black"/>
                  </a:solidFill>
                  <a:latin typeface="+mn-ea"/>
                  <a:ea typeface="+mn-ea"/>
                  <a:cs typeface="Arial" charset="0"/>
                </a:rPr>
                <a:t>、</a:t>
              </a:r>
              <a:r>
                <a:rPr kumimoji="0" lang="en-US" altLang="ja-JP" sz="1200" kern="0" dirty="0">
                  <a:solidFill>
                    <a:prstClr val="black"/>
                  </a:solidFill>
                  <a:latin typeface="+mn-ea"/>
                  <a:ea typeface="+mn-ea"/>
                  <a:cs typeface="Arial" charset="0"/>
                </a:rPr>
                <a:t>BBS+</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4" name="テキスト ボックス 23">
              <a:extLst>
                <a:ext uri="{FF2B5EF4-FFF2-40B4-BE49-F238E27FC236}">
                  <a16:creationId xmlns:a16="http://schemas.microsoft.com/office/drawing/2014/main" id="{2F8CEF16-DAFD-2800-9F42-730A01DD0EE9}"/>
                </a:ext>
              </a:extLst>
            </p:cNvPr>
            <p:cNvSpPr txBox="1"/>
            <p:nvPr/>
          </p:nvSpPr>
          <p:spPr bwMode="gray">
            <a:xfrm>
              <a:off x="7148813" y="1753711"/>
              <a:ext cx="2482306" cy="396000"/>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Verifiable Credentials </a:t>
              </a:r>
              <a:b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b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Data Model v1.1</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5" name="テキスト ボックス 24">
              <a:extLst>
                <a:ext uri="{FF2B5EF4-FFF2-40B4-BE49-F238E27FC236}">
                  <a16:creationId xmlns:a16="http://schemas.microsoft.com/office/drawing/2014/main" id="{29A3A20D-12F4-C79B-60CB-B322B8A453C5}"/>
                </a:ext>
              </a:extLst>
            </p:cNvPr>
            <p:cNvSpPr txBox="1"/>
            <p:nvPr/>
          </p:nvSpPr>
          <p:spPr bwMode="gray">
            <a:xfrm>
              <a:off x="7137857" y="3730188"/>
              <a:ext cx="24823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defPPr>
                <a:defRPr lang="ja-JP"/>
              </a:defPPr>
              <a:lvl1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0" sz="1200" b="0" i="0" u="none" strike="noStrike" kern="0" cap="none" spc="0" normalizeH="0" baseline="0">
                  <a:ln>
                    <a:noFill/>
                  </a:ln>
                  <a:solidFill>
                    <a:prstClr val="black"/>
                  </a:solidFill>
                  <a:effectLst/>
                  <a:uLnTx/>
                  <a:uFillTx/>
                  <a:latin typeface="Calibri Light"/>
                  <a:ea typeface="Yu Gothic UI"/>
                  <a:cs typeface="Arial" charset="0"/>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Verifiable Presentations</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6" name="テキスト ボックス 25">
              <a:extLst>
                <a:ext uri="{FF2B5EF4-FFF2-40B4-BE49-F238E27FC236}">
                  <a16:creationId xmlns:a16="http://schemas.microsoft.com/office/drawing/2014/main" id="{BD208258-2D56-19CB-E243-65FFFD0E7EAF}"/>
                </a:ext>
              </a:extLst>
            </p:cNvPr>
            <p:cNvSpPr txBox="1"/>
            <p:nvPr/>
          </p:nvSpPr>
          <p:spPr bwMode="gray">
            <a:xfrm>
              <a:off x="7149289" y="5212161"/>
              <a:ext cx="247219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did:indy</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7" name="テキスト ボックス 26">
              <a:extLst>
                <a:ext uri="{FF2B5EF4-FFF2-40B4-BE49-F238E27FC236}">
                  <a16:creationId xmlns:a16="http://schemas.microsoft.com/office/drawing/2014/main" id="{360C095C-A26E-0AEA-85CB-C6F77C97B201}"/>
                </a:ext>
              </a:extLst>
            </p:cNvPr>
            <p:cNvSpPr txBox="1"/>
            <p:nvPr/>
          </p:nvSpPr>
          <p:spPr bwMode="gray">
            <a:xfrm>
              <a:off x="7148721" y="5706152"/>
              <a:ext cx="2484229"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OrgBook</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BC</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kern="0" dirty="0">
                  <a:solidFill>
                    <a:prstClr val="black"/>
                  </a:solidFill>
                  <a:latin typeface="+mn-ea"/>
                  <a:ea typeface="+mn-ea"/>
                  <a:cs typeface="Arial" charset="0"/>
                </a:rPr>
                <a:t>(Hyperledger Indy)</a:t>
              </a: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grpSp>
      <p:sp>
        <p:nvSpPr>
          <p:cNvPr id="31" name="正方形/長方形 30">
            <a:extLst>
              <a:ext uri="{FF2B5EF4-FFF2-40B4-BE49-F238E27FC236}">
                <a16:creationId xmlns:a16="http://schemas.microsoft.com/office/drawing/2014/main" id="{FD502F10-150E-841C-60F0-CAD0AADB2B56}"/>
              </a:ext>
            </a:extLst>
          </p:cNvPr>
          <p:cNvSpPr/>
          <p:nvPr/>
        </p:nvSpPr>
        <p:spPr bwMode="gray">
          <a:xfrm>
            <a:off x="283068" y="1484313"/>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mn-ea"/>
                <a:ea typeface="+mn-ea"/>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mn-ea"/>
              <a:ea typeface="+mn-ea"/>
              <a:cs typeface="Arial" charset="0"/>
            </a:endParaRPr>
          </a:p>
        </p:txBody>
      </p:sp>
      <p:graphicFrame>
        <p:nvGraphicFramePr>
          <p:cNvPr id="32" name="表 11">
            <a:extLst>
              <a:ext uri="{FF2B5EF4-FFF2-40B4-BE49-F238E27FC236}">
                <a16:creationId xmlns:a16="http://schemas.microsoft.com/office/drawing/2014/main" id="{ED5CD7BF-163E-D82B-A2B6-47B1A8D492C0}"/>
              </a:ext>
            </a:extLst>
          </p:cNvPr>
          <p:cNvGraphicFramePr>
            <a:graphicFrameLocks noGrp="1"/>
          </p:cNvGraphicFramePr>
          <p:nvPr>
            <p:extLst>
              <p:ext uri="{D42A27DB-BD31-4B8C-83A1-F6EECF244321}">
                <p14:modId xmlns:p14="http://schemas.microsoft.com/office/powerpoint/2010/main" val="2033201077"/>
              </p:ext>
            </p:extLst>
          </p:nvPr>
        </p:nvGraphicFramePr>
        <p:xfrm>
          <a:off x="283068" y="1777283"/>
          <a:ext cx="4473287" cy="3352800"/>
        </p:xfrm>
        <a:graphic>
          <a:graphicData uri="http://schemas.openxmlformats.org/drawingml/2006/table">
            <a:tbl>
              <a:tblPr firstRow="1" bandRow="1"/>
              <a:tblGrid>
                <a:gridCol w="1169911">
                  <a:extLst>
                    <a:ext uri="{9D8B030D-6E8A-4147-A177-3AD203B41FA5}">
                      <a16:colId xmlns:a16="http://schemas.microsoft.com/office/drawing/2014/main" val="840277757"/>
                    </a:ext>
                  </a:extLst>
                </a:gridCol>
                <a:gridCol w="3303376">
                  <a:extLst>
                    <a:ext uri="{9D8B030D-6E8A-4147-A177-3AD203B41FA5}">
                      <a16:colId xmlns:a16="http://schemas.microsoft.com/office/drawing/2014/main" val="2286964954"/>
                    </a:ext>
                  </a:extLst>
                </a:gridCol>
              </a:tblGrid>
              <a:tr h="214962">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開発元</a:t>
                      </a:r>
                      <a:endParaRPr kumimoji="1"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Province of British Columbia (Canada)</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790509">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サービス概要</a:t>
                      </a:r>
                      <a:endParaRPr lang="en-US" altLang="ja-JP" sz="120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lang="en-US" altLang="ja-JP" sz="1200" dirty="0">
                          <a:effectLst/>
                          <a:latin typeface="+mn-ea"/>
                          <a:ea typeface="+mn-ea"/>
                        </a:rPr>
                        <a:t>VC</a:t>
                      </a:r>
                      <a:r>
                        <a:rPr lang="ja-JP" altLang="en-US" sz="1200" dirty="0">
                          <a:effectLst/>
                          <a:latin typeface="+mn-ea"/>
                          <a:ea typeface="+mn-ea"/>
                        </a:rPr>
                        <a:t>を発行・検証するためのソフトウェア、オープンソースの</a:t>
                      </a:r>
                      <a:r>
                        <a:rPr lang="en-US" altLang="ja-JP" sz="1200" dirty="0">
                          <a:effectLst/>
                          <a:latin typeface="+mn-ea"/>
                          <a:ea typeface="+mn-ea"/>
                        </a:rPr>
                        <a:t>BC</a:t>
                      </a:r>
                      <a:r>
                        <a:rPr lang="ja-JP" altLang="en-US" sz="1200" dirty="0">
                          <a:effectLst/>
                          <a:latin typeface="+mn-ea"/>
                          <a:ea typeface="+mn-ea"/>
                        </a:rPr>
                        <a:t>ウォレットを提供、検証者が発行者に問い合わせることなく証明書の検証を行うので高いプライバシーレベルを確保</a:t>
                      </a:r>
                      <a:endParaRPr lang="en-US" altLang="ja-JP" sz="1200" dirty="0">
                        <a:effectLst/>
                        <a:latin typeface="+mn-ea"/>
                        <a:ea typeface="+mn-ea"/>
                      </a:endParaRPr>
                    </a:p>
                    <a:p>
                      <a:pPr marL="171450" indent="-171450">
                        <a:spcBef>
                          <a:spcPts val="600"/>
                        </a:spcBef>
                        <a:buFont typeface="Arial" panose="020B0604020202020204" pitchFamily="34" charset="0"/>
                        <a:buChar char="•"/>
                      </a:pPr>
                      <a:r>
                        <a:rPr lang="en-US" altLang="ja-JP" sz="1200" dirty="0">
                          <a:effectLst/>
                          <a:latin typeface="+mn-ea"/>
                          <a:ea typeface="+mn-ea"/>
                        </a:rPr>
                        <a:t>BC</a:t>
                      </a:r>
                      <a:r>
                        <a:rPr lang="ja-JP" altLang="en-US" sz="1200" dirty="0">
                          <a:effectLst/>
                          <a:latin typeface="+mn-ea"/>
                          <a:ea typeface="+mn-ea"/>
                        </a:rPr>
                        <a:t>州で登録された組織に関する信頼できる情報を提供するデジタル資格情報を使用する検索可能な公開ディレクトリを提供</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44550905"/>
                  </a:ext>
                </a:extLst>
              </a:tr>
              <a:tr h="33401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利用事例</a:t>
                      </a:r>
                      <a:endParaRPr lang="en-US" altLang="ja-JP" sz="120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ja-JP" altLang="en-US" sz="1200" dirty="0">
                          <a:latin typeface="+mn-ea"/>
                          <a:ea typeface="+mn-ea"/>
                        </a:rPr>
                        <a:t>州弁護士の資格確認</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ja-JP" altLang="en-US" sz="1200" dirty="0">
                          <a:latin typeface="+mn-ea"/>
                          <a:ea typeface="+mn-ea"/>
                        </a:rPr>
                        <a:t>州大学の学生資格確認</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78474215"/>
                  </a:ext>
                </a:extLst>
              </a:tr>
              <a:tr h="0">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n-ea"/>
                          <a:ea typeface="+mn-ea"/>
                          <a:cs typeface="+mn-cs"/>
                        </a:rPr>
                        <a:t>関与</a:t>
                      </a:r>
                      <a:r>
                        <a:rPr kumimoji="1" lang="en-US" altLang="ja-JP" sz="1200" kern="1200" dirty="0">
                          <a:solidFill>
                            <a:schemeClr val="tx1"/>
                          </a:solidFill>
                          <a:latin typeface="+mn-ea"/>
                          <a:ea typeface="+mn-ea"/>
                          <a:cs typeface="+mn-cs"/>
                        </a:rPr>
                        <a:t>/</a:t>
                      </a:r>
                      <a:r>
                        <a:rPr kumimoji="1" lang="ja-JP" altLang="en-US" sz="1200" kern="1200" dirty="0">
                          <a:solidFill>
                            <a:schemeClr val="tx1"/>
                          </a:solidFill>
                          <a:latin typeface="+mn-ea"/>
                          <a:ea typeface="+mn-ea"/>
                          <a:cs typeface="+mn-cs"/>
                        </a:rPr>
                        <a:t>参照している主要規格団体・フレームワーク</a:t>
                      </a:r>
                      <a:endParaRPr kumimoji="1" lang="en-US" altLang="ja-JP" sz="1200" kern="1200" dirty="0">
                        <a:solidFill>
                          <a:schemeClr val="tx1"/>
                        </a:solidFill>
                        <a:latin typeface="+mn-ea"/>
                        <a:ea typeface="+mn-ea"/>
                        <a:cs typeface="+mn-cs"/>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rPr>
                        <a:t>W3C (W3C VC, JSON-LD)</a:t>
                      </a:r>
                    </a:p>
                    <a:p>
                      <a:pPr marL="171450" indent="-171450">
                        <a:spcBef>
                          <a:spcPts val="600"/>
                        </a:spcBef>
                        <a:buFont typeface="Arial" panose="020B0604020202020204" pitchFamily="34" charset="0"/>
                        <a:buChar char="•"/>
                      </a:pPr>
                      <a:r>
                        <a:rPr kumimoji="1" lang="en-US" altLang="ja-JP" sz="1200" dirty="0">
                          <a:latin typeface="+mn-ea"/>
                          <a:ea typeface="+mn-ea"/>
                        </a:rPr>
                        <a:t>Hyperledger Foundation</a:t>
                      </a:r>
                      <a:r>
                        <a:rPr kumimoji="1" lang="ja-JP" altLang="en-US" sz="1200" dirty="0">
                          <a:latin typeface="+mn-ea"/>
                          <a:ea typeface="+mn-ea"/>
                        </a:rPr>
                        <a:t> </a:t>
                      </a:r>
                      <a:r>
                        <a:rPr kumimoji="1" lang="en-US" altLang="ja-JP" sz="1200" dirty="0">
                          <a:latin typeface="+mn-ea"/>
                          <a:ea typeface="+mn-ea"/>
                        </a:rPr>
                        <a:t>(Indy /Aries)</a:t>
                      </a:r>
                    </a:p>
                    <a:p>
                      <a:pPr marL="171450" indent="-171450">
                        <a:spcBef>
                          <a:spcPts val="600"/>
                        </a:spcBef>
                        <a:buFont typeface="Arial" panose="020B0604020202020204" pitchFamily="34" charset="0"/>
                        <a:buChar char="•"/>
                      </a:pPr>
                      <a:r>
                        <a:rPr kumimoji="1" lang="en-US" altLang="ja-JP" sz="1200" dirty="0">
                          <a:latin typeface="+mn-ea"/>
                          <a:ea typeface="+mn-ea"/>
                        </a:rPr>
                        <a:t>Trust Over IP Foundation </a:t>
                      </a:r>
                      <a:r>
                        <a:rPr kumimoji="1" lang="ja-JP" altLang="en-US" sz="1200" dirty="0">
                          <a:latin typeface="+mn-ea"/>
                          <a:ea typeface="+mn-ea"/>
                        </a:rPr>
                        <a:t>等</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545442620"/>
                  </a:ext>
                </a:extLst>
              </a:tr>
              <a:tr h="221224">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今後の動向</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N/A</a:t>
                      </a:r>
                    </a:p>
                  </a:txBody>
                  <a:tcPr>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154406790"/>
                  </a:ext>
                </a:extLst>
              </a:tr>
            </a:tbl>
          </a:graphicData>
        </a:graphic>
      </p:graphicFrame>
      <p:sp>
        <p:nvSpPr>
          <p:cNvPr id="33" name="テキスト ボックス 32">
            <a:extLst>
              <a:ext uri="{FF2B5EF4-FFF2-40B4-BE49-F238E27FC236}">
                <a16:creationId xmlns:a16="http://schemas.microsoft.com/office/drawing/2014/main" id="{0642078F-15BE-FA8C-09EB-753B248B5D4E}"/>
              </a:ext>
            </a:extLst>
          </p:cNvPr>
          <p:cNvSpPr txBox="1"/>
          <p:nvPr/>
        </p:nvSpPr>
        <p:spPr>
          <a:xfrm>
            <a:off x="273050" y="6274581"/>
            <a:ext cx="5468327" cy="276999"/>
          </a:xfrm>
          <a:prstGeom prst="rect">
            <a:avLst/>
          </a:prstGeom>
          <a:noFill/>
        </p:spPr>
        <p:txBody>
          <a:bodyPr wrap="square" lIns="0" tIns="0" rIns="0" bIns="0" rtlCol="0">
            <a:spAutoFit/>
          </a:bodyPr>
          <a:lstStyle/>
          <a:p>
            <a:r>
              <a:rPr kumimoji="1" lang="ja-JP" altLang="en-US" sz="900" dirty="0">
                <a:latin typeface="+mn-ea"/>
                <a:ea typeface="+mn-ea"/>
              </a:rPr>
              <a:t>出所：</a:t>
            </a:r>
            <a:r>
              <a:rPr kumimoji="1" lang="en-US" altLang="ja-JP" sz="900" dirty="0">
                <a:latin typeface="+mn-ea"/>
                <a:ea typeface="+mn-ea"/>
                <a:hlinkClick r:id="rId2"/>
              </a:rPr>
              <a:t>https://digital.gov.bc.ca/digital-trust/about/about-bc-wallet/</a:t>
            </a:r>
            <a:endParaRPr kumimoji="1" lang="en-US" altLang="ja-JP" sz="900" dirty="0">
              <a:latin typeface="+mn-ea"/>
              <a:ea typeface="+mn-ea"/>
            </a:endParaRPr>
          </a:p>
          <a:p>
            <a:r>
              <a:rPr lang="ja-JP" altLang="en-US" sz="900" dirty="0">
                <a:latin typeface="+mn-ea"/>
                <a:ea typeface="+mn-ea"/>
              </a:rPr>
              <a:t>　　　</a:t>
            </a:r>
            <a:r>
              <a:rPr lang="en-US" altLang="ja-JP" sz="900" dirty="0">
                <a:latin typeface="+mn-ea"/>
                <a:ea typeface="+mn-ea"/>
                <a:hlinkClick r:id="rId3"/>
              </a:rPr>
              <a:t>https://www.hyperledger.org/blog/bc-digital-trust-leveraging-hyperledger-tools-for-digital-trust</a:t>
            </a:r>
            <a:endParaRPr kumimoji="1" lang="ja-JP" altLang="en-US" sz="900" dirty="0">
              <a:latin typeface="+mn-ea"/>
              <a:ea typeface="+mn-ea"/>
            </a:endParaRPr>
          </a:p>
        </p:txBody>
      </p:sp>
      <p:sp>
        <p:nvSpPr>
          <p:cNvPr id="35" name="コンテンツ プレースホルダー 2">
            <a:extLst>
              <a:ext uri="{FF2B5EF4-FFF2-40B4-BE49-F238E27FC236}">
                <a16:creationId xmlns:a16="http://schemas.microsoft.com/office/drawing/2014/main" id="{931E4B04-6AEB-D214-F2C6-0C9A2876D134}"/>
              </a:ext>
            </a:extLst>
          </p:cNvPr>
          <p:cNvSpPr txBox="1">
            <a:spLocks/>
          </p:cNvSpPr>
          <p:nvPr/>
        </p:nvSpPr>
        <p:spPr>
          <a:xfrm>
            <a:off x="273050" y="899958"/>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kumimoji="1" lang="en-US" altLang="ja-JP" dirty="0">
              <a:latin typeface="+mn-ea"/>
              <a:ea typeface="+mn-ea"/>
            </a:endParaRPr>
          </a:p>
        </p:txBody>
      </p:sp>
      <p:sp>
        <p:nvSpPr>
          <p:cNvPr id="36" name="コンテンツ プレースホルダー 2">
            <a:extLst>
              <a:ext uri="{FF2B5EF4-FFF2-40B4-BE49-F238E27FC236}">
                <a16:creationId xmlns:a16="http://schemas.microsoft.com/office/drawing/2014/main" id="{F1885EBC-DC9E-6204-4A52-2D704E5517BF}"/>
              </a:ext>
            </a:extLst>
          </p:cNvPr>
          <p:cNvSpPr txBox="1">
            <a:spLocks/>
          </p:cNvSpPr>
          <p:nvPr/>
        </p:nvSpPr>
        <p:spPr>
          <a:xfrm>
            <a:off x="276998" y="923067"/>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a:latin typeface="+mn-ea"/>
                <a:ea typeface="+mn-ea"/>
              </a:rPr>
              <a:t>BC Digital Trust</a:t>
            </a:r>
            <a:r>
              <a:rPr kumimoji="1" lang="ja-JP" altLang="en-US" dirty="0">
                <a:latin typeface="+mn-ea"/>
                <a:ea typeface="+mn-ea"/>
              </a:rPr>
              <a:t>は</a:t>
            </a:r>
            <a:r>
              <a:rPr kumimoji="1" lang="en-US" altLang="ja-JP" dirty="0">
                <a:latin typeface="+mn-ea"/>
                <a:ea typeface="+mn-ea"/>
              </a:rPr>
              <a:t>Hyperledger Indy</a:t>
            </a:r>
            <a:r>
              <a:rPr kumimoji="1" lang="ja-JP" altLang="en-US" dirty="0">
                <a:latin typeface="+mn-ea"/>
                <a:ea typeface="+mn-ea"/>
              </a:rPr>
              <a:t>を活用して、カナダブリティッシュコロンビア州のサービス</a:t>
            </a:r>
            <a:r>
              <a:rPr kumimoji="1" lang="en-US" altLang="ja-JP" dirty="0">
                <a:latin typeface="+mn-ea"/>
                <a:ea typeface="+mn-ea"/>
              </a:rPr>
              <a:t>(</a:t>
            </a:r>
            <a:r>
              <a:rPr kumimoji="1" lang="ja-JP" altLang="en-US" dirty="0">
                <a:latin typeface="+mn-ea"/>
                <a:ea typeface="+mn-ea"/>
              </a:rPr>
              <a:t>弁護士資格確認・大学学生資格確認</a:t>
            </a:r>
            <a:r>
              <a:rPr kumimoji="1" lang="en-US" altLang="ja-JP" dirty="0">
                <a:latin typeface="+mn-ea"/>
                <a:ea typeface="+mn-ea"/>
              </a:rPr>
              <a:t>)</a:t>
            </a:r>
            <a:r>
              <a:rPr kumimoji="1" lang="ja-JP" altLang="en-US" dirty="0">
                <a:latin typeface="+mn-ea"/>
                <a:ea typeface="+mn-ea"/>
              </a:rPr>
              <a:t>を提供している</a:t>
            </a:r>
            <a:endParaRPr kumimoji="1" lang="en-US" altLang="ja-JP" dirty="0">
              <a:latin typeface="+mn-ea"/>
              <a:ea typeface="+mn-ea"/>
            </a:endParaRPr>
          </a:p>
        </p:txBody>
      </p:sp>
    </p:spTree>
    <p:extLst>
      <p:ext uri="{BB962C8B-B14F-4D97-AF65-F5344CB8AC3E}">
        <p14:creationId xmlns:p14="http://schemas.microsoft.com/office/powerpoint/2010/main" val="26870230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0DC347-973E-7DD5-EA76-16FD1A0465E9}"/>
              </a:ext>
            </a:extLst>
          </p:cNvPr>
          <p:cNvSpPr>
            <a:spLocks noGrp="1"/>
          </p:cNvSpPr>
          <p:nvPr>
            <p:ph type="title"/>
          </p:nvPr>
        </p:nvSpPr>
        <p:spPr>
          <a:xfrm>
            <a:off x="273050" y="439237"/>
            <a:ext cx="7848302" cy="246221"/>
          </a:xfrm>
        </p:spPr>
        <p:txBody>
          <a:bodyPr/>
          <a:lstStyle/>
          <a:p>
            <a:r>
              <a:rPr kumimoji="1" lang="en-US" altLang="ja-JP" dirty="0"/>
              <a:t>6.1. </a:t>
            </a:r>
            <a:r>
              <a:rPr kumimoji="1" lang="ja-JP" altLang="en-US" dirty="0"/>
              <a:t>サービス </a:t>
            </a:r>
            <a:r>
              <a:rPr kumimoji="1" lang="en-US" altLang="ja-JP" dirty="0"/>
              <a:t>– 6.1.2. </a:t>
            </a:r>
            <a:r>
              <a:rPr kumimoji="1" lang="ja-JP" altLang="en-US" dirty="0"/>
              <a:t>サービス実装詳細 </a:t>
            </a:r>
            <a:r>
              <a:rPr kumimoji="1" lang="en-US" altLang="ja-JP" dirty="0"/>
              <a:t>(6)</a:t>
            </a:r>
            <a:r>
              <a:rPr kumimoji="1" lang="ja-JP" altLang="en-US" dirty="0"/>
              <a:t> </a:t>
            </a:r>
            <a:r>
              <a:rPr kumimoji="1" lang="en-US" altLang="ja-JP" dirty="0" err="1"/>
              <a:t>Nothern</a:t>
            </a:r>
            <a:r>
              <a:rPr kumimoji="1" lang="en-US" altLang="ja-JP" dirty="0"/>
              <a:t> Block </a:t>
            </a:r>
            <a:endParaRPr kumimoji="1" lang="ja-JP" altLang="en-US" dirty="0"/>
          </a:p>
        </p:txBody>
      </p:sp>
      <p:sp>
        <p:nvSpPr>
          <p:cNvPr id="3" name="テキスト プレースホルダー 2">
            <a:extLst>
              <a:ext uri="{FF2B5EF4-FFF2-40B4-BE49-F238E27FC236}">
                <a16:creationId xmlns:a16="http://schemas.microsoft.com/office/drawing/2014/main" id="{81BA1601-B5BB-31B7-040C-E65F8A9A1B15}"/>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4" name="表 11">
            <a:extLst>
              <a:ext uri="{FF2B5EF4-FFF2-40B4-BE49-F238E27FC236}">
                <a16:creationId xmlns:a16="http://schemas.microsoft.com/office/drawing/2014/main" id="{D7F10E2B-C254-92D4-48AE-0723643BA782}"/>
              </a:ext>
            </a:extLst>
          </p:cNvPr>
          <p:cNvGraphicFramePr>
            <a:graphicFrameLocks noGrp="1"/>
          </p:cNvGraphicFramePr>
          <p:nvPr>
            <p:extLst>
              <p:ext uri="{D42A27DB-BD31-4B8C-83A1-F6EECF244321}">
                <p14:modId xmlns:p14="http://schemas.microsoft.com/office/powerpoint/2010/main" val="2613282330"/>
              </p:ext>
            </p:extLst>
          </p:nvPr>
        </p:nvGraphicFramePr>
        <p:xfrm>
          <a:off x="283221" y="1767434"/>
          <a:ext cx="4490392" cy="2629271"/>
        </p:xfrm>
        <a:graphic>
          <a:graphicData uri="http://schemas.openxmlformats.org/drawingml/2006/table">
            <a:tbl>
              <a:tblPr firstRow="1" bandRow="1"/>
              <a:tblGrid>
                <a:gridCol w="1100517">
                  <a:extLst>
                    <a:ext uri="{9D8B030D-6E8A-4147-A177-3AD203B41FA5}">
                      <a16:colId xmlns:a16="http://schemas.microsoft.com/office/drawing/2014/main" val="840277757"/>
                    </a:ext>
                  </a:extLst>
                </a:gridCol>
                <a:gridCol w="3389875">
                  <a:extLst>
                    <a:ext uri="{9D8B030D-6E8A-4147-A177-3AD203B41FA5}">
                      <a16:colId xmlns:a16="http://schemas.microsoft.com/office/drawing/2014/main" val="2286964954"/>
                    </a:ext>
                  </a:extLst>
                </a:gridCol>
              </a:tblGrid>
              <a:tr h="124832">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開発元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a:latin typeface="+mn-ea"/>
                          <a:ea typeface="+mn-ea"/>
                        </a:rPr>
                        <a:t>Northern Block</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37991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サービス概要</a:t>
                      </a:r>
                      <a:endParaRPr lang="en-US" altLang="ja-JP" sz="120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lang="ja-JP" altLang="en-US" sz="1200" dirty="0">
                          <a:effectLst/>
                          <a:latin typeface="+mn-ea"/>
                          <a:ea typeface="+mn-ea"/>
                        </a:rPr>
                        <a:t>企業向けのデジタル証明書管理・発行プラットフォーム・</a:t>
                      </a:r>
                      <a:r>
                        <a:rPr lang="en-US" altLang="ja-JP" sz="1200" dirty="0">
                          <a:effectLst/>
                          <a:latin typeface="+mn-ea"/>
                          <a:ea typeface="+mn-ea"/>
                        </a:rPr>
                        <a:t>Web</a:t>
                      </a:r>
                      <a:r>
                        <a:rPr lang="ja-JP" altLang="en-US" sz="1200" dirty="0">
                          <a:effectLst/>
                          <a:latin typeface="+mn-ea"/>
                          <a:ea typeface="+mn-ea"/>
                        </a:rPr>
                        <a:t>ベースのウォレットサービス</a:t>
                      </a:r>
                      <a:r>
                        <a:rPr lang="en-US" altLang="ja-JP" sz="1200" dirty="0">
                          <a:effectLst/>
                          <a:latin typeface="+mn-ea"/>
                          <a:ea typeface="+mn-ea"/>
                        </a:rPr>
                        <a:t>(Orbit Enterprise)</a:t>
                      </a:r>
                      <a:r>
                        <a:rPr lang="ja-JP" altLang="en-US" sz="1200" dirty="0">
                          <a:effectLst/>
                          <a:latin typeface="+mn-ea"/>
                          <a:ea typeface="+mn-ea"/>
                        </a:rPr>
                        <a:t>と個人向けウォレットサービス</a:t>
                      </a:r>
                      <a:r>
                        <a:rPr lang="en-US" altLang="ja-JP" sz="1200" dirty="0">
                          <a:effectLst/>
                          <a:latin typeface="+mn-ea"/>
                          <a:ea typeface="+mn-ea"/>
                        </a:rPr>
                        <a:t>(Orbit Edge Wallet)</a:t>
                      </a:r>
                      <a:r>
                        <a:rPr lang="ja-JP" altLang="en-US" sz="1200" dirty="0">
                          <a:effectLst/>
                          <a:latin typeface="+mn-ea"/>
                          <a:ea typeface="+mn-ea"/>
                        </a:rPr>
                        <a:t>を提供</a:t>
                      </a:r>
                      <a:endParaRPr lang="en-US" altLang="ja-JP" sz="1200" dirty="0">
                        <a:effectLst/>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44550905"/>
                  </a:ext>
                </a:extLst>
              </a:tr>
              <a:tr h="15841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利用事例</a:t>
                      </a:r>
                      <a:endParaRPr lang="en-US" altLang="ja-JP" sz="120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buFont typeface="Arial" panose="020B0604020202020204" pitchFamily="34" charset="0"/>
                        <a:buChar char="•"/>
                      </a:pPr>
                      <a:r>
                        <a:rPr lang="ja-JP" altLang="en-US" sz="1200" dirty="0">
                          <a:effectLst/>
                          <a:latin typeface="+mn-ea"/>
                          <a:ea typeface="+mn-ea"/>
                        </a:rPr>
                        <a:t>鉱業関連（鉱業データ・鉱山事業資格検証）</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78474215"/>
                  </a:ext>
                </a:extLst>
              </a:tr>
              <a:tr h="282311">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n-ea"/>
                          <a:ea typeface="+mn-ea"/>
                          <a:cs typeface="+mn-cs"/>
                        </a:rPr>
                        <a:t>関与</a:t>
                      </a:r>
                      <a:r>
                        <a:rPr kumimoji="1" lang="en-US" altLang="ja-JP" sz="1200" kern="1200" dirty="0">
                          <a:solidFill>
                            <a:schemeClr val="tx1"/>
                          </a:solidFill>
                          <a:latin typeface="+mn-ea"/>
                          <a:ea typeface="+mn-ea"/>
                          <a:cs typeface="+mn-cs"/>
                        </a:rPr>
                        <a:t>/</a:t>
                      </a:r>
                      <a:r>
                        <a:rPr kumimoji="1" lang="ja-JP" altLang="en-US" sz="1200" kern="1200" dirty="0">
                          <a:solidFill>
                            <a:schemeClr val="tx1"/>
                          </a:solidFill>
                          <a:latin typeface="+mn-ea"/>
                          <a:ea typeface="+mn-ea"/>
                          <a:cs typeface="+mn-cs"/>
                        </a:rPr>
                        <a:t>参照している主要規格団体・フレームワーク</a:t>
                      </a:r>
                      <a:endParaRPr kumimoji="1" lang="en-US" altLang="ja-JP" sz="1200" kern="1200" dirty="0">
                        <a:solidFill>
                          <a:schemeClr val="tx1"/>
                        </a:solidFill>
                        <a:latin typeface="+mn-ea"/>
                        <a:ea typeface="+mn-ea"/>
                        <a:cs typeface="+mn-cs"/>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rPr>
                        <a:t>W3C (W3C VC)</a:t>
                      </a:r>
                    </a:p>
                    <a:p>
                      <a:pPr marL="171450" indent="-171450">
                        <a:spcBef>
                          <a:spcPts val="600"/>
                        </a:spcBef>
                        <a:buFont typeface="Arial" panose="020B0604020202020204" pitchFamily="34" charset="0"/>
                        <a:buChar char="•"/>
                      </a:pPr>
                      <a:r>
                        <a:rPr kumimoji="1" lang="en-US" altLang="ja-JP" sz="1200" dirty="0">
                          <a:latin typeface="+mn-ea"/>
                          <a:ea typeface="+mn-ea"/>
                        </a:rPr>
                        <a:t>Hyperledger</a:t>
                      </a:r>
                      <a:r>
                        <a:rPr kumimoji="1" lang="ja-JP" altLang="en-US" sz="1200" dirty="0">
                          <a:latin typeface="+mn-ea"/>
                          <a:ea typeface="+mn-ea"/>
                        </a:rPr>
                        <a:t> </a:t>
                      </a:r>
                      <a:r>
                        <a:rPr kumimoji="1" lang="en-US" altLang="ja-JP" sz="1200" dirty="0">
                          <a:latin typeface="+mn-ea"/>
                          <a:ea typeface="+mn-ea"/>
                        </a:rPr>
                        <a:t>Foundation</a:t>
                      </a:r>
                      <a:br>
                        <a:rPr kumimoji="1" lang="en-US" altLang="ja-JP" sz="1200" dirty="0">
                          <a:latin typeface="+mn-ea"/>
                          <a:ea typeface="+mn-ea"/>
                        </a:rPr>
                      </a:br>
                      <a:r>
                        <a:rPr kumimoji="1" lang="en-US" altLang="ja-JP" sz="1200" dirty="0">
                          <a:latin typeface="+mn-ea"/>
                          <a:ea typeface="+mn-ea"/>
                        </a:rPr>
                        <a:t>(</a:t>
                      </a:r>
                      <a:r>
                        <a:rPr kumimoji="1" lang="en-US" altLang="ja-JP" sz="1200" dirty="0" err="1">
                          <a:latin typeface="+mn-ea"/>
                          <a:ea typeface="+mn-ea"/>
                        </a:rPr>
                        <a:t>AnonCreds</a:t>
                      </a:r>
                      <a:r>
                        <a:rPr kumimoji="1" lang="en-US" altLang="ja-JP" sz="1200" dirty="0">
                          <a:latin typeface="+mn-ea"/>
                          <a:ea typeface="+mn-ea"/>
                        </a:rPr>
                        <a:t> / Indy / Aries) </a:t>
                      </a:r>
                      <a:r>
                        <a:rPr kumimoji="1" lang="ja-JP" altLang="en-US" sz="1200" dirty="0">
                          <a:latin typeface="+mn-ea"/>
                          <a:ea typeface="+mn-ea"/>
                        </a:rPr>
                        <a:t>等</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rPr>
                        <a:t>OIDF (OID4VC)</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545442620"/>
                  </a:ext>
                </a:extLst>
              </a:tr>
              <a:tr h="282311">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今後の動向</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N/A</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40510083"/>
                  </a:ext>
                </a:extLst>
              </a:tr>
            </a:tbl>
          </a:graphicData>
        </a:graphic>
      </p:graphicFrame>
      <p:sp>
        <p:nvSpPr>
          <p:cNvPr id="30" name="正方形/長方形 29">
            <a:extLst>
              <a:ext uri="{FF2B5EF4-FFF2-40B4-BE49-F238E27FC236}">
                <a16:creationId xmlns:a16="http://schemas.microsoft.com/office/drawing/2014/main" id="{2B2185A6-15BD-5C23-16EC-61C6B65FF4E7}"/>
              </a:ext>
            </a:extLst>
          </p:cNvPr>
          <p:cNvSpPr/>
          <p:nvPr/>
        </p:nvSpPr>
        <p:spPr bwMode="gray">
          <a:xfrm>
            <a:off x="283068" y="1484313"/>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grpSp>
        <p:nvGrpSpPr>
          <p:cNvPr id="9" name="グループ化 8">
            <a:extLst>
              <a:ext uri="{FF2B5EF4-FFF2-40B4-BE49-F238E27FC236}">
                <a16:creationId xmlns:a16="http://schemas.microsoft.com/office/drawing/2014/main" id="{F4EDDA6C-C121-5CA9-7F15-03FB0E94F0AD}"/>
              </a:ext>
            </a:extLst>
          </p:cNvPr>
          <p:cNvGrpSpPr/>
          <p:nvPr/>
        </p:nvGrpSpPr>
        <p:grpSpPr>
          <a:xfrm>
            <a:off x="5146161" y="1484314"/>
            <a:ext cx="4485046" cy="4819382"/>
            <a:chOff x="5146161" y="1484313"/>
            <a:chExt cx="4485046" cy="5113337"/>
          </a:xfrm>
        </p:grpSpPr>
        <p:sp>
          <p:nvSpPr>
            <p:cNvPr id="5" name="正方形/長方形 4">
              <a:extLst>
                <a:ext uri="{FF2B5EF4-FFF2-40B4-BE49-F238E27FC236}">
                  <a16:creationId xmlns:a16="http://schemas.microsoft.com/office/drawing/2014/main" id="{4D7680C0-B36E-05D1-7F93-D6670E5CADC6}"/>
                </a:ext>
              </a:extLst>
            </p:cNvPr>
            <p:cNvSpPr/>
            <p:nvPr/>
          </p:nvSpPr>
          <p:spPr bwMode="gray">
            <a:xfrm>
              <a:off x="5146161" y="1484313"/>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mn-ea"/>
                  <a:ea typeface="+mn-ea"/>
                  <a:cs typeface="Arial" charset="0"/>
                </a:rPr>
                <a:t>実装技術スタック詳細</a:t>
              </a:r>
            </a:p>
          </p:txBody>
        </p:sp>
        <p:grpSp>
          <p:nvGrpSpPr>
            <p:cNvPr id="29" name="グループ化 28">
              <a:extLst>
                <a:ext uri="{FF2B5EF4-FFF2-40B4-BE49-F238E27FC236}">
                  <a16:creationId xmlns:a16="http://schemas.microsoft.com/office/drawing/2014/main" id="{E8912040-76AC-AA44-1242-F18D903B1BBD}"/>
                </a:ext>
              </a:extLst>
            </p:cNvPr>
            <p:cNvGrpSpPr/>
            <p:nvPr/>
          </p:nvGrpSpPr>
          <p:grpSpPr>
            <a:xfrm>
              <a:off x="5146163" y="1753711"/>
              <a:ext cx="1954859" cy="4843939"/>
              <a:chOff x="5146162" y="1753711"/>
              <a:chExt cx="1894712" cy="4843939"/>
            </a:xfrm>
          </p:grpSpPr>
          <p:sp>
            <p:nvSpPr>
              <p:cNvPr id="6" name="テキスト ボックス 5">
                <a:extLst>
                  <a:ext uri="{FF2B5EF4-FFF2-40B4-BE49-F238E27FC236}">
                    <a16:creationId xmlns:a16="http://schemas.microsoft.com/office/drawing/2014/main" id="{942339AE-D74D-C734-B3BD-7F900246A7A6}"/>
                  </a:ext>
                </a:extLst>
              </p:cNvPr>
              <p:cNvSpPr txBox="1"/>
              <p:nvPr/>
            </p:nvSpPr>
            <p:spPr bwMode="gray">
              <a:xfrm>
                <a:off x="5451507" y="2247702"/>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フォーマット</a:t>
                </a:r>
              </a:p>
            </p:txBody>
          </p:sp>
          <p:sp>
            <p:nvSpPr>
              <p:cNvPr id="8" name="テキスト ボックス 7">
                <a:extLst>
                  <a:ext uri="{FF2B5EF4-FFF2-40B4-BE49-F238E27FC236}">
                    <a16:creationId xmlns:a16="http://schemas.microsoft.com/office/drawing/2014/main" id="{FEE9824F-B883-942D-1926-9CF4A037BA9A}"/>
                  </a:ext>
                </a:extLst>
              </p:cNvPr>
              <p:cNvSpPr txBox="1"/>
              <p:nvPr/>
            </p:nvSpPr>
            <p:spPr bwMode="gray">
              <a:xfrm>
                <a:off x="5451507" y="4224179"/>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エンティティ間の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通信プロトコル</a:t>
                </a:r>
              </a:p>
            </p:txBody>
          </p:sp>
          <p:sp>
            <p:nvSpPr>
              <p:cNvPr id="10" name="テキスト ボックス 9">
                <a:extLst>
                  <a:ext uri="{FF2B5EF4-FFF2-40B4-BE49-F238E27FC236}">
                    <a16:creationId xmlns:a16="http://schemas.microsoft.com/office/drawing/2014/main" id="{4279BB76-354A-0046-DBA1-86C6BD442848}"/>
                  </a:ext>
                </a:extLst>
              </p:cNvPr>
              <p:cNvSpPr txBox="1"/>
              <p:nvPr/>
            </p:nvSpPr>
            <p:spPr bwMode="gray">
              <a:xfrm>
                <a:off x="5451507" y="4718170"/>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a:ln>
                      <a:noFill/>
                    </a:ln>
                    <a:solidFill>
                      <a:prstClr val="black"/>
                    </a:solidFill>
                    <a:effectLst/>
                    <a:uLnTx/>
                    <a:uFillTx/>
                    <a:latin typeface="+mn-ea"/>
                    <a:ea typeface="+mn-ea"/>
                    <a:cs typeface="+mn-cs"/>
                  </a:rPr>
                  <a:t>通信</a:t>
                </a:r>
                <a:r>
                  <a:rPr kumimoji="1" lang="en-US" altLang="ja-JP" sz="1200" b="0" i="0" u="none" strike="noStrike" kern="0" cap="none" spc="0" normalizeH="0" baseline="0" noProof="0">
                    <a:ln>
                      <a:noFill/>
                    </a:ln>
                    <a:solidFill>
                      <a:prstClr val="black"/>
                    </a:solidFill>
                    <a:effectLst/>
                    <a:uLnTx/>
                    <a:uFillTx/>
                    <a:latin typeface="+mn-ea"/>
                    <a:ea typeface="+mn-ea"/>
                    <a:cs typeface="+mn-cs"/>
                  </a:rPr>
                  <a:t>I/F</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0" i="0" u="none" strike="noStrike" kern="0" cap="none" spc="0" normalizeH="0" baseline="0" noProof="0">
                    <a:ln>
                      <a:noFill/>
                    </a:ln>
                    <a:solidFill>
                      <a:prstClr val="black"/>
                    </a:solidFill>
                    <a:effectLst/>
                    <a:uLnTx/>
                    <a:uFillTx/>
                    <a:latin typeface="+mn-ea"/>
                    <a:ea typeface="+mn-ea"/>
                    <a:cs typeface="+mn-cs"/>
                  </a:rPr>
                  <a:t>(</a:t>
                </a:r>
                <a:r>
                  <a:rPr kumimoji="1" lang="ja-JP" altLang="en-US" sz="1200" b="0" i="0" u="none" strike="noStrike" kern="0" cap="none" spc="0" normalizeH="0" baseline="0" noProof="0">
                    <a:ln>
                      <a:noFill/>
                    </a:ln>
                    <a:solidFill>
                      <a:prstClr val="black"/>
                    </a:solidFill>
                    <a:effectLst/>
                    <a:uLnTx/>
                    <a:uFillTx/>
                    <a:latin typeface="+mn-ea"/>
                    <a:ea typeface="+mn-ea"/>
                    <a:cs typeface="+mn-cs"/>
                  </a:rPr>
                  <a:t>デバイス連携</a:t>
                </a:r>
                <a:r>
                  <a:rPr kumimoji="1" lang="en-US" altLang="ja-JP" sz="1200" b="0" i="0" u="none" strike="noStrike" kern="0" cap="none" spc="0" normalizeH="0" baseline="0" noProof="0">
                    <a:ln>
                      <a:noFill/>
                    </a:ln>
                    <a:solidFill>
                      <a:prstClr val="black"/>
                    </a:solidFill>
                    <a:effectLst/>
                    <a:uLnTx/>
                    <a:uFillTx/>
                    <a:latin typeface="+mn-ea"/>
                    <a:ea typeface="+mn-ea"/>
                    <a:cs typeface="+mn-cs"/>
                  </a:rPr>
                  <a:t>)</a:t>
                </a:r>
              </a:p>
            </p:txBody>
          </p:sp>
          <p:sp>
            <p:nvSpPr>
              <p:cNvPr id="12" name="テキスト ボックス 11">
                <a:extLst>
                  <a:ext uri="{FF2B5EF4-FFF2-40B4-BE49-F238E27FC236}">
                    <a16:creationId xmlns:a16="http://schemas.microsoft.com/office/drawing/2014/main" id="{DFFFFB65-E8F9-4C0B-8C74-8D3B89130C1D}"/>
                  </a:ext>
                </a:extLst>
              </p:cNvPr>
              <p:cNvSpPr txBox="1"/>
              <p:nvPr/>
            </p:nvSpPr>
            <p:spPr bwMode="gray">
              <a:xfrm>
                <a:off x="5451507" y="6191558"/>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a:ln>
                      <a:noFill/>
                    </a:ln>
                    <a:solidFill>
                      <a:prstClr val="black"/>
                    </a:solidFill>
                    <a:effectLst/>
                    <a:uLnTx/>
                    <a:uFillTx/>
                    <a:latin typeface="+mn-ea"/>
                    <a:ea typeface="+mn-ea"/>
                    <a:cs typeface="+mn-cs"/>
                  </a:rPr>
                  <a:t>名前解決</a:t>
                </a:r>
                <a:endParaRPr kumimoji="1" lang="en-US" altLang="ja-JP" sz="1200" b="0" i="0" u="none" strike="noStrike" kern="0" cap="none" spc="0" normalizeH="0" baseline="0" noProof="0">
                  <a:ln>
                    <a:noFill/>
                  </a:ln>
                  <a:solidFill>
                    <a:prstClr val="black"/>
                  </a:solidFill>
                  <a:effectLst/>
                  <a:uLnTx/>
                  <a:uFillTx/>
                  <a:latin typeface="+mn-ea"/>
                  <a:ea typeface="+mn-ea"/>
                  <a:cs typeface="+mn-cs"/>
                </a:endParaRPr>
              </a:p>
            </p:txBody>
          </p:sp>
          <p:sp>
            <p:nvSpPr>
              <p:cNvPr id="14" name="テキスト ボックス 13">
                <a:extLst>
                  <a:ext uri="{FF2B5EF4-FFF2-40B4-BE49-F238E27FC236}">
                    <a16:creationId xmlns:a16="http://schemas.microsoft.com/office/drawing/2014/main" id="{AF8B257B-F278-0E86-6EDF-41D476E87F01}"/>
                  </a:ext>
                </a:extLst>
              </p:cNvPr>
              <p:cNvSpPr txBox="1"/>
              <p:nvPr/>
            </p:nvSpPr>
            <p:spPr bwMode="gray">
              <a:xfrm>
                <a:off x="5451371" y="274169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実現方式</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6" name="テキスト ボックス 15">
                <a:extLst>
                  <a:ext uri="{FF2B5EF4-FFF2-40B4-BE49-F238E27FC236}">
                    <a16:creationId xmlns:a16="http://schemas.microsoft.com/office/drawing/2014/main" id="{E8E6A412-1ABC-9217-4CB8-418AC40D5811}"/>
                  </a:ext>
                </a:extLst>
              </p:cNvPr>
              <p:cNvSpPr txBox="1"/>
              <p:nvPr/>
            </p:nvSpPr>
            <p:spPr bwMode="gray">
              <a:xfrm>
                <a:off x="5451371" y="3235685"/>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署名方式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8" name="テキスト ボックス 17">
                <a:extLst>
                  <a:ext uri="{FF2B5EF4-FFF2-40B4-BE49-F238E27FC236}">
                    <a16:creationId xmlns:a16="http://schemas.microsoft.com/office/drawing/2014/main" id="{0E1D5BC1-396E-588B-650F-57E8E7760BBD}"/>
                  </a:ext>
                </a:extLst>
              </p:cNvPr>
              <p:cNvSpPr txBox="1"/>
              <p:nvPr/>
            </p:nvSpPr>
            <p:spPr bwMode="gray">
              <a:xfrm>
                <a:off x="5451507" y="1753711"/>
                <a:ext cx="1589367"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20" name="テキスト ボックス 19">
                <a:extLst>
                  <a:ext uri="{FF2B5EF4-FFF2-40B4-BE49-F238E27FC236}">
                    <a16:creationId xmlns:a16="http://schemas.microsoft.com/office/drawing/2014/main" id="{7A967F9D-3307-07F3-E29F-5B4C8BD82B66}"/>
                  </a:ext>
                </a:extLst>
              </p:cNvPr>
              <p:cNvSpPr txBox="1"/>
              <p:nvPr/>
            </p:nvSpPr>
            <p:spPr bwMode="gray">
              <a:xfrm>
                <a:off x="5451507" y="3730188"/>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検証者に提供する</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22" name="テキスト ボックス 21">
                <a:extLst>
                  <a:ext uri="{FF2B5EF4-FFF2-40B4-BE49-F238E27FC236}">
                    <a16:creationId xmlns:a16="http://schemas.microsoft.com/office/drawing/2014/main" id="{38206897-612A-2E4D-A9FF-78A8F695CBC9}"/>
                  </a:ext>
                </a:extLst>
              </p:cNvPr>
              <p:cNvSpPr txBox="1"/>
              <p:nvPr/>
            </p:nvSpPr>
            <p:spPr bwMode="gray">
              <a:xfrm>
                <a:off x="5451507" y="521216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システムアクセスの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ための識別子</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4" name="テキスト ボックス 23">
                <a:extLst>
                  <a:ext uri="{FF2B5EF4-FFF2-40B4-BE49-F238E27FC236}">
                    <a16:creationId xmlns:a16="http://schemas.microsoft.com/office/drawing/2014/main" id="{B862C44E-097F-2A6E-48C8-527B908FE6A5}"/>
                  </a:ext>
                </a:extLst>
              </p:cNvPr>
              <p:cNvSpPr txBox="1"/>
              <p:nvPr/>
            </p:nvSpPr>
            <p:spPr bwMode="gray">
              <a:xfrm>
                <a:off x="5451507" y="5706152"/>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DID Document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格納方式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ストレージ</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p>
            </p:txBody>
          </p:sp>
          <p:sp>
            <p:nvSpPr>
              <p:cNvPr id="26" name="正方形/長方形 25">
                <a:extLst>
                  <a:ext uri="{FF2B5EF4-FFF2-40B4-BE49-F238E27FC236}">
                    <a16:creationId xmlns:a16="http://schemas.microsoft.com/office/drawing/2014/main" id="{0CA0A34E-CC87-87D7-A845-EFE82A7F7BD9}"/>
                  </a:ext>
                </a:extLst>
              </p:cNvPr>
              <p:cNvSpPr/>
              <p:nvPr/>
            </p:nvSpPr>
            <p:spPr bwMode="gray">
              <a:xfrm>
                <a:off x="5146162" y="1763963"/>
                <a:ext cx="259023" cy="2362225"/>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7" name="正方形/長方形 26">
                <a:extLst>
                  <a:ext uri="{FF2B5EF4-FFF2-40B4-BE49-F238E27FC236}">
                    <a16:creationId xmlns:a16="http://schemas.microsoft.com/office/drawing/2014/main" id="{629F6E5C-19FD-056A-A9C1-22FBAD868562}"/>
                  </a:ext>
                </a:extLst>
              </p:cNvPr>
              <p:cNvSpPr/>
              <p:nvPr/>
            </p:nvSpPr>
            <p:spPr bwMode="gray">
              <a:xfrm>
                <a:off x="5146162" y="4224179"/>
                <a:ext cx="259023" cy="889991"/>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Agent Layer</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sp>
            <p:nvSpPr>
              <p:cNvPr id="28" name="正方形/長方形 27">
                <a:extLst>
                  <a:ext uri="{FF2B5EF4-FFF2-40B4-BE49-F238E27FC236}">
                    <a16:creationId xmlns:a16="http://schemas.microsoft.com/office/drawing/2014/main" id="{A69B7E5A-5272-7AC0-2545-BBFC3DE0DAA3}"/>
                  </a:ext>
                </a:extLst>
              </p:cNvPr>
              <p:cNvSpPr/>
              <p:nvPr/>
            </p:nvSpPr>
            <p:spPr bwMode="gray">
              <a:xfrm>
                <a:off x="5146162" y="5204018"/>
                <a:ext cx="259023" cy="1393632"/>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a:ln>
                    <a:noFill/>
                  </a:ln>
                  <a:solidFill>
                    <a:prstClr val="white"/>
                  </a:solidFill>
                  <a:effectLst/>
                  <a:uLnTx/>
                  <a:uFillTx/>
                  <a:latin typeface="+mn-ea"/>
                  <a:ea typeface="+mn-ea"/>
                  <a:cs typeface="Arial" charset="0"/>
                </a:endParaRPr>
              </a:p>
            </p:txBody>
          </p:sp>
        </p:grpSp>
        <p:sp>
          <p:nvSpPr>
            <p:cNvPr id="31" name="テキスト ボックス 30">
              <a:extLst>
                <a:ext uri="{FF2B5EF4-FFF2-40B4-BE49-F238E27FC236}">
                  <a16:creationId xmlns:a16="http://schemas.microsoft.com/office/drawing/2014/main" id="{ECF461D7-96B6-EBAE-151C-376E16A294DB}"/>
                </a:ext>
              </a:extLst>
            </p:cNvPr>
            <p:cNvSpPr txBox="1"/>
            <p:nvPr/>
          </p:nvSpPr>
          <p:spPr bwMode="gray">
            <a:xfrm>
              <a:off x="7151287" y="2247759"/>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JWT-VC</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a:t>
              </a:r>
              <a:r>
                <a:rPr lang="en-US" altLang="ja-JP" sz="1200" dirty="0">
                  <a:latin typeface="+mn-ea"/>
                  <a:ea typeface="+mn-ea"/>
                </a:rPr>
                <a:t> JSON-LD</a:t>
              </a:r>
              <a:r>
                <a:rPr lang="ja-JP" altLang="en-US" sz="1200" dirty="0">
                  <a:latin typeface="+mn-ea"/>
                  <a:ea typeface="+mn-ea"/>
                </a:rPr>
                <a:t>、</a:t>
              </a: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AnonCred</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33" name="テキスト ボックス 32">
              <a:extLst>
                <a:ext uri="{FF2B5EF4-FFF2-40B4-BE49-F238E27FC236}">
                  <a16:creationId xmlns:a16="http://schemas.microsoft.com/office/drawing/2014/main" id="{E501B363-7A34-404C-E73B-524E9EC53F02}"/>
                </a:ext>
              </a:extLst>
            </p:cNvPr>
            <p:cNvSpPr txBox="1"/>
            <p:nvPr/>
          </p:nvSpPr>
          <p:spPr bwMode="gray">
            <a:xfrm>
              <a:off x="7142118" y="3725063"/>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Verifiable Presentations / OID4VP</a:t>
              </a:r>
            </a:p>
          </p:txBody>
        </p:sp>
        <p:sp>
          <p:nvSpPr>
            <p:cNvPr id="34" name="テキスト ボックス 33">
              <a:extLst>
                <a:ext uri="{FF2B5EF4-FFF2-40B4-BE49-F238E27FC236}">
                  <a16:creationId xmlns:a16="http://schemas.microsoft.com/office/drawing/2014/main" id="{6B6BEE86-2188-F8C4-24D0-12B75ABAD051}"/>
                </a:ext>
              </a:extLst>
            </p:cNvPr>
            <p:cNvSpPr txBox="1"/>
            <p:nvPr/>
          </p:nvSpPr>
          <p:spPr bwMode="gray">
            <a:xfrm>
              <a:off x="7151287" y="4219111"/>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DIDcomm</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V2</a:t>
              </a:r>
              <a:r>
                <a:rPr kumimoji="0" lang="ja-JP" altLang="en-US" sz="1200" kern="0" dirty="0">
                  <a:solidFill>
                    <a:prstClr val="black"/>
                  </a:solidFill>
                  <a:latin typeface="+mn-ea"/>
                  <a:ea typeface="+mn-ea"/>
                  <a:cs typeface="Arial" charset="0"/>
                </a:rPr>
                <a:t> </a:t>
              </a:r>
              <a:r>
                <a:rPr kumimoji="0" lang="en-US" altLang="ja-JP" sz="1200" kern="0" dirty="0">
                  <a:solidFill>
                    <a:prstClr val="black"/>
                  </a:solidFill>
                  <a:latin typeface="+mn-ea"/>
                  <a:ea typeface="+mn-ea"/>
                  <a:cs typeface="Arial" charset="0"/>
                </a:rPr>
                <a:t>/ SIOPv2</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35" name="テキスト ボックス 34">
              <a:extLst>
                <a:ext uri="{FF2B5EF4-FFF2-40B4-BE49-F238E27FC236}">
                  <a16:creationId xmlns:a16="http://schemas.microsoft.com/office/drawing/2014/main" id="{924F5C5A-2B5D-7FEE-FC35-FD3C651B1BF9}"/>
                </a:ext>
              </a:extLst>
            </p:cNvPr>
            <p:cNvSpPr txBox="1"/>
            <p:nvPr/>
          </p:nvSpPr>
          <p:spPr bwMode="gray">
            <a:xfrm>
              <a:off x="7151287" y="4713159"/>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QR</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コード</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36" name="テキスト ボックス 35">
              <a:extLst>
                <a:ext uri="{FF2B5EF4-FFF2-40B4-BE49-F238E27FC236}">
                  <a16:creationId xmlns:a16="http://schemas.microsoft.com/office/drawing/2014/main" id="{67A281FE-82DF-65FC-4E34-E21D3E40967D}"/>
                </a:ext>
              </a:extLst>
            </p:cNvPr>
            <p:cNvSpPr txBox="1"/>
            <p:nvPr/>
          </p:nvSpPr>
          <p:spPr bwMode="gray">
            <a:xfrm>
              <a:off x="7151287" y="5207207"/>
              <a:ext cx="2479920" cy="396000"/>
            </a:xfrm>
            <a:prstGeom prst="rect">
              <a:avLst/>
            </a:prstGeom>
            <a:solidFill>
              <a:schemeClr val="bg1"/>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did:indy</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link secrets)</a:t>
              </a:r>
            </a:p>
          </p:txBody>
        </p:sp>
        <p:sp>
          <p:nvSpPr>
            <p:cNvPr id="37" name="テキスト ボックス 36">
              <a:extLst>
                <a:ext uri="{FF2B5EF4-FFF2-40B4-BE49-F238E27FC236}">
                  <a16:creationId xmlns:a16="http://schemas.microsoft.com/office/drawing/2014/main" id="{627D8605-3901-A5E3-20F0-C9876CCAE255}"/>
                </a:ext>
              </a:extLst>
            </p:cNvPr>
            <p:cNvSpPr txBox="1"/>
            <p:nvPr/>
          </p:nvSpPr>
          <p:spPr bwMode="gray">
            <a:xfrm>
              <a:off x="7151287" y="5701255"/>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Hyperledger </a:t>
              </a: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indy</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38" name="テキスト ボックス 37">
              <a:extLst>
                <a:ext uri="{FF2B5EF4-FFF2-40B4-BE49-F238E27FC236}">
                  <a16:creationId xmlns:a16="http://schemas.microsoft.com/office/drawing/2014/main" id="{60AB7762-8B23-407E-6AD1-251031D9894E}"/>
                </a:ext>
              </a:extLst>
            </p:cNvPr>
            <p:cNvSpPr txBox="1"/>
            <p:nvPr/>
          </p:nvSpPr>
          <p:spPr bwMode="gray">
            <a:xfrm>
              <a:off x="7151287" y="6195303"/>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Universal Resolver</a:t>
              </a:r>
            </a:p>
          </p:txBody>
        </p:sp>
        <p:sp>
          <p:nvSpPr>
            <p:cNvPr id="39" name="テキスト ボックス 38">
              <a:extLst>
                <a:ext uri="{FF2B5EF4-FFF2-40B4-BE49-F238E27FC236}">
                  <a16:creationId xmlns:a16="http://schemas.microsoft.com/office/drawing/2014/main" id="{EB730B9F-FB89-2772-1265-054F4B0839E5}"/>
                </a:ext>
              </a:extLst>
            </p:cNvPr>
            <p:cNvSpPr txBox="1"/>
            <p:nvPr/>
          </p:nvSpPr>
          <p:spPr bwMode="gray">
            <a:xfrm>
              <a:off x="7151287" y="1753711"/>
              <a:ext cx="2479920" cy="396000"/>
            </a:xfrm>
            <a:prstGeom prst="rect">
              <a:avLst/>
            </a:prstGeom>
            <a:no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Verifiable Credentials </a:t>
              </a:r>
              <a:b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b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Data Model v1.1</a:t>
              </a:r>
            </a:p>
          </p:txBody>
        </p:sp>
        <p:sp>
          <p:nvSpPr>
            <p:cNvPr id="40" name="テキスト ボックス 39">
              <a:extLst>
                <a:ext uri="{FF2B5EF4-FFF2-40B4-BE49-F238E27FC236}">
                  <a16:creationId xmlns:a16="http://schemas.microsoft.com/office/drawing/2014/main" id="{1F7CD9AA-ED07-C758-FB42-93DA526FD668}"/>
                </a:ext>
              </a:extLst>
            </p:cNvPr>
            <p:cNvSpPr txBox="1"/>
            <p:nvPr/>
          </p:nvSpPr>
          <p:spPr bwMode="gray">
            <a:xfrm>
              <a:off x="7151287" y="2743372"/>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err="1">
                  <a:ln>
                    <a:noFill/>
                  </a:ln>
                  <a:solidFill>
                    <a:prstClr val="black"/>
                  </a:solidFill>
                  <a:effectLst/>
                  <a:uLnTx/>
                  <a:uFillTx/>
                  <a:latin typeface="+mn-ea"/>
                  <a:ea typeface="+mn-ea"/>
                  <a:cs typeface="Arial" charset="0"/>
                </a:rPr>
                <a:t>AnonCred</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 ZKPs</a:t>
              </a:r>
            </a:p>
          </p:txBody>
        </p:sp>
        <p:sp>
          <p:nvSpPr>
            <p:cNvPr id="41" name="テキスト ボックス 40">
              <a:extLst>
                <a:ext uri="{FF2B5EF4-FFF2-40B4-BE49-F238E27FC236}">
                  <a16:creationId xmlns:a16="http://schemas.microsoft.com/office/drawing/2014/main" id="{ECD464E3-5877-C753-5EB5-48BF737FC6F7}"/>
                </a:ext>
              </a:extLst>
            </p:cNvPr>
            <p:cNvSpPr txBox="1"/>
            <p:nvPr/>
          </p:nvSpPr>
          <p:spPr bwMode="gray">
            <a:xfrm>
              <a:off x="7151287" y="3237420"/>
              <a:ext cx="247992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CL(Ver.1.0)</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BBS</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 (Ver.2.0)</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grpSp>
      <p:sp>
        <p:nvSpPr>
          <p:cNvPr id="7" name="コンテンツ プレースホルダー 2">
            <a:extLst>
              <a:ext uri="{FF2B5EF4-FFF2-40B4-BE49-F238E27FC236}">
                <a16:creationId xmlns:a16="http://schemas.microsoft.com/office/drawing/2014/main" id="{7ED87202-D5CB-04E5-5B4C-191674F46703}"/>
              </a:ext>
            </a:extLst>
          </p:cNvPr>
          <p:cNvSpPr txBox="1">
            <a:spLocks/>
          </p:cNvSpPr>
          <p:nvPr/>
        </p:nvSpPr>
        <p:spPr>
          <a:xfrm>
            <a:off x="273050" y="899958"/>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err="1">
                <a:latin typeface="+mn-ea"/>
                <a:ea typeface="+mn-ea"/>
              </a:rPr>
              <a:t>Nothern</a:t>
            </a:r>
            <a:r>
              <a:rPr kumimoji="1" lang="en-US" altLang="ja-JP" dirty="0">
                <a:latin typeface="+mn-ea"/>
                <a:ea typeface="+mn-ea"/>
              </a:rPr>
              <a:t> Block</a:t>
            </a:r>
            <a:r>
              <a:rPr kumimoji="1" lang="ja-JP" altLang="en-US" dirty="0">
                <a:latin typeface="+mn-ea"/>
                <a:ea typeface="+mn-ea"/>
              </a:rPr>
              <a:t>は、法人向け・個人向けのウォレットサービスを提供、</a:t>
            </a:r>
            <a:r>
              <a:rPr kumimoji="1" lang="en-US" altLang="ja-JP" dirty="0">
                <a:latin typeface="+mn-ea"/>
                <a:ea typeface="+mn-ea"/>
              </a:rPr>
              <a:t>EU ARF</a:t>
            </a:r>
            <a:r>
              <a:rPr lang="ja-JP" altLang="en-US" dirty="0">
                <a:latin typeface="+mn-ea"/>
                <a:ea typeface="+mn-ea"/>
              </a:rPr>
              <a:t>を受けて、</a:t>
            </a:r>
            <a:r>
              <a:rPr kumimoji="1" lang="ja-JP" altLang="en-US" dirty="0">
                <a:latin typeface="+mn-ea"/>
                <a:ea typeface="+mn-ea"/>
              </a:rPr>
              <a:t>直近</a:t>
            </a:r>
            <a:r>
              <a:rPr kumimoji="1" lang="en-US" altLang="ja-JP" dirty="0">
                <a:latin typeface="+mn-ea"/>
                <a:ea typeface="+mn-ea"/>
              </a:rPr>
              <a:t>OID4VC</a:t>
            </a:r>
            <a:r>
              <a:rPr kumimoji="1" lang="ja-JP" altLang="en-US" dirty="0">
                <a:latin typeface="+mn-ea"/>
                <a:ea typeface="+mn-ea"/>
              </a:rPr>
              <a:t>系の対応とそれに合わせた</a:t>
            </a:r>
            <a:r>
              <a:rPr kumimoji="1" lang="en-US" altLang="ja-JP" dirty="0">
                <a:latin typeface="+mn-ea"/>
                <a:ea typeface="+mn-ea"/>
              </a:rPr>
              <a:t>Credential </a:t>
            </a:r>
            <a:r>
              <a:rPr kumimoji="1" lang="ja-JP" altLang="en-US" dirty="0">
                <a:latin typeface="+mn-ea"/>
                <a:ea typeface="+mn-ea"/>
              </a:rPr>
              <a:t>フォーマット</a:t>
            </a:r>
            <a:r>
              <a:rPr kumimoji="1" lang="en-US" altLang="ja-JP" dirty="0">
                <a:latin typeface="+mn-ea"/>
                <a:ea typeface="+mn-ea"/>
              </a:rPr>
              <a:t>(JWT-VC</a:t>
            </a:r>
            <a:r>
              <a:rPr kumimoji="1" lang="ja-JP" altLang="en-US" dirty="0">
                <a:latin typeface="+mn-ea"/>
                <a:ea typeface="+mn-ea"/>
              </a:rPr>
              <a:t>、</a:t>
            </a:r>
            <a:r>
              <a:rPr kumimoji="1" lang="en-US" altLang="ja-JP" dirty="0">
                <a:latin typeface="+mn-ea"/>
                <a:ea typeface="+mn-ea"/>
              </a:rPr>
              <a:t>JSON-LD)</a:t>
            </a:r>
            <a:r>
              <a:rPr kumimoji="1" lang="ja-JP" altLang="en-US" dirty="0">
                <a:latin typeface="+mn-ea"/>
                <a:ea typeface="+mn-ea"/>
              </a:rPr>
              <a:t>の追加がされた</a:t>
            </a:r>
            <a:endParaRPr kumimoji="1" lang="en-US" altLang="ja-JP" dirty="0">
              <a:latin typeface="+mn-ea"/>
              <a:ea typeface="+mn-ea"/>
            </a:endParaRPr>
          </a:p>
        </p:txBody>
      </p:sp>
      <p:sp>
        <p:nvSpPr>
          <p:cNvPr id="11" name="テキスト ボックス 10">
            <a:extLst>
              <a:ext uri="{FF2B5EF4-FFF2-40B4-BE49-F238E27FC236}">
                <a16:creationId xmlns:a16="http://schemas.microsoft.com/office/drawing/2014/main" id="{BE75EC81-7EF4-7771-7223-E17B3ACABC43}"/>
              </a:ext>
            </a:extLst>
          </p:cNvPr>
          <p:cNvSpPr txBox="1"/>
          <p:nvPr/>
        </p:nvSpPr>
        <p:spPr>
          <a:xfrm>
            <a:off x="285308" y="6331669"/>
            <a:ext cx="6702286" cy="276999"/>
          </a:xfrm>
          <a:prstGeom prst="rect">
            <a:avLst/>
          </a:prstGeom>
          <a:noFill/>
        </p:spPr>
        <p:txBody>
          <a:bodyPr wrap="square" lIns="0" tIns="0" rIns="0" bIns="0" rtlCol="0">
            <a:spAutoFit/>
          </a:bodyPr>
          <a:lstStyle/>
          <a:p>
            <a:r>
              <a:rPr kumimoji="1" lang="ja-JP" altLang="en-US" sz="900" dirty="0">
                <a:latin typeface="+mn-ea"/>
                <a:ea typeface="+mn-ea"/>
              </a:rPr>
              <a:t>出所：</a:t>
            </a:r>
            <a:r>
              <a:rPr kumimoji="1" lang="en-US" altLang="ja-JP" sz="900" dirty="0">
                <a:latin typeface="+mn-ea"/>
                <a:ea typeface="+mn-ea"/>
                <a:hlinkClick r:id="rId2"/>
              </a:rPr>
              <a:t>https://northernblock.io/orbit-enterprise/</a:t>
            </a:r>
            <a:endParaRPr kumimoji="1" lang="en-US" altLang="ja-JP" sz="900" dirty="0">
              <a:latin typeface="+mn-ea"/>
              <a:ea typeface="+mn-ea"/>
            </a:endParaRPr>
          </a:p>
          <a:p>
            <a:r>
              <a:rPr lang="ja-JP" altLang="en-US" sz="900" dirty="0">
                <a:latin typeface="+mn-ea"/>
                <a:ea typeface="+mn-ea"/>
              </a:rPr>
              <a:t>　　　</a:t>
            </a:r>
            <a:r>
              <a:rPr lang="en-US" altLang="ja-JP" sz="900" dirty="0">
                <a:latin typeface="+mn-ea"/>
                <a:ea typeface="+mn-ea"/>
                <a:hlinkClick r:id="rId3"/>
              </a:rPr>
              <a:t>https://northernblock.io/blog/interoperability-update-addition-of-openid4vc-to-northern-block-products/</a:t>
            </a:r>
            <a:endParaRPr kumimoji="1" lang="en-US" altLang="ja-JP" sz="900" dirty="0">
              <a:latin typeface="+mn-ea"/>
              <a:ea typeface="+mn-ea"/>
            </a:endParaRPr>
          </a:p>
        </p:txBody>
      </p:sp>
    </p:spTree>
    <p:extLst>
      <p:ext uri="{BB962C8B-B14F-4D97-AF65-F5344CB8AC3E}">
        <p14:creationId xmlns:p14="http://schemas.microsoft.com/office/powerpoint/2010/main" val="27692782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4B602C-81C0-8E05-A5E0-B6B739FD0CF2}"/>
              </a:ext>
            </a:extLst>
          </p:cNvPr>
          <p:cNvSpPr>
            <a:spLocks noGrp="1"/>
          </p:cNvSpPr>
          <p:nvPr>
            <p:ph type="title"/>
          </p:nvPr>
        </p:nvSpPr>
        <p:spPr>
          <a:xfrm>
            <a:off x="273050" y="439237"/>
            <a:ext cx="7848302" cy="246221"/>
          </a:xfrm>
        </p:spPr>
        <p:txBody>
          <a:bodyPr/>
          <a:lstStyle/>
          <a:p>
            <a:r>
              <a:rPr kumimoji="1" lang="en-US" altLang="ja-JP" dirty="0"/>
              <a:t>6.1. </a:t>
            </a:r>
            <a:r>
              <a:rPr kumimoji="1" lang="ja-JP" altLang="en-US" dirty="0"/>
              <a:t>サービス </a:t>
            </a:r>
            <a:r>
              <a:rPr kumimoji="1" lang="en-US" altLang="ja-JP" dirty="0"/>
              <a:t>–</a:t>
            </a:r>
            <a:r>
              <a:rPr kumimoji="1" lang="ja-JP" altLang="en-US" dirty="0"/>
              <a:t> </a:t>
            </a:r>
            <a:r>
              <a:rPr kumimoji="1" lang="en-US" altLang="ja-JP" dirty="0"/>
              <a:t>6.1.2. </a:t>
            </a:r>
            <a:r>
              <a:rPr kumimoji="1" lang="ja-JP" altLang="en-US" dirty="0"/>
              <a:t>サービス実装詳細 </a:t>
            </a:r>
            <a:r>
              <a:rPr kumimoji="1" lang="en-US" altLang="ja-JP" dirty="0"/>
              <a:t>(7)</a:t>
            </a:r>
            <a:r>
              <a:rPr kumimoji="1" lang="ja-JP" altLang="en-US" dirty="0"/>
              <a:t> </a:t>
            </a:r>
            <a:r>
              <a:rPr kumimoji="1" lang="en-US" altLang="ja-JP" sz="1600" dirty="0"/>
              <a:t>Dock Certs</a:t>
            </a:r>
            <a:endParaRPr kumimoji="1" lang="ja-JP" altLang="en-US" dirty="0"/>
          </a:p>
        </p:txBody>
      </p:sp>
      <p:sp>
        <p:nvSpPr>
          <p:cNvPr id="3" name="テキスト プレースホルダー 2">
            <a:extLst>
              <a:ext uri="{FF2B5EF4-FFF2-40B4-BE49-F238E27FC236}">
                <a16:creationId xmlns:a16="http://schemas.microsoft.com/office/drawing/2014/main" id="{73B5C8E2-6487-6EE2-6654-8082E948EBD9}"/>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pSp>
        <p:nvGrpSpPr>
          <p:cNvPr id="13" name="グループ化 12">
            <a:extLst>
              <a:ext uri="{FF2B5EF4-FFF2-40B4-BE49-F238E27FC236}">
                <a16:creationId xmlns:a16="http://schemas.microsoft.com/office/drawing/2014/main" id="{A724F1FE-E8E6-5490-2116-AAA77963A4AC}"/>
              </a:ext>
            </a:extLst>
          </p:cNvPr>
          <p:cNvGrpSpPr/>
          <p:nvPr/>
        </p:nvGrpSpPr>
        <p:grpSpPr>
          <a:xfrm>
            <a:off x="5146162" y="1484314"/>
            <a:ext cx="4476770" cy="4750428"/>
            <a:chOff x="5146162" y="1484313"/>
            <a:chExt cx="4353125" cy="5113337"/>
          </a:xfrm>
        </p:grpSpPr>
        <p:sp>
          <p:nvSpPr>
            <p:cNvPr id="4" name="正方形/長方形 3">
              <a:extLst>
                <a:ext uri="{FF2B5EF4-FFF2-40B4-BE49-F238E27FC236}">
                  <a16:creationId xmlns:a16="http://schemas.microsoft.com/office/drawing/2014/main" id="{C8A0DEEB-DF64-243C-E034-DB451E3CC362}"/>
                </a:ext>
              </a:extLst>
            </p:cNvPr>
            <p:cNvSpPr/>
            <p:nvPr/>
          </p:nvSpPr>
          <p:spPr bwMode="gray">
            <a:xfrm>
              <a:off x="5146162" y="1484313"/>
              <a:ext cx="4343913"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mn-ea"/>
                  <a:ea typeface="+mn-ea"/>
                  <a:cs typeface="Arial" charset="0"/>
                </a:rPr>
                <a:t>実装技術スタック詳細</a:t>
              </a:r>
            </a:p>
          </p:txBody>
        </p:sp>
        <p:sp>
          <p:nvSpPr>
            <p:cNvPr id="6" name="テキスト ボックス 5">
              <a:extLst>
                <a:ext uri="{FF2B5EF4-FFF2-40B4-BE49-F238E27FC236}">
                  <a16:creationId xmlns:a16="http://schemas.microsoft.com/office/drawing/2014/main" id="{7AE17746-FCF4-9692-D095-BEE337AE308B}"/>
                </a:ext>
              </a:extLst>
            </p:cNvPr>
            <p:cNvSpPr txBox="1"/>
            <p:nvPr/>
          </p:nvSpPr>
          <p:spPr bwMode="gray">
            <a:xfrm>
              <a:off x="7087196" y="2247702"/>
              <a:ext cx="24104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LDP – VC</a:t>
              </a:r>
            </a:p>
          </p:txBody>
        </p:sp>
        <p:sp>
          <p:nvSpPr>
            <p:cNvPr id="7" name="テキスト ボックス 6">
              <a:extLst>
                <a:ext uri="{FF2B5EF4-FFF2-40B4-BE49-F238E27FC236}">
                  <a16:creationId xmlns:a16="http://schemas.microsoft.com/office/drawing/2014/main" id="{5BF01992-AD2F-52BF-2401-9056EAD011F4}"/>
                </a:ext>
              </a:extLst>
            </p:cNvPr>
            <p:cNvSpPr txBox="1"/>
            <p:nvPr/>
          </p:nvSpPr>
          <p:spPr bwMode="gray">
            <a:xfrm>
              <a:off x="7087196" y="4224179"/>
              <a:ext cx="24104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DIDcomm</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 </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V2</a:t>
              </a:r>
            </a:p>
          </p:txBody>
        </p:sp>
        <p:sp>
          <p:nvSpPr>
            <p:cNvPr id="8" name="テキスト ボックス 7">
              <a:extLst>
                <a:ext uri="{FF2B5EF4-FFF2-40B4-BE49-F238E27FC236}">
                  <a16:creationId xmlns:a16="http://schemas.microsoft.com/office/drawing/2014/main" id="{E2939FF8-B878-FC46-CFAE-4B5F5E32BA82}"/>
                </a:ext>
              </a:extLst>
            </p:cNvPr>
            <p:cNvSpPr txBox="1"/>
            <p:nvPr/>
          </p:nvSpPr>
          <p:spPr bwMode="gray">
            <a:xfrm>
              <a:off x="7087196" y="4718170"/>
              <a:ext cx="24104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QR</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コード</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9" name="テキスト ボックス 8">
              <a:extLst>
                <a:ext uri="{FF2B5EF4-FFF2-40B4-BE49-F238E27FC236}">
                  <a16:creationId xmlns:a16="http://schemas.microsoft.com/office/drawing/2014/main" id="{72773EEC-6E62-5E89-2C62-C3ECBF2BBFAE}"/>
                </a:ext>
              </a:extLst>
            </p:cNvPr>
            <p:cNvSpPr txBox="1"/>
            <p:nvPr/>
          </p:nvSpPr>
          <p:spPr bwMode="gray">
            <a:xfrm>
              <a:off x="7087196" y="1753711"/>
              <a:ext cx="2410406" cy="396000"/>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Verifiable Credentials </a:t>
              </a:r>
              <a:br>
                <a:rPr kumimoji="0" lang="en-US" altLang="ja-JP" sz="1200" b="0" i="0" u="none" strike="noStrike" kern="0" cap="none" spc="0" normalizeH="0" baseline="0" noProof="0">
                  <a:ln>
                    <a:noFill/>
                  </a:ln>
                  <a:solidFill>
                    <a:prstClr val="black"/>
                  </a:solidFill>
                  <a:effectLst/>
                  <a:uLnTx/>
                  <a:uFillTx/>
                  <a:latin typeface="+mn-ea"/>
                  <a:ea typeface="+mn-ea"/>
                  <a:cs typeface="Arial" charset="0"/>
                </a:rPr>
              </a:b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Data Model v1.0</a:t>
              </a:r>
            </a:p>
          </p:txBody>
        </p:sp>
        <p:sp>
          <p:nvSpPr>
            <p:cNvPr id="10" name="テキスト ボックス 9">
              <a:extLst>
                <a:ext uri="{FF2B5EF4-FFF2-40B4-BE49-F238E27FC236}">
                  <a16:creationId xmlns:a16="http://schemas.microsoft.com/office/drawing/2014/main" id="{441FB406-5D3A-9CC5-17A0-EEF80A22B2B3}"/>
                </a:ext>
              </a:extLst>
            </p:cNvPr>
            <p:cNvSpPr txBox="1"/>
            <p:nvPr/>
          </p:nvSpPr>
          <p:spPr bwMode="gray">
            <a:xfrm>
              <a:off x="7086194" y="3730188"/>
              <a:ext cx="24104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Verifiable Presentations</a:t>
              </a:r>
            </a:p>
          </p:txBody>
        </p:sp>
        <p:sp>
          <p:nvSpPr>
            <p:cNvPr id="11" name="テキスト ボックス 10">
              <a:extLst>
                <a:ext uri="{FF2B5EF4-FFF2-40B4-BE49-F238E27FC236}">
                  <a16:creationId xmlns:a16="http://schemas.microsoft.com/office/drawing/2014/main" id="{388D0132-3BD5-6B96-8265-8917BBA02085}"/>
                </a:ext>
              </a:extLst>
            </p:cNvPr>
            <p:cNvSpPr txBox="1"/>
            <p:nvPr/>
          </p:nvSpPr>
          <p:spPr bwMode="gray">
            <a:xfrm>
              <a:off x="7096018" y="5212161"/>
              <a:ext cx="2400582"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did:dock</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 / </a:t>
              </a: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did:key</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2" name="テキスト ボックス 11">
              <a:extLst>
                <a:ext uri="{FF2B5EF4-FFF2-40B4-BE49-F238E27FC236}">
                  <a16:creationId xmlns:a16="http://schemas.microsoft.com/office/drawing/2014/main" id="{793E34C6-AF62-68FB-0B8E-3B61A75443AF}"/>
                </a:ext>
              </a:extLst>
            </p:cNvPr>
            <p:cNvSpPr txBox="1"/>
            <p:nvPr/>
          </p:nvSpPr>
          <p:spPr bwMode="gray">
            <a:xfrm>
              <a:off x="7096018" y="5706152"/>
              <a:ext cx="2403269"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Substrate</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（独自チェーン）</a:t>
              </a:r>
            </a:p>
          </p:txBody>
        </p:sp>
        <p:sp>
          <p:nvSpPr>
            <p:cNvPr id="14" name="テキスト ボックス 13">
              <a:extLst>
                <a:ext uri="{FF2B5EF4-FFF2-40B4-BE49-F238E27FC236}">
                  <a16:creationId xmlns:a16="http://schemas.microsoft.com/office/drawing/2014/main" id="{325949F8-0788-A36D-5743-BEA6F4AB52D8}"/>
                </a:ext>
              </a:extLst>
            </p:cNvPr>
            <p:cNvSpPr txBox="1"/>
            <p:nvPr/>
          </p:nvSpPr>
          <p:spPr bwMode="gray">
            <a:xfrm>
              <a:off x="5451507" y="2247702"/>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フォーマット</a:t>
              </a:r>
            </a:p>
          </p:txBody>
        </p:sp>
        <p:sp>
          <p:nvSpPr>
            <p:cNvPr id="15" name="テキスト ボックス 14">
              <a:extLst>
                <a:ext uri="{FF2B5EF4-FFF2-40B4-BE49-F238E27FC236}">
                  <a16:creationId xmlns:a16="http://schemas.microsoft.com/office/drawing/2014/main" id="{844AC07D-7266-B45F-F46E-C30D3DC4ECF8}"/>
                </a:ext>
              </a:extLst>
            </p:cNvPr>
            <p:cNvSpPr txBox="1"/>
            <p:nvPr/>
          </p:nvSpPr>
          <p:spPr bwMode="gray">
            <a:xfrm>
              <a:off x="5451507" y="4224179"/>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エンティティ間の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通信プロトコル</a:t>
              </a:r>
            </a:p>
          </p:txBody>
        </p:sp>
        <p:sp>
          <p:nvSpPr>
            <p:cNvPr id="16" name="テキスト ボックス 15">
              <a:extLst>
                <a:ext uri="{FF2B5EF4-FFF2-40B4-BE49-F238E27FC236}">
                  <a16:creationId xmlns:a16="http://schemas.microsoft.com/office/drawing/2014/main" id="{850F5C16-2302-501C-78C3-5ACD2178BE02}"/>
                </a:ext>
              </a:extLst>
            </p:cNvPr>
            <p:cNvSpPr txBox="1"/>
            <p:nvPr/>
          </p:nvSpPr>
          <p:spPr bwMode="gray">
            <a:xfrm>
              <a:off x="5451507" y="4718170"/>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dirty="0">
                  <a:ln>
                    <a:noFill/>
                  </a:ln>
                  <a:solidFill>
                    <a:prstClr val="black"/>
                  </a:solidFill>
                  <a:effectLst/>
                  <a:uLnTx/>
                  <a:uFillTx/>
                  <a:latin typeface="+mn-ea"/>
                  <a:ea typeface="+mn-ea"/>
                  <a:cs typeface="+mn-cs"/>
                </a:rPr>
                <a:t>通信</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I/F</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r>
                <a:rPr kumimoji="1" lang="ja-JP" altLang="en-US" sz="1200" b="0" i="0" u="none" strike="noStrike" kern="0" cap="none" spc="0" normalizeH="0" baseline="0" noProof="0" dirty="0">
                  <a:ln>
                    <a:noFill/>
                  </a:ln>
                  <a:solidFill>
                    <a:prstClr val="black"/>
                  </a:solidFill>
                  <a:effectLst/>
                  <a:uLnTx/>
                  <a:uFillTx/>
                  <a:latin typeface="+mn-ea"/>
                  <a:ea typeface="+mn-ea"/>
                  <a:cs typeface="+mn-cs"/>
                </a:rPr>
                <a:t>デバイス連携</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p>
          </p:txBody>
        </p:sp>
        <p:sp>
          <p:nvSpPr>
            <p:cNvPr id="17" name="テキスト ボックス 16">
              <a:extLst>
                <a:ext uri="{FF2B5EF4-FFF2-40B4-BE49-F238E27FC236}">
                  <a16:creationId xmlns:a16="http://schemas.microsoft.com/office/drawing/2014/main" id="{CFF41F1D-3FA6-7E07-0660-2A79C49C8A5D}"/>
                </a:ext>
              </a:extLst>
            </p:cNvPr>
            <p:cNvSpPr txBox="1"/>
            <p:nvPr/>
          </p:nvSpPr>
          <p:spPr bwMode="gray">
            <a:xfrm>
              <a:off x="5451371" y="274169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実現方式</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8" name="テキスト ボックス 17">
              <a:extLst>
                <a:ext uri="{FF2B5EF4-FFF2-40B4-BE49-F238E27FC236}">
                  <a16:creationId xmlns:a16="http://schemas.microsoft.com/office/drawing/2014/main" id="{FBC5A27A-BE52-D141-8F5A-F8A4ECA4F54F}"/>
                </a:ext>
              </a:extLst>
            </p:cNvPr>
            <p:cNvSpPr txBox="1"/>
            <p:nvPr/>
          </p:nvSpPr>
          <p:spPr bwMode="gray">
            <a:xfrm>
              <a:off x="5451371" y="3235685"/>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署名方式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9" name="テキスト ボックス 18">
              <a:extLst>
                <a:ext uri="{FF2B5EF4-FFF2-40B4-BE49-F238E27FC236}">
                  <a16:creationId xmlns:a16="http://schemas.microsoft.com/office/drawing/2014/main" id="{1325A9E2-2830-D112-1DF5-9CC5823C623C}"/>
                </a:ext>
              </a:extLst>
            </p:cNvPr>
            <p:cNvSpPr txBox="1"/>
            <p:nvPr/>
          </p:nvSpPr>
          <p:spPr bwMode="gray">
            <a:xfrm>
              <a:off x="5451507" y="1753711"/>
              <a:ext cx="1589367"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20" name="テキスト ボックス 19">
              <a:extLst>
                <a:ext uri="{FF2B5EF4-FFF2-40B4-BE49-F238E27FC236}">
                  <a16:creationId xmlns:a16="http://schemas.microsoft.com/office/drawing/2014/main" id="{44EEEBEB-B840-88FF-C6F2-66067788B43E}"/>
                </a:ext>
              </a:extLst>
            </p:cNvPr>
            <p:cNvSpPr txBox="1"/>
            <p:nvPr/>
          </p:nvSpPr>
          <p:spPr bwMode="gray">
            <a:xfrm>
              <a:off x="5451507" y="3730188"/>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検証者に提供する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21" name="テキスト ボックス 20">
              <a:extLst>
                <a:ext uri="{FF2B5EF4-FFF2-40B4-BE49-F238E27FC236}">
                  <a16:creationId xmlns:a16="http://schemas.microsoft.com/office/drawing/2014/main" id="{07D2E5C3-E865-2699-843B-1DA7E9ADF175}"/>
                </a:ext>
              </a:extLst>
            </p:cNvPr>
            <p:cNvSpPr txBox="1"/>
            <p:nvPr/>
          </p:nvSpPr>
          <p:spPr bwMode="gray">
            <a:xfrm>
              <a:off x="5451507" y="521216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システムアクセスの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ための識別子</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2" name="テキスト ボックス 21">
              <a:extLst>
                <a:ext uri="{FF2B5EF4-FFF2-40B4-BE49-F238E27FC236}">
                  <a16:creationId xmlns:a16="http://schemas.microsoft.com/office/drawing/2014/main" id="{6200A9C2-1E43-9056-6F53-6567EFC1D33A}"/>
                </a:ext>
              </a:extLst>
            </p:cNvPr>
            <p:cNvSpPr txBox="1"/>
            <p:nvPr/>
          </p:nvSpPr>
          <p:spPr bwMode="gray">
            <a:xfrm>
              <a:off x="5451507" y="5706152"/>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DID Document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格納方式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ストレージ</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p>
          </p:txBody>
        </p:sp>
        <p:sp>
          <p:nvSpPr>
            <p:cNvPr id="23" name="正方形/長方形 22">
              <a:extLst>
                <a:ext uri="{FF2B5EF4-FFF2-40B4-BE49-F238E27FC236}">
                  <a16:creationId xmlns:a16="http://schemas.microsoft.com/office/drawing/2014/main" id="{7A405393-0E1F-444D-2F12-E5C37672B4F4}"/>
                </a:ext>
              </a:extLst>
            </p:cNvPr>
            <p:cNvSpPr/>
            <p:nvPr/>
          </p:nvSpPr>
          <p:spPr bwMode="gray">
            <a:xfrm>
              <a:off x="5146162" y="1753711"/>
              <a:ext cx="259023" cy="2372477"/>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4" name="正方形/長方形 23">
              <a:extLst>
                <a:ext uri="{FF2B5EF4-FFF2-40B4-BE49-F238E27FC236}">
                  <a16:creationId xmlns:a16="http://schemas.microsoft.com/office/drawing/2014/main" id="{E8EE3D42-1CB9-7F6A-4280-4CEA04ACF112}"/>
                </a:ext>
              </a:extLst>
            </p:cNvPr>
            <p:cNvSpPr/>
            <p:nvPr/>
          </p:nvSpPr>
          <p:spPr bwMode="gray">
            <a:xfrm>
              <a:off x="5146162" y="4224179"/>
              <a:ext cx="259023" cy="889991"/>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non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Agent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5" name="テキスト ボックス 24">
              <a:extLst>
                <a:ext uri="{FF2B5EF4-FFF2-40B4-BE49-F238E27FC236}">
                  <a16:creationId xmlns:a16="http://schemas.microsoft.com/office/drawing/2014/main" id="{A7EA5037-C79A-701B-705F-94F9A51A61E4}"/>
                </a:ext>
              </a:extLst>
            </p:cNvPr>
            <p:cNvSpPr txBox="1"/>
            <p:nvPr/>
          </p:nvSpPr>
          <p:spPr bwMode="gray">
            <a:xfrm>
              <a:off x="7087196" y="2744296"/>
              <a:ext cx="2410406"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BBS+</a:t>
              </a:r>
              <a:endParaRPr kumimoji="0" lang="en-US" altLang="ja-JP" sz="1200" b="0" i="0" u="none" strike="noStrike" kern="0" cap="none" spc="0" normalizeH="0" baseline="0" noProof="0" dirty="0">
                <a:ln>
                  <a:noFill/>
                </a:ln>
                <a:solidFill>
                  <a:srgbClr val="000000"/>
                </a:solidFill>
                <a:effectLst/>
                <a:uLnTx/>
                <a:uFillTx/>
                <a:latin typeface="+mn-ea"/>
                <a:ea typeface="+mn-ea"/>
                <a:cs typeface="Arial" charset="0"/>
              </a:endParaRPr>
            </a:p>
          </p:txBody>
        </p:sp>
        <p:sp>
          <p:nvSpPr>
            <p:cNvPr id="26" name="テキスト ボックス 25">
              <a:extLst>
                <a:ext uri="{FF2B5EF4-FFF2-40B4-BE49-F238E27FC236}">
                  <a16:creationId xmlns:a16="http://schemas.microsoft.com/office/drawing/2014/main" id="{02E1724E-5D64-F694-D908-7F9D8A1428D1}"/>
                </a:ext>
              </a:extLst>
            </p:cNvPr>
            <p:cNvSpPr txBox="1"/>
            <p:nvPr/>
          </p:nvSpPr>
          <p:spPr bwMode="gray">
            <a:xfrm>
              <a:off x="7087041" y="3238290"/>
              <a:ext cx="2410560"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algn="ctr" defTabSz="990564" eaLnBrk="1" fontAlgn="auto" hangingPunct="1">
                <a:spcBef>
                  <a:spcPts val="0"/>
                </a:spcBef>
                <a:spcAft>
                  <a:spcPts val="0"/>
                </a:spcAft>
                <a:buSzPct val="100000"/>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Ed25519Signature2018</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a:t>
              </a: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BBS+</a:t>
              </a:r>
              <a:endParaRPr kumimoji="0" lang="en-US" altLang="ja-JP" sz="1200" b="0" i="0" u="none" strike="noStrike" kern="0" cap="none" spc="0" normalizeH="0" baseline="0" noProof="0" dirty="0">
                <a:ln>
                  <a:noFill/>
                </a:ln>
                <a:solidFill>
                  <a:srgbClr val="000000"/>
                </a:solidFill>
                <a:effectLst/>
                <a:uLnTx/>
                <a:uFillTx/>
                <a:latin typeface="+mn-ea"/>
                <a:ea typeface="+mn-ea"/>
                <a:cs typeface="Arial" charset="0"/>
              </a:endParaRPr>
            </a:p>
          </p:txBody>
        </p:sp>
        <p:sp>
          <p:nvSpPr>
            <p:cNvPr id="27" name="正方形/長方形 26">
              <a:extLst>
                <a:ext uri="{FF2B5EF4-FFF2-40B4-BE49-F238E27FC236}">
                  <a16:creationId xmlns:a16="http://schemas.microsoft.com/office/drawing/2014/main" id="{3D7344F5-D64B-60E9-F066-84FB42C755AA}"/>
                </a:ext>
              </a:extLst>
            </p:cNvPr>
            <p:cNvSpPr/>
            <p:nvPr/>
          </p:nvSpPr>
          <p:spPr bwMode="gray">
            <a:xfrm>
              <a:off x="5146162" y="5204018"/>
              <a:ext cx="259023" cy="1393632"/>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8" name="テキスト ボックス 27">
              <a:extLst>
                <a:ext uri="{FF2B5EF4-FFF2-40B4-BE49-F238E27FC236}">
                  <a16:creationId xmlns:a16="http://schemas.microsoft.com/office/drawing/2014/main" id="{A33E69DD-885B-FA79-8FED-25AC44B32A9B}"/>
                </a:ext>
              </a:extLst>
            </p:cNvPr>
            <p:cNvSpPr txBox="1"/>
            <p:nvPr/>
          </p:nvSpPr>
          <p:spPr bwMode="gray">
            <a:xfrm>
              <a:off x="7087041" y="6200143"/>
              <a:ext cx="2410562"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Universal Resolver</a:t>
              </a:r>
            </a:p>
          </p:txBody>
        </p:sp>
        <p:sp>
          <p:nvSpPr>
            <p:cNvPr id="29" name="テキスト ボックス 28">
              <a:extLst>
                <a:ext uri="{FF2B5EF4-FFF2-40B4-BE49-F238E27FC236}">
                  <a16:creationId xmlns:a16="http://schemas.microsoft.com/office/drawing/2014/main" id="{A176217A-0841-B8F6-5D85-0B391C4A991E}"/>
                </a:ext>
              </a:extLst>
            </p:cNvPr>
            <p:cNvSpPr txBox="1"/>
            <p:nvPr/>
          </p:nvSpPr>
          <p:spPr bwMode="gray">
            <a:xfrm>
              <a:off x="5451507" y="6200143"/>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dirty="0">
                  <a:ln>
                    <a:noFill/>
                  </a:ln>
                  <a:solidFill>
                    <a:prstClr val="black"/>
                  </a:solidFill>
                  <a:effectLst/>
                  <a:uLnTx/>
                  <a:uFillTx/>
                  <a:latin typeface="+mn-ea"/>
                  <a:ea typeface="+mn-ea"/>
                  <a:cs typeface="+mn-cs"/>
                </a:rPr>
                <a:t>名前解決</a:t>
              </a:r>
              <a:endParaRPr kumimoji="1" lang="en-US" altLang="ja-JP" sz="1200" b="0" i="0" u="none" strike="noStrike" kern="0" cap="none" spc="0" normalizeH="0" baseline="0" noProof="0" dirty="0">
                <a:ln>
                  <a:noFill/>
                </a:ln>
                <a:solidFill>
                  <a:prstClr val="black"/>
                </a:solidFill>
                <a:effectLst/>
                <a:uLnTx/>
                <a:uFillTx/>
                <a:latin typeface="+mn-ea"/>
                <a:ea typeface="+mn-ea"/>
                <a:cs typeface="+mn-cs"/>
              </a:endParaRPr>
            </a:p>
          </p:txBody>
        </p:sp>
      </p:grpSp>
      <p:graphicFrame>
        <p:nvGraphicFramePr>
          <p:cNvPr id="30" name="表 11">
            <a:extLst>
              <a:ext uri="{FF2B5EF4-FFF2-40B4-BE49-F238E27FC236}">
                <a16:creationId xmlns:a16="http://schemas.microsoft.com/office/drawing/2014/main" id="{218E46DF-5F07-C818-5DA5-F899AD574724}"/>
              </a:ext>
            </a:extLst>
          </p:cNvPr>
          <p:cNvGraphicFramePr>
            <a:graphicFrameLocks noGrp="1"/>
          </p:cNvGraphicFramePr>
          <p:nvPr>
            <p:extLst>
              <p:ext uri="{D42A27DB-BD31-4B8C-83A1-F6EECF244321}">
                <p14:modId xmlns:p14="http://schemas.microsoft.com/office/powerpoint/2010/main" val="4119352132"/>
              </p:ext>
            </p:extLst>
          </p:nvPr>
        </p:nvGraphicFramePr>
        <p:xfrm>
          <a:off x="282989" y="1757179"/>
          <a:ext cx="4504832" cy="4477562"/>
        </p:xfrm>
        <a:graphic>
          <a:graphicData uri="http://schemas.openxmlformats.org/drawingml/2006/table">
            <a:tbl>
              <a:tblPr firstRow="1" bandRow="1"/>
              <a:tblGrid>
                <a:gridCol w="1169911">
                  <a:extLst>
                    <a:ext uri="{9D8B030D-6E8A-4147-A177-3AD203B41FA5}">
                      <a16:colId xmlns:a16="http://schemas.microsoft.com/office/drawing/2014/main" val="840277757"/>
                    </a:ext>
                  </a:extLst>
                </a:gridCol>
                <a:gridCol w="3334921">
                  <a:extLst>
                    <a:ext uri="{9D8B030D-6E8A-4147-A177-3AD203B41FA5}">
                      <a16:colId xmlns:a16="http://schemas.microsoft.com/office/drawing/2014/main" val="2286964954"/>
                    </a:ext>
                  </a:extLst>
                </a:gridCol>
              </a:tblGrid>
              <a:tr h="37405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開発元</a:t>
                      </a:r>
                      <a:endParaRPr kumimoji="1"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Dock Certs</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665109">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サービス概要</a:t>
                      </a:r>
                      <a:endParaRPr lang="en-US" altLang="ja-JP" sz="120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buFont typeface="Arial" panose="020B0604020202020204" pitchFamily="34" charset="0"/>
                        <a:buChar char="•"/>
                      </a:pPr>
                      <a:r>
                        <a:rPr lang="ja-JP" altLang="en-US" sz="1200" dirty="0">
                          <a:effectLst/>
                          <a:latin typeface="+mn-ea"/>
                          <a:ea typeface="+mn-ea"/>
                        </a:rPr>
                        <a:t>組織が検証可能な資格情報を効率的かつ安全に発行、検証、管理、および取り消すことを可能にする、ユーザーフレンドリーなノーコードプラットフォームを事業者向けに提供</a:t>
                      </a:r>
                      <a:endParaRPr lang="en-US" altLang="ja-JP" sz="1200" dirty="0">
                        <a:effectLst/>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44550905"/>
                  </a:ext>
                </a:extLst>
              </a:tr>
              <a:tr h="1675090">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利用事例</a:t>
                      </a:r>
                      <a:endParaRPr lang="en-US" altLang="ja-JP" sz="120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err="1">
                          <a:latin typeface="+mn-ea"/>
                          <a:ea typeface="+mn-ea"/>
                        </a:rPr>
                        <a:t>BurstIQ</a:t>
                      </a:r>
                      <a:br>
                        <a:rPr kumimoji="1" lang="en-US" altLang="ja-JP" sz="1200" dirty="0">
                          <a:latin typeface="+mn-ea"/>
                          <a:ea typeface="+mn-ea"/>
                        </a:rPr>
                      </a:br>
                      <a:r>
                        <a:rPr kumimoji="1" lang="ja-JP" altLang="en-US" sz="1200" dirty="0">
                          <a:latin typeface="+mn-ea"/>
                          <a:ea typeface="+mn-ea"/>
                        </a:rPr>
                        <a:t>従業員の身元情報・健康情報・業績等を証明書にして管理・データ分析するサービスを提供</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rPr>
                        <a:t>Gravity</a:t>
                      </a:r>
                      <a:br>
                        <a:rPr kumimoji="1" lang="en-US" altLang="ja-JP" sz="1200" dirty="0">
                          <a:latin typeface="+mn-ea"/>
                          <a:ea typeface="+mn-ea"/>
                        </a:rPr>
                      </a:br>
                      <a:r>
                        <a:rPr kumimoji="1" lang="ja-JP" altLang="en-US" sz="1200" dirty="0">
                          <a:latin typeface="+mn-ea"/>
                          <a:ea typeface="+mn-ea"/>
                        </a:rPr>
                        <a:t>高所作業にかかる資格証明・健康情報証明書検証サービスを提供</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err="1">
                          <a:latin typeface="+mn-ea"/>
                          <a:ea typeface="+mn-ea"/>
                        </a:rPr>
                        <a:t>SEVENmile</a:t>
                      </a:r>
                      <a:br>
                        <a:rPr kumimoji="1" lang="en-US" altLang="ja-JP" sz="1200" dirty="0">
                          <a:latin typeface="+mn-ea"/>
                          <a:ea typeface="+mn-ea"/>
                        </a:rPr>
                      </a:br>
                      <a:r>
                        <a:rPr kumimoji="1" lang="ja-JP" altLang="en-US" sz="1200" dirty="0">
                          <a:latin typeface="+mn-ea"/>
                          <a:ea typeface="+mn-ea"/>
                        </a:rPr>
                        <a:t>デジタル卒業証明書発行サービスの提供</a:t>
                      </a:r>
                      <a:br>
                        <a:rPr kumimoji="1" lang="en-US" altLang="ja-JP" sz="1200" dirty="0">
                          <a:latin typeface="+mn-ea"/>
                          <a:ea typeface="+mn-ea"/>
                        </a:rPr>
                      </a:br>
                      <a:r>
                        <a:rPr kumimoji="1" lang="en-US" altLang="ja-JP" sz="1200" dirty="0">
                          <a:latin typeface="+mn-ea"/>
                          <a:ea typeface="+mn-ea"/>
                        </a:rPr>
                        <a:t>(</a:t>
                      </a:r>
                      <a:r>
                        <a:rPr kumimoji="1" lang="ja-JP" altLang="en-US" sz="1200" dirty="0">
                          <a:latin typeface="+mn-ea"/>
                          <a:ea typeface="+mn-ea"/>
                        </a:rPr>
                        <a:t>オーストラリアニューサウスウェールズ州教育局と提携して</a:t>
                      </a:r>
                      <a:r>
                        <a:rPr kumimoji="1" lang="en-US" altLang="ja-JP" sz="1200" dirty="0">
                          <a:latin typeface="+mn-ea"/>
                          <a:ea typeface="+mn-ea"/>
                        </a:rPr>
                        <a:t>2024</a:t>
                      </a:r>
                      <a:r>
                        <a:rPr kumimoji="1" lang="ja-JP" altLang="en-US" sz="1200" dirty="0">
                          <a:latin typeface="+mn-ea"/>
                          <a:ea typeface="+mn-ea"/>
                        </a:rPr>
                        <a:t>年までに</a:t>
                      </a:r>
                      <a:r>
                        <a:rPr kumimoji="1" lang="en-US" altLang="ja-JP" sz="1200" dirty="0">
                          <a:latin typeface="+mn-ea"/>
                          <a:ea typeface="+mn-ea"/>
                        </a:rPr>
                        <a:t>1,500</a:t>
                      </a:r>
                      <a:r>
                        <a:rPr kumimoji="1" lang="ja-JP" altLang="en-US" sz="1200" dirty="0">
                          <a:latin typeface="+mn-ea"/>
                          <a:ea typeface="+mn-ea"/>
                        </a:rPr>
                        <a:t>の高校に導入予定</a:t>
                      </a:r>
                      <a:r>
                        <a:rPr kumimoji="1" lang="en-US" altLang="ja-JP" sz="1200" dirty="0">
                          <a:latin typeface="+mn-ea"/>
                          <a:ea typeface="+mn-ea"/>
                        </a:rPr>
                        <a:t>)</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78474215"/>
                  </a:ext>
                </a:extLst>
              </a:tr>
              <a:tr h="517307">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関与</a:t>
                      </a:r>
                      <a:r>
                        <a:rPr lang="en-US" altLang="ja-JP" sz="1200" dirty="0">
                          <a:latin typeface="+mn-ea"/>
                          <a:ea typeface="+mn-ea"/>
                        </a:rPr>
                        <a:t>/</a:t>
                      </a:r>
                      <a:r>
                        <a:rPr lang="ja-JP" altLang="en-US" sz="1200" dirty="0">
                          <a:latin typeface="+mn-ea"/>
                          <a:ea typeface="+mn-ea"/>
                        </a:rPr>
                        <a:t>参照している主要規格団体・フレームワーク</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buFont typeface="Arial" panose="020B0604020202020204" pitchFamily="34" charset="0"/>
                        <a:buChar char="•"/>
                      </a:pPr>
                      <a:r>
                        <a:rPr kumimoji="1" lang="en-US" altLang="ja-JP" sz="1200" dirty="0">
                          <a:latin typeface="+mn-ea"/>
                          <a:ea typeface="+mn-ea"/>
                        </a:rPr>
                        <a:t>W3C/DIF/IETF</a:t>
                      </a:r>
                      <a:r>
                        <a:rPr kumimoji="1" lang="ja-JP" altLang="en-US" sz="1200" dirty="0">
                          <a:latin typeface="+mn-ea"/>
                          <a:ea typeface="+mn-ea"/>
                        </a:rPr>
                        <a:t>の仕様に対応</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545442620"/>
                  </a:ext>
                </a:extLst>
              </a:tr>
              <a:tr h="384949">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今後の動向</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2024</a:t>
                      </a:r>
                      <a:r>
                        <a:rPr kumimoji="1" lang="ja-JP" altLang="en-US" sz="1200" dirty="0">
                          <a:latin typeface="+mn-ea"/>
                          <a:ea typeface="+mn-ea"/>
                        </a:rPr>
                        <a:t>年第</a:t>
                      </a:r>
                      <a:r>
                        <a:rPr kumimoji="1" lang="en-US" altLang="ja-JP" sz="1200" dirty="0">
                          <a:latin typeface="+mn-ea"/>
                          <a:ea typeface="+mn-ea"/>
                        </a:rPr>
                        <a:t>2</a:t>
                      </a:r>
                      <a:r>
                        <a:rPr kumimoji="1" lang="ja-JP" altLang="en-US" sz="1200" dirty="0">
                          <a:latin typeface="+mn-ea"/>
                          <a:ea typeface="+mn-ea"/>
                        </a:rPr>
                        <a:t>四半期にウォレット型</a:t>
                      </a:r>
                      <a:r>
                        <a:rPr kumimoji="1" lang="en-US" altLang="ja-JP" sz="1200" dirty="0">
                          <a:latin typeface="+mn-ea"/>
                          <a:ea typeface="+mn-ea"/>
                        </a:rPr>
                        <a:t>SDK</a:t>
                      </a:r>
                      <a:r>
                        <a:rPr kumimoji="1" lang="ja-JP" altLang="en-US" sz="1200" dirty="0">
                          <a:latin typeface="+mn-ea"/>
                          <a:ea typeface="+mn-ea"/>
                        </a:rPr>
                        <a:t>を提供予定</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154406790"/>
                  </a:ext>
                </a:extLst>
              </a:tr>
            </a:tbl>
          </a:graphicData>
        </a:graphic>
      </p:graphicFrame>
      <p:sp>
        <p:nvSpPr>
          <p:cNvPr id="31" name="正方形/長方形 30">
            <a:extLst>
              <a:ext uri="{FF2B5EF4-FFF2-40B4-BE49-F238E27FC236}">
                <a16:creationId xmlns:a16="http://schemas.microsoft.com/office/drawing/2014/main" id="{BC04AF98-065A-68D6-6285-6FC59606DBD0}"/>
              </a:ext>
            </a:extLst>
          </p:cNvPr>
          <p:cNvSpPr/>
          <p:nvPr/>
        </p:nvSpPr>
        <p:spPr bwMode="gray">
          <a:xfrm>
            <a:off x="283068" y="1484313"/>
            <a:ext cx="4494814"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5" name="コンテンツ プレースホルダー 2">
            <a:extLst>
              <a:ext uri="{FF2B5EF4-FFF2-40B4-BE49-F238E27FC236}">
                <a16:creationId xmlns:a16="http://schemas.microsoft.com/office/drawing/2014/main" id="{D0A9C7BB-7387-EC8C-F477-9229C4E1D39E}"/>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Dock Certs</a:t>
            </a:r>
            <a:r>
              <a:rPr lang="ja-JP" altLang="en-US" dirty="0"/>
              <a:t>は独自のブロックチェーンを活用して資格証明書発行・検証にかかるノーコードプラットフォームサービスを提供しており、学歴やスキル証明サービスを提供している事業者に対してサービス提供を行っている。</a:t>
            </a:r>
            <a:endParaRPr kumimoji="1" lang="ja-JP" altLang="en-US" dirty="0"/>
          </a:p>
        </p:txBody>
      </p:sp>
      <p:sp>
        <p:nvSpPr>
          <p:cNvPr id="32" name="テキスト ボックス 31">
            <a:extLst>
              <a:ext uri="{FF2B5EF4-FFF2-40B4-BE49-F238E27FC236}">
                <a16:creationId xmlns:a16="http://schemas.microsoft.com/office/drawing/2014/main" id="{DCD1D3D2-0C4D-E06A-BDB0-D9708889970F}"/>
              </a:ext>
            </a:extLst>
          </p:cNvPr>
          <p:cNvSpPr txBox="1"/>
          <p:nvPr/>
        </p:nvSpPr>
        <p:spPr>
          <a:xfrm>
            <a:off x="273050" y="6345759"/>
            <a:ext cx="1407437" cy="138499"/>
          </a:xfrm>
          <a:prstGeom prst="rect">
            <a:avLst/>
          </a:prstGeom>
          <a:noFill/>
        </p:spPr>
        <p:txBody>
          <a:bodyPr wrap="none" lIns="0" tIns="0" rIns="0" bIns="0" rtlCol="0">
            <a:spAutoFit/>
          </a:bodyPr>
          <a:lstStyle/>
          <a:p>
            <a:r>
              <a:rPr kumimoji="1" lang="ja-JP" altLang="en-US" sz="900" dirty="0">
                <a:latin typeface="+mn-ea"/>
                <a:ea typeface="+mn-ea"/>
              </a:rPr>
              <a:t>出所：</a:t>
            </a:r>
            <a:r>
              <a:rPr kumimoji="1" lang="en-US" altLang="ja-JP" sz="900" dirty="0">
                <a:latin typeface="+mn-ea"/>
                <a:ea typeface="+mn-ea"/>
                <a:hlinkClick r:id="rId2"/>
              </a:rPr>
              <a:t>https://www.dock.io/</a:t>
            </a:r>
            <a:endParaRPr kumimoji="1" lang="ja-JP" altLang="en-US" sz="900" dirty="0">
              <a:latin typeface="+mn-ea"/>
              <a:ea typeface="+mn-ea"/>
            </a:endParaRPr>
          </a:p>
        </p:txBody>
      </p:sp>
    </p:spTree>
    <p:extLst>
      <p:ext uri="{BB962C8B-B14F-4D97-AF65-F5344CB8AC3E}">
        <p14:creationId xmlns:p14="http://schemas.microsoft.com/office/powerpoint/2010/main" val="22204908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22F6BE-3CFA-8CCC-303F-83B3ED994FE8}"/>
              </a:ext>
            </a:extLst>
          </p:cNvPr>
          <p:cNvSpPr>
            <a:spLocks noGrp="1"/>
          </p:cNvSpPr>
          <p:nvPr>
            <p:ph type="title"/>
          </p:nvPr>
        </p:nvSpPr>
        <p:spPr/>
        <p:txBody>
          <a:bodyPr/>
          <a:lstStyle/>
          <a:p>
            <a:r>
              <a:rPr kumimoji="1" lang="en-US" altLang="ja-JP" dirty="0"/>
              <a:t>6.1. </a:t>
            </a:r>
            <a:r>
              <a:rPr kumimoji="1" lang="ja-JP" altLang="en-US" dirty="0"/>
              <a:t>サービス </a:t>
            </a:r>
            <a:r>
              <a:rPr kumimoji="1" lang="en-US" altLang="ja-JP" dirty="0"/>
              <a:t>–</a:t>
            </a:r>
            <a:r>
              <a:rPr kumimoji="1" lang="ja-JP" altLang="en-US" dirty="0"/>
              <a:t> </a:t>
            </a:r>
            <a:r>
              <a:rPr kumimoji="1" lang="en-US" altLang="ja-JP" dirty="0"/>
              <a:t>6.1.2. </a:t>
            </a:r>
            <a:r>
              <a:rPr kumimoji="1" lang="ja-JP" altLang="en-US" dirty="0"/>
              <a:t>サービス実装詳細 </a:t>
            </a:r>
            <a:r>
              <a:rPr kumimoji="1" lang="en-US" altLang="ja-JP" dirty="0"/>
              <a:t>(8)</a:t>
            </a:r>
            <a:r>
              <a:rPr kumimoji="1" lang="ja-JP" altLang="en-US" dirty="0"/>
              <a:t> </a:t>
            </a:r>
            <a:r>
              <a:rPr kumimoji="1" lang="en-US" altLang="ja-JP" dirty="0" err="1"/>
              <a:t>Blockcert</a:t>
            </a:r>
            <a:endParaRPr kumimoji="1" lang="ja-JP" altLang="en-US" dirty="0"/>
          </a:p>
        </p:txBody>
      </p:sp>
      <p:sp>
        <p:nvSpPr>
          <p:cNvPr id="3" name="テキスト プレースホルダー 2">
            <a:extLst>
              <a:ext uri="{FF2B5EF4-FFF2-40B4-BE49-F238E27FC236}">
                <a16:creationId xmlns:a16="http://schemas.microsoft.com/office/drawing/2014/main" id="{21AB2528-D4ED-F831-F199-41FDBE6CAF84}"/>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5" name="表 11">
            <a:extLst>
              <a:ext uri="{FF2B5EF4-FFF2-40B4-BE49-F238E27FC236}">
                <a16:creationId xmlns:a16="http://schemas.microsoft.com/office/drawing/2014/main" id="{E5535355-E6D3-E428-5E92-57D6CEF0FE9F}"/>
              </a:ext>
            </a:extLst>
          </p:cNvPr>
          <p:cNvGraphicFramePr>
            <a:graphicFrameLocks noGrp="1"/>
          </p:cNvGraphicFramePr>
          <p:nvPr>
            <p:extLst>
              <p:ext uri="{D42A27DB-BD31-4B8C-83A1-F6EECF244321}">
                <p14:modId xmlns:p14="http://schemas.microsoft.com/office/powerpoint/2010/main" val="1025866023"/>
              </p:ext>
            </p:extLst>
          </p:nvPr>
        </p:nvGraphicFramePr>
        <p:xfrm>
          <a:off x="283068" y="1787329"/>
          <a:ext cx="4476771" cy="4267200"/>
        </p:xfrm>
        <a:graphic>
          <a:graphicData uri="http://schemas.openxmlformats.org/drawingml/2006/table">
            <a:tbl>
              <a:tblPr firstRow="1" bandRow="1"/>
              <a:tblGrid>
                <a:gridCol w="1170822">
                  <a:extLst>
                    <a:ext uri="{9D8B030D-6E8A-4147-A177-3AD203B41FA5}">
                      <a16:colId xmlns:a16="http://schemas.microsoft.com/office/drawing/2014/main" val="840277757"/>
                    </a:ext>
                  </a:extLst>
                </a:gridCol>
                <a:gridCol w="3305949">
                  <a:extLst>
                    <a:ext uri="{9D8B030D-6E8A-4147-A177-3AD203B41FA5}">
                      <a16:colId xmlns:a16="http://schemas.microsoft.com/office/drawing/2014/main" val="2286964954"/>
                    </a:ext>
                  </a:extLst>
                </a:gridCol>
              </a:tblGrid>
              <a:tr h="276747">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開発元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r>
                        <a:rPr kumimoji="1" lang="en-US" altLang="ja-JP" sz="1200" dirty="0">
                          <a:latin typeface="+mn-ea"/>
                          <a:ea typeface="+mn-ea"/>
                        </a:rPr>
                        <a:t>MIT Media Lab</a:t>
                      </a:r>
                      <a:r>
                        <a:rPr kumimoji="1" lang="ja-JP" altLang="en-US" sz="1200" dirty="0">
                          <a:latin typeface="+mn-ea"/>
                          <a:ea typeface="+mn-ea"/>
                        </a:rPr>
                        <a:t>、</a:t>
                      </a:r>
                      <a:r>
                        <a:rPr kumimoji="1" lang="en-US" altLang="ja-JP" sz="1200" dirty="0">
                          <a:latin typeface="+mn-ea"/>
                          <a:ea typeface="+mn-ea"/>
                        </a:rPr>
                        <a:t>Learning Machine</a:t>
                      </a:r>
                      <a:r>
                        <a:rPr kumimoji="1" lang="ja-JP" altLang="en-US" sz="1200" dirty="0">
                          <a:latin typeface="+mn-ea"/>
                          <a:ea typeface="+mn-ea"/>
                        </a:rPr>
                        <a:t>（現在</a:t>
                      </a:r>
                      <a:r>
                        <a:rPr kumimoji="1" lang="en-US" altLang="ja-JP" sz="1200" dirty="0">
                          <a:latin typeface="+mn-ea"/>
                          <a:ea typeface="+mn-ea"/>
                        </a:rPr>
                        <a:t>Hyland Credential</a:t>
                      </a:r>
                      <a:r>
                        <a:rPr kumimoji="1" lang="ja-JP" altLang="en-US" sz="1200" dirty="0">
                          <a:latin typeface="+mn-ea"/>
                          <a:ea typeface="+mn-ea"/>
                        </a:rPr>
                        <a:t>）が共同開発</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383274">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サービス概要</a:t>
                      </a:r>
                      <a:endParaRPr lang="en-US" altLang="ja-JP" sz="120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buFont typeface="Arial" panose="020B0604020202020204" pitchFamily="34" charset="0"/>
                        <a:buChar char="•"/>
                      </a:pPr>
                      <a:r>
                        <a:rPr lang="ja-JP" altLang="en-US" sz="1200" dirty="0">
                          <a:effectLst/>
                          <a:latin typeface="+mn-ea"/>
                          <a:ea typeface="+mn-ea"/>
                        </a:rPr>
                        <a:t>ブロックチェーンベースの公式記録を発行および検証するアプリを構築するためのオープンスタンダード、主に学歴証明書で活用されている</a:t>
                      </a:r>
                      <a:endParaRPr lang="en-US" altLang="ja-JP" sz="1200" dirty="0">
                        <a:effectLst/>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44550905"/>
                  </a:ext>
                </a:extLst>
              </a:tr>
              <a:tr h="97127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a:latin typeface="+mn-ea"/>
                          <a:ea typeface="+mn-ea"/>
                        </a:rPr>
                        <a:t>利用事例</a:t>
                      </a:r>
                      <a:endParaRPr lang="en-US" altLang="ja-JP" sz="120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rPr>
                        <a:t>MIT</a:t>
                      </a:r>
                      <a:r>
                        <a:rPr kumimoji="1" lang="ja-JP" altLang="en-US" sz="1200" dirty="0">
                          <a:latin typeface="+mn-ea"/>
                          <a:ea typeface="+mn-ea"/>
                        </a:rPr>
                        <a:t>等の教育機関</a:t>
                      </a:r>
                      <a:br>
                        <a:rPr kumimoji="1" lang="en-US" altLang="ja-JP" sz="1200" dirty="0">
                          <a:latin typeface="+mn-ea"/>
                          <a:ea typeface="+mn-ea"/>
                        </a:rPr>
                      </a:br>
                      <a:r>
                        <a:rPr kumimoji="1" lang="ja-JP" altLang="en-US" sz="1200" dirty="0">
                          <a:latin typeface="+mn-ea"/>
                          <a:ea typeface="+mn-ea"/>
                        </a:rPr>
                        <a:t>学歴証明書として活用</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ja-JP" altLang="en-US" sz="1200" dirty="0">
                          <a:latin typeface="+mn-ea"/>
                          <a:ea typeface="+mn-ea"/>
                        </a:rPr>
                        <a:t>マルタ</a:t>
                      </a:r>
                      <a:br>
                        <a:rPr kumimoji="1" lang="en-US" altLang="ja-JP" sz="1200" dirty="0">
                          <a:latin typeface="+mn-ea"/>
                          <a:ea typeface="+mn-ea"/>
                        </a:rPr>
                      </a:br>
                      <a:r>
                        <a:rPr kumimoji="1" lang="ja-JP" altLang="en-US" sz="1200" dirty="0">
                          <a:latin typeface="+mn-ea"/>
                          <a:ea typeface="+mn-ea"/>
                        </a:rPr>
                        <a:t>生涯にわたる学習履歴を証明書として</a:t>
                      </a:r>
                      <a:r>
                        <a:rPr kumimoji="1" lang="en-US" altLang="ja-JP" sz="1200" dirty="0">
                          <a:latin typeface="+mn-ea"/>
                          <a:ea typeface="+mn-ea"/>
                        </a:rPr>
                        <a:t>1</a:t>
                      </a:r>
                      <a:r>
                        <a:rPr kumimoji="1" lang="ja-JP" altLang="en-US" sz="1200" dirty="0">
                          <a:latin typeface="+mn-ea"/>
                          <a:ea typeface="+mn-ea"/>
                        </a:rPr>
                        <a:t>か所に保存、教育機関・企業に対して学習記録を提示するサービスを政府として提供</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rPr>
                        <a:t>Federation of State Medical Boards(FSMB)</a:t>
                      </a:r>
                      <a:br>
                        <a:rPr kumimoji="1" lang="en-US" altLang="ja-JP" sz="1200" dirty="0">
                          <a:latin typeface="+mn-ea"/>
                          <a:ea typeface="+mn-ea"/>
                        </a:rPr>
                      </a:br>
                      <a:r>
                        <a:rPr kumimoji="1" lang="ja-JP" altLang="en-US" sz="1200" dirty="0">
                          <a:latin typeface="+mn-ea"/>
                          <a:ea typeface="+mn-ea"/>
                        </a:rPr>
                        <a:t>医師資格の資格証明として活用</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78474215"/>
                  </a:ext>
                </a:extLst>
              </a:tr>
              <a:tr h="433184">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n-ea"/>
                          <a:ea typeface="Yu Gothic UI"/>
                          <a:cs typeface="+mn-cs"/>
                        </a:rPr>
                        <a:t>関与</a:t>
                      </a:r>
                      <a:r>
                        <a:rPr kumimoji="1" lang="en-US" altLang="ja-JP" sz="1200" kern="1200" dirty="0">
                          <a:solidFill>
                            <a:schemeClr val="tx1"/>
                          </a:solidFill>
                          <a:latin typeface="+mn-ea"/>
                          <a:ea typeface="Yu Gothic UI"/>
                          <a:cs typeface="+mn-cs"/>
                        </a:rPr>
                        <a:t>/</a:t>
                      </a:r>
                      <a:r>
                        <a:rPr kumimoji="1" lang="ja-JP" altLang="en-US" sz="1200" kern="1200" dirty="0">
                          <a:solidFill>
                            <a:schemeClr val="tx1"/>
                          </a:solidFill>
                          <a:latin typeface="+mn-ea"/>
                          <a:ea typeface="Yu Gothic UI"/>
                          <a:cs typeface="+mn-cs"/>
                        </a:rPr>
                        <a:t>参照している主要規格団体・フレームワーク</a:t>
                      </a:r>
                      <a:endParaRPr kumimoji="1" lang="en-US" altLang="ja-JP" sz="1200" kern="1200" dirty="0">
                        <a:solidFill>
                          <a:schemeClr val="tx1"/>
                        </a:solidFill>
                        <a:latin typeface="+mn-ea"/>
                        <a:ea typeface="Yu Gothic UI"/>
                        <a:cs typeface="+mn-cs"/>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buFont typeface="Arial" panose="020B0604020202020204" pitchFamily="34" charset="0"/>
                        <a:buChar char="•"/>
                      </a:pPr>
                      <a:r>
                        <a:rPr kumimoji="1" lang="en-US" altLang="ja-JP" sz="1200" dirty="0">
                          <a:latin typeface="+mn-ea"/>
                          <a:ea typeface="+mn-ea"/>
                        </a:rPr>
                        <a:t>W3C</a:t>
                      </a:r>
                      <a:r>
                        <a:rPr kumimoji="1" lang="ja-JP" altLang="en-US" sz="1200" dirty="0">
                          <a:latin typeface="+mn-ea"/>
                          <a:ea typeface="+mn-ea"/>
                        </a:rPr>
                        <a:t>の仕様に準拠</a:t>
                      </a:r>
                      <a:br>
                        <a:rPr kumimoji="1" lang="en-US" altLang="ja-JP" sz="1200" dirty="0">
                          <a:latin typeface="+mn-ea"/>
                          <a:ea typeface="+mn-ea"/>
                        </a:rPr>
                      </a:br>
                      <a:r>
                        <a:rPr kumimoji="1" lang="en-US" altLang="ja-JP" sz="1200" dirty="0">
                          <a:latin typeface="+mn-ea"/>
                          <a:ea typeface="+mn-ea"/>
                        </a:rPr>
                        <a:t>(Verifiable Claims / Linked Data Signatures / Rebooting Web of Trust Decentralized Identifiers)</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545442620"/>
                  </a:ext>
                </a:extLst>
              </a:tr>
              <a:tr h="284809">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今後の動向</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buFont typeface="Arial" panose="020B0604020202020204" pitchFamily="34" charset="0"/>
                        <a:buChar char="•"/>
                      </a:pPr>
                      <a:r>
                        <a:rPr kumimoji="1" lang="ja-JP" altLang="en-US" sz="1200" dirty="0">
                          <a:latin typeface="+mn-ea"/>
                          <a:ea typeface="+mn-ea"/>
                        </a:rPr>
                        <a:t>対応ブロックチェーン基盤の追加</a:t>
                      </a:r>
                      <a:endParaRPr kumimoji="1" lang="en-US" altLang="ja-JP" sz="1200" dirty="0">
                        <a:latin typeface="+mn-ea"/>
                        <a:ea typeface="+mn-ea"/>
                      </a:endParaRPr>
                    </a:p>
                    <a:p>
                      <a:pPr marL="171450" indent="-171450">
                        <a:buFont typeface="Arial" panose="020B0604020202020204" pitchFamily="34" charset="0"/>
                        <a:buChar char="•"/>
                      </a:pPr>
                      <a:r>
                        <a:rPr kumimoji="1" lang="ja-JP" altLang="en-US" sz="1200" dirty="0">
                          <a:latin typeface="+mn-ea"/>
                          <a:ea typeface="+mn-ea"/>
                        </a:rPr>
                        <a:t>失効モデルの柔軟性向上</a:t>
                      </a:r>
                      <a:br>
                        <a:rPr kumimoji="1" lang="en-US" altLang="ja-JP" sz="1200" dirty="0">
                          <a:latin typeface="+mn-ea"/>
                          <a:ea typeface="+mn-ea"/>
                        </a:rPr>
                      </a:br>
                      <a:r>
                        <a:rPr kumimoji="1" lang="en-US" altLang="ja-JP" sz="1200" dirty="0">
                          <a:latin typeface="+mn-ea"/>
                          <a:ea typeface="+mn-ea"/>
                        </a:rPr>
                        <a:t>(</a:t>
                      </a:r>
                      <a:r>
                        <a:rPr kumimoji="1" lang="ja-JP" altLang="en-US" sz="1200" dirty="0">
                          <a:latin typeface="+mn-ea"/>
                          <a:ea typeface="+mn-ea"/>
                        </a:rPr>
                        <a:t>発行者の失効権限の分散化等</a:t>
                      </a:r>
                      <a:r>
                        <a:rPr kumimoji="1" lang="en-US" altLang="ja-JP" sz="1200" dirty="0">
                          <a:latin typeface="+mn-ea"/>
                          <a:ea typeface="+mn-ea"/>
                        </a:rPr>
                        <a:t>)</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154406790"/>
                  </a:ext>
                </a:extLst>
              </a:tr>
            </a:tbl>
          </a:graphicData>
        </a:graphic>
      </p:graphicFrame>
      <p:grpSp>
        <p:nvGrpSpPr>
          <p:cNvPr id="35" name="グループ化 34">
            <a:extLst>
              <a:ext uri="{FF2B5EF4-FFF2-40B4-BE49-F238E27FC236}">
                <a16:creationId xmlns:a16="http://schemas.microsoft.com/office/drawing/2014/main" id="{B766D2C0-7A3D-51E5-EC42-7B26C2073246}"/>
              </a:ext>
            </a:extLst>
          </p:cNvPr>
          <p:cNvGrpSpPr/>
          <p:nvPr/>
        </p:nvGrpSpPr>
        <p:grpSpPr>
          <a:xfrm>
            <a:off x="5146162" y="1484314"/>
            <a:ext cx="4486789" cy="4753096"/>
            <a:chOff x="5146162" y="1484313"/>
            <a:chExt cx="4342239" cy="5113337"/>
          </a:xfrm>
        </p:grpSpPr>
        <p:sp>
          <p:nvSpPr>
            <p:cNvPr id="4" name="正方形/長方形 3">
              <a:extLst>
                <a:ext uri="{FF2B5EF4-FFF2-40B4-BE49-F238E27FC236}">
                  <a16:creationId xmlns:a16="http://schemas.microsoft.com/office/drawing/2014/main" id="{783BEBEB-C8CD-56C1-978E-9D7DB1A594BB}"/>
                </a:ext>
              </a:extLst>
            </p:cNvPr>
            <p:cNvSpPr/>
            <p:nvPr/>
          </p:nvSpPr>
          <p:spPr bwMode="gray">
            <a:xfrm>
              <a:off x="5146162" y="1484313"/>
              <a:ext cx="4331683"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dirty="0">
                  <a:ln>
                    <a:noFill/>
                  </a:ln>
                  <a:solidFill>
                    <a:prstClr val="white"/>
                  </a:solidFill>
                  <a:effectLst/>
                  <a:uLnTx/>
                  <a:uFillTx/>
                  <a:latin typeface="+mn-ea"/>
                  <a:ea typeface="+mn-ea"/>
                  <a:cs typeface="Arial" charset="0"/>
                </a:rPr>
                <a:t>実装技術スタック詳細</a:t>
              </a:r>
            </a:p>
          </p:txBody>
        </p:sp>
        <p:sp>
          <p:nvSpPr>
            <p:cNvPr id="6" name="テキスト ボックス 5">
              <a:extLst>
                <a:ext uri="{FF2B5EF4-FFF2-40B4-BE49-F238E27FC236}">
                  <a16:creationId xmlns:a16="http://schemas.microsoft.com/office/drawing/2014/main" id="{96DC08DB-C2C5-C939-6842-AD6F9B90CF45}"/>
                </a:ext>
              </a:extLst>
            </p:cNvPr>
            <p:cNvSpPr txBox="1"/>
            <p:nvPr/>
          </p:nvSpPr>
          <p:spPr bwMode="gray">
            <a:xfrm>
              <a:off x="7096666" y="2256147"/>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LDP – VC</a:t>
              </a:r>
            </a:p>
          </p:txBody>
        </p:sp>
        <p:sp>
          <p:nvSpPr>
            <p:cNvPr id="7" name="テキスト ボックス 6">
              <a:extLst>
                <a:ext uri="{FF2B5EF4-FFF2-40B4-BE49-F238E27FC236}">
                  <a16:creationId xmlns:a16="http://schemas.microsoft.com/office/drawing/2014/main" id="{8A09437B-1202-6F21-73DE-FB5C2B04855C}"/>
                </a:ext>
              </a:extLst>
            </p:cNvPr>
            <p:cNvSpPr txBox="1"/>
            <p:nvPr/>
          </p:nvSpPr>
          <p:spPr bwMode="gray">
            <a:xfrm>
              <a:off x="7096666" y="4215929"/>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DIDcomm</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8" name="テキスト ボックス 7">
              <a:extLst>
                <a:ext uri="{FF2B5EF4-FFF2-40B4-BE49-F238E27FC236}">
                  <a16:creationId xmlns:a16="http://schemas.microsoft.com/office/drawing/2014/main" id="{A1F4D993-5A8D-A75F-0597-3EA08D3823B4}"/>
                </a:ext>
              </a:extLst>
            </p:cNvPr>
            <p:cNvSpPr txBox="1"/>
            <p:nvPr/>
          </p:nvSpPr>
          <p:spPr bwMode="gray">
            <a:xfrm>
              <a:off x="7096666" y="4709487"/>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QR</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コード</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9" name="テキスト ボックス 8">
              <a:extLst>
                <a:ext uri="{FF2B5EF4-FFF2-40B4-BE49-F238E27FC236}">
                  <a16:creationId xmlns:a16="http://schemas.microsoft.com/office/drawing/2014/main" id="{EDFF417C-09FE-28EF-6333-5050EACC27E7}"/>
                </a:ext>
              </a:extLst>
            </p:cNvPr>
            <p:cNvSpPr txBox="1"/>
            <p:nvPr/>
          </p:nvSpPr>
          <p:spPr bwMode="gray">
            <a:xfrm>
              <a:off x="7096666" y="6190161"/>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Universal Resolver</a:t>
              </a:r>
            </a:p>
          </p:txBody>
        </p:sp>
        <p:sp>
          <p:nvSpPr>
            <p:cNvPr id="10" name="テキスト ボックス 9">
              <a:extLst>
                <a:ext uri="{FF2B5EF4-FFF2-40B4-BE49-F238E27FC236}">
                  <a16:creationId xmlns:a16="http://schemas.microsoft.com/office/drawing/2014/main" id="{44CE43FD-E3AE-9FBC-398C-6F95E3CC60DE}"/>
                </a:ext>
              </a:extLst>
            </p:cNvPr>
            <p:cNvSpPr txBox="1"/>
            <p:nvPr/>
          </p:nvSpPr>
          <p:spPr bwMode="gray">
            <a:xfrm>
              <a:off x="7096666" y="2755615"/>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選択的開示は実装検討中</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endParaRPr kumimoji="0" lang="ja-JP" altLang="en-US"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1" name="テキスト ボックス 10">
              <a:extLst>
                <a:ext uri="{FF2B5EF4-FFF2-40B4-BE49-F238E27FC236}">
                  <a16:creationId xmlns:a16="http://schemas.microsoft.com/office/drawing/2014/main" id="{A6E68872-D643-F2D5-C4C4-B4206BD5AC63}"/>
                </a:ext>
              </a:extLst>
            </p:cNvPr>
            <p:cNvSpPr txBox="1"/>
            <p:nvPr/>
          </p:nvSpPr>
          <p:spPr bwMode="gray">
            <a:xfrm>
              <a:off x="7096666" y="3249170"/>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ECDSA</a:t>
              </a:r>
            </a:p>
          </p:txBody>
        </p:sp>
        <p:sp>
          <p:nvSpPr>
            <p:cNvPr id="12" name="テキスト ボックス 11">
              <a:extLst>
                <a:ext uri="{FF2B5EF4-FFF2-40B4-BE49-F238E27FC236}">
                  <a16:creationId xmlns:a16="http://schemas.microsoft.com/office/drawing/2014/main" id="{39354D06-83A6-5D0D-6A0A-24F9D8935C49}"/>
                </a:ext>
              </a:extLst>
            </p:cNvPr>
            <p:cNvSpPr txBox="1"/>
            <p:nvPr/>
          </p:nvSpPr>
          <p:spPr bwMode="gray">
            <a:xfrm>
              <a:off x="7096666" y="1762589"/>
              <a:ext cx="2389884" cy="396000"/>
            </a:xfrm>
            <a:prstGeom prst="rect">
              <a:avLst/>
            </a:prstGeom>
            <a:solidFill>
              <a:sysClr val="window" lastClr="FFFFFF"/>
            </a:solidFill>
            <a:ln>
              <a:solidFill>
                <a:sysClr val="windowText" lastClr="000000"/>
              </a:solidFill>
            </a:ln>
          </p:spPr>
          <p:txBody>
            <a:bodyPr wrap="squar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Verifiable Credentials </a:t>
              </a:r>
              <a:br>
                <a:rPr kumimoji="0" lang="en-US" altLang="ja-JP" sz="1200" b="0" i="0" u="none" strike="noStrike" kern="0" cap="none" spc="0" normalizeH="0" baseline="0" noProof="0">
                  <a:ln>
                    <a:noFill/>
                  </a:ln>
                  <a:solidFill>
                    <a:prstClr val="black"/>
                  </a:solidFill>
                  <a:effectLst/>
                  <a:uLnTx/>
                  <a:uFillTx/>
                  <a:latin typeface="+mn-ea"/>
                  <a:ea typeface="+mn-ea"/>
                  <a:cs typeface="Arial" charset="0"/>
                </a:rPr>
              </a:b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Data Model v1.1</a:t>
              </a:r>
            </a:p>
          </p:txBody>
        </p:sp>
        <p:sp>
          <p:nvSpPr>
            <p:cNvPr id="13" name="テキスト ボックス 12">
              <a:extLst>
                <a:ext uri="{FF2B5EF4-FFF2-40B4-BE49-F238E27FC236}">
                  <a16:creationId xmlns:a16="http://schemas.microsoft.com/office/drawing/2014/main" id="{2E5248DE-A301-EC17-2724-69EEC8D05096}"/>
                </a:ext>
              </a:extLst>
            </p:cNvPr>
            <p:cNvSpPr txBox="1"/>
            <p:nvPr/>
          </p:nvSpPr>
          <p:spPr bwMode="gray">
            <a:xfrm>
              <a:off x="7096666" y="3730188"/>
              <a:ext cx="238988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Verifiable Presentations</a:t>
              </a:r>
            </a:p>
          </p:txBody>
        </p:sp>
        <p:sp>
          <p:nvSpPr>
            <p:cNvPr id="14" name="テキスト ボックス 13">
              <a:extLst>
                <a:ext uri="{FF2B5EF4-FFF2-40B4-BE49-F238E27FC236}">
                  <a16:creationId xmlns:a16="http://schemas.microsoft.com/office/drawing/2014/main" id="{B700DDF0-2A3A-12DC-15B6-4ACE8D11E5C5}"/>
                </a:ext>
              </a:extLst>
            </p:cNvPr>
            <p:cNvSpPr txBox="1"/>
            <p:nvPr/>
          </p:nvSpPr>
          <p:spPr bwMode="gray">
            <a:xfrm>
              <a:off x="7106406" y="5203045"/>
              <a:ext cx="2380144"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err="1">
                  <a:ln>
                    <a:noFill/>
                  </a:ln>
                  <a:solidFill>
                    <a:prstClr val="black"/>
                  </a:solidFill>
                  <a:effectLst/>
                  <a:uLnTx/>
                  <a:uFillTx/>
                  <a:latin typeface="+mn-ea"/>
                  <a:ea typeface="+mn-ea"/>
                  <a:cs typeface="Arial" charset="0"/>
                </a:rPr>
                <a:t>did:web</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15" name="テキスト ボックス 14">
              <a:extLst>
                <a:ext uri="{FF2B5EF4-FFF2-40B4-BE49-F238E27FC236}">
                  <a16:creationId xmlns:a16="http://schemas.microsoft.com/office/drawing/2014/main" id="{6DF66D2D-2A2D-DCB8-BB93-8EC297318C18}"/>
                </a:ext>
              </a:extLst>
            </p:cNvPr>
            <p:cNvSpPr txBox="1"/>
            <p:nvPr/>
          </p:nvSpPr>
          <p:spPr bwMode="gray">
            <a:xfrm>
              <a:off x="7096665" y="5696603"/>
              <a:ext cx="1160535"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Ethereum</a:t>
              </a:r>
            </a:p>
          </p:txBody>
        </p:sp>
        <p:sp>
          <p:nvSpPr>
            <p:cNvPr id="16" name="テキスト ボックス 15">
              <a:extLst>
                <a:ext uri="{FF2B5EF4-FFF2-40B4-BE49-F238E27FC236}">
                  <a16:creationId xmlns:a16="http://schemas.microsoft.com/office/drawing/2014/main" id="{EED31CFC-919D-3B2E-6ABC-81D95479D068}"/>
                </a:ext>
              </a:extLst>
            </p:cNvPr>
            <p:cNvSpPr txBox="1"/>
            <p:nvPr/>
          </p:nvSpPr>
          <p:spPr bwMode="gray">
            <a:xfrm>
              <a:off x="8327866" y="5696603"/>
              <a:ext cx="1160535"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Bitcoin</a:t>
              </a:r>
            </a:p>
          </p:txBody>
        </p:sp>
        <p:sp>
          <p:nvSpPr>
            <p:cNvPr id="18" name="テキスト ボックス 17">
              <a:extLst>
                <a:ext uri="{FF2B5EF4-FFF2-40B4-BE49-F238E27FC236}">
                  <a16:creationId xmlns:a16="http://schemas.microsoft.com/office/drawing/2014/main" id="{6C940B90-7937-8ADB-EB59-D4F0B8896B5A}"/>
                </a:ext>
              </a:extLst>
            </p:cNvPr>
            <p:cNvSpPr txBox="1"/>
            <p:nvPr/>
          </p:nvSpPr>
          <p:spPr bwMode="gray">
            <a:xfrm>
              <a:off x="5451507" y="2247702"/>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Credential</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フォーマット</a:t>
              </a:r>
            </a:p>
          </p:txBody>
        </p:sp>
        <p:sp>
          <p:nvSpPr>
            <p:cNvPr id="19" name="テキスト ボックス 18">
              <a:extLst>
                <a:ext uri="{FF2B5EF4-FFF2-40B4-BE49-F238E27FC236}">
                  <a16:creationId xmlns:a16="http://schemas.microsoft.com/office/drawing/2014/main" id="{03185ABE-7F1F-4A11-D30F-351ABD6C0CF8}"/>
                </a:ext>
              </a:extLst>
            </p:cNvPr>
            <p:cNvSpPr txBox="1"/>
            <p:nvPr/>
          </p:nvSpPr>
          <p:spPr bwMode="gray">
            <a:xfrm>
              <a:off x="5451507" y="4224179"/>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エンティティ間の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通信プロトコル</a:t>
              </a:r>
            </a:p>
          </p:txBody>
        </p:sp>
        <p:sp>
          <p:nvSpPr>
            <p:cNvPr id="20" name="テキスト ボックス 19">
              <a:extLst>
                <a:ext uri="{FF2B5EF4-FFF2-40B4-BE49-F238E27FC236}">
                  <a16:creationId xmlns:a16="http://schemas.microsoft.com/office/drawing/2014/main" id="{4BDD67E5-0D46-F211-DDA4-9B9F27C8545A}"/>
                </a:ext>
              </a:extLst>
            </p:cNvPr>
            <p:cNvSpPr txBox="1"/>
            <p:nvPr/>
          </p:nvSpPr>
          <p:spPr bwMode="gray">
            <a:xfrm>
              <a:off x="5451507" y="4718170"/>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dirty="0">
                  <a:ln>
                    <a:noFill/>
                  </a:ln>
                  <a:solidFill>
                    <a:prstClr val="black"/>
                  </a:solidFill>
                  <a:effectLst/>
                  <a:uLnTx/>
                  <a:uFillTx/>
                  <a:latin typeface="+mn-ea"/>
                  <a:ea typeface="+mn-ea"/>
                  <a:cs typeface="+mn-cs"/>
                </a:rPr>
                <a:t>通信</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I/F</a:t>
              </a: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r>
                <a:rPr kumimoji="1" lang="ja-JP" altLang="en-US" sz="1200" b="0" i="0" u="none" strike="noStrike" kern="0" cap="none" spc="0" normalizeH="0" baseline="0" noProof="0" dirty="0">
                  <a:ln>
                    <a:noFill/>
                  </a:ln>
                  <a:solidFill>
                    <a:prstClr val="black"/>
                  </a:solidFill>
                  <a:effectLst/>
                  <a:uLnTx/>
                  <a:uFillTx/>
                  <a:latin typeface="+mn-ea"/>
                  <a:ea typeface="+mn-ea"/>
                  <a:cs typeface="+mn-cs"/>
                </a:rPr>
                <a:t>デバイス連携</a:t>
              </a:r>
              <a:r>
                <a:rPr kumimoji="1" lang="en-US" altLang="ja-JP" sz="1200" b="0" i="0" u="none" strike="noStrike" kern="0" cap="none" spc="0" normalizeH="0" baseline="0" noProof="0" dirty="0">
                  <a:ln>
                    <a:noFill/>
                  </a:ln>
                  <a:solidFill>
                    <a:prstClr val="black"/>
                  </a:solidFill>
                  <a:effectLst/>
                  <a:uLnTx/>
                  <a:uFillTx/>
                  <a:latin typeface="+mn-ea"/>
                  <a:ea typeface="+mn-ea"/>
                  <a:cs typeface="+mn-cs"/>
                </a:rPr>
                <a:t>)</a:t>
              </a:r>
            </a:p>
          </p:txBody>
        </p:sp>
        <p:sp>
          <p:nvSpPr>
            <p:cNvPr id="21" name="テキスト ボックス 20">
              <a:extLst>
                <a:ext uri="{FF2B5EF4-FFF2-40B4-BE49-F238E27FC236}">
                  <a16:creationId xmlns:a16="http://schemas.microsoft.com/office/drawing/2014/main" id="{AFE55298-F036-C84B-6327-7CE5287956CB}"/>
                </a:ext>
              </a:extLst>
            </p:cNvPr>
            <p:cNvSpPr txBox="1"/>
            <p:nvPr/>
          </p:nvSpPr>
          <p:spPr bwMode="gray">
            <a:xfrm>
              <a:off x="5451507" y="6200143"/>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defPPr>
                <a:defRPr lang="en-US"/>
              </a:defPPr>
              <a:lvl1pPr marL="0" marR="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kumimoji="1" sz="1200">
                  <a:latin typeface="+mn-lt"/>
                  <a:cs typeface="+mn-cs"/>
                </a:defRPr>
              </a:lvl1p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0" i="0" u="none" strike="noStrike" kern="0" cap="none" spc="0" normalizeH="0" baseline="0" noProof="0" dirty="0">
                  <a:ln>
                    <a:noFill/>
                  </a:ln>
                  <a:solidFill>
                    <a:prstClr val="black"/>
                  </a:solidFill>
                  <a:effectLst/>
                  <a:uLnTx/>
                  <a:uFillTx/>
                  <a:latin typeface="+mn-ea"/>
                  <a:ea typeface="+mn-ea"/>
                  <a:cs typeface="+mn-cs"/>
                </a:rPr>
                <a:t>名前解決</a:t>
              </a:r>
              <a:endParaRPr kumimoji="1" lang="en-US" altLang="ja-JP" sz="1200" b="0" i="0" u="none" strike="noStrike" kern="0" cap="none" spc="0" normalizeH="0" baseline="0" noProof="0" dirty="0">
                <a:ln>
                  <a:noFill/>
                </a:ln>
                <a:solidFill>
                  <a:prstClr val="black"/>
                </a:solidFill>
                <a:effectLst/>
                <a:uLnTx/>
                <a:uFillTx/>
                <a:latin typeface="+mn-ea"/>
                <a:ea typeface="+mn-ea"/>
                <a:cs typeface="+mn-cs"/>
              </a:endParaRPr>
            </a:p>
          </p:txBody>
        </p:sp>
        <p:sp>
          <p:nvSpPr>
            <p:cNvPr id="22" name="テキスト ボックス 21">
              <a:extLst>
                <a:ext uri="{FF2B5EF4-FFF2-40B4-BE49-F238E27FC236}">
                  <a16:creationId xmlns:a16="http://schemas.microsoft.com/office/drawing/2014/main" id="{79138654-063B-EB8D-48C1-6DAB519E5127}"/>
                </a:ext>
              </a:extLst>
            </p:cNvPr>
            <p:cNvSpPr txBox="1"/>
            <p:nvPr/>
          </p:nvSpPr>
          <p:spPr bwMode="gray">
            <a:xfrm>
              <a:off x="5451371" y="274169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選択的開示の</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実現方式</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3" name="テキスト ボックス 22">
              <a:extLst>
                <a:ext uri="{FF2B5EF4-FFF2-40B4-BE49-F238E27FC236}">
                  <a16:creationId xmlns:a16="http://schemas.microsoft.com/office/drawing/2014/main" id="{6D3CC40B-966E-391F-B5AB-B79BF4A8D526}"/>
                </a:ext>
              </a:extLst>
            </p:cNvPr>
            <p:cNvSpPr txBox="1"/>
            <p:nvPr/>
          </p:nvSpPr>
          <p:spPr bwMode="gray">
            <a:xfrm>
              <a:off x="5451371" y="3235685"/>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署名方式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4" name="テキスト ボックス 23">
              <a:extLst>
                <a:ext uri="{FF2B5EF4-FFF2-40B4-BE49-F238E27FC236}">
                  <a16:creationId xmlns:a16="http://schemas.microsoft.com/office/drawing/2014/main" id="{32CA367B-6F7A-17C4-AB8E-BC2D96DE630F}"/>
                </a:ext>
              </a:extLst>
            </p:cNvPr>
            <p:cNvSpPr txBox="1"/>
            <p:nvPr/>
          </p:nvSpPr>
          <p:spPr bwMode="gray">
            <a:xfrm>
              <a:off x="5451507" y="1753711"/>
              <a:ext cx="1589367" cy="396000"/>
            </a:xfrm>
            <a:prstGeom prst="rect">
              <a:avLst/>
            </a:prstGeom>
            <a:solidFill>
              <a:sysClr val="window" lastClr="FFFFFF"/>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証明書モデル</a:t>
              </a:r>
            </a:p>
          </p:txBody>
        </p:sp>
        <p:sp>
          <p:nvSpPr>
            <p:cNvPr id="25" name="テキスト ボックス 24">
              <a:extLst>
                <a:ext uri="{FF2B5EF4-FFF2-40B4-BE49-F238E27FC236}">
                  <a16:creationId xmlns:a16="http://schemas.microsoft.com/office/drawing/2014/main" id="{441DF007-1C1B-F3B2-6CD3-5D76BA80E261}"/>
                </a:ext>
              </a:extLst>
            </p:cNvPr>
            <p:cNvSpPr txBox="1"/>
            <p:nvPr/>
          </p:nvSpPr>
          <p:spPr bwMode="gray">
            <a:xfrm>
              <a:off x="5451507" y="3730188"/>
              <a:ext cx="1589367" cy="396000"/>
            </a:xfrm>
            <a:prstGeom prst="rect">
              <a:avLst/>
            </a:prstGeom>
            <a:solidFill>
              <a:schemeClr val="accent1">
                <a:lumMod val="20000"/>
                <a:lumOff val="80000"/>
              </a:scheme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検証者に提供する</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証明書モデル</a:t>
              </a:r>
            </a:p>
          </p:txBody>
        </p:sp>
        <p:sp>
          <p:nvSpPr>
            <p:cNvPr id="26" name="テキスト ボックス 25">
              <a:extLst>
                <a:ext uri="{FF2B5EF4-FFF2-40B4-BE49-F238E27FC236}">
                  <a16:creationId xmlns:a16="http://schemas.microsoft.com/office/drawing/2014/main" id="{E47A653B-86B2-1AF1-2C9D-B48681FB5D8F}"/>
                </a:ext>
              </a:extLst>
            </p:cNvPr>
            <p:cNvSpPr txBox="1"/>
            <p:nvPr/>
          </p:nvSpPr>
          <p:spPr bwMode="gray">
            <a:xfrm>
              <a:off x="5451507" y="5212161"/>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システムアクセスの</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ための識別子</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p:txBody>
        </p:sp>
        <p:sp>
          <p:nvSpPr>
            <p:cNvPr id="27" name="テキスト ボックス 26">
              <a:extLst>
                <a:ext uri="{FF2B5EF4-FFF2-40B4-BE49-F238E27FC236}">
                  <a16:creationId xmlns:a16="http://schemas.microsoft.com/office/drawing/2014/main" id="{DBE64125-3DF0-3757-FA04-19CD3B69B997}"/>
                </a:ext>
              </a:extLst>
            </p:cNvPr>
            <p:cNvSpPr txBox="1"/>
            <p:nvPr/>
          </p:nvSpPr>
          <p:spPr bwMode="gray">
            <a:xfrm>
              <a:off x="5451507" y="5706152"/>
              <a:ext cx="1589367" cy="396000"/>
            </a:xfrm>
            <a:prstGeom prst="rect">
              <a:avLst/>
            </a:prstGeom>
            <a:solidFill>
              <a:sysClr val="window" lastClr="FFFFFF">
                <a:lumMod val="85000"/>
              </a:sysClr>
            </a:solidFill>
            <a:ln>
              <a:solidFill>
                <a:sysClr val="windowText" lastClr="000000"/>
              </a:solidFill>
            </a:ln>
          </p:spPr>
          <p:txBody>
            <a:bodyPr wrap="none" lIns="0" tIns="0" rIns="0" bIns="0" rtlCol="0" anchor="ctr" anchorCtr="0">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DID Document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格納方式</a:t>
              </a:r>
              <a:endParaRPr kumimoji="0" lang="en-US" altLang="ja-JP" sz="1200" b="0" i="0" u="none" strike="noStrike" kern="0" cap="none" spc="0" normalizeH="0" baseline="0" noProof="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r>
                <a:rPr kumimoji="0" lang="ja-JP" altLang="en-US" sz="1200" b="0" i="0" u="none" strike="noStrike" kern="0" cap="none" spc="0" normalizeH="0" baseline="0" noProof="0">
                  <a:ln>
                    <a:noFill/>
                  </a:ln>
                  <a:solidFill>
                    <a:prstClr val="black"/>
                  </a:solidFill>
                  <a:effectLst/>
                  <a:uLnTx/>
                  <a:uFillTx/>
                  <a:latin typeface="+mn-ea"/>
                  <a:ea typeface="+mn-ea"/>
                  <a:cs typeface="Arial" charset="0"/>
                </a:rPr>
                <a:t>ストレージ</a:t>
              </a:r>
              <a:r>
                <a:rPr kumimoji="0" lang="en-US" altLang="ja-JP" sz="1200" b="0" i="0" u="none" strike="noStrike" kern="0" cap="none" spc="0" normalizeH="0" baseline="0" noProof="0">
                  <a:ln>
                    <a:noFill/>
                  </a:ln>
                  <a:solidFill>
                    <a:prstClr val="black"/>
                  </a:solidFill>
                  <a:effectLst/>
                  <a:uLnTx/>
                  <a:uFillTx/>
                  <a:latin typeface="+mn-ea"/>
                  <a:ea typeface="+mn-ea"/>
                  <a:cs typeface="Arial" charset="0"/>
                </a:rPr>
                <a:t>)</a:t>
              </a:r>
            </a:p>
          </p:txBody>
        </p:sp>
        <p:sp>
          <p:nvSpPr>
            <p:cNvPr id="28" name="正方形/長方形 27">
              <a:extLst>
                <a:ext uri="{FF2B5EF4-FFF2-40B4-BE49-F238E27FC236}">
                  <a16:creationId xmlns:a16="http://schemas.microsoft.com/office/drawing/2014/main" id="{5418BDBD-E410-85B1-57F1-9066670667A3}"/>
                </a:ext>
              </a:extLst>
            </p:cNvPr>
            <p:cNvSpPr/>
            <p:nvPr/>
          </p:nvSpPr>
          <p:spPr bwMode="gray">
            <a:xfrm>
              <a:off x="5146162" y="1753711"/>
              <a:ext cx="259023" cy="2372477"/>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Credential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29" name="正方形/長方形 28">
              <a:extLst>
                <a:ext uri="{FF2B5EF4-FFF2-40B4-BE49-F238E27FC236}">
                  <a16:creationId xmlns:a16="http://schemas.microsoft.com/office/drawing/2014/main" id="{87147A9D-14DF-9E68-93DE-B7AFCDF27512}"/>
                </a:ext>
              </a:extLst>
            </p:cNvPr>
            <p:cNvSpPr/>
            <p:nvPr/>
          </p:nvSpPr>
          <p:spPr bwMode="gray">
            <a:xfrm>
              <a:off x="5146162" y="4224179"/>
              <a:ext cx="259023" cy="889991"/>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non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Agent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30" name="正方形/長方形 29">
              <a:extLst>
                <a:ext uri="{FF2B5EF4-FFF2-40B4-BE49-F238E27FC236}">
                  <a16:creationId xmlns:a16="http://schemas.microsoft.com/office/drawing/2014/main" id="{B16BBA26-D8FA-F101-3FDD-559CCAE8F829}"/>
                </a:ext>
              </a:extLst>
            </p:cNvPr>
            <p:cNvSpPr/>
            <p:nvPr/>
          </p:nvSpPr>
          <p:spPr bwMode="gray">
            <a:xfrm>
              <a:off x="5146162" y="5204018"/>
              <a:ext cx="259023" cy="1393632"/>
            </a:xfrm>
            <a:prstGeom prst="rect">
              <a:avLst/>
            </a:prstGeom>
            <a:solidFill>
              <a:schemeClr val="accent1"/>
            </a:solidFill>
            <a:ln w="12700" algn="ctr">
              <a:solidFill>
                <a:srgbClr val="007CB0"/>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1" i="0" u="none" strike="noStrike" kern="0" cap="none" spc="0" normalizeH="0" baseline="0" noProof="0" dirty="0">
                  <a:ln>
                    <a:noFill/>
                  </a:ln>
                  <a:solidFill>
                    <a:prstClr val="white"/>
                  </a:solidFill>
                  <a:effectLst/>
                  <a:uLnTx/>
                  <a:uFillTx/>
                  <a:latin typeface="+mn-ea"/>
                  <a:ea typeface="+mn-ea"/>
                  <a:cs typeface="Arial" charset="0"/>
                </a:rPr>
                <a:t>Public Trust Layer</a:t>
              </a:r>
              <a:endParaRPr kumimoji="0" lang="ja-JP" altLang="en-US" sz="1200" b="1" i="0" u="none" strike="noStrike" kern="0" cap="none" spc="0" normalizeH="0" baseline="0" noProof="0" dirty="0">
                <a:ln>
                  <a:noFill/>
                </a:ln>
                <a:solidFill>
                  <a:prstClr val="white"/>
                </a:solidFill>
                <a:effectLst/>
                <a:uLnTx/>
                <a:uFillTx/>
                <a:latin typeface="+mn-ea"/>
                <a:ea typeface="+mn-ea"/>
                <a:cs typeface="Arial" charset="0"/>
              </a:endParaRPr>
            </a:p>
          </p:txBody>
        </p:sp>
      </p:grpSp>
      <p:sp>
        <p:nvSpPr>
          <p:cNvPr id="33" name="コンテンツ プレースホルダー 2">
            <a:extLst>
              <a:ext uri="{FF2B5EF4-FFF2-40B4-BE49-F238E27FC236}">
                <a16:creationId xmlns:a16="http://schemas.microsoft.com/office/drawing/2014/main" id="{2068F213-2A33-DADB-5791-E116C8E4E383}"/>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t>Blockcert</a:t>
            </a:r>
            <a:r>
              <a:rPr lang="ja-JP" altLang="en-US" dirty="0"/>
              <a:t>は、ブロックチェーンを台帳として活用した資格証明書管理サービスを提供しており、主に学歴証明・専門職の資格証明に関連したサービスを提供している</a:t>
            </a:r>
            <a:endParaRPr lang="en-US" altLang="ja-JP" dirty="0"/>
          </a:p>
        </p:txBody>
      </p:sp>
      <p:sp>
        <p:nvSpPr>
          <p:cNvPr id="34" name="正方形/長方形 33">
            <a:extLst>
              <a:ext uri="{FF2B5EF4-FFF2-40B4-BE49-F238E27FC236}">
                <a16:creationId xmlns:a16="http://schemas.microsoft.com/office/drawing/2014/main" id="{73232CA7-F779-2656-1B87-AE8CFA904B54}"/>
              </a:ext>
            </a:extLst>
          </p:cNvPr>
          <p:cNvSpPr/>
          <p:nvPr/>
        </p:nvSpPr>
        <p:spPr bwMode="gray">
          <a:xfrm>
            <a:off x="283068" y="1484313"/>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36" name="テキスト ボックス 35">
            <a:extLst>
              <a:ext uri="{FF2B5EF4-FFF2-40B4-BE49-F238E27FC236}">
                <a16:creationId xmlns:a16="http://schemas.microsoft.com/office/drawing/2014/main" id="{3C4D7ABC-D1ED-D792-9321-E3017A81107D}"/>
              </a:ext>
            </a:extLst>
          </p:cNvPr>
          <p:cNvSpPr txBox="1"/>
          <p:nvPr/>
        </p:nvSpPr>
        <p:spPr>
          <a:xfrm>
            <a:off x="283068" y="6349830"/>
            <a:ext cx="1756891" cy="138499"/>
          </a:xfrm>
          <a:prstGeom prst="rect">
            <a:avLst/>
          </a:prstGeom>
          <a:noFill/>
        </p:spPr>
        <p:txBody>
          <a:bodyPr wrap="none" lIns="0" tIns="0" rIns="0" bIns="0" rtlCol="0">
            <a:spAutoFit/>
          </a:bodyPr>
          <a:lstStyle/>
          <a:p>
            <a:r>
              <a:rPr kumimoji="1" lang="ja-JP" altLang="en-US" sz="900" dirty="0">
                <a:latin typeface="+mn-ea"/>
                <a:ea typeface="+mn-ea"/>
              </a:rPr>
              <a:t>出所：</a:t>
            </a:r>
            <a:r>
              <a:rPr kumimoji="1" lang="en-US" altLang="ja-JP" sz="900" dirty="0">
                <a:latin typeface="+mn-ea"/>
                <a:ea typeface="+mn-ea"/>
                <a:hlinkClick r:id="rId2"/>
              </a:rPr>
              <a:t>https://www.blockcerts.org/</a:t>
            </a:r>
            <a:endParaRPr kumimoji="1" lang="ja-JP" altLang="en-US" sz="900" dirty="0">
              <a:latin typeface="+mn-ea"/>
              <a:ea typeface="+mn-ea"/>
            </a:endParaRPr>
          </a:p>
        </p:txBody>
      </p:sp>
    </p:spTree>
    <p:extLst>
      <p:ext uri="{BB962C8B-B14F-4D97-AF65-F5344CB8AC3E}">
        <p14:creationId xmlns:p14="http://schemas.microsoft.com/office/powerpoint/2010/main" val="28600825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22F6BE-3CFA-8CCC-303F-83B3ED994FE8}"/>
              </a:ext>
            </a:extLst>
          </p:cNvPr>
          <p:cNvSpPr>
            <a:spLocks noGrp="1"/>
          </p:cNvSpPr>
          <p:nvPr>
            <p:ph type="title"/>
          </p:nvPr>
        </p:nvSpPr>
        <p:spPr/>
        <p:txBody>
          <a:bodyPr/>
          <a:lstStyle/>
          <a:p>
            <a:r>
              <a:rPr kumimoji="1" lang="en-US" altLang="ja-JP" dirty="0"/>
              <a:t>6.2. </a:t>
            </a:r>
            <a:r>
              <a:rPr kumimoji="1" lang="ja-JP" altLang="en-US" dirty="0"/>
              <a:t>ライブラリ </a:t>
            </a:r>
            <a:r>
              <a:rPr kumimoji="1" lang="en-US" altLang="ja-JP" dirty="0"/>
              <a:t>– 6.2.1 </a:t>
            </a:r>
            <a:r>
              <a:rPr kumimoji="1" lang="ja-JP" altLang="en-US" dirty="0"/>
              <a:t>ライブラリ全体観</a:t>
            </a:r>
          </a:p>
        </p:txBody>
      </p:sp>
      <p:sp>
        <p:nvSpPr>
          <p:cNvPr id="3" name="テキスト プレースホルダー 2">
            <a:extLst>
              <a:ext uri="{FF2B5EF4-FFF2-40B4-BE49-F238E27FC236}">
                <a16:creationId xmlns:a16="http://schemas.microsoft.com/office/drawing/2014/main" id="{21AB2528-D4ED-F831-F199-41FDBE6CAF84}"/>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pSp>
        <p:nvGrpSpPr>
          <p:cNvPr id="4" name="グループ化 3">
            <a:extLst>
              <a:ext uri="{FF2B5EF4-FFF2-40B4-BE49-F238E27FC236}">
                <a16:creationId xmlns:a16="http://schemas.microsoft.com/office/drawing/2014/main" id="{D34FFF00-6E78-82A8-F0FC-AC2D1AE9836D}"/>
              </a:ext>
            </a:extLst>
          </p:cNvPr>
          <p:cNvGrpSpPr/>
          <p:nvPr/>
        </p:nvGrpSpPr>
        <p:grpSpPr>
          <a:xfrm>
            <a:off x="560389" y="3965661"/>
            <a:ext cx="1657197" cy="2562189"/>
            <a:chOff x="978544" y="3821550"/>
            <a:chExt cx="2026650" cy="2487174"/>
          </a:xfrm>
        </p:grpSpPr>
        <p:sp>
          <p:nvSpPr>
            <p:cNvPr id="5" name="正方形/長方形 4">
              <a:extLst>
                <a:ext uri="{FF2B5EF4-FFF2-40B4-BE49-F238E27FC236}">
                  <a16:creationId xmlns:a16="http://schemas.microsoft.com/office/drawing/2014/main" id="{A94FB9B3-D0A6-3239-0A86-97CDF0FFCC12}"/>
                </a:ext>
              </a:extLst>
            </p:cNvPr>
            <p:cNvSpPr/>
            <p:nvPr/>
          </p:nvSpPr>
          <p:spPr bwMode="gray">
            <a:xfrm>
              <a:off x="978544" y="3821550"/>
              <a:ext cx="2026650" cy="740204"/>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1" i="0" u="none" strike="noStrike" kern="0" cap="none" spc="0" normalizeH="0" baseline="0" noProof="0" dirty="0">
                  <a:ln>
                    <a:noFill/>
                  </a:ln>
                  <a:solidFill>
                    <a:prstClr val="white"/>
                  </a:solidFill>
                  <a:effectLst/>
                  <a:uLnTx/>
                  <a:uFillTx/>
                  <a:latin typeface="+mn-ea"/>
                  <a:ea typeface="+mn-ea"/>
                  <a:cs typeface="Arial" charset="0"/>
                </a:rPr>
                <a:t>全体フローが実装可能</a:t>
              </a:r>
              <a:endParaRPr kumimoji="0" lang="en-US" altLang="ja-JP" sz="1400" b="1" i="0" u="none" strike="noStrike" kern="0" cap="none" spc="0" normalizeH="0" baseline="0" noProof="0" dirty="0">
                <a:ln>
                  <a:noFill/>
                </a:ln>
                <a:solidFill>
                  <a:prstClr val="white"/>
                </a:solidFill>
                <a:effectLst/>
                <a:uLnTx/>
                <a:uFillTx/>
                <a:latin typeface="+mn-ea"/>
                <a:ea typeface="+mn-ea"/>
                <a:cs typeface="Arial" charset="0"/>
              </a:endParaRPr>
            </a:p>
          </p:txBody>
        </p:sp>
        <p:sp>
          <p:nvSpPr>
            <p:cNvPr id="6" name="正方形/長方形 5">
              <a:extLst>
                <a:ext uri="{FF2B5EF4-FFF2-40B4-BE49-F238E27FC236}">
                  <a16:creationId xmlns:a16="http://schemas.microsoft.com/office/drawing/2014/main" id="{CD7E0F61-4979-3808-05EF-8886051F15B2}"/>
                </a:ext>
              </a:extLst>
            </p:cNvPr>
            <p:cNvSpPr/>
            <p:nvPr/>
          </p:nvSpPr>
          <p:spPr bwMode="gray">
            <a:xfrm>
              <a:off x="978544" y="4691489"/>
              <a:ext cx="2026649" cy="740204"/>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1" i="0" u="none" strike="noStrike" kern="0" cap="none" spc="0" normalizeH="0" baseline="0" noProof="0" dirty="0">
                  <a:ln>
                    <a:noFill/>
                  </a:ln>
                  <a:solidFill>
                    <a:prstClr val="white"/>
                  </a:solidFill>
                  <a:effectLst/>
                  <a:uLnTx/>
                  <a:uFillTx/>
                  <a:latin typeface="+mn-ea"/>
                  <a:ea typeface="+mn-ea"/>
                  <a:cs typeface="Arial" charset="0"/>
                </a:rPr>
                <a:t>フローの一部が</a:t>
              </a:r>
              <a:endParaRPr kumimoji="0" lang="en-US" altLang="ja-JP" sz="1400" b="1" i="0" u="none" strike="noStrike" kern="0" cap="none" spc="0" normalizeH="0" baseline="0" noProof="0" dirty="0">
                <a:ln>
                  <a:noFill/>
                </a:ln>
                <a:solidFill>
                  <a:prstClr val="white"/>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1" i="0" u="none" strike="noStrike" kern="0" cap="none" spc="0" normalizeH="0" baseline="0" noProof="0" dirty="0">
                  <a:ln>
                    <a:noFill/>
                  </a:ln>
                  <a:solidFill>
                    <a:prstClr val="white"/>
                  </a:solidFill>
                  <a:effectLst/>
                  <a:uLnTx/>
                  <a:uFillTx/>
                  <a:latin typeface="+mn-ea"/>
                  <a:ea typeface="+mn-ea"/>
                  <a:cs typeface="Arial" charset="0"/>
                </a:rPr>
                <a:t>実装可能*</a:t>
              </a:r>
              <a:br>
                <a:rPr kumimoji="0" lang="en-US" altLang="ja-JP" sz="1400" b="1" i="0" u="none" strike="noStrike" kern="0" cap="none" spc="0" normalizeH="0" baseline="0" noProof="0" dirty="0">
                  <a:ln>
                    <a:noFill/>
                  </a:ln>
                  <a:solidFill>
                    <a:prstClr val="white"/>
                  </a:solidFill>
                  <a:effectLst/>
                  <a:uLnTx/>
                  <a:uFillTx/>
                  <a:latin typeface="+mn-ea"/>
                  <a:ea typeface="+mn-ea"/>
                  <a:cs typeface="Arial" charset="0"/>
                </a:rPr>
              </a:br>
              <a:r>
                <a:rPr kumimoji="0" lang="en-US" altLang="ja-JP" sz="1400" b="1" i="0" u="none" strike="noStrike" kern="0" cap="none" spc="0" normalizeH="0" baseline="0" noProof="0" dirty="0">
                  <a:ln>
                    <a:noFill/>
                  </a:ln>
                  <a:solidFill>
                    <a:prstClr val="white"/>
                  </a:solidFill>
                  <a:effectLst/>
                  <a:uLnTx/>
                  <a:uFillTx/>
                  <a:latin typeface="+mn-ea"/>
                  <a:ea typeface="+mn-ea"/>
                  <a:cs typeface="Arial" charset="0"/>
                </a:rPr>
                <a:t>(</a:t>
              </a:r>
              <a:r>
                <a:rPr kumimoji="0" lang="ja-JP" altLang="en-US" sz="1400" b="1" i="0" u="none" strike="noStrike" kern="0" cap="none" spc="0" normalizeH="0" baseline="0" noProof="0" dirty="0">
                  <a:ln>
                    <a:noFill/>
                  </a:ln>
                  <a:solidFill>
                    <a:prstClr val="white"/>
                  </a:solidFill>
                  <a:effectLst/>
                  <a:uLnTx/>
                  <a:uFillTx/>
                  <a:latin typeface="+mn-ea"/>
                  <a:ea typeface="+mn-ea"/>
                  <a:cs typeface="Arial" charset="0"/>
                </a:rPr>
                <a:t>機能群を提供</a:t>
              </a:r>
              <a:r>
                <a:rPr kumimoji="0" lang="en-US" altLang="ja-JP" sz="1400" b="1" i="0" u="none" strike="noStrike" kern="0" cap="none" spc="0" normalizeH="0" baseline="0" noProof="0" dirty="0">
                  <a:ln>
                    <a:noFill/>
                  </a:ln>
                  <a:solidFill>
                    <a:prstClr val="white"/>
                  </a:solidFill>
                  <a:effectLst/>
                  <a:uLnTx/>
                  <a:uFillTx/>
                  <a:latin typeface="+mn-ea"/>
                  <a:ea typeface="+mn-ea"/>
                  <a:cs typeface="Arial" charset="0"/>
                </a:rPr>
                <a:t>)</a:t>
              </a:r>
            </a:p>
          </p:txBody>
        </p:sp>
        <p:sp>
          <p:nvSpPr>
            <p:cNvPr id="7" name="正方形/長方形 6">
              <a:extLst>
                <a:ext uri="{FF2B5EF4-FFF2-40B4-BE49-F238E27FC236}">
                  <a16:creationId xmlns:a16="http://schemas.microsoft.com/office/drawing/2014/main" id="{98F637B6-2A05-97B3-0D17-C7C9BB2396F2}"/>
                </a:ext>
              </a:extLst>
            </p:cNvPr>
            <p:cNvSpPr/>
            <p:nvPr/>
          </p:nvSpPr>
          <p:spPr bwMode="gray">
            <a:xfrm>
              <a:off x="978544" y="5568520"/>
              <a:ext cx="2026649" cy="740204"/>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1" i="0" u="none" strike="noStrike" kern="0" cap="none" spc="0" normalizeH="0" baseline="0" noProof="0" dirty="0">
                  <a:ln>
                    <a:noFill/>
                  </a:ln>
                  <a:solidFill>
                    <a:prstClr val="white"/>
                  </a:solidFill>
                  <a:effectLst/>
                  <a:uLnTx/>
                  <a:uFillTx/>
                  <a:latin typeface="+mn-ea"/>
                  <a:ea typeface="+mn-ea"/>
                  <a:cs typeface="Arial" charset="0"/>
                </a:rPr>
                <a:t>特定機能を提供**</a:t>
              </a:r>
            </a:p>
          </p:txBody>
        </p:sp>
      </p:grpSp>
      <p:sp>
        <p:nvSpPr>
          <p:cNvPr id="10" name="正方形/長方形 9">
            <a:extLst>
              <a:ext uri="{FF2B5EF4-FFF2-40B4-BE49-F238E27FC236}">
                <a16:creationId xmlns:a16="http://schemas.microsoft.com/office/drawing/2014/main" id="{F50BB22C-D45E-C9E9-EAB0-928ECF69C1AB}"/>
              </a:ext>
            </a:extLst>
          </p:cNvPr>
          <p:cNvSpPr/>
          <p:nvPr/>
        </p:nvSpPr>
        <p:spPr bwMode="gray">
          <a:xfrm>
            <a:off x="2372908" y="3958942"/>
            <a:ext cx="1392340" cy="769247"/>
          </a:xfrm>
          <a:prstGeom prst="rect">
            <a:avLst/>
          </a:prstGeom>
          <a:solidFill>
            <a:schemeClr val="bg1">
              <a:lumMod val="8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b="0" i="0" u="none" strike="noStrike" kern="0" cap="none" spc="0" normalizeH="0" baseline="0" noProof="0" dirty="0" err="1">
                <a:ln>
                  <a:noFill/>
                </a:ln>
                <a:solidFill>
                  <a:prstClr val="black"/>
                </a:solidFill>
                <a:effectLst/>
                <a:uLnTx/>
                <a:uFillTx/>
                <a:latin typeface="+mn-ea"/>
                <a:ea typeface="+mn-ea"/>
                <a:cs typeface="Arial" charset="0"/>
              </a:rPr>
              <a:t>Blockcert</a:t>
            </a:r>
            <a:endParaRPr kumimoji="0" lang="en-US" altLang="ja-JP" sz="14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1" name="正方形/長方形 10">
            <a:extLst>
              <a:ext uri="{FF2B5EF4-FFF2-40B4-BE49-F238E27FC236}">
                <a16:creationId xmlns:a16="http://schemas.microsoft.com/office/drawing/2014/main" id="{B3AAEB25-B63D-F108-23CA-1A597A9CE238}"/>
              </a:ext>
            </a:extLst>
          </p:cNvPr>
          <p:cNvSpPr/>
          <p:nvPr/>
        </p:nvSpPr>
        <p:spPr bwMode="gray">
          <a:xfrm>
            <a:off x="3845906" y="3958942"/>
            <a:ext cx="1392340" cy="1665424"/>
          </a:xfrm>
          <a:prstGeom prst="rect">
            <a:avLst/>
          </a:prstGeom>
          <a:solidFill>
            <a:schemeClr val="bg1">
              <a:lumMod val="8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indent="-171450" defTabSz="990564" eaLnBrk="1" fontAlgn="auto" hangingPunct="1">
              <a:spcBef>
                <a:spcPts val="0"/>
              </a:spcBef>
              <a:spcAft>
                <a:spcPts val="0"/>
              </a:spcAft>
              <a:buSzPct val="100000"/>
              <a:buFont typeface="Arial" panose="020B0604020202020204" pitchFamily="34" charset="0"/>
              <a:buChar char="•"/>
              <a:defRPr/>
            </a:pPr>
            <a:r>
              <a:rPr kumimoji="0" lang="en-US" altLang="ja-JP" sz="1400" b="0" i="0" u="none" strike="noStrike" kern="0" cap="none" spc="0" normalizeH="0" baseline="0" noProof="0" dirty="0">
                <a:ln>
                  <a:noFill/>
                </a:ln>
                <a:solidFill>
                  <a:prstClr val="black"/>
                </a:solidFill>
                <a:effectLst/>
                <a:uLnTx/>
                <a:uFillTx/>
                <a:latin typeface="+mn-ea"/>
                <a:ea typeface="+mn-ea"/>
                <a:cs typeface="Arial" charset="0"/>
              </a:rPr>
              <a:t>Hyperledger </a:t>
            </a:r>
            <a:r>
              <a:rPr kumimoji="0" lang="en-US" altLang="ja-JP" sz="1400" b="0" i="0" u="none" strike="noStrike" kern="0" cap="none" spc="0" normalizeH="0" baseline="0" noProof="0" dirty="0" err="1">
                <a:ln>
                  <a:noFill/>
                </a:ln>
                <a:solidFill>
                  <a:prstClr val="black"/>
                </a:solidFill>
                <a:effectLst/>
                <a:uLnTx/>
                <a:uFillTx/>
                <a:latin typeface="+mn-ea"/>
                <a:ea typeface="+mn-ea"/>
                <a:cs typeface="Arial" charset="0"/>
              </a:rPr>
              <a:t>Anoncreds</a:t>
            </a:r>
            <a:endParaRPr kumimoji="0" lang="en-US" altLang="ja-JP" sz="1400" b="0" i="0" u="none" strike="noStrike" kern="0" cap="none" spc="0" normalizeH="0" baseline="0" noProof="0" dirty="0">
              <a:ln>
                <a:noFill/>
              </a:ln>
              <a:solidFill>
                <a:prstClr val="black"/>
              </a:solidFill>
              <a:effectLst/>
              <a:uLnTx/>
              <a:uFillTx/>
              <a:latin typeface="+mn-ea"/>
              <a:ea typeface="+mn-ea"/>
              <a:cs typeface="Arial" charset="0"/>
            </a:endParaRP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b="0" i="0" u="none" strike="noStrike" kern="0" cap="none" spc="0" normalizeH="0" baseline="0" noProof="0" dirty="0">
                <a:ln>
                  <a:noFill/>
                </a:ln>
                <a:solidFill>
                  <a:prstClr val="black"/>
                </a:solidFill>
                <a:effectLst/>
                <a:uLnTx/>
                <a:uFillTx/>
                <a:latin typeface="+mn-ea"/>
                <a:ea typeface="+mn-ea"/>
                <a:cs typeface="Arial" charset="0"/>
              </a:rPr>
              <a:t>Hyperledger</a:t>
            </a:r>
            <a:r>
              <a:rPr kumimoji="0" lang="ja-JP" altLang="en-US" sz="1400" b="0" i="0" u="none" strike="noStrike" kern="0" cap="none" spc="0" normalizeH="0" baseline="0" noProof="0" dirty="0">
                <a:ln>
                  <a:noFill/>
                </a:ln>
                <a:solidFill>
                  <a:prstClr val="black"/>
                </a:solidFill>
                <a:effectLst/>
                <a:uLnTx/>
                <a:uFillTx/>
                <a:latin typeface="+mn-ea"/>
                <a:ea typeface="+mn-ea"/>
                <a:cs typeface="Arial" charset="0"/>
              </a:rPr>
              <a:t> </a:t>
            </a:r>
            <a:r>
              <a:rPr kumimoji="0" lang="en-US" altLang="ja-JP" sz="1400" b="0" i="0" u="none" strike="noStrike" kern="0" cap="none" spc="0" normalizeH="0" baseline="0" noProof="0" dirty="0">
                <a:ln>
                  <a:noFill/>
                </a:ln>
                <a:solidFill>
                  <a:prstClr val="black"/>
                </a:solidFill>
                <a:effectLst/>
                <a:uLnTx/>
                <a:uFillTx/>
                <a:latin typeface="+mn-ea"/>
                <a:ea typeface="+mn-ea"/>
                <a:cs typeface="Arial" charset="0"/>
              </a:rPr>
              <a:t>Indy</a:t>
            </a: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b="0" i="0" u="none" strike="noStrike" kern="0" cap="none" spc="0" normalizeH="0" baseline="0" noProof="0" dirty="0">
                <a:ln>
                  <a:noFill/>
                </a:ln>
                <a:solidFill>
                  <a:prstClr val="black"/>
                </a:solidFill>
                <a:effectLst/>
                <a:uLnTx/>
                <a:uFillTx/>
                <a:latin typeface="+mn-ea"/>
                <a:ea typeface="+mn-ea"/>
                <a:cs typeface="Arial" charset="0"/>
              </a:rPr>
              <a:t>Hyperledger Aries</a:t>
            </a:r>
          </a:p>
        </p:txBody>
      </p:sp>
      <p:sp>
        <p:nvSpPr>
          <p:cNvPr id="12" name="正方形/長方形 11">
            <a:extLst>
              <a:ext uri="{FF2B5EF4-FFF2-40B4-BE49-F238E27FC236}">
                <a16:creationId xmlns:a16="http://schemas.microsoft.com/office/drawing/2014/main" id="{CB6A132A-D8EF-61A3-A67C-D71F14D4990D}"/>
              </a:ext>
            </a:extLst>
          </p:cNvPr>
          <p:cNvSpPr/>
          <p:nvPr/>
        </p:nvSpPr>
        <p:spPr bwMode="gray">
          <a:xfrm>
            <a:off x="6771421" y="5765319"/>
            <a:ext cx="2572891" cy="762530"/>
          </a:xfrm>
          <a:prstGeom prst="rect">
            <a:avLst/>
          </a:prstGeom>
          <a:solidFill>
            <a:schemeClr val="bg1">
              <a:lumMod val="8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b="0" i="0" u="none" strike="noStrike" kern="0" cap="none" spc="0" normalizeH="0" baseline="0" noProof="0" dirty="0">
                <a:ln>
                  <a:noFill/>
                </a:ln>
                <a:solidFill>
                  <a:prstClr val="black"/>
                </a:solidFill>
                <a:effectLst/>
                <a:uLnTx/>
                <a:uFillTx/>
                <a:latin typeface="+mn-ea"/>
                <a:ea typeface="+mn-ea"/>
                <a:cs typeface="Arial" charset="0"/>
              </a:rPr>
              <a:t>SD-JWT</a:t>
            </a: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b="0" i="0" u="none" strike="noStrike" kern="0" cap="none" spc="0" normalizeH="0" baseline="0" noProof="0" dirty="0">
                <a:ln>
                  <a:noFill/>
                </a:ln>
                <a:solidFill>
                  <a:prstClr val="black"/>
                </a:solidFill>
                <a:effectLst/>
                <a:uLnTx/>
                <a:uFillTx/>
                <a:latin typeface="+mn-ea"/>
                <a:ea typeface="+mn-ea"/>
                <a:cs typeface="Arial" charset="0"/>
              </a:rPr>
              <a:t>Key cloak</a:t>
            </a: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b="0" i="0" u="none" strike="noStrike" kern="0" cap="none" spc="0" normalizeH="0" baseline="0" noProof="0" dirty="0">
                <a:ln>
                  <a:noFill/>
                </a:ln>
                <a:solidFill>
                  <a:prstClr val="black"/>
                </a:solidFill>
                <a:effectLst/>
                <a:uLnTx/>
                <a:uFillTx/>
                <a:latin typeface="+mn-ea"/>
                <a:ea typeface="+mn-ea"/>
                <a:cs typeface="Arial" charset="0"/>
              </a:rPr>
              <a:t>OWF</a:t>
            </a:r>
          </a:p>
        </p:txBody>
      </p:sp>
      <p:sp>
        <p:nvSpPr>
          <p:cNvPr id="13" name="正方形/長方形 12">
            <a:extLst>
              <a:ext uri="{FF2B5EF4-FFF2-40B4-BE49-F238E27FC236}">
                <a16:creationId xmlns:a16="http://schemas.microsoft.com/office/drawing/2014/main" id="{2E29D7D7-D37A-34B1-754C-3BC8CD29470B}"/>
              </a:ext>
            </a:extLst>
          </p:cNvPr>
          <p:cNvSpPr/>
          <p:nvPr/>
        </p:nvSpPr>
        <p:spPr bwMode="gray">
          <a:xfrm>
            <a:off x="6771422" y="3957404"/>
            <a:ext cx="2574191" cy="769247"/>
          </a:xfrm>
          <a:prstGeom prst="rect">
            <a:avLst/>
          </a:prstGeom>
          <a:solidFill>
            <a:schemeClr val="bg1">
              <a:lumMod val="8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b="0" i="0" u="none" strike="noStrike" kern="0" cap="none" spc="0" normalizeH="0" baseline="0" noProof="0" dirty="0">
                <a:ln>
                  <a:noFill/>
                </a:ln>
                <a:solidFill>
                  <a:prstClr val="black"/>
                </a:solidFill>
                <a:effectLst/>
                <a:uLnTx/>
                <a:uFillTx/>
                <a:latin typeface="+mn-ea"/>
                <a:ea typeface="+mn-ea"/>
                <a:cs typeface="Arial"/>
              </a:rPr>
              <a:t>Veramo</a:t>
            </a: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b="0" i="0" u="none" strike="noStrike" kern="0" cap="none" spc="0" normalizeH="0" baseline="0" noProof="0" err="1">
                <a:ln>
                  <a:noFill/>
                </a:ln>
                <a:solidFill>
                  <a:prstClr val="black"/>
                </a:solidFill>
                <a:effectLst/>
                <a:uLnTx/>
                <a:uFillTx/>
                <a:latin typeface="+mn-ea"/>
                <a:ea typeface="+mn-ea"/>
                <a:cs typeface="Arial"/>
              </a:rPr>
              <a:t>Sphereon</a:t>
            </a:r>
            <a:r>
              <a:rPr kumimoji="0" lang="en-US" altLang="ja-JP" sz="1400" b="0" i="0" u="none" strike="noStrike" kern="0" cap="none" spc="0" normalizeH="0" baseline="0" noProof="0" dirty="0">
                <a:ln>
                  <a:noFill/>
                </a:ln>
                <a:solidFill>
                  <a:prstClr val="black"/>
                </a:solidFill>
                <a:effectLst/>
                <a:uLnTx/>
                <a:uFillTx/>
                <a:latin typeface="+mn-ea"/>
                <a:ea typeface="+mn-ea"/>
                <a:cs typeface="Arial"/>
              </a:rPr>
              <a:t> Open Source</a:t>
            </a:r>
            <a:endParaRPr lang="en-US" altLang="ja-JP" sz="1400" b="0" i="0" u="none" strike="noStrike" kern="0" cap="none" spc="0" normalizeH="0" baseline="0" noProof="0" dirty="0">
              <a:ln>
                <a:noFill/>
              </a:ln>
              <a:solidFill>
                <a:prstClr val="black"/>
              </a:solidFill>
              <a:effectLst/>
              <a:uLnTx/>
              <a:uFillTx/>
              <a:latin typeface="+mn-ea"/>
              <a:ea typeface="+mn-ea"/>
              <a:cs typeface="Arial"/>
            </a:endParaRPr>
          </a:p>
          <a:p>
            <a:pPr marL="171450" indent="-171450" defTabSz="990564">
              <a:spcBef>
                <a:spcPts val="0"/>
              </a:spcBef>
              <a:spcAft>
                <a:spcPts val="0"/>
              </a:spcAft>
              <a:buSzPct val="100000"/>
              <a:buFont typeface="Arial" panose="020B0604020202020204" pitchFamily="34" charset="0"/>
              <a:buChar char="•"/>
              <a:defRPr/>
            </a:pPr>
            <a:r>
              <a:rPr lang="en-US" altLang="ja-JP" sz="1400" kern="0">
                <a:solidFill>
                  <a:prstClr val="black"/>
                </a:solidFill>
                <a:latin typeface="+mn-ea"/>
                <a:ea typeface="+mn-ea"/>
                <a:cs typeface="Arial"/>
              </a:rPr>
              <a:t>OWND Project</a:t>
            </a:r>
            <a:endParaRPr lang="en-US" altLang="ja-JP" sz="1400" kern="0" dirty="0">
              <a:solidFill>
                <a:prstClr val="black"/>
              </a:solidFill>
              <a:latin typeface="+mn-ea"/>
              <a:ea typeface="+mn-ea"/>
              <a:cs typeface="Arial" charset="0"/>
            </a:endParaRPr>
          </a:p>
        </p:txBody>
      </p:sp>
      <p:sp>
        <p:nvSpPr>
          <p:cNvPr id="15" name="正方形/長方形 14">
            <a:extLst>
              <a:ext uri="{FF2B5EF4-FFF2-40B4-BE49-F238E27FC236}">
                <a16:creationId xmlns:a16="http://schemas.microsoft.com/office/drawing/2014/main" id="{53DC23A6-767F-FD39-1183-3CD8AC577EDF}"/>
              </a:ext>
            </a:extLst>
          </p:cNvPr>
          <p:cNvSpPr/>
          <p:nvPr/>
        </p:nvSpPr>
        <p:spPr bwMode="gray">
          <a:xfrm>
            <a:off x="5293147" y="3958941"/>
            <a:ext cx="1377982" cy="2568907"/>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R="0" lvl="0" algn="ctr" defTabSz="990564" eaLnBrk="1" fontAlgn="auto" latinLnBrk="0" hangingPunct="1">
              <a:lnSpc>
                <a:spcPct val="100000"/>
              </a:lnSpc>
              <a:spcBef>
                <a:spcPts val="0"/>
              </a:spcBef>
              <a:spcAft>
                <a:spcPts val="0"/>
              </a:spcAft>
              <a:buClrTx/>
              <a:buSzPct val="100000"/>
              <a:tabLst/>
              <a:defRPr/>
            </a:pPr>
            <a:r>
              <a:rPr kumimoji="0" lang="ja-JP" altLang="en-US" sz="1400" b="0" i="0" u="none" strike="noStrike" kern="0" cap="none" spc="0" normalizeH="0" baseline="0" noProof="0" dirty="0">
                <a:ln>
                  <a:noFill/>
                </a:ln>
                <a:solidFill>
                  <a:prstClr val="black"/>
                </a:solidFill>
                <a:effectLst/>
                <a:uLnTx/>
                <a:uFillTx/>
                <a:latin typeface="+mn-ea"/>
                <a:ea typeface="+mn-ea"/>
                <a:cs typeface="Arial" charset="0"/>
              </a:rPr>
              <a:t>ー</a:t>
            </a:r>
            <a:endParaRPr kumimoji="0" lang="en-US" altLang="ja-JP" sz="14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6" name="正方形/長方形 15">
            <a:extLst>
              <a:ext uri="{FF2B5EF4-FFF2-40B4-BE49-F238E27FC236}">
                <a16:creationId xmlns:a16="http://schemas.microsoft.com/office/drawing/2014/main" id="{1982E9B5-7DA9-3EC0-5CA1-B7630FBB5E9B}"/>
              </a:ext>
            </a:extLst>
          </p:cNvPr>
          <p:cNvSpPr/>
          <p:nvPr/>
        </p:nvSpPr>
        <p:spPr bwMode="gray">
          <a:xfrm>
            <a:off x="2372908" y="4861837"/>
            <a:ext cx="1392340" cy="1665424"/>
          </a:xfrm>
          <a:prstGeom prst="rect">
            <a:avLst/>
          </a:prstGeom>
          <a:solidFill>
            <a:schemeClr val="bg1"/>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Tx/>
              <a:buNone/>
              <a:tabLst/>
              <a:defRPr/>
            </a:pPr>
            <a:r>
              <a:rPr kumimoji="0" lang="en-US" altLang="ja-JP" sz="1400" b="0" i="0" u="none" strike="noStrike" kern="0" cap="none" spc="0" normalizeH="0" baseline="0" noProof="0" dirty="0">
                <a:ln>
                  <a:noFill/>
                </a:ln>
                <a:solidFill>
                  <a:prstClr val="black"/>
                </a:solidFill>
                <a:effectLst/>
                <a:uLnTx/>
                <a:uFillTx/>
                <a:latin typeface="+mn-ea"/>
                <a:ea typeface="+mn-ea"/>
                <a:cs typeface="Arial" charset="0"/>
              </a:rPr>
              <a:t>(N/A)</a:t>
            </a:r>
          </a:p>
        </p:txBody>
      </p:sp>
      <p:sp>
        <p:nvSpPr>
          <p:cNvPr id="18" name="正方形/長方形 17">
            <a:extLst>
              <a:ext uri="{FF2B5EF4-FFF2-40B4-BE49-F238E27FC236}">
                <a16:creationId xmlns:a16="http://schemas.microsoft.com/office/drawing/2014/main" id="{49A1843E-3A67-DBC1-9A6A-0E60AB913339}"/>
              </a:ext>
            </a:extLst>
          </p:cNvPr>
          <p:cNvSpPr/>
          <p:nvPr/>
        </p:nvSpPr>
        <p:spPr bwMode="gray">
          <a:xfrm>
            <a:off x="6771422" y="4861836"/>
            <a:ext cx="2574191" cy="762530"/>
          </a:xfrm>
          <a:prstGeom prst="rect">
            <a:avLst/>
          </a:prstGeom>
          <a:solidFill>
            <a:schemeClr val="bg1">
              <a:lumMod val="8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b="0" i="0" u="none" strike="noStrike" kern="0" cap="none" spc="0" normalizeH="0" baseline="0" noProof="0" dirty="0">
                <a:ln>
                  <a:noFill/>
                </a:ln>
                <a:solidFill>
                  <a:prstClr val="black"/>
                </a:solidFill>
                <a:effectLst/>
                <a:uLnTx/>
                <a:uFillTx/>
                <a:latin typeface="+mn-ea"/>
                <a:ea typeface="+mn-ea"/>
                <a:cs typeface="Arial" charset="0"/>
              </a:rPr>
              <a:t>DID kit</a:t>
            </a:r>
          </a:p>
          <a:p>
            <a:pPr marL="171450" marR="0" lvl="0" indent="-171450" defTabSz="990564"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altLang="ja-JP" sz="1400" kern="0" dirty="0">
                <a:solidFill>
                  <a:prstClr val="black"/>
                </a:solidFill>
                <a:latin typeface="+mn-ea"/>
                <a:ea typeface="+mn-ea"/>
                <a:cs typeface="Arial" charset="0"/>
              </a:rPr>
              <a:t>MATTR</a:t>
            </a:r>
            <a:endParaRPr kumimoji="0" lang="en-US" altLang="ja-JP" sz="14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19" name="正方形/長方形 18">
            <a:extLst>
              <a:ext uri="{FF2B5EF4-FFF2-40B4-BE49-F238E27FC236}">
                <a16:creationId xmlns:a16="http://schemas.microsoft.com/office/drawing/2014/main" id="{44AB9188-A30A-F20A-0A89-F8B96F07F1A3}"/>
              </a:ext>
            </a:extLst>
          </p:cNvPr>
          <p:cNvSpPr/>
          <p:nvPr/>
        </p:nvSpPr>
        <p:spPr bwMode="gray">
          <a:xfrm>
            <a:off x="3860221" y="5765319"/>
            <a:ext cx="1377982" cy="761942"/>
          </a:xfrm>
          <a:prstGeom prst="rect">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R="0" lvl="0" algn="ctr" defTabSz="990564" eaLnBrk="1" fontAlgn="auto" latinLnBrk="0" hangingPunct="1">
              <a:lnSpc>
                <a:spcPct val="100000"/>
              </a:lnSpc>
              <a:spcBef>
                <a:spcPts val="0"/>
              </a:spcBef>
              <a:spcAft>
                <a:spcPts val="0"/>
              </a:spcAft>
              <a:buClrTx/>
              <a:buSzPct val="100000"/>
              <a:tabLst/>
              <a:defRPr/>
            </a:pPr>
            <a:r>
              <a:rPr kumimoji="0" lang="ja-JP" altLang="en-US" sz="1400" b="0" i="0" u="none" strike="noStrike" kern="0" cap="none" spc="0" normalizeH="0" baseline="0" noProof="0" dirty="0">
                <a:ln>
                  <a:noFill/>
                </a:ln>
                <a:solidFill>
                  <a:prstClr val="black"/>
                </a:solidFill>
                <a:effectLst/>
                <a:uLnTx/>
                <a:uFillTx/>
                <a:latin typeface="+mn-ea"/>
                <a:ea typeface="+mn-ea"/>
                <a:cs typeface="Arial" charset="0"/>
              </a:rPr>
              <a:t>ー</a:t>
            </a:r>
            <a:endParaRPr kumimoji="0" lang="en-US" altLang="ja-JP" sz="14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1" name="正方形/長方形 20">
            <a:extLst>
              <a:ext uri="{FF2B5EF4-FFF2-40B4-BE49-F238E27FC236}">
                <a16:creationId xmlns:a16="http://schemas.microsoft.com/office/drawing/2014/main" id="{4442E48C-B91E-D9CA-3BDE-BBAB42C5D447}"/>
              </a:ext>
            </a:extLst>
          </p:cNvPr>
          <p:cNvSpPr/>
          <p:nvPr/>
        </p:nvSpPr>
        <p:spPr bwMode="gray">
          <a:xfrm>
            <a:off x="2392966" y="2347925"/>
            <a:ext cx="5614755" cy="32211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格納方式を固定で決める</a:t>
            </a:r>
          </a:p>
        </p:txBody>
      </p:sp>
      <p:sp>
        <p:nvSpPr>
          <p:cNvPr id="22" name="正方形/長方形 21">
            <a:extLst>
              <a:ext uri="{FF2B5EF4-FFF2-40B4-BE49-F238E27FC236}">
                <a16:creationId xmlns:a16="http://schemas.microsoft.com/office/drawing/2014/main" id="{4123F94F-0903-3F0E-5F35-15C7420018B5}"/>
              </a:ext>
            </a:extLst>
          </p:cNvPr>
          <p:cNvSpPr/>
          <p:nvPr/>
        </p:nvSpPr>
        <p:spPr bwMode="gray">
          <a:xfrm>
            <a:off x="8108019" y="2347924"/>
            <a:ext cx="1236293" cy="1402311"/>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固定しない</a:t>
            </a:r>
          </a:p>
        </p:txBody>
      </p:sp>
      <p:sp>
        <p:nvSpPr>
          <p:cNvPr id="23" name="正方形/長方形 22">
            <a:extLst>
              <a:ext uri="{FF2B5EF4-FFF2-40B4-BE49-F238E27FC236}">
                <a16:creationId xmlns:a16="http://schemas.microsoft.com/office/drawing/2014/main" id="{B4B060BE-ECC2-FDF5-FB69-29D8683CCF99}"/>
              </a:ext>
            </a:extLst>
          </p:cNvPr>
          <p:cNvSpPr/>
          <p:nvPr/>
        </p:nvSpPr>
        <p:spPr bwMode="gray">
          <a:xfrm>
            <a:off x="2392966" y="2875642"/>
            <a:ext cx="4278157" cy="32211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ブロックチェーン</a:t>
            </a:r>
          </a:p>
        </p:txBody>
      </p:sp>
      <p:sp>
        <p:nvSpPr>
          <p:cNvPr id="24" name="正方形/長方形 23">
            <a:extLst>
              <a:ext uri="{FF2B5EF4-FFF2-40B4-BE49-F238E27FC236}">
                <a16:creationId xmlns:a16="http://schemas.microsoft.com/office/drawing/2014/main" id="{2D5CBCB4-4D88-4DFA-D824-AEF207C60856}"/>
              </a:ext>
            </a:extLst>
          </p:cNvPr>
          <p:cNvSpPr/>
          <p:nvPr/>
        </p:nvSpPr>
        <p:spPr bwMode="gray">
          <a:xfrm>
            <a:off x="6771425" y="2875643"/>
            <a:ext cx="1236296" cy="874594"/>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ブロックチェーン</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以外</a:t>
            </a:r>
          </a:p>
        </p:txBody>
      </p:sp>
      <p:sp>
        <p:nvSpPr>
          <p:cNvPr id="25" name="正方形/長方形 24">
            <a:extLst>
              <a:ext uri="{FF2B5EF4-FFF2-40B4-BE49-F238E27FC236}">
                <a16:creationId xmlns:a16="http://schemas.microsoft.com/office/drawing/2014/main" id="{8E217CA1-1003-52C6-26B0-37A05BD4A6E9}"/>
              </a:ext>
            </a:extLst>
          </p:cNvPr>
          <p:cNvSpPr/>
          <p:nvPr/>
        </p:nvSpPr>
        <p:spPr bwMode="gray">
          <a:xfrm>
            <a:off x="2392966" y="1775553"/>
            <a:ext cx="6951346" cy="32211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Public Trust Layer</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の種別</a:t>
            </a:r>
          </a:p>
        </p:txBody>
      </p:sp>
      <p:sp>
        <p:nvSpPr>
          <p:cNvPr id="26" name="正方形/長方形 25">
            <a:extLst>
              <a:ext uri="{FF2B5EF4-FFF2-40B4-BE49-F238E27FC236}">
                <a16:creationId xmlns:a16="http://schemas.microsoft.com/office/drawing/2014/main" id="{B687D903-721A-0751-1BFF-D23494848A2B}"/>
              </a:ext>
            </a:extLst>
          </p:cNvPr>
          <p:cNvSpPr/>
          <p:nvPr/>
        </p:nvSpPr>
        <p:spPr bwMode="gray">
          <a:xfrm>
            <a:off x="2392967" y="3428126"/>
            <a:ext cx="1372281" cy="32211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Ethereum</a:t>
            </a: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7" name="正方形/長方形 26">
            <a:extLst>
              <a:ext uri="{FF2B5EF4-FFF2-40B4-BE49-F238E27FC236}">
                <a16:creationId xmlns:a16="http://schemas.microsoft.com/office/drawing/2014/main" id="{EBA7E573-75D5-FE23-3FF3-C84AEB577A59}"/>
              </a:ext>
            </a:extLst>
          </p:cNvPr>
          <p:cNvSpPr/>
          <p:nvPr/>
        </p:nvSpPr>
        <p:spPr bwMode="gray">
          <a:xfrm>
            <a:off x="3845906" y="3428126"/>
            <a:ext cx="1372281" cy="32211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Hyperledger Indy</a:t>
            </a:r>
            <a:endParaRPr kumimoji="0" lang="ja-JP" altLang="en-US" sz="1200" b="0" i="0" u="none" strike="noStrike" kern="0" cap="none" spc="0" normalizeH="0" baseline="0" noProof="0" dirty="0">
              <a:ln>
                <a:noFill/>
              </a:ln>
              <a:solidFill>
                <a:prstClr val="black"/>
              </a:solidFill>
              <a:effectLst/>
              <a:uLnTx/>
              <a:uFillTx/>
              <a:latin typeface="+mn-ea"/>
              <a:ea typeface="+mn-ea"/>
              <a:cs typeface="Arial" charset="0"/>
            </a:endParaRPr>
          </a:p>
        </p:txBody>
      </p:sp>
      <p:sp>
        <p:nvSpPr>
          <p:cNvPr id="28" name="正方形/長方形 27">
            <a:extLst>
              <a:ext uri="{FF2B5EF4-FFF2-40B4-BE49-F238E27FC236}">
                <a16:creationId xmlns:a16="http://schemas.microsoft.com/office/drawing/2014/main" id="{CA51CF95-A450-01F6-5D07-B8F810900130}"/>
              </a:ext>
            </a:extLst>
          </p:cNvPr>
          <p:cNvSpPr/>
          <p:nvPr/>
        </p:nvSpPr>
        <p:spPr bwMode="gray">
          <a:xfrm>
            <a:off x="5298846" y="3428126"/>
            <a:ext cx="1372281" cy="322110"/>
          </a:xfrm>
          <a:prstGeom prst="rect">
            <a:avLst/>
          </a:prstGeom>
          <a:solidFill>
            <a:schemeClr val="accent1">
              <a:lumMod val="20000"/>
              <a:lumOff val="80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ビットコイン</a:t>
            </a:r>
            <a:endParaRPr kumimoji="0" lang="en-US" altLang="ja-JP" sz="1200" b="0" i="0" u="none" strike="noStrike" kern="0" cap="none" spc="0" normalizeH="0" baseline="0" noProof="0" dirty="0">
              <a:ln>
                <a:noFill/>
              </a:ln>
              <a:solidFill>
                <a:prstClr val="black"/>
              </a:solidFill>
              <a:effectLst/>
              <a:uLnTx/>
              <a:uFillTx/>
              <a:latin typeface="+mn-ea"/>
              <a:ea typeface="+mn-ea"/>
              <a:cs typeface="Arial" charset="0"/>
            </a:endParaRPr>
          </a:p>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en-US" altLang="ja-JP" sz="1200" b="0" i="0" u="none" strike="noStrike" kern="0" cap="none" spc="0" normalizeH="0" baseline="0" noProof="0" dirty="0">
                <a:ln>
                  <a:noFill/>
                </a:ln>
                <a:solidFill>
                  <a:prstClr val="black"/>
                </a:solidFill>
                <a:effectLst/>
                <a:uLnTx/>
                <a:uFillTx/>
                <a:latin typeface="+mn-ea"/>
                <a:ea typeface="+mn-ea"/>
                <a:cs typeface="Arial" charset="0"/>
              </a:rPr>
              <a:t>Ion</a:t>
            </a:r>
            <a:r>
              <a:rPr kumimoji="0" lang="ja-JP" altLang="en-US" sz="1200" b="0" i="0" u="none" strike="noStrike" kern="0" cap="none" spc="0" normalizeH="0" baseline="0" noProof="0" dirty="0">
                <a:ln>
                  <a:noFill/>
                </a:ln>
                <a:solidFill>
                  <a:prstClr val="black"/>
                </a:solidFill>
                <a:effectLst/>
                <a:uLnTx/>
                <a:uFillTx/>
                <a:latin typeface="+mn-ea"/>
                <a:ea typeface="+mn-ea"/>
                <a:cs typeface="Arial" charset="0"/>
              </a:rPr>
              <a:t>ネットワーク</a:t>
            </a:r>
          </a:p>
        </p:txBody>
      </p:sp>
      <p:cxnSp>
        <p:nvCxnSpPr>
          <p:cNvPr id="29" name="コネクタ: カギ線 28">
            <a:extLst>
              <a:ext uri="{FF2B5EF4-FFF2-40B4-BE49-F238E27FC236}">
                <a16:creationId xmlns:a16="http://schemas.microsoft.com/office/drawing/2014/main" id="{61602F39-1886-2C09-1457-8F78F4C9DC55}"/>
              </a:ext>
            </a:extLst>
          </p:cNvPr>
          <p:cNvCxnSpPr>
            <a:cxnSpLocks/>
            <a:stCxn id="25" idx="2"/>
            <a:endCxn id="21" idx="0"/>
          </p:cNvCxnSpPr>
          <p:nvPr/>
        </p:nvCxnSpPr>
        <p:spPr bwMode="gray">
          <a:xfrm rot="5400000">
            <a:off x="5409361" y="1888647"/>
            <a:ext cx="250262" cy="668295"/>
          </a:xfrm>
          <a:prstGeom prst="bentConnector3">
            <a:avLst/>
          </a:prstGeom>
          <a:solidFill>
            <a:schemeClr val="accent1">
              <a:lumMod val="20000"/>
              <a:lumOff val="80000"/>
            </a:schemeClr>
          </a:solidFill>
          <a:ln w="12700" cap="flat" cmpd="sng" algn="ctr">
            <a:solidFill>
              <a:srgbClr val="53565A"/>
            </a:solidFill>
            <a:prstDash val="solid"/>
          </a:ln>
          <a:effectLst/>
        </p:spPr>
      </p:cxnSp>
      <p:cxnSp>
        <p:nvCxnSpPr>
          <p:cNvPr id="30" name="コネクタ: カギ線 29">
            <a:extLst>
              <a:ext uri="{FF2B5EF4-FFF2-40B4-BE49-F238E27FC236}">
                <a16:creationId xmlns:a16="http://schemas.microsoft.com/office/drawing/2014/main" id="{EA2FAAE2-98DE-2A24-FFF2-D0CE42F27181}"/>
              </a:ext>
            </a:extLst>
          </p:cNvPr>
          <p:cNvCxnSpPr>
            <a:cxnSpLocks/>
            <a:stCxn id="25" idx="2"/>
            <a:endCxn id="22" idx="0"/>
          </p:cNvCxnSpPr>
          <p:nvPr/>
        </p:nvCxnSpPr>
        <p:spPr bwMode="gray">
          <a:xfrm rot="16200000" flipH="1">
            <a:off x="7172272" y="794029"/>
            <a:ext cx="250261" cy="2857527"/>
          </a:xfrm>
          <a:prstGeom prst="bentConnector3">
            <a:avLst>
              <a:gd name="adj1" fmla="val 50000"/>
            </a:avLst>
          </a:prstGeom>
          <a:solidFill>
            <a:schemeClr val="accent1">
              <a:lumMod val="20000"/>
              <a:lumOff val="80000"/>
            </a:schemeClr>
          </a:solidFill>
          <a:ln w="12700" cap="flat" cmpd="sng" algn="ctr">
            <a:solidFill>
              <a:srgbClr val="53565A"/>
            </a:solidFill>
            <a:prstDash val="solid"/>
          </a:ln>
          <a:effectLst/>
        </p:spPr>
      </p:cxnSp>
      <p:cxnSp>
        <p:nvCxnSpPr>
          <p:cNvPr id="31" name="コネクタ: カギ線 30">
            <a:extLst>
              <a:ext uri="{FF2B5EF4-FFF2-40B4-BE49-F238E27FC236}">
                <a16:creationId xmlns:a16="http://schemas.microsoft.com/office/drawing/2014/main" id="{F0227DB5-1464-02B8-36C9-02C7EB11897F}"/>
              </a:ext>
            </a:extLst>
          </p:cNvPr>
          <p:cNvCxnSpPr>
            <a:cxnSpLocks/>
            <a:stCxn id="21" idx="2"/>
            <a:endCxn id="23" idx="0"/>
          </p:cNvCxnSpPr>
          <p:nvPr/>
        </p:nvCxnSpPr>
        <p:spPr bwMode="gray">
          <a:xfrm rot="5400000">
            <a:off x="4763392" y="2438689"/>
            <a:ext cx="205607" cy="668299"/>
          </a:xfrm>
          <a:prstGeom prst="bentConnector3">
            <a:avLst>
              <a:gd name="adj1" fmla="val 50000"/>
            </a:avLst>
          </a:prstGeom>
          <a:solidFill>
            <a:schemeClr val="accent1">
              <a:lumMod val="20000"/>
              <a:lumOff val="80000"/>
            </a:schemeClr>
          </a:solidFill>
          <a:ln w="12700" cap="flat" cmpd="sng" algn="ctr">
            <a:solidFill>
              <a:srgbClr val="53565A"/>
            </a:solidFill>
            <a:prstDash val="solid"/>
          </a:ln>
          <a:effectLst/>
        </p:spPr>
      </p:cxnSp>
      <p:cxnSp>
        <p:nvCxnSpPr>
          <p:cNvPr id="32" name="コネクタ: カギ線 31">
            <a:extLst>
              <a:ext uri="{FF2B5EF4-FFF2-40B4-BE49-F238E27FC236}">
                <a16:creationId xmlns:a16="http://schemas.microsoft.com/office/drawing/2014/main" id="{AEF60214-82A9-90F5-26B1-D9F01D9A2FC9}"/>
              </a:ext>
            </a:extLst>
          </p:cNvPr>
          <p:cNvCxnSpPr>
            <a:cxnSpLocks/>
            <a:stCxn id="21" idx="2"/>
            <a:endCxn id="24" idx="0"/>
          </p:cNvCxnSpPr>
          <p:nvPr/>
        </p:nvCxnSpPr>
        <p:spPr bwMode="gray">
          <a:xfrm rot="16200000" flipH="1">
            <a:off x="6192154" y="1678224"/>
            <a:ext cx="205608" cy="2189229"/>
          </a:xfrm>
          <a:prstGeom prst="bentConnector3">
            <a:avLst>
              <a:gd name="adj1" fmla="val 50000"/>
            </a:avLst>
          </a:prstGeom>
          <a:solidFill>
            <a:schemeClr val="accent1">
              <a:lumMod val="20000"/>
              <a:lumOff val="80000"/>
            </a:schemeClr>
          </a:solidFill>
          <a:ln w="12700" cap="flat" cmpd="sng" algn="ctr">
            <a:solidFill>
              <a:srgbClr val="53565A"/>
            </a:solidFill>
            <a:prstDash val="solid"/>
          </a:ln>
          <a:effectLst/>
        </p:spPr>
      </p:cxnSp>
      <p:cxnSp>
        <p:nvCxnSpPr>
          <p:cNvPr id="33" name="コネクタ: カギ線 32">
            <a:extLst>
              <a:ext uri="{FF2B5EF4-FFF2-40B4-BE49-F238E27FC236}">
                <a16:creationId xmlns:a16="http://schemas.microsoft.com/office/drawing/2014/main" id="{CF54871B-AD10-3576-97BA-61B91375CF35}"/>
              </a:ext>
            </a:extLst>
          </p:cNvPr>
          <p:cNvCxnSpPr>
            <a:cxnSpLocks/>
            <a:stCxn id="23" idx="2"/>
            <a:endCxn id="26" idx="0"/>
          </p:cNvCxnSpPr>
          <p:nvPr/>
        </p:nvCxnSpPr>
        <p:spPr bwMode="gray">
          <a:xfrm rot="5400000">
            <a:off x="3690390" y="2586471"/>
            <a:ext cx="230374" cy="1452937"/>
          </a:xfrm>
          <a:prstGeom prst="bentConnector3">
            <a:avLst>
              <a:gd name="adj1" fmla="val 50000"/>
            </a:avLst>
          </a:prstGeom>
          <a:solidFill>
            <a:schemeClr val="accent1">
              <a:lumMod val="20000"/>
              <a:lumOff val="80000"/>
            </a:schemeClr>
          </a:solidFill>
          <a:ln w="12700" cap="flat" cmpd="sng" algn="ctr">
            <a:solidFill>
              <a:srgbClr val="53565A"/>
            </a:solidFill>
            <a:prstDash val="solid"/>
          </a:ln>
          <a:effectLst/>
        </p:spPr>
      </p:cxnSp>
      <p:cxnSp>
        <p:nvCxnSpPr>
          <p:cNvPr id="34" name="コネクタ: カギ線 33">
            <a:extLst>
              <a:ext uri="{FF2B5EF4-FFF2-40B4-BE49-F238E27FC236}">
                <a16:creationId xmlns:a16="http://schemas.microsoft.com/office/drawing/2014/main" id="{8620D5F5-2E60-96D9-B6B6-D5D8CCD42E52}"/>
              </a:ext>
            </a:extLst>
          </p:cNvPr>
          <p:cNvCxnSpPr>
            <a:cxnSpLocks/>
            <a:stCxn id="23" idx="2"/>
            <a:endCxn id="28" idx="0"/>
          </p:cNvCxnSpPr>
          <p:nvPr/>
        </p:nvCxnSpPr>
        <p:spPr bwMode="gray">
          <a:xfrm rot="16200000" flipH="1">
            <a:off x="5143329" y="2586468"/>
            <a:ext cx="230374" cy="1452942"/>
          </a:xfrm>
          <a:prstGeom prst="bentConnector3">
            <a:avLst>
              <a:gd name="adj1" fmla="val 50000"/>
            </a:avLst>
          </a:prstGeom>
          <a:solidFill>
            <a:schemeClr val="accent1">
              <a:lumMod val="20000"/>
              <a:lumOff val="80000"/>
            </a:schemeClr>
          </a:solidFill>
          <a:ln w="12700" cap="flat" cmpd="sng" algn="ctr">
            <a:solidFill>
              <a:srgbClr val="53565A"/>
            </a:solidFill>
            <a:prstDash val="solid"/>
          </a:ln>
          <a:effectLst/>
        </p:spPr>
      </p:cxnSp>
      <p:cxnSp>
        <p:nvCxnSpPr>
          <p:cNvPr id="35" name="直線コネクタ 34">
            <a:extLst>
              <a:ext uri="{FF2B5EF4-FFF2-40B4-BE49-F238E27FC236}">
                <a16:creationId xmlns:a16="http://schemas.microsoft.com/office/drawing/2014/main" id="{AFD96302-09A7-BF4B-8D96-59253A020CDA}"/>
              </a:ext>
            </a:extLst>
          </p:cNvPr>
          <p:cNvCxnSpPr>
            <a:cxnSpLocks/>
            <a:stCxn id="23" idx="2"/>
            <a:endCxn id="27" idx="0"/>
          </p:cNvCxnSpPr>
          <p:nvPr/>
        </p:nvCxnSpPr>
        <p:spPr bwMode="gray">
          <a:xfrm>
            <a:off x="4532045" y="3197752"/>
            <a:ext cx="2" cy="230374"/>
          </a:xfrm>
          <a:prstGeom prst="line">
            <a:avLst/>
          </a:prstGeom>
          <a:solidFill>
            <a:schemeClr val="accent1">
              <a:lumMod val="20000"/>
              <a:lumOff val="80000"/>
            </a:schemeClr>
          </a:solidFill>
          <a:ln w="12700" cap="flat" cmpd="sng" algn="ctr">
            <a:solidFill>
              <a:srgbClr val="53565A"/>
            </a:solidFill>
            <a:prstDash val="solid"/>
          </a:ln>
          <a:effectLst/>
        </p:spPr>
      </p:cxnSp>
      <p:sp>
        <p:nvSpPr>
          <p:cNvPr id="37" name="矢印: 下 36">
            <a:extLst>
              <a:ext uri="{FF2B5EF4-FFF2-40B4-BE49-F238E27FC236}">
                <a16:creationId xmlns:a16="http://schemas.microsoft.com/office/drawing/2014/main" id="{D7537C40-4240-F1CE-43C7-6364C100F1B4}"/>
              </a:ext>
            </a:extLst>
          </p:cNvPr>
          <p:cNvSpPr/>
          <p:nvPr/>
        </p:nvSpPr>
        <p:spPr bwMode="gray">
          <a:xfrm>
            <a:off x="2897305" y="3757017"/>
            <a:ext cx="363602" cy="231049"/>
          </a:xfrm>
          <a:prstGeom prst="down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dirty="0">
              <a:solidFill>
                <a:prstClr val="black"/>
              </a:solidFill>
              <a:latin typeface="+mn-ea"/>
              <a:ea typeface="+mn-ea"/>
              <a:cs typeface="Arial" charset="0"/>
            </a:endParaRPr>
          </a:p>
        </p:txBody>
      </p:sp>
      <p:sp>
        <p:nvSpPr>
          <p:cNvPr id="38" name="矢印: 下 37">
            <a:extLst>
              <a:ext uri="{FF2B5EF4-FFF2-40B4-BE49-F238E27FC236}">
                <a16:creationId xmlns:a16="http://schemas.microsoft.com/office/drawing/2014/main" id="{F4ECC363-D642-9B1E-0C66-3D0A04229A1D}"/>
              </a:ext>
            </a:extLst>
          </p:cNvPr>
          <p:cNvSpPr/>
          <p:nvPr/>
        </p:nvSpPr>
        <p:spPr bwMode="gray">
          <a:xfrm>
            <a:off x="4340429" y="3757017"/>
            <a:ext cx="363602" cy="231049"/>
          </a:xfrm>
          <a:prstGeom prst="down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dirty="0">
              <a:solidFill>
                <a:prstClr val="black"/>
              </a:solidFill>
              <a:latin typeface="+mn-ea"/>
              <a:ea typeface="+mn-ea"/>
              <a:cs typeface="Arial" charset="0"/>
            </a:endParaRPr>
          </a:p>
        </p:txBody>
      </p:sp>
      <p:sp>
        <p:nvSpPr>
          <p:cNvPr id="39" name="矢印: 下 38">
            <a:extLst>
              <a:ext uri="{FF2B5EF4-FFF2-40B4-BE49-F238E27FC236}">
                <a16:creationId xmlns:a16="http://schemas.microsoft.com/office/drawing/2014/main" id="{133CC4BF-9884-DE19-EC7E-6C70766EA900}"/>
              </a:ext>
            </a:extLst>
          </p:cNvPr>
          <p:cNvSpPr/>
          <p:nvPr/>
        </p:nvSpPr>
        <p:spPr bwMode="gray">
          <a:xfrm>
            <a:off x="5807505" y="3757017"/>
            <a:ext cx="363602" cy="231049"/>
          </a:xfrm>
          <a:prstGeom prst="down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dirty="0">
              <a:solidFill>
                <a:prstClr val="black"/>
              </a:solidFill>
              <a:latin typeface="+mn-ea"/>
              <a:ea typeface="+mn-ea"/>
              <a:cs typeface="Arial" charset="0"/>
            </a:endParaRPr>
          </a:p>
        </p:txBody>
      </p:sp>
      <p:sp>
        <p:nvSpPr>
          <p:cNvPr id="40" name="矢印: 下 39">
            <a:extLst>
              <a:ext uri="{FF2B5EF4-FFF2-40B4-BE49-F238E27FC236}">
                <a16:creationId xmlns:a16="http://schemas.microsoft.com/office/drawing/2014/main" id="{91D7F492-5FA5-7650-DB25-434FF7E81555}"/>
              </a:ext>
            </a:extLst>
          </p:cNvPr>
          <p:cNvSpPr/>
          <p:nvPr/>
        </p:nvSpPr>
        <p:spPr bwMode="gray">
          <a:xfrm>
            <a:off x="7876065" y="3757017"/>
            <a:ext cx="363602" cy="231049"/>
          </a:xfrm>
          <a:prstGeom prst="downArrow">
            <a:avLst/>
          </a:prstGeom>
          <a:solidFill>
            <a:srgbClr val="BBBCBC"/>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eaLnBrk="1" fontAlgn="auto" hangingPunct="1">
              <a:spcBef>
                <a:spcPts val="0"/>
              </a:spcBef>
              <a:spcAft>
                <a:spcPts val="0"/>
              </a:spcAft>
              <a:buSzPct val="100000"/>
              <a:buFont typeface="Wingdings" panose="05000000000000000000" pitchFamily="2" charset="2"/>
              <a:buNone/>
            </a:pPr>
            <a:endParaRPr lang="ja-JP" altLang="en-US" sz="1200" dirty="0">
              <a:solidFill>
                <a:prstClr val="black"/>
              </a:solidFill>
              <a:latin typeface="+mn-ea"/>
              <a:ea typeface="+mn-ea"/>
              <a:cs typeface="Arial" charset="0"/>
            </a:endParaRPr>
          </a:p>
        </p:txBody>
      </p:sp>
      <p:sp>
        <p:nvSpPr>
          <p:cNvPr id="49" name="コンテンツ プレースホルダー 2">
            <a:extLst>
              <a:ext uri="{FF2B5EF4-FFF2-40B4-BE49-F238E27FC236}">
                <a16:creationId xmlns:a16="http://schemas.microsoft.com/office/drawing/2014/main" id="{C9A4C771-AE8F-5589-4FA3-4B27FEAE4B68}"/>
              </a:ext>
            </a:extLst>
          </p:cNvPr>
          <p:cNvSpPr txBox="1">
            <a:spLocks/>
          </p:cNvSpPr>
          <p:nvPr/>
        </p:nvSpPr>
        <p:spPr>
          <a:xfrm>
            <a:off x="273050" y="749880"/>
            <a:ext cx="9359900" cy="980905"/>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DID/VC</a:t>
            </a:r>
            <a:r>
              <a:rPr lang="ja-JP" altLang="en-US" dirty="0"/>
              <a:t>に関わるライブラリ、プラットフォームは</a:t>
            </a:r>
            <a:r>
              <a:rPr lang="en-US" altLang="ja-JP" dirty="0"/>
              <a:t>VC</a:t>
            </a:r>
            <a:r>
              <a:rPr lang="ja-JP" altLang="en-US" dirty="0"/>
              <a:t>モデル等の一連の処理全体をサポートするものから、証明書発行など各エンティティが提供する一部の機能をサポートするもの、選択的開示機能等特定領域をサポートするものに大別している</a:t>
            </a:r>
            <a:endParaRPr lang="en-US" altLang="ja-JP" dirty="0"/>
          </a:p>
          <a:p>
            <a:r>
              <a:rPr lang="ja-JP" altLang="en-US" dirty="0"/>
              <a:t>ライブラリの大部分はプラットフォーム（基盤部分を担う</a:t>
            </a:r>
            <a:r>
              <a:rPr lang="en-US" altLang="ja-JP" dirty="0"/>
              <a:t>Public Trust Layer </a:t>
            </a:r>
            <a:r>
              <a:rPr lang="ja-JP" altLang="en-US" dirty="0"/>
              <a:t>）への依存度が高く、特定のブロックチェーンを前提としたもの、複数のブロックチェーンに汎化したもの、ブロックチェーンを使用しないケースも考慮したものに分類できる</a:t>
            </a:r>
            <a:endParaRPr kumimoji="1" lang="ja-JP" altLang="en-US" dirty="0"/>
          </a:p>
        </p:txBody>
      </p:sp>
    </p:spTree>
    <p:extLst>
      <p:ext uri="{BB962C8B-B14F-4D97-AF65-F5344CB8AC3E}">
        <p14:creationId xmlns:p14="http://schemas.microsoft.com/office/powerpoint/2010/main" val="1654684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518E6EAE-4922-F7DD-EB74-BFE76DE604AD}"/>
              </a:ext>
            </a:extLst>
          </p:cNvPr>
          <p:cNvPicPr>
            <a:picLocks noChangeAspect="1"/>
          </p:cNvPicPr>
          <p:nvPr/>
        </p:nvPicPr>
        <p:blipFill>
          <a:blip r:embed="rId2"/>
          <a:stretch>
            <a:fillRect/>
          </a:stretch>
        </p:blipFill>
        <p:spPr>
          <a:xfrm>
            <a:off x="5128974" y="2094263"/>
            <a:ext cx="4478059" cy="2368849"/>
          </a:xfrm>
          <a:prstGeom prst="rect">
            <a:avLst/>
          </a:prstGeom>
        </p:spPr>
      </p:pic>
      <p:sp>
        <p:nvSpPr>
          <p:cNvPr id="2" name="タイトル 1">
            <a:extLst>
              <a:ext uri="{FF2B5EF4-FFF2-40B4-BE49-F238E27FC236}">
                <a16:creationId xmlns:a16="http://schemas.microsoft.com/office/drawing/2014/main" id="{35C55062-E3A0-12BE-401D-29976CDAC951}"/>
              </a:ext>
            </a:extLst>
          </p:cNvPr>
          <p:cNvSpPr>
            <a:spLocks noGrp="1"/>
          </p:cNvSpPr>
          <p:nvPr>
            <p:ph type="title"/>
          </p:nvPr>
        </p:nvSpPr>
        <p:spPr>
          <a:xfrm>
            <a:off x="273050" y="439237"/>
            <a:ext cx="7848302" cy="246221"/>
          </a:xfrm>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(1) </a:t>
            </a:r>
            <a:r>
              <a:rPr kumimoji="0" lang="en-US" altLang="ja-JP" sz="1600" i="0" u="none" strike="noStrike" kern="0" cap="none" spc="0" normalizeH="0" baseline="0" noProof="0" dirty="0" err="1">
                <a:ln>
                  <a:noFill/>
                </a:ln>
                <a:solidFill>
                  <a:prstClr val="black"/>
                </a:solidFill>
                <a:effectLst/>
                <a:uLnTx/>
                <a:uFillTx/>
                <a:latin typeface="Yu Gothic UI"/>
                <a:ea typeface="Yu Gothic UI"/>
                <a:cs typeface="Arial" charset="0"/>
              </a:rPr>
              <a:t>Blockcert</a:t>
            </a:r>
            <a:endParaRPr kumimoji="1" lang="ja-JP" altLang="en-US" dirty="0"/>
          </a:p>
        </p:txBody>
      </p:sp>
      <p:sp>
        <p:nvSpPr>
          <p:cNvPr id="3" name="テキスト プレースホルダー 2">
            <a:extLst>
              <a:ext uri="{FF2B5EF4-FFF2-40B4-BE49-F238E27FC236}">
                <a16:creationId xmlns:a16="http://schemas.microsoft.com/office/drawing/2014/main" id="{22EE6636-2242-1342-A097-7FDFC08FA0F8}"/>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sp>
        <p:nvSpPr>
          <p:cNvPr id="81" name="コンテンツ プレースホルダー 2">
            <a:extLst>
              <a:ext uri="{FF2B5EF4-FFF2-40B4-BE49-F238E27FC236}">
                <a16:creationId xmlns:a16="http://schemas.microsoft.com/office/drawing/2014/main" id="{376C8437-9FD8-8692-CECA-F6B2864D4B00}"/>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ja-JP" altLang="en-US" dirty="0"/>
              <a:t>ブロックチェーンベースの公式記録を発行および検証するアプリを構築するためのオープンスタンダード</a:t>
            </a:r>
            <a:endParaRPr kumimoji="1" lang="en-US" altLang="ja-JP" dirty="0"/>
          </a:p>
          <a:p>
            <a:r>
              <a:rPr kumimoji="1" lang="ja-JP" altLang="en-US" dirty="0"/>
              <a:t>オープンソースのライブラリ、ツール、モバイル アプリで構成</a:t>
            </a:r>
            <a:endParaRPr lang="en-US" altLang="ja-JP" dirty="0"/>
          </a:p>
          <a:p>
            <a:endParaRPr kumimoji="1" lang="ja-JP" altLang="en-US" dirty="0"/>
          </a:p>
        </p:txBody>
      </p:sp>
      <p:graphicFrame>
        <p:nvGraphicFramePr>
          <p:cNvPr id="90" name="表 89">
            <a:extLst>
              <a:ext uri="{FF2B5EF4-FFF2-40B4-BE49-F238E27FC236}">
                <a16:creationId xmlns:a16="http://schemas.microsoft.com/office/drawing/2014/main" id="{EC8A8635-968D-628B-50C0-637F4CC43D7B}"/>
              </a:ext>
            </a:extLst>
          </p:cNvPr>
          <p:cNvGraphicFramePr>
            <a:graphicFrameLocks noGrp="1"/>
          </p:cNvGraphicFramePr>
          <p:nvPr>
            <p:extLst>
              <p:ext uri="{D42A27DB-BD31-4B8C-83A1-F6EECF244321}">
                <p14:modId xmlns:p14="http://schemas.microsoft.com/office/powerpoint/2010/main" val="2651334007"/>
              </p:ext>
            </p:extLst>
          </p:nvPr>
        </p:nvGraphicFramePr>
        <p:xfrm>
          <a:off x="273050" y="1867494"/>
          <a:ext cx="4478059" cy="431292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232399">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公開元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lgn="l" defTabSz="990564" rtl="0" eaLnBrk="1" latinLnBrk="0" hangingPunct="1">
                        <a:buFont typeface="Arial" panose="020B0604020202020204" pitchFamily="34" charset="0"/>
                        <a:buNone/>
                      </a:pPr>
                      <a:r>
                        <a:rPr kumimoji="1" lang="en-US" altLang="ja-JP" sz="1200" kern="1200" dirty="0">
                          <a:solidFill>
                            <a:schemeClr val="tx1"/>
                          </a:solidFill>
                          <a:latin typeface="+mn-ea"/>
                          <a:ea typeface="+mn-ea"/>
                          <a:cs typeface="+mn-cs"/>
                        </a:rPr>
                        <a:t>MIT Media Lab</a:t>
                      </a:r>
                      <a:r>
                        <a:rPr kumimoji="1" lang="ja-JP" altLang="en-US" sz="1200" kern="1200" dirty="0">
                          <a:solidFill>
                            <a:schemeClr val="tx1"/>
                          </a:solidFill>
                          <a:latin typeface="+mn-ea"/>
                          <a:ea typeface="+mn-ea"/>
                          <a:cs typeface="+mn-cs"/>
                        </a:rPr>
                        <a:t>、</a:t>
                      </a:r>
                      <a:r>
                        <a:rPr kumimoji="1" lang="en-US" altLang="ja-JP" sz="1200" kern="1200" dirty="0">
                          <a:solidFill>
                            <a:schemeClr val="tx1"/>
                          </a:solidFill>
                          <a:latin typeface="+mn-ea"/>
                          <a:ea typeface="+mn-ea"/>
                          <a:cs typeface="+mn-cs"/>
                        </a:rPr>
                        <a:t>Hyland-credentials</a:t>
                      </a:r>
                      <a:endParaRPr kumimoji="1" lang="ja-JP" altLang="en-US" sz="1200" kern="1200" dirty="0">
                        <a:solidFill>
                          <a:schemeClr val="tx1"/>
                        </a:solidFill>
                        <a:latin typeface="+mn-ea"/>
                        <a:ea typeface="+mn-ea"/>
                        <a:cs typeface="+mn-cs"/>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146411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ライブラリ名</a:t>
                      </a:r>
                      <a:r>
                        <a:rPr lang="en-US" altLang="ja-JP" sz="1200" dirty="0">
                          <a:latin typeface="+mn-ea"/>
                          <a:ea typeface="+mn-ea"/>
                        </a:rPr>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内容</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hlinkClick r:id="rId3"/>
                        </a:rPr>
                        <a:t>cert-schema</a:t>
                      </a:r>
                      <a:r>
                        <a:rPr kumimoji="1" lang="en-US" altLang="ja-JP" sz="1200" dirty="0">
                          <a:latin typeface="+mn-ea"/>
                          <a:ea typeface="+mn-ea"/>
                        </a:rPr>
                        <a:t> </a:t>
                      </a:r>
                      <a:br>
                        <a:rPr kumimoji="1" lang="en-US" altLang="ja-JP" sz="1200" dirty="0">
                          <a:latin typeface="+mn-ea"/>
                          <a:ea typeface="+mn-ea"/>
                        </a:rPr>
                      </a:br>
                      <a:r>
                        <a:rPr kumimoji="1" lang="ja-JP" altLang="en-US" sz="1200" dirty="0">
                          <a:latin typeface="+mn-ea"/>
                          <a:ea typeface="+mn-ea"/>
                        </a:rPr>
                        <a:t>スキーマと仕様、スキーマと</a:t>
                      </a:r>
                      <a:r>
                        <a:rPr kumimoji="1" lang="en-US" altLang="ja-JP" sz="1200" dirty="0">
                          <a:latin typeface="+mn-ea"/>
                          <a:ea typeface="+mn-ea"/>
                        </a:rPr>
                        <a:t>JSON-LD</a:t>
                      </a:r>
                      <a:r>
                        <a:rPr kumimoji="1" lang="ja-JP" altLang="en-US" sz="1200" dirty="0">
                          <a:latin typeface="+mn-ea"/>
                          <a:ea typeface="+mn-ea"/>
                        </a:rPr>
                        <a:t>を検証するための</a:t>
                      </a:r>
                      <a:r>
                        <a:rPr kumimoji="1" lang="en-US" altLang="ja-JP" sz="1200" dirty="0">
                          <a:latin typeface="+mn-ea"/>
                          <a:ea typeface="+mn-ea"/>
                        </a:rPr>
                        <a:t>python</a:t>
                      </a:r>
                      <a:r>
                        <a:rPr kumimoji="1" lang="ja-JP" altLang="en-US" sz="1200" dirty="0">
                          <a:latin typeface="+mn-ea"/>
                          <a:ea typeface="+mn-ea"/>
                        </a:rPr>
                        <a:t>ライブラリ</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4"/>
                        </a:rPr>
                        <a:t>cert-issuer</a:t>
                      </a:r>
                      <a:r>
                        <a:rPr kumimoji="1" lang="en-US" altLang="ja-JP" sz="1200" dirty="0">
                          <a:latin typeface="+mn-ea"/>
                          <a:ea typeface="+mn-ea"/>
                        </a:rPr>
                        <a:t> </a:t>
                      </a:r>
                      <a:br>
                        <a:rPr kumimoji="1" lang="en-US" altLang="ja-JP" sz="1200" dirty="0">
                          <a:latin typeface="+mn-ea"/>
                          <a:ea typeface="+mn-ea"/>
                        </a:rPr>
                      </a:br>
                      <a:r>
                        <a:rPr kumimoji="1" lang="en-US" altLang="ja-JP" sz="1200" dirty="0">
                          <a:latin typeface="+mn-ea"/>
                          <a:ea typeface="+mn-ea"/>
                        </a:rPr>
                        <a:t>Bitcoin</a:t>
                      </a:r>
                      <a:r>
                        <a:rPr kumimoji="1" lang="ja-JP" altLang="en-US" sz="1200" dirty="0">
                          <a:latin typeface="+mn-ea"/>
                          <a:ea typeface="+mn-ea"/>
                        </a:rPr>
                        <a:t>または</a:t>
                      </a:r>
                      <a:r>
                        <a:rPr kumimoji="1" lang="en-US" altLang="ja-JP" sz="1200" dirty="0">
                          <a:latin typeface="+mn-ea"/>
                          <a:ea typeface="+mn-ea"/>
                        </a:rPr>
                        <a:t>Ethereum</a:t>
                      </a:r>
                      <a:r>
                        <a:rPr kumimoji="1" lang="ja-JP" altLang="en-US" sz="1200" dirty="0">
                          <a:latin typeface="+mn-ea"/>
                          <a:ea typeface="+mn-ea"/>
                        </a:rPr>
                        <a:t>上で証明書を発行するための</a:t>
                      </a:r>
                      <a:r>
                        <a:rPr kumimoji="1" lang="en-US" altLang="ja-JP" sz="1200" dirty="0">
                          <a:latin typeface="+mn-ea"/>
                          <a:ea typeface="+mn-ea"/>
                        </a:rPr>
                        <a:t>Python</a:t>
                      </a:r>
                      <a:r>
                        <a:rPr kumimoji="1" lang="ja-JP" altLang="en-US" sz="1200" dirty="0">
                          <a:latin typeface="+mn-ea"/>
                          <a:ea typeface="+mn-ea"/>
                        </a:rPr>
                        <a:t>ライブラリ</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5"/>
                        </a:rPr>
                        <a:t>cert-verifier-</a:t>
                      </a:r>
                      <a:r>
                        <a:rPr kumimoji="1" lang="en-US" altLang="ja-JP" sz="1200" dirty="0" err="1">
                          <a:latin typeface="+mn-ea"/>
                          <a:ea typeface="+mn-ea"/>
                          <a:hlinkClick r:id="rId5"/>
                        </a:rPr>
                        <a:t>js</a:t>
                      </a:r>
                      <a:r>
                        <a:rPr kumimoji="1" lang="ja-JP" altLang="en-US" sz="1200" dirty="0">
                          <a:latin typeface="+mn-ea"/>
                          <a:ea typeface="+mn-ea"/>
                        </a:rPr>
                        <a:t> </a:t>
                      </a:r>
                      <a:br>
                        <a:rPr kumimoji="1" lang="en-US" altLang="ja-JP" sz="1200" dirty="0">
                          <a:latin typeface="+mn-ea"/>
                          <a:ea typeface="+mn-ea"/>
                        </a:rPr>
                      </a:br>
                      <a:r>
                        <a:rPr kumimoji="1" lang="en-US" altLang="ja-JP" sz="1200" dirty="0">
                          <a:latin typeface="+mn-ea"/>
                          <a:ea typeface="+mn-ea"/>
                        </a:rPr>
                        <a:t>Node.js</a:t>
                      </a:r>
                      <a:r>
                        <a:rPr kumimoji="1" lang="ja-JP" altLang="en-US" sz="1200" dirty="0">
                          <a:latin typeface="+mn-ea"/>
                          <a:ea typeface="+mn-ea"/>
                        </a:rPr>
                        <a:t>アプリやブラウザで使用する検証用の</a:t>
                      </a:r>
                      <a:r>
                        <a:rPr kumimoji="1" lang="en-US" altLang="ja-JP" sz="1200" dirty="0" err="1">
                          <a:latin typeface="+mn-ea"/>
                          <a:ea typeface="+mn-ea"/>
                        </a:rPr>
                        <a:t>Javascript</a:t>
                      </a:r>
                      <a:r>
                        <a:rPr kumimoji="1" lang="ja-JP" altLang="en-US" sz="1200" dirty="0">
                          <a:latin typeface="+mn-ea"/>
                          <a:ea typeface="+mn-ea"/>
                        </a:rPr>
                        <a:t>ライブラリ</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err="1">
                          <a:latin typeface="+mn-ea"/>
                          <a:ea typeface="+mn-ea"/>
                          <a:hlinkClick r:id="rId5"/>
                        </a:rPr>
                        <a:t>blockcerts</a:t>
                      </a:r>
                      <a:r>
                        <a:rPr kumimoji="1" lang="en-US" altLang="ja-JP" sz="1200" dirty="0">
                          <a:latin typeface="+mn-ea"/>
                          <a:ea typeface="+mn-ea"/>
                          <a:hlinkClick r:id="rId5"/>
                        </a:rPr>
                        <a:t>-verifier</a:t>
                      </a:r>
                      <a:r>
                        <a:rPr kumimoji="1" lang="ja-JP" altLang="en-US" sz="1200" dirty="0">
                          <a:latin typeface="+mn-ea"/>
                          <a:ea typeface="+mn-ea"/>
                        </a:rPr>
                        <a:t> </a:t>
                      </a:r>
                      <a:br>
                        <a:rPr kumimoji="1" lang="en-US" altLang="ja-JP" sz="1200" dirty="0">
                          <a:latin typeface="+mn-ea"/>
                          <a:ea typeface="+mn-ea"/>
                        </a:rPr>
                      </a:br>
                      <a:r>
                        <a:rPr kumimoji="1" lang="ja-JP" altLang="en-US" sz="1200" dirty="0">
                          <a:latin typeface="+mn-ea"/>
                          <a:ea typeface="+mn-ea"/>
                        </a:rPr>
                        <a:t>スタンドアローンの検証ツール</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6"/>
                        </a:rPr>
                        <a:t>wallet-iOS</a:t>
                      </a:r>
                      <a:r>
                        <a:rPr kumimoji="1" lang="en-US" altLang="ja-JP" sz="1200" dirty="0">
                          <a:latin typeface="+mn-ea"/>
                          <a:ea typeface="+mn-ea"/>
                        </a:rPr>
                        <a:t> </a:t>
                      </a:r>
                      <a:br>
                        <a:rPr kumimoji="1" lang="en-US" altLang="ja-JP" sz="1200" dirty="0">
                          <a:latin typeface="+mn-ea"/>
                          <a:ea typeface="+mn-ea"/>
                        </a:rPr>
                      </a:br>
                      <a:r>
                        <a:rPr kumimoji="1" lang="en-US" altLang="ja-JP" sz="1200" dirty="0">
                          <a:latin typeface="+mn-ea"/>
                          <a:ea typeface="+mn-ea"/>
                        </a:rPr>
                        <a:t>iOS</a:t>
                      </a:r>
                      <a:r>
                        <a:rPr kumimoji="1" lang="ja-JP" altLang="en-US" sz="1200" dirty="0">
                          <a:latin typeface="+mn-ea"/>
                          <a:ea typeface="+mn-ea"/>
                        </a:rPr>
                        <a:t>用ウォレット実装</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7"/>
                        </a:rPr>
                        <a:t>wallet-android</a:t>
                      </a:r>
                      <a:r>
                        <a:rPr kumimoji="1" lang="ja-JP" altLang="en-US" sz="1200" dirty="0">
                          <a:latin typeface="+mn-ea"/>
                          <a:ea typeface="+mn-ea"/>
                        </a:rPr>
                        <a:t> </a:t>
                      </a:r>
                      <a:br>
                        <a:rPr kumimoji="1" lang="en-US" altLang="ja-JP" sz="1200" dirty="0">
                          <a:latin typeface="+mn-ea"/>
                          <a:ea typeface="+mn-ea"/>
                        </a:rPr>
                      </a:br>
                      <a:r>
                        <a:rPr kumimoji="1" lang="en-US" altLang="ja-JP" sz="1200" dirty="0">
                          <a:latin typeface="+mn-ea"/>
                          <a:ea typeface="+mn-ea"/>
                        </a:rPr>
                        <a:t>Android</a:t>
                      </a:r>
                      <a:r>
                        <a:rPr kumimoji="1" lang="ja-JP" altLang="en-US" sz="1200" dirty="0">
                          <a:latin typeface="+mn-ea"/>
                          <a:ea typeface="+mn-ea"/>
                        </a:rPr>
                        <a:t>用ウォレット実装</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232399">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提供形態</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ea"/>
                          <a:ea typeface="+mn-ea"/>
                          <a:cs typeface="+mn-cs"/>
                        </a:rPr>
                        <a:t>ソースコード</a:t>
                      </a:r>
                      <a:endParaRPr kumimoji="1" lang="en-US" altLang="ja-JP" sz="1200" kern="1200" dirty="0">
                        <a:solidFill>
                          <a:schemeClr val="tx1"/>
                        </a:solidFill>
                        <a:latin typeface="+mn-ea"/>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24547564"/>
                  </a:ext>
                </a:extLst>
              </a:tr>
              <a:tr h="232399">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ドキュメント</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hlinkClick r:id="rId8"/>
                        </a:rPr>
                        <a:t>https://www.blockcerts.org/guide/</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853746668"/>
                  </a:ext>
                </a:extLst>
              </a:tr>
              <a:tr h="232399">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ライセンス</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rPr>
                        <a:t>MIT License</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92" name="正方形/長方形 91">
            <a:extLst>
              <a:ext uri="{FF2B5EF4-FFF2-40B4-BE49-F238E27FC236}">
                <a16:creationId xmlns:a16="http://schemas.microsoft.com/office/drawing/2014/main" id="{15D4DF16-1457-0095-7AE8-B9F76C601747}"/>
              </a:ext>
            </a:extLst>
          </p:cNvPr>
          <p:cNvSpPr/>
          <p:nvPr/>
        </p:nvSpPr>
        <p:spPr bwMode="gray">
          <a:xfrm>
            <a:off x="5146161" y="1595909"/>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93" name="正方形/長方形 92">
            <a:extLst>
              <a:ext uri="{FF2B5EF4-FFF2-40B4-BE49-F238E27FC236}">
                <a16:creationId xmlns:a16="http://schemas.microsoft.com/office/drawing/2014/main" id="{67E52DBD-C2F4-E00B-3127-D496F6A4E7B2}"/>
              </a:ext>
            </a:extLst>
          </p:cNvPr>
          <p:cNvSpPr/>
          <p:nvPr/>
        </p:nvSpPr>
        <p:spPr bwMode="gray">
          <a:xfrm>
            <a:off x="283068" y="1595909"/>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94" name="正方形/長方形 93">
            <a:extLst>
              <a:ext uri="{FF2B5EF4-FFF2-40B4-BE49-F238E27FC236}">
                <a16:creationId xmlns:a16="http://schemas.microsoft.com/office/drawing/2014/main" id="{964929B9-24C2-DA6F-43D4-82287B6C57DE}"/>
              </a:ext>
            </a:extLst>
          </p:cNvPr>
          <p:cNvSpPr/>
          <p:nvPr/>
        </p:nvSpPr>
        <p:spPr>
          <a:xfrm>
            <a:off x="5146161" y="2496011"/>
            <a:ext cx="1245212"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5" name="正方形/長方形 94">
            <a:extLst>
              <a:ext uri="{FF2B5EF4-FFF2-40B4-BE49-F238E27FC236}">
                <a16:creationId xmlns:a16="http://schemas.microsoft.com/office/drawing/2014/main" id="{8173615B-3515-06DE-6C5B-8D007093F38C}"/>
              </a:ext>
            </a:extLst>
          </p:cNvPr>
          <p:cNvSpPr/>
          <p:nvPr/>
        </p:nvSpPr>
        <p:spPr>
          <a:xfrm>
            <a:off x="5146161" y="3254869"/>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6" name="正方形/長方形 95">
            <a:extLst>
              <a:ext uri="{FF2B5EF4-FFF2-40B4-BE49-F238E27FC236}">
                <a16:creationId xmlns:a16="http://schemas.microsoft.com/office/drawing/2014/main" id="{56E7B3E5-B8CF-3B22-77E8-48A645B98B7C}"/>
              </a:ext>
            </a:extLst>
          </p:cNvPr>
          <p:cNvSpPr/>
          <p:nvPr/>
        </p:nvSpPr>
        <p:spPr>
          <a:xfrm>
            <a:off x="8088897" y="1853353"/>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7" name="テキスト ボックス 96">
            <a:extLst>
              <a:ext uri="{FF2B5EF4-FFF2-40B4-BE49-F238E27FC236}">
                <a16:creationId xmlns:a16="http://schemas.microsoft.com/office/drawing/2014/main" id="{509C8E08-209D-526B-4754-02BACFA4D490}"/>
              </a:ext>
            </a:extLst>
          </p:cNvPr>
          <p:cNvSpPr txBox="1"/>
          <p:nvPr/>
        </p:nvSpPr>
        <p:spPr>
          <a:xfrm>
            <a:off x="8759075" y="1852068"/>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Tree>
    <p:extLst>
      <p:ext uri="{BB962C8B-B14F-4D97-AF65-F5344CB8AC3E}">
        <p14:creationId xmlns:p14="http://schemas.microsoft.com/office/powerpoint/2010/main" val="33664822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1F38CA7B-6E3C-8468-09B7-75E3CEAC7473}"/>
              </a:ext>
            </a:extLst>
          </p:cNvPr>
          <p:cNvPicPr>
            <a:picLocks noChangeAspect="1"/>
          </p:cNvPicPr>
          <p:nvPr/>
        </p:nvPicPr>
        <p:blipFill>
          <a:blip r:embed="rId2"/>
          <a:stretch>
            <a:fillRect/>
          </a:stretch>
        </p:blipFill>
        <p:spPr>
          <a:xfrm>
            <a:off x="5123302" y="2099728"/>
            <a:ext cx="4483731" cy="2371850"/>
          </a:xfrm>
          <a:prstGeom prst="rect">
            <a:avLst/>
          </a:prstGeom>
        </p:spPr>
      </p:pic>
      <p:sp>
        <p:nvSpPr>
          <p:cNvPr id="2" name="タイトル 1">
            <a:extLst>
              <a:ext uri="{FF2B5EF4-FFF2-40B4-BE49-F238E27FC236}">
                <a16:creationId xmlns:a16="http://schemas.microsoft.com/office/drawing/2014/main" id="{20DC2EAC-A767-A1A0-30E7-FFE978DF0F63}"/>
              </a:ext>
            </a:extLst>
          </p:cNvPr>
          <p:cNvSpPr>
            <a:spLocks noGrp="1"/>
          </p:cNvSpPr>
          <p:nvPr>
            <p:ph type="title"/>
          </p:nvPr>
        </p:nvSpPr>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(2) </a:t>
            </a:r>
            <a:r>
              <a:rPr lang="en-US" altLang="ja-JP" kern="0" dirty="0">
                <a:solidFill>
                  <a:prstClr val="black"/>
                </a:solidFill>
                <a:latin typeface="Yu Gothic UI"/>
                <a:ea typeface="Yu Gothic UI"/>
                <a:cs typeface="Arial" charset="0"/>
              </a:rPr>
              <a:t>Hyperledger </a:t>
            </a:r>
            <a:r>
              <a:rPr lang="en-US" altLang="ja-JP" kern="0" dirty="0" err="1">
                <a:solidFill>
                  <a:prstClr val="black"/>
                </a:solidFill>
                <a:latin typeface="Yu Gothic UI"/>
                <a:ea typeface="Yu Gothic UI"/>
                <a:cs typeface="Arial" charset="0"/>
              </a:rPr>
              <a:t>AnonCreds</a:t>
            </a:r>
            <a:endParaRPr kumimoji="1" lang="ja-JP" altLang="en-US" dirty="0"/>
          </a:p>
        </p:txBody>
      </p:sp>
      <p:sp>
        <p:nvSpPr>
          <p:cNvPr id="3" name="テキスト プレースホルダー 2">
            <a:extLst>
              <a:ext uri="{FF2B5EF4-FFF2-40B4-BE49-F238E27FC236}">
                <a16:creationId xmlns:a16="http://schemas.microsoft.com/office/drawing/2014/main" id="{7BB380AB-CD85-FB58-16B1-CA455C7866F3}"/>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sp>
        <p:nvSpPr>
          <p:cNvPr id="20" name="コンテンツ プレースホルダー 2">
            <a:extLst>
              <a:ext uri="{FF2B5EF4-FFF2-40B4-BE49-F238E27FC236}">
                <a16:creationId xmlns:a16="http://schemas.microsoft.com/office/drawing/2014/main" id="{9A9FFBA3-4138-5768-596F-5494023CBC93}"/>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1985</a:t>
            </a:r>
            <a:r>
              <a:rPr lang="ja-JP" altLang="en-US" dirty="0"/>
              <a:t>年から検討が続いている仕様であるが、</a:t>
            </a:r>
            <a:r>
              <a:rPr lang="en-US" altLang="ja-JP" dirty="0"/>
              <a:t>2016</a:t>
            </a:r>
            <a:r>
              <a:rPr lang="ja-JP" altLang="en-US" dirty="0"/>
              <a:t>年以降は</a:t>
            </a:r>
            <a:r>
              <a:rPr lang="en-US" altLang="ja-JP" dirty="0" err="1"/>
              <a:t>Hyperldeger</a:t>
            </a:r>
            <a:r>
              <a:rPr lang="ja-JP" altLang="en-US" dirty="0"/>
              <a:t>で検討が続けられている</a:t>
            </a:r>
            <a:endParaRPr lang="en-US" altLang="ja-JP" dirty="0"/>
          </a:p>
          <a:p>
            <a:r>
              <a:rPr lang="en-US" altLang="ja-JP" dirty="0" err="1"/>
              <a:t>AnonCreds</a:t>
            </a:r>
            <a:r>
              <a:rPr lang="en-US" altLang="ja-JP" dirty="0"/>
              <a:t> v1.0</a:t>
            </a:r>
            <a:r>
              <a:rPr lang="ja-JP" altLang="en-US" dirty="0"/>
              <a:t>は</a:t>
            </a:r>
            <a:r>
              <a:rPr lang="en-US" altLang="ja-JP" dirty="0"/>
              <a:t>CL</a:t>
            </a:r>
            <a:r>
              <a:rPr lang="ja-JP" altLang="en-US" dirty="0"/>
              <a:t>署名に基づいており、</a:t>
            </a:r>
            <a:r>
              <a:rPr lang="en-US" altLang="ja-JP" dirty="0" err="1"/>
              <a:t>AnonCreds</a:t>
            </a:r>
            <a:r>
              <a:rPr lang="en-US" altLang="ja-JP" dirty="0"/>
              <a:t> v2.0</a:t>
            </a:r>
            <a:r>
              <a:rPr lang="ja-JP" altLang="en-US" dirty="0"/>
              <a:t>は</a:t>
            </a:r>
            <a:r>
              <a:rPr lang="en-US" altLang="ja-JP" dirty="0"/>
              <a:t>BBS+</a:t>
            </a:r>
            <a:r>
              <a:rPr lang="ja-JP" altLang="en-US" dirty="0"/>
              <a:t>署名に基づいた実装となっている</a:t>
            </a:r>
            <a:endParaRPr kumimoji="1" lang="ja-JP" altLang="en-US" dirty="0"/>
          </a:p>
        </p:txBody>
      </p:sp>
      <p:graphicFrame>
        <p:nvGraphicFramePr>
          <p:cNvPr id="21" name="表 20">
            <a:extLst>
              <a:ext uri="{FF2B5EF4-FFF2-40B4-BE49-F238E27FC236}">
                <a16:creationId xmlns:a16="http://schemas.microsoft.com/office/drawing/2014/main" id="{AA4EAD00-B56B-9C7B-F177-600AE7B1A258}"/>
              </a:ext>
            </a:extLst>
          </p:cNvPr>
          <p:cNvGraphicFramePr>
            <a:graphicFrameLocks noGrp="1"/>
          </p:cNvGraphicFramePr>
          <p:nvPr>
            <p:extLst>
              <p:ext uri="{D42A27DB-BD31-4B8C-83A1-F6EECF244321}">
                <p14:modId xmlns:p14="http://schemas.microsoft.com/office/powerpoint/2010/main" val="3187882900"/>
              </p:ext>
            </p:extLst>
          </p:nvPr>
        </p:nvGraphicFramePr>
        <p:xfrm>
          <a:off x="282477" y="1889225"/>
          <a:ext cx="4478059" cy="246888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23631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公開元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lgn="l" defTabSz="990564" rtl="0" eaLnBrk="1" latinLnBrk="0" hangingPunct="1">
                        <a:buFont typeface="Arial" panose="020B0604020202020204" pitchFamily="34" charset="0"/>
                        <a:buNone/>
                      </a:pPr>
                      <a:r>
                        <a:rPr kumimoji="1" lang="en-US" altLang="ja-JP" sz="1200" kern="1200" dirty="0">
                          <a:solidFill>
                            <a:schemeClr val="tx1"/>
                          </a:solidFill>
                          <a:latin typeface="+mn-ea"/>
                          <a:ea typeface="+mn-ea"/>
                          <a:cs typeface="+mn-cs"/>
                        </a:rPr>
                        <a:t>Linux Foundation (Hyperledger Project)</a:t>
                      </a:r>
                      <a:endParaRPr kumimoji="1" lang="ja-JP" altLang="en-US" sz="1200" kern="1200" dirty="0">
                        <a:solidFill>
                          <a:schemeClr val="tx1"/>
                        </a:solidFill>
                        <a:latin typeface="+mn-ea"/>
                        <a:ea typeface="+mn-ea"/>
                        <a:cs typeface="+mn-cs"/>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470876">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ライブラリ名</a:t>
                      </a:r>
                      <a:r>
                        <a:rPr lang="en-US" altLang="ja-JP" sz="1200" dirty="0">
                          <a:latin typeface="+mn-ea"/>
                          <a:ea typeface="+mn-ea"/>
                        </a:rPr>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内容</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err="1">
                          <a:latin typeface="+mn-ea"/>
                          <a:ea typeface="+mn-ea"/>
                          <a:hlinkClick r:id="rId3"/>
                        </a:rPr>
                        <a:t>anoncreds-rs</a:t>
                      </a:r>
                      <a:br>
                        <a:rPr kumimoji="1" lang="en-US" altLang="ja-JP" sz="1200" dirty="0">
                          <a:latin typeface="+mn-ea"/>
                          <a:ea typeface="+mn-ea"/>
                        </a:rPr>
                      </a:br>
                      <a:r>
                        <a:rPr kumimoji="1" lang="ja-JP" altLang="en-US" sz="1200" dirty="0">
                          <a:latin typeface="+mn-ea"/>
                          <a:ea typeface="+mn-ea"/>
                        </a:rPr>
                        <a:t>重要なプライバシー保護機能である</a:t>
                      </a:r>
                      <a:r>
                        <a:rPr kumimoji="1" lang="en-US" altLang="ja-JP" sz="1200" dirty="0">
                          <a:latin typeface="+mn-ea"/>
                          <a:ea typeface="+mn-ea"/>
                        </a:rPr>
                        <a:t>ZKP (</a:t>
                      </a:r>
                      <a:r>
                        <a:rPr kumimoji="1" lang="ja-JP" altLang="en-US" sz="1200" dirty="0">
                          <a:latin typeface="+mn-ea"/>
                          <a:ea typeface="+mn-ea"/>
                        </a:rPr>
                        <a:t>ゼロ知識証明</a:t>
                      </a:r>
                      <a:r>
                        <a:rPr kumimoji="1" lang="en-US" altLang="ja-JP" sz="1200" dirty="0">
                          <a:latin typeface="+mn-ea"/>
                          <a:ea typeface="+mn-ea"/>
                        </a:rPr>
                        <a:t>) </a:t>
                      </a:r>
                      <a:r>
                        <a:rPr kumimoji="1" lang="ja-JP" altLang="en-US" sz="1200" dirty="0">
                          <a:latin typeface="+mn-ea"/>
                          <a:ea typeface="+mn-ea"/>
                        </a:rPr>
                        <a:t>機能をコア </a:t>
                      </a:r>
                      <a:r>
                        <a:rPr kumimoji="1" lang="en-US" altLang="ja-JP" sz="1200" dirty="0">
                          <a:latin typeface="+mn-ea"/>
                          <a:ea typeface="+mn-ea"/>
                        </a:rPr>
                        <a:t>VC </a:t>
                      </a:r>
                      <a:r>
                        <a:rPr kumimoji="1" lang="ja-JP" altLang="en-US" sz="1200" dirty="0">
                          <a:latin typeface="+mn-ea"/>
                          <a:ea typeface="+mn-ea"/>
                        </a:rPr>
                        <a:t>保証に追加する </a:t>
                      </a:r>
                      <a:r>
                        <a:rPr kumimoji="1" lang="en-US" altLang="ja-JP" sz="1200" dirty="0">
                          <a:latin typeface="+mn-ea"/>
                          <a:ea typeface="+mn-ea"/>
                        </a:rPr>
                        <a:t>VC </a:t>
                      </a:r>
                      <a:r>
                        <a:rPr kumimoji="1" lang="ja-JP" altLang="en-US" sz="1200" dirty="0">
                          <a:latin typeface="+mn-ea"/>
                          <a:ea typeface="+mn-ea"/>
                        </a:rPr>
                        <a:t>の一種。台帳やクライアントに依存せず、</a:t>
                      </a:r>
                      <a:r>
                        <a:rPr kumimoji="1" lang="en-US" altLang="ja-JP" sz="1200" dirty="0">
                          <a:latin typeface="+mn-ea"/>
                          <a:ea typeface="+mn-ea"/>
                        </a:rPr>
                        <a:t>Hyperledger Indy</a:t>
                      </a:r>
                      <a:r>
                        <a:rPr kumimoji="1" lang="ja-JP" altLang="en-US" sz="1200" dirty="0">
                          <a:latin typeface="+mn-ea"/>
                          <a:ea typeface="+mn-ea"/>
                        </a:rPr>
                        <a:t>や</a:t>
                      </a:r>
                      <a:r>
                        <a:rPr kumimoji="1" lang="en-US" altLang="ja-JP" sz="1200" dirty="0">
                          <a:latin typeface="+mn-ea"/>
                          <a:ea typeface="+mn-ea"/>
                        </a:rPr>
                        <a:t>Aries </a:t>
                      </a:r>
                      <a:r>
                        <a:rPr kumimoji="1" lang="ja-JP" altLang="en-US" sz="1200" dirty="0">
                          <a:latin typeface="+mn-ea"/>
                          <a:ea typeface="+mn-ea"/>
                        </a:rPr>
                        <a:t>とは独立して動くことを想定して設計されているため、他の検証可能なデータ レジストリ</a:t>
                      </a:r>
                      <a:r>
                        <a:rPr kumimoji="1" lang="en-US" altLang="ja-JP" sz="1200" dirty="0">
                          <a:latin typeface="+mn-ea"/>
                          <a:ea typeface="+mn-ea"/>
                        </a:rPr>
                        <a:t>/</a:t>
                      </a:r>
                      <a:r>
                        <a:rPr kumimoji="1" lang="ja-JP" altLang="en-US" sz="1200" dirty="0">
                          <a:latin typeface="+mn-ea"/>
                          <a:ea typeface="+mn-ea"/>
                        </a:rPr>
                        <a:t>台帳および検証可能な資格情報クライアントとともに使用できる</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提供形態</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ea"/>
                          <a:ea typeface="+mn-ea"/>
                          <a:cs typeface="+mn-cs"/>
                        </a:rPr>
                        <a:t>ソースコード</a:t>
                      </a:r>
                      <a:endParaRPr kumimoji="1" lang="en-US" altLang="ja-JP" sz="1200" kern="1200" dirty="0">
                        <a:solidFill>
                          <a:schemeClr val="tx1"/>
                        </a:solidFill>
                        <a:latin typeface="+mn-ea"/>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24547564"/>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ドキュメント</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u="sng" kern="1200" dirty="0">
                          <a:solidFill>
                            <a:schemeClr val="tx1"/>
                          </a:solidFill>
                          <a:effectLst/>
                          <a:latin typeface="+mn-ea"/>
                          <a:ea typeface="+mn-ea"/>
                          <a:cs typeface="+mn-cs"/>
                          <a:hlinkClick r:id="rId4"/>
                        </a:rPr>
                        <a:t>https://hyperledger.github.io/anoncreds-spec/</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853746668"/>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ライセンス</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dirty="0">
                          <a:latin typeface="+mn-ea"/>
                          <a:ea typeface="+mn-ea"/>
                        </a:rPr>
                        <a:t>Apache License Version 2.0</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23" name="正方形/長方形 22">
            <a:extLst>
              <a:ext uri="{FF2B5EF4-FFF2-40B4-BE49-F238E27FC236}">
                <a16:creationId xmlns:a16="http://schemas.microsoft.com/office/drawing/2014/main" id="{F1D7668B-FEEF-1AE3-FA2D-1AAA7AC1112D}"/>
              </a:ext>
            </a:extLst>
          </p:cNvPr>
          <p:cNvSpPr/>
          <p:nvPr/>
        </p:nvSpPr>
        <p:spPr bwMode="gray">
          <a:xfrm>
            <a:off x="5146161" y="1617639"/>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24" name="正方形/長方形 23">
            <a:extLst>
              <a:ext uri="{FF2B5EF4-FFF2-40B4-BE49-F238E27FC236}">
                <a16:creationId xmlns:a16="http://schemas.microsoft.com/office/drawing/2014/main" id="{755761C2-CA1E-3D93-079D-D9463AF2104E}"/>
              </a:ext>
            </a:extLst>
          </p:cNvPr>
          <p:cNvSpPr/>
          <p:nvPr/>
        </p:nvSpPr>
        <p:spPr bwMode="gray">
          <a:xfrm>
            <a:off x="283068" y="1617639"/>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25" name="正方形/長方形 24">
            <a:extLst>
              <a:ext uri="{FF2B5EF4-FFF2-40B4-BE49-F238E27FC236}">
                <a16:creationId xmlns:a16="http://schemas.microsoft.com/office/drawing/2014/main" id="{EE971949-8D97-0FE9-C6B0-48CC0E115F77}"/>
              </a:ext>
            </a:extLst>
          </p:cNvPr>
          <p:cNvSpPr/>
          <p:nvPr/>
        </p:nvSpPr>
        <p:spPr>
          <a:xfrm>
            <a:off x="5146160" y="2517741"/>
            <a:ext cx="3102293"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6" name="正方形/長方形 25">
            <a:extLst>
              <a:ext uri="{FF2B5EF4-FFF2-40B4-BE49-F238E27FC236}">
                <a16:creationId xmlns:a16="http://schemas.microsoft.com/office/drawing/2014/main" id="{E2C8D122-7516-1700-D13F-87FB2D92112E}"/>
              </a:ext>
            </a:extLst>
          </p:cNvPr>
          <p:cNvSpPr/>
          <p:nvPr/>
        </p:nvSpPr>
        <p:spPr>
          <a:xfrm>
            <a:off x="8088897" y="1875083"/>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7" name="テキスト ボックス 26">
            <a:extLst>
              <a:ext uri="{FF2B5EF4-FFF2-40B4-BE49-F238E27FC236}">
                <a16:creationId xmlns:a16="http://schemas.microsoft.com/office/drawing/2014/main" id="{2B95903C-BC83-7523-1723-3152E1C10E6F}"/>
              </a:ext>
            </a:extLst>
          </p:cNvPr>
          <p:cNvSpPr txBox="1"/>
          <p:nvPr/>
        </p:nvSpPr>
        <p:spPr>
          <a:xfrm>
            <a:off x="8759075" y="1873798"/>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Tree>
    <p:extLst>
      <p:ext uri="{BB962C8B-B14F-4D97-AF65-F5344CB8AC3E}">
        <p14:creationId xmlns:p14="http://schemas.microsoft.com/office/powerpoint/2010/main" val="71641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492EFE4E-3D1F-F557-D5E9-D36F117BD821}"/>
              </a:ext>
            </a:extLst>
          </p:cNvPr>
          <p:cNvPicPr>
            <a:picLocks noChangeAspect="1"/>
          </p:cNvPicPr>
          <p:nvPr/>
        </p:nvPicPr>
        <p:blipFill>
          <a:blip r:embed="rId2"/>
          <a:stretch>
            <a:fillRect/>
          </a:stretch>
        </p:blipFill>
        <p:spPr>
          <a:xfrm>
            <a:off x="5136297" y="2024908"/>
            <a:ext cx="4483866" cy="2371921"/>
          </a:xfrm>
          <a:prstGeom prst="rect">
            <a:avLst/>
          </a:prstGeom>
        </p:spPr>
      </p:pic>
      <p:sp>
        <p:nvSpPr>
          <p:cNvPr id="2" name="タイトル 1">
            <a:extLst>
              <a:ext uri="{FF2B5EF4-FFF2-40B4-BE49-F238E27FC236}">
                <a16:creationId xmlns:a16="http://schemas.microsoft.com/office/drawing/2014/main" id="{8FBA1912-36C1-B9FD-C8B0-F97678444B9B}"/>
              </a:ext>
            </a:extLst>
          </p:cNvPr>
          <p:cNvSpPr>
            <a:spLocks noGrp="1"/>
          </p:cNvSpPr>
          <p:nvPr>
            <p:ph type="title"/>
          </p:nvPr>
        </p:nvSpPr>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(3) </a:t>
            </a:r>
            <a:r>
              <a:rPr lang="en-US" altLang="ja-JP" kern="0" dirty="0">
                <a:solidFill>
                  <a:prstClr val="black"/>
                </a:solidFill>
                <a:latin typeface="Yu Gothic UI"/>
                <a:ea typeface="Yu Gothic UI"/>
                <a:cs typeface="Arial" charset="0"/>
              </a:rPr>
              <a:t>Hyperledger Indy</a:t>
            </a:r>
            <a:endParaRPr kumimoji="1" lang="ja-JP" altLang="en-US" dirty="0"/>
          </a:p>
        </p:txBody>
      </p:sp>
      <p:sp>
        <p:nvSpPr>
          <p:cNvPr id="3" name="テキスト プレースホルダー 2">
            <a:extLst>
              <a:ext uri="{FF2B5EF4-FFF2-40B4-BE49-F238E27FC236}">
                <a16:creationId xmlns:a16="http://schemas.microsoft.com/office/drawing/2014/main" id="{263396EA-BE81-B20D-5D9F-74484F6135C5}"/>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sp>
        <p:nvSpPr>
          <p:cNvPr id="11" name="コンテンツ プレースホルダー 2">
            <a:extLst>
              <a:ext uri="{FF2B5EF4-FFF2-40B4-BE49-F238E27FC236}">
                <a16:creationId xmlns:a16="http://schemas.microsoft.com/office/drawing/2014/main" id="{2A0F6026-F5FD-FCCE-9B64-77FFAA9A67BD}"/>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ja-JP" altLang="en-US" dirty="0"/>
              <a:t>分散型アイデンティティ専用のブロックチェーン基盤である</a:t>
            </a:r>
            <a:r>
              <a:rPr kumimoji="1" lang="en-US" altLang="ja-JP" dirty="0"/>
              <a:t>Hyperledger Indy</a:t>
            </a:r>
            <a:r>
              <a:rPr kumimoji="1" lang="ja-JP" altLang="en-US" dirty="0"/>
              <a:t>に接続するライブラリ群</a:t>
            </a:r>
            <a:endParaRPr kumimoji="1" lang="en-US" altLang="ja-JP" dirty="0"/>
          </a:p>
          <a:p>
            <a:r>
              <a:rPr kumimoji="1" lang="en-US" altLang="ja-JP" dirty="0"/>
              <a:t>Hyperledger Indy</a:t>
            </a:r>
            <a:r>
              <a:rPr kumimoji="1" lang="ja-JP" altLang="en-US" dirty="0"/>
              <a:t>の公式</a:t>
            </a:r>
            <a:r>
              <a:rPr kumimoji="1" lang="en-US" altLang="ja-JP" dirty="0"/>
              <a:t>SDK</a:t>
            </a:r>
            <a:r>
              <a:rPr kumimoji="1" lang="ja-JP" altLang="en-US" dirty="0"/>
              <a:t>であった</a:t>
            </a:r>
            <a:r>
              <a:rPr kumimoji="1" lang="en-US" altLang="ja-JP" dirty="0"/>
              <a:t>Indy SDK</a:t>
            </a:r>
            <a:r>
              <a:rPr kumimoji="1" lang="ja-JP" altLang="en-US" dirty="0"/>
              <a:t>が非推奨となり、個別の実装に置き換わりつつある状況</a:t>
            </a:r>
          </a:p>
        </p:txBody>
      </p:sp>
      <p:graphicFrame>
        <p:nvGraphicFramePr>
          <p:cNvPr id="12" name="表 11">
            <a:extLst>
              <a:ext uri="{FF2B5EF4-FFF2-40B4-BE49-F238E27FC236}">
                <a16:creationId xmlns:a16="http://schemas.microsoft.com/office/drawing/2014/main" id="{4CE3EF8B-4F54-6A9E-BA05-3BD926FCA3AE}"/>
              </a:ext>
            </a:extLst>
          </p:cNvPr>
          <p:cNvGraphicFramePr>
            <a:graphicFrameLocks noGrp="1"/>
          </p:cNvGraphicFramePr>
          <p:nvPr>
            <p:extLst>
              <p:ext uri="{D42A27DB-BD31-4B8C-83A1-F6EECF244321}">
                <p14:modId xmlns:p14="http://schemas.microsoft.com/office/powerpoint/2010/main" val="3705245378"/>
              </p:ext>
            </p:extLst>
          </p:nvPr>
        </p:nvGraphicFramePr>
        <p:xfrm>
          <a:off x="282477" y="1803597"/>
          <a:ext cx="4478059" cy="269748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23631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t>公開元</a:t>
                      </a:r>
                      <a:endParaRPr kumimoji="1" lang="en-US" altLang="ja-JP" sz="12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lgn="l" defTabSz="990564" rtl="0" eaLnBrk="1" latinLnBrk="0" hangingPunct="1">
                        <a:buFont typeface="Arial" panose="020B0604020202020204" pitchFamily="34" charset="0"/>
                        <a:buNone/>
                      </a:pPr>
                      <a:r>
                        <a:rPr kumimoji="1" lang="en-US" altLang="ja-JP" sz="1200" kern="1200" dirty="0">
                          <a:solidFill>
                            <a:schemeClr val="tx1"/>
                          </a:solidFill>
                          <a:latin typeface="+mn-lt"/>
                          <a:ea typeface="+mn-ea"/>
                          <a:cs typeface="+mn-cs"/>
                        </a:rPr>
                        <a:t>Linux Foundation (Hyperledger Project)</a:t>
                      </a:r>
                      <a:endParaRPr kumimoji="1" lang="ja-JP" altLang="en-US" sz="1200" kern="1200" dirty="0">
                        <a:solidFill>
                          <a:schemeClr val="tx1"/>
                        </a:solidFill>
                        <a:latin typeface="+mn-lt"/>
                        <a:ea typeface="+mn-ea"/>
                        <a:cs typeface="+mn-cs"/>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470876">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ライブラリ名</a:t>
                      </a:r>
                      <a:r>
                        <a:rPr lang="en-US" altLang="ja-JP" sz="1200" dirty="0"/>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内容</a:t>
                      </a:r>
                      <a:endParaRPr lang="en-US" altLang="ja-JP" sz="12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hlinkClick r:id="rId3"/>
                        </a:rPr>
                        <a:t>Indy-VDR (Verifiable Data Registry)</a:t>
                      </a:r>
                      <a:br>
                        <a:rPr kumimoji="1" lang="en-US" altLang="ja-JP" sz="1200" dirty="0">
                          <a:latin typeface="+mn-ea"/>
                          <a:ea typeface="+mn-ea"/>
                        </a:rPr>
                      </a:br>
                      <a:r>
                        <a:rPr kumimoji="1" lang="en-US" altLang="ja-JP" sz="1200" dirty="0">
                          <a:latin typeface="+mn-ea"/>
                          <a:ea typeface="+mn-ea"/>
                        </a:rPr>
                        <a:t>Indy Node</a:t>
                      </a:r>
                      <a:r>
                        <a:rPr kumimoji="1" lang="ja-JP" altLang="en-US" sz="1200" dirty="0">
                          <a:latin typeface="+mn-ea"/>
                          <a:ea typeface="+mn-ea"/>
                        </a:rPr>
                        <a:t>との接続モジュール</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4"/>
                        </a:rPr>
                        <a:t>Aries Askar</a:t>
                      </a:r>
                      <a:br>
                        <a:rPr kumimoji="1" lang="en-US" altLang="ja-JP" sz="1200" dirty="0">
                          <a:latin typeface="+mn-ea"/>
                          <a:ea typeface="+mn-ea"/>
                        </a:rPr>
                      </a:br>
                      <a:r>
                        <a:rPr kumimoji="1" lang="en-US" altLang="ja-JP" sz="1200" dirty="0"/>
                        <a:t>Wallet</a:t>
                      </a:r>
                      <a:r>
                        <a:rPr kumimoji="1" lang="ja-JP" altLang="en-US" sz="1200" dirty="0"/>
                        <a:t>機能の実装</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err="1">
                          <a:latin typeface="+mn-ea"/>
                          <a:ea typeface="+mn-ea"/>
                          <a:hlinkClick r:id="rId5"/>
                        </a:rPr>
                        <a:t>indy</a:t>
                      </a:r>
                      <a:r>
                        <a:rPr kumimoji="1" lang="en-US" altLang="ja-JP" sz="1200" dirty="0">
                          <a:latin typeface="+mn-ea"/>
                          <a:ea typeface="+mn-ea"/>
                          <a:hlinkClick r:id="rId5"/>
                        </a:rPr>
                        <a:t>-cli-</a:t>
                      </a:r>
                      <a:r>
                        <a:rPr kumimoji="1" lang="en-US" altLang="ja-JP" sz="1200" dirty="0" err="1">
                          <a:latin typeface="+mn-ea"/>
                          <a:ea typeface="+mn-ea"/>
                          <a:hlinkClick r:id="rId5"/>
                        </a:rPr>
                        <a:t>rs</a:t>
                      </a:r>
                      <a:br>
                        <a:rPr kumimoji="1" lang="en-US" altLang="ja-JP" sz="1200" dirty="0">
                          <a:latin typeface="+mn-ea"/>
                          <a:ea typeface="+mn-ea"/>
                        </a:rPr>
                      </a:br>
                      <a:r>
                        <a:rPr kumimoji="1" lang="en-US" altLang="ja-JP" sz="1200" dirty="0"/>
                        <a:t>Indy</a:t>
                      </a:r>
                      <a:r>
                        <a:rPr kumimoji="1" lang="ja-JP" altLang="en-US" sz="1200" dirty="0"/>
                        <a:t>のコマンドラインインターフェイス</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提供形態</a:t>
                      </a:r>
                      <a:endParaRPr lang="en-US" altLang="ja-JP" sz="1200" dirty="0"/>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lt"/>
                          <a:ea typeface="+mn-ea"/>
                          <a:cs typeface="+mn-cs"/>
                        </a:rPr>
                        <a:t>ソースコード</a:t>
                      </a:r>
                      <a:endParaRPr kumimoji="1" lang="en-US" altLang="ja-JP" sz="1200" kern="1200" dirty="0">
                        <a:solidFill>
                          <a:schemeClr val="tx1"/>
                        </a:solidFill>
                        <a:latin typeface="+mn-lt"/>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24547564"/>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ドキュメント</a:t>
                      </a:r>
                      <a:endParaRPr lang="en-US" altLang="ja-JP" sz="1200" dirty="0"/>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hlinkClick r:id="rId6"/>
                        </a:rPr>
                        <a:t>https://hyperledger.github.io/indy-did-method/</a:t>
                      </a:r>
                      <a:endParaRPr kumimoji="1" lang="en-US" altLang="ja-JP" sz="1200" dirty="0"/>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853746668"/>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ライセンス</a:t>
                      </a:r>
                      <a:endParaRPr lang="en-US" altLang="ja-JP" sz="1200" dirty="0"/>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t>Apache License Version 2.0</a:t>
                      </a:r>
                    </a:p>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kern="1200" dirty="0">
                          <a:solidFill>
                            <a:schemeClr val="tx1"/>
                          </a:solidFill>
                          <a:latin typeface="+mn-lt"/>
                          <a:ea typeface="+mn-ea"/>
                          <a:cs typeface="+mn-cs"/>
                        </a:rPr>
                        <a:t>MIT </a:t>
                      </a:r>
                      <a:r>
                        <a:rPr kumimoji="1" lang="en-US" altLang="ja-JP" sz="1200" dirty="0"/>
                        <a:t>License</a:t>
                      </a:r>
                      <a:endParaRPr kumimoji="1" lang="en-US" altLang="ja-JP" sz="1200" kern="1200" dirty="0">
                        <a:solidFill>
                          <a:schemeClr val="tx1"/>
                        </a:solidFill>
                        <a:latin typeface="+mn-lt"/>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14" name="正方形/長方形 13">
            <a:extLst>
              <a:ext uri="{FF2B5EF4-FFF2-40B4-BE49-F238E27FC236}">
                <a16:creationId xmlns:a16="http://schemas.microsoft.com/office/drawing/2014/main" id="{B5A0CB27-3A37-27C0-4704-6DF514C3A495}"/>
              </a:ext>
            </a:extLst>
          </p:cNvPr>
          <p:cNvSpPr/>
          <p:nvPr/>
        </p:nvSpPr>
        <p:spPr bwMode="gray">
          <a:xfrm>
            <a:off x="5146161" y="1532011"/>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15" name="正方形/長方形 14">
            <a:extLst>
              <a:ext uri="{FF2B5EF4-FFF2-40B4-BE49-F238E27FC236}">
                <a16:creationId xmlns:a16="http://schemas.microsoft.com/office/drawing/2014/main" id="{9B2B070D-D04B-4346-7B28-337AA1584F0F}"/>
              </a:ext>
            </a:extLst>
          </p:cNvPr>
          <p:cNvSpPr/>
          <p:nvPr/>
        </p:nvSpPr>
        <p:spPr bwMode="gray">
          <a:xfrm>
            <a:off x="283068" y="1532011"/>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16" name="正方形/長方形 15">
            <a:extLst>
              <a:ext uri="{FF2B5EF4-FFF2-40B4-BE49-F238E27FC236}">
                <a16:creationId xmlns:a16="http://schemas.microsoft.com/office/drawing/2014/main" id="{E1AD22D8-F4E8-8509-8B54-11049A9B3E63}"/>
              </a:ext>
            </a:extLst>
          </p:cNvPr>
          <p:cNvSpPr/>
          <p:nvPr/>
        </p:nvSpPr>
        <p:spPr>
          <a:xfrm>
            <a:off x="5146160" y="3901803"/>
            <a:ext cx="3102293"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7" name="正方形/長方形 16">
            <a:extLst>
              <a:ext uri="{FF2B5EF4-FFF2-40B4-BE49-F238E27FC236}">
                <a16:creationId xmlns:a16="http://schemas.microsoft.com/office/drawing/2014/main" id="{86101531-9029-10CE-7E8D-332169E481DF}"/>
              </a:ext>
            </a:extLst>
          </p:cNvPr>
          <p:cNvSpPr/>
          <p:nvPr/>
        </p:nvSpPr>
        <p:spPr>
          <a:xfrm>
            <a:off x="8088897" y="1789455"/>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8" name="テキスト ボックス 17">
            <a:extLst>
              <a:ext uri="{FF2B5EF4-FFF2-40B4-BE49-F238E27FC236}">
                <a16:creationId xmlns:a16="http://schemas.microsoft.com/office/drawing/2014/main" id="{881A400D-954B-2448-DC82-4F9AA47694BD}"/>
              </a:ext>
            </a:extLst>
          </p:cNvPr>
          <p:cNvSpPr txBox="1"/>
          <p:nvPr/>
        </p:nvSpPr>
        <p:spPr>
          <a:xfrm>
            <a:off x="8759075" y="1788170"/>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20" name="正方形/長方形 19">
            <a:extLst>
              <a:ext uri="{FF2B5EF4-FFF2-40B4-BE49-F238E27FC236}">
                <a16:creationId xmlns:a16="http://schemas.microsoft.com/office/drawing/2014/main" id="{DE4C5A6F-5F18-B57F-22B3-0275580FBB07}"/>
              </a:ext>
            </a:extLst>
          </p:cNvPr>
          <p:cNvSpPr/>
          <p:nvPr/>
        </p:nvSpPr>
        <p:spPr>
          <a:xfrm>
            <a:off x="5146161" y="3153269"/>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1" name="正方形/長方形 20">
            <a:extLst>
              <a:ext uri="{FF2B5EF4-FFF2-40B4-BE49-F238E27FC236}">
                <a16:creationId xmlns:a16="http://schemas.microsoft.com/office/drawing/2014/main" id="{ADAE6D5E-4965-7385-2EFB-01D111D230C7}"/>
              </a:ext>
            </a:extLst>
          </p:cNvPr>
          <p:cNvSpPr/>
          <p:nvPr/>
        </p:nvSpPr>
        <p:spPr>
          <a:xfrm>
            <a:off x="7634837" y="3153269"/>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Tree>
    <p:extLst>
      <p:ext uri="{BB962C8B-B14F-4D97-AF65-F5344CB8AC3E}">
        <p14:creationId xmlns:p14="http://schemas.microsoft.com/office/powerpoint/2010/main" val="8767114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51D7E909-838C-F331-3B73-6DFE78550CF5}"/>
              </a:ext>
            </a:extLst>
          </p:cNvPr>
          <p:cNvPicPr>
            <a:picLocks noChangeAspect="1"/>
          </p:cNvPicPr>
          <p:nvPr/>
        </p:nvPicPr>
        <p:blipFill>
          <a:blip r:embed="rId2"/>
          <a:stretch>
            <a:fillRect/>
          </a:stretch>
        </p:blipFill>
        <p:spPr>
          <a:xfrm>
            <a:off x="5119471" y="2943616"/>
            <a:ext cx="4513480" cy="2387587"/>
          </a:xfrm>
          <a:prstGeom prst="rect">
            <a:avLst/>
          </a:prstGeom>
        </p:spPr>
      </p:pic>
      <p:sp>
        <p:nvSpPr>
          <p:cNvPr id="2" name="タイトル 1">
            <a:extLst>
              <a:ext uri="{FF2B5EF4-FFF2-40B4-BE49-F238E27FC236}">
                <a16:creationId xmlns:a16="http://schemas.microsoft.com/office/drawing/2014/main" id="{45C647FA-8E39-D489-9DEF-7FFB8A6B3F5F}"/>
              </a:ext>
            </a:extLst>
          </p:cNvPr>
          <p:cNvSpPr>
            <a:spLocks noGrp="1"/>
          </p:cNvSpPr>
          <p:nvPr>
            <p:ph type="title"/>
          </p:nvPr>
        </p:nvSpPr>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(4) </a:t>
            </a:r>
            <a:r>
              <a:rPr lang="en-US" altLang="ja-JP" kern="0" dirty="0">
                <a:solidFill>
                  <a:prstClr val="black"/>
                </a:solidFill>
                <a:latin typeface="Yu Gothic UI"/>
                <a:ea typeface="Yu Gothic UI"/>
                <a:cs typeface="Arial" charset="0"/>
              </a:rPr>
              <a:t>Hyperledger Aries</a:t>
            </a:r>
            <a:endParaRPr kumimoji="1" lang="ja-JP" altLang="en-US" dirty="0"/>
          </a:p>
        </p:txBody>
      </p:sp>
      <p:sp>
        <p:nvSpPr>
          <p:cNvPr id="3" name="テキスト プレースホルダー 2">
            <a:extLst>
              <a:ext uri="{FF2B5EF4-FFF2-40B4-BE49-F238E27FC236}">
                <a16:creationId xmlns:a16="http://schemas.microsoft.com/office/drawing/2014/main" id="{AFA732DD-1263-2416-A1A8-6F5B5BDDA12E}"/>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4" name="表 3">
            <a:extLst>
              <a:ext uri="{FF2B5EF4-FFF2-40B4-BE49-F238E27FC236}">
                <a16:creationId xmlns:a16="http://schemas.microsoft.com/office/drawing/2014/main" id="{9323CBF7-8880-0F38-48C0-50E6DC984FD8}"/>
              </a:ext>
            </a:extLst>
          </p:cNvPr>
          <p:cNvGraphicFramePr>
            <a:graphicFrameLocks noGrp="1"/>
          </p:cNvGraphicFramePr>
          <p:nvPr>
            <p:extLst>
              <p:ext uri="{D42A27DB-BD31-4B8C-83A1-F6EECF244321}">
                <p14:modId xmlns:p14="http://schemas.microsoft.com/office/powerpoint/2010/main" val="489561909"/>
              </p:ext>
            </p:extLst>
          </p:nvPr>
        </p:nvGraphicFramePr>
        <p:xfrm>
          <a:off x="282477" y="2724231"/>
          <a:ext cx="4478059" cy="280416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23631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t>公開元</a:t>
                      </a:r>
                      <a:endParaRPr kumimoji="1" lang="en-US" altLang="ja-JP" sz="12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lgn="l" defTabSz="990564" rtl="0" eaLnBrk="1" latinLnBrk="0" hangingPunct="1">
                        <a:buFont typeface="Arial" panose="020B0604020202020204" pitchFamily="34" charset="0"/>
                        <a:buNone/>
                      </a:pPr>
                      <a:r>
                        <a:rPr kumimoji="1" lang="en-US" altLang="ja-JP" sz="1200" kern="1200" dirty="0">
                          <a:solidFill>
                            <a:schemeClr val="tx1"/>
                          </a:solidFill>
                          <a:latin typeface="+mn-lt"/>
                          <a:ea typeface="+mn-ea"/>
                          <a:cs typeface="+mn-cs"/>
                        </a:rPr>
                        <a:t>Linux Foundation (Hyperledger Project)</a:t>
                      </a:r>
                      <a:endParaRPr kumimoji="1" lang="ja-JP" altLang="en-US" sz="1200" kern="1200" dirty="0">
                        <a:solidFill>
                          <a:schemeClr val="tx1"/>
                        </a:solidFill>
                        <a:latin typeface="+mn-lt"/>
                        <a:ea typeface="+mn-ea"/>
                        <a:cs typeface="+mn-cs"/>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470876">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ライブラリ名</a:t>
                      </a:r>
                      <a:r>
                        <a:rPr lang="en-US" altLang="ja-JP" sz="1200" dirty="0"/>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内容</a:t>
                      </a:r>
                      <a:endParaRPr lang="en-US" altLang="ja-JP" sz="12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hlinkClick r:id="rId3"/>
                        </a:rPr>
                        <a:t>Hyperledger Aries Cloud Agent Python</a:t>
                      </a:r>
                      <a:br>
                        <a:rPr kumimoji="1" lang="en-US" altLang="ja-JP" sz="1200" dirty="0">
                          <a:latin typeface="+mn-ea"/>
                          <a:ea typeface="+mn-ea"/>
                          <a:hlinkClick r:id="rId3"/>
                        </a:rPr>
                      </a:br>
                      <a:r>
                        <a:rPr kumimoji="1" lang="en-US" altLang="ja-JP" sz="1200" dirty="0">
                          <a:latin typeface="+mn-ea"/>
                          <a:ea typeface="+mn-ea"/>
                          <a:hlinkClick r:id="rId3"/>
                        </a:rPr>
                        <a:t>(ACA-</a:t>
                      </a:r>
                      <a:r>
                        <a:rPr kumimoji="1" lang="en-US" altLang="ja-JP" sz="1200" dirty="0" err="1">
                          <a:latin typeface="+mn-ea"/>
                          <a:ea typeface="+mn-ea"/>
                          <a:hlinkClick r:id="rId3"/>
                        </a:rPr>
                        <a:t>Py</a:t>
                      </a:r>
                      <a:r>
                        <a:rPr kumimoji="1" lang="en-US" altLang="ja-JP" sz="1200" dirty="0">
                          <a:latin typeface="+mn-ea"/>
                          <a:ea typeface="+mn-ea"/>
                          <a:hlinkClick r:id="rId3"/>
                        </a:rPr>
                        <a:t>) </a:t>
                      </a:r>
                      <a:br>
                        <a:rPr kumimoji="1" lang="en-US" altLang="ja-JP" sz="1200" dirty="0">
                          <a:latin typeface="+mn-ea"/>
                          <a:ea typeface="+mn-ea"/>
                        </a:rPr>
                      </a:br>
                      <a:r>
                        <a:rPr kumimoji="1" lang="en-US" altLang="ja-JP" sz="1200" dirty="0">
                          <a:latin typeface="+mn-ea"/>
                          <a:ea typeface="+mn-ea"/>
                        </a:rPr>
                        <a:t>Python</a:t>
                      </a:r>
                      <a:r>
                        <a:rPr kumimoji="1" lang="ja-JP" altLang="en-US" sz="1200" dirty="0">
                          <a:latin typeface="+mn-ea"/>
                          <a:ea typeface="+mn-ea"/>
                        </a:rPr>
                        <a:t>で実装された非モバイル環境を想定したアプリケーション構築基盤</a:t>
                      </a:r>
                      <a:endParaRPr kumimoji="1" lang="en-US" altLang="ja-JP" sz="1200" dirty="0">
                        <a:latin typeface="+mn-ea"/>
                        <a:ea typeface="+mn-ea"/>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kern="1200" dirty="0">
                          <a:solidFill>
                            <a:schemeClr val="tx1"/>
                          </a:solidFill>
                          <a:latin typeface="+mn-ea"/>
                          <a:ea typeface="Yu Gothic UI"/>
                          <a:cs typeface="+mn-cs"/>
                          <a:hlinkClick r:id="rId4"/>
                        </a:rPr>
                        <a:t>Aries Framework Go(AFG) </a:t>
                      </a:r>
                      <a:br>
                        <a:rPr kumimoji="1" lang="en-US" altLang="ja-JP" sz="1200" kern="1200" dirty="0">
                          <a:solidFill>
                            <a:schemeClr val="tx1"/>
                          </a:solidFill>
                          <a:latin typeface="+mn-ea"/>
                          <a:ea typeface="Yu Gothic UI"/>
                          <a:cs typeface="+mn-cs"/>
                        </a:rPr>
                      </a:br>
                      <a:r>
                        <a:rPr kumimoji="1" lang="en-US" altLang="ja-JP" sz="1200" kern="1200" dirty="0">
                          <a:solidFill>
                            <a:schemeClr val="tx1"/>
                          </a:solidFill>
                          <a:latin typeface="+mn-ea"/>
                          <a:ea typeface="Yu Gothic UI"/>
                          <a:cs typeface="+mn-cs"/>
                        </a:rPr>
                        <a:t>ACA-</a:t>
                      </a:r>
                      <a:r>
                        <a:rPr kumimoji="1" lang="en-US" altLang="ja-JP" sz="1200" kern="1200" dirty="0" err="1">
                          <a:solidFill>
                            <a:schemeClr val="tx1"/>
                          </a:solidFill>
                          <a:latin typeface="+mn-ea"/>
                          <a:ea typeface="Yu Gothic UI"/>
                          <a:cs typeface="+mn-cs"/>
                        </a:rPr>
                        <a:t>py</a:t>
                      </a:r>
                      <a:r>
                        <a:rPr kumimoji="1" lang="ja-JP" altLang="en-US" sz="1200" kern="1200" dirty="0">
                          <a:solidFill>
                            <a:schemeClr val="tx1"/>
                          </a:solidFill>
                          <a:latin typeface="+mn-ea"/>
                          <a:ea typeface="Yu Gothic UI"/>
                          <a:cs typeface="+mn-cs"/>
                        </a:rPr>
                        <a:t>の</a:t>
                      </a:r>
                      <a:r>
                        <a:rPr kumimoji="1" lang="en-US" altLang="ja-JP" sz="1200" kern="1200" dirty="0">
                          <a:solidFill>
                            <a:schemeClr val="tx1"/>
                          </a:solidFill>
                          <a:latin typeface="+mn-ea"/>
                          <a:ea typeface="Yu Gothic UI"/>
                          <a:cs typeface="+mn-cs"/>
                        </a:rPr>
                        <a:t>Go</a:t>
                      </a:r>
                      <a:r>
                        <a:rPr kumimoji="1" lang="ja-JP" altLang="en-US" sz="1200" kern="1200" dirty="0">
                          <a:solidFill>
                            <a:schemeClr val="tx1"/>
                          </a:solidFill>
                          <a:latin typeface="+mn-ea"/>
                          <a:ea typeface="Yu Gothic UI"/>
                          <a:cs typeface="+mn-cs"/>
                        </a:rPr>
                        <a:t>実装</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5"/>
                        </a:rPr>
                        <a:t>Static Agent Library(SAL) </a:t>
                      </a:r>
                      <a:br>
                        <a:rPr kumimoji="1" lang="en-US" altLang="ja-JP" sz="1200" dirty="0">
                          <a:latin typeface="+mn-ea"/>
                          <a:ea typeface="+mn-ea"/>
                        </a:rPr>
                      </a:br>
                      <a:r>
                        <a:rPr kumimoji="1" lang="en-US" altLang="ja-JP" sz="1200" dirty="0">
                          <a:latin typeface="+mn-ea"/>
                          <a:ea typeface="+mn-ea"/>
                        </a:rPr>
                        <a:t>IoT</a:t>
                      </a:r>
                      <a:r>
                        <a:rPr kumimoji="1" lang="ja-JP" altLang="en-US" sz="1200" dirty="0">
                          <a:latin typeface="+mn-ea"/>
                          <a:ea typeface="+mn-ea"/>
                        </a:rPr>
                        <a:t>利用を想定</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提供形態</a:t>
                      </a:r>
                      <a:endParaRPr lang="en-US" altLang="ja-JP" sz="1200" dirty="0"/>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lt"/>
                          <a:ea typeface="+mn-ea"/>
                          <a:cs typeface="+mn-cs"/>
                        </a:rPr>
                        <a:t>ソースコード</a:t>
                      </a:r>
                      <a:endParaRPr kumimoji="1" lang="en-US" altLang="ja-JP" sz="1200" kern="1200" dirty="0">
                        <a:solidFill>
                          <a:schemeClr val="tx1"/>
                        </a:solidFill>
                        <a:latin typeface="+mn-lt"/>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24547564"/>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ドキュメント</a:t>
                      </a:r>
                      <a:endParaRPr lang="en-US" altLang="ja-JP" sz="1200" dirty="0"/>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hlinkClick r:id="rId6"/>
                        </a:rPr>
                        <a:t>https://hyperledger.github.io/indy-did-method/</a:t>
                      </a:r>
                      <a:endParaRPr kumimoji="1" lang="en-US" altLang="ja-JP" sz="1200" dirty="0"/>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853746668"/>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ライセンス</a:t>
                      </a:r>
                      <a:endParaRPr lang="en-US" altLang="ja-JP" sz="1200" dirty="0"/>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t>Apache License Version 2.0</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6" name="正方形/長方形 5">
            <a:extLst>
              <a:ext uri="{FF2B5EF4-FFF2-40B4-BE49-F238E27FC236}">
                <a16:creationId xmlns:a16="http://schemas.microsoft.com/office/drawing/2014/main" id="{BDFD8365-BD88-0A03-EC8B-FB0BA9C8AC9F}"/>
              </a:ext>
            </a:extLst>
          </p:cNvPr>
          <p:cNvSpPr/>
          <p:nvPr/>
        </p:nvSpPr>
        <p:spPr bwMode="gray">
          <a:xfrm>
            <a:off x="5146161" y="2452645"/>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7" name="正方形/長方形 6">
            <a:extLst>
              <a:ext uri="{FF2B5EF4-FFF2-40B4-BE49-F238E27FC236}">
                <a16:creationId xmlns:a16="http://schemas.microsoft.com/office/drawing/2014/main" id="{25245E1F-E909-D3C5-B5C0-B3FCCBBBA081}"/>
              </a:ext>
            </a:extLst>
          </p:cNvPr>
          <p:cNvSpPr/>
          <p:nvPr/>
        </p:nvSpPr>
        <p:spPr bwMode="gray">
          <a:xfrm>
            <a:off x="283068" y="2452645"/>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8" name="正方形/長方形 7">
            <a:extLst>
              <a:ext uri="{FF2B5EF4-FFF2-40B4-BE49-F238E27FC236}">
                <a16:creationId xmlns:a16="http://schemas.microsoft.com/office/drawing/2014/main" id="{4D1B8803-343B-23AD-3B36-11E473C36928}"/>
              </a:ext>
            </a:extLst>
          </p:cNvPr>
          <p:cNvSpPr/>
          <p:nvPr/>
        </p:nvSpPr>
        <p:spPr>
          <a:xfrm>
            <a:off x="5146160" y="3357480"/>
            <a:ext cx="3102293"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 name="正方形/長方形 8">
            <a:extLst>
              <a:ext uri="{FF2B5EF4-FFF2-40B4-BE49-F238E27FC236}">
                <a16:creationId xmlns:a16="http://schemas.microsoft.com/office/drawing/2014/main" id="{7C0C7559-7091-7438-482F-3401E5BA0511}"/>
              </a:ext>
            </a:extLst>
          </p:cNvPr>
          <p:cNvSpPr/>
          <p:nvPr/>
        </p:nvSpPr>
        <p:spPr>
          <a:xfrm>
            <a:off x="8088897" y="2710089"/>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E10FC04F-CB73-FE95-B22D-C0B99FB632DE}"/>
              </a:ext>
            </a:extLst>
          </p:cNvPr>
          <p:cNvSpPr txBox="1"/>
          <p:nvPr/>
        </p:nvSpPr>
        <p:spPr>
          <a:xfrm>
            <a:off x="8759075" y="2708804"/>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11" name="正方形/長方形 10">
            <a:extLst>
              <a:ext uri="{FF2B5EF4-FFF2-40B4-BE49-F238E27FC236}">
                <a16:creationId xmlns:a16="http://schemas.microsoft.com/office/drawing/2014/main" id="{DE3811C3-78EC-FB54-B578-B30642B7196A}"/>
              </a:ext>
            </a:extLst>
          </p:cNvPr>
          <p:cNvSpPr/>
          <p:nvPr/>
        </p:nvSpPr>
        <p:spPr>
          <a:xfrm>
            <a:off x="5146161" y="4073903"/>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2" name="正方形/長方形 11">
            <a:extLst>
              <a:ext uri="{FF2B5EF4-FFF2-40B4-BE49-F238E27FC236}">
                <a16:creationId xmlns:a16="http://schemas.microsoft.com/office/drawing/2014/main" id="{4BBBD9D3-077D-F700-06A3-10224856C996}"/>
              </a:ext>
            </a:extLst>
          </p:cNvPr>
          <p:cNvSpPr/>
          <p:nvPr/>
        </p:nvSpPr>
        <p:spPr>
          <a:xfrm>
            <a:off x="7634837" y="4073903"/>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5" name="コンテンツ プレースホルダー 2">
            <a:extLst>
              <a:ext uri="{FF2B5EF4-FFF2-40B4-BE49-F238E27FC236}">
                <a16:creationId xmlns:a16="http://schemas.microsoft.com/office/drawing/2014/main" id="{45067F8E-23CB-0FF5-3142-821FB28CFC32}"/>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ja-JP" altLang="en-US" dirty="0"/>
              <a:t>エンティティ間で相互に信頼できる</a:t>
            </a:r>
            <a:r>
              <a:rPr kumimoji="1" lang="en-US" altLang="ja-JP" dirty="0"/>
              <a:t>P2P</a:t>
            </a:r>
            <a:r>
              <a:rPr kumimoji="1" lang="ja-JP" altLang="en-US" dirty="0"/>
              <a:t>接続を行うコンポーネント群（ユーザエージェント、</a:t>
            </a:r>
            <a:r>
              <a:rPr kumimoji="1" lang="en-US" altLang="ja-JP" dirty="0"/>
              <a:t>DID</a:t>
            </a:r>
            <a:r>
              <a:rPr kumimoji="1" lang="ja-JP" altLang="en-US" dirty="0"/>
              <a:t>通信、キー管理、プロトコル）で構成されている</a:t>
            </a:r>
          </a:p>
          <a:p>
            <a:r>
              <a:rPr kumimoji="1" lang="ja-JP" altLang="en-US" dirty="0"/>
              <a:t>複数のプロジェクトが立ち上がっており、現在も活発に活動中。ただし、更新を停止し、アーカイブに格納されたプロジェクトも多数存在</a:t>
            </a:r>
            <a:r>
              <a:rPr kumimoji="1" lang="en-US" altLang="ja-JP" dirty="0"/>
              <a:t>(</a:t>
            </a:r>
            <a:r>
              <a:rPr kumimoji="1" lang="ja-JP" altLang="en-US" dirty="0"/>
              <a:t>モバイル用途に開発された</a:t>
            </a:r>
            <a:r>
              <a:rPr kumimoji="1" lang="en-US" altLang="ja-JP" dirty="0"/>
              <a:t>.NET</a:t>
            </a:r>
            <a:r>
              <a:rPr kumimoji="1" lang="ja-JP" altLang="en-US" dirty="0"/>
              <a:t>版や</a:t>
            </a:r>
            <a:r>
              <a:rPr kumimoji="1" lang="en-US" altLang="ja-JP" dirty="0"/>
              <a:t>Ruby</a:t>
            </a:r>
            <a:r>
              <a:rPr kumimoji="1" lang="ja-JP" altLang="en-US" dirty="0"/>
              <a:t>版、テストフレームワークなど</a:t>
            </a:r>
            <a:r>
              <a:rPr kumimoji="1" lang="en-US" altLang="ja-JP" dirty="0"/>
              <a:t>)</a:t>
            </a:r>
            <a:endParaRPr kumimoji="1" lang="ja-JP" altLang="en-US" dirty="0"/>
          </a:p>
          <a:p>
            <a:r>
              <a:rPr kumimoji="1" lang="ja-JP" altLang="en-US" dirty="0"/>
              <a:t>共有ライブラリとして、ストレージプラグインを含む鍵管理、データリポジトリと接続するインターフェイス、各種ユーティリティ等を提供する</a:t>
            </a:r>
            <a:r>
              <a:rPr kumimoji="1" lang="en-US" altLang="ja-JP" dirty="0"/>
              <a:t>C</a:t>
            </a:r>
            <a:r>
              <a:rPr kumimoji="1" lang="ja-JP" altLang="en-US" dirty="0"/>
              <a:t>ライブラリを公開予定（現在はフレームワークごとに個別実装）</a:t>
            </a:r>
          </a:p>
          <a:p>
            <a:endParaRPr kumimoji="1" lang="en-US" altLang="ja-JP" dirty="0"/>
          </a:p>
        </p:txBody>
      </p:sp>
    </p:spTree>
    <p:extLst>
      <p:ext uri="{BB962C8B-B14F-4D97-AF65-F5344CB8AC3E}">
        <p14:creationId xmlns:p14="http://schemas.microsoft.com/office/powerpoint/2010/main" val="16595850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13E39D2-2F77-E0C9-4B52-415640D43065}"/>
              </a:ext>
            </a:extLst>
          </p:cNvPr>
          <p:cNvPicPr>
            <a:picLocks noChangeAspect="1"/>
          </p:cNvPicPr>
          <p:nvPr/>
        </p:nvPicPr>
        <p:blipFill>
          <a:blip r:embed="rId2"/>
          <a:stretch>
            <a:fillRect/>
          </a:stretch>
        </p:blipFill>
        <p:spPr>
          <a:xfrm>
            <a:off x="5128736" y="2256836"/>
            <a:ext cx="4503349" cy="2382228"/>
          </a:xfrm>
          <a:prstGeom prst="rect">
            <a:avLst/>
          </a:prstGeom>
        </p:spPr>
      </p:pic>
      <p:sp>
        <p:nvSpPr>
          <p:cNvPr id="2" name="タイトル 1">
            <a:extLst>
              <a:ext uri="{FF2B5EF4-FFF2-40B4-BE49-F238E27FC236}">
                <a16:creationId xmlns:a16="http://schemas.microsoft.com/office/drawing/2014/main" id="{527BA97A-89C0-8DDE-9D03-1C0D2E4B16F0}"/>
              </a:ext>
            </a:extLst>
          </p:cNvPr>
          <p:cNvSpPr>
            <a:spLocks noGrp="1"/>
          </p:cNvSpPr>
          <p:nvPr>
            <p:ph type="title"/>
          </p:nvPr>
        </p:nvSpPr>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(5) </a:t>
            </a:r>
            <a:r>
              <a:rPr lang="en-US" altLang="ja-JP" kern="0" dirty="0" err="1">
                <a:solidFill>
                  <a:prstClr val="black"/>
                </a:solidFill>
                <a:latin typeface="Yu Gothic UI"/>
                <a:ea typeface="Yu Gothic UI"/>
                <a:cs typeface="Arial" charset="0"/>
              </a:rPr>
              <a:t>Veramo</a:t>
            </a:r>
            <a:endParaRPr kumimoji="1" lang="ja-JP" altLang="en-US" dirty="0"/>
          </a:p>
        </p:txBody>
      </p:sp>
      <p:sp>
        <p:nvSpPr>
          <p:cNvPr id="3" name="テキスト プレースホルダー 2">
            <a:extLst>
              <a:ext uri="{FF2B5EF4-FFF2-40B4-BE49-F238E27FC236}">
                <a16:creationId xmlns:a16="http://schemas.microsoft.com/office/drawing/2014/main" id="{0232CB43-1B69-E7F5-838B-3909DB3D8B1F}"/>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17" name="表 16">
            <a:extLst>
              <a:ext uri="{FF2B5EF4-FFF2-40B4-BE49-F238E27FC236}">
                <a16:creationId xmlns:a16="http://schemas.microsoft.com/office/drawing/2014/main" id="{6E1FDA3D-A171-57ED-0A66-9DC9013D1A9F}"/>
              </a:ext>
            </a:extLst>
          </p:cNvPr>
          <p:cNvGraphicFramePr>
            <a:graphicFrameLocks noGrp="1"/>
          </p:cNvGraphicFramePr>
          <p:nvPr>
            <p:extLst>
              <p:ext uri="{D42A27DB-BD31-4B8C-83A1-F6EECF244321}">
                <p14:modId xmlns:p14="http://schemas.microsoft.com/office/powerpoint/2010/main" val="1771159360"/>
              </p:ext>
            </p:extLst>
          </p:nvPr>
        </p:nvGraphicFramePr>
        <p:xfrm>
          <a:off x="282477" y="2023000"/>
          <a:ext cx="4478059" cy="320040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250261">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t>公開元</a:t>
                      </a:r>
                      <a:endParaRPr kumimoji="1" lang="en-US" altLang="ja-JP" sz="12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indent="0" algn="l" defTabSz="990564" rtl="0" eaLnBrk="1" latinLnBrk="0" hangingPunct="1">
                        <a:buFont typeface="Arial" panose="020B0604020202020204" pitchFamily="34" charset="0"/>
                        <a:buNone/>
                      </a:pPr>
                      <a:r>
                        <a:rPr kumimoji="1" lang="en-US" altLang="ja-JP" sz="1200" kern="1200" dirty="0" err="1">
                          <a:solidFill>
                            <a:schemeClr val="tx1"/>
                          </a:solidFill>
                          <a:latin typeface="+mn-lt"/>
                          <a:ea typeface="+mn-ea"/>
                          <a:cs typeface="+mn-cs"/>
                        </a:rPr>
                        <a:t>Veramo</a:t>
                      </a:r>
                      <a:endParaRPr kumimoji="1" lang="ja-JP" altLang="en-US" sz="1200" kern="1200" dirty="0">
                        <a:solidFill>
                          <a:schemeClr val="tx1"/>
                        </a:solidFill>
                        <a:latin typeface="+mn-lt"/>
                        <a:ea typeface="+mn-ea"/>
                        <a:cs typeface="+mn-cs"/>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1918667">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ライブラリ名</a:t>
                      </a:r>
                      <a:r>
                        <a:rPr lang="en-US" altLang="ja-JP" sz="1200" dirty="0"/>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内容</a:t>
                      </a:r>
                      <a:endParaRPr lang="en-US" altLang="ja-JP" sz="120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err="1">
                          <a:latin typeface="+mn-ea"/>
                          <a:ea typeface="+mn-ea"/>
                          <a:hlinkClick r:id="rId3"/>
                        </a:rPr>
                        <a:t>Veramo</a:t>
                      </a:r>
                      <a:br>
                        <a:rPr kumimoji="1" lang="en-US" altLang="ja-JP" sz="1200" dirty="0">
                          <a:latin typeface="+mn-ea"/>
                          <a:ea typeface="+mn-ea"/>
                        </a:rPr>
                      </a:br>
                      <a:r>
                        <a:rPr kumimoji="1" lang="en-US" altLang="ja-JP" sz="1200" dirty="0" err="1">
                          <a:latin typeface="+mn-ea"/>
                          <a:ea typeface="+mn-ea"/>
                        </a:rPr>
                        <a:t>Veramo</a:t>
                      </a:r>
                      <a:r>
                        <a:rPr kumimoji="1" lang="en-US" altLang="ja-JP" sz="1200" dirty="0">
                          <a:latin typeface="+mn-ea"/>
                          <a:ea typeface="+mn-ea"/>
                        </a:rPr>
                        <a:t> </a:t>
                      </a:r>
                      <a:r>
                        <a:rPr kumimoji="1" lang="ja-JP" altLang="en-US" sz="1200" dirty="0">
                          <a:latin typeface="+mn-ea"/>
                          <a:ea typeface="+mn-ea"/>
                        </a:rPr>
                        <a:t>は、検証可能なデータと</a:t>
                      </a:r>
                      <a:r>
                        <a:rPr kumimoji="1" lang="en-US" altLang="ja-JP" sz="1200" dirty="0">
                          <a:latin typeface="+mn-ea"/>
                          <a:ea typeface="+mn-ea"/>
                        </a:rPr>
                        <a:t>SSI</a:t>
                      </a:r>
                      <a:r>
                        <a:rPr kumimoji="1" lang="ja-JP" altLang="en-US" sz="1200" dirty="0">
                          <a:latin typeface="+mn-ea"/>
                          <a:ea typeface="+mn-ea"/>
                        </a:rPr>
                        <a:t>のための</a:t>
                      </a:r>
                      <a:r>
                        <a:rPr kumimoji="1" lang="en-US" altLang="ja-JP" sz="1200" dirty="0">
                          <a:latin typeface="+mn-ea"/>
                          <a:ea typeface="+mn-ea"/>
                        </a:rPr>
                        <a:t>JavaScript </a:t>
                      </a:r>
                      <a:r>
                        <a:rPr kumimoji="1" lang="ja-JP" altLang="en-US" sz="1200" dirty="0">
                          <a:latin typeface="+mn-ea"/>
                          <a:ea typeface="+mn-ea"/>
                        </a:rPr>
                        <a:t>フレームワーク。柔軟なモジュール式に設計されており、プラグインによって拡張可能。以下の機能に対応されている</a:t>
                      </a:r>
                      <a:br>
                        <a:rPr kumimoji="1" lang="en-US" altLang="ja-JP" sz="1200" dirty="0">
                          <a:latin typeface="+mn-ea"/>
                          <a:ea typeface="+mn-ea"/>
                        </a:rPr>
                      </a:br>
                      <a:r>
                        <a:rPr kumimoji="1" lang="en-US" altLang="ja-JP" sz="1200" dirty="0">
                          <a:latin typeface="+mn-ea"/>
                          <a:ea typeface="+mn-ea"/>
                        </a:rPr>
                        <a:t>- </a:t>
                      </a:r>
                      <a:r>
                        <a:rPr kumimoji="1" lang="ja-JP" altLang="en-US" sz="1200" dirty="0">
                          <a:latin typeface="+mn-ea"/>
                          <a:ea typeface="+mn-ea"/>
                        </a:rPr>
                        <a:t>署名と暗号化のためのキーの作成と管理</a:t>
                      </a:r>
                      <a:br>
                        <a:rPr kumimoji="1" lang="en-US" altLang="ja-JP" sz="1200" dirty="0">
                          <a:latin typeface="+mn-ea"/>
                          <a:ea typeface="+mn-ea"/>
                        </a:rPr>
                      </a:br>
                      <a:r>
                        <a:rPr kumimoji="1" lang="en-US" altLang="ja-JP" sz="1200" dirty="0">
                          <a:latin typeface="+mn-ea"/>
                          <a:ea typeface="+mn-ea"/>
                        </a:rPr>
                        <a:t>- DID</a:t>
                      </a:r>
                      <a:r>
                        <a:rPr kumimoji="1" lang="ja-JP" altLang="en-US" sz="1200" dirty="0">
                          <a:latin typeface="+mn-ea"/>
                          <a:ea typeface="+mn-ea"/>
                        </a:rPr>
                        <a:t>の作成と管理</a:t>
                      </a:r>
                      <a:br>
                        <a:rPr kumimoji="1" lang="en-US" altLang="ja-JP" sz="1200" dirty="0">
                          <a:latin typeface="+mn-ea"/>
                          <a:ea typeface="+mn-ea"/>
                        </a:rPr>
                      </a:br>
                      <a:r>
                        <a:rPr kumimoji="1" lang="en-US" altLang="ja-JP" sz="1200" dirty="0">
                          <a:latin typeface="+mn-ea"/>
                          <a:ea typeface="+mn-ea"/>
                        </a:rPr>
                        <a:t>- VC</a:t>
                      </a:r>
                      <a:r>
                        <a:rPr kumimoji="1" lang="ja-JP" altLang="en-US" sz="1200" dirty="0">
                          <a:latin typeface="+mn-ea"/>
                          <a:ea typeface="+mn-ea"/>
                        </a:rPr>
                        <a:t>と</a:t>
                      </a:r>
                      <a:r>
                        <a:rPr kumimoji="1" lang="en-US" altLang="ja-JP" sz="1200" dirty="0">
                          <a:latin typeface="+mn-ea"/>
                          <a:ea typeface="+mn-ea"/>
                        </a:rPr>
                        <a:t>VP</a:t>
                      </a:r>
                      <a:r>
                        <a:rPr kumimoji="1" lang="ja-JP" altLang="en-US" sz="1200" dirty="0">
                          <a:latin typeface="+mn-ea"/>
                          <a:ea typeface="+mn-ea"/>
                        </a:rPr>
                        <a:t>の発行</a:t>
                      </a:r>
                      <a:br>
                        <a:rPr kumimoji="1" lang="en-US" altLang="ja-JP" sz="1200" dirty="0">
                          <a:latin typeface="+mn-ea"/>
                          <a:ea typeface="+mn-ea"/>
                        </a:rPr>
                      </a:br>
                      <a:r>
                        <a:rPr kumimoji="1" lang="en-US" altLang="ja-JP" sz="1200" dirty="0">
                          <a:latin typeface="+mn-ea"/>
                          <a:ea typeface="+mn-ea"/>
                        </a:rPr>
                        <a:t>- </a:t>
                      </a:r>
                      <a:r>
                        <a:rPr kumimoji="1" lang="ja-JP" altLang="en-US" sz="1200" dirty="0">
                          <a:latin typeface="+mn-ea"/>
                          <a:ea typeface="+mn-ea"/>
                        </a:rPr>
                        <a:t>選択的開示による資格情報の提示</a:t>
                      </a:r>
                      <a:br>
                        <a:rPr kumimoji="1" lang="en-US" altLang="ja-JP" sz="1200" dirty="0">
                          <a:latin typeface="+mn-ea"/>
                          <a:ea typeface="+mn-ea"/>
                        </a:rPr>
                      </a:br>
                      <a:r>
                        <a:rPr kumimoji="1" lang="en-US" altLang="ja-JP" sz="1200" dirty="0">
                          <a:latin typeface="+mn-ea"/>
                          <a:ea typeface="+mn-ea"/>
                        </a:rPr>
                        <a:t>- </a:t>
                      </a:r>
                      <a:r>
                        <a:rPr kumimoji="1" lang="en-US" altLang="ja-JP" sz="1200" dirty="0" err="1">
                          <a:latin typeface="+mn-ea"/>
                          <a:ea typeface="+mn-ea"/>
                        </a:rPr>
                        <a:t>DIDComm</a:t>
                      </a:r>
                      <a:r>
                        <a:rPr kumimoji="1" lang="ja-JP" altLang="en-US" sz="1200" dirty="0">
                          <a:latin typeface="+mn-ea"/>
                          <a:ea typeface="+mn-ea"/>
                        </a:rPr>
                        <a:t>によるエージェント間の通信データの受信、フィルタリング、保存、提供</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250261">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提供形態</a:t>
                      </a:r>
                      <a:endParaRPr lang="en-US" altLang="ja-JP" sz="1200" dirty="0"/>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lt"/>
                          <a:ea typeface="+mn-ea"/>
                          <a:cs typeface="+mn-cs"/>
                        </a:rPr>
                        <a:t>ソースコード</a:t>
                      </a:r>
                      <a:endParaRPr kumimoji="1" lang="en-US" altLang="ja-JP" sz="1200" kern="1200" dirty="0">
                        <a:solidFill>
                          <a:schemeClr val="tx1"/>
                        </a:solidFill>
                        <a:latin typeface="+mn-lt"/>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24547564"/>
                  </a:ext>
                </a:extLst>
              </a:tr>
              <a:tr h="250261">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ドキュメント</a:t>
                      </a:r>
                      <a:endParaRPr lang="en-US" altLang="ja-JP" sz="1200" dirty="0"/>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hlinkClick r:id="rId4"/>
                        </a:rPr>
                        <a:t>https://veramo.io/docs/basics/introduction</a:t>
                      </a:r>
                      <a:endParaRPr kumimoji="1" lang="en-US" altLang="ja-JP" sz="1200" dirty="0"/>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853746668"/>
                  </a:ext>
                </a:extLst>
              </a:tr>
              <a:tr h="250261">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t>ライセンス</a:t>
                      </a:r>
                      <a:endParaRPr lang="en-US" altLang="ja-JP" sz="1200" dirty="0"/>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t>Apache License Version 2.0</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19" name="正方形/長方形 18">
            <a:extLst>
              <a:ext uri="{FF2B5EF4-FFF2-40B4-BE49-F238E27FC236}">
                <a16:creationId xmlns:a16="http://schemas.microsoft.com/office/drawing/2014/main" id="{183B6AFD-5730-B380-DC90-33ED6C011221}"/>
              </a:ext>
            </a:extLst>
          </p:cNvPr>
          <p:cNvSpPr/>
          <p:nvPr/>
        </p:nvSpPr>
        <p:spPr bwMode="gray">
          <a:xfrm>
            <a:off x="5146161" y="1751413"/>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20" name="正方形/長方形 19">
            <a:extLst>
              <a:ext uri="{FF2B5EF4-FFF2-40B4-BE49-F238E27FC236}">
                <a16:creationId xmlns:a16="http://schemas.microsoft.com/office/drawing/2014/main" id="{124504A2-D1A2-7C24-0FFF-E75A4E4BCC93}"/>
              </a:ext>
            </a:extLst>
          </p:cNvPr>
          <p:cNvSpPr/>
          <p:nvPr/>
        </p:nvSpPr>
        <p:spPr bwMode="gray">
          <a:xfrm>
            <a:off x="283068" y="1751413"/>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21" name="正方形/長方形 20">
            <a:extLst>
              <a:ext uri="{FF2B5EF4-FFF2-40B4-BE49-F238E27FC236}">
                <a16:creationId xmlns:a16="http://schemas.microsoft.com/office/drawing/2014/main" id="{47C4FE0C-4E89-AA03-B422-4F2242454387}"/>
              </a:ext>
            </a:extLst>
          </p:cNvPr>
          <p:cNvSpPr/>
          <p:nvPr/>
        </p:nvSpPr>
        <p:spPr>
          <a:xfrm>
            <a:off x="5146160" y="2656248"/>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2" name="正方形/長方形 21">
            <a:extLst>
              <a:ext uri="{FF2B5EF4-FFF2-40B4-BE49-F238E27FC236}">
                <a16:creationId xmlns:a16="http://schemas.microsoft.com/office/drawing/2014/main" id="{E9860859-34AF-D224-997D-C0ECC97E5CE8}"/>
              </a:ext>
            </a:extLst>
          </p:cNvPr>
          <p:cNvSpPr/>
          <p:nvPr/>
        </p:nvSpPr>
        <p:spPr>
          <a:xfrm>
            <a:off x="8088897" y="2008857"/>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AE608A3C-D471-EDC5-8A18-3658E7AB206B}"/>
              </a:ext>
            </a:extLst>
          </p:cNvPr>
          <p:cNvSpPr txBox="1"/>
          <p:nvPr/>
        </p:nvSpPr>
        <p:spPr>
          <a:xfrm>
            <a:off x="8759075" y="2007572"/>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25" name="正方形/長方形 24">
            <a:extLst>
              <a:ext uri="{FF2B5EF4-FFF2-40B4-BE49-F238E27FC236}">
                <a16:creationId xmlns:a16="http://schemas.microsoft.com/office/drawing/2014/main" id="{45065D04-F825-2F3F-13BE-1FA1468CE8DF}"/>
              </a:ext>
            </a:extLst>
          </p:cNvPr>
          <p:cNvSpPr/>
          <p:nvPr/>
        </p:nvSpPr>
        <p:spPr>
          <a:xfrm>
            <a:off x="7028775" y="3372671"/>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6" name="正方形/長方形 25">
            <a:extLst>
              <a:ext uri="{FF2B5EF4-FFF2-40B4-BE49-F238E27FC236}">
                <a16:creationId xmlns:a16="http://schemas.microsoft.com/office/drawing/2014/main" id="{85103A91-4FF9-0CD9-0EEB-EDD5FBCA87A8}"/>
              </a:ext>
            </a:extLst>
          </p:cNvPr>
          <p:cNvSpPr/>
          <p:nvPr/>
        </p:nvSpPr>
        <p:spPr>
          <a:xfrm>
            <a:off x="5146160" y="3390039"/>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7" name="正方形/長方形 26">
            <a:extLst>
              <a:ext uri="{FF2B5EF4-FFF2-40B4-BE49-F238E27FC236}">
                <a16:creationId xmlns:a16="http://schemas.microsoft.com/office/drawing/2014/main" id="{E9FBA739-ACC6-BB1B-250E-A556437D4D8B}"/>
              </a:ext>
            </a:extLst>
          </p:cNvPr>
          <p:cNvSpPr/>
          <p:nvPr/>
        </p:nvSpPr>
        <p:spPr>
          <a:xfrm>
            <a:off x="5146160" y="4123830"/>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8" name="正方形/長方形 27">
            <a:extLst>
              <a:ext uri="{FF2B5EF4-FFF2-40B4-BE49-F238E27FC236}">
                <a16:creationId xmlns:a16="http://schemas.microsoft.com/office/drawing/2014/main" id="{748527E4-5A04-F47E-76EA-9A1A93DB523D}"/>
              </a:ext>
            </a:extLst>
          </p:cNvPr>
          <p:cNvSpPr/>
          <p:nvPr/>
        </p:nvSpPr>
        <p:spPr>
          <a:xfrm>
            <a:off x="7028775" y="2656248"/>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9" name="正方形/長方形 28">
            <a:extLst>
              <a:ext uri="{FF2B5EF4-FFF2-40B4-BE49-F238E27FC236}">
                <a16:creationId xmlns:a16="http://schemas.microsoft.com/office/drawing/2014/main" id="{EBC614E9-1476-9FE8-853E-C8F1A5253B0F}"/>
              </a:ext>
            </a:extLst>
          </p:cNvPr>
          <p:cNvSpPr/>
          <p:nvPr/>
        </p:nvSpPr>
        <p:spPr>
          <a:xfrm>
            <a:off x="7028775" y="4123830"/>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30" name="正方形/長方形 29">
            <a:extLst>
              <a:ext uri="{FF2B5EF4-FFF2-40B4-BE49-F238E27FC236}">
                <a16:creationId xmlns:a16="http://schemas.microsoft.com/office/drawing/2014/main" id="{D3A2E6C4-E3D6-FE19-DDC1-7A48B6A0E9B0}"/>
              </a:ext>
            </a:extLst>
          </p:cNvPr>
          <p:cNvSpPr/>
          <p:nvPr/>
        </p:nvSpPr>
        <p:spPr>
          <a:xfrm>
            <a:off x="8407227" y="2850682"/>
            <a:ext cx="1183843" cy="307599"/>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31" name="正方形/長方形 30">
            <a:extLst>
              <a:ext uri="{FF2B5EF4-FFF2-40B4-BE49-F238E27FC236}">
                <a16:creationId xmlns:a16="http://schemas.microsoft.com/office/drawing/2014/main" id="{5197D4C2-641D-76C2-FFE3-573D0805A213}"/>
              </a:ext>
            </a:extLst>
          </p:cNvPr>
          <p:cNvSpPr/>
          <p:nvPr/>
        </p:nvSpPr>
        <p:spPr>
          <a:xfrm>
            <a:off x="8407227" y="3577738"/>
            <a:ext cx="1183843" cy="307599"/>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32" name="コンテンツ プレースホルダー 2">
            <a:extLst>
              <a:ext uri="{FF2B5EF4-FFF2-40B4-BE49-F238E27FC236}">
                <a16:creationId xmlns:a16="http://schemas.microsoft.com/office/drawing/2014/main" id="{1FC21D98-ECBD-BB9A-FEAE-DC4E2FDC5E98}"/>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a:t>Ethereum</a:t>
            </a:r>
            <a:r>
              <a:rPr kumimoji="1" lang="ja-JP" altLang="en-US" dirty="0"/>
              <a:t>を利用した分散型デジタル</a:t>
            </a:r>
            <a:r>
              <a:rPr kumimoji="1" lang="en-US" altLang="ja-JP" dirty="0"/>
              <a:t>ID</a:t>
            </a:r>
            <a:r>
              <a:rPr kumimoji="1" lang="ja-JP" altLang="en-US" dirty="0"/>
              <a:t>サービス「</a:t>
            </a:r>
            <a:r>
              <a:rPr kumimoji="1" lang="en-US" altLang="ja-JP" dirty="0" err="1"/>
              <a:t>uPort</a:t>
            </a:r>
            <a:r>
              <a:rPr kumimoji="1" lang="ja-JP" altLang="en-US" dirty="0"/>
              <a:t>」から分割して設立されたプロジェクト。</a:t>
            </a:r>
            <a:r>
              <a:rPr kumimoji="1" lang="en-US" altLang="ja-JP" dirty="0"/>
              <a:t>W3C</a:t>
            </a:r>
            <a:r>
              <a:rPr kumimoji="1" lang="ja-JP" altLang="en-US" dirty="0"/>
              <a:t>と</a:t>
            </a:r>
            <a:r>
              <a:rPr kumimoji="1" lang="en-US" altLang="ja-JP" dirty="0"/>
              <a:t>DIF</a:t>
            </a:r>
            <a:r>
              <a:rPr kumimoji="1" lang="ja-JP" altLang="en-US" dirty="0"/>
              <a:t>と協力して開発されており、</a:t>
            </a:r>
            <a:r>
              <a:rPr kumimoji="1" lang="en-US" altLang="ja-JP" dirty="0"/>
              <a:t>DIF</a:t>
            </a:r>
            <a:r>
              <a:rPr kumimoji="1" lang="ja-JP" altLang="en-US" dirty="0"/>
              <a:t>の</a:t>
            </a:r>
            <a:r>
              <a:rPr kumimoji="1" lang="en-US" altLang="ja-JP" dirty="0" err="1"/>
              <a:t>Github</a:t>
            </a:r>
            <a:r>
              <a:rPr kumimoji="1" lang="ja-JP" altLang="en-US" dirty="0"/>
              <a:t>にソースコードが存在する</a:t>
            </a:r>
            <a:r>
              <a:rPr lang="ja-JP" altLang="en-US" dirty="0"/>
              <a:t>。</a:t>
            </a:r>
            <a:r>
              <a:rPr kumimoji="1" lang="ja-JP" altLang="en-US" dirty="0"/>
              <a:t>更新頻度は高い。</a:t>
            </a:r>
          </a:p>
          <a:p>
            <a:r>
              <a:rPr kumimoji="1" lang="ja-JP" altLang="en-US" dirty="0"/>
              <a:t>選択的開示は開発中で</a:t>
            </a:r>
            <a:r>
              <a:rPr kumimoji="1" lang="en-US" altLang="ja-JP" dirty="0"/>
              <a:t>SD-JWT</a:t>
            </a:r>
            <a:r>
              <a:rPr kumimoji="1" lang="ja-JP" altLang="en-US" dirty="0"/>
              <a:t>、</a:t>
            </a:r>
            <a:r>
              <a:rPr kumimoji="1" lang="en-US" altLang="ja-JP" dirty="0"/>
              <a:t>JSON-LD BBS+</a:t>
            </a:r>
            <a:r>
              <a:rPr kumimoji="1" lang="ja-JP" altLang="en-US" dirty="0"/>
              <a:t>が検討されている（</a:t>
            </a:r>
            <a:r>
              <a:rPr kumimoji="1" lang="en-US" altLang="ja-JP" dirty="0"/>
              <a:t>SD-JWT</a:t>
            </a:r>
            <a:r>
              <a:rPr kumimoji="1" lang="ja-JP" altLang="en-US" dirty="0"/>
              <a:t>はソースコードが存在）。</a:t>
            </a:r>
          </a:p>
          <a:p>
            <a:endParaRPr kumimoji="1" lang="en-US" altLang="ja-JP" dirty="0"/>
          </a:p>
        </p:txBody>
      </p:sp>
    </p:spTree>
    <p:extLst>
      <p:ext uri="{BB962C8B-B14F-4D97-AF65-F5344CB8AC3E}">
        <p14:creationId xmlns:p14="http://schemas.microsoft.com/office/powerpoint/2010/main" val="36495922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03044EE3-74FC-2BC0-64FC-9BC6438B1CD9}"/>
              </a:ext>
            </a:extLst>
          </p:cNvPr>
          <p:cNvPicPr>
            <a:picLocks noChangeAspect="1"/>
          </p:cNvPicPr>
          <p:nvPr/>
        </p:nvPicPr>
        <p:blipFill>
          <a:blip r:embed="rId2"/>
          <a:stretch>
            <a:fillRect/>
          </a:stretch>
        </p:blipFill>
        <p:spPr>
          <a:xfrm>
            <a:off x="5132940" y="2252456"/>
            <a:ext cx="4486619" cy="2373378"/>
          </a:xfrm>
          <a:prstGeom prst="rect">
            <a:avLst/>
          </a:prstGeom>
        </p:spPr>
      </p:pic>
      <p:sp>
        <p:nvSpPr>
          <p:cNvPr id="2" name="タイトル 1">
            <a:extLst>
              <a:ext uri="{FF2B5EF4-FFF2-40B4-BE49-F238E27FC236}">
                <a16:creationId xmlns:a16="http://schemas.microsoft.com/office/drawing/2014/main" id="{FFF92175-D900-5C59-0A97-CBDF901F8E90}"/>
              </a:ext>
            </a:extLst>
          </p:cNvPr>
          <p:cNvSpPr>
            <a:spLocks noGrp="1"/>
          </p:cNvSpPr>
          <p:nvPr>
            <p:ph type="title"/>
          </p:nvPr>
        </p:nvSpPr>
        <p:spPr>
          <a:xfrm>
            <a:off x="273050" y="439237"/>
            <a:ext cx="7848302" cy="246221"/>
          </a:xfrm>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(6) </a:t>
            </a:r>
            <a:r>
              <a:rPr kumimoji="1" lang="en-US" altLang="ja-JP" dirty="0" err="1"/>
              <a:t>Sphereon</a:t>
            </a:r>
            <a:r>
              <a:rPr kumimoji="1" lang="en-US" altLang="ja-JP" dirty="0"/>
              <a:t> Open Source</a:t>
            </a:r>
            <a:endParaRPr kumimoji="1" lang="ja-JP" altLang="en-US" dirty="0"/>
          </a:p>
        </p:txBody>
      </p:sp>
      <p:sp>
        <p:nvSpPr>
          <p:cNvPr id="3" name="テキスト プレースホルダー 2">
            <a:extLst>
              <a:ext uri="{FF2B5EF4-FFF2-40B4-BE49-F238E27FC236}">
                <a16:creationId xmlns:a16="http://schemas.microsoft.com/office/drawing/2014/main" id="{CBE6F927-1109-709A-582E-4DA92135ABBD}"/>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4" name="表 3">
            <a:extLst>
              <a:ext uri="{FF2B5EF4-FFF2-40B4-BE49-F238E27FC236}">
                <a16:creationId xmlns:a16="http://schemas.microsoft.com/office/drawing/2014/main" id="{60FAA98E-D9C6-DF98-A6AB-36C392D9512C}"/>
              </a:ext>
            </a:extLst>
          </p:cNvPr>
          <p:cNvGraphicFramePr>
            <a:graphicFrameLocks noGrp="1"/>
          </p:cNvGraphicFramePr>
          <p:nvPr>
            <p:extLst>
              <p:ext uri="{D42A27DB-BD31-4B8C-83A1-F6EECF244321}">
                <p14:modId xmlns:p14="http://schemas.microsoft.com/office/powerpoint/2010/main" val="2132286606"/>
              </p:ext>
            </p:extLst>
          </p:nvPr>
        </p:nvGraphicFramePr>
        <p:xfrm>
          <a:off x="282477" y="2022999"/>
          <a:ext cx="4478059" cy="303276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23631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公開元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err="1">
                          <a:latin typeface="+mn-ea"/>
                          <a:ea typeface="+mn-ea"/>
                        </a:rPr>
                        <a:t>Sphereon</a:t>
                      </a:r>
                      <a:r>
                        <a:rPr kumimoji="1" lang="en-US" altLang="ja-JP" sz="1200" dirty="0">
                          <a:latin typeface="+mn-ea"/>
                          <a:ea typeface="+mn-ea"/>
                        </a:rPr>
                        <a:t> Open Source</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470876">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ライブラリ名</a:t>
                      </a:r>
                      <a:r>
                        <a:rPr lang="en-US" altLang="ja-JP" sz="1200" dirty="0">
                          <a:latin typeface="+mn-ea"/>
                          <a:ea typeface="+mn-ea"/>
                        </a:rPr>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内容</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hlinkClick r:id="rId3"/>
                        </a:rPr>
                        <a:t>SSI-SDK</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4"/>
                        </a:rPr>
                        <a:t>OID4VCI</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5"/>
                        </a:rPr>
                        <a:t>SIOP-OID4VP</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err="1">
                          <a:latin typeface="+mn-ea"/>
                          <a:ea typeface="+mn-ea"/>
                          <a:hlinkClick r:id="rId6"/>
                        </a:rPr>
                        <a:t>ssi</a:t>
                      </a:r>
                      <a:r>
                        <a:rPr kumimoji="1" lang="en-US" altLang="ja-JP" sz="1200" dirty="0">
                          <a:latin typeface="+mn-ea"/>
                          <a:ea typeface="+mn-ea"/>
                          <a:hlinkClick r:id="rId6"/>
                        </a:rPr>
                        <a:t>-mobile-wallet</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err="1">
                          <a:latin typeface="+mn-ea"/>
                          <a:ea typeface="+mn-ea"/>
                          <a:hlinkClick r:id="rId7"/>
                        </a:rPr>
                        <a:t>eidas</a:t>
                      </a:r>
                      <a:r>
                        <a:rPr kumimoji="1" lang="en-US" altLang="ja-JP" sz="1200" dirty="0">
                          <a:latin typeface="+mn-ea"/>
                          <a:ea typeface="+mn-ea"/>
                          <a:hlinkClick r:id="rId7"/>
                        </a:rPr>
                        <a:t>-signature-client</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8"/>
                        </a:rPr>
                        <a:t>Presentation Exchange v1 and v2 TypeScript Library</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提供形態</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ea"/>
                          <a:ea typeface="+mn-ea"/>
                          <a:cs typeface="+mn-cs"/>
                        </a:rPr>
                        <a:t>ソースコード</a:t>
                      </a:r>
                      <a:endParaRPr kumimoji="1" lang="en-US" altLang="ja-JP" sz="1200" kern="1200" dirty="0">
                        <a:solidFill>
                          <a:schemeClr val="tx1"/>
                        </a:solidFill>
                        <a:latin typeface="+mn-ea"/>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24547564"/>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ドキュメント</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hlinkClick r:id="rId3"/>
                        </a:rPr>
                        <a:t>https://github.com/Sphereon-Opensource/SSI-SDK</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3746668"/>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ライセンス</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latin typeface="+mn-ea"/>
                          <a:ea typeface="+mn-ea"/>
                        </a:rPr>
                        <a:t>Apache License Version 2.0</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6" name="正方形/長方形 5">
            <a:extLst>
              <a:ext uri="{FF2B5EF4-FFF2-40B4-BE49-F238E27FC236}">
                <a16:creationId xmlns:a16="http://schemas.microsoft.com/office/drawing/2014/main" id="{3BEEA766-FEC7-2D93-B696-ED4DF7D688BD}"/>
              </a:ext>
            </a:extLst>
          </p:cNvPr>
          <p:cNvSpPr/>
          <p:nvPr/>
        </p:nvSpPr>
        <p:spPr bwMode="gray">
          <a:xfrm>
            <a:off x="5146161" y="1751413"/>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7" name="正方形/長方形 6">
            <a:extLst>
              <a:ext uri="{FF2B5EF4-FFF2-40B4-BE49-F238E27FC236}">
                <a16:creationId xmlns:a16="http://schemas.microsoft.com/office/drawing/2014/main" id="{6531E873-A39A-78F2-ABA3-093715CBA559}"/>
              </a:ext>
            </a:extLst>
          </p:cNvPr>
          <p:cNvSpPr/>
          <p:nvPr/>
        </p:nvSpPr>
        <p:spPr bwMode="gray">
          <a:xfrm>
            <a:off x="283068" y="1751413"/>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8" name="正方形/長方形 7">
            <a:extLst>
              <a:ext uri="{FF2B5EF4-FFF2-40B4-BE49-F238E27FC236}">
                <a16:creationId xmlns:a16="http://schemas.microsoft.com/office/drawing/2014/main" id="{CFAEC1D8-BDC4-809A-D976-D012F2B10656}"/>
              </a:ext>
            </a:extLst>
          </p:cNvPr>
          <p:cNvSpPr/>
          <p:nvPr/>
        </p:nvSpPr>
        <p:spPr>
          <a:xfrm>
            <a:off x="5146160" y="2656248"/>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 name="正方形/長方形 8">
            <a:extLst>
              <a:ext uri="{FF2B5EF4-FFF2-40B4-BE49-F238E27FC236}">
                <a16:creationId xmlns:a16="http://schemas.microsoft.com/office/drawing/2014/main" id="{2FADE6E8-EA61-71C2-CA1A-016FAEC7AA9D}"/>
              </a:ext>
            </a:extLst>
          </p:cNvPr>
          <p:cNvSpPr/>
          <p:nvPr/>
        </p:nvSpPr>
        <p:spPr>
          <a:xfrm>
            <a:off x="8088897" y="2008857"/>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38708129-A7E3-5C48-4D6C-C869F0ACC55A}"/>
              </a:ext>
            </a:extLst>
          </p:cNvPr>
          <p:cNvSpPr txBox="1"/>
          <p:nvPr/>
        </p:nvSpPr>
        <p:spPr>
          <a:xfrm>
            <a:off x="8759075" y="2007572"/>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11" name="正方形/長方形 10">
            <a:extLst>
              <a:ext uri="{FF2B5EF4-FFF2-40B4-BE49-F238E27FC236}">
                <a16:creationId xmlns:a16="http://schemas.microsoft.com/office/drawing/2014/main" id="{F124FEB7-0F87-06A9-F588-99162329A20D}"/>
              </a:ext>
            </a:extLst>
          </p:cNvPr>
          <p:cNvSpPr/>
          <p:nvPr/>
        </p:nvSpPr>
        <p:spPr>
          <a:xfrm>
            <a:off x="7028775" y="2656247"/>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2" name="正方形/長方形 11">
            <a:extLst>
              <a:ext uri="{FF2B5EF4-FFF2-40B4-BE49-F238E27FC236}">
                <a16:creationId xmlns:a16="http://schemas.microsoft.com/office/drawing/2014/main" id="{2A413295-64BC-13FD-BCA9-8834F4D30A52}"/>
              </a:ext>
            </a:extLst>
          </p:cNvPr>
          <p:cNvSpPr/>
          <p:nvPr/>
        </p:nvSpPr>
        <p:spPr>
          <a:xfrm>
            <a:off x="5146160" y="3390039"/>
            <a:ext cx="61361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8" name="コンテンツ プレースホルダー 2">
            <a:extLst>
              <a:ext uri="{FF2B5EF4-FFF2-40B4-BE49-F238E27FC236}">
                <a16:creationId xmlns:a16="http://schemas.microsoft.com/office/drawing/2014/main" id="{E5BC9CE4-B1BC-D70B-7577-1C038A6D6693}"/>
              </a:ext>
            </a:extLst>
          </p:cNvPr>
          <p:cNvSpPr txBox="1">
            <a:spLocks/>
          </p:cNvSpPr>
          <p:nvPr/>
        </p:nvSpPr>
        <p:spPr>
          <a:xfrm>
            <a:off x="273050" y="908050"/>
            <a:ext cx="9359900" cy="489896"/>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ja-JP" altLang="en-US" dirty="0"/>
              <a:t>行政、医療、臨床試験、モビリティ、教育、その他の業界向けのデータ交換ソリューションであり、ウォレット機能、</a:t>
            </a:r>
            <a:r>
              <a:rPr kumimoji="1" lang="en-US" altLang="ja-JP" dirty="0"/>
              <a:t>SIOPv2</a:t>
            </a:r>
            <a:r>
              <a:rPr kumimoji="1" lang="ja-JP" altLang="en-US" dirty="0"/>
              <a:t>に準拠したデータ交換、</a:t>
            </a:r>
            <a:r>
              <a:rPr kumimoji="1" lang="en-US" altLang="ja-JP" dirty="0" err="1"/>
              <a:t>eIDAS</a:t>
            </a:r>
            <a:r>
              <a:rPr kumimoji="1" lang="ja-JP" altLang="en-US" dirty="0"/>
              <a:t>に準拠した署名クライアント、</a:t>
            </a:r>
            <a:r>
              <a:rPr kumimoji="1" lang="en-US" altLang="ja-JP" dirty="0"/>
              <a:t>SSI SDK</a:t>
            </a:r>
            <a:r>
              <a:rPr kumimoji="1" lang="ja-JP" altLang="en-US" dirty="0"/>
              <a:t>等を提供している。</a:t>
            </a:r>
            <a:endParaRPr kumimoji="1" lang="en-US" altLang="ja-JP" dirty="0"/>
          </a:p>
          <a:p>
            <a:r>
              <a:rPr kumimoji="1" lang="ja-JP" altLang="en-US" dirty="0"/>
              <a:t>選択的開示機能はまだ実装されていないものの、</a:t>
            </a:r>
            <a:r>
              <a:rPr kumimoji="1" lang="en-US" altLang="ja-JP" dirty="0"/>
              <a:t>BSS+</a:t>
            </a:r>
            <a:r>
              <a:rPr kumimoji="1" lang="ja-JP" altLang="en-US" dirty="0"/>
              <a:t>署名ベースの検討はされている模様。</a:t>
            </a:r>
            <a:r>
              <a:rPr lang="ja-JP" altLang="en-US" dirty="0"/>
              <a:t>更新頻度は高い</a:t>
            </a:r>
            <a:endParaRPr kumimoji="1" lang="ja-JP" altLang="en-US" dirty="0"/>
          </a:p>
          <a:p>
            <a:endParaRPr kumimoji="1" lang="en-US" altLang="ja-JP" dirty="0"/>
          </a:p>
        </p:txBody>
      </p:sp>
    </p:spTree>
    <p:extLst>
      <p:ext uri="{BB962C8B-B14F-4D97-AF65-F5344CB8AC3E}">
        <p14:creationId xmlns:p14="http://schemas.microsoft.com/office/powerpoint/2010/main" val="12342715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18ABBAA1-50FD-479D-0909-DFC70ACEACEC}"/>
              </a:ext>
            </a:extLst>
          </p:cNvPr>
          <p:cNvPicPr>
            <a:picLocks noChangeAspect="1"/>
          </p:cNvPicPr>
          <p:nvPr/>
        </p:nvPicPr>
        <p:blipFill>
          <a:blip r:embed="rId2"/>
          <a:stretch>
            <a:fillRect/>
          </a:stretch>
        </p:blipFill>
        <p:spPr>
          <a:xfrm>
            <a:off x="5128974" y="2868963"/>
            <a:ext cx="4478059" cy="2368849"/>
          </a:xfrm>
          <a:prstGeom prst="rect">
            <a:avLst/>
          </a:prstGeom>
        </p:spPr>
      </p:pic>
      <p:sp>
        <p:nvSpPr>
          <p:cNvPr id="2" name="タイトル 1">
            <a:extLst>
              <a:ext uri="{FF2B5EF4-FFF2-40B4-BE49-F238E27FC236}">
                <a16:creationId xmlns:a16="http://schemas.microsoft.com/office/drawing/2014/main" id="{FFF92175-D900-5C59-0A97-CBDF901F8E90}"/>
              </a:ext>
            </a:extLst>
          </p:cNvPr>
          <p:cNvSpPr>
            <a:spLocks noGrp="1"/>
          </p:cNvSpPr>
          <p:nvPr>
            <p:ph type="title"/>
          </p:nvPr>
        </p:nvSpPr>
        <p:spPr>
          <a:xfrm>
            <a:off x="273050" y="439237"/>
            <a:ext cx="7848302" cy="246221"/>
          </a:xfrm>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(7) OWND Project</a:t>
            </a:r>
            <a:endParaRPr lang="en-US" altLang="ja-JP" dirty="0"/>
          </a:p>
        </p:txBody>
      </p:sp>
      <p:sp>
        <p:nvSpPr>
          <p:cNvPr id="3" name="テキスト プレースホルダー 2">
            <a:extLst>
              <a:ext uri="{FF2B5EF4-FFF2-40B4-BE49-F238E27FC236}">
                <a16:creationId xmlns:a16="http://schemas.microsoft.com/office/drawing/2014/main" id="{CBE6F927-1109-709A-582E-4DA92135ABBD}"/>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4" name="表 3">
            <a:extLst>
              <a:ext uri="{FF2B5EF4-FFF2-40B4-BE49-F238E27FC236}">
                <a16:creationId xmlns:a16="http://schemas.microsoft.com/office/drawing/2014/main" id="{60FAA98E-D9C6-DF98-A6AB-36C392D9512C}"/>
              </a:ext>
            </a:extLst>
          </p:cNvPr>
          <p:cNvGraphicFramePr>
            <a:graphicFrameLocks noGrp="1"/>
          </p:cNvGraphicFramePr>
          <p:nvPr>
            <p:extLst>
              <p:ext uri="{D42A27DB-BD31-4B8C-83A1-F6EECF244321}">
                <p14:modId xmlns:p14="http://schemas.microsoft.com/office/powerpoint/2010/main" val="2614700824"/>
              </p:ext>
            </p:extLst>
          </p:nvPr>
        </p:nvGraphicFramePr>
        <p:xfrm>
          <a:off x="282477" y="2631941"/>
          <a:ext cx="4478059" cy="399288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23631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公開元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altLang="ja-JP" sz="1200" dirty="0">
                          <a:latin typeface="+mn-ea"/>
                          <a:ea typeface="+mn-ea"/>
                        </a:rPr>
                        <a:t>OWND Project</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470876">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ライブラリ名</a:t>
                      </a:r>
                      <a:r>
                        <a:rPr lang="en-US" altLang="ja-JP" sz="1200" dirty="0">
                          <a:latin typeface="+mn-ea"/>
                          <a:ea typeface="+mn-ea"/>
                        </a:rPr>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内容</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a:buChar char="•"/>
                      </a:pPr>
                      <a:r>
                        <a:rPr lang="en-US" sz="1200" b="1" i="0" u="none" strike="noStrike" noProof="0" dirty="0"/>
                        <a:t>OWND Wallet</a:t>
                      </a:r>
                      <a:br>
                        <a:rPr lang="en-US" sz="1200" b="1" i="0" u="none" strike="noStrike" noProof="0" dirty="0"/>
                      </a:br>
                      <a:r>
                        <a:rPr lang="ja-JP" altLang="en-US" sz="1200" b="0" i="0" u="none" strike="noStrike" noProof="0" dirty="0"/>
                        <a:t>ホワイトラベルのデジタルアイデンティティウォレット</a:t>
                      </a:r>
                      <a:endParaRPr lang="en-US" sz="1200" b="0" i="0" u="none" strike="noStrike" noProof="0" dirty="0"/>
                    </a:p>
                    <a:p>
                      <a:pPr marL="628650" lvl="1" indent="-171450">
                        <a:spcBef>
                          <a:spcPts val="600"/>
                        </a:spcBef>
                        <a:buFont typeface="Arial"/>
                        <a:buChar char="•"/>
                      </a:pPr>
                      <a:r>
                        <a:rPr lang="en-US" sz="1200" b="0" i="0" u="none" strike="noStrike" noProof="0" dirty="0">
                          <a:hlinkClick r:id="rId3"/>
                        </a:rPr>
                        <a:t>OWND-Wallet-iOS</a:t>
                      </a:r>
                      <a:endParaRPr lang="ja-JP" altLang="en-US" dirty="0"/>
                    </a:p>
                    <a:p>
                      <a:pPr marL="628650" lvl="1" indent="-171450">
                        <a:spcBef>
                          <a:spcPts val="600"/>
                        </a:spcBef>
                        <a:buFont typeface="Arial" panose="020B0604020202020204" pitchFamily="34" charset="0"/>
                        <a:buChar char="•"/>
                      </a:pPr>
                      <a:r>
                        <a:rPr lang="en-US" sz="1200" b="0" i="0" u="none" strike="noStrike" noProof="0" dirty="0">
                          <a:latin typeface="Calibri Light"/>
                          <a:hlinkClick r:id="rId4"/>
                        </a:rPr>
                        <a:t>OWND-Wallet-Android</a:t>
                      </a:r>
                      <a:endParaRPr lang="en-US" sz="1200" b="0" i="0" u="none" strike="noStrike" noProof="0" dirty="0">
                        <a:latin typeface="Calibri Light"/>
                      </a:endParaRPr>
                    </a:p>
                    <a:p>
                      <a:pPr marL="171450" lvl="0" indent="-171450">
                        <a:spcBef>
                          <a:spcPts val="600"/>
                        </a:spcBef>
                        <a:buFont typeface="Arial" panose="020B0604020202020204" pitchFamily="34" charset="0"/>
                        <a:buChar char="•"/>
                      </a:pPr>
                      <a:r>
                        <a:rPr lang="en-US" sz="1200" b="1" i="0" u="none" strike="noStrike" noProof="0" dirty="0">
                          <a:latin typeface="Calibri Light"/>
                        </a:rPr>
                        <a:t>OWND-Project-VCI</a:t>
                      </a:r>
                      <a:br>
                        <a:rPr lang="en-US" sz="1200" b="1" i="0" u="none" strike="noStrike" noProof="0" dirty="0">
                          <a:latin typeface="Calibri Light"/>
                        </a:rPr>
                      </a:br>
                      <a:r>
                        <a:rPr lang="ja-JP" altLang="en-US" sz="1200" b="0" i="0" u="none" strike="noStrike" noProof="0" dirty="0">
                          <a:latin typeface="Calibri Light"/>
                        </a:rPr>
                        <a:t>デジタルアイデンティティ発行サービスとサンプルコード</a:t>
                      </a:r>
                      <a:endParaRPr lang="en-US" sz="1200" b="0" i="0" u="none" strike="noStrike" noProof="0" dirty="0">
                        <a:latin typeface="Calibri Light"/>
                      </a:endParaRPr>
                    </a:p>
                    <a:p>
                      <a:pPr marL="628650" lvl="1" indent="-171450">
                        <a:spcBef>
                          <a:spcPts val="600"/>
                        </a:spcBef>
                        <a:buFont typeface="Arial" panose="020B0604020202020204" pitchFamily="34" charset="0"/>
                        <a:buChar char="•"/>
                      </a:pPr>
                      <a:r>
                        <a:rPr lang="en-US" sz="1200" b="0" i="0" u="none" strike="noStrike" noProof="0" dirty="0">
                          <a:hlinkClick r:id="rId5"/>
                        </a:rPr>
                        <a:t>OWND-Project-VCI</a:t>
                      </a:r>
                      <a:endParaRPr lang="en-US" sz="1200" b="0" i="0" u="none" strike="noStrike" noProof="0" dirty="0"/>
                    </a:p>
                    <a:p>
                      <a:pPr marL="171450" lvl="0" indent="-171450">
                        <a:spcBef>
                          <a:spcPts val="600"/>
                        </a:spcBef>
                        <a:buFont typeface="Arial" panose="020B0604020202020204" pitchFamily="34" charset="0"/>
                        <a:buChar char="•"/>
                      </a:pPr>
                      <a:r>
                        <a:rPr lang="en-US" sz="1200" b="1" i="0" u="none" strike="noStrike" noProof="0" dirty="0"/>
                        <a:t>OWND Messenger</a:t>
                      </a:r>
                      <a:br>
                        <a:rPr lang="en-US" sz="1200" b="1" i="0" u="none" strike="noStrike" noProof="0" dirty="0"/>
                      </a:br>
                      <a:r>
                        <a:rPr lang="ja-JP" altLang="en-US" sz="1200" b="0" i="0" u="none" strike="noStrike" noProof="0" dirty="0"/>
                        <a:t>アイデンティティ管理可能なメッセージングアプリ</a:t>
                      </a:r>
                      <a:endParaRPr lang="en-US" sz="1200" b="0" i="0" u="none" strike="noStrike" noProof="0" dirty="0"/>
                    </a:p>
                    <a:p>
                      <a:pPr marL="628650" lvl="1" indent="-171450">
                        <a:spcBef>
                          <a:spcPts val="600"/>
                        </a:spcBef>
                        <a:buFont typeface="Arial" panose="020B0604020202020204" pitchFamily="34" charset="0"/>
                        <a:buChar char="•"/>
                      </a:pPr>
                      <a:r>
                        <a:rPr lang="en-US" sz="1200" b="0" i="0" u="none" strike="noStrike" noProof="0" dirty="0">
                          <a:hlinkClick r:id="rId6"/>
                        </a:rPr>
                        <a:t>OWND-Messenger-Server</a:t>
                      </a:r>
                      <a:endParaRPr lang="en-US" sz="1200" b="0" i="0" u="none" strike="noStrike" noProof="0" dirty="0"/>
                    </a:p>
                    <a:p>
                      <a:pPr marL="628650" lvl="1" indent="-171450">
                        <a:spcBef>
                          <a:spcPts val="600"/>
                        </a:spcBef>
                        <a:buFont typeface="Arial" panose="020B0604020202020204" pitchFamily="34" charset="0"/>
                        <a:buChar char="•"/>
                      </a:pPr>
                      <a:r>
                        <a:rPr lang="en-US" sz="1200" b="0" i="0" u="none" strike="noStrike" noProof="0" dirty="0">
                          <a:latin typeface="Calibri Light"/>
                          <a:hlinkClick r:id="rId7"/>
                        </a:rPr>
                        <a:t>OWND-Messenger-Client</a:t>
                      </a:r>
                      <a:endParaRPr lang="en-US" sz="1200" b="0" i="0" u="none" strike="noStrike" noProof="0" dirty="0">
                        <a:latin typeface="Calibri Light"/>
                      </a:endParaRPr>
                    </a:p>
                    <a:p>
                      <a:pPr marL="628650" lvl="1" indent="-171450">
                        <a:spcBef>
                          <a:spcPts val="600"/>
                        </a:spcBef>
                        <a:buFont typeface="Arial" panose="020B0604020202020204" pitchFamily="34" charset="0"/>
                        <a:buChar char="•"/>
                      </a:pPr>
                      <a:r>
                        <a:rPr lang="en-US" sz="1200" b="0" i="0" u="none" strike="noStrike" noProof="0" dirty="0">
                          <a:hlinkClick r:id="rId8"/>
                        </a:rPr>
                        <a:t>OWND-Messenger-React-SDK</a:t>
                      </a:r>
                      <a:endParaRPr lang="en-US" sz="1200" b="0" i="0" u="none" strike="noStrike" noProof="0"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提供形態</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ea"/>
                          <a:ea typeface="+mn-ea"/>
                          <a:cs typeface="+mn-cs"/>
                        </a:rPr>
                        <a:t>ソースコード</a:t>
                      </a:r>
                      <a:endParaRPr kumimoji="1" lang="en-US" altLang="ja-JP" sz="1200" kern="1200" dirty="0">
                        <a:solidFill>
                          <a:schemeClr val="tx1"/>
                        </a:solidFill>
                        <a:latin typeface="+mn-ea"/>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24547564"/>
                  </a:ext>
                </a:extLst>
              </a:tr>
              <a:tr h="236318">
                <a:tc>
                  <a:txBody>
                    <a:bodyPr/>
                    <a:lstStyle/>
                    <a:p>
                      <a:pPr marL="0" marR="0" lvl="0" indent="0" algn="l" defTabSz="990564" rtl="0">
                        <a:lnSpc>
                          <a:spcPct val="100000"/>
                        </a:lnSpc>
                        <a:spcBef>
                          <a:spcPts val="0"/>
                        </a:spcBef>
                        <a:spcAft>
                          <a:spcPts val="0"/>
                        </a:spcAft>
                        <a:buClrTx/>
                        <a:buSzTx/>
                        <a:buFontTx/>
                        <a:buNone/>
                        <a:tabLst/>
                        <a:defRPr/>
                      </a:pPr>
                      <a:r>
                        <a:rPr lang="ja-JP" altLang="en-US" sz="1200" dirty="0">
                          <a:latin typeface="+mn-ea"/>
                          <a:ea typeface="+mn-ea"/>
                        </a:rPr>
                        <a:t>ドキュメント</a:t>
                      </a:r>
                      <a:endParaRPr lang="en-US" altLang="ja-JP" sz="1200">
                        <a:latin typeface="+mn-ea"/>
                        <a:ea typeface="+mn-ea"/>
                      </a:endParaRPr>
                    </a:p>
                  </a:txBody>
                  <a:tcPr>
                    <a:lnL w="12700">
                      <a:solidFill>
                        <a:sysClr val="windowText" lastClr="000000"/>
                      </a:solidFill>
                    </a:lnL>
                    <a:lnR w="12700">
                      <a:solidFill>
                        <a:sysClr val="windowText" lastClr="000000"/>
                      </a:solidFill>
                    </a:lnR>
                    <a:lnT w="12700">
                      <a:solidFill>
                        <a:sysClr val="windowText" lastClr="000000"/>
                      </a:solidFill>
                    </a:lnT>
                    <a:lnB w="12700">
                      <a:solidFill>
                        <a:sysClr val="windowText" lastClr="000000"/>
                      </a:solidFill>
                    </a:lnB>
                    <a:lnTlToBr w="0">
                      <a:noFill/>
                    </a:lnTlToBr>
                    <a:lnBlToTr w="0">
                      <a:noFill/>
                    </a:lnBlToTr>
                    <a:solidFill>
                      <a:schemeClr val="accent1">
                        <a:lumMod val="20000"/>
                        <a:lumOff val="80000"/>
                      </a:schemeClr>
                    </a:solidFill>
                  </a:tcPr>
                </a:tc>
                <a:tc>
                  <a:txBody>
                    <a:bodyPr/>
                    <a:lstStyle/>
                    <a:p>
                      <a:pPr marL="0" marR="0" lvl="0" indent="0" algn="l">
                        <a:lnSpc>
                          <a:spcPct val="100000"/>
                        </a:lnSpc>
                        <a:spcBef>
                          <a:spcPts val="0"/>
                        </a:spcBef>
                        <a:spcAft>
                          <a:spcPts val="0"/>
                        </a:spcAft>
                        <a:buNone/>
                      </a:pPr>
                      <a:r>
                        <a:rPr lang="en-US" sz="1200" b="0" i="0" u="none" strike="noStrike" baseline="0" noProof="0" dirty="0">
                          <a:solidFill>
                            <a:srgbClr val="000000"/>
                          </a:solidFill>
                          <a:latin typeface="Yu Gothic UI"/>
                          <a:hlinkClick r:id="rId9"/>
                        </a:rPr>
                        <a:t>https://github.com/OWND-Project/whitepaper</a:t>
                      </a:r>
                      <a:endParaRPr lang="en-US" sz="1200" b="0" i="0" u="none" strike="noStrike" baseline="0" noProof="0" dirty="0">
                        <a:solidFill>
                          <a:srgbClr val="000000"/>
                        </a:solidFill>
                        <a:latin typeface="Yu Gothic UI"/>
                      </a:endParaRPr>
                    </a:p>
                  </a:txBody>
                  <a:tcPr>
                    <a:lnL w="12700">
                      <a:solidFill>
                        <a:sysClr val="windowText" lastClr="000000"/>
                      </a:solidFill>
                    </a:lnL>
                    <a:lnR w="12700">
                      <a:solidFill>
                        <a:sysClr val="windowText" lastClr="000000"/>
                      </a:solidFill>
                    </a:lnR>
                    <a:lnT w="12700">
                      <a:solidFill>
                        <a:sysClr val="windowText" lastClr="000000"/>
                      </a:solidFill>
                    </a:lnT>
                    <a:lnB w="12700">
                      <a:solidFill>
                        <a:sysClr val="windowText" lastClr="000000"/>
                      </a:solidFill>
                    </a:lnB>
                    <a:lnTlToBr w="0">
                      <a:noFill/>
                    </a:lnTlToBr>
                    <a:lnBlToTr w="0">
                      <a:noFill/>
                    </a:lnBlToTr>
                    <a:solidFill>
                      <a:schemeClr val="bg1"/>
                    </a:solidFill>
                  </a:tcPr>
                </a:tc>
                <a:extLst>
                  <a:ext uri="{0D108BD9-81ED-4DB2-BD59-A6C34878D82A}">
                    <a16:rowId xmlns:a16="http://schemas.microsoft.com/office/drawing/2014/main" val="1853746668"/>
                  </a:ext>
                </a:extLst>
              </a:tr>
              <a:tr h="23631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ライセンス</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rtl="0" eaLnBrk="1" fontAlgn="auto" latinLnBrk="0" hangingPunct="1">
                        <a:lnSpc>
                          <a:spcPct val="100000"/>
                        </a:lnSpc>
                        <a:spcBef>
                          <a:spcPts val="600"/>
                        </a:spcBef>
                        <a:spcAft>
                          <a:spcPts val="0"/>
                        </a:spcAft>
                        <a:buClrTx/>
                        <a:buSzTx/>
                        <a:buFont typeface="Arial" panose="020B0604020202020204" pitchFamily="34" charset="0"/>
                        <a:buChar char="•"/>
                      </a:pPr>
                      <a:r>
                        <a:rPr lang="en-US" altLang="ja-JP" sz="1200" dirty="0">
                          <a:latin typeface="+mn-ea"/>
                          <a:ea typeface="+mn-ea"/>
                        </a:rPr>
                        <a:t>MIT </a:t>
                      </a:r>
                      <a:r>
                        <a:rPr kumimoji="1" lang="en-US" altLang="ja-JP" sz="1200" dirty="0">
                          <a:latin typeface="+mn-ea"/>
                          <a:ea typeface="+mn-ea"/>
                        </a:rPr>
                        <a:t>License</a:t>
                      </a:r>
                      <a:endParaRPr kumimoji="1" lang="en-US" sz="900" b="0" i="0" u="none" strike="noStrike" noProof="0" dirty="0">
                        <a:solidFill>
                          <a:srgbClr val="E6EDF3"/>
                        </a:solidFill>
                        <a:latin typeface="Consola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6" name="正方形/長方形 5">
            <a:extLst>
              <a:ext uri="{FF2B5EF4-FFF2-40B4-BE49-F238E27FC236}">
                <a16:creationId xmlns:a16="http://schemas.microsoft.com/office/drawing/2014/main" id="{3BEEA766-FEC7-2D93-B696-ED4DF7D688BD}"/>
              </a:ext>
            </a:extLst>
          </p:cNvPr>
          <p:cNvSpPr/>
          <p:nvPr/>
        </p:nvSpPr>
        <p:spPr bwMode="gray">
          <a:xfrm>
            <a:off x="5146161" y="2360355"/>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7" name="正方形/長方形 6">
            <a:extLst>
              <a:ext uri="{FF2B5EF4-FFF2-40B4-BE49-F238E27FC236}">
                <a16:creationId xmlns:a16="http://schemas.microsoft.com/office/drawing/2014/main" id="{6531E873-A39A-78F2-ABA3-093715CBA559}"/>
              </a:ext>
            </a:extLst>
          </p:cNvPr>
          <p:cNvSpPr/>
          <p:nvPr/>
        </p:nvSpPr>
        <p:spPr bwMode="gray">
          <a:xfrm>
            <a:off x="283068" y="2360355"/>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8" name="正方形/長方形 7">
            <a:extLst>
              <a:ext uri="{FF2B5EF4-FFF2-40B4-BE49-F238E27FC236}">
                <a16:creationId xmlns:a16="http://schemas.microsoft.com/office/drawing/2014/main" id="{CFAEC1D8-BDC4-809A-D976-D012F2B10656}"/>
              </a:ext>
            </a:extLst>
          </p:cNvPr>
          <p:cNvSpPr/>
          <p:nvPr/>
        </p:nvSpPr>
        <p:spPr>
          <a:xfrm>
            <a:off x="5146159" y="3265190"/>
            <a:ext cx="3118609"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 name="正方形/長方形 8">
            <a:extLst>
              <a:ext uri="{FF2B5EF4-FFF2-40B4-BE49-F238E27FC236}">
                <a16:creationId xmlns:a16="http://schemas.microsoft.com/office/drawing/2014/main" id="{2FADE6E8-EA61-71C2-CA1A-016FAEC7AA9D}"/>
              </a:ext>
            </a:extLst>
          </p:cNvPr>
          <p:cNvSpPr/>
          <p:nvPr/>
        </p:nvSpPr>
        <p:spPr>
          <a:xfrm>
            <a:off x="8088897" y="2617799"/>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38708129-A7E3-5C48-4D6C-C869F0ACC55A}"/>
              </a:ext>
            </a:extLst>
          </p:cNvPr>
          <p:cNvSpPr txBox="1"/>
          <p:nvPr/>
        </p:nvSpPr>
        <p:spPr>
          <a:xfrm>
            <a:off x="8759075" y="2616514"/>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12" name="正方形/長方形 11">
            <a:extLst>
              <a:ext uri="{FF2B5EF4-FFF2-40B4-BE49-F238E27FC236}">
                <a16:creationId xmlns:a16="http://schemas.microsoft.com/office/drawing/2014/main" id="{2A413295-64BC-13FD-BCA9-8834F4D30A52}"/>
              </a:ext>
            </a:extLst>
          </p:cNvPr>
          <p:cNvSpPr/>
          <p:nvPr/>
        </p:nvSpPr>
        <p:spPr>
          <a:xfrm>
            <a:off x="5146160" y="3998981"/>
            <a:ext cx="61361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8" name="コンテンツ プレースホルダー 2">
            <a:extLst>
              <a:ext uri="{FF2B5EF4-FFF2-40B4-BE49-F238E27FC236}">
                <a16:creationId xmlns:a16="http://schemas.microsoft.com/office/drawing/2014/main" id="{E5BC9CE4-B1BC-D70B-7577-1C038A6D6693}"/>
              </a:ext>
            </a:extLst>
          </p:cNvPr>
          <p:cNvSpPr txBox="1">
            <a:spLocks/>
          </p:cNvSpPr>
          <p:nvPr/>
        </p:nvSpPr>
        <p:spPr>
          <a:xfrm>
            <a:off x="282529" y="908050"/>
            <a:ext cx="9340942" cy="1580725"/>
          </a:xfrm>
          <a:prstGeom prst="rect">
            <a:avLst/>
          </a:prstGeom>
          <a:noFill/>
          <a:ln>
            <a:noFill/>
          </a:ln>
        </p:spPr>
        <p:txBody>
          <a:bodyPr lIns="91440" tIns="45720" rIns="91440" bIns="45720" anchor="t"/>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国際標準技術に準拠したホワイトラベルのデジタルアイデンティティウォレット。</a:t>
            </a:r>
            <a:r>
              <a:rPr lang="en-US" altLang="ja-JP" dirty="0"/>
              <a:t>OID4VCI / OID4VP / SIOP v2</a:t>
            </a:r>
            <a:r>
              <a:rPr lang="ja-JP" dirty="0"/>
              <a:t>に対応しており、</a:t>
            </a:r>
            <a:r>
              <a:rPr lang="ja-JP" altLang="en-US" dirty="0"/>
              <a:t>iOS用とAndroid用が提供されている。選択的開示機能としてSD-JWTに対応。JSON-LD ZKP with BBS+も対応予定</a:t>
            </a:r>
          </a:p>
          <a:p>
            <a:r>
              <a:rPr lang="ja-JP" altLang="en-US" dirty="0"/>
              <a:t>OID4VCIに準拠したデジタルアイデンティティ発行サービス（OWND Project VCI）とマイナンバーカード情報、従業員ID、イベント参加証明書の3つのWebアプリケーションが含まれる</a:t>
            </a:r>
          </a:p>
          <a:p>
            <a:r>
              <a:rPr lang="en-US" altLang="ja-JP" dirty="0"/>
              <a:t>OWND</a:t>
            </a:r>
            <a:r>
              <a:rPr lang="ja-JP" altLang="en-US" dirty="0"/>
              <a:t> </a:t>
            </a:r>
            <a:r>
              <a:rPr lang="en-US" altLang="ja-JP" dirty="0"/>
              <a:t>wallet</a:t>
            </a:r>
            <a:r>
              <a:rPr lang="ja-JP" altLang="en-US" dirty="0"/>
              <a:t>を用いてアイデンティティを管理できる</a:t>
            </a:r>
            <a:r>
              <a:rPr lang="en-US" altLang="ja-JP" dirty="0"/>
              <a:t>E2E</a:t>
            </a:r>
            <a:r>
              <a:rPr lang="ja-JP" altLang="en-US" dirty="0"/>
              <a:t>暗号化に対応したメッセージングアプリケーションを提供している</a:t>
            </a:r>
            <a:br>
              <a:rPr lang="en-US" altLang="ja-JP" dirty="0"/>
            </a:br>
            <a:r>
              <a:rPr lang="ja-JP" altLang="en-US" dirty="0"/>
              <a:t>（サーバ機能、クライアント機能、React SDK）</a:t>
            </a:r>
          </a:p>
          <a:p>
            <a:endParaRPr lang="en-US" altLang="ja-JP" dirty="0"/>
          </a:p>
        </p:txBody>
      </p:sp>
      <p:sp>
        <p:nvSpPr>
          <p:cNvPr id="13" name="正方形/長方形 12">
            <a:extLst>
              <a:ext uri="{FF2B5EF4-FFF2-40B4-BE49-F238E27FC236}">
                <a16:creationId xmlns:a16="http://schemas.microsoft.com/office/drawing/2014/main" id="{5F1D6D87-7697-2984-87D1-4E8697077EE9}"/>
              </a:ext>
            </a:extLst>
          </p:cNvPr>
          <p:cNvSpPr/>
          <p:nvPr/>
        </p:nvSpPr>
        <p:spPr>
          <a:xfrm>
            <a:off x="6392009" y="3998981"/>
            <a:ext cx="1250384"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4" name="正方形/長方形 13">
            <a:extLst>
              <a:ext uri="{FF2B5EF4-FFF2-40B4-BE49-F238E27FC236}">
                <a16:creationId xmlns:a16="http://schemas.microsoft.com/office/drawing/2014/main" id="{2DCD5417-F300-9C09-CB74-BBB398C1F162}"/>
              </a:ext>
            </a:extLst>
          </p:cNvPr>
          <p:cNvSpPr/>
          <p:nvPr/>
        </p:nvSpPr>
        <p:spPr>
          <a:xfrm>
            <a:off x="8367363" y="3446585"/>
            <a:ext cx="1244007" cy="316956"/>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Tree>
    <p:extLst>
      <p:ext uri="{BB962C8B-B14F-4D97-AF65-F5344CB8AC3E}">
        <p14:creationId xmlns:p14="http://schemas.microsoft.com/office/powerpoint/2010/main" val="10287115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1D5D60AD-DD52-00AF-0986-8847DC5CDA04}"/>
              </a:ext>
            </a:extLst>
          </p:cNvPr>
          <p:cNvPicPr>
            <a:picLocks noChangeAspect="1"/>
          </p:cNvPicPr>
          <p:nvPr/>
        </p:nvPicPr>
        <p:blipFill>
          <a:blip r:embed="rId2"/>
          <a:stretch>
            <a:fillRect/>
          </a:stretch>
        </p:blipFill>
        <p:spPr>
          <a:xfrm>
            <a:off x="5132940" y="2937614"/>
            <a:ext cx="4486619" cy="2373377"/>
          </a:xfrm>
          <a:prstGeom prst="rect">
            <a:avLst/>
          </a:prstGeom>
        </p:spPr>
      </p:pic>
      <p:sp>
        <p:nvSpPr>
          <p:cNvPr id="2" name="タイトル 1">
            <a:extLst>
              <a:ext uri="{FF2B5EF4-FFF2-40B4-BE49-F238E27FC236}">
                <a16:creationId xmlns:a16="http://schemas.microsoft.com/office/drawing/2014/main" id="{E6A0861C-2D9C-F0E9-331F-6A2C491C889A}"/>
              </a:ext>
            </a:extLst>
          </p:cNvPr>
          <p:cNvSpPr>
            <a:spLocks noGrp="1"/>
          </p:cNvSpPr>
          <p:nvPr>
            <p:ph type="title"/>
          </p:nvPr>
        </p:nvSpPr>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(8) DID Kit</a:t>
            </a:r>
            <a:endParaRPr kumimoji="1" lang="ja-JP" altLang="en-US" dirty="0"/>
          </a:p>
        </p:txBody>
      </p:sp>
      <p:sp>
        <p:nvSpPr>
          <p:cNvPr id="3" name="テキスト プレースホルダー 2">
            <a:extLst>
              <a:ext uri="{FF2B5EF4-FFF2-40B4-BE49-F238E27FC236}">
                <a16:creationId xmlns:a16="http://schemas.microsoft.com/office/drawing/2014/main" id="{7ACBA0E7-B93F-29BB-FE75-0038CC9F3393}"/>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4" name="表 3">
            <a:extLst>
              <a:ext uri="{FF2B5EF4-FFF2-40B4-BE49-F238E27FC236}">
                <a16:creationId xmlns:a16="http://schemas.microsoft.com/office/drawing/2014/main" id="{84583D69-EF8B-E9F9-92FF-DEFE4705AF88}"/>
              </a:ext>
            </a:extLst>
          </p:cNvPr>
          <p:cNvGraphicFramePr>
            <a:graphicFrameLocks noGrp="1"/>
          </p:cNvGraphicFramePr>
          <p:nvPr>
            <p:extLst>
              <p:ext uri="{D42A27DB-BD31-4B8C-83A1-F6EECF244321}">
                <p14:modId xmlns:p14="http://schemas.microsoft.com/office/powerpoint/2010/main" val="2856235079"/>
              </p:ext>
            </p:extLst>
          </p:nvPr>
        </p:nvGraphicFramePr>
        <p:xfrm>
          <a:off x="282477" y="2720831"/>
          <a:ext cx="4478059" cy="155448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20746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公開元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rPr>
                        <a:t>Spruce Systems Inc.</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356114">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ライブラリ名</a:t>
                      </a:r>
                      <a:r>
                        <a:rPr lang="en-US" altLang="ja-JP" sz="1200" dirty="0">
                          <a:latin typeface="+mn-ea"/>
                          <a:ea typeface="+mn-ea"/>
                        </a:rPr>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内容</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err="1">
                          <a:latin typeface="+mn-ea"/>
                          <a:ea typeface="+mn-ea"/>
                          <a:hlinkClick r:id="rId3"/>
                        </a:rPr>
                        <a:t>DIDKit</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207463">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提供形態</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ea"/>
                          <a:ea typeface="+mn-ea"/>
                          <a:cs typeface="+mn-cs"/>
                        </a:rPr>
                        <a:t>ソースコード</a:t>
                      </a:r>
                      <a:endParaRPr kumimoji="1" lang="en-US" altLang="ja-JP" sz="1200" kern="1200" dirty="0">
                        <a:solidFill>
                          <a:schemeClr val="tx1"/>
                        </a:solidFill>
                        <a:latin typeface="+mn-ea"/>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524547564"/>
                  </a:ext>
                </a:extLst>
              </a:tr>
              <a:tr h="207463">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ドキュメント</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hlinkClick r:id="rId4"/>
                        </a:rPr>
                        <a:t>https://www.spruceid.dev/didkit/didkit</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3746668"/>
                  </a:ext>
                </a:extLst>
              </a:tr>
              <a:tr h="207463">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ライセンス</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latin typeface="+mn-ea"/>
                          <a:ea typeface="+mn-ea"/>
                        </a:rPr>
                        <a:t>Apache License Version 2.0</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6" name="正方形/長方形 5">
            <a:extLst>
              <a:ext uri="{FF2B5EF4-FFF2-40B4-BE49-F238E27FC236}">
                <a16:creationId xmlns:a16="http://schemas.microsoft.com/office/drawing/2014/main" id="{41FA89EE-3437-08BE-690D-CF5F6122E5D3}"/>
              </a:ext>
            </a:extLst>
          </p:cNvPr>
          <p:cNvSpPr/>
          <p:nvPr/>
        </p:nvSpPr>
        <p:spPr bwMode="gray">
          <a:xfrm>
            <a:off x="5146161" y="2449245"/>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7" name="正方形/長方形 6">
            <a:extLst>
              <a:ext uri="{FF2B5EF4-FFF2-40B4-BE49-F238E27FC236}">
                <a16:creationId xmlns:a16="http://schemas.microsoft.com/office/drawing/2014/main" id="{51C140C4-BBB7-B102-DE97-6FA361BB785C}"/>
              </a:ext>
            </a:extLst>
          </p:cNvPr>
          <p:cNvSpPr/>
          <p:nvPr/>
        </p:nvSpPr>
        <p:spPr bwMode="gray">
          <a:xfrm>
            <a:off x="283068" y="2449245"/>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8" name="正方形/長方形 7">
            <a:extLst>
              <a:ext uri="{FF2B5EF4-FFF2-40B4-BE49-F238E27FC236}">
                <a16:creationId xmlns:a16="http://schemas.microsoft.com/office/drawing/2014/main" id="{B3BC1767-06C6-4D3C-48C1-FF7AC28BCE70}"/>
              </a:ext>
            </a:extLst>
          </p:cNvPr>
          <p:cNvSpPr/>
          <p:nvPr/>
        </p:nvSpPr>
        <p:spPr>
          <a:xfrm>
            <a:off x="5146160" y="3354080"/>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 name="正方形/長方形 8">
            <a:extLst>
              <a:ext uri="{FF2B5EF4-FFF2-40B4-BE49-F238E27FC236}">
                <a16:creationId xmlns:a16="http://schemas.microsoft.com/office/drawing/2014/main" id="{D8FC2973-DD76-5E8B-529E-B96EBAAE8468}"/>
              </a:ext>
            </a:extLst>
          </p:cNvPr>
          <p:cNvSpPr/>
          <p:nvPr/>
        </p:nvSpPr>
        <p:spPr>
          <a:xfrm>
            <a:off x="8088897" y="2706689"/>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00460A76-D0A9-80DA-A886-063108BF951D}"/>
              </a:ext>
            </a:extLst>
          </p:cNvPr>
          <p:cNvSpPr txBox="1"/>
          <p:nvPr/>
        </p:nvSpPr>
        <p:spPr>
          <a:xfrm>
            <a:off x="8759075" y="2705404"/>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13" name="コンテンツ プレースホルダー 2">
            <a:extLst>
              <a:ext uri="{FF2B5EF4-FFF2-40B4-BE49-F238E27FC236}">
                <a16:creationId xmlns:a16="http://schemas.microsoft.com/office/drawing/2014/main" id="{F3CEC8F9-0190-4150-7027-5B24EEAE4A0B}"/>
              </a:ext>
            </a:extLst>
          </p:cNvPr>
          <p:cNvSpPr txBox="1">
            <a:spLocks/>
          </p:cNvSpPr>
          <p:nvPr/>
        </p:nvSpPr>
        <p:spPr>
          <a:xfrm>
            <a:off x="273050" y="908049"/>
            <a:ext cx="9359900" cy="1231679"/>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a:t>W3C</a:t>
            </a:r>
            <a:r>
              <a:rPr kumimoji="1" lang="ja-JP" altLang="en-US" dirty="0"/>
              <a:t>検証可能クレデンシャルの署名・検証、多言語ライブラリサポート、</a:t>
            </a:r>
            <a:r>
              <a:rPr kumimoji="1" lang="en-US" altLang="ja-JP" dirty="0"/>
              <a:t>HTTP/HTTPS</a:t>
            </a:r>
            <a:r>
              <a:rPr kumimoji="1" lang="ja-JP" altLang="en-US" dirty="0"/>
              <a:t>サーバー提供、</a:t>
            </a:r>
            <a:r>
              <a:rPr kumimoji="1" lang="en-US" altLang="ja-JP" dirty="0"/>
              <a:t>Linked Data Proofs</a:t>
            </a:r>
            <a:r>
              <a:rPr kumimoji="1" lang="ja-JP" altLang="en-US" dirty="0"/>
              <a:t>と</a:t>
            </a:r>
            <a:r>
              <a:rPr kumimoji="1" lang="en-US" altLang="ja-JP" dirty="0"/>
              <a:t>JOSE</a:t>
            </a:r>
            <a:r>
              <a:rPr kumimoji="1" lang="ja-JP" altLang="en-US" dirty="0"/>
              <a:t>トークン間の変換、多様な</a:t>
            </a:r>
            <a:r>
              <a:rPr kumimoji="1" lang="en-US" altLang="ja-JP" dirty="0"/>
              <a:t>W3C</a:t>
            </a:r>
            <a:r>
              <a:rPr kumimoji="1" lang="ja-JP" altLang="en-US" dirty="0"/>
              <a:t>分散型識別子の処理、およびオブジェクト機能モデルに基づく認証トークンの発行と使用が可能なツール。</a:t>
            </a:r>
            <a:r>
              <a:rPr kumimoji="1" lang="en-US" altLang="ja-JP" dirty="0"/>
              <a:t>VC-API</a:t>
            </a:r>
            <a:r>
              <a:rPr kumimoji="1" lang="ja-JP" altLang="en-US" dirty="0"/>
              <a:t>に対応したサーバ用コンテナも提供する。</a:t>
            </a:r>
            <a:endParaRPr kumimoji="1" lang="en-US" altLang="ja-JP" dirty="0"/>
          </a:p>
          <a:p>
            <a:r>
              <a:rPr kumimoji="1" lang="ja-JP" altLang="en-US" dirty="0"/>
              <a:t>更新頻度は比較的高く、コマンドライン、</a:t>
            </a:r>
            <a:r>
              <a:rPr kumimoji="1" lang="en-US" altLang="ja-JP" dirty="0"/>
              <a:t>HTTP</a:t>
            </a:r>
            <a:r>
              <a:rPr kumimoji="1" lang="ja-JP" altLang="en-US" dirty="0"/>
              <a:t>サーバおよびモバイル環境として</a:t>
            </a:r>
            <a:r>
              <a:rPr kumimoji="1" lang="en-US" altLang="ja-JP" dirty="0"/>
              <a:t>C, Java, Android</a:t>
            </a:r>
            <a:r>
              <a:rPr kumimoji="1" lang="ja-JP" altLang="en-US" dirty="0"/>
              <a:t>および</a:t>
            </a:r>
            <a:r>
              <a:rPr kumimoji="1" lang="en-US" altLang="ja-JP" dirty="0"/>
              <a:t>Flutter</a:t>
            </a:r>
            <a:r>
              <a:rPr kumimoji="1" lang="ja-JP" altLang="en-US" dirty="0"/>
              <a:t>での利用が想定されている。</a:t>
            </a:r>
          </a:p>
          <a:p>
            <a:endParaRPr kumimoji="1" lang="en-US" altLang="ja-JP" dirty="0"/>
          </a:p>
        </p:txBody>
      </p:sp>
      <p:sp>
        <p:nvSpPr>
          <p:cNvPr id="14" name="正方形/長方形 13">
            <a:extLst>
              <a:ext uri="{FF2B5EF4-FFF2-40B4-BE49-F238E27FC236}">
                <a16:creationId xmlns:a16="http://schemas.microsoft.com/office/drawing/2014/main" id="{D015EFA1-580C-6157-E013-32B6B587FA3A}"/>
              </a:ext>
            </a:extLst>
          </p:cNvPr>
          <p:cNvSpPr/>
          <p:nvPr/>
        </p:nvSpPr>
        <p:spPr>
          <a:xfrm>
            <a:off x="7023087" y="3354080"/>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Tree>
    <p:extLst>
      <p:ext uri="{BB962C8B-B14F-4D97-AF65-F5344CB8AC3E}">
        <p14:creationId xmlns:p14="http://schemas.microsoft.com/office/powerpoint/2010/main" val="26698583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30A4B505-FFEC-F394-6293-FB0E4F9EB9E6}"/>
              </a:ext>
            </a:extLst>
          </p:cNvPr>
          <p:cNvPicPr>
            <a:picLocks noChangeAspect="1"/>
          </p:cNvPicPr>
          <p:nvPr/>
        </p:nvPicPr>
        <p:blipFill>
          <a:blip r:embed="rId2"/>
          <a:stretch>
            <a:fillRect/>
          </a:stretch>
        </p:blipFill>
        <p:spPr>
          <a:xfrm>
            <a:off x="5120414" y="2207068"/>
            <a:ext cx="4486619" cy="2373378"/>
          </a:xfrm>
          <a:prstGeom prst="rect">
            <a:avLst/>
          </a:prstGeom>
        </p:spPr>
      </p:pic>
      <p:sp>
        <p:nvSpPr>
          <p:cNvPr id="2" name="タイトル 1">
            <a:extLst>
              <a:ext uri="{FF2B5EF4-FFF2-40B4-BE49-F238E27FC236}">
                <a16:creationId xmlns:a16="http://schemas.microsoft.com/office/drawing/2014/main" id="{3C77E450-99D2-5312-7499-AAF318515C3D}"/>
              </a:ext>
            </a:extLst>
          </p:cNvPr>
          <p:cNvSpPr>
            <a:spLocks noGrp="1"/>
          </p:cNvSpPr>
          <p:nvPr>
            <p:ph type="title"/>
          </p:nvPr>
        </p:nvSpPr>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(9) MATTR</a:t>
            </a:r>
            <a:endParaRPr kumimoji="1" lang="ja-JP" altLang="en-US" dirty="0"/>
          </a:p>
        </p:txBody>
      </p:sp>
      <p:sp>
        <p:nvSpPr>
          <p:cNvPr id="3" name="テキスト プレースホルダー 2">
            <a:extLst>
              <a:ext uri="{FF2B5EF4-FFF2-40B4-BE49-F238E27FC236}">
                <a16:creationId xmlns:a16="http://schemas.microsoft.com/office/drawing/2014/main" id="{CC99D3CA-7558-8B5F-5080-2506547816C7}"/>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sp>
        <p:nvSpPr>
          <p:cNvPr id="6" name="コンテンツ プレースホルダー 2">
            <a:extLst>
              <a:ext uri="{FF2B5EF4-FFF2-40B4-BE49-F238E27FC236}">
                <a16:creationId xmlns:a16="http://schemas.microsoft.com/office/drawing/2014/main" id="{0C319448-FE36-5B82-D8FD-0A48D93C9EBB}"/>
              </a:ext>
            </a:extLst>
          </p:cNvPr>
          <p:cNvSpPr txBox="1">
            <a:spLocks/>
          </p:cNvSpPr>
          <p:nvPr/>
        </p:nvSpPr>
        <p:spPr>
          <a:xfrm>
            <a:off x="273050" y="908049"/>
            <a:ext cx="9359900" cy="1231679"/>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ja-JP" altLang="en-US" dirty="0"/>
              <a:t>検証可能なデータと検証可能な資格情報と連携し、情報を安全に共有、保持、検証するための製品群を提供している。</a:t>
            </a:r>
            <a:endParaRPr kumimoji="1" lang="en-US" altLang="ja-JP" dirty="0"/>
          </a:p>
          <a:p>
            <a:r>
              <a:rPr kumimoji="1" lang="ja-JP" altLang="en-US" dirty="0"/>
              <a:t>製品はサービス（</a:t>
            </a:r>
            <a:r>
              <a:rPr kumimoji="1" lang="en-US" altLang="ja-JP" dirty="0"/>
              <a:t>REST API</a:t>
            </a:r>
            <a:r>
              <a:rPr kumimoji="1" lang="ja-JP" altLang="en-US" dirty="0"/>
              <a:t>）、</a:t>
            </a:r>
            <a:r>
              <a:rPr kumimoji="1" lang="en-US" altLang="ja-JP" dirty="0"/>
              <a:t>SDK</a:t>
            </a:r>
            <a:r>
              <a:rPr kumimoji="1" lang="ja-JP" altLang="en-US" dirty="0"/>
              <a:t>で提供されており、ソースコードでの提供ではないが、</a:t>
            </a:r>
            <a:r>
              <a:rPr kumimoji="1" lang="en-US" altLang="ja-JP" dirty="0"/>
              <a:t>JSON-LD+BBS+</a:t>
            </a:r>
            <a:r>
              <a:rPr kumimoji="1" lang="ja-JP" altLang="en-US" dirty="0"/>
              <a:t>署名などのサンプルコードは公開されている。</a:t>
            </a:r>
          </a:p>
          <a:p>
            <a:endParaRPr kumimoji="1" lang="en-US" altLang="ja-JP" dirty="0"/>
          </a:p>
        </p:txBody>
      </p:sp>
      <p:graphicFrame>
        <p:nvGraphicFramePr>
          <p:cNvPr id="7" name="表 6">
            <a:extLst>
              <a:ext uri="{FF2B5EF4-FFF2-40B4-BE49-F238E27FC236}">
                <a16:creationId xmlns:a16="http://schemas.microsoft.com/office/drawing/2014/main" id="{1BE03F43-B87A-3B3C-DD28-06A9FE31482A}"/>
              </a:ext>
            </a:extLst>
          </p:cNvPr>
          <p:cNvGraphicFramePr>
            <a:graphicFrameLocks noGrp="1"/>
          </p:cNvGraphicFramePr>
          <p:nvPr>
            <p:extLst>
              <p:ext uri="{D42A27DB-BD31-4B8C-83A1-F6EECF244321}">
                <p14:modId xmlns:p14="http://schemas.microsoft.com/office/powerpoint/2010/main" val="1520859090"/>
              </p:ext>
            </p:extLst>
          </p:nvPr>
        </p:nvGraphicFramePr>
        <p:xfrm>
          <a:off x="282477" y="1974875"/>
          <a:ext cx="4478059" cy="426720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256795">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公開元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rPr>
                        <a:t>MATTR Platform</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2967408">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ライブラリ名</a:t>
                      </a:r>
                      <a:r>
                        <a:rPr lang="en-US" altLang="ja-JP" sz="1200" dirty="0">
                          <a:latin typeface="+mn-ea"/>
                          <a:ea typeface="+mn-ea"/>
                        </a:rPr>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内容</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indent="-171450">
                        <a:spcBef>
                          <a:spcPts val="600"/>
                        </a:spcBef>
                        <a:buFont typeface="Arial" panose="020B0604020202020204" pitchFamily="34" charset="0"/>
                        <a:buChar char="•"/>
                      </a:pPr>
                      <a:r>
                        <a:rPr kumimoji="1" lang="en-US" altLang="ja-JP" sz="1200" dirty="0">
                          <a:latin typeface="+mn-ea"/>
                          <a:ea typeface="+mn-ea"/>
                          <a:hlinkClick r:id="rId3"/>
                        </a:rPr>
                        <a:t>MATTR VII</a:t>
                      </a:r>
                      <a:r>
                        <a:rPr kumimoji="1" lang="ja-JP" altLang="en-US" sz="1200" dirty="0">
                          <a:latin typeface="+mn-ea"/>
                          <a:ea typeface="+mn-ea"/>
                        </a:rPr>
                        <a:t>：</a:t>
                      </a:r>
                      <a:br>
                        <a:rPr kumimoji="1" lang="en-US" altLang="ja-JP" sz="1200" dirty="0">
                          <a:latin typeface="+mn-ea"/>
                          <a:ea typeface="+mn-ea"/>
                        </a:rPr>
                      </a:br>
                      <a:r>
                        <a:rPr kumimoji="1" lang="ja-JP" altLang="en-US" sz="1200" dirty="0">
                          <a:latin typeface="+mn-ea"/>
                          <a:ea typeface="+mn-ea"/>
                        </a:rPr>
                        <a:t>検証可能な認証情報を生成・管理するための</a:t>
                      </a:r>
                      <a:r>
                        <a:rPr kumimoji="1" lang="en-US" altLang="ja-JP" sz="1200" dirty="0">
                          <a:latin typeface="+mn-ea"/>
                          <a:ea typeface="+mn-ea"/>
                        </a:rPr>
                        <a:t>API</a:t>
                      </a:r>
                      <a:r>
                        <a:rPr kumimoji="1" lang="ja-JP" altLang="en-US" sz="1200" dirty="0">
                          <a:latin typeface="+mn-ea"/>
                          <a:ea typeface="+mn-ea"/>
                        </a:rPr>
                        <a:t>と各種機能を備えたクラウドプラットフォーム</a:t>
                      </a:r>
                    </a:p>
                    <a:p>
                      <a:pPr marL="171450" indent="-171450">
                        <a:spcBef>
                          <a:spcPts val="600"/>
                        </a:spcBef>
                        <a:buFont typeface="Arial" panose="020B0604020202020204" pitchFamily="34" charset="0"/>
                        <a:buChar char="•"/>
                      </a:pPr>
                      <a:r>
                        <a:rPr kumimoji="1" lang="en-US" altLang="ja-JP" sz="1200" dirty="0">
                          <a:latin typeface="+mn-ea"/>
                          <a:ea typeface="+mn-ea"/>
                          <a:hlinkClick r:id="rId4"/>
                        </a:rPr>
                        <a:t>MATTR Pi</a:t>
                      </a:r>
                      <a:r>
                        <a:rPr kumimoji="1" lang="ja-JP" altLang="en-US" sz="1200" dirty="0">
                          <a:latin typeface="+mn-ea"/>
                          <a:ea typeface="+mn-ea"/>
                        </a:rPr>
                        <a:t>：</a:t>
                      </a:r>
                      <a:br>
                        <a:rPr kumimoji="1" lang="en-US" altLang="ja-JP" sz="1200" dirty="0">
                          <a:latin typeface="+mn-ea"/>
                          <a:ea typeface="+mn-ea"/>
                        </a:rPr>
                      </a:br>
                      <a:r>
                        <a:rPr kumimoji="1" lang="ja-JP" altLang="en-US" sz="1200" dirty="0">
                          <a:latin typeface="+mn-ea"/>
                          <a:ea typeface="+mn-ea"/>
                        </a:rPr>
                        <a:t>ウォレットと検証機能を開発するための</a:t>
                      </a:r>
                      <a:r>
                        <a:rPr kumimoji="1" lang="en-US" altLang="ja-JP" sz="1200" dirty="0">
                          <a:latin typeface="+mn-ea"/>
                          <a:ea typeface="+mn-ea"/>
                        </a:rPr>
                        <a:t>SDK</a:t>
                      </a:r>
                      <a:br>
                        <a:rPr kumimoji="1" lang="en-US" altLang="ja-JP" sz="1200" dirty="0">
                          <a:latin typeface="+mn-ea"/>
                          <a:ea typeface="+mn-ea"/>
                        </a:rPr>
                      </a:br>
                      <a:r>
                        <a:rPr kumimoji="1" lang="en-US" altLang="ja-JP" sz="1200" dirty="0">
                          <a:latin typeface="+mn-ea"/>
                          <a:ea typeface="+mn-ea"/>
                        </a:rPr>
                        <a:t>‐</a:t>
                      </a:r>
                      <a:r>
                        <a:rPr kumimoji="1" lang="ja-JP" altLang="en-US" sz="1200" dirty="0">
                          <a:latin typeface="+mn-ea"/>
                          <a:ea typeface="+mn-ea"/>
                        </a:rPr>
                        <a:t> キーと分散型識別子 </a:t>
                      </a:r>
                      <a:r>
                        <a:rPr kumimoji="1" lang="en-US" altLang="ja-JP" sz="1200" dirty="0">
                          <a:latin typeface="+mn-ea"/>
                          <a:ea typeface="+mn-ea"/>
                        </a:rPr>
                        <a:t>(DID) </a:t>
                      </a:r>
                      <a:r>
                        <a:rPr kumimoji="1" lang="ja-JP" altLang="en-US" sz="1200" dirty="0">
                          <a:latin typeface="+mn-ea"/>
                          <a:ea typeface="+mn-ea"/>
                        </a:rPr>
                        <a:t>の作成と管理</a:t>
                      </a:r>
                      <a:br>
                        <a:rPr kumimoji="1" lang="en-US" altLang="ja-JP" sz="1200" dirty="0">
                          <a:latin typeface="+mn-ea"/>
                          <a:ea typeface="+mn-ea"/>
                        </a:rPr>
                      </a:br>
                      <a:r>
                        <a:rPr kumimoji="1" lang="en-US" altLang="ja-JP" sz="1200" dirty="0">
                          <a:latin typeface="+mn-ea"/>
                          <a:ea typeface="+mn-ea"/>
                        </a:rPr>
                        <a:t>- OpenID</a:t>
                      </a:r>
                      <a:r>
                        <a:rPr kumimoji="1" lang="ja-JP" altLang="en-US" sz="1200" dirty="0">
                          <a:latin typeface="+mn-ea"/>
                          <a:ea typeface="+mn-ea"/>
                        </a:rPr>
                        <a:t>資格情報プロバイダー</a:t>
                      </a:r>
                      <a:br>
                        <a:rPr kumimoji="1" lang="en-US" altLang="ja-JP" sz="1200" dirty="0">
                          <a:latin typeface="+mn-ea"/>
                          <a:ea typeface="+mn-ea"/>
                        </a:rPr>
                      </a:br>
                      <a:r>
                        <a:rPr kumimoji="1" lang="en-US" altLang="ja-JP" sz="1200" dirty="0">
                          <a:latin typeface="+mn-ea"/>
                          <a:ea typeface="+mn-ea"/>
                        </a:rPr>
                        <a:t>- </a:t>
                      </a:r>
                      <a:r>
                        <a:rPr kumimoji="1" lang="ja-JP" altLang="en-US" sz="1200" dirty="0">
                          <a:latin typeface="+mn-ea"/>
                          <a:ea typeface="+mn-ea"/>
                        </a:rPr>
                        <a:t>検証機能</a:t>
                      </a:r>
                      <a:br>
                        <a:rPr kumimoji="1" lang="en-US" altLang="ja-JP" sz="1200" dirty="0">
                          <a:latin typeface="+mn-ea"/>
                          <a:ea typeface="+mn-ea"/>
                        </a:rPr>
                      </a:br>
                      <a:r>
                        <a:rPr kumimoji="1" lang="en-US" altLang="ja-JP" sz="1200" dirty="0">
                          <a:latin typeface="+mn-ea"/>
                          <a:ea typeface="+mn-ea"/>
                        </a:rPr>
                        <a:t>- BBS+</a:t>
                      </a:r>
                      <a:r>
                        <a:rPr kumimoji="1" lang="ja-JP" altLang="en-US" sz="1200" dirty="0">
                          <a:latin typeface="+mn-ea"/>
                          <a:ea typeface="+mn-ea"/>
                        </a:rPr>
                        <a:t>署名による選択的開示</a:t>
                      </a:r>
                      <a:br>
                        <a:rPr kumimoji="1" lang="en-US" altLang="ja-JP" sz="1200" dirty="0">
                          <a:latin typeface="+mn-ea"/>
                          <a:ea typeface="+mn-ea"/>
                        </a:rPr>
                      </a:br>
                      <a:r>
                        <a:rPr kumimoji="1" lang="en-US" altLang="ja-JP" sz="1200" dirty="0">
                          <a:latin typeface="+mn-ea"/>
                          <a:ea typeface="+mn-ea"/>
                        </a:rPr>
                        <a:t>- DID</a:t>
                      </a:r>
                      <a:r>
                        <a:rPr kumimoji="1" lang="ja-JP" altLang="en-US" sz="1200" dirty="0">
                          <a:latin typeface="+mn-ea"/>
                          <a:ea typeface="+mn-ea"/>
                        </a:rPr>
                        <a:t>ベースのメッセージング</a:t>
                      </a:r>
                      <a:br>
                        <a:rPr kumimoji="1" lang="en-US" altLang="ja-JP" sz="1200" dirty="0">
                          <a:latin typeface="+mn-ea"/>
                          <a:ea typeface="+mn-ea"/>
                        </a:rPr>
                      </a:br>
                      <a:r>
                        <a:rPr kumimoji="1" lang="en-US" altLang="ja-JP" sz="1200" dirty="0">
                          <a:latin typeface="+mn-ea"/>
                          <a:ea typeface="+mn-ea"/>
                        </a:rPr>
                        <a:t>- </a:t>
                      </a:r>
                      <a:r>
                        <a:rPr kumimoji="1" lang="ja-JP" altLang="en-US" sz="1200" dirty="0">
                          <a:latin typeface="+mn-ea"/>
                          <a:ea typeface="+mn-ea"/>
                        </a:rPr>
                        <a:t>カスタマイズ可能なユーザーエクスペリエンス</a:t>
                      </a:r>
                      <a:br>
                        <a:rPr kumimoji="1" lang="en-US" altLang="ja-JP" sz="1200" dirty="0">
                          <a:latin typeface="+mn-ea"/>
                          <a:ea typeface="+mn-ea"/>
                        </a:rPr>
                      </a:br>
                      <a:r>
                        <a:rPr kumimoji="1" lang="en-US" altLang="ja-JP" sz="1200" dirty="0">
                          <a:latin typeface="+mn-ea"/>
                          <a:ea typeface="+mn-ea"/>
                        </a:rPr>
                        <a:t>- iOS</a:t>
                      </a:r>
                      <a:r>
                        <a:rPr kumimoji="1" lang="ja-JP" altLang="en-US" sz="1200" dirty="0">
                          <a:latin typeface="+mn-ea"/>
                          <a:ea typeface="+mn-ea"/>
                        </a:rPr>
                        <a:t>と</a:t>
                      </a:r>
                      <a:r>
                        <a:rPr kumimoji="1" lang="en-US" altLang="ja-JP" sz="1200" dirty="0">
                          <a:latin typeface="+mn-ea"/>
                          <a:ea typeface="+mn-ea"/>
                        </a:rPr>
                        <a:t>Android</a:t>
                      </a:r>
                      <a:r>
                        <a:rPr kumimoji="1" lang="ja-JP" altLang="en-US" sz="1200" dirty="0">
                          <a:latin typeface="+mn-ea"/>
                          <a:ea typeface="+mn-ea"/>
                        </a:rPr>
                        <a:t>で利用可能な共通コード</a:t>
                      </a:r>
                    </a:p>
                    <a:p>
                      <a:pPr marL="171450" indent="-171450">
                        <a:spcBef>
                          <a:spcPts val="600"/>
                        </a:spcBef>
                        <a:buFont typeface="Arial" panose="020B0604020202020204" pitchFamily="34" charset="0"/>
                        <a:buChar char="•"/>
                      </a:pPr>
                      <a:r>
                        <a:rPr kumimoji="1" lang="en-US" altLang="ja-JP" sz="1200" dirty="0">
                          <a:latin typeface="+mn-ea"/>
                          <a:ea typeface="+mn-ea"/>
                          <a:hlinkClick r:id="rId5"/>
                        </a:rPr>
                        <a:t>MATTR GO</a:t>
                      </a:r>
                      <a:r>
                        <a:rPr kumimoji="1" lang="ja-JP" altLang="en-US" sz="1200" dirty="0">
                          <a:latin typeface="+mn-ea"/>
                          <a:ea typeface="+mn-ea"/>
                        </a:rPr>
                        <a:t>：</a:t>
                      </a:r>
                      <a:br>
                        <a:rPr kumimoji="1" lang="en-US" altLang="ja-JP" sz="1200" dirty="0">
                          <a:latin typeface="+mn-ea"/>
                          <a:ea typeface="+mn-ea"/>
                        </a:rPr>
                      </a:br>
                      <a:r>
                        <a:rPr kumimoji="1" lang="ja-JP" altLang="en-US" sz="1200" dirty="0">
                          <a:latin typeface="+mn-ea"/>
                          <a:ea typeface="+mn-ea"/>
                        </a:rPr>
                        <a:t>独自のブランディング、色、タイポグラフィなどを使用してユーザーエクスペリエンスをカスタマイズできるプラットフォーム</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256795">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提供形態</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kern="1200" dirty="0">
                          <a:solidFill>
                            <a:schemeClr val="tx1"/>
                          </a:solidFill>
                          <a:latin typeface="+mn-ea"/>
                          <a:ea typeface="+mn-ea"/>
                          <a:cs typeface="+mn-cs"/>
                        </a:rPr>
                        <a:t>SDK</a:t>
                      </a:r>
                      <a:r>
                        <a:rPr kumimoji="1" lang="ja-JP" altLang="en-US" sz="1200" kern="1200" dirty="0">
                          <a:solidFill>
                            <a:schemeClr val="tx1"/>
                          </a:solidFill>
                          <a:latin typeface="+mn-ea"/>
                          <a:ea typeface="+mn-ea"/>
                          <a:cs typeface="+mn-cs"/>
                        </a:rPr>
                        <a:t>＋</a:t>
                      </a:r>
                      <a:r>
                        <a:rPr kumimoji="1" lang="en-US" altLang="ja-JP" sz="1200" kern="1200" dirty="0">
                          <a:solidFill>
                            <a:schemeClr val="tx1"/>
                          </a:solidFill>
                          <a:latin typeface="+mn-ea"/>
                          <a:ea typeface="+mn-ea"/>
                          <a:cs typeface="+mn-cs"/>
                        </a:rPr>
                        <a:t>SaaS</a:t>
                      </a:r>
                      <a:r>
                        <a:rPr kumimoji="1" lang="ja-JP" altLang="en-US" sz="1200" kern="1200" dirty="0">
                          <a:solidFill>
                            <a:schemeClr val="tx1"/>
                          </a:solidFill>
                          <a:latin typeface="+mn-ea"/>
                          <a:ea typeface="+mn-ea"/>
                          <a:cs typeface="+mn-cs"/>
                        </a:rPr>
                        <a:t>サービス</a:t>
                      </a:r>
                      <a:endParaRPr kumimoji="1" lang="en-US" altLang="ja-JP" sz="1200" kern="1200" dirty="0">
                        <a:solidFill>
                          <a:schemeClr val="tx1"/>
                        </a:solidFill>
                        <a:latin typeface="+mn-ea"/>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4547564"/>
                  </a:ext>
                </a:extLst>
              </a:tr>
              <a:tr h="256795">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ドキュメント</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hlinkClick r:id="rId6"/>
                        </a:rPr>
                        <a:t>https://learn.mattr.global/docs/</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3746668"/>
                  </a:ext>
                </a:extLst>
              </a:tr>
              <a:tr h="256795">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ライセンス</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latin typeface="+mn-ea"/>
                          <a:ea typeface="+mn-ea"/>
                        </a:rPr>
                        <a:t>MATTR</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9" name="正方形/長方形 8">
            <a:extLst>
              <a:ext uri="{FF2B5EF4-FFF2-40B4-BE49-F238E27FC236}">
                <a16:creationId xmlns:a16="http://schemas.microsoft.com/office/drawing/2014/main" id="{2EB422FD-2239-CFC3-698D-86FA5387E438}"/>
              </a:ext>
            </a:extLst>
          </p:cNvPr>
          <p:cNvSpPr/>
          <p:nvPr/>
        </p:nvSpPr>
        <p:spPr bwMode="gray">
          <a:xfrm>
            <a:off x="5146161" y="1703289"/>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10" name="正方形/長方形 9">
            <a:extLst>
              <a:ext uri="{FF2B5EF4-FFF2-40B4-BE49-F238E27FC236}">
                <a16:creationId xmlns:a16="http://schemas.microsoft.com/office/drawing/2014/main" id="{DC85479E-129E-7DC3-7F5D-ECFED62542B5}"/>
              </a:ext>
            </a:extLst>
          </p:cNvPr>
          <p:cNvSpPr/>
          <p:nvPr/>
        </p:nvSpPr>
        <p:spPr bwMode="gray">
          <a:xfrm>
            <a:off x="283068" y="1703289"/>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11" name="正方形/長方形 10">
            <a:extLst>
              <a:ext uri="{FF2B5EF4-FFF2-40B4-BE49-F238E27FC236}">
                <a16:creationId xmlns:a16="http://schemas.microsoft.com/office/drawing/2014/main" id="{1B6C77D7-46E3-0DAC-8C85-74791904293E}"/>
              </a:ext>
            </a:extLst>
          </p:cNvPr>
          <p:cNvSpPr/>
          <p:nvPr/>
        </p:nvSpPr>
        <p:spPr>
          <a:xfrm>
            <a:off x="5146160" y="2608124"/>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2" name="正方形/長方形 11">
            <a:extLst>
              <a:ext uri="{FF2B5EF4-FFF2-40B4-BE49-F238E27FC236}">
                <a16:creationId xmlns:a16="http://schemas.microsoft.com/office/drawing/2014/main" id="{51C255CC-9577-61B0-AAEC-5E90A224168C}"/>
              </a:ext>
            </a:extLst>
          </p:cNvPr>
          <p:cNvSpPr/>
          <p:nvPr/>
        </p:nvSpPr>
        <p:spPr>
          <a:xfrm>
            <a:off x="8088897" y="1960733"/>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EC94F5B9-2AA8-66A4-30B4-D714CD9C4D2E}"/>
              </a:ext>
            </a:extLst>
          </p:cNvPr>
          <p:cNvSpPr txBox="1"/>
          <p:nvPr/>
        </p:nvSpPr>
        <p:spPr>
          <a:xfrm>
            <a:off x="8759075" y="1959448"/>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14" name="正方形/長方形 13">
            <a:extLst>
              <a:ext uri="{FF2B5EF4-FFF2-40B4-BE49-F238E27FC236}">
                <a16:creationId xmlns:a16="http://schemas.microsoft.com/office/drawing/2014/main" id="{6C42B4FE-0B39-F5A0-539C-7B376D88A8F3}"/>
              </a:ext>
            </a:extLst>
          </p:cNvPr>
          <p:cNvSpPr/>
          <p:nvPr/>
        </p:nvSpPr>
        <p:spPr>
          <a:xfrm>
            <a:off x="7040807" y="2608123"/>
            <a:ext cx="1194604"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2" name="正方形/長方形 21">
            <a:extLst>
              <a:ext uri="{FF2B5EF4-FFF2-40B4-BE49-F238E27FC236}">
                <a16:creationId xmlns:a16="http://schemas.microsoft.com/office/drawing/2014/main" id="{F8A15A20-1DB8-4110-A741-BA4D2255F9E5}"/>
              </a:ext>
            </a:extLst>
          </p:cNvPr>
          <p:cNvSpPr/>
          <p:nvPr/>
        </p:nvSpPr>
        <p:spPr>
          <a:xfrm>
            <a:off x="7028775" y="3320527"/>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3" name="正方形/長方形 22">
            <a:extLst>
              <a:ext uri="{FF2B5EF4-FFF2-40B4-BE49-F238E27FC236}">
                <a16:creationId xmlns:a16="http://schemas.microsoft.com/office/drawing/2014/main" id="{D7480874-9217-8E6D-3577-60E80123A600}"/>
              </a:ext>
            </a:extLst>
          </p:cNvPr>
          <p:cNvSpPr/>
          <p:nvPr/>
        </p:nvSpPr>
        <p:spPr>
          <a:xfrm>
            <a:off x="5146160" y="3320526"/>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4" name="正方形/長方形 23">
            <a:extLst>
              <a:ext uri="{FF2B5EF4-FFF2-40B4-BE49-F238E27FC236}">
                <a16:creationId xmlns:a16="http://schemas.microsoft.com/office/drawing/2014/main" id="{453A02F1-AD6D-C045-222D-4F004420EC4C}"/>
              </a:ext>
            </a:extLst>
          </p:cNvPr>
          <p:cNvSpPr/>
          <p:nvPr/>
        </p:nvSpPr>
        <p:spPr>
          <a:xfrm>
            <a:off x="5146160" y="4065947"/>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Tree>
    <p:extLst>
      <p:ext uri="{BB962C8B-B14F-4D97-AF65-F5344CB8AC3E}">
        <p14:creationId xmlns:p14="http://schemas.microsoft.com/office/powerpoint/2010/main" val="29750702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AD9A730A-FD92-9B47-9AB4-959504B257FA}"/>
              </a:ext>
            </a:extLst>
          </p:cNvPr>
          <p:cNvPicPr>
            <a:picLocks noChangeAspect="1"/>
          </p:cNvPicPr>
          <p:nvPr/>
        </p:nvPicPr>
        <p:blipFill>
          <a:blip r:embed="rId3"/>
          <a:stretch>
            <a:fillRect/>
          </a:stretch>
        </p:blipFill>
        <p:spPr>
          <a:xfrm>
            <a:off x="5124382" y="2476820"/>
            <a:ext cx="4508567" cy="2384988"/>
          </a:xfrm>
          <a:prstGeom prst="rect">
            <a:avLst/>
          </a:prstGeom>
        </p:spPr>
      </p:pic>
      <p:graphicFrame>
        <p:nvGraphicFramePr>
          <p:cNvPr id="15" name="think-cell data - do not delete" hidden="1">
            <a:extLst>
              <a:ext uri="{FF2B5EF4-FFF2-40B4-BE49-F238E27FC236}">
                <a16:creationId xmlns:a16="http://schemas.microsoft.com/office/drawing/2014/main" id="{5A11A75D-4365-E707-4C8A-42DEF0A8B254}"/>
              </a:ext>
            </a:extLst>
          </p:cNvPr>
          <p:cNvGraphicFramePr>
            <a:graphicFrameLocks noChangeAspect="1"/>
          </p:cNvGraphicFramePr>
          <p:nvPr>
            <p:custDataLst>
              <p:tags r:id="rId1"/>
            </p:custDataLst>
            <p:extLst>
              <p:ext uri="{D42A27DB-BD31-4B8C-83A1-F6EECF244321}">
                <p14:modId xmlns:p14="http://schemas.microsoft.com/office/powerpoint/2010/main" val="14877142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240" imgH="305" progId="TCLayout.ActiveDocument.1">
                  <p:embed/>
                </p:oleObj>
              </mc:Choice>
              <mc:Fallback>
                <p:oleObj name="think-cell スライド" r:id="rId4" imgW="240" imgH="305" progId="TCLayout.ActiveDocument.1">
                  <p:embed/>
                  <p:pic>
                    <p:nvPicPr>
                      <p:cNvPr id="15" name="think-cell data - do not delete" hidden="1">
                        <a:extLst>
                          <a:ext uri="{FF2B5EF4-FFF2-40B4-BE49-F238E27FC236}">
                            <a16:creationId xmlns:a16="http://schemas.microsoft.com/office/drawing/2014/main" id="{5A11A75D-4365-E707-4C8A-42DEF0A8B25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A6A43CD7-1A48-5AC9-DB92-C100BB7ECB75}"/>
              </a:ext>
            </a:extLst>
          </p:cNvPr>
          <p:cNvSpPr>
            <a:spLocks noGrp="1"/>
          </p:cNvSpPr>
          <p:nvPr>
            <p:ph type="title"/>
          </p:nvPr>
        </p:nvSpPr>
        <p:spPr/>
        <p:txBody>
          <a:bodyPr vert="horz"/>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(10) </a:t>
            </a:r>
            <a:r>
              <a:rPr kumimoji="1" lang="en-US" altLang="ja-JP" dirty="0" err="1"/>
              <a:t>OpenWallet</a:t>
            </a:r>
            <a:r>
              <a:rPr kumimoji="1" lang="en-US" altLang="ja-JP" dirty="0"/>
              <a:t> Foundation</a:t>
            </a:r>
            <a:endParaRPr kumimoji="1" lang="ja-JP" altLang="en-US" dirty="0"/>
          </a:p>
        </p:txBody>
      </p:sp>
      <p:sp>
        <p:nvSpPr>
          <p:cNvPr id="3" name="テキスト プレースホルダー 2">
            <a:extLst>
              <a:ext uri="{FF2B5EF4-FFF2-40B4-BE49-F238E27FC236}">
                <a16:creationId xmlns:a16="http://schemas.microsoft.com/office/drawing/2014/main" id="{8D6FD0B3-8A9F-7CBD-6B68-09DBB3CB0B39}"/>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4" name="表 3">
            <a:extLst>
              <a:ext uri="{FF2B5EF4-FFF2-40B4-BE49-F238E27FC236}">
                <a16:creationId xmlns:a16="http://schemas.microsoft.com/office/drawing/2014/main" id="{FBB4E487-953C-4E7E-7674-C1CA851C435A}"/>
              </a:ext>
            </a:extLst>
          </p:cNvPr>
          <p:cNvGraphicFramePr>
            <a:graphicFrameLocks noGrp="1"/>
          </p:cNvGraphicFramePr>
          <p:nvPr>
            <p:extLst>
              <p:ext uri="{D42A27DB-BD31-4B8C-83A1-F6EECF244321}">
                <p14:modId xmlns:p14="http://schemas.microsoft.com/office/powerpoint/2010/main" val="517453212"/>
              </p:ext>
            </p:extLst>
          </p:nvPr>
        </p:nvGraphicFramePr>
        <p:xfrm>
          <a:off x="282477" y="2239568"/>
          <a:ext cx="4478059" cy="1756509"/>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0">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公開元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err="1">
                          <a:latin typeface="+mn-ea"/>
                          <a:ea typeface="+mn-ea"/>
                        </a:rPr>
                        <a:t>OpenWallet</a:t>
                      </a:r>
                      <a:r>
                        <a:rPr kumimoji="1" lang="en-US" altLang="ja-JP" sz="1200" dirty="0">
                          <a:latin typeface="+mn-ea"/>
                          <a:ea typeface="+mn-ea"/>
                        </a:rPr>
                        <a:t> Foundation</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476349">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ライブラリ名</a:t>
                      </a:r>
                      <a:r>
                        <a:rPr lang="en-US" altLang="ja-JP" sz="1200" dirty="0">
                          <a:latin typeface="+mn-ea"/>
                          <a:ea typeface="+mn-ea"/>
                        </a:rPr>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内容</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kern="1200" dirty="0">
                          <a:solidFill>
                            <a:schemeClr val="tx1"/>
                          </a:solidFill>
                          <a:latin typeface="+mn-ea"/>
                          <a:ea typeface="+mn-ea"/>
                          <a:cs typeface="+mn-cs"/>
                          <a:hlinkClick r:id="rId6"/>
                        </a:rPr>
                        <a:t>Wallet Framework for .NET</a:t>
                      </a:r>
                      <a:endParaRPr kumimoji="1" lang="en-US" altLang="ja-JP" sz="1200" kern="1200" dirty="0">
                        <a:solidFill>
                          <a:schemeClr val="tx1"/>
                        </a:solidFill>
                        <a:latin typeface="+mn-ea"/>
                        <a:ea typeface="+mn-ea"/>
                        <a:cs typeface="+mn-cs"/>
                      </a:endParaRPr>
                    </a:p>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kern="1200" dirty="0">
                          <a:solidFill>
                            <a:schemeClr val="tx1"/>
                          </a:solidFill>
                          <a:latin typeface="+mn-ea"/>
                          <a:ea typeface="+mn-ea"/>
                          <a:cs typeface="+mn-cs"/>
                          <a:hlinkClick r:id="rId7"/>
                        </a:rPr>
                        <a:t>Aries Framework - JavaScript(AF-JS)</a:t>
                      </a:r>
                      <a:endParaRPr kumimoji="1" lang="en-US" altLang="ja-JP" sz="1200" kern="1200" dirty="0">
                        <a:solidFill>
                          <a:schemeClr val="tx1"/>
                        </a:solidFill>
                        <a:latin typeface="+mn-ea"/>
                        <a:ea typeface="+mn-ea"/>
                        <a:cs typeface="+mn-cs"/>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0">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提供形態</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ea"/>
                          <a:ea typeface="+mn-ea"/>
                          <a:cs typeface="+mn-cs"/>
                        </a:rPr>
                        <a:t>ソースコード</a:t>
                      </a:r>
                      <a:endParaRPr kumimoji="1" lang="en-US" altLang="ja-JP" sz="1200" kern="1200" dirty="0">
                        <a:solidFill>
                          <a:schemeClr val="tx1"/>
                        </a:solidFill>
                        <a:latin typeface="+mn-ea"/>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4547564"/>
                  </a:ext>
                </a:extLst>
              </a:tr>
              <a:tr h="0">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ドキュメント</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hlinkClick r:id="rId8"/>
                        </a:rPr>
                        <a:t>https://aries-cloud-agent-python.readthedocs.io/en/latest/</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3746668"/>
                  </a:ext>
                </a:extLst>
              </a:tr>
              <a:tr h="0">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ライセンス</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latin typeface="+mn-ea"/>
                          <a:ea typeface="+mn-ea"/>
                        </a:rPr>
                        <a:t>Apache License Version 2.0</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6" name="正方形/長方形 5">
            <a:extLst>
              <a:ext uri="{FF2B5EF4-FFF2-40B4-BE49-F238E27FC236}">
                <a16:creationId xmlns:a16="http://schemas.microsoft.com/office/drawing/2014/main" id="{7F003E93-3B04-61A8-C991-16D4785A6BDF}"/>
              </a:ext>
            </a:extLst>
          </p:cNvPr>
          <p:cNvSpPr/>
          <p:nvPr/>
        </p:nvSpPr>
        <p:spPr bwMode="gray">
          <a:xfrm>
            <a:off x="5146161" y="1967982"/>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7" name="正方形/長方形 6">
            <a:extLst>
              <a:ext uri="{FF2B5EF4-FFF2-40B4-BE49-F238E27FC236}">
                <a16:creationId xmlns:a16="http://schemas.microsoft.com/office/drawing/2014/main" id="{08F7AEF2-3A34-2446-304C-332EC2655DE8}"/>
              </a:ext>
            </a:extLst>
          </p:cNvPr>
          <p:cNvSpPr/>
          <p:nvPr/>
        </p:nvSpPr>
        <p:spPr bwMode="gray">
          <a:xfrm>
            <a:off x="283068" y="1967982"/>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8" name="正方形/長方形 7">
            <a:extLst>
              <a:ext uri="{FF2B5EF4-FFF2-40B4-BE49-F238E27FC236}">
                <a16:creationId xmlns:a16="http://schemas.microsoft.com/office/drawing/2014/main" id="{10C6A83A-B6A3-D20D-1B28-572EC5E32A1A}"/>
              </a:ext>
            </a:extLst>
          </p:cNvPr>
          <p:cNvSpPr/>
          <p:nvPr/>
        </p:nvSpPr>
        <p:spPr>
          <a:xfrm>
            <a:off x="8088897" y="2225426"/>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 name="テキスト ボックス 8">
            <a:extLst>
              <a:ext uri="{FF2B5EF4-FFF2-40B4-BE49-F238E27FC236}">
                <a16:creationId xmlns:a16="http://schemas.microsoft.com/office/drawing/2014/main" id="{80BA36EA-C94A-7FDC-BC70-3D2E0067D6E9}"/>
              </a:ext>
            </a:extLst>
          </p:cNvPr>
          <p:cNvSpPr txBox="1"/>
          <p:nvPr/>
        </p:nvSpPr>
        <p:spPr>
          <a:xfrm>
            <a:off x="8759075" y="2224141"/>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10" name="正方形/長方形 9">
            <a:extLst>
              <a:ext uri="{FF2B5EF4-FFF2-40B4-BE49-F238E27FC236}">
                <a16:creationId xmlns:a16="http://schemas.microsoft.com/office/drawing/2014/main" id="{D1191A63-92EF-A9AF-DF8A-BC5EF30716C3}"/>
              </a:ext>
            </a:extLst>
          </p:cNvPr>
          <p:cNvSpPr/>
          <p:nvPr/>
        </p:nvSpPr>
        <p:spPr>
          <a:xfrm>
            <a:off x="8425558" y="3068159"/>
            <a:ext cx="1194604" cy="309489"/>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1" name="正方形/長方形 10">
            <a:extLst>
              <a:ext uri="{FF2B5EF4-FFF2-40B4-BE49-F238E27FC236}">
                <a16:creationId xmlns:a16="http://schemas.microsoft.com/office/drawing/2014/main" id="{2E95B7AE-45F4-9DA0-244F-D064ACF7FD10}"/>
              </a:ext>
            </a:extLst>
          </p:cNvPr>
          <p:cNvSpPr/>
          <p:nvPr/>
        </p:nvSpPr>
        <p:spPr>
          <a:xfrm>
            <a:off x="5146160" y="2876209"/>
            <a:ext cx="3102293"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2" name="正方形/長方形 11">
            <a:extLst>
              <a:ext uri="{FF2B5EF4-FFF2-40B4-BE49-F238E27FC236}">
                <a16:creationId xmlns:a16="http://schemas.microsoft.com/office/drawing/2014/main" id="{3E63E152-7A60-9A67-6988-2EF18A5A6CD6}"/>
              </a:ext>
            </a:extLst>
          </p:cNvPr>
          <p:cNvSpPr/>
          <p:nvPr/>
        </p:nvSpPr>
        <p:spPr>
          <a:xfrm>
            <a:off x="5146161" y="3592632"/>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3" name="正方形/長方形 12">
            <a:extLst>
              <a:ext uri="{FF2B5EF4-FFF2-40B4-BE49-F238E27FC236}">
                <a16:creationId xmlns:a16="http://schemas.microsoft.com/office/drawing/2014/main" id="{B14B1E96-45ED-17AB-4A06-3744A8C19C5C}"/>
              </a:ext>
            </a:extLst>
          </p:cNvPr>
          <p:cNvSpPr/>
          <p:nvPr/>
        </p:nvSpPr>
        <p:spPr>
          <a:xfrm>
            <a:off x="7634837" y="3592632"/>
            <a:ext cx="613616"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6" name="コンテンツ プレースホルダー 2">
            <a:extLst>
              <a:ext uri="{FF2B5EF4-FFF2-40B4-BE49-F238E27FC236}">
                <a16:creationId xmlns:a16="http://schemas.microsoft.com/office/drawing/2014/main" id="{E3A4D06F-AAF6-EA71-C591-5D5DFBFF7792}"/>
              </a:ext>
            </a:extLst>
          </p:cNvPr>
          <p:cNvSpPr txBox="1">
            <a:spLocks/>
          </p:cNvSpPr>
          <p:nvPr/>
        </p:nvSpPr>
        <p:spPr>
          <a:xfrm>
            <a:off x="273050" y="908049"/>
            <a:ext cx="9359900" cy="1231679"/>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ja-JP" altLang="en-US" dirty="0"/>
              <a:t>デジタル </a:t>
            </a:r>
            <a:r>
              <a:rPr kumimoji="1" lang="en-US" altLang="ja-JP" dirty="0"/>
              <a:t>ID </a:t>
            </a:r>
            <a:r>
              <a:rPr kumimoji="1" lang="ja-JP" altLang="en-US" dirty="0"/>
              <a:t>ウォレットを構築するためのオープン フレームワーク。</a:t>
            </a:r>
            <a:r>
              <a:rPr kumimoji="1" lang="en-US" altLang="ja-JP" dirty="0"/>
              <a:t>OID4VC</a:t>
            </a:r>
            <a:r>
              <a:rPr kumimoji="1" lang="ja-JP" altLang="en-US" dirty="0"/>
              <a:t>および</a:t>
            </a:r>
            <a:r>
              <a:rPr kumimoji="1" lang="en-US" altLang="ja-JP" dirty="0"/>
              <a:t>SD-JWT</a:t>
            </a:r>
            <a:r>
              <a:rPr kumimoji="1" lang="ja-JP" altLang="en-US" dirty="0"/>
              <a:t>をサポートする。また、</a:t>
            </a:r>
            <a:r>
              <a:rPr kumimoji="1" lang="en-US" altLang="ja-JP" dirty="0"/>
              <a:t>OID4VC/ OID4VP / SIOP v2</a:t>
            </a:r>
            <a:r>
              <a:rPr kumimoji="1" lang="ja-JP" altLang="en-US" dirty="0"/>
              <a:t>に対応している。</a:t>
            </a:r>
          </a:p>
          <a:p>
            <a:r>
              <a:rPr kumimoji="1" lang="en-US" altLang="ja-JP" dirty="0"/>
              <a:t>Hyperledger</a:t>
            </a:r>
            <a:r>
              <a:rPr kumimoji="1" lang="ja-JP" altLang="en-US" dirty="0"/>
              <a:t>で取り組まれていた</a:t>
            </a:r>
            <a:r>
              <a:rPr kumimoji="1" lang="en-US" altLang="ja-JP" dirty="0"/>
              <a:t>Aries Framework .NET</a:t>
            </a:r>
            <a:r>
              <a:rPr kumimoji="1" lang="ja-JP" altLang="en-US" dirty="0"/>
              <a:t>および</a:t>
            </a:r>
            <a:r>
              <a:rPr kumimoji="1" lang="en-US" altLang="ja-JP" dirty="0"/>
              <a:t>Aries Framework Java Script</a:t>
            </a:r>
            <a:r>
              <a:rPr kumimoji="1" lang="ja-JP" altLang="en-US" dirty="0"/>
              <a:t>が</a:t>
            </a:r>
            <a:r>
              <a:rPr kumimoji="1" lang="en-US" altLang="ja-JP" dirty="0" err="1"/>
              <a:t>OpenWallet</a:t>
            </a:r>
            <a:r>
              <a:rPr kumimoji="1" lang="en-US" altLang="ja-JP" dirty="0"/>
              <a:t> Foundation</a:t>
            </a:r>
            <a:r>
              <a:rPr kumimoji="1" lang="ja-JP" altLang="en-US" dirty="0"/>
              <a:t>に移管されて移行作業中である</a:t>
            </a:r>
            <a:endParaRPr kumimoji="1" lang="en-US" altLang="ja-JP" dirty="0"/>
          </a:p>
        </p:txBody>
      </p:sp>
    </p:spTree>
    <p:extLst>
      <p:ext uri="{BB962C8B-B14F-4D97-AF65-F5344CB8AC3E}">
        <p14:creationId xmlns:p14="http://schemas.microsoft.com/office/powerpoint/2010/main" val="13885897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1ECD6536-6EFF-96B9-B278-48A25F8B96F0}"/>
              </a:ext>
            </a:extLst>
          </p:cNvPr>
          <p:cNvPicPr>
            <a:picLocks noChangeAspect="1"/>
          </p:cNvPicPr>
          <p:nvPr/>
        </p:nvPicPr>
        <p:blipFill>
          <a:blip r:embed="rId2"/>
          <a:stretch>
            <a:fillRect/>
          </a:stretch>
        </p:blipFill>
        <p:spPr>
          <a:xfrm>
            <a:off x="5122412" y="2073301"/>
            <a:ext cx="4522199" cy="2392199"/>
          </a:xfrm>
          <a:prstGeom prst="rect">
            <a:avLst/>
          </a:prstGeom>
        </p:spPr>
      </p:pic>
      <p:sp>
        <p:nvSpPr>
          <p:cNvPr id="2" name="タイトル 1">
            <a:extLst>
              <a:ext uri="{FF2B5EF4-FFF2-40B4-BE49-F238E27FC236}">
                <a16:creationId xmlns:a16="http://schemas.microsoft.com/office/drawing/2014/main" id="{A6BC7841-8ECF-162F-0550-1935392D8070}"/>
              </a:ext>
            </a:extLst>
          </p:cNvPr>
          <p:cNvSpPr>
            <a:spLocks noGrp="1"/>
          </p:cNvSpPr>
          <p:nvPr>
            <p:ph type="title"/>
          </p:nvPr>
        </p:nvSpPr>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(11) SD-JWT (</a:t>
            </a:r>
            <a:r>
              <a:rPr kumimoji="1" lang="en-US" altLang="ja-JP" dirty="0" err="1"/>
              <a:t>OpenWallet</a:t>
            </a:r>
            <a:r>
              <a:rPr kumimoji="1" lang="en-US" altLang="ja-JP" dirty="0"/>
              <a:t> Foundation)</a:t>
            </a:r>
            <a:endParaRPr kumimoji="1" lang="ja-JP" altLang="en-US" dirty="0"/>
          </a:p>
        </p:txBody>
      </p:sp>
      <p:sp>
        <p:nvSpPr>
          <p:cNvPr id="3" name="テキスト プレースホルダー 2">
            <a:extLst>
              <a:ext uri="{FF2B5EF4-FFF2-40B4-BE49-F238E27FC236}">
                <a16:creationId xmlns:a16="http://schemas.microsoft.com/office/drawing/2014/main" id="{653D4886-9A9C-E39A-7C3A-5D6D6A7B3B74}"/>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graphicFrame>
        <p:nvGraphicFramePr>
          <p:cNvPr id="4" name="表 3">
            <a:extLst>
              <a:ext uri="{FF2B5EF4-FFF2-40B4-BE49-F238E27FC236}">
                <a16:creationId xmlns:a16="http://schemas.microsoft.com/office/drawing/2014/main" id="{3E0F6D52-0A32-8A05-B638-4BBF88686EE3}"/>
              </a:ext>
            </a:extLst>
          </p:cNvPr>
          <p:cNvGraphicFramePr>
            <a:graphicFrameLocks noGrp="1"/>
          </p:cNvGraphicFramePr>
          <p:nvPr>
            <p:extLst>
              <p:ext uri="{D42A27DB-BD31-4B8C-83A1-F6EECF244321}">
                <p14:modId xmlns:p14="http://schemas.microsoft.com/office/powerpoint/2010/main" val="3789296038"/>
              </p:ext>
            </p:extLst>
          </p:nvPr>
        </p:nvGraphicFramePr>
        <p:xfrm>
          <a:off x="282477" y="1842524"/>
          <a:ext cx="4478059" cy="259080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117034">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公開元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err="1">
                          <a:latin typeface="+mn-ea"/>
                          <a:ea typeface="+mn-ea"/>
                        </a:rPr>
                        <a:t>OpenWallet</a:t>
                      </a:r>
                      <a:r>
                        <a:rPr kumimoji="1" lang="en-US" altLang="ja-JP" sz="1200" dirty="0">
                          <a:latin typeface="+mn-ea"/>
                          <a:ea typeface="+mn-ea"/>
                        </a:rPr>
                        <a:t> Foundation</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1265996">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ライブラリ名</a:t>
                      </a:r>
                      <a:r>
                        <a:rPr lang="en-US" altLang="ja-JP" sz="1200" dirty="0">
                          <a:latin typeface="+mn-ea"/>
                          <a:ea typeface="+mn-ea"/>
                        </a:rPr>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内容</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latin typeface="+mn-ea"/>
                          <a:ea typeface="+mn-ea"/>
                          <a:hlinkClick r:id="rId3"/>
                        </a:rPr>
                        <a:t>SD-JWT Python Reference Implementation </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4"/>
                        </a:rPr>
                        <a:t>SD-JWT Rust Reference Implementation </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5"/>
                        </a:rPr>
                        <a:t>SD-JWT Implementation in JavaScript (TypeScript) </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6"/>
                        </a:rPr>
                        <a:t>SD-JWT-</a:t>
                      </a:r>
                      <a:r>
                        <a:rPr kumimoji="1" lang="en-US" altLang="ja-JP" sz="1200" dirty="0" err="1">
                          <a:latin typeface="+mn-ea"/>
                          <a:ea typeface="+mn-ea"/>
                          <a:hlinkClick r:id="rId6"/>
                        </a:rPr>
                        <a:t>DotNet</a:t>
                      </a:r>
                      <a:r>
                        <a:rPr kumimoji="1" lang="en-US" altLang="ja-JP" sz="1200" dirty="0">
                          <a:latin typeface="+mn-ea"/>
                          <a:ea typeface="+mn-ea"/>
                          <a:hlinkClick r:id="rId6"/>
                        </a:rPr>
                        <a:t> </a:t>
                      </a:r>
                      <a:endParaRPr kumimoji="1" lang="en-US" altLang="ja-JP" sz="1200" dirty="0">
                        <a:latin typeface="+mn-ea"/>
                        <a:ea typeface="+mn-ea"/>
                      </a:endParaRPr>
                    </a:p>
                    <a:p>
                      <a:pPr marL="171450" indent="-171450">
                        <a:spcBef>
                          <a:spcPts val="600"/>
                        </a:spcBef>
                        <a:buFont typeface="Arial" panose="020B0604020202020204" pitchFamily="34" charset="0"/>
                        <a:buChar char="•"/>
                      </a:pPr>
                      <a:r>
                        <a:rPr kumimoji="1" lang="en-US" altLang="ja-JP" sz="1200" dirty="0">
                          <a:latin typeface="+mn-ea"/>
                          <a:ea typeface="+mn-ea"/>
                          <a:hlinkClick r:id="rId7"/>
                        </a:rPr>
                        <a:t>SD-JWT Implementation in Kotlin </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117034">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提供形態</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ea"/>
                          <a:ea typeface="+mn-ea"/>
                          <a:cs typeface="+mn-cs"/>
                        </a:rPr>
                        <a:t>ソースコード</a:t>
                      </a:r>
                      <a:endParaRPr kumimoji="1" lang="en-US" altLang="ja-JP" sz="1200" kern="1200" dirty="0">
                        <a:solidFill>
                          <a:schemeClr val="tx1"/>
                        </a:solidFill>
                        <a:latin typeface="+mn-ea"/>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4547564"/>
                  </a:ext>
                </a:extLst>
              </a:tr>
              <a:tr h="117034">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ドキュメント</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hlinkClick r:id="rId8"/>
                        </a:rPr>
                        <a:t>https://github.com/openwallet-foundation-labs</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3746668"/>
                  </a:ext>
                </a:extLst>
              </a:tr>
              <a:tr h="117034">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ライセンス</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latin typeface="+mn-ea"/>
                          <a:ea typeface="+mn-ea"/>
                        </a:rPr>
                        <a:t>Apache License Version 2.0</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6" name="正方形/長方形 5">
            <a:extLst>
              <a:ext uri="{FF2B5EF4-FFF2-40B4-BE49-F238E27FC236}">
                <a16:creationId xmlns:a16="http://schemas.microsoft.com/office/drawing/2014/main" id="{C7EE349A-2747-9D89-1E2D-9A2BDC34A5C6}"/>
              </a:ext>
            </a:extLst>
          </p:cNvPr>
          <p:cNvSpPr/>
          <p:nvPr/>
        </p:nvSpPr>
        <p:spPr bwMode="gray">
          <a:xfrm>
            <a:off x="5146161" y="1570938"/>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7" name="正方形/長方形 6">
            <a:extLst>
              <a:ext uri="{FF2B5EF4-FFF2-40B4-BE49-F238E27FC236}">
                <a16:creationId xmlns:a16="http://schemas.microsoft.com/office/drawing/2014/main" id="{BA14BCD5-E4F3-9F5E-ABBB-AA6897867E73}"/>
              </a:ext>
            </a:extLst>
          </p:cNvPr>
          <p:cNvSpPr/>
          <p:nvPr/>
        </p:nvSpPr>
        <p:spPr bwMode="gray">
          <a:xfrm>
            <a:off x="283068" y="1570938"/>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mn-ea"/>
                <a:ea typeface="+mn-ea"/>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mn-ea"/>
              <a:ea typeface="+mn-ea"/>
              <a:cs typeface="Arial" charset="0"/>
            </a:endParaRPr>
          </a:p>
        </p:txBody>
      </p:sp>
      <p:sp>
        <p:nvSpPr>
          <p:cNvPr id="9" name="正方形/長方形 8">
            <a:extLst>
              <a:ext uri="{FF2B5EF4-FFF2-40B4-BE49-F238E27FC236}">
                <a16:creationId xmlns:a16="http://schemas.microsoft.com/office/drawing/2014/main" id="{6A6DF596-BB8E-74CB-2AF7-4D112DE3C7F9}"/>
              </a:ext>
            </a:extLst>
          </p:cNvPr>
          <p:cNvSpPr/>
          <p:nvPr/>
        </p:nvSpPr>
        <p:spPr>
          <a:xfrm>
            <a:off x="8088897" y="1828382"/>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9C0F079D-93EF-F900-5C47-2276FC561D13}"/>
              </a:ext>
            </a:extLst>
          </p:cNvPr>
          <p:cNvSpPr txBox="1"/>
          <p:nvPr/>
        </p:nvSpPr>
        <p:spPr>
          <a:xfrm>
            <a:off x="8759075" y="1827097"/>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11" name="正方形/長方形 10">
            <a:extLst>
              <a:ext uri="{FF2B5EF4-FFF2-40B4-BE49-F238E27FC236}">
                <a16:creationId xmlns:a16="http://schemas.microsoft.com/office/drawing/2014/main" id="{64CF4B53-898C-771D-03B0-B5FB3B96F574}"/>
              </a:ext>
            </a:extLst>
          </p:cNvPr>
          <p:cNvSpPr/>
          <p:nvPr/>
        </p:nvSpPr>
        <p:spPr>
          <a:xfrm>
            <a:off x="8425558" y="2671115"/>
            <a:ext cx="1194604" cy="309489"/>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7" name="コンテンツ プレースホルダー 2">
            <a:extLst>
              <a:ext uri="{FF2B5EF4-FFF2-40B4-BE49-F238E27FC236}">
                <a16:creationId xmlns:a16="http://schemas.microsoft.com/office/drawing/2014/main" id="{B9749E8A-C395-1F84-AA3F-CA7919C8BE2E}"/>
              </a:ext>
            </a:extLst>
          </p:cNvPr>
          <p:cNvSpPr txBox="1">
            <a:spLocks/>
          </p:cNvSpPr>
          <p:nvPr/>
        </p:nvSpPr>
        <p:spPr>
          <a:xfrm>
            <a:off x="273050" y="908049"/>
            <a:ext cx="9359900" cy="599513"/>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a:latin typeface="+mn-ea"/>
                <a:ea typeface="+mn-ea"/>
              </a:rPr>
              <a:t>IETF SD-JWT </a:t>
            </a:r>
            <a:r>
              <a:rPr kumimoji="1" lang="ja-JP" altLang="en-US" dirty="0">
                <a:latin typeface="+mn-ea"/>
                <a:ea typeface="+mn-ea"/>
              </a:rPr>
              <a:t>仕様の例を生成するために使用され、</a:t>
            </a:r>
            <a:r>
              <a:rPr kumimoji="1" lang="en-US" altLang="ja-JP" dirty="0">
                <a:latin typeface="+mn-ea"/>
                <a:ea typeface="+mn-ea"/>
              </a:rPr>
              <a:t>SD-JWT </a:t>
            </a:r>
            <a:r>
              <a:rPr kumimoji="1" lang="ja-JP" altLang="en-US" dirty="0">
                <a:latin typeface="+mn-ea"/>
                <a:ea typeface="+mn-ea"/>
              </a:rPr>
              <a:t>を実装するための他のプロジェクトでも使用可能、複数の言語に対応</a:t>
            </a:r>
          </a:p>
        </p:txBody>
      </p:sp>
    </p:spTree>
    <p:extLst>
      <p:ext uri="{BB962C8B-B14F-4D97-AF65-F5344CB8AC3E}">
        <p14:creationId xmlns:p14="http://schemas.microsoft.com/office/powerpoint/2010/main" val="14276944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E1F79839-9CCA-A79C-E04B-EBC1496B149D}"/>
              </a:ext>
            </a:extLst>
          </p:cNvPr>
          <p:cNvPicPr>
            <a:picLocks noChangeAspect="1"/>
          </p:cNvPicPr>
          <p:nvPr/>
        </p:nvPicPr>
        <p:blipFill>
          <a:blip r:embed="rId2"/>
          <a:stretch>
            <a:fillRect/>
          </a:stretch>
        </p:blipFill>
        <p:spPr>
          <a:xfrm>
            <a:off x="5117313" y="2659703"/>
            <a:ext cx="4491124" cy="2375760"/>
          </a:xfrm>
          <a:prstGeom prst="rect">
            <a:avLst/>
          </a:prstGeom>
        </p:spPr>
      </p:pic>
      <p:sp>
        <p:nvSpPr>
          <p:cNvPr id="2" name="タイトル 1">
            <a:extLst>
              <a:ext uri="{FF2B5EF4-FFF2-40B4-BE49-F238E27FC236}">
                <a16:creationId xmlns:a16="http://schemas.microsoft.com/office/drawing/2014/main" id="{17460AE2-A31A-C487-EE8E-948FCD4C9443}"/>
              </a:ext>
            </a:extLst>
          </p:cNvPr>
          <p:cNvSpPr>
            <a:spLocks noGrp="1"/>
          </p:cNvSpPr>
          <p:nvPr>
            <p:ph type="title"/>
          </p:nvPr>
        </p:nvSpPr>
        <p:spPr/>
        <p:txBody>
          <a:bodyPr/>
          <a:lstStyle/>
          <a:p>
            <a:r>
              <a:rPr kumimoji="1" lang="en-US" altLang="ja-JP" dirty="0"/>
              <a:t>6.2. </a:t>
            </a:r>
            <a:r>
              <a:rPr kumimoji="1" lang="ja-JP" altLang="en-US" dirty="0"/>
              <a:t>ライブラリ </a:t>
            </a:r>
            <a:r>
              <a:rPr kumimoji="1" lang="en-US" altLang="ja-JP" dirty="0"/>
              <a:t>– 6.2.2. </a:t>
            </a:r>
            <a:r>
              <a:rPr kumimoji="1" lang="ja-JP" altLang="en-US" dirty="0"/>
              <a:t>ライブラリ詳細 </a:t>
            </a:r>
            <a:r>
              <a:rPr kumimoji="1" lang="en-US" altLang="ja-JP" dirty="0"/>
              <a:t>(12) </a:t>
            </a:r>
            <a:r>
              <a:rPr kumimoji="1" lang="en-US" altLang="ja-JP" dirty="0" err="1"/>
              <a:t>Keycloak</a:t>
            </a:r>
            <a:endParaRPr kumimoji="1" lang="ja-JP" altLang="en-US" dirty="0"/>
          </a:p>
        </p:txBody>
      </p:sp>
      <p:sp>
        <p:nvSpPr>
          <p:cNvPr id="3" name="テキスト プレースホルダー 2">
            <a:extLst>
              <a:ext uri="{FF2B5EF4-FFF2-40B4-BE49-F238E27FC236}">
                <a16:creationId xmlns:a16="http://schemas.microsoft.com/office/drawing/2014/main" id="{FAAE09C3-3DDD-9BEB-1C9F-EE64CD2859E4}"/>
              </a:ext>
            </a:extLst>
          </p:cNvPr>
          <p:cNvSpPr>
            <a:spLocks noGrp="1"/>
          </p:cNvSpPr>
          <p:nvPr>
            <p:ph type="body" sz="quarter" idx="10"/>
          </p:nvPr>
        </p:nvSpPr>
        <p:spPr>
          <a:xfrm>
            <a:off x="273050" y="188913"/>
            <a:ext cx="7848600" cy="161583"/>
          </a:xfrm>
        </p:spPr>
        <p:txBody>
          <a:bodyPr/>
          <a:lstStyle/>
          <a:p>
            <a:r>
              <a:rPr lang="en-US" altLang="ja-JP" dirty="0">
                <a:solidFill>
                  <a:schemeClr val="dk1"/>
                </a:solidFill>
                <a:latin typeface="+mn-ea"/>
                <a:ea typeface="+mn-ea"/>
                <a:cs typeface="Arial"/>
                <a:sym typeface="Arial"/>
              </a:rPr>
              <a:t>6</a:t>
            </a:r>
            <a:r>
              <a:rPr lang="en-US" altLang="ja-JP" sz="1050" u="none" strike="noStrike" cap="none" dirty="0">
                <a:solidFill>
                  <a:schemeClr val="dk1"/>
                </a:solidFill>
                <a:latin typeface="+mn-ea"/>
                <a:ea typeface="+mn-ea"/>
                <a:cs typeface="Arial"/>
                <a:sym typeface="Arial"/>
              </a:rPr>
              <a:t>.</a:t>
            </a:r>
            <a:r>
              <a:rPr lang="ja-JP" altLang="en-US" dirty="0">
                <a:solidFill>
                  <a:schemeClr val="dk1"/>
                </a:solidFill>
                <a:latin typeface="+mn-ea"/>
                <a:ea typeface="+mn-ea"/>
                <a:cs typeface="Arial"/>
                <a:sym typeface="Arial"/>
              </a:rPr>
              <a:t> </a:t>
            </a:r>
            <a:r>
              <a:rPr lang="ja-JP" altLang="en-US" sz="1050" u="none" strike="noStrike" cap="none" dirty="0">
                <a:solidFill>
                  <a:schemeClr val="dk1"/>
                </a:solidFill>
                <a:latin typeface="+mn-ea"/>
                <a:ea typeface="+mn-ea"/>
                <a:cs typeface="Arial"/>
                <a:sym typeface="Arial"/>
              </a:rPr>
              <a:t>実装パターンの抽出</a:t>
            </a:r>
          </a:p>
        </p:txBody>
      </p:sp>
      <p:sp>
        <p:nvSpPr>
          <p:cNvPr id="8" name="コンテンツ プレースホルダー 2">
            <a:extLst>
              <a:ext uri="{FF2B5EF4-FFF2-40B4-BE49-F238E27FC236}">
                <a16:creationId xmlns:a16="http://schemas.microsoft.com/office/drawing/2014/main" id="{27527CA5-42FB-B81D-436B-99F465CE74EA}"/>
              </a:ext>
            </a:extLst>
          </p:cNvPr>
          <p:cNvSpPr txBox="1">
            <a:spLocks/>
          </p:cNvSpPr>
          <p:nvPr/>
        </p:nvSpPr>
        <p:spPr>
          <a:xfrm>
            <a:off x="273050" y="908049"/>
            <a:ext cx="9359900" cy="1231679"/>
          </a:xfrm>
          <a:prstGeom prst="rect">
            <a:avLst/>
          </a:prstGeom>
          <a:noFill/>
          <a:ln>
            <a:noFill/>
          </a:ln>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dirty="0" err="1"/>
              <a:t>Keycloak</a:t>
            </a:r>
            <a:r>
              <a:rPr kumimoji="1" lang="ja-JP" altLang="en-US" dirty="0"/>
              <a:t>は</a:t>
            </a:r>
            <a:r>
              <a:rPr kumimoji="1" lang="en-US" altLang="ja-JP" dirty="0"/>
              <a:t>OIDC</a:t>
            </a:r>
            <a:r>
              <a:rPr kumimoji="1" lang="ja-JP" altLang="en-US" dirty="0"/>
              <a:t>に準拠したアイデンティティ管理ミドルウェアであり、</a:t>
            </a:r>
            <a:r>
              <a:rPr kumimoji="1" lang="en-US" altLang="ja-JP" dirty="0"/>
              <a:t>SIOP-2 / OIDC4VP </a:t>
            </a:r>
            <a:r>
              <a:rPr kumimoji="1" lang="ja-JP" altLang="en-US" dirty="0"/>
              <a:t>クライアントをサポートし、 </a:t>
            </a:r>
            <a:r>
              <a:rPr kumimoji="1" lang="en-US" altLang="ja-JP" dirty="0"/>
              <a:t>OIDC4VCI </a:t>
            </a:r>
            <a:r>
              <a:rPr kumimoji="1" lang="ja-JP" altLang="en-US" dirty="0"/>
              <a:t>プロトコルを通じて 準拠ウォレットに</a:t>
            </a:r>
            <a:r>
              <a:rPr kumimoji="1" lang="en-US" altLang="ja-JP" dirty="0"/>
              <a:t>Verifiable Credentials </a:t>
            </a:r>
            <a:r>
              <a:rPr kumimoji="1" lang="ja-JP" altLang="en-US" dirty="0"/>
              <a:t>を発行するための</a:t>
            </a:r>
            <a:r>
              <a:rPr kumimoji="1" lang="en-US" altLang="ja-JP" dirty="0" err="1"/>
              <a:t>Keycloak</a:t>
            </a:r>
            <a:r>
              <a:rPr kumimoji="1" lang="ja-JP" altLang="en-US" dirty="0"/>
              <a:t>のプラグインである。</a:t>
            </a:r>
          </a:p>
          <a:p>
            <a:r>
              <a:rPr kumimoji="1" lang="en-US" altLang="ja-JP" dirty="0"/>
              <a:t>FIWARE</a:t>
            </a:r>
            <a:r>
              <a:rPr kumimoji="1" lang="ja-JP" altLang="en-US" dirty="0"/>
              <a:t>は、欧州連合（</a:t>
            </a:r>
            <a:r>
              <a:rPr kumimoji="1" lang="en-US" altLang="ja-JP" dirty="0"/>
              <a:t>EU</a:t>
            </a:r>
            <a:r>
              <a:rPr kumimoji="1" lang="ja-JP" altLang="en-US" dirty="0"/>
              <a:t>）の</a:t>
            </a:r>
            <a:r>
              <a:rPr kumimoji="1" lang="en-US" altLang="ja-JP" dirty="0"/>
              <a:t>ICT</a:t>
            </a:r>
            <a:r>
              <a:rPr kumimoji="1" lang="ja-JP" altLang="en-US" dirty="0"/>
              <a:t>プロジェクトとして、</a:t>
            </a:r>
            <a:r>
              <a:rPr kumimoji="1" lang="en-US" altLang="ja-JP" dirty="0"/>
              <a:t>2011</a:t>
            </a:r>
            <a:r>
              <a:rPr kumimoji="1" lang="ja-JP" altLang="en-US" dirty="0"/>
              <a:t>年からの</a:t>
            </a:r>
            <a:r>
              <a:rPr kumimoji="1" lang="en-US" altLang="ja-JP" dirty="0"/>
              <a:t>5</a:t>
            </a:r>
            <a:r>
              <a:rPr kumimoji="1" lang="ja-JP" altLang="en-US" dirty="0"/>
              <a:t>年間に実施された次世代インターネット官民連携プログラム（</a:t>
            </a:r>
            <a:r>
              <a:rPr kumimoji="1" lang="en-US" altLang="ja-JP" dirty="0"/>
              <a:t>FI-PPP</a:t>
            </a:r>
            <a:r>
              <a:rPr kumimoji="1" lang="ja-JP" altLang="en-US" dirty="0"/>
              <a:t>）において開発されている。</a:t>
            </a:r>
            <a:r>
              <a:rPr kumimoji="1" lang="en-US" altLang="ja-JP" dirty="0"/>
              <a:t>V8.4.0</a:t>
            </a:r>
            <a:r>
              <a:rPr kumimoji="1" lang="ja-JP" altLang="en-US" dirty="0"/>
              <a:t>から認証ミドルウェアの</a:t>
            </a:r>
            <a:r>
              <a:rPr kumimoji="1" lang="en-US" altLang="ja-JP" dirty="0" err="1"/>
              <a:t>Keycloak</a:t>
            </a:r>
            <a:r>
              <a:rPr kumimoji="1" lang="ja-JP" altLang="en-US" dirty="0"/>
              <a:t>に</a:t>
            </a:r>
            <a:r>
              <a:rPr kumimoji="1" lang="en-US" altLang="ja-JP" dirty="0"/>
              <a:t>VC</a:t>
            </a:r>
            <a:r>
              <a:rPr kumimoji="1" lang="ja-JP" altLang="en-US" dirty="0"/>
              <a:t>機能を持たせたモジュールが提供されている。</a:t>
            </a:r>
          </a:p>
        </p:txBody>
      </p:sp>
      <p:graphicFrame>
        <p:nvGraphicFramePr>
          <p:cNvPr id="9" name="表 8">
            <a:extLst>
              <a:ext uri="{FF2B5EF4-FFF2-40B4-BE49-F238E27FC236}">
                <a16:creationId xmlns:a16="http://schemas.microsoft.com/office/drawing/2014/main" id="{F13569A5-218B-261F-FDD3-A37786BB4482}"/>
              </a:ext>
            </a:extLst>
          </p:cNvPr>
          <p:cNvGraphicFramePr>
            <a:graphicFrameLocks noGrp="1"/>
          </p:cNvGraphicFramePr>
          <p:nvPr>
            <p:extLst>
              <p:ext uri="{D42A27DB-BD31-4B8C-83A1-F6EECF244321}">
                <p14:modId xmlns:p14="http://schemas.microsoft.com/office/powerpoint/2010/main" val="797988105"/>
              </p:ext>
            </p:extLst>
          </p:nvPr>
        </p:nvGraphicFramePr>
        <p:xfrm>
          <a:off x="282477" y="2420038"/>
          <a:ext cx="4478059" cy="1737360"/>
        </p:xfrm>
        <a:graphic>
          <a:graphicData uri="http://schemas.openxmlformats.org/drawingml/2006/table">
            <a:tbl>
              <a:tblPr firstRow="1" bandRow="1"/>
              <a:tblGrid>
                <a:gridCol w="980715">
                  <a:extLst>
                    <a:ext uri="{9D8B030D-6E8A-4147-A177-3AD203B41FA5}">
                      <a16:colId xmlns:a16="http://schemas.microsoft.com/office/drawing/2014/main" val="840277757"/>
                    </a:ext>
                  </a:extLst>
                </a:gridCol>
                <a:gridCol w="3497344">
                  <a:extLst>
                    <a:ext uri="{9D8B030D-6E8A-4147-A177-3AD203B41FA5}">
                      <a16:colId xmlns:a16="http://schemas.microsoft.com/office/drawing/2014/main" val="2286964954"/>
                    </a:ext>
                  </a:extLst>
                </a:gridCol>
              </a:tblGrid>
              <a:tr h="0">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ja-JP" altLang="en-US" sz="1200" dirty="0">
                          <a:latin typeface="+mn-ea"/>
                          <a:ea typeface="+mn-ea"/>
                        </a:rPr>
                        <a:t>公開元</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err="1">
                          <a:latin typeface="+mn-ea"/>
                          <a:ea typeface="+mn-ea"/>
                        </a:rPr>
                        <a:t>Keycloak</a:t>
                      </a:r>
                      <a:br>
                        <a:rPr kumimoji="1" lang="en-US" altLang="ja-JP" sz="1200" dirty="0">
                          <a:latin typeface="+mn-ea"/>
                          <a:ea typeface="+mn-ea"/>
                        </a:rPr>
                      </a:br>
                      <a:r>
                        <a:rPr kumimoji="1" lang="en-US" altLang="ja-JP" sz="1200" dirty="0">
                          <a:latin typeface="+mn-ea"/>
                          <a:ea typeface="+mn-ea"/>
                        </a:rPr>
                        <a:t>(Cloud Native Computing Foundation)</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616377659"/>
                  </a:ext>
                </a:extLst>
              </a:tr>
              <a:tr h="124443">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ライブラリ名</a:t>
                      </a:r>
                      <a:r>
                        <a:rPr lang="en-US" altLang="ja-JP" sz="1200" dirty="0">
                          <a:latin typeface="+mn-ea"/>
                          <a:ea typeface="+mn-ea"/>
                        </a:rPr>
                        <a:t>/</a:t>
                      </a:r>
                    </a:p>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内容</a:t>
                      </a:r>
                      <a:endParaRPr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Calibri Light"/>
                          <a:ea typeface="Yu Gothic UI"/>
                        </a:defRPr>
                      </a:lvl1pPr>
                      <a:lvl2pPr marL="457200" algn="l" defTabSz="914400" rtl="0" eaLnBrk="1" latinLnBrk="0" hangingPunct="1">
                        <a:defRPr kumimoji="1" sz="1800" kern="1200">
                          <a:solidFill>
                            <a:schemeClr val="tx1"/>
                          </a:solidFill>
                          <a:latin typeface="Calibri Light"/>
                          <a:ea typeface="Yu Gothic UI"/>
                        </a:defRPr>
                      </a:lvl2pPr>
                      <a:lvl3pPr marL="914400" algn="l" defTabSz="914400" rtl="0" eaLnBrk="1" latinLnBrk="0" hangingPunct="1">
                        <a:defRPr kumimoji="1" sz="1800" kern="1200">
                          <a:solidFill>
                            <a:schemeClr val="tx1"/>
                          </a:solidFill>
                          <a:latin typeface="Calibri Light"/>
                          <a:ea typeface="Yu Gothic UI"/>
                        </a:defRPr>
                      </a:lvl3pPr>
                      <a:lvl4pPr marL="1371600" algn="l" defTabSz="914400" rtl="0" eaLnBrk="1" latinLnBrk="0" hangingPunct="1">
                        <a:defRPr kumimoji="1" sz="1800" kern="1200">
                          <a:solidFill>
                            <a:schemeClr val="tx1"/>
                          </a:solidFill>
                          <a:latin typeface="Calibri Light"/>
                          <a:ea typeface="Yu Gothic UI"/>
                        </a:defRPr>
                      </a:lvl4pPr>
                      <a:lvl5pPr marL="1828800" algn="l" defTabSz="914400" rtl="0" eaLnBrk="1" latinLnBrk="0" hangingPunct="1">
                        <a:defRPr kumimoji="1" sz="1800" kern="1200">
                          <a:solidFill>
                            <a:schemeClr val="tx1"/>
                          </a:solidFill>
                          <a:latin typeface="Calibri Light"/>
                          <a:ea typeface="Yu Gothic UI"/>
                        </a:defRPr>
                      </a:lvl5pPr>
                      <a:lvl6pPr marL="2286000" algn="l" defTabSz="914400" rtl="0" eaLnBrk="1" latinLnBrk="0" hangingPunct="1">
                        <a:defRPr kumimoji="1" sz="1800" kern="1200">
                          <a:solidFill>
                            <a:schemeClr val="tx1"/>
                          </a:solidFill>
                          <a:latin typeface="Calibri Light"/>
                          <a:ea typeface="Yu Gothic UI"/>
                        </a:defRPr>
                      </a:lvl6pPr>
                      <a:lvl7pPr marL="2743200" algn="l" defTabSz="914400" rtl="0" eaLnBrk="1" latinLnBrk="0" hangingPunct="1">
                        <a:defRPr kumimoji="1" sz="1800" kern="1200">
                          <a:solidFill>
                            <a:schemeClr val="tx1"/>
                          </a:solidFill>
                          <a:latin typeface="Calibri Light"/>
                          <a:ea typeface="Yu Gothic UI"/>
                        </a:defRPr>
                      </a:lvl7pPr>
                      <a:lvl8pPr marL="3200400" algn="l" defTabSz="914400" rtl="0" eaLnBrk="1" latinLnBrk="0" hangingPunct="1">
                        <a:defRPr kumimoji="1" sz="1800" kern="1200">
                          <a:solidFill>
                            <a:schemeClr val="tx1"/>
                          </a:solidFill>
                          <a:latin typeface="Calibri Light"/>
                          <a:ea typeface="Yu Gothic UI"/>
                        </a:defRPr>
                      </a:lvl8pPr>
                      <a:lvl9pPr marL="3657600" algn="l" defTabSz="914400" rtl="0" eaLnBrk="1" latinLnBrk="0" hangingPunct="1">
                        <a:defRPr kumimoji="1" sz="1800" kern="1200">
                          <a:solidFill>
                            <a:schemeClr val="tx1"/>
                          </a:solidFill>
                          <a:latin typeface="Calibri Light"/>
                          <a:ea typeface="Yu Gothic UI"/>
                        </a:defRPr>
                      </a:lvl9p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err="1">
                          <a:latin typeface="+mn-ea"/>
                          <a:ea typeface="+mn-ea"/>
                          <a:hlinkClick r:id="rId3"/>
                        </a:rPr>
                        <a:t>keycloak</a:t>
                      </a:r>
                      <a:r>
                        <a:rPr kumimoji="1" lang="en-US" altLang="ja-JP" sz="1200" dirty="0">
                          <a:latin typeface="+mn-ea"/>
                          <a:ea typeface="+mn-ea"/>
                          <a:hlinkClick r:id="rId3"/>
                        </a:rPr>
                        <a:t>-</a:t>
                      </a:r>
                      <a:r>
                        <a:rPr kumimoji="1" lang="en-US" altLang="ja-JP" sz="1200" dirty="0" err="1">
                          <a:latin typeface="+mn-ea"/>
                          <a:ea typeface="+mn-ea"/>
                          <a:hlinkClick r:id="rId3"/>
                        </a:rPr>
                        <a:t>vc</a:t>
                      </a:r>
                      <a:r>
                        <a:rPr kumimoji="1" lang="en-US" altLang="ja-JP" sz="1200" dirty="0">
                          <a:latin typeface="+mn-ea"/>
                          <a:ea typeface="+mn-ea"/>
                          <a:hlinkClick r:id="rId3"/>
                        </a:rPr>
                        <a:t>-issuer </a:t>
                      </a:r>
                      <a:endParaRPr kumimoji="1" lang="en-US" altLang="ja-JP" sz="1200" dirty="0">
                        <a:latin typeface="+mn-ea"/>
                        <a:ea typeface="+mn-ea"/>
                      </a:endParaRP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310099380"/>
                  </a:ext>
                </a:extLst>
              </a:tr>
              <a:tr h="0">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提供形態</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kern="1200" dirty="0">
                          <a:solidFill>
                            <a:schemeClr val="tx1"/>
                          </a:solidFill>
                          <a:latin typeface="+mn-ea"/>
                          <a:ea typeface="+mn-ea"/>
                          <a:cs typeface="+mn-cs"/>
                        </a:rPr>
                        <a:t>ソースコード</a:t>
                      </a:r>
                      <a:endParaRPr kumimoji="1" lang="en-US" altLang="ja-JP" sz="1200" kern="1200" dirty="0">
                        <a:solidFill>
                          <a:schemeClr val="tx1"/>
                        </a:solidFill>
                        <a:latin typeface="+mn-ea"/>
                        <a:ea typeface="+mn-ea"/>
                        <a:cs typeface="+mn-cs"/>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4547564"/>
                  </a:ext>
                </a:extLst>
              </a:tr>
              <a:tr h="0">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ドキュメント</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9056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dirty="0">
                          <a:latin typeface="+mn-ea"/>
                          <a:ea typeface="+mn-ea"/>
                          <a:hlinkClick r:id="rId4"/>
                        </a:rPr>
                        <a:t>https://www.keycloak.org/guides</a:t>
                      </a:r>
                      <a:endParaRPr kumimoji="1" lang="en-US" altLang="ja-JP" sz="1200" dirty="0">
                        <a:latin typeface="+mn-ea"/>
                        <a:ea typeface="+mn-ea"/>
                      </a:endParaRP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3746668"/>
                  </a:ext>
                </a:extLst>
              </a:tr>
              <a:tr h="0">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ja-JP" altLang="en-US" sz="1200" dirty="0">
                          <a:latin typeface="+mn-ea"/>
                          <a:ea typeface="+mn-ea"/>
                        </a:rPr>
                        <a:t>ライセンス</a:t>
                      </a:r>
                      <a:endParaRPr lang="en-US" altLang="ja-JP" sz="1200" dirty="0">
                        <a:latin typeface="+mn-ea"/>
                        <a:ea typeface="+mn-ea"/>
                      </a:endParaRPr>
                    </a:p>
                  </a:txBody>
                  <a:tcP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marR="0" lvl="0" indent="-171450" algn="l" defTabSz="990564"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200" dirty="0">
                          <a:latin typeface="+mn-ea"/>
                          <a:ea typeface="+mn-ea"/>
                        </a:rPr>
                        <a:t>Apache License Version 2.0</a:t>
                      </a:r>
                    </a:p>
                  </a:txBody>
                  <a:tcP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15479450"/>
                  </a:ext>
                </a:extLst>
              </a:tr>
            </a:tbl>
          </a:graphicData>
        </a:graphic>
      </p:graphicFrame>
      <p:sp>
        <p:nvSpPr>
          <p:cNvPr id="11" name="正方形/長方形 10">
            <a:extLst>
              <a:ext uri="{FF2B5EF4-FFF2-40B4-BE49-F238E27FC236}">
                <a16:creationId xmlns:a16="http://schemas.microsoft.com/office/drawing/2014/main" id="{75DED280-71F5-CCDB-431F-99603AEB596C}"/>
              </a:ext>
            </a:extLst>
          </p:cNvPr>
          <p:cNvSpPr/>
          <p:nvPr/>
        </p:nvSpPr>
        <p:spPr bwMode="gray">
          <a:xfrm>
            <a:off x="5146161" y="2148452"/>
            <a:ext cx="447400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b="0" i="0" u="none" strike="noStrike" kern="0" cap="none" spc="0" normalizeH="0" baseline="0" noProof="0">
                <a:ln>
                  <a:noFill/>
                </a:ln>
                <a:solidFill>
                  <a:prstClr val="white"/>
                </a:solidFill>
                <a:effectLst/>
                <a:uLnTx/>
                <a:uFillTx/>
                <a:latin typeface="Calibri Light"/>
                <a:ea typeface="Yu Gothic UI"/>
                <a:cs typeface="Arial" charset="0"/>
              </a:rPr>
              <a:t>技術スタック</a:t>
            </a:r>
          </a:p>
        </p:txBody>
      </p:sp>
      <p:sp>
        <p:nvSpPr>
          <p:cNvPr id="12" name="正方形/長方形 11">
            <a:extLst>
              <a:ext uri="{FF2B5EF4-FFF2-40B4-BE49-F238E27FC236}">
                <a16:creationId xmlns:a16="http://schemas.microsoft.com/office/drawing/2014/main" id="{9207B507-F758-6358-B949-686F552D570F}"/>
              </a:ext>
            </a:extLst>
          </p:cNvPr>
          <p:cNvSpPr/>
          <p:nvPr/>
        </p:nvSpPr>
        <p:spPr bwMode="gray">
          <a:xfrm>
            <a:off x="283068" y="2148452"/>
            <a:ext cx="4476771" cy="204087"/>
          </a:xfrm>
          <a:prstGeom prst="rect">
            <a:avLst/>
          </a:prstGeom>
          <a:solidFill>
            <a:srgbClr val="53565A"/>
          </a:solidFill>
          <a:ln w="12700" algn="ctr">
            <a:solidFill>
              <a:srgbClr val="53565A"/>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400" kern="0" dirty="0">
                <a:solidFill>
                  <a:prstClr val="white"/>
                </a:solidFill>
                <a:latin typeface="Calibri Light"/>
                <a:ea typeface="Yu Gothic UI"/>
                <a:cs typeface="Arial" charset="0"/>
              </a:rPr>
              <a:t>サービスの特徴</a:t>
            </a:r>
            <a:endParaRPr kumimoji="0" lang="ja-JP" altLang="en-US" sz="1400" b="0" i="0" u="none" strike="noStrike" kern="0" cap="none" spc="0" normalizeH="0" baseline="0" noProof="0" dirty="0">
              <a:ln>
                <a:noFill/>
              </a:ln>
              <a:solidFill>
                <a:prstClr val="white"/>
              </a:solidFill>
              <a:effectLst/>
              <a:uLnTx/>
              <a:uFillTx/>
              <a:latin typeface="Calibri Light"/>
              <a:ea typeface="Yu Gothic UI"/>
              <a:cs typeface="Arial" charset="0"/>
            </a:endParaRPr>
          </a:p>
        </p:txBody>
      </p:sp>
      <p:sp>
        <p:nvSpPr>
          <p:cNvPr id="13" name="正方形/長方形 12">
            <a:extLst>
              <a:ext uri="{FF2B5EF4-FFF2-40B4-BE49-F238E27FC236}">
                <a16:creationId xmlns:a16="http://schemas.microsoft.com/office/drawing/2014/main" id="{7DB65A59-D2A2-E58A-3138-2DE7B47E886F}"/>
              </a:ext>
            </a:extLst>
          </p:cNvPr>
          <p:cNvSpPr/>
          <p:nvPr/>
        </p:nvSpPr>
        <p:spPr>
          <a:xfrm>
            <a:off x="8088897" y="2405896"/>
            <a:ext cx="613616" cy="204088"/>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4" name="テキスト ボックス 13">
            <a:extLst>
              <a:ext uri="{FF2B5EF4-FFF2-40B4-BE49-F238E27FC236}">
                <a16:creationId xmlns:a16="http://schemas.microsoft.com/office/drawing/2014/main" id="{4FF8CAC4-039B-A7ED-0C5F-1D869386EC74}"/>
              </a:ext>
            </a:extLst>
          </p:cNvPr>
          <p:cNvSpPr txBox="1"/>
          <p:nvPr/>
        </p:nvSpPr>
        <p:spPr>
          <a:xfrm>
            <a:off x="8759075" y="2404611"/>
            <a:ext cx="769441" cy="184666"/>
          </a:xfrm>
          <a:prstGeom prst="rect">
            <a:avLst/>
          </a:prstGeom>
          <a:noFill/>
        </p:spPr>
        <p:txBody>
          <a:bodyPr wrap="none" lIns="0" tIns="0" rIns="0" bIns="0" rtlCol="0">
            <a:spAutoFit/>
          </a:bodyPr>
          <a:lstStyle/>
          <a:p>
            <a:r>
              <a:rPr lang="ja-JP" altLang="en-US" sz="1200" dirty="0">
                <a:latin typeface="+mn-ea"/>
                <a:ea typeface="+mn-ea"/>
              </a:rPr>
              <a:t>：</a:t>
            </a:r>
            <a:r>
              <a:rPr kumimoji="1" lang="ja-JP" altLang="en-US" sz="1200" dirty="0">
                <a:latin typeface="+mn-ea"/>
                <a:ea typeface="+mn-ea"/>
              </a:rPr>
              <a:t>対応範囲</a:t>
            </a:r>
          </a:p>
        </p:txBody>
      </p:sp>
      <p:sp>
        <p:nvSpPr>
          <p:cNvPr id="16" name="正方形/長方形 15">
            <a:extLst>
              <a:ext uri="{FF2B5EF4-FFF2-40B4-BE49-F238E27FC236}">
                <a16:creationId xmlns:a16="http://schemas.microsoft.com/office/drawing/2014/main" id="{1D137A0A-9E3F-5C7C-902B-5D5B79A1665C}"/>
              </a:ext>
            </a:extLst>
          </p:cNvPr>
          <p:cNvSpPr/>
          <p:nvPr/>
        </p:nvSpPr>
        <p:spPr>
          <a:xfrm>
            <a:off x="5146160" y="3058888"/>
            <a:ext cx="1244007"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7" name="正方形/長方形 16">
            <a:extLst>
              <a:ext uri="{FF2B5EF4-FFF2-40B4-BE49-F238E27FC236}">
                <a16:creationId xmlns:a16="http://schemas.microsoft.com/office/drawing/2014/main" id="{1D9CE82B-03C5-AA2D-15BE-4F3361DC453D}"/>
              </a:ext>
            </a:extLst>
          </p:cNvPr>
          <p:cNvSpPr/>
          <p:nvPr/>
        </p:nvSpPr>
        <p:spPr>
          <a:xfrm>
            <a:off x="5146160" y="3745531"/>
            <a:ext cx="612089" cy="480767"/>
          </a:xfrm>
          <a:prstGeom prst="rect">
            <a:avLst/>
          </a:prstGeom>
          <a:solidFill>
            <a:schemeClr val="accent1">
              <a:alpha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Tree>
    <p:extLst>
      <p:ext uri="{BB962C8B-B14F-4D97-AF65-F5344CB8AC3E}">
        <p14:creationId xmlns:p14="http://schemas.microsoft.com/office/powerpoint/2010/main" val="22160587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4317" y="2428144"/>
            <a:ext cx="3938953" cy="1734725"/>
          </a:xfrm>
          <a:prstGeom prst="rect">
            <a:avLst/>
          </a:prstGeom>
        </p:spPr>
      </p:pic>
    </p:spTree>
    <p:extLst>
      <p:ext uri="{BB962C8B-B14F-4D97-AF65-F5344CB8AC3E}">
        <p14:creationId xmlns:p14="http://schemas.microsoft.com/office/powerpoint/2010/main" val="25682217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パワーポイントプリント用Corp01">
  <a:themeElements>
    <a:clrScheme name="ユーザー定義 1">
      <a:dk1>
        <a:sysClr val="windowText" lastClr="000000"/>
      </a:dk1>
      <a:lt1>
        <a:sysClr val="window" lastClr="FFFFFF"/>
      </a:lt1>
      <a:dk2>
        <a:srgbClr val="53565A"/>
      </a:dk2>
      <a:lt2>
        <a:srgbClr val="D0D0CE"/>
      </a:lt2>
      <a:accent1>
        <a:srgbClr val="005EAD"/>
      </a:accent1>
      <a:accent2>
        <a:srgbClr val="86BC25"/>
      </a:accent2>
      <a:accent3>
        <a:srgbClr val="046A38"/>
      </a:accent3>
      <a:accent4>
        <a:srgbClr val="0097A9"/>
      </a:accent4>
      <a:accent5>
        <a:srgbClr val="62B5E5"/>
      </a:accent5>
      <a:accent6>
        <a:srgbClr val="012169"/>
      </a:accent6>
      <a:hlink>
        <a:srgbClr val="62B5E5"/>
      </a:hlink>
      <a:folHlink>
        <a:srgbClr val="75787B"/>
      </a:folHlink>
    </a:clrScheme>
    <a:fontScheme name="ユーザー定義 1">
      <a:majorFont>
        <a:latin typeface="Yu Gothic UI"/>
        <a:ea typeface="Yu Gothic UI"/>
        <a:cs typeface=""/>
      </a:majorFont>
      <a:minorFont>
        <a:latin typeface="Yu Gothic UI"/>
        <a:ea typeface="Yu Gothic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a:solidFill>
            <a:schemeClr val="tx1"/>
          </a:solidFill>
          <a:headEnd type="none" w="med" len="med"/>
          <a:tailEnd type="none" w="med" len="med"/>
        </a:ln>
      </a:spPr>
      <a:bodyPr wrap="none" rtlCol="0" anchor="ctr"/>
      <a:lstStyle>
        <a:defPPr algn="ctr">
          <a:defRPr kumimoji="1" dirty="0" smtClean="0"/>
        </a:defPPr>
      </a:lstStyle>
      <a:style>
        <a:lnRef idx="1">
          <a:schemeClr val="accent1"/>
        </a:lnRef>
        <a:fillRef idx="0">
          <a:schemeClr val="accent1"/>
        </a:fillRef>
        <a:effectRef idx="0">
          <a:schemeClr val="accent1"/>
        </a:effectRef>
        <a:fontRef idx="minor">
          <a:schemeClr val="tx1"/>
        </a:fontRef>
      </a:style>
    </a:spDef>
    <a:lnDef>
      <a:spPr>
        <a:ln w="127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90488" indent="-90488">
          <a:buFont typeface="Arial" panose="020B0604020202020204" pitchFamily="34" charset="0"/>
          <a:buChar char="•"/>
          <a:defRPr sz="1200" dirty="0">
            <a:latin typeface="+mn-ea"/>
            <a:ea typeface="+mn-ea"/>
          </a:defRPr>
        </a:defPPr>
      </a:lstStyle>
    </a:txDef>
  </a:objectDefaults>
  <a:extraClrSchemeLst>
    <a:extraClrScheme>
      <a:clrScheme name="パワーポイントプリント用Corp01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パワーポイントプリント用Corp0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パワーポイントプリント用Corp01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パワーポイントプリント用Corp01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パワーポイントプリント用Corp0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パワーポイントプリント用Corp0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パワーポイントプリント用Corp0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f5bdd6e-cdf8-469d-93d0-f7a8c007309d" xsi:nil="true"/>
    <lcf76f155ced4ddcb4097134ff3c332f xmlns="b8d61b6e-2b10-43a3-a2ce-3f7d4d0c929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9B6F9B428D7634495880DE4F0D8D879" ma:contentTypeVersion="12" ma:contentTypeDescription="新しいドキュメントを作成します。" ma:contentTypeScope="" ma:versionID="fc08b5dad98e6f6d8f5f2a35db9e8729">
  <xsd:schema xmlns:xsd="http://www.w3.org/2001/XMLSchema" xmlns:xs="http://www.w3.org/2001/XMLSchema" xmlns:p="http://schemas.microsoft.com/office/2006/metadata/properties" xmlns:ns2="b8d61b6e-2b10-43a3-a2ce-3f7d4d0c929e" xmlns:ns3="ff5bdd6e-cdf8-469d-93d0-f7a8c007309d" targetNamespace="http://schemas.microsoft.com/office/2006/metadata/properties" ma:root="true" ma:fieldsID="373401851f10c928940e7bdebc0e62c4" ns2:_="" ns3:_="">
    <xsd:import namespace="b8d61b6e-2b10-43a3-a2ce-3f7d4d0c929e"/>
    <xsd:import namespace="ff5bdd6e-cdf8-469d-93d0-f7a8c00730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LengthInSecond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d61b6e-2b10-43a3-a2ce-3f7d4d0c92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description=""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1e1c6816-2a4f-4461-93c7-8dd281d6228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5bdd6e-cdf8-469d-93d0-f7a8c00730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4cf278e-2034-4d2d-8b8d-d0c50db40621}" ma:internalName="TaxCatchAll" ma:showField="CatchAllData" ma:web="ff5bdd6e-cdf8-469d-93d0-f7a8c00730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D8A28F-48B4-499D-9D0E-DD1F8FE26292}">
  <ds:schemaRefs>
    <ds:schemaRef ds:uri="http://purl.org/dc/dcmitype/"/>
    <ds:schemaRef ds:uri="http://www.w3.org/XML/1998/namespace"/>
    <ds:schemaRef ds:uri="http://schemas.microsoft.com/office/2006/metadata/properties"/>
    <ds:schemaRef ds:uri="80bbe118-c2f1-471f-9be9-b0f7447cf65e"/>
    <ds:schemaRef ds:uri="http://purl.org/dc/elements/1.1/"/>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a0a9c787-db28-489b-b6e5-9fce90a89bb0"/>
  </ds:schemaRefs>
</ds:datastoreItem>
</file>

<file path=customXml/itemProps2.xml><?xml version="1.0" encoding="utf-8"?>
<ds:datastoreItem xmlns:ds="http://schemas.openxmlformats.org/officeDocument/2006/customXml" ds:itemID="{C1D5B716-8D26-42BF-A3B9-AD7978F29403}">
  <ds:schemaRefs>
    <ds:schemaRef ds:uri="http://schemas.microsoft.com/sharepoint/v3/contenttype/forms"/>
  </ds:schemaRefs>
</ds:datastoreItem>
</file>

<file path=customXml/itemProps3.xml><?xml version="1.0" encoding="utf-8"?>
<ds:datastoreItem xmlns:ds="http://schemas.openxmlformats.org/officeDocument/2006/customXml" ds:itemID="{34A3456B-8B91-4F6D-A8C6-FBE2AEF7E9A9}"/>
</file>

<file path=docProps/app.xml><?xml version="1.0" encoding="utf-8"?>
<Properties xmlns="http://schemas.openxmlformats.org/officeDocument/2006/extended-properties" xmlns:vt="http://schemas.openxmlformats.org/officeDocument/2006/docPropsVTypes">
  <Template/>
  <TotalTime>0</TotalTime>
  <Words>16313</Words>
  <Application>Microsoft Office PowerPoint</Application>
  <PresentationFormat>A4 210 x 297 mm</PresentationFormat>
  <Paragraphs>2523</Paragraphs>
  <Slides>58</Slides>
  <Notes>6</Notes>
  <HiddenSlides>0</HiddenSlides>
  <MMClips>0</MMClips>
  <ScaleCrop>false</ScaleCrop>
  <HeadingPairs>
    <vt:vector size="8" baseType="variant">
      <vt:variant>
        <vt:lpstr>使用されているフォント</vt:lpstr>
      </vt:variant>
      <vt:variant>
        <vt:i4>13</vt:i4>
      </vt:variant>
      <vt:variant>
        <vt:lpstr>テーマ</vt:lpstr>
      </vt:variant>
      <vt:variant>
        <vt:i4>1</vt:i4>
      </vt:variant>
      <vt:variant>
        <vt:lpstr>埋め込まれた OLE サーバー</vt:lpstr>
      </vt:variant>
      <vt:variant>
        <vt:i4>1</vt:i4>
      </vt:variant>
      <vt:variant>
        <vt:lpstr>スライド タイトル</vt:lpstr>
      </vt:variant>
      <vt:variant>
        <vt:i4>58</vt:i4>
      </vt:variant>
    </vt:vector>
  </HeadingPairs>
  <TitlesOfParts>
    <vt:vector size="73" baseType="lpstr">
      <vt:lpstr>-apple-system</vt:lpstr>
      <vt:lpstr>Meiryo UI</vt:lpstr>
      <vt:lpstr>ＭＳ Ｐゴシック</vt:lpstr>
      <vt:lpstr>Yu Gothic UI</vt:lpstr>
      <vt:lpstr>游ゴシック</vt:lpstr>
      <vt:lpstr>游ゴシック Medium</vt:lpstr>
      <vt:lpstr>Arial</vt:lpstr>
      <vt:lpstr>Calibri</vt:lpstr>
      <vt:lpstr>Calibri Light</vt:lpstr>
      <vt:lpstr>Consolas</vt:lpstr>
      <vt:lpstr>Lato</vt:lpstr>
      <vt:lpstr>Roboto</vt:lpstr>
      <vt:lpstr>Wingdings</vt:lpstr>
      <vt:lpstr>パワーポイントプリント用Corp01</vt:lpstr>
      <vt:lpstr>think-cell スライド</vt:lpstr>
      <vt:lpstr>令和4年度補正 Trusted Web 開発等推進事業に係る調査研究 （規格・実装動向調査）</vt:lpstr>
      <vt:lpstr>本書の位置づけ</vt:lpstr>
      <vt:lpstr>目次</vt:lpstr>
      <vt:lpstr>1. 背景・目的</vt:lpstr>
      <vt:lpstr>2. 調査アプローチ</vt:lpstr>
      <vt:lpstr>3. 調査まとめ</vt:lpstr>
      <vt:lpstr>4.1. 規格全体観</vt:lpstr>
      <vt:lpstr>4.2. 各規格の概要・代表的な仕様 - (1) Credential Layer (1/2)　　</vt:lpstr>
      <vt:lpstr>4.2. 各規格の概要・代表的な仕様 - (1) Credential Layer (2/2)　　</vt:lpstr>
      <vt:lpstr>(参考) VCデータモデルの標準策定状況　</vt:lpstr>
      <vt:lpstr>4.2. 各規格の概要・代表的な仕様 - (2) Agent Layer (1/2)　</vt:lpstr>
      <vt:lpstr>4.2. 各規格の概要・代表的な仕様 - (2) Agent Layer (2/2)　　</vt:lpstr>
      <vt:lpstr>4.2. 各規格の概要・代表的な仕様 - (3) Public Trust Layer (1/2)　　</vt:lpstr>
      <vt:lpstr>PowerPoint プレゼンテーション</vt:lpstr>
      <vt:lpstr>4.2. 各規格の概要・代表的な仕様 - (4) Vertical / Cross-Cutting</vt:lpstr>
      <vt:lpstr>(参考) mDLに関する標準策定状況</vt:lpstr>
      <vt:lpstr>5.1. 調査対象</vt:lpstr>
      <vt:lpstr>5.2. 規格・実装方式の詳細 - (1) 証明書を表現する際に利用されるデータフォーマットの規格</vt:lpstr>
      <vt:lpstr>5.2. 規格・実装方式の詳細 - (2) アイデンティティサービスを構築する場合に基準とされる証書モデルの規格(1/2)</vt:lpstr>
      <vt:lpstr>5.2. 規格・実装方式の詳細 - (2) アイデンティティサービスを構築する場合に基準とされる証明書モデルの規格(2/2)</vt:lpstr>
      <vt:lpstr>5.2. 規格・実装方式の詳細 - (3) 選択的開示含む証明書検証のための規格</vt:lpstr>
      <vt:lpstr>5.2. 規格・実装方式の詳細 - (4) 選択的開示方式の規格</vt:lpstr>
      <vt:lpstr>5.2. 規格・実装方式の詳細 - (5) エンティティ間で証明書データを連携する規格</vt:lpstr>
      <vt:lpstr>5.2. 規格・実装方式の詳細 - (6) デバイス連携のための規格</vt:lpstr>
      <vt:lpstr>5.2. 規格・実装方式の詳細 - (7) DID Documentを活用した証明書の検証方法</vt:lpstr>
      <vt:lpstr>5.2. 規格・実装方式の詳細 - (8) DID Documentの格納場所</vt:lpstr>
      <vt:lpstr>(参考)DID Documentを活用しない方式</vt:lpstr>
      <vt:lpstr>5.2. 規格・実装方式の詳細 - (9) ブロックチェーン比較</vt:lpstr>
      <vt:lpstr>(参考)ブロックチェーン領域で活用される秘匿化技術</vt:lpstr>
      <vt:lpstr>5.2. 規格・実装方式の詳細- (10) Universal Resolver</vt:lpstr>
      <vt:lpstr>5.2. 規格・実装方式の詳細 - (11) 証明書を安全に格納するサービス規格</vt:lpstr>
      <vt:lpstr>5.3. mDLとVCの比較</vt:lpstr>
      <vt:lpstr>(参考) Unlinkabilityとは</vt:lpstr>
      <vt:lpstr>6.1. サービス – 6.1.1. サービス実装パターン (1) JWT-VC・SD-JWT・LDP-VC</vt:lpstr>
      <vt:lpstr>6.1. サービス – 6.1.1. サービス実装パターン (2) AnonCreds</vt:lpstr>
      <vt:lpstr>6.1. サービス – 6.1.1. サービス実装パターン (3) mDL</vt:lpstr>
      <vt:lpstr>6.1. サービス – 6.1.2. サービス実装詳細 (1) EU DIW（EU ARFで策定されているもの）</vt:lpstr>
      <vt:lpstr>6.1. サービス – 6.1.2. サービス実装詳細 (2) Lissi</vt:lpstr>
      <vt:lpstr>6.1. サービス – 6.1.2. サービス実装詳細 (3) Microsoft Entra Verified ID</vt:lpstr>
      <vt:lpstr>6.1. サービス – 6.1.2. サービス実装詳細 (4) AnonCreds</vt:lpstr>
      <vt:lpstr>6.1. サービス – 6.1.2. サービス実装詳細 (5) BC Digital Trust</vt:lpstr>
      <vt:lpstr>6.1. サービス – 6.1.2. サービス実装詳細 (6) Nothern Block </vt:lpstr>
      <vt:lpstr>6.1. サービス – 6.1.2. サービス実装詳細 (7) Dock Certs</vt:lpstr>
      <vt:lpstr>6.1. サービス – 6.1.2. サービス実装詳細 (8) Blockcert</vt:lpstr>
      <vt:lpstr>6.2. ライブラリ – 6.2.1 ライブラリ全体観</vt:lpstr>
      <vt:lpstr>6.2. ライブラリ – 6.2.2. ライブラリ詳細 (1) Blockcert</vt:lpstr>
      <vt:lpstr>6.2. ライブラリ – 6.2.2. ライブラリ詳細 (2) Hyperledger AnonCreds</vt:lpstr>
      <vt:lpstr>6.2. ライブラリ – 6.2.2. ライブラリ詳細 (3) Hyperledger Indy</vt:lpstr>
      <vt:lpstr>6.2. ライブラリ – 6.2.2. ライブラリ詳細 (4) Hyperledger Aries</vt:lpstr>
      <vt:lpstr>6.2. ライブラリ – 6.2.2. ライブラリ詳細 (5) Veramo</vt:lpstr>
      <vt:lpstr>6.2. ライブラリ – 6.2.2. ライブラリ詳細 (6) Sphereon Open Source</vt:lpstr>
      <vt:lpstr>6.2. ライブラリ – 6.2.2. ライブラリ詳細 (7) OWND Project</vt:lpstr>
      <vt:lpstr>6.2. ライブラリ – 6.2.2. ライブラリ詳細 (8) DID Kit</vt:lpstr>
      <vt:lpstr>6.2. ライブラリ – 6.2.2. ライブラリ詳細 (9) MATTR</vt:lpstr>
      <vt:lpstr>6.2. ライブラリ – 6.2.2. ライブラリ詳細 (10) OpenWallet Foundation</vt:lpstr>
      <vt:lpstr>6.2. ライブラリ – 6.2.2. ライブラリ詳細 (11) SD-JWT (OpenWallet Foundation)</vt:lpstr>
      <vt:lpstr>6.2. ライブラリ – 6.2.2. ライブラリ詳細 (12) Keycloak</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令和4年度補正 Trusted Web 開発等推進事業に係る調査研究 （規格・実装動向調査）</dc:title>
  <dc:creator/>
  <cp:lastModifiedBy/>
  <cp:revision>25</cp:revision>
  <cp:lastPrinted>1601-01-01T00:00:00Z</cp:lastPrinted>
  <dcterms:created xsi:type="dcterms:W3CDTF">2023-12-06T23:57:36Z</dcterms:created>
  <dcterms:modified xsi:type="dcterms:W3CDTF">2024-05-09T09:25:45Z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SiteId">
    <vt:lpwstr>36da45f1-dd2c-4d1f-af13-5abe46b99921</vt:lpwstr>
  </property>
  <property fmtid="{D5CDD505-2E9C-101B-9397-08002B2CF9AE}" pid="3" name="MSIP_Label_ea60d57e-af5b-4752-ac57-3e4f28ca11dc_Method">
    <vt:lpwstr>Standard</vt:lpwstr>
  </property>
  <property fmtid="{D5CDD505-2E9C-101B-9397-08002B2CF9AE}" pid="4" name="MSIP_Label_ea60d57e-af5b-4752-ac57-3e4f28ca11dc_Enabled">
    <vt:lpwstr>true</vt:lpwstr>
  </property>
  <property fmtid="{D5CDD505-2E9C-101B-9397-08002B2CF9AE}" pid="5" name="MediaServiceImageTags">
    <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etDate">
    <vt:lpwstr>2022-12-21T01:36:08Z</vt:lpwstr>
  </property>
  <property fmtid="{D5CDD505-2E9C-101B-9397-08002B2CF9AE}" pid="8" name="MSIP_Label_ea60d57e-af5b-4752-ac57-3e4f28ca11dc_ContentBits">
    <vt:lpwstr>0</vt:lpwstr>
  </property>
  <property fmtid="{D5CDD505-2E9C-101B-9397-08002B2CF9AE}" pid="9" name="MSIP_Label_ea60d57e-af5b-4752-ac57-3e4f28ca11dc_ActionId">
    <vt:lpwstr>7cea680a-40a3-4a38-8235-5f6a9eb4147f</vt:lpwstr>
  </property>
  <property fmtid="{D5CDD505-2E9C-101B-9397-08002B2CF9AE}" pid="10" name="ContentTypeId">
    <vt:lpwstr>0x01010081AC0B10426E124C8F2B46906D9A42C9</vt:lpwstr>
  </property>
</Properties>
</file>