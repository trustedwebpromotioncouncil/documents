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emovePersonalInfoOnSave="1" saveSubsetFonts="1">
  <p:sldMasterIdLst>
    <p:sldMasterId id="2147483648" r:id="rId4"/>
    <p:sldMasterId id="2147483682" r:id="rId5"/>
  </p:sldMasterIdLst>
  <p:notesMasterIdLst>
    <p:notesMasterId r:id="rId41"/>
  </p:notesMasterIdLst>
  <p:handoutMasterIdLst>
    <p:handoutMasterId r:id="rId42"/>
  </p:handoutMasterIdLst>
  <p:sldIdLst>
    <p:sldId id="628" r:id="rId6"/>
    <p:sldId id="2147378776" r:id="rId7"/>
    <p:sldId id="2147472517" r:id="rId8"/>
    <p:sldId id="2147379217" r:id="rId9"/>
    <p:sldId id="2147472519" r:id="rId10"/>
    <p:sldId id="2147379246" r:id="rId11"/>
    <p:sldId id="2147472518" r:id="rId12"/>
    <p:sldId id="2147472523" r:id="rId13"/>
    <p:sldId id="2147379110" r:id="rId14"/>
    <p:sldId id="2147472522" r:id="rId15"/>
    <p:sldId id="2147379242" r:id="rId16"/>
    <p:sldId id="2147472534" r:id="rId17"/>
    <p:sldId id="2147379220" r:id="rId18"/>
    <p:sldId id="2147472524" r:id="rId19"/>
    <p:sldId id="2147472525" r:id="rId20"/>
    <p:sldId id="2147472526" r:id="rId21"/>
    <p:sldId id="2147472535" r:id="rId22"/>
    <p:sldId id="2147379240" r:id="rId23"/>
    <p:sldId id="2147472536" r:id="rId24"/>
    <p:sldId id="2147472527" r:id="rId25"/>
    <p:sldId id="2147379241" r:id="rId26"/>
    <p:sldId id="2147472537" r:id="rId27"/>
    <p:sldId id="2147472528" r:id="rId28"/>
    <p:sldId id="2147379243" r:id="rId29"/>
    <p:sldId id="2147472540" r:id="rId30"/>
    <p:sldId id="2147472529" r:id="rId31"/>
    <p:sldId id="2147472530" r:id="rId32"/>
    <p:sldId id="2147379245" r:id="rId33"/>
    <p:sldId id="2147472541" r:id="rId34"/>
    <p:sldId id="2147472531" r:id="rId35"/>
    <p:sldId id="2147472532" r:id="rId36"/>
    <p:sldId id="2147472533" r:id="rId37"/>
    <p:sldId id="2147472542" r:id="rId38"/>
    <p:sldId id="2147472543" r:id="rId39"/>
    <p:sldId id="2147378641" r:id="rId40"/>
  </p:sldIdLst>
  <p:sldSz cx="9906000" cy="6858000" type="A4"/>
  <p:notesSz cx="6735763" cy="9866313"/>
  <p:custDataLst>
    <p:tags r:id="rId43"/>
  </p:custDataLst>
  <p:defaultTextStyle>
    <a:defPPr>
      <a:defRPr lang="ja-JP"/>
    </a:defPPr>
    <a:lvl1pPr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1pPr>
    <a:lvl2pPr marL="457200"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eaLnBrk="0" fontAlgn="base" hangingPunct="0">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9pPr>
  </p:defaultTextStyle>
  <p:extLst>
    <p:ext uri="{EFAFB233-063F-42B5-8137-9DF3F51BA10A}">
      <p15:sldGuideLst xmlns:p15="http://schemas.microsoft.com/office/powerpoint/2012/main">
        <p15:guide id="13" pos="3755" userDrawn="1">
          <p15:clr>
            <a:srgbClr val="A4A3A4"/>
          </p15:clr>
        </p15:guide>
        <p15:guide id="14" pos="1260" userDrawn="1">
          <p15:clr>
            <a:srgbClr val="A4A3A4"/>
          </p15:clr>
        </p15:guide>
        <p15:guide id="15" orient="horz" pos="218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6D9"/>
    <a:srgbClr val="FFD9D9"/>
    <a:srgbClr val="1C3461"/>
    <a:srgbClr val="DAE9E1"/>
    <a:srgbClr val="DEEFF8"/>
    <a:srgbClr val="D9DEE9"/>
    <a:srgbClr val="BCE0FF"/>
    <a:srgbClr val="353533"/>
    <a:srgbClr val="E8F6C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34DCC1-BFDD-43D0-9B60-8AD922426D2E}" v="2" dt="2024-05-24T05:03:01.31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30" autoAdjust="0"/>
    <p:restoredTop sz="94660"/>
  </p:normalViewPr>
  <p:slideViewPr>
    <p:cSldViewPr snapToGrid="0" showGuides="1">
      <p:cViewPr varScale="1">
        <p:scale>
          <a:sx n="110" d="100"/>
          <a:sy n="110" d="100"/>
        </p:scale>
        <p:origin x="816" y="108"/>
      </p:cViewPr>
      <p:guideLst>
        <p:guide pos="3755"/>
        <p:guide pos="1260"/>
        <p:guide orient="horz" pos="2183"/>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eaLnBrk="1" hangingPunct="1">
              <a:defRPr sz="1200"/>
            </a:lvl1pPr>
          </a:lstStyle>
          <a:p>
            <a:pPr>
              <a:defRPr/>
            </a:pPr>
            <a:endParaRPr lang="en-US" altLang="ja-JP"/>
          </a:p>
        </p:txBody>
      </p:sp>
      <p:sp>
        <p:nvSpPr>
          <p:cNvPr id="6147" name="Rectangle 3"/>
          <p:cNvSpPr>
            <a:spLocks noGrp="1" noChangeArrowheads="1"/>
          </p:cNvSpPr>
          <p:nvPr>
            <p:ph type="dt" sz="quarter" idx="1"/>
          </p:nvPr>
        </p:nvSpPr>
        <p:spPr bwMode="auto">
          <a:xfrm>
            <a:off x="3816933"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algn="r" eaLnBrk="1" hangingPunct="1">
              <a:defRPr sz="1200"/>
            </a:lvl1pPr>
          </a:lstStyle>
          <a:p>
            <a:pPr>
              <a:defRPr/>
            </a:pPr>
            <a:endParaRPr lang="en-US" altLang="ja-JP"/>
          </a:p>
        </p:txBody>
      </p:sp>
      <p:sp>
        <p:nvSpPr>
          <p:cNvPr id="6148" name="Rectangle 4"/>
          <p:cNvSpPr>
            <a:spLocks noGrp="1" noChangeArrowheads="1"/>
          </p:cNvSpPr>
          <p:nvPr>
            <p:ph type="ftr" sz="quarter" idx="2"/>
          </p:nvPr>
        </p:nvSpPr>
        <p:spPr bwMode="auto">
          <a:xfrm>
            <a:off x="0"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eaLnBrk="1" hangingPunct="1">
              <a:defRPr sz="1200"/>
            </a:lvl1pPr>
          </a:lstStyle>
          <a:p>
            <a:pPr>
              <a:defRPr/>
            </a:pPr>
            <a:endParaRPr lang="en-US" altLang="ja-JP"/>
          </a:p>
        </p:txBody>
      </p:sp>
      <p:sp>
        <p:nvSpPr>
          <p:cNvPr id="6149" name="Rectangle 5"/>
          <p:cNvSpPr>
            <a:spLocks noGrp="1" noChangeArrowheads="1"/>
          </p:cNvSpPr>
          <p:nvPr>
            <p:ph type="sldNum" sz="quarter" idx="3"/>
          </p:nvPr>
        </p:nvSpPr>
        <p:spPr bwMode="auto">
          <a:xfrm>
            <a:off x="3816933"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algn="r" eaLnBrk="1" hangingPunct="1">
              <a:defRPr sz="1200"/>
            </a:lvl1pPr>
          </a:lstStyle>
          <a:p>
            <a:pPr>
              <a:defRPr/>
            </a:pPr>
            <a:fld id="{C879E05C-2A8C-4D6C-A6FB-EA7121ED9A88}" type="slidenum">
              <a:rPr lang="en-US" altLang="ja-JP"/>
              <a:pPr>
                <a:defRPr/>
              </a:pPr>
              <a:t>‹#›</a:t>
            </a:fld>
            <a:endParaRPr lang="en-US" altLang="ja-JP"/>
          </a:p>
        </p:txBody>
      </p:sp>
    </p:spTree>
    <p:extLst>
      <p:ext uri="{BB962C8B-B14F-4D97-AF65-F5344CB8AC3E}">
        <p14:creationId xmlns:p14="http://schemas.microsoft.com/office/powerpoint/2010/main" val="1394763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eaLnBrk="1" hangingPunct="1">
              <a:defRPr sz="1200"/>
            </a:lvl1pPr>
          </a:lstStyle>
          <a:p>
            <a:pPr>
              <a:defRPr/>
            </a:pPr>
            <a:endParaRPr lang="en-US" altLang="ja-JP"/>
          </a:p>
        </p:txBody>
      </p:sp>
      <p:sp>
        <p:nvSpPr>
          <p:cNvPr id="4099" name="Rectangle 3"/>
          <p:cNvSpPr>
            <a:spLocks noGrp="1" noChangeArrowheads="1"/>
          </p:cNvSpPr>
          <p:nvPr>
            <p:ph type="dt" idx="1"/>
          </p:nvPr>
        </p:nvSpPr>
        <p:spPr bwMode="auto">
          <a:xfrm>
            <a:off x="3816933"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lvl1pPr algn="r" eaLnBrk="1" hangingPunct="1">
              <a:defRPr sz="1200"/>
            </a:lvl1pPr>
          </a:lstStyle>
          <a:p>
            <a:pPr>
              <a:defRPr/>
            </a:pPr>
            <a:endParaRPr lang="en-US" altLang="ja-JP"/>
          </a:p>
        </p:txBody>
      </p:sp>
      <p:sp>
        <p:nvSpPr>
          <p:cNvPr id="6148" name="Rectangle 4"/>
          <p:cNvSpPr>
            <a:spLocks noGrp="1" noRot="1" noChangeAspect="1" noChangeArrowheads="1" noTextEdit="1"/>
          </p:cNvSpPr>
          <p:nvPr>
            <p:ph type="sldImg" idx="2"/>
          </p:nvPr>
        </p:nvSpPr>
        <p:spPr bwMode="auto">
          <a:xfrm>
            <a:off x="695325" y="739775"/>
            <a:ext cx="5345113" cy="37004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898103" y="4686499"/>
            <a:ext cx="4939560" cy="4439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4102" name="Rectangle 6"/>
          <p:cNvSpPr>
            <a:spLocks noGrp="1" noChangeArrowheads="1"/>
          </p:cNvSpPr>
          <p:nvPr>
            <p:ph type="ftr" sz="quarter" idx="4"/>
          </p:nvPr>
        </p:nvSpPr>
        <p:spPr bwMode="auto">
          <a:xfrm>
            <a:off x="0"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eaLnBrk="1" hangingPunct="1">
              <a:defRPr sz="1200"/>
            </a:lvl1pPr>
          </a:lstStyle>
          <a:p>
            <a:pPr>
              <a:defRPr/>
            </a:pPr>
            <a:endParaRPr lang="en-US" altLang="ja-JP"/>
          </a:p>
        </p:txBody>
      </p:sp>
      <p:sp>
        <p:nvSpPr>
          <p:cNvPr id="4103" name="Rectangle 7"/>
          <p:cNvSpPr>
            <a:spLocks noGrp="1" noChangeArrowheads="1"/>
          </p:cNvSpPr>
          <p:nvPr>
            <p:ph type="sldNum" sz="quarter" idx="5"/>
          </p:nvPr>
        </p:nvSpPr>
        <p:spPr bwMode="auto">
          <a:xfrm>
            <a:off x="3816933"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3" tIns="45716" rIns="91433" bIns="45716" numCol="1" anchor="b" anchorCtr="0" compatLnSpc="1">
            <a:prstTxWarp prst="textNoShape">
              <a:avLst/>
            </a:prstTxWarp>
          </a:bodyPr>
          <a:lstStyle>
            <a:lvl1pPr algn="r" eaLnBrk="1" hangingPunct="1">
              <a:defRPr sz="1200"/>
            </a:lvl1pPr>
          </a:lstStyle>
          <a:p>
            <a:pPr>
              <a:defRPr/>
            </a:pPr>
            <a:fld id="{A353078C-3FB4-451F-8C3D-7F4520F57147}" type="slidenum">
              <a:rPr lang="en-US" altLang="ja-JP"/>
              <a:pPr>
                <a:defRPr/>
              </a:pPr>
              <a:t>‹#›</a:t>
            </a:fld>
            <a:endParaRPr lang="en-US" altLang="ja-JP"/>
          </a:p>
        </p:txBody>
      </p:sp>
    </p:spTree>
    <p:extLst>
      <p:ext uri="{BB962C8B-B14F-4D97-AF65-F5344CB8AC3E}">
        <p14:creationId xmlns:p14="http://schemas.microsoft.com/office/powerpoint/2010/main" val="26936085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1pPr>
    <a:lvl2pPr marL="457200"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eaLnBrk="0" fontAlgn="base" hangingPunct="0">
      <a:spcBef>
        <a:spcPct val="3000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A353078C-3FB4-451F-8C3D-7F4520F57147}" type="slidenum">
              <a:rPr lang="en-US" altLang="ja-JP" smtClean="0"/>
              <a:pPr>
                <a:defRPr/>
              </a:pPr>
              <a:t>1</a:t>
            </a:fld>
            <a:endParaRPr lang="en-US" altLang="ja-JP"/>
          </a:p>
        </p:txBody>
      </p:sp>
    </p:spTree>
    <p:extLst>
      <p:ext uri="{BB962C8B-B14F-4D97-AF65-F5344CB8AC3E}">
        <p14:creationId xmlns:p14="http://schemas.microsoft.com/office/powerpoint/2010/main" val="3617468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A353078C-3FB4-451F-8C3D-7F4520F57147}" type="slidenum">
              <a:rPr lang="en-US" altLang="ja-JP" smtClean="0"/>
              <a:pPr>
                <a:defRPr/>
              </a:pPr>
              <a:t>8</a:t>
            </a:fld>
            <a:endParaRPr lang="en-US" altLang="ja-JP"/>
          </a:p>
        </p:txBody>
      </p:sp>
    </p:spTree>
    <p:extLst>
      <p:ext uri="{BB962C8B-B14F-4D97-AF65-F5344CB8AC3E}">
        <p14:creationId xmlns:p14="http://schemas.microsoft.com/office/powerpoint/2010/main" val="18511595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sp>
        <p:nvSpPr>
          <p:cNvPr id="4" name="Rectangle 16"/>
          <p:cNvSpPr>
            <a:spLocks noGrp="1" noChangeArrowheads="1"/>
          </p:cNvSpPr>
          <p:nvPr>
            <p:ph type="title"/>
          </p:nvPr>
        </p:nvSpPr>
        <p:spPr bwMode="auto">
          <a:xfrm>
            <a:off x="631130" y="2914492"/>
            <a:ext cx="86423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normAutofit/>
          </a:bodyPr>
          <a:lstStyle>
            <a:lvl1pPr algn="ctr">
              <a:defRPr sz="2800"/>
            </a:lvl1pPr>
          </a:lstStyle>
          <a:p>
            <a:pPr lvl="0"/>
            <a:r>
              <a:rPr lang="ja-JP" altLang="en-US"/>
              <a:t>マスタ タイトルの書式設定</a:t>
            </a:r>
          </a:p>
        </p:txBody>
      </p:sp>
      <p:grpSp>
        <p:nvGrpSpPr>
          <p:cNvPr id="3" name="グループ化 2"/>
          <p:cNvGrpSpPr/>
          <p:nvPr userDrawn="1"/>
        </p:nvGrpSpPr>
        <p:grpSpPr>
          <a:xfrm>
            <a:off x="0" y="0"/>
            <a:ext cx="9906000" cy="486788"/>
            <a:chOff x="0" y="0"/>
            <a:chExt cx="9906000" cy="486788"/>
          </a:xfrm>
        </p:grpSpPr>
        <p:pic>
          <p:nvPicPr>
            <p:cNvPr id="5" name="図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52282" y="0"/>
              <a:ext cx="8453718" cy="486788"/>
            </a:xfrm>
            <a:prstGeom prst="rect">
              <a:avLst/>
            </a:prstGeom>
          </p:spPr>
        </p:pic>
        <p:sp>
          <p:nvSpPr>
            <p:cNvPr id="6" name="正方形/長方形 5"/>
            <p:cNvSpPr/>
            <p:nvPr userDrawn="1"/>
          </p:nvSpPr>
          <p:spPr>
            <a:xfrm>
              <a:off x="0" y="0"/>
              <a:ext cx="8229600" cy="121920"/>
            </a:xfrm>
            <a:prstGeom prst="rect">
              <a:avLst/>
            </a:prstGeom>
            <a:solidFill>
              <a:srgbClr val="026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latin typeface="游ゴシック Medium" panose="020B0500000000000000" pitchFamily="50" charset="-128"/>
              </a:endParaRPr>
            </a:p>
          </p:txBody>
        </p:sp>
      </p:grpSp>
      <p:cxnSp>
        <p:nvCxnSpPr>
          <p:cNvPr id="7" name="直線コネクタ 6"/>
          <p:cNvCxnSpPr/>
          <p:nvPr userDrawn="1"/>
        </p:nvCxnSpPr>
        <p:spPr>
          <a:xfrm>
            <a:off x="612723" y="3452712"/>
            <a:ext cx="8680552" cy="0"/>
          </a:xfrm>
          <a:prstGeom prst="line">
            <a:avLst/>
          </a:prstGeom>
          <a:ln w="19050">
            <a:solidFill>
              <a:srgbClr val="0168B7"/>
            </a:solidFill>
          </a:ln>
        </p:spPr>
        <p:style>
          <a:lnRef idx="1">
            <a:schemeClr val="accent1"/>
          </a:lnRef>
          <a:fillRef idx="0">
            <a:schemeClr val="accent1"/>
          </a:fillRef>
          <a:effectRef idx="0">
            <a:schemeClr val="accent1"/>
          </a:effectRef>
          <a:fontRef idx="minor">
            <a:schemeClr val="tx1"/>
          </a:fontRef>
        </p:style>
      </p:cxnSp>
      <p:sp>
        <p:nvSpPr>
          <p:cNvPr id="8" name="Rectangle 1">
            <a:extLst>
              <a:ext uri="{FF2B5EF4-FFF2-40B4-BE49-F238E27FC236}">
                <a16:creationId xmlns:a16="http://schemas.microsoft.com/office/drawing/2014/main" id="{7548BE72-EC26-B6F9-8982-D6A9C2EBFC48}"/>
              </a:ext>
            </a:extLst>
          </p:cNvPr>
          <p:cNvSpPr>
            <a:spLocks noChangeArrowheads="1"/>
          </p:cNvSpPr>
          <p:nvPr userDrawn="1"/>
        </p:nvSpPr>
        <p:spPr bwMode="auto">
          <a:xfrm>
            <a:off x="272480" y="6635824"/>
            <a:ext cx="1492396"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Copyright © 202</a:t>
            </a:r>
            <a:r>
              <a:rPr kumimoji="0" lang="en-US"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r>
              <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TOPPAN </a:t>
            </a:r>
            <a:r>
              <a:rPr kumimoji="0" lang="en-US"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INC.</a:t>
            </a:r>
            <a:endPar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6654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lang="ja-JP" altLang="en-US"/>
              <a:t>マスター タイトルの書式設定</a:t>
            </a:r>
          </a:p>
        </p:txBody>
      </p:sp>
      <p:sp>
        <p:nvSpPr>
          <p:cNvPr id="3" name="テキスト プレースホルダー 4"/>
          <p:cNvSpPr>
            <a:spLocks noGrp="1"/>
          </p:cNvSpPr>
          <p:nvPr>
            <p:ph type="body" sz="quarter" idx="10"/>
          </p:nvPr>
        </p:nvSpPr>
        <p:spPr>
          <a:xfrm>
            <a:off x="273050" y="188913"/>
            <a:ext cx="7848600" cy="161583"/>
          </a:xfrm>
        </p:spPr>
        <p:txBody>
          <a:bodyPr/>
          <a:lstStyle>
            <a:lvl1pPr marL="0" indent="0">
              <a:buNone/>
              <a:defRPr sz="1050"/>
            </a:lvl1pPr>
            <a:lvl2pPr marL="269875" inden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kumimoji="1" lang="ja-JP" altLang="en-US"/>
              <a:t>マスター テキストの書式設定</a:t>
            </a:r>
          </a:p>
        </p:txBody>
      </p:sp>
    </p:spTree>
    <p:extLst>
      <p:ext uri="{BB962C8B-B14F-4D97-AF65-F5344CB8AC3E}">
        <p14:creationId xmlns:p14="http://schemas.microsoft.com/office/powerpoint/2010/main" val="2013877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lang="ja-JP" altLang="en-US"/>
              <a:t>マスター タイトルの書式設定</a:t>
            </a:r>
          </a:p>
        </p:txBody>
      </p:sp>
      <p:sp>
        <p:nvSpPr>
          <p:cNvPr id="3" name="コンテンツ プレースホルダー 2"/>
          <p:cNvSpPr>
            <a:spLocks noGrp="1"/>
          </p:cNvSpPr>
          <p:nvPr>
            <p:ph idx="1"/>
          </p:nvPr>
        </p:nvSpPr>
        <p:spPr>
          <a:xfrm>
            <a:off x="273050" y="908050"/>
            <a:ext cx="9359900" cy="1138773"/>
          </a:xfrm>
        </p:spPr>
        <p:txBody>
          <a:bodyPr wrap="square"/>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10"/>
          </p:nvPr>
        </p:nvSpPr>
        <p:spPr>
          <a:xfrm>
            <a:off x="273050" y="188913"/>
            <a:ext cx="7848600" cy="161583"/>
          </a:xfrm>
        </p:spPr>
        <p:txBody>
          <a:bodyPr/>
          <a:lstStyle>
            <a:lvl1pPr marL="0" indent="0">
              <a:buNone/>
              <a:defRPr sz="1050"/>
            </a:lvl1pPr>
            <a:lvl2pPr marL="269875" inden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kumimoji="1" lang="ja-JP" altLang="en-US"/>
              <a:t>マスター テキストの書式設定</a:t>
            </a:r>
          </a:p>
        </p:txBody>
      </p:sp>
    </p:spTree>
    <p:extLst>
      <p:ext uri="{BB962C8B-B14F-4D97-AF65-F5344CB8AC3E}">
        <p14:creationId xmlns:p14="http://schemas.microsoft.com/office/powerpoint/2010/main" val="1329972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273050" y="3126928"/>
            <a:ext cx="9001126" cy="307777"/>
          </a:xfrm>
        </p:spPr>
        <p:txBody>
          <a:bodyPr anchor="ctr"/>
          <a:lstStyle>
            <a:lvl1pPr marL="0" indent="0">
              <a:buNone/>
              <a:defRPr sz="20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a:t>マスター テキストの書式設定</a:t>
            </a:r>
          </a:p>
        </p:txBody>
      </p:sp>
    </p:spTree>
    <p:extLst>
      <p:ext uri="{BB962C8B-B14F-4D97-AF65-F5344CB8AC3E}">
        <p14:creationId xmlns:p14="http://schemas.microsoft.com/office/powerpoint/2010/main" val="2692177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セクション見出し">
    <p:bg>
      <p:bgPr>
        <a:solidFill>
          <a:schemeClr val="accent1"/>
        </a:solidFill>
        <a:effectLst/>
      </p:bgPr>
    </p:bg>
    <p:spTree>
      <p:nvGrpSpPr>
        <p:cNvPr id="1" name=""/>
        <p:cNvGrpSpPr/>
        <p:nvPr/>
      </p:nvGrpSpPr>
      <p:grpSpPr>
        <a:xfrm>
          <a:off x="0" y="0"/>
          <a:ext cx="0" cy="0"/>
          <a:chOff x="0" y="0"/>
          <a:chExt cx="0" cy="0"/>
        </a:xfrm>
      </p:grpSpPr>
      <p:sp>
        <p:nvSpPr>
          <p:cNvPr id="4" name="Rectangle 10"/>
          <p:cNvSpPr txBox="1">
            <a:spLocks noChangeArrowheads="1"/>
          </p:cNvSpPr>
          <p:nvPr userDrawn="1"/>
        </p:nvSpPr>
        <p:spPr bwMode="auto">
          <a:xfrm>
            <a:off x="9417496" y="6597352"/>
            <a:ext cx="2180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ja-JP"/>
            </a:defPPr>
            <a:lvl1pPr algn="ctr" rtl="0" fontAlgn="base">
              <a:spcBef>
                <a:spcPct val="0"/>
              </a:spcBef>
              <a:spcAft>
                <a:spcPct val="0"/>
              </a:spcAft>
              <a:defRPr kumimoji="1" sz="700" kern="1200">
                <a:solidFill>
                  <a:srgbClr val="5F5F5F"/>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9pPr>
          </a:lstStyle>
          <a:p>
            <a:pPr algn="r" eaLnBrk="1" hangingPunct="1">
              <a:defRPr/>
            </a:pPr>
            <a:fld id="{4A2DA23E-ECE5-4573-9E35-541116622C71}" type="slidenum">
              <a:rPr lang="en-US" altLang="ja-JP" sz="1400" b="0" smtClean="0">
                <a:solidFill>
                  <a:schemeClr val="bg1"/>
                </a:solidFill>
              </a:rPr>
              <a:pPr algn="r" eaLnBrk="1" hangingPunct="1">
                <a:defRPr/>
              </a:pPr>
              <a:t>‹#›</a:t>
            </a:fld>
            <a:endParaRPr lang="en-US" altLang="ja-JP" sz="1400" b="0">
              <a:solidFill>
                <a:schemeClr val="bg1"/>
              </a:solidFill>
            </a:endParaRPr>
          </a:p>
        </p:txBody>
      </p:sp>
      <p:pic>
        <p:nvPicPr>
          <p:cNvPr id="9" name="図 8"/>
          <p:cNvPicPr>
            <a:picLocks noChangeAspect="1"/>
          </p:cNvPicPr>
          <p:nvPr userDrawn="1"/>
        </p:nvPicPr>
        <p:blipFill rotWithShape="1">
          <a:blip r:embed="rId2" cstate="print">
            <a:extLst>
              <a:ext uri="{28A0092B-C50C-407E-A947-70E740481C1C}">
                <a14:useLocalDpi xmlns:a14="http://schemas.microsoft.com/office/drawing/2010/main" val="0"/>
              </a:ext>
            </a:extLst>
          </a:blip>
          <a:srcRect l="17089" t="37187" r="17089" b="37187"/>
          <a:stretch/>
        </p:blipFill>
        <p:spPr>
          <a:xfrm>
            <a:off x="8608996" y="149161"/>
            <a:ext cx="1036562" cy="188466"/>
          </a:xfrm>
          <a:prstGeom prst="rect">
            <a:avLst/>
          </a:prstGeom>
        </p:spPr>
      </p:pic>
      <p:sp>
        <p:nvSpPr>
          <p:cNvPr id="2" name="タイトル 1"/>
          <p:cNvSpPr>
            <a:spLocks noGrp="1"/>
          </p:cNvSpPr>
          <p:nvPr>
            <p:ph type="title"/>
          </p:nvPr>
        </p:nvSpPr>
        <p:spPr>
          <a:xfrm>
            <a:off x="273049" y="3121223"/>
            <a:ext cx="9072563" cy="307777"/>
          </a:xfrm>
        </p:spPr>
        <p:txBody>
          <a:bodyPr/>
          <a:lstStyle>
            <a:lvl1pPr>
              <a:defRPr>
                <a:solidFill>
                  <a:schemeClr val="bg1"/>
                </a:solidFill>
              </a:defRPr>
            </a:lvl1pPr>
          </a:lstStyle>
          <a:p>
            <a:r>
              <a:rPr kumimoji="1" lang="ja-JP" altLang="en-US"/>
              <a:t>マスター タイトルの書式設定</a:t>
            </a:r>
          </a:p>
        </p:txBody>
      </p:sp>
      <p:sp>
        <p:nvSpPr>
          <p:cNvPr id="3" name="Rectangle 1">
            <a:extLst>
              <a:ext uri="{FF2B5EF4-FFF2-40B4-BE49-F238E27FC236}">
                <a16:creationId xmlns:a16="http://schemas.microsoft.com/office/drawing/2014/main" id="{78E2B55C-4667-3F1F-FFFC-E6F6186B9C54}"/>
              </a:ext>
            </a:extLst>
          </p:cNvPr>
          <p:cNvSpPr>
            <a:spLocks noChangeArrowheads="1"/>
          </p:cNvSpPr>
          <p:nvPr userDrawn="1"/>
        </p:nvSpPr>
        <p:spPr bwMode="auto">
          <a:xfrm>
            <a:off x="272480" y="6635824"/>
            <a:ext cx="1492396"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Copyright © 202</a:t>
            </a:r>
            <a:r>
              <a:rPr kumimoji="0" lang="en-US"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3</a:t>
            </a:r>
            <a:r>
              <a:rPr kumimoji="0" lang="ja-JP"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TOPPAN </a:t>
            </a:r>
            <a:r>
              <a:rPr kumimoji="0" lang="en-US"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INC.</a:t>
            </a:r>
            <a:endParaRPr kumimoji="0" lang="ja-JP"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2616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993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sp>
        <p:nvSpPr>
          <p:cNvPr id="4" name="Rectangle 16"/>
          <p:cNvSpPr>
            <a:spLocks noGrp="1" noChangeArrowheads="1"/>
          </p:cNvSpPr>
          <p:nvPr>
            <p:ph type="title"/>
          </p:nvPr>
        </p:nvSpPr>
        <p:spPr bwMode="auto">
          <a:xfrm>
            <a:off x="631130" y="2914492"/>
            <a:ext cx="86423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normAutofit/>
          </a:bodyPr>
          <a:lstStyle>
            <a:lvl1pPr algn="ctr">
              <a:defRPr sz="2800"/>
            </a:lvl1pPr>
          </a:lstStyle>
          <a:p>
            <a:pPr lvl="0"/>
            <a:r>
              <a:rPr lang="ja-JP" altLang="en-US"/>
              <a:t>マスタ タイトルの書式設定</a:t>
            </a:r>
          </a:p>
        </p:txBody>
      </p:sp>
      <p:grpSp>
        <p:nvGrpSpPr>
          <p:cNvPr id="3" name="グループ化 2"/>
          <p:cNvGrpSpPr/>
          <p:nvPr userDrawn="1"/>
        </p:nvGrpSpPr>
        <p:grpSpPr>
          <a:xfrm>
            <a:off x="0" y="0"/>
            <a:ext cx="9906000" cy="486788"/>
            <a:chOff x="0" y="0"/>
            <a:chExt cx="9906000" cy="486788"/>
          </a:xfrm>
        </p:grpSpPr>
        <p:pic>
          <p:nvPicPr>
            <p:cNvPr id="5" name="図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52282" y="0"/>
              <a:ext cx="8453718" cy="486788"/>
            </a:xfrm>
            <a:prstGeom prst="rect">
              <a:avLst/>
            </a:prstGeom>
          </p:spPr>
        </p:pic>
        <p:sp>
          <p:nvSpPr>
            <p:cNvPr id="6" name="正方形/長方形 5"/>
            <p:cNvSpPr/>
            <p:nvPr userDrawn="1"/>
          </p:nvSpPr>
          <p:spPr>
            <a:xfrm>
              <a:off x="0" y="0"/>
              <a:ext cx="8229600" cy="121920"/>
            </a:xfrm>
            <a:prstGeom prst="rect">
              <a:avLst/>
            </a:prstGeom>
            <a:solidFill>
              <a:srgbClr val="026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latin typeface="游ゴシック Medium" panose="020B0500000000000000" pitchFamily="50" charset="-128"/>
              </a:endParaRPr>
            </a:p>
          </p:txBody>
        </p:sp>
      </p:grpSp>
      <p:cxnSp>
        <p:nvCxnSpPr>
          <p:cNvPr id="7" name="直線コネクタ 6"/>
          <p:cNvCxnSpPr/>
          <p:nvPr userDrawn="1"/>
        </p:nvCxnSpPr>
        <p:spPr>
          <a:xfrm>
            <a:off x="612723" y="3452712"/>
            <a:ext cx="8680552" cy="0"/>
          </a:xfrm>
          <a:prstGeom prst="line">
            <a:avLst/>
          </a:prstGeom>
          <a:ln w="19050">
            <a:solidFill>
              <a:srgbClr val="0168B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73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lang="ja-JP" altLang="en-US"/>
              <a:t>マスター タイトルの書式設定</a:t>
            </a:r>
          </a:p>
        </p:txBody>
      </p:sp>
      <p:sp>
        <p:nvSpPr>
          <p:cNvPr id="3" name="テキスト プレースホルダー 4"/>
          <p:cNvSpPr>
            <a:spLocks noGrp="1"/>
          </p:cNvSpPr>
          <p:nvPr>
            <p:ph type="body" sz="quarter" idx="10" hasCustomPrompt="1"/>
          </p:nvPr>
        </p:nvSpPr>
        <p:spPr>
          <a:xfrm>
            <a:off x="273050" y="188913"/>
            <a:ext cx="7848600" cy="161583"/>
          </a:xfrm>
        </p:spPr>
        <p:txBody>
          <a:bodyPr/>
          <a:lstStyle>
            <a:lvl1pPr marL="0" indent="0">
              <a:buNone/>
              <a:defRPr sz="1050"/>
            </a:lvl1pPr>
            <a:lvl2pPr marL="269875" inden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r>
              <a:rPr kumimoji="1" lang="ja-JP" altLang="en-US" dirty="0"/>
              <a:t>調査</a:t>
            </a:r>
            <a:r>
              <a:rPr kumimoji="1" lang="en-US" altLang="ja-JP" dirty="0"/>
              <a:t>B – </a:t>
            </a:r>
            <a:r>
              <a:rPr kumimoji="1" lang="ja-JP" altLang="en-US" dirty="0"/>
              <a:t>ウォレット動向調査</a:t>
            </a:r>
          </a:p>
        </p:txBody>
      </p:sp>
    </p:spTree>
    <p:extLst>
      <p:ext uri="{BB962C8B-B14F-4D97-AF65-F5344CB8AC3E}">
        <p14:creationId xmlns:p14="http://schemas.microsoft.com/office/powerpoint/2010/main" val="2149266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chemeClr val="tx1"/>
                </a:solidFill>
              </a:defRPr>
            </a:lvl1pPr>
          </a:lstStyle>
          <a:p>
            <a:r>
              <a:rPr lang="ja-JP" altLang="en-US"/>
              <a:t>マスター タイトルの書式設定</a:t>
            </a:r>
          </a:p>
        </p:txBody>
      </p:sp>
      <p:sp>
        <p:nvSpPr>
          <p:cNvPr id="3" name="コンテンツ プレースホルダー 2"/>
          <p:cNvSpPr>
            <a:spLocks noGrp="1"/>
          </p:cNvSpPr>
          <p:nvPr>
            <p:ph idx="1"/>
          </p:nvPr>
        </p:nvSpPr>
        <p:spPr>
          <a:xfrm>
            <a:off x="273050" y="908050"/>
            <a:ext cx="9359900" cy="1138773"/>
          </a:xfrm>
        </p:spPr>
        <p:txBody>
          <a:bodyPr wrap="square"/>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10" hasCustomPrompt="1"/>
          </p:nvPr>
        </p:nvSpPr>
        <p:spPr>
          <a:xfrm>
            <a:off x="273050" y="188913"/>
            <a:ext cx="7848600" cy="161583"/>
          </a:xfrm>
        </p:spPr>
        <p:txBody>
          <a:bodyPr/>
          <a:lstStyle>
            <a:lvl1pPr marL="0" indent="0">
              <a:buNone/>
              <a:defRPr sz="1050"/>
            </a:lvl1pPr>
            <a:lvl2pPr marL="269875" inden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r>
              <a:rPr kumimoji="1" lang="ja-JP" altLang="en-US" dirty="0"/>
              <a:t>調査</a:t>
            </a:r>
            <a:r>
              <a:rPr kumimoji="1" lang="en-US" altLang="ja-JP" dirty="0"/>
              <a:t>B – </a:t>
            </a:r>
            <a:r>
              <a:rPr kumimoji="1" lang="ja-JP" altLang="en-US" dirty="0"/>
              <a:t>ウォレット動向調査</a:t>
            </a:r>
          </a:p>
        </p:txBody>
      </p:sp>
    </p:spTree>
    <p:extLst>
      <p:ext uri="{BB962C8B-B14F-4D97-AF65-F5344CB8AC3E}">
        <p14:creationId xmlns:p14="http://schemas.microsoft.com/office/powerpoint/2010/main" val="4081931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273050" y="3126928"/>
            <a:ext cx="9001126" cy="307777"/>
          </a:xfrm>
        </p:spPr>
        <p:txBody>
          <a:bodyPr anchor="ctr"/>
          <a:lstStyle>
            <a:lvl1pPr marL="0" indent="0">
              <a:buNone/>
              <a:defRPr sz="20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a:t>マスター テキストの書式設定</a:t>
            </a:r>
          </a:p>
        </p:txBody>
      </p:sp>
    </p:spTree>
    <p:extLst>
      <p:ext uri="{BB962C8B-B14F-4D97-AF65-F5344CB8AC3E}">
        <p14:creationId xmlns:p14="http://schemas.microsoft.com/office/powerpoint/2010/main" val="2944641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セクション見出し">
    <p:bg>
      <p:bgPr>
        <a:solidFill>
          <a:schemeClr val="accent1"/>
        </a:solidFill>
        <a:effectLst/>
      </p:bgPr>
    </p:bg>
    <p:spTree>
      <p:nvGrpSpPr>
        <p:cNvPr id="1" name=""/>
        <p:cNvGrpSpPr/>
        <p:nvPr/>
      </p:nvGrpSpPr>
      <p:grpSpPr>
        <a:xfrm>
          <a:off x="0" y="0"/>
          <a:ext cx="0" cy="0"/>
          <a:chOff x="0" y="0"/>
          <a:chExt cx="0" cy="0"/>
        </a:xfrm>
      </p:grpSpPr>
      <p:sp>
        <p:nvSpPr>
          <p:cNvPr id="4" name="Rectangle 10"/>
          <p:cNvSpPr txBox="1">
            <a:spLocks noChangeArrowheads="1"/>
          </p:cNvSpPr>
          <p:nvPr userDrawn="1"/>
        </p:nvSpPr>
        <p:spPr bwMode="auto">
          <a:xfrm>
            <a:off x="9417496" y="6597352"/>
            <a:ext cx="2180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ja-JP"/>
            </a:defPPr>
            <a:lvl1pPr algn="ctr" rtl="0" fontAlgn="base">
              <a:spcBef>
                <a:spcPct val="0"/>
              </a:spcBef>
              <a:spcAft>
                <a:spcPct val="0"/>
              </a:spcAft>
              <a:defRPr kumimoji="1" sz="700" kern="1200">
                <a:solidFill>
                  <a:srgbClr val="5F5F5F"/>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9pPr>
          </a:lstStyle>
          <a:p>
            <a:pPr algn="r" eaLnBrk="1" hangingPunct="1">
              <a:defRPr/>
            </a:pPr>
            <a:fld id="{4A2DA23E-ECE5-4573-9E35-541116622C71}" type="slidenum">
              <a:rPr lang="en-US" altLang="ja-JP" sz="1400" b="0" smtClean="0">
                <a:solidFill>
                  <a:schemeClr val="bg1"/>
                </a:solidFill>
              </a:rPr>
              <a:pPr algn="r" eaLnBrk="1" hangingPunct="1">
                <a:defRPr/>
              </a:pPr>
              <a:t>‹#›</a:t>
            </a:fld>
            <a:endParaRPr lang="en-US" altLang="ja-JP" sz="1400" b="0">
              <a:solidFill>
                <a:schemeClr val="bg1"/>
              </a:solidFill>
            </a:endParaRPr>
          </a:p>
        </p:txBody>
      </p:sp>
      <p:pic>
        <p:nvPicPr>
          <p:cNvPr id="9" name="図 8"/>
          <p:cNvPicPr>
            <a:picLocks noChangeAspect="1"/>
          </p:cNvPicPr>
          <p:nvPr userDrawn="1"/>
        </p:nvPicPr>
        <p:blipFill rotWithShape="1">
          <a:blip r:embed="rId2" cstate="print">
            <a:extLst>
              <a:ext uri="{28A0092B-C50C-407E-A947-70E740481C1C}">
                <a14:useLocalDpi xmlns:a14="http://schemas.microsoft.com/office/drawing/2010/main" val="0"/>
              </a:ext>
            </a:extLst>
          </a:blip>
          <a:srcRect l="17089" t="37187" r="17089" b="37187"/>
          <a:stretch/>
        </p:blipFill>
        <p:spPr>
          <a:xfrm>
            <a:off x="8608996" y="149161"/>
            <a:ext cx="1036562" cy="188466"/>
          </a:xfrm>
          <a:prstGeom prst="rect">
            <a:avLst/>
          </a:prstGeom>
        </p:spPr>
      </p:pic>
      <p:sp>
        <p:nvSpPr>
          <p:cNvPr id="5" name="Rectangle 1"/>
          <p:cNvSpPr>
            <a:spLocks noChangeArrowheads="1"/>
          </p:cNvSpPr>
          <p:nvPr userDrawn="1"/>
        </p:nvSpPr>
        <p:spPr bwMode="auto">
          <a:xfrm>
            <a:off x="272480" y="6635824"/>
            <a:ext cx="1492396"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Copyright © 202</a:t>
            </a:r>
            <a:r>
              <a:rPr kumimoji="0" lang="en-US"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3</a:t>
            </a:r>
            <a:r>
              <a:rPr kumimoji="0" lang="ja-JP"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TOPPAN </a:t>
            </a:r>
            <a:r>
              <a:rPr kumimoji="0" lang="en-US"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INC.</a:t>
            </a:r>
            <a:endParaRPr kumimoji="0" lang="ja-JP" altLang="ja-JP" sz="9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p:txBody>
      </p:sp>
      <p:sp>
        <p:nvSpPr>
          <p:cNvPr id="2" name="タイトル 1"/>
          <p:cNvSpPr>
            <a:spLocks noGrp="1"/>
          </p:cNvSpPr>
          <p:nvPr>
            <p:ph type="title"/>
          </p:nvPr>
        </p:nvSpPr>
        <p:spPr>
          <a:xfrm>
            <a:off x="273049" y="3121223"/>
            <a:ext cx="9072563" cy="307777"/>
          </a:xfrm>
        </p:spPr>
        <p:txBody>
          <a:bodyPr/>
          <a:lstStyle>
            <a:lvl1pPr>
              <a:defRPr>
                <a:solidFill>
                  <a:schemeClr val="bg1"/>
                </a:solidFill>
              </a:defRPr>
            </a:lvl1pPr>
          </a:lstStyle>
          <a:p>
            <a:r>
              <a:rPr kumimoji="1" lang="ja-JP" altLang="en-US"/>
              <a:t>マスター タイトルの書式設定</a:t>
            </a:r>
          </a:p>
        </p:txBody>
      </p:sp>
    </p:spTree>
    <p:extLst>
      <p:ext uri="{BB962C8B-B14F-4D97-AF65-F5344CB8AC3E}">
        <p14:creationId xmlns:p14="http://schemas.microsoft.com/office/powerpoint/2010/main" val="2932112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757236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e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2.jpeg"/><Relationship Id="rId5" Type="http://schemas.openxmlformats.org/officeDocument/2006/relationships/slideLayout" Target="../slideLayouts/slideLayout11.xml"/><Relationship Id="rId10" Type="http://schemas.openxmlformats.org/officeDocument/2006/relationships/image" Target="../media/image1.emf"/><Relationship Id="rId4" Type="http://schemas.openxmlformats.org/officeDocument/2006/relationships/slideLayout" Target="../slideLayouts/slideLayout10.xml"/><Relationship Id="rId9"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0C37E358-AC16-41DA-807D-228D90720739}"/>
              </a:ext>
            </a:extLst>
          </p:cNvPr>
          <p:cNvGraphicFramePr>
            <a:graphicFrameLocks noChangeAspect="1"/>
          </p:cNvGraphicFramePr>
          <p:nvPr userDrawn="1">
            <p:custDataLst>
              <p:tags r:id="rId8"/>
            </p:custDataLst>
            <p:extLst>
              <p:ext uri="{D42A27DB-BD31-4B8C-83A1-F6EECF244321}">
                <p14:modId xmlns:p14="http://schemas.microsoft.com/office/powerpoint/2010/main" val="2431132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9" imgW="622" imgH="623" progId="TCLayout.ActiveDocument.1">
                  <p:embed/>
                </p:oleObj>
              </mc:Choice>
              <mc:Fallback>
                <p:oleObj name="think-cell スライド" r:id="rId9" imgW="622" imgH="623" progId="TCLayout.ActiveDocument.1">
                  <p:embed/>
                  <p:pic>
                    <p:nvPicPr>
                      <p:cNvPr id="4" name="オブジェクト 3" hidden="1">
                        <a:extLst>
                          <a:ext uri="{FF2B5EF4-FFF2-40B4-BE49-F238E27FC236}">
                            <a16:creationId xmlns:a16="http://schemas.microsoft.com/office/drawing/2014/main" id="{0C37E358-AC16-41DA-807D-228D9072073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10"/>
          <p:cNvSpPr txBox="1">
            <a:spLocks noChangeArrowheads="1"/>
          </p:cNvSpPr>
          <p:nvPr userDrawn="1"/>
        </p:nvSpPr>
        <p:spPr bwMode="auto">
          <a:xfrm>
            <a:off x="9417496" y="6597352"/>
            <a:ext cx="2180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ja-JP"/>
            </a:defPPr>
            <a:lvl1pPr algn="ctr" rtl="0" fontAlgn="base">
              <a:spcBef>
                <a:spcPct val="0"/>
              </a:spcBef>
              <a:spcAft>
                <a:spcPct val="0"/>
              </a:spcAft>
              <a:defRPr kumimoji="1" sz="700" kern="1200">
                <a:solidFill>
                  <a:srgbClr val="5F5F5F"/>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9pPr>
          </a:lstStyle>
          <a:p>
            <a:pPr algn="r" eaLnBrk="1" hangingPunct="1">
              <a:defRPr/>
            </a:pPr>
            <a:fld id="{4A2DA23E-ECE5-4573-9E35-541116622C71}" type="slidenum">
              <a:rPr lang="en-US" altLang="ja-JP" sz="1400" b="0" smtClean="0">
                <a:solidFill>
                  <a:schemeClr val="tx1"/>
                </a:solidFill>
              </a:rPr>
              <a:pPr algn="r" eaLnBrk="1" hangingPunct="1">
                <a:defRPr/>
              </a:pPr>
              <a:t>‹#›</a:t>
            </a:fld>
            <a:endParaRPr lang="en-US" altLang="ja-JP" sz="1400" b="0">
              <a:solidFill>
                <a:schemeClr val="tx1"/>
              </a:solidFill>
            </a:endParaRPr>
          </a:p>
        </p:txBody>
      </p:sp>
      <p:sp>
        <p:nvSpPr>
          <p:cNvPr id="3" name="テキスト ボックス 2"/>
          <p:cNvSpPr txBox="1"/>
          <p:nvPr userDrawn="1"/>
        </p:nvSpPr>
        <p:spPr>
          <a:xfrm>
            <a:off x="273050" y="6741368"/>
            <a:ext cx="65" cy="369332"/>
          </a:xfrm>
          <a:prstGeom prst="rect">
            <a:avLst/>
          </a:prstGeom>
          <a:noFill/>
        </p:spPr>
        <p:txBody>
          <a:bodyPr wrap="none" lIns="0" tIns="0" rIns="0" bIns="0" rtlCol="0">
            <a:spAutoFit/>
          </a:bodyPr>
          <a:lstStyle/>
          <a:p>
            <a:endParaRPr kumimoji="1" lang="ja-JP" altLang="en-US" b="1">
              <a:latin typeface="游ゴシック" panose="020B0400000000000000" pitchFamily="50" charset="-128"/>
              <a:ea typeface="游ゴシック" panose="020B0400000000000000" pitchFamily="50" charset="-128"/>
            </a:endParaRPr>
          </a:p>
        </p:txBody>
      </p:sp>
      <p:grpSp>
        <p:nvGrpSpPr>
          <p:cNvPr id="12" name="グループ化 11"/>
          <p:cNvGrpSpPr/>
          <p:nvPr userDrawn="1"/>
        </p:nvGrpSpPr>
        <p:grpSpPr>
          <a:xfrm>
            <a:off x="0" y="0"/>
            <a:ext cx="9906000" cy="486788"/>
            <a:chOff x="0" y="0"/>
            <a:chExt cx="9906000" cy="486788"/>
          </a:xfrm>
        </p:grpSpPr>
        <p:pic>
          <p:nvPicPr>
            <p:cNvPr id="13" name="図 1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452282" y="0"/>
              <a:ext cx="8453718" cy="486788"/>
            </a:xfrm>
            <a:prstGeom prst="rect">
              <a:avLst/>
            </a:prstGeom>
          </p:spPr>
        </p:pic>
        <p:sp>
          <p:nvSpPr>
            <p:cNvPr id="14" name="正方形/長方形 13"/>
            <p:cNvSpPr/>
            <p:nvPr userDrawn="1"/>
          </p:nvSpPr>
          <p:spPr>
            <a:xfrm>
              <a:off x="0" y="0"/>
              <a:ext cx="8229600" cy="121920"/>
            </a:xfrm>
            <a:prstGeom prst="rect">
              <a:avLst/>
            </a:prstGeom>
            <a:solidFill>
              <a:srgbClr val="026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latin typeface="游ゴシック Medium" panose="020B0500000000000000" pitchFamily="50" charset="-128"/>
              </a:endParaRPr>
            </a:p>
          </p:txBody>
        </p:sp>
      </p:grpSp>
      <p:sp>
        <p:nvSpPr>
          <p:cNvPr id="1026" name="Rectangle 17"/>
          <p:cNvSpPr>
            <a:spLocks noGrp="1" noChangeArrowheads="1"/>
          </p:cNvSpPr>
          <p:nvPr>
            <p:ph type="body" idx="1"/>
          </p:nvPr>
        </p:nvSpPr>
        <p:spPr bwMode="auto">
          <a:xfrm>
            <a:off x="273050" y="916046"/>
            <a:ext cx="9359900" cy="47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ja-JP" altLang="en-US"/>
              <a:t>マスタ テキストの書式設定</a:t>
            </a:r>
          </a:p>
          <a:p>
            <a:pPr lvl="1"/>
            <a:r>
              <a:rPr lang="ja-JP" altLang="en-US"/>
              <a:t>第 </a:t>
            </a:r>
            <a:r>
              <a:rPr lang="en-US" altLang="ja-JP"/>
              <a:t>2 </a:t>
            </a:r>
            <a:r>
              <a:rPr lang="ja-JP" altLang="en-US"/>
              <a:t>レベル</a:t>
            </a:r>
          </a:p>
        </p:txBody>
      </p:sp>
      <p:sp>
        <p:nvSpPr>
          <p:cNvPr id="1029" name="Rectangle 16"/>
          <p:cNvSpPr>
            <a:spLocks noGrp="1" noChangeArrowheads="1"/>
          </p:cNvSpPr>
          <p:nvPr>
            <p:ph type="title"/>
          </p:nvPr>
        </p:nvSpPr>
        <p:spPr bwMode="auto">
          <a:xfrm>
            <a:off x="273050" y="384919"/>
            <a:ext cx="78483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ja-JP" altLang="en-US"/>
              <a:t>マスタ タイトルの書式設定</a:t>
            </a:r>
          </a:p>
        </p:txBody>
      </p:sp>
      <p:cxnSp>
        <p:nvCxnSpPr>
          <p:cNvPr id="11" name="直線コネクタ 10"/>
          <p:cNvCxnSpPr/>
          <p:nvPr userDrawn="1"/>
        </p:nvCxnSpPr>
        <p:spPr>
          <a:xfrm flipH="1">
            <a:off x="-301451" y="864158"/>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userDrawn="1"/>
        </p:nvCxnSpPr>
        <p:spPr>
          <a:xfrm flipH="1">
            <a:off x="9969680" y="865837"/>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userDrawn="1"/>
        </p:nvCxnSpPr>
        <p:spPr>
          <a:xfrm flipV="1">
            <a:off x="239695" y="-180869"/>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userDrawn="1"/>
        </p:nvCxnSpPr>
        <p:spPr>
          <a:xfrm flipV="1">
            <a:off x="9656026" y="-179192"/>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userDrawn="1"/>
        </p:nvCxnSpPr>
        <p:spPr>
          <a:xfrm flipV="1">
            <a:off x="241370" y="6904915"/>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userDrawn="1"/>
        </p:nvCxnSpPr>
        <p:spPr>
          <a:xfrm flipV="1">
            <a:off x="9657701" y="6906592"/>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userDrawn="1"/>
        </p:nvCxnSpPr>
        <p:spPr>
          <a:xfrm flipH="1">
            <a:off x="-308076" y="6572518"/>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userDrawn="1"/>
        </p:nvCxnSpPr>
        <p:spPr>
          <a:xfrm flipH="1">
            <a:off x="9963055" y="6574197"/>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7B52C48F-DAD6-4652-CB63-2D5A14D7862D}"/>
              </a:ext>
            </a:extLst>
          </p:cNvPr>
          <p:cNvSpPr>
            <a:spLocks noChangeArrowheads="1"/>
          </p:cNvSpPr>
          <p:nvPr userDrawn="1"/>
        </p:nvSpPr>
        <p:spPr bwMode="auto">
          <a:xfrm>
            <a:off x="272480" y="6635824"/>
            <a:ext cx="1492396"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Copyright © 202</a:t>
            </a:r>
            <a:r>
              <a:rPr kumimoji="0" lang="en-US"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r>
              <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TOPPAN </a:t>
            </a:r>
            <a:r>
              <a:rPr kumimoji="0" lang="en-US"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INC.</a:t>
            </a:r>
            <a:endPar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70" r:id="rId1"/>
    <p:sldLayoutId id="2147483675" r:id="rId2"/>
    <p:sldLayoutId id="2147483671" r:id="rId3"/>
    <p:sldLayoutId id="2147483672" r:id="rId4"/>
    <p:sldLayoutId id="2147483681" r:id="rId5"/>
    <p:sldLayoutId id="2147483673" r:id="rId6"/>
  </p:sldLayoutIdLst>
  <p:hf hdr="0" ftr="0" dt="0"/>
  <p:txStyles>
    <p:titleStyle>
      <a:lvl1pPr algn="l" rtl="0" eaLnBrk="0" fontAlgn="base" hangingPunct="0">
        <a:spcBef>
          <a:spcPct val="0"/>
        </a:spcBef>
        <a:spcAft>
          <a:spcPct val="0"/>
        </a:spcAft>
        <a:defRPr sz="2000" b="1" kern="1200">
          <a:solidFill>
            <a:schemeClr val="tx1"/>
          </a:solidFill>
          <a:latin typeface="+mj-ea"/>
          <a:ea typeface="+mj-ea"/>
          <a:cs typeface="+mj-cs"/>
        </a:defRPr>
      </a:lvl1pPr>
      <a:lvl2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2pPr>
      <a:lvl3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3pPr>
      <a:lvl4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4pPr>
      <a:lvl5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5pPr>
      <a:lvl6pPr marL="4572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6pPr>
      <a:lvl7pPr marL="9144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7pPr>
      <a:lvl8pPr marL="13716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8pPr>
      <a:lvl9pPr marL="18288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9pPr>
    </p:titleStyle>
    <p:body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110" userDrawn="1">
          <p15:clr>
            <a:srgbClr val="F26B43"/>
          </p15:clr>
        </p15:guide>
        <p15:guide id="3" orient="horz" pos="572" userDrawn="1">
          <p15:clr>
            <a:srgbClr val="F26B43"/>
          </p15:clr>
        </p15:guide>
        <p15:guide id="5" pos="172" userDrawn="1">
          <p15:clr>
            <a:srgbClr val="F26B43"/>
          </p15:clr>
        </p15:guide>
        <p15:guide id="6" pos="3120" userDrawn="1">
          <p15:clr>
            <a:srgbClr val="F26B43"/>
          </p15:clr>
        </p15:guide>
        <p15:guide id="7" pos="6068" userDrawn="1">
          <p15:clr>
            <a:srgbClr val="F26B43"/>
          </p15:clr>
        </p15:guide>
        <p15:guide id="8" pos="353" userDrawn="1">
          <p15:clr>
            <a:srgbClr val="F26B43"/>
          </p15:clr>
        </p15:guide>
        <p15:guide id="9" pos="5887" userDrawn="1">
          <p15:clr>
            <a:srgbClr val="F26B43"/>
          </p15:clr>
        </p15:guide>
        <p15:guide id="10"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0C37E358-AC16-41DA-807D-228D90720739}"/>
              </a:ext>
            </a:extLst>
          </p:cNvPr>
          <p:cNvGraphicFramePr>
            <a:graphicFrameLocks noChangeAspect="1"/>
          </p:cNvGraphicFramePr>
          <p:nvPr userDrawn="1">
            <p:custDataLst>
              <p:tags r:id="rId8"/>
            </p:custDataLst>
            <p:extLst>
              <p:ext uri="{D42A27DB-BD31-4B8C-83A1-F6EECF244321}">
                <p14:modId xmlns:p14="http://schemas.microsoft.com/office/powerpoint/2010/main" val="2431132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9" imgW="622" imgH="623" progId="TCLayout.ActiveDocument.1">
                  <p:embed/>
                </p:oleObj>
              </mc:Choice>
              <mc:Fallback>
                <p:oleObj name="think-cell スライド" r:id="rId9" imgW="622" imgH="623" progId="TCLayout.ActiveDocument.1">
                  <p:embed/>
                  <p:pic>
                    <p:nvPicPr>
                      <p:cNvPr id="4" name="オブジェクト 3" hidden="1">
                        <a:extLst>
                          <a:ext uri="{FF2B5EF4-FFF2-40B4-BE49-F238E27FC236}">
                            <a16:creationId xmlns:a16="http://schemas.microsoft.com/office/drawing/2014/main" id="{0C37E358-AC16-41DA-807D-228D9072073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10"/>
          <p:cNvSpPr txBox="1">
            <a:spLocks noChangeArrowheads="1"/>
          </p:cNvSpPr>
          <p:nvPr userDrawn="1"/>
        </p:nvSpPr>
        <p:spPr bwMode="auto">
          <a:xfrm>
            <a:off x="9417496" y="6597352"/>
            <a:ext cx="21800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ja-JP"/>
            </a:defPPr>
            <a:lvl1pPr algn="ctr" rtl="0" fontAlgn="base">
              <a:spcBef>
                <a:spcPct val="0"/>
              </a:spcBef>
              <a:spcAft>
                <a:spcPct val="0"/>
              </a:spcAft>
              <a:defRPr kumimoji="1" sz="700" kern="1200">
                <a:solidFill>
                  <a:srgbClr val="5F5F5F"/>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fontAlgn="base">
              <a:spcBef>
                <a:spcPct val="0"/>
              </a:spcBef>
              <a:spcAft>
                <a:spcPct val="0"/>
              </a:spcAft>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ＭＳ Ｐゴシック" panose="020B0600070205080204" pitchFamily="50" charset="-128"/>
                <a:ea typeface="ＭＳ Ｐゴシック" panose="020B0600070205080204" pitchFamily="50" charset="-128"/>
                <a:cs typeface="+mn-cs"/>
              </a:defRPr>
            </a:lvl9pPr>
          </a:lstStyle>
          <a:p>
            <a:pPr algn="r" eaLnBrk="1" hangingPunct="1">
              <a:defRPr/>
            </a:pPr>
            <a:fld id="{4A2DA23E-ECE5-4573-9E35-541116622C71}" type="slidenum">
              <a:rPr lang="en-US" altLang="ja-JP" sz="1400" b="0" smtClean="0">
                <a:solidFill>
                  <a:schemeClr val="tx1"/>
                </a:solidFill>
              </a:rPr>
              <a:pPr algn="r" eaLnBrk="1" hangingPunct="1">
                <a:defRPr/>
              </a:pPr>
              <a:t>‹#›</a:t>
            </a:fld>
            <a:endParaRPr lang="en-US" altLang="ja-JP" sz="1400" b="0">
              <a:solidFill>
                <a:schemeClr val="tx1"/>
              </a:solidFill>
            </a:endParaRPr>
          </a:p>
        </p:txBody>
      </p:sp>
      <p:sp>
        <p:nvSpPr>
          <p:cNvPr id="3" name="テキスト ボックス 2"/>
          <p:cNvSpPr txBox="1"/>
          <p:nvPr userDrawn="1"/>
        </p:nvSpPr>
        <p:spPr>
          <a:xfrm>
            <a:off x="273050" y="6741368"/>
            <a:ext cx="65" cy="369332"/>
          </a:xfrm>
          <a:prstGeom prst="rect">
            <a:avLst/>
          </a:prstGeom>
          <a:noFill/>
        </p:spPr>
        <p:txBody>
          <a:bodyPr wrap="none" lIns="0" tIns="0" rIns="0" bIns="0" rtlCol="0">
            <a:spAutoFit/>
          </a:bodyPr>
          <a:lstStyle/>
          <a:p>
            <a:endParaRPr kumimoji="1" lang="ja-JP" altLang="en-US" b="1">
              <a:latin typeface="游ゴシック" panose="020B0400000000000000" pitchFamily="50" charset="-128"/>
              <a:ea typeface="游ゴシック" panose="020B0400000000000000" pitchFamily="50" charset="-128"/>
            </a:endParaRPr>
          </a:p>
        </p:txBody>
      </p:sp>
      <p:sp>
        <p:nvSpPr>
          <p:cNvPr id="10" name="Rectangle 1"/>
          <p:cNvSpPr>
            <a:spLocks noChangeArrowheads="1"/>
          </p:cNvSpPr>
          <p:nvPr userDrawn="1"/>
        </p:nvSpPr>
        <p:spPr bwMode="auto">
          <a:xfrm>
            <a:off x="272480" y="6635824"/>
            <a:ext cx="1492396"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Copyright © 202</a:t>
            </a:r>
            <a:r>
              <a:rPr kumimoji="0" lang="en-US"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a:t>
            </a:r>
            <a:r>
              <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TOPPAN </a:t>
            </a:r>
            <a:r>
              <a:rPr kumimoji="0" lang="en-US"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INC.</a:t>
            </a:r>
            <a:endParaRPr kumimoji="0" lang="ja-JP" altLang="ja-JP" sz="9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grpSp>
        <p:nvGrpSpPr>
          <p:cNvPr id="12" name="グループ化 11"/>
          <p:cNvGrpSpPr/>
          <p:nvPr userDrawn="1"/>
        </p:nvGrpSpPr>
        <p:grpSpPr>
          <a:xfrm>
            <a:off x="0" y="0"/>
            <a:ext cx="9906000" cy="486788"/>
            <a:chOff x="0" y="0"/>
            <a:chExt cx="9906000" cy="486788"/>
          </a:xfrm>
        </p:grpSpPr>
        <p:pic>
          <p:nvPicPr>
            <p:cNvPr id="13" name="図 1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452282" y="0"/>
              <a:ext cx="8453718" cy="486788"/>
            </a:xfrm>
            <a:prstGeom prst="rect">
              <a:avLst/>
            </a:prstGeom>
          </p:spPr>
        </p:pic>
        <p:sp>
          <p:nvSpPr>
            <p:cNvPr id="14" name="正方形/長方形 13"/>
            <p:cNvSpPr/>
            <p:nvPr userDrawn="1"/>
          </p:nvSpPr>
          <p:spPr>
            <a:xfrm>
              <a:off x="0" y="0"/>
              <a:ext cx="8229600" cy="121920"/>
            </a:xfrm>
            <a:prstGeom prst="rect">
              <a:avLst/>
            </a:prstGeom>
            <a:solidFill>
              <a:srgbClr val="026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latin typeface="游ゴシック Medium" panose="020B0500000000000000" pitchFamily="50" charset="-128"/>
              </a:endParaRPr>
            </a:p>
          </p:txBody>
        </p:sp>
      </p:grpSp>
      <p:sp>
        <p:nvSpPr>
          <p:cNvPr id="1026" name="Rectangle 17"/>
          <p:cNvSpPr>
            <a:spLocks noGrp="1" noChangeArrowheads="1"/>
          </p:cNvSpPr>
          <p:nvPr>
            <p:ph type="body" idx="1"/>
          </p:nvPr>
        </p:nvSpPr>
        <p:spPr bwMode="auto">
          <a:xfrm>
            <a:off x="273050" y="916046"/>
            <a:ext cx="9359900" cy="47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ja-JP" altLang="en-US"/>
              <a:t>マスタ テキストの書式設定</a:t>
            </a:r>
          </a:p>
          <a:p>
            <a:pPr lvl="1"/>
            <a:r>
              <a:rPr lang="ja-JP" altLang="en-US"/>
              <a:t>第 </a:t>
            </a:r>
            <a:r>
              <a:rPr lang="en-US" altLang="ja-JP"/>
              <a:t>2 </a:t>
            </a:r>
            <a:r>
              <a:rPr lang="ja-JP" altLang="en-US"/>
              <a:t>レベル</a:t>
            </a:r>
          </a:p>
        </p:txBody>
      </p:sp>
      <p:sp>
        <p:nvSpPr>
          <p:cNvPr id="1029" name="Rectangle 16"/>
          <p:cNvSpPr>
            <a:spLocks noGrp="1" noChangeArrowheads="1"/>
          </p:cNvSpPr>
          <p:nvPr>
            <p:ph type="title"/>
          </p:nvPr>
        </p:nvSpPr>
        <p:spPr bwMode="auto">
          <a:xfrm>
            <a:off x="273050" y="384919"/>
            <a:ext cx="78483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ja-JP" altLang="en-US"/>
              <a:t>マスタ タイトルの書式設定</a:t>
            </a:r>
          </a:p>
        </p:txBody>
      </p:sp>
      <p:cxnSp>
        <p:nvCxnSpPr>
          <p:cNvPr id="11" name="直線コネクタ 10"/>
          <p:cNvCxnSpPr/>
          <p:nvPr userDrawn="1"/>
        </p:nvCxnSpPr>
        <p:spPr>
          <a:xfrm flipH="1">
            <a:off x="-301451" y="864158"/>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userDrawn="1"/>
        </p:nvCxnSpPr>
        <p:spPr>
          <a:xfrm flipH="1">
            <a:off x="9969680" y="865837"/>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userDrawn="1"/>
        </p:nvCxnSpPr>
        <p:spPr>
          <a:xfrm flipV="1">
            <a:off x="239695" y="-180869"/>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userDrawn="1"/>
        </p:nvCxnSpPr>
        <p:spPr>
          <a:xfrm flipV="1">
            <a:off x="9656026" y="-179192"/>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userDrawn="1"/>
        </p:nvCxnSpPr>
        <p:spPr>
          <a:xfrm flipV="1">
            <a:off x="241370" y="6904915"/>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userDrawn="1"/>
        </p:nvCxnSpPr>
        <p:spPr>
          <a:xfrm flipV="1">
            <a:off x="9657701" y="6906592"/>
            <a:ext cx="0" cy="140677"/>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userDrawn="1"/>
        </p:nvCxnSpPr>
        <p:spPr>
          <a:xfrm flipH="1">
            <a:off x="-308076" y="6572518"/>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userDrawn="1"/>
        </p:nvCxnSpPr>
        <p:spPr>
          <a:xfrm flipH="1">
            <a:off x="9963055" y="6574197"/>
            <a:ext cx="231113"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570230"/>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Lst>
  <p:hf hdr="0" ftr="0" dt="0"/>
  <p:txStyles>
    <p:titleStyle>
      <a:lvl1pPr algn="l" rtl="0" eaLnBrk="0" fontAlgn="base" hangingPunct="0">
        <a:spcBef>
          <a:spcPct val="0"/>
        </a:spcBef>
        <a:spcAft>
          <a:spcPct val="0"/>
        </a:spcAft>
        <a:defRPr sz="2000" b="1" kern="1200">
          <a:solidFill>
            <a:schemeClr val="tx1"/>
          </a:solidFill>
          <a:latin typeface="+mj-ea"/>
          <a:ea typeface="+mj-ea"/>
          <a:cs typeface="+mj-cs"/>
        </a:defRPr>
      </a:lvl1pPr>
      <a:lvl2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2pPr>
      <a:lvl3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3pPr>
      <a:lvl4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4pPr>
      <a:lvl5pPr algn="l" rtl="0" eaLnBrk="0" fontAlgn="base" hangingPunct="0">
        <a:spcBef>
          <a:spcPct val="0"/>
        </a:spcBef>
        <a:spcAft>
          <a:spcPct val="0"/>
        </a:spcAft>
        <a:defRPr b="1">
          <a:solidFill>
            <a:schemeClr val="tx2"/>
          </a:solidFill>
          <a:latin typeface="游ゴシック" panose="020B0400000000000000" pitchFamily="50" charset="-128"/>
          <a:ea typeface="游ゴシック" panose="020B0400000000000000" pitchFamily="50" charset="-128"/>
        </a:defRPr>
      </a:lvl5pPr>
      <a:lvl6pPr marL="4572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6pPr>
      <a:lvl7pPr marL="9144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7pPr>
      <a:lvl8pPr marL="13716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8pPr>
      <a:lvl9pPr marL="1828800" algn="l" rtl="0" fontAlgn="base">
        <a:spcBef>
          <a:spcPct val="0"/>
        </a:spcBef>
        <a:spcAft>
          <a:spcPct val="0"/>
        </a:spcAft>
        <a:defRPr>
          <a:solidFill>
            <a:schemeClr val="tx2"/>
          </a:solidFill>
          <a:latin typeface="ＭＳ Ｐゴシック" panose="020B0600070205080204" pitchFamily="50" charset="-128"/>
          <a:ea typeface="ＭＳ Ｐゴシック" panose="020B0600070205080204" pitchFamily="50" charset="-128"/>
        </a:defRPr>
      </a:lvl9pPr>
    </p:titleStyle>
    <p:body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110">
          <p15:clr>
            <a:srgbClr val="F26B43"/>
          </p15:clr>
        </p15:guide>
        <p15:guide id="3" orient="horz" pos="572">
          <p15:clr>
            <a:srgbClr val="F26B43"/>
          </p15:clr>
        </p15:guide>
        <p15:guide id="5" pos="172">
          <p15:clr>
            <a:srgbClr val="F26B43"/>
          </p15:clr>
        </p15:guide>
        <p15:guide id="6" pos="3120">
          <p15:clr>
            <a:srgbClr val="F26B43"/>
          </p15:clr>
        </p15:guide>
        <p15:guide id="7" pos="6068">
          <p15:clr>
            <a:srgbClr val="F26B43"/>
          </p15:clr>
        </p15:guide>
        <p15:guide id="8" pos="353">
          <p15:clr>
            <a:srgbClr val="F26B43"/>
          </p15:clr>
        </p15:guide>
        <p15:guide id="9" pos="5887">
          <p15:clr>
            <a:srgbClr val="F26B43"/>
          </p15:clr>
        </p15:guide>
        <p15:guide id="10" orient="horz" pos="4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5.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2" Type="http://schemas.openxmlformats.org/officeDocument/2006/relationships/hyperlink" Target="https://www.kantei.go.jp/jp/singi/digitalmarket/trusted_web/2022seika/files/001_report_international.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1.xml"/><Relationship Id="rId1" Type="http://schemas.openxmlformats.org/officeDocument/2006/relationships/tags" Target="../tags/tag6.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hyperlink" Target="https://www.kantei.go.jp/jp/singi/digitalmarket/trusted_web/2022seika/files/001_report_international.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www.aamva.org/topics/mobile-driver-license" TargetMode="External"/><Relationship Id="rId13" Type="http://schemas.openxmlformats.org/officeDocument/2006/relationships/image" Target="../media/image9.png"/><Relationship Id="rId3" Type="http://schemas.openxmlformats.org/officeDocument/2006/relationships/hyperlink" Target="https://digital-strategy.ec.europa.eu/en/library/european-digital-identity-architecture-and-reference-framework-outline" TargetMode="External"/><Relationship Id="rId7" Type="http://schemas.openxmlformats.org/officeDocument/2006/relationships/hyperlink" Target="https://diacc.ca/trust-framework/" TargetMode="External"/><Relationship Id="rId12" Type="http://schemas.openxmlformats.org/officeDocument/2006/relationships/image" Target="../media/image8.png"/><Relationship Id="rId2" Type="http://schemas.openxmlformats.org/officeDocument/2006/relationships/hyperlink" Target="https://digital-strategy.ec.europa.eu/en/policies/eidas-regulation" TargetMode="External"/><Relationship Id="rId1" Type="http://schemas.openxmlformats.org/officeDocument/2006/relationships/slideLayout" Target="../slideLayouts/slideLayout2.xml"/><Relationship Id="rId6" Type="http://schemas.openxmlformats.org/officeDocument/2006/relationships/hyperlink" Target="https://www.digitalidentity.gov.au/tdif" TargetMode="External"/><Relationship Id="rId11" Type="http://schemas.openxmlformats.org/officeDocument/2006/relationships/image" Target="../media/image7.png"/><Relationship Id="rId5" Type="http://schemas.openxmlformats.org/officeDocument/2006/relationships/hyperlink" Target="https://www.gov.uk/government/publications/uk-digital-identity-and-attributes-trust-framework-beta-version/uk-digital-identity-and-attributes-trust-framework-beta-version" TargetMode="External"/><Relationship Id="rId10" Type="http://schemas.openxmlformats.org/officeDocument/2006/relationships/image" Target="../media/image6.png"/><Relationship Id="rId4" Type="http://schemas.openxmlformats.org/officeDocument/2006/relationships/hyperlink" Target="https://idunion.org/projekt/?lang=en" TargetMode="External"/><Relationship Id="rId9" Type="http://schemas.openxmlformats.org/officeDocument/2006/relationships/image" Target="../media/image5.png"/><Relationship Id="rId1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s://www.kantei.go.jp/jp/singi/digitalmarket/trusted_web/pdf/trustedweb_3_gaiyou.pdf"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2.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5.png"/><Relationship Id="rId5" Type="http://schemas.openxmlformats.org/officeDocument/2006/relationships/image" Target="../media/image12.emf"/><Relationship Id="rId10" Type="http://schemas.openxmlformats.org/officeDocument/2006/relationships/image" Target="../media/image13.png"/><Relationship Id="rId4" Type="http://schemas.openxmlformats.org/officeDocument/2006/relationships/oleObject" Target="../embeddings/oleObject6.bin"/><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1.xml"/><Relationship Id="rId1" Type="http://schemas.openxmlformats.org/officeDocument/2006/relationships/tags" Target="../tags/tag8.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2" Type="http://schemas.openxmlformats.org/officeDocument/2006/relationships/hyperlink" Target="https://ec.europa.eu/digital-building-blocks/sites/display/EUDIGITALIDENTITYWALLET/What+are+the+Large+Scale+Pilot+Project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hyperlink" Target="https://idunion.org/2023/07/17/interview-large-scale-pilots/?lang=en" TargetMode="Externa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hyperlink" Target="https://digital-strategy.ec.europa.eu/en/library/european-digital-identity-wallet-architecture-and-reference-framework" TargetMode="External"/><Relationship Id="rId5" Type="http://schemas.openxmlformats.org/officeDocument/2006/relationships/hyperlink" Target="https://www.kantei.go.jp/jp/singi/digitalmarket/trusted_web/2022seika/files/001_report_international.pdf" TargetMode="External"/><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biometricupdate.com/202212/scytales-wins-eu-digital-identity-wallet-contract-council-reaches-consensus-on-rule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dunion.org/2022/08/16/idunion-announces-successful-establishment-of-european-cooperative/?lang=en" TargetMode="External"/><Relationship Id="rId2" Type="http://schemas.openxmlformats.org/officeDocument/2006/relationships/hyperlink" Target="https://www.kantei.go.jp/jp/singi/digitalmarket/trusted_web/2022seika/files/001_report_international.pdf" TargetMode="External"/><Relationship Id="rId1" Type="http://schemas.openxmlformats.org/officeDocument/2006/relationships/slideLayout" Target="../slideLayouts/slideLayout2.xml"/><Relationship Id="rId4" Type="http://schemas.openxmlformats.org/officeDocument/2006/relationships/hyperlink" Target="https://idunion.org/2023/07/17/interview-large-scale-pilots/?lang=e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kantei.go.jp/jp/singi/digitalmarket/trusted_web/2022seika/files/001_report_international.pdf" TargetMode="External"/><Relationship Id="rId3" Type="http://schemas.openxmlformats.org/officeDocument/2006/relationships/oleObject" Target="../embeddings/oleObject9.bin"/><Relationship Id="rId7" Type="http://schemas.openxmlformats.org/officeDocument/2006/relationships/hyperlink" Target="https://www.gov.uk/government/publications/data-protection-and-digital-information-bill-impact-assessments/data-protection-and-digital-information-no-2-bill-european-convention-on-human-rights-memorandum#summary-of-key-echr-issues-under-the-bill" TargetMode="Externa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hyperlink" Target="https://gds.blog.gov.uk/2023/06/24/gov-uk-one-login-june-2023-update/" TargetMode="External"/><Relationship Id="rId5" Type="http://schemas.openxmlformats.org/officeDocument/2006/relationships/hyperlink" Target="https://www.gov.uk/government/publications/uk-digital-identity-and-attributes-trust-framework-beta-version/uk-digital-identity-and-attributes-trust-framework-beta-version" TargetMode="External"/><Relationship Id="rId4" Type="http://schemas.openxmlformats.org/officeDocument/2006/relationships/image" Target="../media/image12.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kantei.go.jp/jp/singi/digitalmarket/trusted_web/2022seika/files/001_report_international.pdf" TargetMode="External"/><Relationship Id="rId2" Type="http://schemas.openxmlformats.org/officeDocument/2006/relationships/hyperlink" Target="https://www.digitalidentity.gov.au/have-your-say/2023-digital-id-bill-and-rules-submission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my.gov.au/" TargetMode="External"/><Relationship Id="rId2" Type="http://schemas.openxmlformats.org/officeDocument/2006/relationships/hyperlink" Target="https://www.mygovid.gov.au/" TargetMode="External"/><Relationship Id="rId1" Type="http://schemas.openxmlformats.org/officeDocument/2006/relationships/slideLayout" Target="../slideLayouts/slideLayout2.xml"/><Relationship Id="rId4" Type="http://schemas.openxmlformats.org/officeDocument/2006/relationships/hyperlink" Target="https://connectid.com.au/"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hyperlink" Target="https://diacc.ca/2024/02/26/first-diacc-pctf-certified-service-provider-trustmark-granted/" TargetMode="External"/><Relationship Id="rId5" Type="http://schemas.openxmlformats.org/officeDocument/2006/relationships/hyperlink" Target="https://www.kantei.go.jp/jp/singi/digitalmarket/trusted_web/2022seika/files/001_report_international.pdf" TargetMode="External"/><Relationship Id="rId4" Type="http://schemas.openxmlformats.org/officeDocument/2006/relationships/image" Target="../media/image12.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hyperlink" Target="https://www.kantei.go.jp/jp/singi/digitalmarket/trusted_web/2022seika/files/001_report_international.pdf" TargetMode="External"/><Relationship Id="rId3" Type="http://schemas.openxmlformats.org/officeDocument/2006/relationships/oleObject" Target="../embeddings/oleObject11.bin"/><Relationship Id="rId7" Type="http://schemas.openxmlformats.org/officeDocument/2006/relationships/hyperlink" Target="https://www.tsa.gov/news/press/releases/2023/08/30/transportation-security-administration-seeks-comments-proposed-0" TargetMode="Externa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hyperlink" Target="https://www.govinfo.gov/content/pkg/FR-2023-08-30/pdf/2023-18582.pdf" TargetMode="External"/><Relationship Id="rId5" Type="http://schemas.openxmlformats.org/officeDocument/2006/relationships/hyperlink" Target="https://www.aamva.org/assets/best-practices,-guides,-standards,-manuals,-whitepapers/mobile-driver-s-license-implementation-guidelines-1-2" TargetMode="External"/><Relationship Id="rId4" Type="http://schemas.openxmlformats.org/officeDocument/2006/relationships/image" Target="../media/image12.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2.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1.xml"/><Relationship Id="rId1" Type="http://schemas.openxmlformats.org/officeDocument/2006/relationships/tags" Target="../tags/tag14.xml"/><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14.bin"/><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12.emf"/><Relationship Id="rId9"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hyperlink" Target="https://www.nist.gov/identity-access-management/eu-us-ttc-wg-1-digital-identity-mapping-exercise-report" TargetMode="External"/><Relationship Id="rId5" Type="http://schemas.openxmlformats.org/officeDocument/2006/relationships/hyperlink" Target="https://commission.europa.eu/document/fa09cbad-dd7d-4684-ae60-be03fcb0fddf_en" TargetMode="External"/><Relationship Id="rId4" Type="http://schemas.openxmlformats.org/officeDocument/2006/relationships/image" Target="../media/image12.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12.emf"/></Relationships>
</file>

<file path=ppt/slides/_rels/slide3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AFFFDB44-8E64-4317-AB00-1B255720E887}"/>
              </a:ext>
            </a:extLst>
          </p:cNvPr>
          <p:cNvGraphicFramePr>
            <a:graphicFrameLocks noChangeAspect="1"/>
          </p:cNvGraphicFramePr>
          <p:nvPr>
            <p:custDataLst>
              <p:tags r:id="rId1"/>
            </p:custDataLst>
            <p:extLst>
              <p:ext uri="{D42A27DB-BD31-4B8C-83A1-F6EECF244321}">
                <p14:modId xmlns:p14="http://schemas.microsoft.com/office/powerpoint/2010/main" val="7168482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2" imgH="623" progId="TCLayout.ActiveDocument.1">
                  <p:embed/>
                </p:oleObj>
              </mc:Choice>
              <mc:Fallback>
                <p:oleObj name="think-cell スライド" r:id="rId3" imgW="622" imgH="623" progId="TCLayout.ActiveDocument.1">
                  <p:embed/>
                  <p:pic>
                    <p:nvPicPr>
                      <p:cNvPr id="8" name="オブジェクト 7" hidden="1">
                        <a:extLst>
                          <a:ext uri="{FF2B5EF4-FFF2-40B4-BE49-F238E27FC236}">
                            <a16:creationId xmlns:a16="http://schemas.microsoft.com/office/drawing/2014/main" id="{AFFFDB44-8E64-4317-AB00-1B255720E8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p:cNvSpPr>
            <a:spLocks noGrp="1"/>
          </p:cNvSpPr>
          <p:nvPr>
            <p:ph type="title"/>
          </p:nvPr>
        </p:nvSpPr>
        <p:spPr>
          <a:xfrm>
            <a:off x="560388" y="2483606"/>
            <a:ext cx="8783834" cy="861774"/>
          </a:xfrm>
        </p:spPr>
        <p:txBody>
          <a:bodyPr vert="horz">
            <a:normAutofit fontScale="90000"/>
          </a:bodyPr>
          <a:lstStyle/>
          <a:p>
            <a:r>
              <a:rPr lang="ja-JP" altLang="en-US" sz="2400" dirty="0"/>
              <a:t>令和</a:t>
            </a:r>
            <a:r>
              <a:rPr lang="en-US" altLang="ja-JP" sz="2400" dirty="0"/>
              <a:t>4</a:t>
            </a:r>
            <a:r>
              <a:rPr lang="ja-JP" altLang="en-US" sz="2400" dirty="0"/>
              <a:t>年度補正</a:t>
            </a:r>
            <a:br>
              <a:rPr lang="en-US" altLang="ja-JP" sz="2400" dirty="0"/>
            </a:br>
            <a:r>
              <a:rPr lang="en-US" altLang="ja-JP" sz="2400" dirty="0"/>
              <a:t>Trusted Web </a:t>
            </a:r>
            <a:r>
              <a:rPr lang="ja-JP" altLang="en-US" sz="2400" dirty="0"/>
              <a:t>開発等推進事業に係る調査研究</a:t>
            </a:r>
            <a:br>
              <a:rPr lang="en-US" altLang="ja-JP" sz="2400" dirty="0"/>
            </a:br>
            <a:r>
              <a:rPr lang="en-US" altLang="ja-JP" sz="2400" dirty="0"/>
              <a:t>(</a:t>
            </a:r>
            <a:r>
              <a:rPr lang="ja-JP" altLang="en-US" sz="2400" dirty="0"/>
              <a:t>官民コンソーシアム検討・組成：トラストフレームワーク・コンソーシアム事例調査</a:t>
            </a:r>
            <a:r>
              <a:rPr lang="en-US" altLang="ja-JP" sz="2400" dirty="0"/>
              <a:t>)</a:t>
            </a:r>
            <a:endParaRPr lang="ja-JP" altLang="en-US" sz="2400" dirty="0"/>
          </a:p>
        </p:txBody>
      </p:sp>
      <p:sp>
        <p:nvSpPr>
          <p:cNvPr id="4" name="テキスト ボックス 3"/>
          <p:cNvSpPr txBox="1"/>
          <p:nvPr/>
        </p:nvSpPr>
        <p:spPr>
          <a:xfrm>
            <a:off x="4039016" y="5949280"/>
            <a:ext cx="1825820" cy="553998"/>
          </a:xfrm>
          <a:prstGeom prst="rect">
            <a:avLst/>
          </a:prstGeom>
          <a:noFill/>
        </p:spPr>
        <p:txBody>
          <a:bodyPr wrap="none" lIns="0" tIns="0" rIns="0" bIns="0" rtlCol="0">
            <a:spAutoFit/>
          </a:bodyPr>
          <a:lstStyle/>
          <a:p>
            <a:pPr algn="ctr"/>
            <a:r>
              <a:rPr lang="ja-JP" altLang="en-US" sz="1800" b="1" dirty="0">
                <a:latin typeface="+mn-ea"/>
                <a:ea typeface="+mn-ea"/>
              </a:rPr>
              <a:t>令和</a:t>
            </a:r>
            <a:r>
              <a:rPr lang="en-US" altLang="ja-JP" sz="1800" b="1" dirty="0">
                <a:latin typeface="+mn-ea"/>
                <a:ea typeface="+mn-ea"/>
              </a:rPr>
              <a:t>6</a:t>
            </a:r>
            <a:r>
              <a:rPr kumimoji="1" lang="ja-JP" altLang="en-US" sz="1800" b="1" dirty="0">
                <a:latin typeface="+mn-ea"/>
                <a:ea typeface="+mn-ea"/>
              </a:rPr>
              <a:t>年</a:t>
            </a:r>
            <a:r>
              <a:rPr kumimoji="1" lang="en-US" altLang="ja-JP" sz="1800" b="1" dirty="0">
                <a:latin typeface="+mn-ea"/>
                <a:ea typeface="+mn-ea"/>
              </a:rPr>
              <a:t>3</a:t>
            </a:r>
            <a:r>
              <a:rPr kumimoji="1" lang="ja-JP" altLang="en-US" sz="1800" b="1" dirty="0">
                <a:latin typeface="+mn-ea"/>
                <a:ea typeface="+mn-ea"/>
              </a:rPr>
              <a:t>月</a:t>
            </a:r>
            <a:endParaRPr lang="en-US" altLang="ja-JP" sz="1800" b="1" dirty="0">
              <a:latin typeface="+mn-ea"/>
              <a:ea typeface="+mn-ea"/>
            </a:endParaRPr>
          </a:p>
          <a:p>
            <a:pPr algn="ctr"/>
            <a:r>
              <a:rPr kumimoji="1" lang="en-US" altLang="ja-JP" sz="1800" b="1" dirty="0">
                <a:latin typeface="+mn-ea"/>
                <a:ea typeface="+mn-ea"/>
              </a:rPr>
              <a:t>TOPPAN</a:t>
            </a:r>
            <a:r>
              <a:rPr kumimoji="1" lang="ja-JP" altLang="en-US" sz="1800" b="1" dirty="0">
                <a:latin typeface="+mn-ea"/>
                <a:ea typeface="+mn-ea"/>
              </a:rPr>
              <a:t>株式会社</a:t>
            </a:r>
          </a:p>
        </p:txBody>
      </p:sp>
      <p:sp>
        <p:nvSpPr>
          <p:cNvPr id="5" name="テキスト ボックス 4"/>
          <p:cNvSpPr txBox="1"/>
          <p:nvPr/>
        </p:nvSpPr>
        <p:spPr>
          <a:xfrm>
            <a:off x="273050" y="692696"/>
            <a:ext cx="1282402" cy="246221"/>
          </a:xfrm>
          <a:prstGeom prst="rect">
            <a:avLst/>
          </a:prstGeom>
          <a:noFill/>
        </p:spPr>
        <p:txBody>
          <a:bodyPr wrap="none" lIns="0" tIns="0" rIns="0" bIns="0" rtlCol="0">
            <a:spAutoFit/>
          </a:bodyPr>
          <a:lstStyle/>
          <a:p>
            <a:r>
              <a:rPr lang="ja-JP" altLang="en-US" sz="1600" b="1">
                <a:latin typeface="+mn-ea"/>
                <a:ea typeface="+mn-ea"/>
              </a:rPr>
              <a:t>デジタル庁御中</a:t>
            </a:r>
            <a:endParaRPr kumimoji="1" lang="ja-JP" altLang="en-US" sz="1600" b="1">
              <a:latin typeface="+mn-ea"/>
              <a:ea typeface="+mn-ea"/>
            </a:endParaRPr>
          </a:p>
        </p:txBody>
      </p:sp>
    </p:spTree>
    <p:extLst>
      <p:ext uri="{BB962C8B-B14F-4D97-AF65-F5344CB8AC3E}">
        <p14:creationId xmlns:p14="http://schemas.microsoft.com/office/powerpoint/2010/main" val="237074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A21EEB-0985-4D9D-B405-1A8657160782}"/>
              </a:ext>
            </a:extLst>
          </p:cNvPr>
          <p:cNvSpPr>
            <a:spLocks noGrp="1"/>
          </p:cNvSpPr>
          <p:nvPr>
            <p:ph type="title"/>
          </p:nvPr>
        </p:nvSpPr>
        <p:spPr/>
        <p:txBody>
          <a:bodyPr/>
          <a:lstStyle/>
          <a:p>
            <a:r>
              <a:rPr kumimoji="1" lang="ja-JP" altLang="en-US" dirty="0"/>
              <a:t>本書の位置づけ</a:t>
            </a:r>
          </a:p>
        </p:txBody>
      </p:sp>
      <p:sp>
        <p:nvSpPr>
          <p:cNvPr id="3" name="コンテンツ プレースホルダー 2">
            <a:extLst>
              <a:ext uri="{FF2B5EF4-FFF2-40B4-BE49-F238E27FC236}">
                <a16:creationId xmlns:a16="http://schemas.microsoft.com/office/drawing/2014/main" id="{D18F57D5-4DD6-4F4B-A907-090919B1F6C5}"/>
              </a:ext>
            </a:extLst>
          </p:cNvPr>
          <p:cNvSpPr>
            <a:spLocks noGrp="1"/>
          </p:cNvSpPr>
          <p:nvPr>
            <p:ph idx="1"/>
          </p:nvPr>
        </p:nvSpPr>
        <p:spPr>
          <a:xfrm>
            <a:off x="273050" y="908051"/>
            <a:ext cx="9359900" cy="1938992"/>
          </a:xfrm>
        </p:spPr>
        <p:txBody>
          <a:bodyPr/>
          <a:lstStyle/>
          <a:p>
            <a:r>
              <a:rPr lang="ja-JP" altLang="en-US" b="0" dirty="0"/>
              <a:t>本事業は、昨年度事業である</a:t>
            </a:r>
            <a:r>
              <a:rPr lang="en-US" altLang="ja-JP" b="0" dirty="0"/>
              <a:t>13 </a:t>
            </a:r>
            <a:r>
              <a:rPr lang="ja-JP" altLang="en-US" b="0" dirty="0"/>
              <a:t>件のユースケースの開発実証等や、内閣官房デジタル市場競争本部事務局において活動を進めている「</a:t>
            </a:r>
            <a:r>
              <a:rPr lang="en-US" altLang="ja-JP" b="0" dirty="0"/>
              <a:t>Trusted Web </a:t>
            </a:r>
            <a:r>
              <a:rPr lang="ja-JP" altLang="en-US" b="0" dirty="0"/>
              <a:t>推進協議会」における</a:t>
            </a:r>
            <a:r>
              <a:rPr lang="en-US" altLang="ja-JP" b="0" dirty="0"/>
              <a:t>Trusted Web </a:t>
            </a:r>
            <a:r>
              <a:rPr lang="ja-JP" altLang="en-US" b="0" dirty="0"/>
              <a:t>ホワイトペーパー策定等の活動、他検討結果を踏まえて、デジタル庁の委託のもと以下の業務を実施</a:t>
            </a:r>
            <a:endParaRPr lang="en-US" altLang="ja-JP" b="0" dirty="0"/>
          </a:p>
          <a:p>
            <a:pPr marL="612775" lvl="1" indent="-342900">
              <a:buFont typeface="+mj-lt"/>
              <a:buAutoNum type="alphaUcParenR"/>
            </a:pPr>
            <a:r>
              <a:rPr lang="en-US" altLang="ja-JP" b="0" dirty="0"/>
              <a:t>Trusted Web </a:t>
            </a:r>
            <a:r>
              <a:rPr lang="ja-JP" altLang="en-US" b="0" dirty="0"/>
              <a:t>ユースケース開発実証に係る調査研究</a:t>
            </a:r>
            <a:endParaRPr lang="en-US" altLang="ja-JP" b="0" dirty="0"/>
          </a:p>
          <a:p>
            <a:pPr marL="612775" lvl="1" indent="-342900">
              <a:buFont typeface="+mj-lt"/>
              <a:buAutoNum type="alphaUcParenR"/>
            </a:pPr>
            <a:r>
              <a:rPr lang="ja-JP" altLang="en-US" sz="1400" b="0" dirty="0"/>
              <a:t>官民コンソーシアム検討・組成</a:t>
            </a:r>
            <a:endParaRPr lang="en-US" altLang="ja-JP" b="0" dirty="0"/>
          </a:p>
          <a:p>
            <a:pPr marL="612775" lvl="1" indent="-342900">
              <a:buFont typeface="+mj-lt"/>
              <a:buAutoNum type="alphaUcParenR"/>
            </a:pPr>
            <a:r>
              <a:rPr lang="ja-JP" altLang="en-US" sz="1400" b="0" dirty="0"/>
              <a:t>調査・普及啓発</a:t>
            </a:r>
            <a:endParaRPr lang="en-US" altLang="ja-JP" b="0" dirty="0"/>
          </a:p>
          <a:p>
            <a:pPr marL="268288" indent="-268288"/>
            <a:r>
              <a:rPr lang="ja-JP" altLang="en-US" b="0" dirty="0"/>
              <a:t>本報告書は、</a:t>
            </a:r>
            <a:r>
              <a:rPr lang="en-US" altLang="ja-JP" b="0" dirty="0"/>
              <a:t>B.</a:t>
            </a:r>
            <a:r>
              <a:rPr lang="ja-JP" altLang="en-US" b="0" dirty="0"/>
              <a:t>官民コンソーシアム検討・組成の中で、トラストフレームワーク・コンソーシアム事例調査を行ったものである</a:t>
            </a:r>
            <a:endParaRPr lang="ja-JP" altLang="en-US" dirty="0"/>
          </a:p>
          <a:p>
            <a:endParaRPr lang="en-US" altLang="ja-JP" dirty="0"/>
          </a:p>
        </p:txBody>
      </p:sp>
      <p:sp>
        <p:nvSpPr>
          <p:cNvPr id="4" name="テキスト プレースホルダー 3">
            <a:extLst>
              <a:ext uri="{FF2B5EF4-FFF2-40B4-BE49-F238E27FC236}">
                <a16:creationId xmlns:a16="http://schemas.microsoft.com/office/drawing/2014/main" id="{7288D04A-A9EC-49AC-9087-167452483CE0}"/>
              </a:ext>
            </a:extLst>
          </p:cNvPr>
          <p:cNvSpPr>
            <a:spLocks noGrp="1"/>
          </p:cNvSpPr>
          <p:nvPr>
            <p:ph type="body" sz="quarter" idx="10"/>
          </p:nvPr>
        </p:nvSpPr>
        <p:spPr>
          <a:xfrm>
            <a:off x="273050" y="188913"/>
            <a:ext cx="7848600" cy="161583"/>
          </a:xfrm>
        </p:spPr>
        <p:txBody>
          <a:bodyPr/>
          <a:lstStyle/>
          <a:p>
            <a:r>
              <a:rPr lang="ja-JP" altLang="en-US" sz="1050" dirty="0"/>
              <a:t>官民コンソーシアム検討・組成：トラストフレームワーク・コンソーシアム事例調査</a:t>
            </a:r>
            <a:endParaRPr kumimoji="1" lang="ja-JP" altLang="en-US" dirty="0"/>
          </a:p>
        </p:txBody>
      </p:sp>
      <p:sp>
        <p:nvSpPr>
          <p:cNvPr id="5" name="正方形/長方形 4">
            <a:extLst>
              <a:ext uri="{FF2B5EF4-FFF2-40B4-BE49-F238E27FC236}">
                <a16:creationId xmlns:a16="http://schemas.microsoft.com/office/drawing/2014/main" id="{4B5BECDC-45C5-2EB1-DBD8-B85086C08579}"/>
              </a:ext>
            </a:extLst>
          </p:cNvPr>
          <p:cNvSpPr/>
          <p:nvPr/>
        </p:nvSpPr>
        <p:spPr bwMode="gray">
          <a:xfrm>
            <a:off x="1590388" y="5576434"/>
            <a:ext cx="6710225" cy="806112"/>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90564" eaLnBrk="1" fontAlgn="auto" hangingPunct="1">
              <a:spcBef>
                <a:spcPts val="0"/>
              </a:spcBef>
              <a:spcAft>
                <a:spcPts val="0"/>
              </a:spcAft>
              <a:buSzPct val="100000"/>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調査、普及啓発</a:t>
            </a:r>
            <a:endParaRPr kumimoji="1" lang="en-US" altLang="ja-JP" sz="1400" b="0" i="0" u="none" strike="noStrike" kern="1200" cap="none" spc="0" normalizeH="0" baseline="0" noProof="0" dirty="0">
              <a:ln>
                <a:noFill/>
              </a:ln>
              <a:solidFill>
                <a:prstClr val="black"/>
              </a:solidFill>
              <a:effectLst/>
              <a:uLnTx/>
              <a:uFillTx/>
              <a:latin typeface="+mn-lt"/>
              <a:ea typeface="+mn-ea"/>
              <a:cs typeface="+mn-cs"/>
            </a:endParaRPr>
          </a:p>
          <a:p>
            <a:pPr algn="ctr" defTabSz="990564" eaLnBrk="1" fontAlgn="auto" hangingPunct="1">
              <a:spcBef>
                <a:spcPts val="0"/>
              </a:spcBef>
              <a:spcAft>
                <a:spcPts val="0"/>
              </a:spcAft>
              <a:buSzPct val="100000"/>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　</a:t>
            </a:r>
            <a:endParaRPr kumimoji="1" lang="ja-JP" altLang="en-US" sz="1400" b="1" i="0" u="sng" strike="noStrike" kern="1200" cap="none" spc="0" normalizeH="0" baseline="0" noProof="0" dirty="0">
              <a:ln>
                <a:noFill/>
              </a:ln>
              <a:solidFill>
                <a:prstClr val="black"/>
              </a:solidFill>
              <a:effectLst/>
              <a:uLnTx/>
              <a:uFillTx/>
              <a:latin typeface="+mn-lt"/>
              <a:ea typeface="+mn-ea"/>
              <a:cs typeface="+mn-cs"/>
            </a:endParaRPr>
          </a:p>
        </p:txBody>
      </p:sp>
      <p:sp>
        <p:nvSpPr>
          <p:cNvPr id="7" name="正方形/長方形 6">
            <a:extLst>
              <a:ext uri="{FF2B5EF4-FFF2-40B4-BE49-F238E27FC236}">
                <a16:creationId xmlns:a16="http://schemas.microsoft.com/office/drawing/2014/main" id="{1A41C892-C086-5543-A684-366301A1B5B4}"/>
              </a:ext>
            </a:extLst>
          </p:cNvPr>
          <p:cNvSpPr/>
          <p:nvPr/>
        </p:nvSpPr>
        <p:spPr bwMode="gray">
          <a:xfrm>
            <a:off x="506070" y="3250482"/>
            <a:ext cx="8911314" cy="3222599"/>
          </a:xfrm>
          <a:prstGeom prst="rect">
            <a:avLst/>
          </a:prstGeom>
          <a:noFill/>
          <a:ln w="12700" algn="ctr">
            <a:solidFill>
              <a:schemeClr val="tx1"/>
            </a:solidFill>
            <a:prstDash val="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400" b="0" i="0" u="none" strike="noStrike" kern="1200" cap="none" spc="0" normalizeH="0" baseline="0" noProof="0">
              <a:ln>
                <a:noFill/>
              </a:ln>
              <a:solidFill>
                <a:prstClr val="black"/>
              </a:solidFill>
              <a:effectLst/>
              <a:uLnTx/>
              <a:uFillTx/>
              <a:latin typeface="+mn-lt"/>
              <a:ea typeface="+mn-ea"/>
              <a:cs typeface="+mn-cs"/>
            </a:endParaRPr>
          </a:p>
        </p:txBody>
      </p:sp>
      <p:grpSp>
        <p:nvGrpSpPr>
          <p:cNvPr id="8" name="グループ化 7">
            <a:extLst>
              <a:ext uri="{FF2B5EF4-FFF2-40B4-BE49-F238E27FC236}">
                <a16:creationId xmlns:a16="http://schemas.microsoft.com/office/drawing/2014/main" id="{AAA1527F-70FC-6D71-24EA-12815DF99742}"/>
              </a:ext>
            </a:extLst>
          </p:cNvPr>
          <p:cNvGrpSpPr/>
          <p:nvPr/>
        </p:nvGrpSpPr>
        <p:grpSpPr>
          <a:xfrm>
            <a:off x="642796" y="3276454"/>
            <a:ext cx="8645147" cy="1702805"/>
            <a:chOff x="1387240" y="2253559"/>
            <a:chExt cx="7900701" cy="1702805"/>
          </a:xfrm>
        </p:grpSpPr>
        <p:sp>
          <p:nvSpPr>
            <p:cNvPr id="16" name="正方形/長方形 15">
              <a:extLst>
                <a:ext uri="{FF2B5EF4-FFF2-40B4-BE49-F238E27FC236}">
                  <a16:creationId xmlns:a16="http://schemas.microsoft.com/office/drawing/2014/main" id="{93D7972D-4EC3-747D-5BA7-BCAAB382D0BB}"/>
                </a:ext>
              </a:extLst>
            </p:cNvPr>
            <p:cNvSpPr/>
            <p:nvPr/>
          </p:nvSpPr>
          <p:spPr bwMode="gray">
            <a:xfrm>
              <a:off x="1387240" y="2676572"/>
              <a:ext cx="1944000" cy="1279792"/>
            </a:xfrm>
            <a:prstGeom prst="rect">
              <a:avLst/>
            </a:prstGeom>
            <a:solidFill>
              <a:schemeClr val="bg1">
                <a:lumMod val="9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400" b="0" i="0" u="none" strike="noStrike" kern="1200" cap="none" spc="0" normalizeH="0" baseline="0" noProof="0" dirty="0">
                  <a:ln>
                    <a:noFill/>
                  </a:ln>
                  <a:solidFill>
                    <a:prstClr val="black"/>
                  </a:solidFill>
                  <a:effectLst/>
                  <a:uLnTx/>
                  <a:uFillTx/>
                  <a:latin typeface="+mn-lt"/>
                  <a:ea typeface="+mn-ea"/>
                  <a:cs typeface="+mn-cs"/>
                </a:rPr>
                <a:t>Trusted Web</a:t>
              </a: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推進協議会</a:t>
              </a:r>
              <a:endParaRPr kumimoji="1" lang="en-US" altLang="ja-JP" sz="1400" b="0" i="0" u="none" strike="noStrike" kern="1200" cap="none" spc="0" normalizeH="0" baseline="0" noProof="0" dirty="0">
                <a:ln>
                  <a:noFill/>
                </a:ln>
                <a:solidFill>
                  <a:prstClr val="black"/>
                </a:solidFill>
                <a:effectLst/>
                <a:uLnTx/>
                <a:uFillTx/>
                <a:latin typeface="+mn-lt"/>
                <a:ea typeface="+mn-ea"/>
                <a:cs typeface="+mn-cs"/>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lang="en-US" altLang="ja-JP" sz="1400" dirty="0">
                <a:solidFill>
                  <a:prstClr val="black"/>
                </a:solidFill>
                <a:latin typeface="+mn-lt"/>
                <a:ea typeface="+mn-ea"/>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18" name="正方形/長方形 17">
              <a:extLst>
                <a:ext uri="{FF2B5EF4-FFF2-40B4-BE49-F238E27FC236}">
                  <a16:creationId xmlns:a16="http://schemas.microsoft.com/office/drawing/2014/main" id="{8EFB1356-AB75-F18D-6367-3EAD6388E6D7}"/>
                </a:ext>
              </a:extLst>
            </p:cNvPr>
            <p:cNvSpPr/>
            <p:nvPr/>
          </p:nvSpPr>
          <p:spPr bwMode="gray">
            <a:xfrm>
              <a:off x="4348483" y="2676572"/>
              <a:ext cx="1944000" cy="1279792"/>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en-US" altLang="ja-JP" sz="1400" dirty="0">
                  <a:latin typeface="+mn-ea"/>
                  <a:ea typeface="+mn-ea"/>
                </a:rPr>
                <a:t>Trusted Web </a:t>
              </a:r>
              <a:r>
                <a:rPr lang="ja-JP" altLang="en-US" sz="1400" dirty="0">
                  <a:latin typeface="+mn-ea"/>
                  <a:ea typeface="+mn-ea"/>
                </a:rPr>
                <a:t>ユースケース</a:t>
              </a:r>
              <a:endParaRPr lang="en-US" altLang="ja-JP" sz="1400" dirty="0">
                <a:latin typeface="+mn-ea"/>
                <a:ea typeface="+mn-ea"/>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latin typeface="+mn-ea"/>
                  <a:ea typeface="+mn-ea"/>
                </a:rPr>
                <a:t>開発実証に係る調査研究</a:t>
              </a:r>
              <a:endParaRPr lang="en-US" altLang="ja-JP" sz="1400" dirty="0">
                <a:latin typeface="+mn-ea"/>
                <a:ea typeface="+mn-ea"/>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en-US" altLang="ja-JP" sz="1400" b="1" i="0" u="sng" strike="noStrike" kern="1200" cap="none" spc="0" normalizeH="0" baseline="0" noProof="0" dirty="0">
                <a:ln>
                  <a:noFill/>
                </a:ln>
                <a:solidFill>
                  <a:prstClr val="black"/>
                </a:solidFill>
                <a:effectLst/>
                <a:uLnTx/>
                <a:uFillTx/>
                <a:latin typeface="+mn-ea"/>
                <a:ea typeface="+mn-ea"/>
                <a:cs typeface="+mn-cs"/>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400" b="1" i="0" u="sng" strike="noStrike" kern="1200" cap="none" spc="0" normalizeH="0" baseline="0" noProof="0" dirty="0">
                <a:ln>
                  <a:noFill/>
                </a:ln>
                <a:solidFill>
                  <a:prstClr val="black"/>
                </a:solidFill>
                <a:effectLst/>
                <a:uLnTx/>
                <a:uFillTx/>
                <a:latin typeface="+mn-lt"/>
                <a:ea typeface="+mn-ea"/>
                <a:cs typeface="+mn-cs"/>
              </a:endParaRPr>
            </a:p>
          </p:txBody>
        </p:sp>
        <p:sp>
          <p:nvSpPr>
            <p:cNvPr id="19" name="正方形/長方形 18">
              <a:extLst>
                <a:ext uri="{FF2B5EF4-FFF2-40B4-BE49-F238E27FC236}">
                  <a16:creationId xmlns:a16="http://schemas.microsoft.com/office/drawing/2014/main" id="{43815A63-4F5A-1385-FCD3-42BAEE4EF0D7}"/>
                </a:ext>
              </a:extLst>
            </p:cNvPr>
            <p:cNvSpPr/>
            <p:nvPr/>
          </p:nvSpPr>
          <p:spPr bwMode="gray">
            <a:xfrm>
              <a:off x="1387240" y="2253559"/>
              <a:ext cx="2206222" cy="369168"/>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strike="noStrike" kern="1200" cap="none" spc="0" normalizeH="0" baseline="0" noProof="0" dirty="0">
                  <a:ln>
                    <a:noFill/>
                  </a:ln>
                  <a:solidFill>
                    <a:prstClr val="black"/>
                  </a:solidFill>
                  <a:effectLst/>
                  <a:uLnTx/>
                  <a:uFillTx/>
                  <a:latin typeface="+mn-lt"/>
                  <a:ea typeface="+mn-ea"/>
                  <a:cs typeface="+mn-cs"/>
                </a:rPr>
                <a:t>概念整理・方針策定</a:t>
              </a:r>
            </a:p>
          </p:txBody>
        </p:sp>
        <p:sp>
          <p:nvSpPr>
            <p:cNvPr id="22" name="正方形/長方形 21">
              <a:extLst>
                <a:ext uri="{FF2B5EF4-FFF2-40B4-BE49-F238E27FC236}">
                  <a16:creationId xmlns:a16="http://schemas.microsoft.com/office/drawing/2014/main" id="{8FE76922-290F-869D-0C91-49F31E12D390}"/>
                </a:ext>
              </a:extLst>
            </p:cNvPr>
            <p:cNvSpPr/>
            <p:nvPr/>
          </p:nvSpPr>
          <p:spPr bwMode="gray">
            <a:xfrm>
              <a:off x="4348483" y="2253559"/>
              <a:ext cx="2077480" cy="369168"/>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ja-JP" sz="1400" b="0" i="0" strike="noStrike" kern="1200" cap="none" spc="0" normalizeH="0" baseline="0" noProof="0">
                  <a:ln>
                    <a:noFill/>
                  </a:ln>
                  <a:solidFill>
                    <a:prstClr val="black"/>
                  </a:solidFill>
                  <a:effectLst/>
                  <a:uLnTx/>
                  <a:uFillTx/>
                  <a:latin typeface="+mn-lt"/>
                  <a:ea typeface="+mn-ea"/>
                  <a:cs typeface="+mn-cs"/>
                </a:rPr>
                <a:t>PoC</a:t>
              </a:r>
              <a:r>
                <a:rPr kumimoji="1" lang="ja-JP" altLang="en-US" sz="1400" b="0" i="0" strike="noStrike" kern="1200" cap="none" spc="0" normalizeH="0" baseline="0" noProof="0">
                  <a:ln>
                    <a:noFill/>
                  </a:ln>
                  <a:solidFill>
                    <a:prstClr val="black"/>
                  </a:solidFill>
                  <a:effectLst/>
                  <a:uLnTx/>
                  <a:uFillTx/>
                  <a:latin typeface="+mn-lt"/>
                  <a:ea typeface="+mn-ea"/>
                  <a:cs typeface="+mn-cs"/>
                </a:rPr>
                <a:t>による課題検証</a:t>
              </a:r>
            </a:p>
          </p:txBody>
        </p:sp>
        <p:sp>
          <p:nvSpPr>
            <p:cNvPr id="26" name="正方形/長方形 25">
              <a:extLst>
                <a:ext uri="{FF2B5EF4-FFF2-40B4-BE49-F238E27FC236}">
                  <a16:creationId xmlns:a16="http://schemas.microsoft.com/office/drawing/2014/main" id="{E02BB742-1CFA-06D9-A526-9FE8CA17ACC5}"/>
                </a:ext>
              </a:extLst>
            </p:cNvPr>
            <p:cNvSpPr/>
            <p:nvPr/>
          </p:nvSpPr>
          <p:spPr bwMode="gray">
            <a:xfrm>
              <a:off x="7343941" y="2676572"/>
              <a:ext cx="1944000" cy="1279792"/>
            </a:xfrm>
            <a:prstGeom prst="rect">
              <a:avLst/>
            </a:prstGeom>
            <a:solidFill>
              <a:schemeClr val="accent1">
                <a:lumMod val="20000"/>
                <a:lumOff val="80000"/>
              </a:schemeClr>
            </a:solidFill>
            <a:ln w="12700" algn="ctr">
              <a:solidFill>
                <a:schemeClr val="accent1"/>
              </a:solidFill>
              <a:miter lim="800000"/>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defTabSz="990564" eaLnBrk="1" fontAlgn="auto" hangingPunct="1">
                <a:spcBef>
                  <a:spcPts val="0"/>
                </a:spcBef>
                <a:spcAft>
                  <a:spcPts val="0"/>
                </a:spcAft>
                <a:buSzPct val="100000"/>
              </a:pPr>
              <a:r>
                <a:rPr lang="ja-JP" altLang="en-US" sz="1400" dirty="0">
                  <a:solidFill>
                    <a:prstClr val="black"/>
                  </a:solidFill>
                  <a:latin typeface="+mn-lt"/>
                  <a:ea typeface="+mn-ea"/>
                </a:rPr>
                <a:t>官民コンソーシアム</a:t>
              </a:r>
              <a:endParaRPr lang="en-US" altLang="ja-JP" sz="1400" dirty="0">
                <a:solidFill>
                  <a:prstClr val="black"/>
                </a:solidFill>
                <a:latin typeface="+mn-lt"/>
                <a:ea typeface="+mn-ea"/>
              </a:endParaRPr>
            </a:p>
            <a:p>
              <a:pPr algn="ctr" defTabSz="990564" eaLnBrk="1" fontAlgn="auto" hangingPunct="1">
                <a:spcBef>
                  <a:spcPts val="0"/>
                </a:spcBef>
                <a:spcAft>
                  <a:spcPts val="0"/>
                </a:spcAft>
                <a:buSzPct val="100000"/>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検討・</a:t>
              </a:r>
              <a:r>
                <a:rPr lang="ja-JP" altLang="en-US" sz="1400" dirty="0">
                  <a:solidFill>
                    <a:prstClr val="black"/>
                  </a:solidFill>
                  <a:latin typeface="+mn-lt"/>
                  <a:ea typeface="+mn-ea"/>
                </a:rPr>
                <a:t>組成</a:t>
              </a:r>
              <a:endParaRPr kumimoji="1" lang="en-US" altLang="ja-JP" sz="1400" b="0" i="0" u="none" strike="noStrike" kern="1200" cap="none" spc="0" normalizeH="0" baseline="0" noProof="0" dirty="0">
                <a:ln>
                  <a:noFill/>
                </a:ln>
                <a:solidFill>
                  <a:prstClr val="black"/>
                </a:solidFill>
                <a:effectLst/>
                <a:uLnTx/>
                <a:uFillTx/>
                <a:latin typeface="+mn-lt"/>
                <a:ea typeface="+mn-ea"/>
                <a:cs typeface="+mn-cs"/>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lang="en-US" altLang="ja-JP" sz="1400" dirty="0">
                <a:solidFill>
                  <a:prstClr val="black"/>
                </a:solidFill>
                <a:latin typeface="+mn-lt"/>
                <a:ea typeface="+mn-ea"/>
              </a:endParaRPr>
            </a:p>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400" b="0" i="0" u="sng" strike="noStrike" kern="1200" cap="none" spc="0" normalizeH="0" baseline="0" noProof="0" dirty="0">
                <a:ln>
                  <a:noFill/>
                </a:ln>
                <a:solidFill>
                  <a:prstClr val="black"/>
                </a:solidFill>
                <a:effectLst/>
                <a:uLnTx/>
                <a:uFillTx/>
                <a:latin typeface="+mn-lt"/>
                <a:ea typeface="+mn-ea"/>
                <a:cs typeface="+mn-cs"/>
              </a:endParaRPr>
            </a:p>
          </p:txBody>
        </p:sp>
        <p:sp>
          <p:nvSpPr>
            <p:cNvPr id="27" name="正方形/長方形 26">
              <a:extLst>
                <a:ext uri="{FF2B5EF4-FFF2-40B4-BE49-F238E27FC236}">
                  <a16:creationId xmlns:a16="http://schemas.microsoft.com/office/drawing/2014/main" id="{0A5006FB-7C1A-E90B-2531-38DAE64A0F74}"/>
                </a:ext>
              </a:extLst>
            </p:cNvPr>
            <p:cNvSpPr/>
            <p:nvPr/>
          </p:nvSpPr>
          <p:spPr bwMode="gray">
            <a:xfrm>
              <a:off x="7180985" y="2253559"/>
              <a:ext cx="2077480" cy="369168"/>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solidFill>
                    <a:prstClr val="black"/>
                  </a:solidFill>
                  <a:latin typeface="+mn-lt"/>
                  <a:ea typeface="+mn-ea"/>
                </a:rPr>
                <a:t>社会実装に向けた活動</a:t>
              </a:r>
              <a:endParaRPr kumimoji="1" lang="ja-JP" altLang="en-US" sz="1400" b="0" i="0" strike="noStrike" kern="1200" cap="none" spc="0" normalizeH="0" baseline="0" noProof="0" dirty="0">
                <a:ln>
                  <a:noFill/>
                </a:ln>
                <a:solidFill>
                  <a:prstClr val="black"/>
                </a:solidFill>
                <a:effectLst/>
                <a:uLnTx/>
                <a:uFillTx/>
                <a:latin typeface="+mn-lt"/>
                <a:ea typeface="+mn-ea"/>
                <a:cs typeface="+mn-cs"/>
              </a:endParaRPr>
            </a:p>
          </p:txBody>
        </p:sp>
        <p:sp>
          <p:nvSpPr>
            <p:cNvPr id="28" name="矢印: 左右 27">
              <a:extLst>
                <a:ext uri="{FF2B5EF4-FFF2-40B4-BE49-F238E27FC236}">
                  <a16:creationId xmlns:a16="http://schemas.microsoft.com/office/drawing/2014/main" id="{CB09D9B0-26DE-8E89-6336-92B4B4B84E55}"/>
                </a:ext>
              </a:extLst>
            </p:cNvPr>
            <p:cNvSpPr/>
            <p:nvPr/>
          </p:nvSpPr>
          <p:spPr>
            <a:xfrm>
              <a:off x="3541046" y="2875083"/>
              <a:ext cx="527204" cy="388084"/>
            </a:xfrm>
            <a:prstGeom prst="leftRightArrow">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a:p>
          </p:txBody>
        </p:sp>
        <p:sp>
          <p:nvSpPr>
            <p:cNvPr id="29" name="矢印: 左右 28">
              <a:extLst>
                <a:ext uri="{FF2B5EF4-FFF2-40B4-BE49-F238E27FC236}">
                  <a16:creationId xmlns:a16="http://schemas.microsoft.com/office/drawing/2014/main" id="{4CE06B7D-7397-063A-5CC4-B4FB8512E998}"/>
                </a:ext>
              </a:extLst>
            </p:cNvPr>
            <p:cNvSpPr/>
            <p:nvPr/>
          </p:nvSpPr>
          <p:spPr>
            <a:xfrm rot="10800000">
              <a:off x="6576084" y="2874692"/>
              <a:ext cx="527204" cy="388084"/>
            </a:xfrm>
            <a:prstGeom prst="leftRightArrow">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a:p>
          </p:txBody>
        </p:sp>
        <p:sp>
          <p:nvSpPr>
            <p:cNvPr id="30" name="正方形/長方形 29">
              <a:extLst>
                <a:ext uri="{FF2B5EF4-FFF2-40B4-BE49-F238E27FC236}">
                  <a16:creationId xmlns:a16="http://schemas.microsoft.com/office/drawing/2014/main" id="{964F39E6-52FA-B5B5-A0BC-05A25D99D5BA}"/>
                </a:ext>
              </a:extLst>
            </p:cNvPr>
            <p:cNvSpPr/>
            <p:nvPr/>
          </p:nvSpPr>
          <p:spPr bwMode="gray">
            <a:xfrm>
              <a:off x="3284298" y="3396865"/>
              <a:ext cx="1076913" cy="36711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成果を議論</a:t>
              </a:r>
            </a:p>
          </p:txBody>
        </p:sp>
        <p:sp>
          <p:nvSpPr>
            <p:cNvPr id="31" name="正方形/長方形 30">
              <a:extLst>
                <a:ext uri="{FF2B5EF4-FFF2-40B4-BE49-F238E27FC236}">
                  <a16:creationId xmlns:a16="http://schemas.microsoft.com/office/drawing/2014/main" id="{DDD8813C-9B7F-72DE-14A2-97AFF6179D84}"/>
                </a:ext>
              </a:extLst>
            </p:cNvPr>
            <p:cNvSpPr/>
            <p:nvPr/>
          </p:nvSpPr>
          <p:spPr bwMode="gray">
            <a:xfrm>
              <a:off x="6278738" y="3396865"/>
              <a:ext cx="1076913" cy="367110"/>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0" i="0" u="none" strike="noStrike" kern="1200" cap="none" spc="0" normalizeH="0" baseline="0" noProof="0" dirty="0">
                  <a:ln>
                    <a:noFill/>
                  </a:ln>
                  <a:solidFill>
                    <a:prstClr val="black"/>
                  </a:solidFill>
                  <a:effectLst/>
                  <a:uLnTx/>
                  <a:uFillTx/>
                  <a:latin typeface="+mn-lt"/>
                  <a:ea typeface="+mn-ea"/>
                  <a:cs typeface="+mn-cs"/>
                </a:rPr>
                <a:t>成果を議論</a:t>
              </a:r>
            </a:p>
          </p:txBody>
        </p:sp>
        <p:sp>
          <p:nvSpPr>
            <p:cNvPr id="32" name="四角形: 角を丸くする 31">
              <a:extLst>
                <a:ext uri="{FF2B5EF4-FFF2-40B4-BE49-F238E27FC236}">
                  <a16:creationId xmlns:a16="http://schemas.microsoft.com/office/drawing/2014/main" id="{466C434E-3BA8-6050-A070-CB097499D131}"/>
                </a:ext>
              </a:extLst>
            </p:cNvPr>
            <p:cNvSpPr/>
            <p:nvPr/>
          </p:nvSpPr>
          <p:spPr>
            <a:xfrm>
              <a:off x="4549739" y="3544208"/>
              <a:ext cx="1525708"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rPr>
                <a:t>ユースケース実証事業</a:t>
              </a:r>
              <a:endParaRPr kumimoji="1" lang="en-US" altLang="ja-JP" sz="1200" dirty="0">
                <a:solidFill>
                  <a:schemeClr val="bg1"/>
                </a:solidFill>
              </a:endParaRPr>
            </a:p>
            <a:p>
              <a:pPr algn="ctr"/>
              <a:r>
                <a:rPr kumimoji="1" lang="ja-JP" altLang="en-US" sz="1200" dirty="0">
                  <a:solidFill>
                    <a:schemeClr val="bg1"/>
                  </a:solidFill>
                </a:rPr>
                <a:t>分析</a:t>
              </a:r>
            </a:p>
          </p:txBody>
        </p:sp>
        <p:sp>
          <p:nvSpPr>
            <p:cNvPr id="33" name="四角形: 角を丸くする 32">
              <a:extLst>
                <a:ext uri="{FF2B5EF4-FFF2-40B4-BE49-F238E27FC236}">
                  <a16:creationId xmlns:a16="http://schemas.microsoft.com/office/drawing/2014/main" id="{0C275A48-88AE-65B0-B11E-3240976A71D2}"/>
                </a:ext>
              </a:extLst>
            </p:cNvPr>
            <p:cNvSpPr/>
            <p:nvPr/>
          </p:nvSpPr>
          <p:spPr>
            <a:xfrm>
              <a:off x="1596386" y="3121346"/>
              <a:ext cx="1525708" cy="367110"/>
            </a:xfrm>
            <a:prstGeom prst="roundRect">
              <a:avLst/>
            </a:prstGeom>
            <a:solidFill>
              <a:schemeClr val="tx2"/>
            </a:solidFill>
            <a:ln w="1270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ホワイトペーパー</a:t>
              </a:r>
              <a:endParaRPr lang="en-US" altLang="ja-JP" sz="1200" dirty="0">
                <a:solidFill>
                  <a:schemeClr val="bg1"/>
                </a:solidFill>
              </a:endParaRPr>
            </a:p>
          </p:txBody>
        </p:sp>
        <p:sp>
          <p:nvSpPr>
            <p:cNvPr id="34" name="四角形: 角を丸くする 33">
              <a:extLst>
                <a:ext uri="{FF2B5EF4-FFF2-40B4-BE49-F238E27FC236}">
                  <a16:creationId xmlns:a16="http://schemas.microsoft.com/office/drawing/2014/main" id="{975ABDE9-0EF7-151D-FBBF-7E331CFCDD1B}"/>
                </a:ext>
              </a:extLst>
            </p:cNvPr>
            <p:cNvSpPr/>
            <p:nvPr/>
          </p:nvSpPr>
          <p:spPr>
            <a:xfrm>
              <a:off x="4549739" y="3121346"/>
              <a:ext cx="1525708"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採択ユースケース</a:t>
              </a:r>
              <a:r>
                <a:rPr kumimoji="1" lang="ja-JP" altLang="en-US" sz="1200" dirty="0">
                  <a:solidFill>
                    <a:schemeClr val="bg1"/>
                  </a:solidFill>
                </a:rPr>
                <a:t>事業</a:t>
              </a:r>
              <a:endParaRPr kumimoji="1" lang="en-US" altLang="ja-JP" sz="1200" dirty="0">
                <a:solidFill>
                  <a:schemeClr val="bg1"/>
                </a:solidFill>
              </a:endParaRPr>
            </a:p>
            <a:p>
              <a:pPr algn="ctr"/>
              <a:r>
                <a:rPr kumimoji="1" lang="ja-JP" altLang="en-US" sz="1200" dirty="0">
                  <a:solidFill>
                    <a:schemeClr val="bg1"/>
                  </a:solidFill>
                </a:rPr>
                <a:t>実証結果</a:t>
              </a:r>
            </a:p>
          </p:txBody>
        </p:sp>
        <p:sp>
          <p:nvSpPr>
            <p:cNvPr id="35" name="四角形: 角を丸くする 34">
              <a:extLst>
                <a:ext uri="{FF2B5EF4-FFF2-40B4-BE49-F238E27FC236}">
                  <a16:creationId xmlns:a16="http://schemas.microsoft.com/office/drawing/2014/main" id="{44FDE406-2941-749C-2DE0-C7EBFAE4C141}"/>
                </a:ext>
              </a:extLst>
            </p:cNvPr>
            <p:cNvSpPr/>
            <p:nvPr/>
          </p:nvSpPr>
          <p:spPr>
            <a:xfrm>
              <a:off x="1596386" y="3544813"/>
              <a:ext cx="1525708" cy="367110"/>
            </a:xfrm>
            <a:prstGeom prst="roundRect">
              <a:avLst/>
            </a:prstGeom>
            <a:solidFill>
              <a:schemeClr val="tx2"/>
            </a:solidFill>
            <a:ln w="1270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実装ガイドライン　等</a:t>
              </a:r>
              <a:endParaRPr lang="en-US" altLang="ja-JP" sz="1200" dirty="0">
                <a:solidFill>
                  <a:schemeClr val="bg1"/>
                </a:solidFill>
              </a:endParaRPr>
            </a:p>
          </p:txBody>
        </p:sp>
      </p:grpSp>
      <p:sp>
        <p:nvSpPr>
          <p:cNvPr id="37" name="四角形: 角を丸くする 36">
            <a:extLst>
              <a:ext uri="{FF2B5EF4-FFF2-40B4-BE49-F238E27FC236}">
                <a16:creationId xmlns:a16="http://schemas.microsoft.com/office/drawing/2014/main" id="{3ED7F068-91ED-F4FA-EBB3-BBB30B799DBB}"/>
              </a:ext>
            </a:extLst>
          </p:cNvPr>
          <p:cNvSpPr/>
          <p:nvPr/>
        </p:nvSpPr>
        <p:spPr>
          <a:xfrm>
            <a:off x="4181160" y="5870324"/>
            <a:ext cx="1591590"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rPr>
              <a:t>ウォレット事例調査</a:t>
            </a:r>
            <a:endParaRPr kumimoji="1" lang="en-US" altLang="ja-JP" sz="1200" dirty="0">
              <a:solidFill>
                <a:schemeClr val="bg1"/>
              </a:solidFill>
            </a:endParaRPr>
          </a:p>
        </p:txBody>
      </p:sp>
      <p:sp>
        <p:nvSpPr>
          <p:cNvPr id="38" name="四角形: 角を丸くする 37">
            <a:extLst>
              <a:ext uri="{FF2B5EF4-FFF2-40B4-BE49-F238E27FC236}">
                <a16:creationId xmlns:a16="http://schemas.microsoft.com/office/drawing/2014/main" id="{0CAAD77B-093A-8F1A-EA82-799CDE9D29FC}"/>
              </a:ext>
            </a:extLst>
          </p:cNvPr>
          <p:cNvSpPr/>
          <p:nvPr/>
        </p:nvSpPr>
        <p:spPr>
          <a:xfrm>
            <a:off x="2127747" y="5870324"/>
            <a:ext cx="1591590"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rPr>
              <a:t>規格・実装動向調査</a:t>
            </a:r>
            <a:endParaRPr kumimoji="1" lang="en-US" altLang="ja-JP" sz="1200" dirty="0">
              <a:solidFill>
                <a:schemeClr val="bg1"/>
              </a:solidFill>
            </a:endParaRPr>
          </a:p>
        </p:txBody>
      </p:sp>
      <p:sp>
        <p:nvSpPr>
          <p:cNvPr id="47" name="矢印: 左右 46">
            <a:extLst>
              <a:ext uri="{FF2B5EF4-FFF2-40B4-BE49-F238E27FC236}">
                <a16:creationId xmlns:a16="http://schemas.microsoft.com/office/drawing/2014/main" id="{1534B9C0-DC1D-BEF5-3C03-82BC29FF2359}"/>
              </a:ext>
            </a:extLst>
          </p:cNvPr>
          <p:cNvSpPr/>
          <p:nvPr/>
        </p:nvSpPr>
        <p:spPr>
          <a:xfrm rot="5400000">
            <a:off x="7921110" y="5074345"/>
            <a:ext cx="643447" cy="407004"/>
          </a:xfrm>
          <a:prstGeom prst="leftRightArrow">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a:p>
        </p:txBody>
      </p:sp>
      <p:sp>
        <p:nvSpPr>
          <p:cNvPr id="51" name="正方形/長方形 50">
            <a:extLst>
              <a:ext uri="{FF2B5EF4-FFF2-40B4-BE49-F238E27FC236}">
                <a16:creationId xmlns:a16="http://schemas.microsoft.com/office/drawing/2014/main" id="{578D0629-A23F-73AE-2DEF-E9CA9BF79D3E}"/>
              </a:ext>
            </a:extLst>
          </p:cNvPr>
          <p:cNvSpPr/>
          <p:nvPr/>
        </p:nvSpPr>
        <p:spPr bwMode="gray">
          <a:xfrm>
            <a:off x="7156400" y="5013587"/>
            <a:ext cx="2136406" cy="541164"/>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solidFill>
                  <a:prstClr val="black"/>
                </a:solidFill>
                <a:latin typeface="+mn-lt"/>
                <a:ea typeface="+mn-ea"/>
              </a:rPr>
              <a:t>調査結果の反映</a:t>
            </a:r>
            <a:endParaRPr kumimoji="1" lang="ja-JP"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54" name="矢印: 左右 53">
            <a:extLst>
              <a:ext uri="{FF2B5EF4-FFF2-40B4-BE49-F238E27FC236}">
                <a16:creationId xmlns:a16="http://schemas.microsoft.com/office/drawing/2014/main" id="{493DEA4F-7690-B473-C1B4-9E478DED4BAD}"/>
              </a:ext>
            </a:extLst>
          </p:cNvPr>
          <p:cNvSpPr/>
          <p:nvPr/>
        </p:nvSpPr>
        <p:spPr>
          <a:xfrm rot="5400000">
            <a:off x="4631276" y="5074347"/>
            <a:ext cx="643447" cy="407004"/>
          </a:xfrm>
          <a:prstGeom prst="leftRightArrow">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58" name="正方形/長方形 57">
            <a:extLst>
              <a:ext uri="{FF2B5EF4-FFF2-40B4-BE49-F238E27FC236}">
                <a16:creationId xmlns:a16="http://schemas.microsoft.com/office/drawing/2014/main" id="{097D3D20-BC4B-E336-D7BA-CAA2C2DB0E12}"/>
              </a:ext>
            </a:extLst>
          </p:cNvPr>
          <p:cNvSpPr/>
          <p:nvPr/>
        </p:nvSpPr>
        <p:spPr bwMode="gray">
          <a:xfrm>
            <a:off x="1638523" y="5138547"/>
            <a:ext cx="2136406" cy="541164"/>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solidFill>
                  <a:prstClr val="black"/>
                </a:solidFill>
                <a:latin typeface="+mn-lt"/>
                <a:ea typeface="+mn-ea"/>
              </a:rPr>
              <a:t>論点調査・普及に向けた活動</a:t>
            </a:r>
            <a:endParaRPr kumimoji="1" lang="ja-JP"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62" name="四角形: 角を丸くする 61">
            <a:extLst>
              <a:ext uri="{FF2B5EF4-FFF2-40B4-BE49-F238E27FC236}">
                <a16:creationId xmlns:a16="http://schemas.microsoft.com/office/drawing/2014/main" id="{B6472490-97B1-2EF9-FF20-2E5BAC6297DC}"/>
              </a:ext>
            </a:extLst>
          </p:cNvPr>
          <p:cNvSpPr/>
          <p:nvPr/>
        </p:nvSpPr>
        <p:spPr>
          <a:xfrm>
            <a:off x="7389156" y="4155808"/>
            <a:ext cx="1670400"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solidFill>
                  <a:schemeClr val="bg1"/>
                </a:solidFill>
              </a:rPr>
              <a:t>トラストフレームワーク・</a:t>
            </a:r>
            <a:endParaRPr kumimoji="1" lang="en-US" altLang="ja-JP" sz="1200" dirty="0">
              <a:solidFill>
                <a:schemeClr val="bg1"/>
              </a:solidFill>
            </a:endParaRPr>
          </a:p>
          <a:p>
            <a:pPr algn="ctr"/>
            <a:r>
              <a:rPr kumimoji="1" lang="ja-JP" altLang="en-US" sz="1200" dirty="0">
                <a:solidFill>
                  <a:schemeClr val="bg1"/>
                </a:solidFill>
              </a:rPr>
              <a:t>コンソーシアム事例</a:t>
            </a:r>
            <a:r>
              <a:rPr lang="ja-JP" altLang="en-US" sz="1200" dirty="0">
                <a:solidFill>
                  <a:schemeClr val="bg1"/>
                </a:solidFill>
              </a:rPr>
              <a:t>調査</a:t>
            </a:r>
            <a:endParaRPr kumimoji="1" lang="en-US" altLang="ja-JP" sz="1200" dirty="0">
              <a:solidFill>
                <a:schemeClr val="bg1"/>
              </a:solidFill>
            </a:endParaRPr>
          </a:p>
        </p:txBody>
      </p:sp>
      <p:sp>
        <p:nvSpPr>
          <p:cNvPr id="63" name="正方形/長方形 62">
            <a:extLst>
              <a:ext uri="{FF2B5EF4-FFF2-40B4-BE49-F238E27FC236}">
                <a16:creationId xmlns:a16="http://schemas.microsoft.com/office/drawing/2014/main" id="{87F66E43-CC1D-434D-CDA9-4F0FC238C4F4}"/>
              </a:ext>
            </a:extLst>
          </p:cNvPr>
          <p:cNvSpPr/>
          <p:nvPr/>
        </p:nvSpPr>
        <p:spPr bwMode="gray">
          <a:xfrm>
            <a:off x="3859626" y="5013587"/>
            <a:ext cx="2136406" cy="541164"/>
          </a:xfrm>
          <a:prstGeom prst="rect">
            <a:avLst/>
          </a:prstGeom>
          <a:no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lang="ja-JP" altLang="en-US" sz="1400" dirty="0">
                <a:solidFill>
                  <a:prstClr val="black"/>
                </a:solidFill>
                <a:latin typeface="+mn-lt"/>
                <a:ea typeface="+mn-ea"/>
              </a:rPr>
              <a:t>調査結果の反映</a:t>
            </a:r>
            <a:endParaRPr kumimoji="1" lang="ja-JP"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65" name="正方形/長方形 64">
            <a:extLst>
              <a:ext uri="{FF2B5EF4-FFF2-40B4-BE49-F238E27FC236}">
                <a16:creationId xmlns:a16="http://schemas.microsoft.com/office/drawing/2014/main" id="{C70EF995-97E7-3C9D-6A6D-4887401A7DFD}"/>
              </a:ext>
            </a:extLst>
          </p:cNvPr>
          <p:cNvSpPr/>
          <p:nvPr/>
        </p:nvSpPr>
        <p:spPr>
          <a:xfrm>
            <a:off x="7327574" y="4114803"/>
            <a:ext cx="1819321" cy="425986"/>
          </a:xfrm>
          <a:prstGeom prst="rect">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grpSp>
        <p:nvGrpSpPr>
          <p:cNvPr id="66" name="グループ化 65">
            <a:extLst>
              <a:ext uri="{FF2B5EF4-FFF2-40B4-BE49-F238E27FC236}">
                <a16:creationId xmlns:a16="http://schemas.microsoft.com/office/drawing/2014/main" id="{375E7E44-BE9A-351C-E37E-EB97B5C051AC}"/>
              </a:ext>
            </a:extLst>
          </p:cNvPr>
          <p:cNvGrpSpPr/>
          <p:nvPr/>
        </p:nvGrpSpPr>
        <p:grpSpPr>
          <a:xfrm>
            <a:off x="2073275" y="2943854"/>
            <a:ext cx="7358343" cy="242066"/>
            <a:chOff x="1962440" y="1920959"/>
            <a:chExt cx="7358343" cy="242066"/>
          </a:xfrm>
        </p:grpSpPr>
        <p:sp>
          <p:nvSpPr>
            <p:cNvPr id="67" name="正方形/長方形 66">
              <a:extLst>
                <a:ext uri="{FF2B5EF4-FFF2-40B4-BE49-F238E27FC236}">
                  <a16:creationId xmlns:a16="http://schemas.microsoft.com/office/drawing/2014/main" id="{7A451D78-39C9-09CA-F57D-588DD057D287}"/>
                </a:ext>
              </a:extLst>
            </p:cNvPr>
            <p:cNvSpPr/>
            <p:nvPr/>
          </p:nvSpPr>
          <p:spPr>
            <a:xfrm>
              <a:off x="1962440" y="1925631"/>
              <a:ext cx="767580" cy="192822"/>
            </a:xfrm>
            <a:prstGeom prst="rect">
              <a:avLst/>
            </a:prstGeom>
            <a:solidFill>
              <a:schemeClr val="accent1">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sz="1400"/>
            </a:p>
          </p:txBody>
        </p:sp>
        <p:sp>
          <p:nvSpPr>
            <p:cNvPr id="68" name="正方形/長方形 67">
              <a:extLst>
                <a:ext uri="{FF2B5EF4-FFF2-40B4-BE49-F238E27FC236}">
                  <a16:creationId xmlns:a16="http://schemas.microsoft.com/office/drawing/2014/main" id="{09F6BD8F-2189-A8B2-8926-4326F374A6ED}"/>
                </a:ext>
              </a:extLst>
            </p:cNvPr>
            <p:cNvSpPr/>
            <p:nvPr/>
          </p:nvSpPr>
          <p:spPr>
            <a:xfrm>
              <a:off x="2776200" y="1925631"/>
              <a:ext cx="1809915" cy="192822"/>
            </a:xfrm>
            <a:prstGeom prst="rect">
              <a:avLst/>
            </a:prstGeom>
            <a:no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t>：</a:t>
              </a:r>
              <a:r>
                <a:rPr kumimoji="1" lang="ja-JP" altLang="en-US" sz="1400" dirty="0"/>
                <a:t>本事業で実施する業務</a:t>
              </a:r>
            </a:p>
          </p:txBody>
        </p:sp>
        <p:sp>
          <p:nvSpPr>
            <p:cNvPr id="69" name="四角形: 角を丸くする 68">
              <a:extLst>
                <a:ext uri="{FF2B5EF4-FFF2-40B4-BE49-F238E27FC236}">
                  <a16:creationId xmlns:a16="http://schemas.microsoft.com/office/drawing/2014/main" id="{A02991DB-E12D-7782-C4AA-94F99826A592}"/>
                </a:ext>
              </a:extLst>
            </p:cNvPr>
            <p:cNvSpPr/>
            <p:nvPr/>
          </p:nvSpPr>
          <p:spPr>
            <a:xfrm>
              <a:off x="4735369" y="1935629"/>
              <a:ext cx="505391" cy="192822"/>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sz="1400"/>
            </a:p>
          </p:txBody>
        </p:sp>
        <p:sp>
          <p:nvSpPr>
            <p:cNvPr id="70" name="正方形/長方形 69">
              <a:extLst>
                <a:ext uri="{FF2B5EF4-FFF2-40B4-BE49-F238E27FC236}">
                  <a16:creationId xmlns:a16="http://schemas.microsoft.com/office/drawing/2014/main" id="{E635799A-B372-1D15-62D1-92D9F3FC4775}"/>
                </a:ext>
              </a:extLst>
            </p:cNvPr>
            <p:cNvSpPr/>
            <p:nvPr/>
          </p:nvSpPr>
          <p:spPr>
            <a:xfrm>
              <a:off x="5168111" y="1951470"/>
              <a:ext cx="1809915" cy="192822"/>
            </a:xfrm>
            <a:prstGeom prst="rect">
              <a:avLst/>
            </a:prstGeom>
            <a:no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dirty="0"/>
                <a:t>：本事業の成果報告書</a:t>
              </a:r>
              <a:endParaRPr lang="en-US" altLang="ja-JP" sz="1400" dirty="0"/>
            </a:p>
          </p:txBody>
        </p:sp>
        <p:sp>
          <p:nvSpPr>
            <p:cNvPr id="71" name="正方形/長方形 70">
              <a:extLst>
                <a:ext uri="{FF2B5EF4-FFF2-40B4-BE49-F238E27FC236}">
                  <a16:creationId xmlns:a16="http://schemas.microsoft.com/office/drawing/2014/main" id="{ABAFFB36-DBF5-2FA7-7C6B-C2DAFAC0FC40}"/>
                </a:ext>
              </a:extLst>
            </p:cNvPr>
            <p:cNvSpPr/>
            <p:nvPr/>
          </p:nvSpPr>
          <p:spPr>
            <a:xfrm>
              <a:off x="7159708" y="1920959"/>
              <a:ext cx="698689" cy="242066"/>
            </a:xfrm>
            <a:prstGeom prst="rect">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73" name="正方形/長方形 72">
              <a:extLst>
                <a:ext uri="{FF2B5EF4-FFF2-40B4-BE49-F238E27FC236}">
                  <a16:creationId xmlns:a16="http://schemas.microsoft.com/office/drawing/2014/main" id="{CC3982DE-6AD9-BF1D-D67A-C028F1AEAD0E}"/>
                </a:ext>
              </a:extLst>
            </p:cNvPr>
            <p:cNvSpPr/>
            <p:nvPr/>
          </p:nvSpPr>
          <p:spPr>
            <a:xfrm>
              <a:off x="7807664" y="1951881"/>
              <a:ext cx="1513119" cy="192822"/>
            </a:xfrm>
            <a:prstGeom prst="rect">
              <a:avLst/>
            </a:prstGeom>
            <a:no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lang="ja-JP" altLang="en-US" sz="1400" dirty="0"/>
                <a:t>：本報告書</a:t>
              </a:r>
              <a:endParaRPr lang="en-US" altLang="ja-JP" sz="1400" dirty="0"/>
            </a:p>
          </p:txBody>
        </p:sp>
      </p:grpSp>
      <p:sp>
        <p:nvSpPr>
          <p:cNvPr id="6" name="楕円 5">
            <a:extLst>
              <a:ext uri="{FF2B5EF4-FFF2-40B4-BE49-F238E27FC236}">
                <a16:creationId xmlns:a16="http://schemas.microsoft.com/office/drawing/2014/main" id="{D5B0791A-5938-BDA5-98A9-0588E38DAAE2}"/>
              </a:ext>
            </a:extLst>
          </p:cNvPr>
          <p:cNvSpPr/>
          <p:nvPr/>
        </p:nvSpPr>
        <p:spPr>
          <a:xfrm>
            <a:off x="3737580" y="3549865"/>
            <a:ext cx="283161" cy="283161"/>
          </a:xfrm>
          <a:prstGeom prst="ellipse">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b="1" dirty="0">
                <a:solidFill>
                  <a:schemeClr val="bg1"/>
                </a:solidFill>
              </a:rPr>
              <a:t>A</a:t>
            </a:r>
            <a:endParaRPr kumimoji="1" lang="ja-JP" altLang="en-US" sz="1200" b="1" dirty="0">
              <a:solidFill>
                <a:schemeClr val="bg1"/>
              </a:solidFill>
            </a:endParaRPr>
          </a:p>
        </p:txBody>
      </p:sp>
      <p:sp>
        <p:nvSpPr>
          <p:cNvPr id="9" name="楕円 8">
            <a:extLst>
              <a:ext uri="{FF2B5EF4-FFF2-40B4-BE49-F238E27FC236}">
                <a16:creationId xmlns:a16="http://schemas.microsoft.com/office/drawing/2014/main" id="{CC77AA65-9EC7-5FC4-0EE6-D3B8F4EC60AB}"/>
              </a:ext>
            </a:extLst>
          </p:cNvPr>
          <p:cNvSpPr/>
          <p:nvPr/>
        </p:nvSpPr>
        <p:spPr>
          <a:xfrm>
            <a:off x="7014819" y="3549865"/>
            <a:ext cx="283161" cy="283161"/>
          </a:xfrm>
          <a:prstGeom prst="ellipse">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b="1" dirty="0">
                <a:solidFill>
                  <a:schemeClr val="bg1"/>
                </a:solidFill>
              </a:rPr>
              <a:t>B</a:t>
            </a:r>
            <a:endParaRPr lang="ja-JP" altLang="en-US" sz="1200" b="1" dirty="0">
              <a:solidFill>
                <a:schemeClr val="bg1"/>
              </a:solidFill>
            </a:endParaRPr>
          </a:p>
        </p:txBody>
      </p:sp>
      <p:sp>
        <p:nvSpPr>
          <p:cNvPr id="10" name="楕円 9">
            <a:extLst>
              <a:ext uri="{FF2B5EF4-FFF2-40B4-BE49-F238E27FC236}">
                <a16:creationId xmlns:a16="http://schemas.microsoft.com/office/drawing/2014/main" id="{CBEF8CC7-5C90-BB3D-33DA-2B81F3F0602A}"/>
              </a:ext>
            </a:extLst>
          </p:cNvPr>
          <p:cNvSpPr/>
          <p:nvPr/>
        </p:nvSpPr>
        <p:spPr>
          <a:xfrm>
            <a:off x="3727485" y="5442051"/>
            <a:ext cx="283161" cy="283161"/>
          </a:xfrm>
          <a:prstGeom prst="ellipse">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b="1" dirty="0">
                <a:solidFill>
                  <a:schemeClr val="bg1"/>
                </a:solidFill>
              </a:rPr>
              <a:t>C</a:t>
            </a:r>
            <a:endParaRPr lang="ja-JP" altLang="en-US" sz="1200" b="1" dirty="0">
              <a:solidFill>
                <a:schemeClr val="bg1"/>
              </a:solidFill>
            </a:endParaRPr>
          </a:p>
        </p:txBody>
      </p:sp>
      <p:sp>
        <p:nvSpPr>
          <p:cNvPr id="15" name="四角形: 角を丸くする 14">
            <a:extLst>
              <a:ext uri="{FF2B5EF4-FFF2-40B4-BE49-F238E27FC236}">
                <a16:creationId xmlns:a16="http://schemas.microsoft.com/office/drawing/2014/main" id="{5CFC0E9B-6F8F-FDE5-439F-8517D4B0697C}"/>
              </a:ext>
            </a:extLst>
          </p:cNvPr>
          <p:cNvSpPr/>
          <p:nvPr/>
        </p:nvSpPr>
        <p:spPr>
          <a:xfrm>
            <a:off x="6186663" y="5870324"/>
            <a:ext cx="1591590" cy="367110"/>
          </a:xfrm>
          <a:prstGeom prst="round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その他</a:t>
            </a:r>
            <a:endParaRPr kumimoji="1" lang="en-US" altLang="ja-JP" sz="1200" dirty="0">
              <a:solidFill>
                <a:schemeClr val="bg1"/>
              </a:solidFill>
            </a:endParaRPr>
          </a:p>
        </p:txBody>
      </p:sp>
    </p:spTree>
    <p:extLst>
      <p:ext uri="{BB962C8B-B14F-4D97-AF65-F5344CB8AC3E}">
        <p14:creationId xmlns:p14="http://schemas.microsoft.com/office/powerpoint/2010/main" val="2611885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3A1D1FE-BC04-E092-5E95-92AAC15B804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39" imgH="639" progId="TCLayout.ActiveDocument.1">
                  <p:embed/>
                </p:oleObj>
              </mc:Choice>
              <mc:Fallback>
                <p:oleObj name="think-cell スライド" r:id="rId3" imgW="639" imgH="639" progId="TCLayout.ActiveDocument.1">
                  <p:embed/>
                  <p:pic>
                    <p:nvPicPr>
                      <p:cNvPr id="3" name="think-cell data - do not delete" hidden="1">
                        <a:extLst>
                          <a:ext uri="{FF2B5EF4-FFF2-40B4-BE49-F238E27FC236}">
                            <a16:creationId xmlns:a16="http://schemas.microsoft.com/office/drawing/2014/main" id="{33A1D1FE-BC04-E092-5E95-92AAC15B8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p:cNvSpPr>
            <a:spLocks noGrp="1"/>
          </p:cNvSpPr>
          <p:nvPr>
            <p:ph type="title"/>
          </p:nvPr>
        </p:nvSpPr>
        <p:spPr>
          <a:xfrm>
            <a:off x="273049" y="3121223"/>
            <a:ext cx="9072563" cy="307777"/>
          </a:xfrm>
        </p:spPr>
        <p:txBody>
          <a:bodyPr vert="horz"/>
          <a:lstStyle/>
          <a:p>
            <a:r>
              <a:rPr kumimoji="1" lang="en-US" altLang="zh-TW" dirty="0"/>
              <a:t>1. </a:t>
            </a:r>
            <a:r>
              <a:rPr kumimoji="1" lang="ja-JP" altLang="en-US" dirty="0"/>
              <a:t>背景・目的</a:t>
            </a:r>
          </a:p>
        </p:txBody>
      </p:sp>
    </p:spTree>
    <p:extLst>
      <p:ext uri="{BB962C8B-B14F-4D97-AF65-F5344CB8AC3E}">
        <p14:creationId xmlns:p14="http://schemas.microsoft.com/office/powerpoint/2010/main" val="401686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AE52A1-D21C-069D-1A89-242CA3DDA51E}"/>
              </a:ext>
            </a:extLst>
          </p:cNvPr>
          <p:cNvSpPr>
            <a:spLocks noGrp="1"/>
          </p:cNvSpPr>
          <p:nvPr>
            <p:ph type="title"/>
          </p:nvPr>
        </p:nvSpPr>
        <p:spPr/>
        <p:txBody>
          <a:bodyPr/>
          <a:lstStyle/>
          <a:p>
            <a:r>
              <a:rPr kumimoji="1" lang="en-US" altLang="ja-JP" dirty="0"/>
              <a:t>1. </a:t>
            </a:r>
            <a:r>
              <a:rPr kumimoji="1" lang="ja-JP" altLang="en-US" dirty="0"/>
              <a:t>背景・目的</a:t>
            </a:r>
          </a:p>
        </p:txBody>
      </p:sp>
      <p:sp>
        <p:nvSpPr>
          <p:cNvPr id="3" name="テキスト プレースホルダー 2">
            <a:extLst>
              <a:ext uri="{FF2B5EF4-FFF2-40B4-BE49-F238E27FC236}">
                <a16:creationId xmlns:a16="http://schemas.microsoft.com/office/drawing/2014/main" id="{08ECFCB0-2C3F-5108-D1F6-6C6D040723A9}"/>
              </a:ext>
            </a:extLst>
          </p:cNvPr>
          <p:cNvSpPr>
            <a:spLocks noGrp="1"/>
          </p:cNvSpPr>
          <p:nvPr>
            <p:ph type="body" sz="quarter" idx="10"/>
          </p:nvPr>
        </p:nvSpPr>
        <p:spPr/>
        <p:txBody>
          <a:bodyPr/>
          <a:lstStyle/>
          <a:p>
            <a:r>
              <a:rPr kumimoji="1" lang="en-US" altLang="ja-JP" dirty="0"/>
              <a:t>1</a:t>
            </a:r>
            <a:r>
              <a:rPr lang="en-US" altLang="ja-JP" dirty="0"/>
              <a:t>.</a:t>
            </a:r>
            <a:r>
              <a:rPr lang="ja-JP" altLang="en-US" dirty="0"/>
              <a:t> </a:t>
            </a:r>
            <a:r>
              <a:rPr kumimoji="1" lang="ja-JP" altLang="en-US" dirty="0"/>
              <a:t>背景・目的</a:t>
            </a:r>
          </a:p>
        </p:txBody>
      </p:sp>
      <p:sp>
        <p:nvSpPr>
          <p:cNvPr id="9" name="正方形/長方形 8">
            <a:extLst>
              <a:ext uri="{FF2B5EF4-FFF2-40B4-BE49-F238E27FC236}">
                <a16:creationId xmlns:a16="http://schemas.microsoft.com/office/drawing/2014/main" id="{F6E57987-F183-C87F-2D01-8C17CB2E6DAB}"/>
              </a:ext>
            </a:extLst>
          </p:cNvPr>
          <p:cNvSpPr/>
          <p:nvPr/>
        </p:nvSpPr>
        <p:spPr>
          <a:xfrm>
            <a:off x="273050" y="1123492"/>
            <a:ext cx="9359899" cy="3545237"/>
          </a:xfrm>
          <a:prstGeom prst="rect">
            <a:avLst/>
          </a:prstGeom>
          <a:solidFill>
            <a:schemeClr val="bg1">
              <a:lumMod val="95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36000" rIns="36000" rtlCol="0" anchor="t" anchorCtr="0"/>
          <a:lstStyle/>
          <a:p>
            <a:pPr marL="285750" indent="-285750">
              <a:spcBef>
                <a:spcPts val="300"/>
              </a:spcBef>
              <a:buFont typeface="Wingdings" panose="05000000000000000000" pitchFamily="2" charset="2"/>
              <a:buChar char="n"/>
            </a:pPr>
            <a:r>
              <a:rPr kumimoji="1" lang="ja-JP" altLang="en-US" sz="1400" dirty="0"/>
              <a:t>デジタル市場競争会議における「デジタル市場競争に係る中期展望レポート」の提言を受け、</a:t>
            </a:r>
            <a:r>
              <a:rPr kumimoji="1" lang="en-US" altLang="ja-JP" sz="1400" dirty="0"/>
              <a:t>DFFT</a:t>
            </a:r>
            <a:r>
              <a:rPr kumimoji="1" lang="ja-JP" altLang="en-US" sz="1400" dirty="0"/>
              <a:t>の具現化も視野に、</a:t>
            </a:r>
            <a:r>
              <a:rPr kumimoji="1" lang="en-US" altLang="ja-JP" sz="1400" dirty="0"/>
              <a:t>2020</a:t>
            </a:r>
            <a:r>
              <a:rPr kumimoji="1" lang="ja-JP" altLang="en-US" sz="1400" dirty="0"/>
              <a:t>年</a:t>
            </a:r>
            <a:r>
              <a:rPr kumimoji="1" lang="en-US" altLang="ja-JP" sz="1400" dirty="0"/>
              <a:t>10</a:t>
            </a:r>
            <a:r>
              <a:rPr kumimoji="1" lang="ja-JP" altLang="en-US" sz="1400" dirty="0"/>
              <a:t>月に「</a:t>
            </a:r>
            <a:r>
              <a:rPr kumimoji="1" lang="en-US" altLang="ja-JP" sz="1400" dirty="0"/>
              <a:t>Trusted Web</a:t>
            </a:r>
            <a:r>
              <a:rPr kumimoji="1" lang="ja-JP" altLang="en-US" sz="1400" dirty="0"/>
              <a:t>推進協議会」が発足した。「</a:t>
            </a:r>
            <a:r>
              <a:rPr kumimoji="1" lang="en-US" altLang="ja-JP" sz="1400" dirty="0"/>
              <a:t>Trusted Web</a:t>
            </a:r>
            <a:r>
              <a:rPr kumimoji="1" lang="ja-JP" altLang="en-US" sz="1400" dirty="0"/>
              <a:t>」はデータをやり取りする際に、データや取引相手（データ提供者、データ利用者）の検証の簡易化、相手に開示するデータのコントロールを可能にするなどの信頼の仕組みの構築を目指すもので</a:t>
            </a:r>
            <a:br>
              <a:rPr kumimoji="1" lang="en-US" altLang="ja-JP" sz="1400" dirty="0"/>
            </a:br>
            <a:r>
              <a:rPr kumimoji="1" lang="ja-JP" altLang="en-US" sz="1400" dirty="0"/>
              <a:t>あり、</a:t>
            </a:r>
            <a:r>
              <a:rPr kumimoji="1" lang="en-US" altLang="ja-JP" sz="1400" dirty="0"/>
              <a:t>DFFT</a:t>
            </a:r>
            <a:r>
              <a:rPr kumimoji="1" lang="ja-JP" altLang="en-US" sz="1400" dirty="0"/>
              <a:t>の実現への寄与が期待されている。</a:t>
            </a:r>
            <a:endParaRPr lang="en-US" altLang="ja-JP" sz="1400" dirty="0"/>
          </a:p>
          <a:p>
            <a:pPr marL="285750" indent="-285750">
              <a:spcBef>
                <a:spcPts val="300"/>
              </a:spcBef>
              <a:buFont typeface="Wingdings" panose="05000000000000000000" pitchFamily="2" charset="2"/>
              <a:buChar char="n"/>
            </a:pPr>
            <a:r>
              <a:rPr kumimoji="1" lang="en-US" altLang="ja-JP" sz="1400" dirty="0"/>
              <a:t>Trusted Web</a:t>
            </a:r>
            <a:r>
              <a:rPr kumimoji="1" lang="ja-JP" altLang="en-US" sz="1400" dirty="0"/>
              <a:t>推進協議会では、これまで以下議論・検討をもとに</a:t>
            </a:r>
            <a:r>
              <a:rPr kumimoji="1" lang="en-US" altLang="ja-JP" sz="1400" dirty="0"/>
              <a:t>Trusted Web</a:t>
            </a:r>
            <a:r>
              <a:rPr kumimoji="1" lang="ja-JP" altLang="en-US" sz="1400" dirty="0"/>
              <a:t>ホワイトペーパーを取りまとめてきた</a:t>
            </a:r>
            <a:endParaRPr kumimoji="1" lang="en-US" altLang="ja-JP" sz="1400" dirty="0"/>
          </a:p>
          <a:p>
            <a:pPr marL="742950" lvl="1" indent="-285750">
              <a:spcBef>
                <a:spcPts val="300"/>
              </a:spcBef>
              <a:buFont typeface="Wingdings" panose="05000000000000000000" pitchFamily="2" charset="2"/>
              <a:buChar char="Ø"/>
            </a:pPr>
            <a:r>
              <a:rPr lang="en-US" altLang="ja-JP" sz="1100" dirty="0"/>
              <a:t>2021</a:t>
            </a:r>
            <a:r>
              <a:rPr lang="ja-JP" altLang="en-US" sz="1100" dirty="0"/>
              <a:t>年</a:t>
            </a:r>
            <a:r>
              <a:rPr lang="en-US" altLang="ja-JP" sz="1100" dirty="0"/>
              <a:t>3</a:t>
            </a:r>
            <a:r>
              <a:rPr lang="ja-JP" altLang="en-US" sz="1100" dirty="0"/>
              <a:t>月：</a:t>
            </a:r>
            <a:r>
              <a:rPr lang="en-US" altLang="ja-JP" sz="1100" dirty="0"/>
              <a:t>ver1.0</a:t>
            </a:r>
            <a:r>
              <a:rPr lang="ja-JP" altLang="en-US" sz="1100" dirty="0"/>
              <a:t>　</a:t>
            </a:r>
            <a:r>
              <a:rPr lang="en-US" altLang="ja-JP" sz="1100" dirty="0"/>
              <a:t>(</a:t>
            </a:r>
            <a:r>
              <a:rPr lang="ja-JP" altLang="en-US" sz="1100" dirty="0"/>
              <a:t>内外の様々な関係者と協力・連携していくためのディスカッションペーパーとして整理</a:t>
            </a:r>
            <a:r>
              <a:rPr lang="en-US" altLang="ja-JP" sz="1100" dirty="0"/>
              <a:t>)</a:t>
            </a:r>
          </a:p>
          <a:p>
            <a:pPr marL="742950" lvl="1" indent="-285750">
              <a:spcBef>
                <a:spcPts val="300"/>
              </a:spcBef>
              <a:buFont typeface="Wingdings" panose="05000000000000000000" pitchFamily="2" charset="2"/>
              <a:buChar char="Ø"/>
            </a:pPr>
            <a:r>
              <a:rPr lang="en-US" altLang="ja-JP" sz="1100" dirty="0"/>
              <a:t>2022</a:t>
            </a:r>
            <a:r>
              <a:rPr lang="ja-JP" altLang="en-US" sz="1100" dirty="0"/>
              <a:t>年</a:t>
            </a:r>
            <a:r>
              <a:rPr lang="en-US" altLang="ja-JP" sz="1100" dirty="0"/>
              <a:t>8</a:t>
            </a:r>
            <a:r>
              <a:rPr lang="ja-JP" altLang="en-US" sz="1100" dirty="0"/>
              <a:t>月：</a:t>
            </a:r>
            <a:r>
              <a:rPr lang="en-US" altLang="ja-JP" sz="1100" dirty="0"/>
              <a:t>ver2.0</a:t>
            </a:r>
            <a:r>
              <a:rPr lang="ja-JP" altLang="en-US" sz="1100" dirty="0"/>
              <a:t>　</a:t>
            </a:r>
            <a:r>
              <a:rPr lang="en-US" altLang="ja-JP" sz="1100" dirty="0"/>
              <a:t>(ver.1.0</a:t>
            </a:r>
            <a:r>
              <a:rPr lang="ja-JP" altLang="en-US" sz="1100" dirty="0"/>
              <a:t>で示された考え方や構想の具体化、ユースケース分析やプロトタイプ開発を踏まえて、 </a:t>
            </a:r>
            <a:r>
              <a:rPr lang="en-US" altLang="ja-JP" sz="1100" dirty="0"/>
              <a:t>Trusted Web</a:t>
            </a:r>
            <a:r>
              <a:rPr lang="ja-JP" altLang="en-US" sz="1100" dirty="0"/>
              <a:t>が目指す信頼の姿のさらなる具体化、それを実現するためのアーキテクチャの提示、ガバナンス検討結果の反映</a:t>
            </a:r>
            <a:r>
              <a:rPr lang="en-US" altLang="ja-JP" sz="1100" dirty="0"/>
              <a:t>)</a:t>
            </a:r>
          </a:p>
          <a:p>
            <a:pPr marL="742950" lvl="1" indent="-285750">
              <a:spcBef>
                <a:spcPts val="300"/>
              </a:spcBef>
              <a:buFont typeface="Wingdings" panose="05000000000000000000" pitchFamily="2" charset="2"/>
              <a:buChar char="Ø"/>
            </a:pPr>
            <a:r>
              <a:rPr kumimoji="1" lang="en-US" altLang="ja-JP" sz="1100" dirty="0"/>
              <a:t>2023</a:t>
            </a:r>
            <a:r>
              <a:rPr kumimoji="1" lang="ja-JP" altLang="en-US" sz="1100" dirty="0"/>
              <a:t>年</a:t>
            </a:r>
            <a:r>
              <a:rPr kumimoji="1" lang="en-US" altLang="ja-JP" sz="1100" dirty="0"/>
              <a:t>11</a:t>
            </a:r>
            <a:r>
              <a:rPr kumimoji="1" lang="ja-JP" altLang="en-US" sz="1100" dirty="0"/>
              <a:t>月：</a:t>
            </a:r>
            <a:r>
              <a:rPr kumimoji="1" lang="en-US" altLang="ja-JP" sz="1100" dirty="0"/>
              <a:t>ver3.0</a:t>
            </a:r>
            <a:r>
              <a:rPr kumimoji="1" lang="ja-JP" altLang="en-US" sz="1100" dirty="0"/>
              <a:t>　</a:t>
            </a:r>
            <a:r>
              <a:rPr kumimoji="1" lang="en-US" altLang="ja-JP" sz="1100" dirty="0"/>
              <a:t>(2022</a:t>
            </a:r>
            <a:r>
              <a:rPr kumimoji="1" lang="ja-JP" altLang="en-US" sz="1100" dirty="0"/>
              <a:t>年度「</a:t>
            </a:r>
            <a:r>
              <a:rPr kumimoji="1" lang="en-US" altLang="ja-JP" sz="1100" dirty="0"/>
              <a:t>Trusted Web</a:t>
            </a:r>
            <a:r>
              <a:rPr kumimoji="1" lang="ja-JP" altLang="en-US" sz="1100" dirty="0"/>
              <a:t>共同開発支援事業」の結果・フィードバックを踏まえてアーキテクチャを再構築するとともに、それを車の両輪として支えるガバナンスのあり方を提示</a:t>
            </a:r>
            <a:r>
              <a:rPr kumimoji="1" lang="en-US" altLang="ja-JP" sz="1100" dirty="0"/>
              <a:t>)</a:t>
            </a:r>
            <a:endParaRPr kumimoji="1" lang="ja-JP" altLang="en-US" sz="1100" dirty="0"/>
          </a:p>
          <a:p>
            <a:pPr marL="285750" indent="-285750">
              <a:spcBef>
                <a:spcPts val="300"/>
              </a:spcBef>
              <a:buFont typeface="Wingdings" panose="05000000000000000000" pitchFamily="2" charset="2"/>
              <a:buChar char="n"/>
            </a:pPr>
            <a:r>
              <a:rPr lang="ja-JP" altLang="en-US" sz="1400" dirty="0"/>
              <a:t>同ホワイトぺーパーでは、</a:t>
            </a:r>
            <a:r>
              <a:rPr lang="en-US" altLang="ja-JP" sz="1400" dirty="0"/>
              <a:t>Trusted Web</a:t>
            </a:r>
            <a:r>
              <a:rPr lang="ja-JP" altLang="en-US" sz="1400" dirty="0"/>
              <a:t>の原則自体や、</a:t>
            </a:r>
            <a:r>
              <a:rPr lang="en-US" altLang="ja-JP" sz="1400" dirty="0"/>
              <a:t>Trusted Web</a:t>
            </a:r>
            <a:r>
              <a:rPr lang="ja-JP" altLang="en-US" sz="1400" dirty="0"/>
              <a:t>の原則に則り構成される系（業界やシステム）が、その原則を失うことなく運営・利用されるために、</a:t>
            </a:r>
            <a:r>
              <a:rPr kumimoji="1" lang="ja-JP" altLang="en-US" sz="1400" dirty="0"/>
              <a:t>ガバナンスの運営体制・トラストフレームワーク</a:t>
            </a:r>
            <a:r>
              <a:rPr lang="ja-JP" altLang="en-US" sz="1400" dirty="0"/>
              <a:t>が必要とされている。</a:t>
            </a:r>
            <a:br>
              <a:rPr lang="en-US" altLang="ja-JP" sz="1400" dirty="0"/>
            </a:br>
            <a:r>
              <a:rPr lang="ja-JP" altLang="en-US" sz="1400" dirty="0"/>
              <a:t>ガバナンスの運営体制では、中立的かつ持続可能な組織形態として、官民のリーダシップによる非営利連合であるカナダの</a:t>
            </a:r>
            <a:r>
              <a:rPr lang="en-US" altLang="ja-JP" sz="1400" dirty="0"/>
              <a:t>DIACC</a:t>
            </a:r>
            <a:r>
              <a:rPr lang="ja-JP" altLang="en-US" sz="1400" dirty="0"/>
              <a:t>も念頭に具体的な検討を行っていくことが必要</a:t>
            </a:r>
            <a:r>
              <a:rPr kumimoji="1" lang="ja-JP" altLang="en-US" sz="1400" dirty="0"/>
              <a:t>とされている。</a:t>
            </a:r>
            <a:endParaRPr kumimoji="1" lang="en-US" altLang="ja-JP" sz="1400" dirty="0"/>
          </a:p>
          <a:p>
            <a:pPr marL="285750" indent="-285750">
              <a:spcBef>
                <a:spcPts val="300"/>
              </a:spcBef>
              <a:buFont typeface="Wingdings" panose="05000000000000000000" pitchFamily="2" charset="2"/>
              <a:buChar char="n"/>
            </a:pPr>
            <a:r>
              <a:rPr kumimoji="1" lang="ja-JP" altLang="en-US" sz="1400" dirty="0"/>
              <a:t>また</a:t>
            </a:r>
            <a:r>
              <a:rPr kumimoji="1" lang="en-US" altLang="ja-JP" sz="1400" dirty="0"/>
              <a:t>2022</a:t>
            </a:r>
            <a:r>
              <a:rPr kumimoji="1" lang="ja-JP" altLang="en-US" sz="1400" dirty="0"/>
              <a:t>年度に、</a:t>
            </a:r>
            <a:r>
              <a:rPr kumimoji="1" lang="en-US" altLang="ja-JP" sz="1400" dirty="0"/>
              <a:t>Trusted Web </a:t>
            </a:r>
            <a:r>
              <a:rPr kumimoji="1" lang="ja-JP" altLang="en-US" sz="1400" dirty="0"/>
              <a:t>に係る海外動向調査*を実施し、各国の政策諸外国で定められているトラストフレームワークの</a:t>
            </a:r>
            <a:br>
              <a:rPr kumimoji="1" lang="en-US" altLang="ja-JP" sz="1400" dirty="0"/>
            </a:br>
            <a:r>
              <a:rPr kumimoji="1" lang="ja-JP" altLang="en-US" sz="1400" dirty="0"/>
              <a:t>構成・規定する内容について整理した。本年度は具体的な取り組みに向けてプロセスを重視した調査を実施することとする。</a:t>
            </a:r>
            <a:endParaRPr kumimoji="1" lang="en-US" altLang="ja-JP" sz="1400" dirty="0"/>
          </a:p>
        </p:txBody>
      </p:sp>
      <p:sp>
        <p:nvSpPr>
          <p:cNvPr id="11" name="コンテンツ プレースホルダー 2">
            <a:extLst>
              <a:ext uri="{FF2B5EF4-FFF2-40B4-BE49-F238E27FC236}">
                <a16:creationId xmlns:a16="http://schemas.microsoft.com/office/drawing/2014/main" id="{65990603-05B9-1E71-9F5C-122632CDB0B0}"/>
              </a:ext>
            </a:extLst>
          </p:cNvPr>
          <p:cNvSpPr txBox="1">
            <a:spLocks/>
          </p:cNvSpPr>
          <p:nvPr/>
        </p:nvSpPr>
        <p:spPr>
          <a:xfrm>
            <a:off x="273050" y="908050"/>
            <a:ext cx="9359900" cy="43088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dirty="0"/>
          </a:p>
        </p:txBody>
      </p:sp>
      <p:sp>
        <p:nvSpPr>
          <p:cNvPr id="12" name="正方形/長方形 11">
            <a:extLst>
              <a:ext uri="{FF2B5EF4-FFF2-40B4-BE49-F238E27FC236}">
                <a16:creationId xmlns:a16="http://schemas.microsoft.com/office/drawing/2014/main" id="{E6A550C3-50AA-96E1-7E00-45A2449F036E}"/>
              </a:ext>
            </a:extLst>
          </p:cNvPr>
          <p:cNvSpPr/>
          <p:nvPr/>
        </p:nvSpPr>
        <p:spPr>
          <a:xfrm>
            <a:off x="273050" y="810824"/>
            <a:ext cx="2108200" cy="307777"/>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600" dirty="0">
                <a:solidFill>
                  <a:schemeClr val="bg1"/>
                </a:solidFill>
              </a:rPr>
              <a:t>背景</a:t>
            </a:r>
          </a:p>
        </p:txBody>
      </p:sp>
      <p:sp>
        <p:nvSpPr>
          <p:cNvPr id="13" name="正方形/長方形 12">
            <a:extLst>
              <a:ext uri="{FF2B5EF4-FFF2-40B4-BE49-F238E27FC236}">
                <a16:creationId xmlns:a16="http://schemas.microsoft.com/office/drawing/2014/main" id="{8F2172E6-0C95-739B-0C60-E7BFE8F7271C}"/>
              </a:ext>
            </a:extLst>
          </p:cNvPr>
          <p:cNvSpPr/>
          <p:nvPr/>
        </p:nvSpPr>
        <p:spPr>
          <a:xfrm>
            <a:off x="273050" y="5133666"/>
            <a:ext cx="9359899" cy="1069788"/>
          </a:xfrm>
          <a:prstGeom prst="rect">
            <a:avLst/>
          </a:prstGeom>
          <a:solidFill>
            <a:schemeClr val="bg1">
              <a:lumMod val="95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36000" rIns="36000" rtlCol="0" anchor="t" anchorCtr="0"/>
          <a:lstStyle/>
          <a:p>
            <a:pPr marL="285750" indent="-285750">
              <a:spcBef>
                <a:spcPts val="300"/>
              </a:spcBef>
              <a:buFont typeface="Wingdings" panose="05000000000000000000" pitchFamily="2" charset="2"/>
              <a:buChar char="n"/>
            </a:pPr>
            <a:r>
              <a:rPr lang="ja-JP" altLang="en-US" sz="1400" dirty="0"/>
              <a:t>先進的な取り組み事例</a:t>
            </a:r>
            <a:r>
              <a:rPr lang="en-US" altLang="ja-JP" sz="1400" dirty="0"/>
              <a:t>(</a:t>
            </a:r>
            <a:r>
              <a:rPr lang="ja-JP" altLang="en-US" sz="1400" dirty="0"/>
              <a:t>欧州・米国等</a:t>
            </a:r>
            <a:r>
              <a:rPr lang="en-US" altLang="ja-JP" sz="1400" dirty="0"/>
              <a:t>)</a:t>
            </a:r>
            <a:r>
              <a:rPr lang="ja-JP" altLang="en-US" sz="1400" dirty="0"/>
              <a:t>から、</a:t>
            </a:r>
            <a:r>
              <a:rPr kumimoji="1" lang="ja-JP" altLang="en-US" sz="1400" dirty="0"/>
              <a:t>本邦が</a:t>
            </a:r>
            <a:r>
              <a:rPr kumimoji="1" lang="en-US" altLang="ja-JP" sz="1400" dirty="0"/>
              <a:t>Trusted Web</a:t>
            </a:r>
            <a:r>
              <a:rPr kumimoji="1" lang="ja-JP" altLang="en-US" sz="1400" dirty="0"/>
              <a:t>の社会実装に向けた活動（トラストフレームワーク・</a:t>
            </a:r>
            <a:r>
              <a:rPr kumimoji="1" lang="ja-JP" altLang="en-US" sz="1400" b="0" i="0" u="none" strike="noStrike" kern="1200" cap="none" spc="0" normalizeH="0" baseline="0" noProof="0" dirty="0">
                <a:ln>
                  <a:noFill/>
                </a:ln>
                <a:solidFill>
                  <a:prstClr val="black"/>
                </a:solidFill>
                <a:effectLst/>
                <a:uLnTx/>
                <a:uFillTx/>
                <a:latin typeface="+mn-lt"/>
                <a:ea typeface="+mn-ea"/>
                <a:cs typeface="+mn-cs"/>
              </a:rPr>
              <a:t>官民コンソーシアム設立・運営等</a:t>
            </a:r>
            <a:r>
              <a:rPr kumimoji="1" lang="en-US" altLang="ja-JP" sz="1400" b="0" i="0" u="none" strike="noStrike" kern="1200" cap="none" spc="0" normalizeH="0" baseline="0" noProof="0" dirty="0">
                <a:ln>
                  <a:noFill/>
                </a:ln>
                <a:solidFill>
                  <a:prstClr val="black"/>
                </a:solidFill>
                <a:effectLst/>
                <a:uLnTx/>
                <a:uFillTx/>
                <a:latin typeface="+mn-lt"/>
                <a:ea typeface="+mn-ea"/>
                <a:cs typeface="+mn-cs"/>
              </a:rPr>
              <a:t>)</a:t>
            </a:r>
            <a:r>
              <a:rPr kumimoji="1" lang="ja-JP" altLang="en-US" sz="1400" b="0" i="0" u="none" strike="noStrike" kern="1200" cap="none" spc="0" normalizeH="0" baseline="0" noProof="0" dirty="0">
                <a:ln>
                  <a:noFill/>
                </a:ln>
                <a:solidFill>
                  <a:prstClr val="black"/>
                </a:solidFill>
                <a:effectLst/>
                <a:uLnTx/>
                <a:uFillTx/>
                <a:latin typeface="+mn-lt"/>
                <a:ea typeface="+mn-ea"/>
                <a:cs typeface="+mn-cs"/>
              </a:rPr>
              <a:t>を実施するにあたって示唆となる情報を収集することを目的とする</a:t>
            </a:r>
            <a:endParaRPr kumimoji="1" lang="en-US" altLang="ja-JP" sz="1400" dirty="0"/>
          </a:p>
          <a:p>
            <a:pPr marL="742950" lvl="1" indent="-285750">
              <a:spcBef>
                <a:spcPts val="300"/>
              </a:spcBef>
              <a:buFont typeface="Wingdings" panose="05000000000000000000" pitchFamily="2" charset="2"/>
              <a:buChar char="Ø"/>
            </a:pPr>
            <a:r>
              <a:rPr kumimoji="1" lang="ja-JP" altLang="en-US" sz="1400" dirty="0"/>
              <a:t>トラストフレームワーク：作成プロセス、社会実装・運用プロセスの調査</a:t>
            </a:r>
            <a:endParaRPr kumimoji="1" lang="en-US" altLang="ja-JP" sz="1400" dirty="0"/>
          </a:p>
          <a:p>
            <a:pPr marL="742950" lvl="1" indent="-285750">
              <a:spcBef>
                <a:spcPts val="300"/>
              </a:spcBef>
              <a:buFont typeface="Wingdings" panose="05000000000000000000" pitchFamily="2" charset="2"/>
              <a:buChar char="Ø"/>
            </a:pPr>
            <a:r>
              <a:rPr kumimoji="1" lang="ja-JP" altLang="en-US" sz="1400" dirty="0"/>
              <a:t>コンソーシアム：コンソーシアム設立のおける各プロセスでの実施内容・課題</a:t>
            </a:r>
          </a:p>
        </p:txBody>
      </p:sp>
      <p:sp>
        <p:nvSpPr>
          <p:cNvPr id="14" name="正方形/長方形 13">
            <a:extLst>
              <a:ext uri="{FF2B5EF4-FFF2-40B4-BE49-F238E27FC236}">
                <a16:creationId xmlns:a16="http://schemas.microsoft.com/office/drawing/2014/main" id="{0D77F800-B7EF-609E-4196-0352676FC7AD}"/>
              </a:ext>
            </a:extLst>
          </p:cNvPr>
          <p:cNvSpPr/>
          <p:nvPr/>
        </p:nvSpPr>
        <p:spPr>
          <a:xfrm>
            <a:off x="273050" y="4825888"/>
            <a:ext cx="2108200" cy="307777"/>
          </a:xfrm>
          <a:prstGeom prst="rect">
            <a:avLst/>
          </a:prstGeom>
          <a:solidFill>
            <a:schemeClr val="accent1"/>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600" dirty="0">
                <a:solidFill>
                  <a:schemeClr val="bg1"/>
                </a:solidFill>
              </a:rPr>
              <a:t>目的</a:t>
            </a:r>
            <a:endParaRPr kumimoji="1" lang="ja-JP" altLang="en-US" sz="1600" dirty="0">
              <a:solidFill>
                <a:schemeClr val="bg1"/>
              </a:solidFill>
            </a:endParaRPr>
          </a:p>
        </p:txBody>
      </p:sp>
      <p:sp>
        <p:nvSpPr>
          <p:cNvPr id="5" name="テキスト ボックス 4">
            <a:extLst>
              <a:ext uri="{FF2B5EF4-FFF2-40B4-BE49-F238E27FC236}">
                <a16:creationId xmlns:a16="http://schemas.microsoft.com/office/drawing/2014/main" id="{5AEB5813-267E-37E7-7728-092229A77310}"/>
              </a:ext>
            </a:extLst>
          </p:cNvPr>
          <p:cNvSpPr txBox="1"/>
          <p:nvPr/>
        </p:nvSpPr>
        <p:spPr>
          <a:xfrm>
            <a:off x="273050" y="6211060"/>
            <a:ext cx="9274285" cy="369332"/>
          </a:xfrm>
          <a:prstGeom prst="rect">
            <a:avLst/>
          </a:prstGeom>
          <a:noFill/>
        </p:spPr>
        <p:txBody>
          <a:bodyPr wrap="square">
            <a:spAutoFit/>
          </a:bodyPr>
          <a:lstStyle/>
          <a:p>
            <a:r>
              <a:rPr lang="ja-JP" altLang="en-US" sz="900" dirty="0">
                <a:latin typeface="+mn-ea"/>
                <a:ea typeface="+mn-ea"/>
              </a:rPr>
              <a:t>*令和４年度デジタル取引環境整備事業（「</a:t>
            </a:r>
            <a:r>
              <a:rPr lang="en-US" altLang="ja-JP" sz="900" dirty="0">
                <a:latin typeface="+mn-ea"/>
                <a:ea typeface="+mn-ea"/>
              </a:rPr>
              <a:t>Trusted Web</a:t>
            </a:r>
            <a:r>
              <a:rPr lang="ja-JP" altLang="en-US" sz="900" dirty="0">
                <a:latin typeface="+mn-ea"/>
                <a:ea typeface="+mn-ea"/>
              </a:rPr>
              <a:t>」の実現に向けた技術動向調査）海外動向調査</a:t>
            </a:r>
            <a:endParaRPr lang="en-US" altLang="ja-JP" sz="900" dirty="0">
              <a:latin typeface="+mn-ea"/>
              <a:ea typeface="+mn-ea"/>
            </a:endParaRPr>
          </a:p>
          <a:p>
            <a:r>
              <a:rPr lang="en-US" altLang="ja-JP" sz="900" dirty="0">
                <a:latin typeface="+mn-ea"/>
                <a:ea typeface="+mn-ea"/>
                <a:hlinkClick r:id="rId2"/>
              </a:rPr>
              <a:t>https://www.kantei.go.jp/jp/singi/digitalmarket/trusted_web/2022seika/files/001_report_international.pdf</a:t>
            </a:r>
            <a:endParaRPr lang="ja-JP" altLang="en-US" sz="900" dirty="0">
              <a:latin typeface="+mn-ea"/>
              <a:ea typeface="+mn-ea"/>
            </a:endParaRPr>
          </a:p>
        </p:txBody>
      </p:sp>
    </p:spTree>
    <p:extLst>
      <p:ext uri="{BB962C8B-B14F-4D97-AF65-F5344CB8AC3E}">
        <p14:creationId xmlns:p14="http://schemas.microsoft.com/office/powerpoint/2010/main" val="1841568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3A1D1FE-BC04-E092-5E95-92AAC15B804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39" imgH="639" progId="TCLayout.ActiveDocument.1">
                  <p:embed/>
                </p:oleObj>
              </mc:Choice>
              <mc:Fallback>
                <p:oleObj name="think-cell スライド" r:id="rId3" imgW="639" imgH="639" progId="TCLayout.ActiveDocument.1">
                  <p:embed/>
                  <p:pic>
                    <p:nvPicPr>
                      <p:cNvPr id="3" name="think-cell data - do not delete" hidden="1">
                        <a:extLst>
                          <a:ext uri="{FF2B5EF4-FFF2-40B4-BE49-F238E27FC236}">
                            <a16:creationId xmlns:a16="http://schemas.microsoft.com/office/drawing/2014/main" id="{33A1D1FE-BC04-E092-5E95-92AAC15B8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p:cNvSpPr>
            <a:spLocks noGrp="1"/>
          </p:cNvSpPr>
          <p:nvPr>
            <p:ph type="title"/>
          </p:nvPr>
        </p:nvSpPr>
        <p:spPr>
          <a:xfrm>
            <a:off x="273049" y="3121223"/>
            <a:ext cx="9072563" cy="307777"/>
          </a:xfrm>
        </p:spPr>
        <p:txBody>
          <a:bodyPr vert="horz"/>
          <a:lstStyle/>
          <a:p>
            <a:r>
              <a:rPr kumimoji="1" lang="en-US" altLang="ja-JP" dirty="0"/>
              <a:t>2</a:t>
            </a:r>
            <a:r>
              <a:rPr kumimoji="1" lang="en-US" altLang="zh-TW" dirty="0"/>
              <a:t>. </a:t>
            </a:r>
            <a:r>
              <a:rPr kumimoji="1" lang="ja-JP" altLang="en-US" dirty="0"/>
              <a:t>調査アプローチ</a:t>
            </a:r>
          </a:p>
        </p:txBody>
      </p:sp>
    </p:spTree>
    <p:extLst>
      <p:ext uri="{BB962C8B-B14F-4D97-AF65-F5344CB8AC3E}">
        <p14:creationId xmlns:p14="http://schemas.microsoft.com/office/powerpoint/2010/main" val="1325699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8ABEFC-82DA-10BD-8DF3-AC2001F88C2B}"/>
              </a:ext>
            </a:extLst>
          </p:cNvPr>
          <p:cNvSpPr>
            <a:spLocks noGrp="1"/>
          </p:cNvSpPr>
          <p:nvPr>
            <p:ph type="title"/>
          </p:nvPr>
        </p:nvSpPr>
        <p:spPr/>
        <p:txBody>
          <a:bodyPr/>
          <a:lstStyle/>
          <a:p>
            <a:r>
              <a:rPr kumimoji="1" lang="en-US" altLang="ja-JP" dirty="0"/>
              <a:t>2.1. </a:t>
            </a:r>
            <a:r>
              <a:rPr kumimoji="1" lang="ja-JP" altLang="en-US" dirty="0"/>
              <a:t>調査・分析ステップ</a:t>
            </a:r>
          </a:p>
        </p:txBody>
      </p:sp>
      <p:sp>
        <p:nvSpPr>
          <p:cNvPr id="3" name="テキスト プレースホルダー 2">
            <a:extLst>
              <a:ext uri="{FF2B5EF4-FFF2-40B4-BE49-F238E27FC236}">
                <a16:creationId xmlns:a16="http://schemas.microsoft.com/office/drawing/2014/main" id="{6FE4CDD1-ED49-2E37-BB6C-9953AB3808ED}"/>
              </a:ext>
            </a:extLst>
          </p:cNvPr>
          <p:cNvSpPr>
            <a:spLocks noGrp="1"/>
          </p:cNvSpPr>
          <p:nvPr>
            <p:ph type="body" sz="quarter" idx="10"/>
          </p:nvPr>
        </p:nvSpPr>
        <p:spPr>
          <a:xfrm>
            <a:off x="273050" y="188913"/>
            <a:ext cx="7848600" cy="161583"/>
          </a:xfrm>
        </p:spPr>
        <p:txBody>
          <a:bodyPr/>
          <a:lstStyle/>
          <a:p>
            <a:r>
              <a:rPr lang="en-US" altLang="ja-JP" sz="1050" dirty="0"/>
              <a:t>2</a:t>
            </a:r>
            <a:r>
              <a:rPr lang="en-US" altLang="ja-JP" dirty="0"/>
              <a:t>.</a:t>
            </a:r>
            <a:r>
              <a:rPr lang="ja-JP" altLang="en-US" dirty="0"/>
              <a:t> 調査</a:t>
            </a:r>
            <a:r>
              <a:rPr lang="ja-JP" altLang="en-US" sz="1050" dirty="0"/>
              <a:t>アプローチ</a:t>
            </a:r>
            <a:endParaRPr kumimoji="1" lang="ja-JP" altLang="en-US" dirty="0"/>
          </a:p>
        </p:txBody>
      </p:sp>
      <p:sp>
        <p:nvSpPr>
          <p:cNvPr id="34" name="矢印: 山形 33">
            <a:extLst>
              <a:ext uri="{FF2B5EF4-FFF2-40B4-BE49-F238E27FC236}">
                <a16:creationId xmlns:a16="http://schemas.microsoft.com/office/drawing/2014/main" id="{0698A5C0-3D86-B58B-AC0D-E406F74D7416}"/>
              </a:ext>
            </a:extLst>
          </p:cNvPr>
          <p:cNvSpPr/>
          <p:nvPr/>
        </p:nvSpPr>
        <p:spPr bwMode="gray">
          <a:xfrm>
            <a:off x="6491112" y="2297142"/>
            <a:ext cx="2998964" cy="295501"/>
          </a:xfrm>
          <a:prstGeom prst="chevron">
            <a:avLst/>
          </a:prstGeom>
          <a:solidFill>
            <a:schemeClr val="tx2"/>
          </a:solidFill>
          <a:ln w="12700" algn="ctr">
            <a:solidFill>
              <a:schemeClr val="tx2"/>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ja-JP" altLang="en-US" sz="1200" b="1" dirty="0">
                <a:solidFill>
                  <a:schemeClr val="bg1"/>
                </a:solidFill>
                <a:latin typeface="+mn-ea"/>
                <a:ea typeface="+mn-ea"/>
                <a:cs typeface="+mn-cs"/>
              </a:rPr>
              <a:t>取り纏め</a:t>
            </a:r>
            <a:endParaRPr kumimoji="1" lang="ja-JP" altLang="en-US" sz="1200" b="1" i="0" u="none" strike="noStrike" kern="1200" cap="none" spc="0" normalizeH="0" baseline="0" noProof="0" dirty="0">
              <a:ln>
                <a:noFill/>
              </a:ln>
              <a:solidFill>
                <a:schemeClr val="bg1"/>
              </a:solidFill>
              <a:effectLst/>
              <a:uLnTx/>
              <a:uFillTx/>
              <a:latin typeface="+mn-ea"/>
              <a:ea typeface="+mn-ea"/>
              <a:cs typeface="+mn-cs"/>
            </a:endParaRPr>
          </a:p>
        </p:txBody>
      </p:sp>
      <p:sp>
        <p:nvSpPr>
          <p:cNvPr id="37" name="正方形/長方形 36">
            <a:extLst>
              <a:ext uri="{FF2B5EF4-FFF2-40B4-BE49-F238E27FC236}">
                <a16:creationId xmlns:a16="http://schemas.microsoft.com/office/drawing/2014/main" id="{DC373590-FC24-78F4-85FA-62BB8D2A6088}"/>
              </a:ext>
            </a:extLst>
          </p:cNvPr>
          <p:cNvSpPr/>
          <p:nvPr/>
        </p:nvSpPr>
        <p:spPr bwMode="gray">
          <a:xfrm>
            <a:off x="6686078" y="2939968"/>
            <a:ext cx="2622322" cy="1722644"/>
          </a:xfrm>
          <a:prstGeom prst="rect">
            <a:avLst/>
          </a:prstGeom>
          <a:solidFill>
            <a:schemeClr val="bg1"/>
          </a:solidFill>
          <a:ln w="12700" algn="ctr">
            <a:solidFill>
              <a:schemeClr val="bg1">
                <a:lumMod val="50000"/>
              </a:schemeClr>
            </a:solidFill>
            <a:miter lim="800000"/>
            <a:headEnd/>
            <a:tailEnd/>
          </a:ln>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79388" marR="0" indent="-179388" defTabSz="990564" rtl="0" eaLnBrk="1" fontAlgn="auto" latinLnBrk="0" hangingPunct="1">
              <a:lnSpc>
                <a:spcPct val="100000"/>
              </a:lnSpc>
              <a:spcBef>
                <a:spcPts val="0"/>
              </a:spcBef>
              <a:spcAft>
                <a:spcPts val="0"/>
              </a:spcAft>
              <a:buClrTx/>
              <a:buSzPct val="100000"/>
              <a:buFont typeface="Arial" panose="020B0604020202020204" pitchFamily="34" charset="0"/>
              <a:buChar char="•"/>
              <a:tabLst/>
            </a:pPr>
            <a:r>
              <a:rPr lang="ja-JP" altLang="en-US" sz="1200" dirty="0">
                <a:solidFill>
                  <a:prstClr val="black"/>
                </a:solidFill>
                <a:latin typeface="+mn-ea"/>
                <a:ea typeface="+mn-ea"/>
              </a:rPr>
              <a:t>各フレームワークの位置づけ整理</a:t>
            </a:r>
            <a:endParaRPr lang="en-US" altLang="ja-JP" sz="1200" dirty="0">
              <a:solidFill>
                <a:prstClr val="black"/>
              </a:solidFill>
              <a:latin typeface="+mn-ea"/>
              <a:ea typeface="+mn-ea"/>
            </a:endParaRPr>
          </a:p>
          <a:p>
            <a:pPr marL="179388" marR="0" indent="-179388" defTabSz="990564" rtl="0" eaLnBrk="1" fontAlgn="auto" latinLnBrk="0" hangingPunct="1">
              <a:lnSpc>
                <a:spcPct val="100000"/>
              </a:lnSpc>
              <a:spcBef>
                <a:spcPts val="0"/>
              </a:spcBef>
              <a:spcAft>
                <a:spcPts val="0"/>
              </a:spcAft>
              <a:buClrTx/>
              <a:buSzPct val="100000"/>
              <a:buFont typeface="Arial" panose="020B0604020202020204" pitchFamily="34" charset="0"/>
              <a:buChar char="•"/>
              <a:tabLst/>
            </a:pPr>
            <a:r>
              <a:rPr kumimoji="1" lang="ja-JP" altLang="en-US" sz="1200" dirty="0">
                <a:solidFill>
                  <a:prstClr val="black"/>
                </a:solidFill>
                <a:latin typeface="+mn-ea"/>
                <a:ea typeface="+mn-ea"/>
                <a:cs typeface="+mn-cs"/>
              </a:rPr>
              <a:t>日本でトラストフレームワーク策定を実施するにあたっての示唆</a:t>
            </a:r>
            <a:endParaRPr kumimoji="1" lang="en-US" altLang="ja-JP" sz="1200" dirty="0">
              <a:solidFill>
                <a:prstClr val="black"/>
              </a:solidFill>
              <a:latin typeface="+mn-ea"/>
              <a:ea typeface="+mn-ea"/>
              <a:cs typeface="+mn-cs"/>
            </a:endParaRPr>
          </a:p>
        </p:txBody>
      </p:sp>
      <p:sp>
        <p:nvSpPr>
          <p:cNvPr id="38" name="正方形/長方形 37">
            <a:extLst>
              <a:ext uri="{FF2B5EF4-FFF2-40B4-BE49-F238E27FC236}">
                <a16:creationId xmlns:a16="http://schemas.microsoft.com/office/drawing/2014/main" id="{62A9D27F-EE8A-9161-6F8C-84B84CF1B34B}"/>
              </a:ext>
            </a:extLst>
          </p:cNvPr>
          <p:cNvSpPr/>
          <p:nvPr/>
        </p:nvSpPr>
        <p:spPr bwMode="gray">
          <a:xfrm>
            <a:off x="6686078" y="2657542"/>
            <a:ext cx="2622322" cy="282521"/>
          </a:xfrm>
          <a:prstGeom prst="rect">
            <a:avLst/>
          </a:prstGeom>
          <a:solidFill>
            <a:schemeClr val="bg1">
              <a:lumMod val="95000"/>
            </a:schemeClr>
          </a:solidFill>
          <a:ln w="12700" algn="ctr">
            <a:solidFill>
              <a:schemeClr val="bg1">
                <a:lumMod val="50000"/>
              </a:schemeClr>
            </a:solid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en-US" altLang="zh-TW" sz="1200" b="0" i="0" u="none" strike="noStrike" kern="1200" cap="none" spc="0" normalizeH="0" baseline="0" noProof="0" dirty="0">
                <a:ln>
                  <a:noFill/>
                </a:ln>
                <a:effectLst/>
                <a:uLnTx/>
                <a:uFillTx/>
                <a:latin typeface="+mn-ea"/>
                <a:ea typeface="+mn-ea"/>
                <a:cs typeface="+mn-cs"/>
              </a:rPr>
              <a:t>Step. </a:t>
            </a:r>
            <a:r>
              <a:rPr kumimoji="1" lang="en-US" altLang="ja-JP" sz="1200" b="0" i="0" u="none" strike="noStrike" kern="1200" cap="none" spc="0" normalizeH="0" baseline="0" noProof="0" dirty="0">
                <a:ln>
                  <a:noFill/>
                </a:ln>
                <a:effectLst/>
                <a:uLnTx/>
                <a:uFillTx/>
                <a:latin typeface="+mn-ea"/>
                <a:ea typeface="+mn-ea"/>
                <a:cs typeface="+mn-cs"/>
              </a:rPr>
              <a:t>3</a:t>
            </a:r>
            <a:r>
              <a:rPr kumimoji="1" lang="ja-JP" altLang="en-US" sz="1200" b="0" i="0" u="none" strike="noStrike" kern="1200" cap="none" spc="0" normalizeH="0" baseline="0" noProof="0" dirty="0">
                <a:ln>
                  <a:noFill/>
                </a:ln>
                <a:effectLst/>
                <a:uLnTx/>
                <a:uFillTx/>
                <a:latin typeface="+mn-ea"/>
                <a:ea typeface="+mn-ea"/>
                <a:cs typeface="+mn-cs"/>
              </a:rPr>
              <a:t>：</a:t>
            </a:r>
            <a:r>
              <a:rPr kumimoji="1" lang="ja-JP" altLang="en-US" sz="1200" dirty="0">
                <a:latin typeface="+mn-ea"/>
                <a:ea typeface="+mn-ea"/>
                <a:cs typeface="+mn-cs"/>
              </a:rPr>
              <a:t>調査結果まとめ</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39" name="矢印: 山形 38">
            <a:extLst>
              <a:ext uri="{FF2B5EF4-FFF2-40B4-BE49-F238E27FC236}">
                <a16:creationId xmlns:a16="http://schemas.microsoft.com/office/drawing/2014/main" id="{C32C1E84-2ADA-E431-B298-632DDC816BF4}"/>
              </a:ext>
            </a:extLst>
          </p:cNvPr>
          <p:cNvSpPr/>
          <p:nvPr/>
        </p:nvSpPr>
        <p:spPr bwMode="gray">
          <a:xfrm>
            <a:off x="507600" y="2297142"/>
            <a:ext cx="5983512" cy="295501"/>
          </a:xfrm>
          <a:prstGeom prst="chevron">
            <a:avLst/>
          </a:prstGeom>
          <a:solidFill>
            <a:schemeClr val="tx2"/>
          </a:solidFill>
          <a:ln w="12700" algn="ctr">
            <a:solidFill>
              <a:schemeClr val="tx2"/>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ja-JP" altLang="en-US" sz="1200" b="1" i="0" u="none" strike="noStrike" kern="1200" cap="none" spc="0" normalizeH="0" baseline="0" noProof="0" dirty="0">
                <a:ln>
                  <a:noFill/>
                </a:ln>
                <a:solidFill>
                  <a:schemeClr val="bg1"/>
                </a:solidFill>
                <a:effectLst/>
                <a:uLnTx/>
                <a:uFillTx/>
                <a:latin typeface="+mn-lt"/>
                <a:ea typeface="+mn-ea"/>
                <a:cs typeface="+mn-cs"/>
              </a:rPr>
              <a:t>調査</a:t>
            </a:r>
          </a:p>
        </p:txBody>
      </p:sp>
      <p:sp>
        <p:nvSpPr>
          <p:cNvPr id="41" name="正方形/長方形 40">
            <a:extLst>
              <a:ext uri="{FF2B5EF4-FFF2-40B4-BE49-F238E27FC236}">
                <a16:creationId xmlns:a16="http://schemas.microsoft.com/office/drawing/2014/main" id="{8A632C00-C40B-F6DD-801A-37D2DCE28DC3}"/>
              </a:ext>
            </a:extLst>
          </p:cNvPr>
          <p:cNvSpPr/>
          <p:nvPr/>
        </p:nvSpPr>
        <p:spPr bwMode="gray">
          <a:xfrm>
            <a:off x="3676585" y="2939966"/>
            <a:ext cx="2622322" cy="1722645"/>
          </a:xfrm>
          <a:prstGeom prst="rect">
            <a:avLst/>
          </a:prstGeom>
          <a:solidFill>
            <a:schemeClr val="bg1"/>
          </a:solidFill>
          <a:ln w="12700" algn="ctr">
            <a:solidFill>
              <a:schemeClr val="bg1">
                <a:lumMod val="50000"/>
              </a:schemeClr>
            </a:solidFill>
            <a:miter lim="800000"/>
            <a:headEnd/>
            <a:tailEnd/>
          </a:ln>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79388" marR="0" indent="-179388" defTabSz="990564" rtl="0" eaLnBrk="1" fontAlgn="auto" latinLnBrk="0" hangingPunct="1">
              <a:lnSpc>
                <a:spcPct val="100000"/>
              </a:lnSpc>
              <a:spcBef>
                <a:spcPts val="0"/>
              </a:spcBef>
              <a:spcAft>
                <a:spcPts val="0"/>
              </a:spcAft>
              <a:buClrTx/>
              <a:buSzPct val="100000"/>
              <a:buFont typeface="Arial" panose="020B0604020202020204" pitchFamily="34" charset="0"/>
              <a:buChar char="•"/>
              <a:tabLst/>
            </a:pPr>
            <a:r>
              <a:rPr lang="ja-JP" altLang="en-US" sz="1200" dirty="0">
                <a:solidFill>
                  <a:prstClr val="black"/>
                </a:solidFill>
                <a:latin typeface="+mn-ea"/>
                <a:ea typeface="+mn-ea"/>
              </a:rPr>
              <a:t>左記のうちヒアリング調整が可能だった</a:t>
            </a:r>
            <a:r>
              <a:rPr lang="en-US" altLang="ja-JP" sz="1200" dirty="0">
                <a:solidFill>
                  <a:prstClr val="black"/>
                </a:solidFill>
                <a:latin typeface="+mn-ea"/>
                <a:ea typeface="+mn-ea"/>
              </a:rPr>
              <a:t>5</a:t>
            </a:r>
            <a:r>
              <a:rPr lang="ja-JP" altLang="en-US" sz="1200" dirty="0">
                <a:solidFill>
                  <a:prstClr val="black"/>
                </a:solidFill>
                <a:latin typeface="+mn-ea"/>
                <a:ea typeface="+mn-ea"/>
              </a:rPr>
              <a:t>か国について以下観点で実施</a:t>
            </a:r>
            <a:endParaRPr lang="en-US" altLang="ja-JP" sz="1200" dirty="0">
              <a:solidFill>
                <a:prstClr val="black"/>
              </a:solidFill>
              <a:latin typeface="+mn-ea"/>
              <a:ea typeface="+mn-ea"/>
            </a:endParaRPr>
          </a:p>
          <a:p>
            <a:pPr marL="357188" lvl="1" indent="-179388" defTabSz="990564" eaLnBrk="1" fontAlgn="auto" hangingPunct="1">
              <a:spcBef>
                <a:spcPts val="0"/>
              </a:spcBef>
              <a:spcAft>
                <a:spcPts val="0"/>
              </a:spcAft>
              <a:buSzPct val="100000"/>
              <a:buFont typeface="Wingdings" panose="05000000000000000000" pitchFamily="2" charset="2"/>
              <a:buChar char="Ø"/>
            </a:pPr>
            <a:r>
              <a:rPr lang="ja-JP" altLang="en-US" sz="1200" dirty="0">
                <a:solidFill>
                  <a:prstClr val="black"/>
                </a:solidFill>
                <a:latin typeface="+mn-ea"/>
                <a:ea typeface="+mn-ea"/>
              </a:rPr>
              <a:t>フレームワーク認定を受けることのインセンティブ</a:t>
            </a:r>
            <a:endParaRPr lang="en-US" altLang="ja-JP" sz="1200" dirty="0">
              <a:solidFill>
                <a:prstClr val="black"/>
              </a:solidFill>
              <a:latin typeface="+mn-ea"/>
              <a:ea typeface="+mn-ea"/>
            </a:endParaRPr>
          </a:p>
          <a:p>
            <a:pPr marL="357188" lvl="1" indent="-179388" defTabSz="990564" eaLnBrk="1" fontAlgn="auto" hangingPunct="1">
              <a:spcBef>
                <a:spcPts val="0"/>
              </a:spcBef>
              <a:spcAft>
                <a:spcPts val="0"/>
              </a:spcAft>
              <a:buSzPct val="100000"/>
              <a:buFont typeface="Wingdings" panose="05000000000000000000" pitchFamily="2" charset="2"/>
              <a:buChar char="Ø"/>
            </a:pPr>
            <a:r>
              <a:rPr lang="ja-JP" altLang="en-US" sz="1200" dirty="0">
                <a:solidFill>
                  <a:prstClr val="black"/>
                </a:solidFill>
                <a:latin typeface="+mn-ea"/>
                <a:ea typeface="+mn-ea"/>
              </a:rPr>
              <a:t>フレームワーク策定団体への関与のインセンティブ</a:t>
            </a:r>
            <a:endParaRPr lang="en-US" altLang="ja-JP" sz="1200" dirty="0">
              <a:solidFill>
                <a:prstClr val="black"/>
              </a:solidFill>
              <a:latin typeface="+mn-ea"/>
              <a:ea typeface="+mn-ea"/>
            </a:endParaRPr>
          </a:p>
          <a:p>
            <a:pPr marL="357188" lvl="1" indent="-179388" defTabSz="990564" eaLnBrk="1" fontAlgn="auto" hangingPunct="1">
              <a:spcBef>
                <a:spcPts val="0"/>
              </a:spcBef>
              <a:spcAft>
                <a:spcPts val="0"/>
              </a:spcAft>
              <a:buSzPct val="100000"/>
              <a:buFont typeface="Wingdings" panose="05000000000000000000" pitchFamily="2" charset="2"/>
              <a:buChar char="Ø"/>
            </a:pPr>
            <a:r>
              <a:rPr lang="ja-JP" altLang="en-US" sz="1200" dirty="0">
                <a:solidFill>
                  <a:prstClr val="black"/>
                </a:solidFill>
                <a:latin typeface="+mn-ea"/>
                <a:ea typeface="+mn-ea"/>
              </a:rPr>
              <a:t>フレームワーク策定・運用における課題・留意点等</a:t>
            </a:r>
            <a:endParaRPr lang="en-US" altLang="ja-JP" sz="1200" dirty="0">
              <a:solidFill>
                <a:prstClr val="black"/>
              </a:solidFill>
              <a:latin typeface="+mn-ea"/>
              <a:ea typeface="+mn-ea"/>
            </a:endParaRPr>
          </a:p>
        </p:txBody>
      </p:sp>
      <p:sp>
        <p:nvSpPr>
          <p:cNvPr id="42" name="正方形/長方形 41">
            <a:extLst>
              <a:ext uri="{FF2B5EF4-FFF2-40B4-BE49-F238E27FC236}">
                <a16:creationId xmlns:a16="http://schemas.microsoft.com/office/drawing/2014/main" id="{48D6D95B-83AD-4C79-848C-248203E1AFE6}"/>
              </a:ext>
            </a:extLst>
          </p:cNvPr>
          <p:cNvSpPr/>
          <p:nvPr/>
        </p:nvSpPr>
        <p:spPr bwMode="gray">
          <a:xfrm>
            <a:off x="3676585" y="2657542"/>
            <a:ext cx="2622322" cy="282521"/>
          </a:xfrm>
          <a:prstGeom prst="rect">
            <a:avLst/>
          </a:prstGeom>
          <a:solidFill>
            <a:schemeClr val="bg1">
              <a:lumMod val="95000"/>
            </a:schemeClr>
          </a:solidFill>
          <a:ln w="12700" algn="ctr">
            <a:solidFill>
              <a:schemeClr val="bg1">
                <a:lumMod val="50000"/>
              </a:schemeClr>
            </a:solid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defTabSz="990564" fontAlgn="auto">
              <a:spcBef>
                <a:spcPts val="0"/>
              </a:spcBef>
              <a:spcAft>
                <a:spcPts val="0"/>
              </a:spcAft>
              <a:buSzPct val="100000"/>
            </a:pPr>
            <a:r>
              <a:rPr kumimoji="1" lang="en-US" altLang="zh-TW" sz="1200" dirty="0">
                <a:latin typeface="+mn-ea"/>
                <a:ea typeface="+mn-ea"/>
                <a:cs typeface="+mn-cs"/>
              </a:rPr>
              <a:t>Step. </a:t>
            </a:r>
            <a:r>
              <a:rPr kumimoji="1" lang="en-US" altLang="ja-JP" sz="1200" dirty="0">
                <a:latin typeface="+mn-ea"/>
                <a:ea typeface="+mn-ea"/>
                <a:cs typeface="+mn-cs"/>
              </a:rPr>
              <a:t>2</a:t>
            </a:r>
            <a:r>
              <a:rPr kumimoji="1" lang="ja-JP" altLang="en-US" sz="1200" dirty="0">
                <a:latin typeface="+mn-ea"/>
                <a:ea typeface="+mn-ea"/>
                <a:cs typeface="+mn-cs"/>
              </a:rPr>
              <a:t>：ヒアリング調査</a:t>
            </a:r>
            <a:endParaRPr kumimoji="1" lang="zh-TW" altLang="en-US" sz="1200" dirty="0">
              <a:latin typeface="+mn-ea"/>
              <a:ea typeface="+mn-ea"/>
              <a:cs typeface="+mn-cs"/>
            </a:endParaRPr>
          </a:p>
        </p:txBody>
      </p:sp>
      <p:sp>
        <p:nvSpPr>
          <p:cNvPr id="43" name="正方形/長方形 42">
            <a:extLst>
              <a:ext uri="{FF2B5EF4-FFF2-40B4-BE49-F238E27FC236}">
                <a16:creationId xmlns:a16="http://schemas.microsoft.com/office/drawing/2014/main" id="{775B16B7-4FEF-54DE-B266-8BE8DFF92D45}"/>
              </a:ext>
            </a:extLst>
          </p:cNvPr>
          <p:cNvSpPr/>
          <p:nvPr/>
        </p:nvSpPr>
        <p:spPr bwMode="gray">
          <a:xfrm>
            <a:off x="695921" y="2657445"/>
            <a:ext cx="2622322" cy="282521"/>
          </a:xfrm>
          <a:prstGeom prst="rect">
            <a:avLst/>
          </a:prstGeom>
          <a:solidFill>
            <a:schemeClr val="bg1">
              <a:lumMod val="95000"/>
            </a:schemeClr>
          </a:solidFill>
          <a:ln w="12700" algn="ctr">
            <a:solidFill>
              <a:schemeClr val="bg1">
                <a:lumMod val="50000"/>
              </a:schemeClr>
            </a:solidFill>
            <a:miter lim="800000"/>
            <a:headEnd/>
            <a:tailEnd/>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defTabSz="990564" fontAlgn="auto">
              <a:spcBef>
                <a:spcPts val="0"/>
              </a:spcBef>
              <a:spcAft>
                <a:spcPts val="0"/>
              </a:spcAft>
              <a:buSzPct val="100000"/>
            </a:pPr>
            <a:r>
              <a:rPr kumimoji="1" lang="en-US" altLang="ja-JP" sz="1200" dirty="0">
                <a:latin typeface="+mn-ea"/>
                <a:ea typeface="+mn-ea"/>
                <a:cs typeface="+mn-cs"/>
              </a:rPr>
              <a:t>Step. 1</a:t>
            </a:r>
            <a:r>
              <a:rPr kumimoji="1" lang="ja-JP" altLang="en-US" sz="1200" dirty="0">
                <a:latin typeface="+mn-ea"/>
                <a:ea typeface="+mn-ea"/>
                <a:cs typeface="+mn-cs"/>
              </a:rPr>
              <a:t>：デスクトップを基にした調査</a:t>
            </a:r>
          </a:p>
        </p:txBody>
      </p:sp>
      <p:sp>
        <p:nvSpPr>
          <p:cNvPr id="47" name="正方形/長方形 46">
            <a:extLst>
              <a:ext uri="{FF2B5EF4-FFF2-40B4-BE49-F238E27FC236}">
                <a16:creationId xmlns:a16="http://schemas.microsoft.com/office/drawing/2014/main" id="{450ADEA2-6D1C-6625-0525-4A98B7EA70AC}"/>
              </a:ext>
            </a:extLst>
          </p:cNvPr>
          <p:cNvSpPr/>
          <p:nvPr/>
        </p:nvSpPr>
        <p:spPr bwMode="gray">
          <a:xfrm>
            <a:off x="695921" y="2939966"/>
            <a:ext cx="2622322" cy="1722645"/>
          </a:xfrm>
          <a:prstGeom prst="rect">
            <a:avLst/>
          </a:prstGeom>
          <a:solidFill>
            <a:schemeClr val="bg1"/>
          </a:solidFill>
          <a:ln w="12700" algn="ctr">
            <a:solidFill>
              <a:schemeClr val="bg1">
                <a:lumMod val="50000"/>
              </a:schemeClr>
            </a:solidFill>
            <a:miter lim="800000"/>
            <a:headEnd/>
            <a:tailEnd/>
          </a:ln>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79388" marR="0" indent="-179388" defTabSz="990564" rtl="0" eaLnBrk="1" fontAlgn="auto" latinLnBrk="0" hangingPunct="1">
              <a:lnSpc>
                <a:spcPct val="100000"/>
              </a:lnSpc>
              <a:spcBef>
                <a:spcPts val="0"/>
              </a:spcBef>
              <a:spcAft>
                <a:spcPts val="0"/>
              </a:spcAft>
              <a:buClrTx/>
              <a:buSzPct val="100000"/>
              <a:buFont typeface="Arial" panose="020B0604020202020204" pitchFamily="34" charset="0"/>
              <a:buChar char="•"/>
              <a:tabLst/>
            </a:pPr>
            <a:r>
              <a:rPr lang="en-US" altLang="ja-JP" sz="1200" dirty="0">
                <a:solidFill>
                  <a:prstClr val="black"/>
                </a:solidFill>
                <a:latin typeface="+mn-ea"/>
                <a:ea typeface="+mn-ea"/>
              </a:rPr>
              <a:t>6</a:t>
            </a:r>
            <a:r>
              <a:rPr lang="ja-JP" altLang="en-US" sz="1200" dirty="0">
                <a:solidFill>
                  <a:prstClr val="black"/>
                </a:solidFill>
                <a:latin typeface="+mn-ea"/>
                <a:ea typeface="+mn-ea"/>
              </a:rPr>
              <a:t>か国のフレームワーク位置づけについて以下観点で調査</a:t>
            </a:r>
            <a:endParaRPr kumimoji="1" lang="en-US" altLang="ja-JP" sz="1200" dirty="0">
              <a:solidFill>
                <a:prstClr val="black"/>
              </a:solidFill>
              <a:latin typeface="+mn-ea"/>
              <a:ea typeface="+mn-ea"/>
              <a:cs typeface="+mn-cs"/>
            </a:endParaRPr>
          </a:p>
          <a:p>
            <a:pPr marL="447675" lvl="2" indent="-171450" defTabSz="990564" fontAlgn="auto">
              <a:spcBef>
                <a:spcPts val="0"/>
              </a:spcBef>
              <a:spcAft>
                <a:spcPts val="0"/>
              </a:spcAft>
              <a:buSzPct val="100000"/>
              <a:buFont typeface="Wingdings" panose="05000000000000000000" pitchFamily="2" charset="2"/>
              <a:buChar char="ü"/>
            </a:pPr>
            <a:r>
              <a:rPr kumimoji="1" lang="ja-JP" altLang="en-US" sz="1200" dirty="0">
                <a:solidFill>
                  <a:prstClr val="black"/>
                </a:solidFill>
                <a:latin typeface="+mn-ea"/>
                <a:ea typeface="+mn-ea"/>
                <a:cs typeface="+mn-cs"/>
              </a:rPr>
              <a:t>フレームワークの上位規制の有無</a:t>
            </a:r>
            <a:endParaRPr kumimoji="1" lang="en-US" altLang="ja-JP" sz="1200" dirty="0">
              <a:solidFill>
                <a:prstClr val="black"/>
              </a:solidFill>
              <a:latin typeface="+mn-ea"/>
              <a:ea typeface="+mn-ea"/>
              <a:cs typeface="+mn-cs"/>
            </a:endParaRPr>
          </a:p>
          <a:p>
            <a:pPr marL="447675" lvl="2" indent="-171450" defTabSz="990564" fontAlgn="auto">
              <a:spcBef>
                <a:spcPts val="0"/>
              </a:spcBef>
              <a:spcAft>
                <a:spcPts val="0"/>
              </a:spcAft>
              <a:buSzPct val="100000"/>
              <a:buFont typeface="Wingdings" panose="05000000000000000000" pitchFamily="2" charset="2"/>
              <a:buChar char="ü"/>
            </a:pPr>
            <a:r>
              <a:rPr lang="ja-JP" altLang="en-US" sz="1200" dirty="0">
                <a:solidFill>
                  <a:prstClr val="black"/>
                </a:solidFill>
                <a:latin typeface="+mn-ea"/>
                <a:ea typeface="+mn-ea"/>
              </a:rPr>
              <a:t>フレームワーク策定主体</a:t>
            </a:r>
            <a:endParaRPr lang="en-US" altLang="ja-JP" sz="1200" dirty="0">
              <a:solidFill>
                <a:prstClr val="black"/>
              </a:solidFill>
              <a:latin typeface="+mn-ea"/>
              <a:ea typeface="+mn-ea"/>
            </a:endParaRPr>
          </a:p>
          <a:p>
            <a:pPr marL="447675" lvl="2" indent="-171450" defTabSz="990564" fontAlgn="auto">
              <a:spcBef>
                <a:spcPts val="0"/>
              </a:spcBef>
              <a:spcAft>
                <a:spcPts val="0"/>
              </a:spcAft>
              <a:buSzPct val="100000"/>
              <a:buFont typeface="Wingdings" panose="05000000000000000000" pitchFamily="2" charset="2"/>
              <a:buChar char="ü"/>
            </a:pPr>
            <a:r>
              <a:rPr kumimoji="1" lang="ja-JP" altLang="en-US" sz="1200" dirty="0">
                <a:solidFill>
                  <a:prstClr val="black"/>
                </a:solidFill>
                <a:latin typeface="+mn-ea"/>
                <a:ea typeface="+mn-ea"/>
                <a:cs typeface="+mn-cs"/>
              </a:rPr>
              <a:t>フレームワーク認定主体</a:t>
            </a:r>
            <a:endParaRPr kumimoji="1" lang="en-US" altLang="ja-JP" sz="1200" dirty="0">
              <a:solidFill>
                <a:prstClr val="black"/>
              </a:solidFill>
              <a:latin typeface="+mn-ea"/>
              <a:ea typeface="+mn-ea"/>
              <a:cs typeface="+mn-cs"/>
            </a:endParaRPr>
          </a:p>
          <a:p>
            <a:pPr marL="447675" lvl="2" indent="-171450" defTabSz="990564" fontAlgn="auto">
              <a:spcBef>
                <a:spcPts val="0"/>
              </a:spcBef>
              <a:spcAft>
                <a:spcPts val="0"/>
              </a:spcAft>
              <a:buSzPct val="100000"/>
              <a:buFont typeface="Wingdings" panose="05000000000000000000" pitchFamily="2" charset="2"/>
              <a:buChar char="ü"/>
            </a:pPr>
            <a:r>
              <a:rPr kumimoji="1" lang="ja-JP" altLang="en-US" sz="1200" dirty="0">
                <a:solidFill>
                  <a:prstClr val="black"/>
                </a:solidFill>
                <a:latin typeface="+mn-ea"/>
                <a:ea typeface="+mn-ea"/>
                <a:cs typeface="+mn-cs"/>
              </a:rPr>
              <a:t>その他フレームワーク策定・運営等の支援を行う主体とフレームワークの関係性</a:t>
            </a:r>
            <a:endParaRPr kumimoji="1" lang="en-US" altLang="ja-JP" sz="1200" dirty="0">
              <a:solidFill>
                <a:prstClr val="black"/>
              </a:solidFill>
              <a:latin typeface="+mn-ea"/>
              <a:ea typeface="+mn-ea"/>
              <a:cs typeface="+mn-cs"/>
            </a:endParaRPr>
          </a:p>
        </p:txBody>
      </p:sp>
      <p:sp>
        <p:nvSpPr>
          <p:cNvPr id="48" name="コンテンツ プレースホルダー 2">
            <a:extLst>
              <a:ext uri="{FF2B5EF4-FFF2-40B4-BE49-F238E27FC236}">
                <a16:creationId xmlns:a16="http://schemas.microsoft.com/office/drawing/2014/main" id="{AE9D8135-4D4C-D651-EBBB-33B50488C3A1}"/>
              </a:ext>
            </a:extLst>
          </p:cNvPr>
          <p:cNvSpPr txBox="1">
            <a:spLocks/>
          </p:cNvSpPr>
          <p:nvPr/>
        </p:nvSpPr>
        <p:spPr>
          <a:xfrm>
            <a:off x="273050" y="908050"/>
            <a:ext cx="9359900" cy="307776"/>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トラストフレームワークの策定・運用プロセスと、策定団体の概要について調査を行い、各フレームワークの位置づけや成り立ちが異なることも加味したうえで日本でトラストフレームワークを策定と、その策定・運用を実施する組織の設立・運営において留意すべき事項を取りまとめる</a:t>
            </a:r>
            <a:endParaRPr lang="en-US" altLang="ja-JP" dirty="0"/>
          </a:p>
          <a:p>
            <a:r>
              <a:rPr lang="ja-JP" altLang="en-US" dirty="0"/>
              <a:t>なお、トラストフレームワークや組織概要は</a:t>
            </a:r>
            <a:r>
              <a:rPr lang="en-US" altLang="ja-JP" dirty="0"/>
              <a:t>2022</a:t>
            </a:r>
            <a:r>
              <a:rPr lang="ja-JP" altLang="en-US" dirty="0"/>
              <a:t>年調査事業*を参照とする</a:t>
            </a:r>
          </a:p>
        </p:txBody>
      </p:sp>
      <p:sp>
        <p:nvSpPr>
          <p:cNvPr id="4" name="テキスト ボックス 3">
            <a:extLst>
              <a:ext uri="{FF2B5EF4-FFF2-40B4-BE49-F238E27FC236}">
                <a16:creationId xmlns:a16="http://schemas.microsoft.com/office/drawing/2014/main" id="{9A58D1EA-215C-178B-D900-7BF0E4DFC855}"/>
              </a:ext>
            </a:extLst>
          </p:cNvPr>
          <p:cNvSpPr txBox="1"/>
          <p:nvPr/>
        </p:nvSpPr>
        <p:spPr>
          <a:xfrm>
            <a:off x="273050" y="6211060"/>
            <a:ext cx="9274285" cy="369332"/>
          </a:xfrm>
          <a:prstGeom prst="rect">
            <a:avLst/>
          </a:prstGeom>
          <a:noFill/>
        </p:spPr>
        <p:txBody>
          <a:bodyPr wrap="square">
            <a:spAutoFit/>
          </a:bodyPr>
          <a:lstStyle/>
          <a:p>
            <a:r>
              <a:rPr lang="ja-JP" altLang="en-US" sz="900" dirty="0">
                <a:latin typeface="+mn-ea"/>
                <a:ea typeface="+mn-ea"/>
              </a:rPr>
              <a:t>*令和４年度デジタル取引環境整備事業（「</a:t>
            </a:r>
            <a:r>
              <a:rPr lang="en-US" altLang="ja-JP" sz="900" dirty="0">
                <a:latin typeface="+mn-ea"/>
                <a:ea typeface="+mn-ea"/>
              </a:rPr>
              <a:t>Trusted Web</a:t>
            </a:r>
            <a:r>
              <a:rPr lang="ja-JP" altLang="en-US" sz="900" dirty="0">
                <a:latin typeface="+mn-ea"/>
                <a:ea typeface="+mn-ea"/>
              </a:rPr>
              <a:t>」の実現に向けた技術動向調査）海外動向調査</a:t>
            </a:r>
            <a:endParaRPr lang="en-US" altLang="ja-JP" sz="900" dirty="0">
              <a:latin typeface="+mn-ea"/>
              <a:ea typeface="+mn-ea"/>
            </a:endParaRPr>
          </a:p>
          <a:p>
            <a:r>
              <a:rPr lang="en-US" altLang="ja-JP" sz="900" dirty="0">
                <a:latin typeface="+mn-ea"/>
                <a:ea typeface="+mn-ea"/>
                <a:hlinkClick r:id="rId2"/>
              </a:rPr>
              <a:t>https://www.kantei.go.jp/jp/singi/digitalmarket/trusted_web/2022seika/files/001_report_international.pdf</a:t>
            </a:r>
            <a:endParaRPr lang="ja-JP" altLang="en-US" sz="900" dirty="0">
              <a:latin typeface="+mn-ea"/>
              <a:ea typeface="+mn-ea"/>
            </a:endParaRPr>
          </a:p>
        </p:txBody>
      </p:sp>
    </p:spTree>
    <p:extLst>
      <p:ext uri="{BB962C8B-B14F-4D97-AF65-F5344CB8AC3E}">
        <p14:creationId xmlns:p14="http://schemas.microsoft.com/office/powerpoint/2010/main" val="1563441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A56655-DD4B-84BD-578A-15806E16950E}"/>
              </a:ext>
            </a:extLst>
          </p:cNvPr>
          <p:cNvSpPr>
            <a:spLocks noGrp="1"/>
          </p:cNvSpPr>
          <p:nvPr>
            <p:ph type="title"/>
          </p:nvPr>
        </p:nvSpPr>
        <p:spPr/>
        <p:txBody>
          <a:bodyPr/>
          <a:lstStyle/>
          <a:p>
            <a:r>
              <a:rPr kumimoji="1" lang="en-US" altLang="ja-JP" dirty="0"/>
              <a:t>2.2.</a:t>
            </a:r>
            <a:r>
              <a:rPr kumimoji="1" lang="ja-JP" altLang="en-US" dirty="0"/>
              <a:t> 調査対象</a:t>
            </a:r>
          </a:p>
        </p:txBody>
      </p:sp>
      <p:sp>
        <p:nvSpPr>
          <p:cNvPr id="3" name="テキスト プレースホルダー 2">
            <a:extLst>
              <a:ext uri="{FF2B5EF4-FFF2-40B4-BE49-F238E27FC236}">
                <a16:creationId xmlns:a16="http://schemas.microsoft.com/office/drawing/2014/main" id="{207E67DD-1E4D-ACAE-3F9B-1145C6038C8E}"/>
              </a:ext>
            </a:extLst>
          </p:cNvPr>
          <p:cNvSpPr>
            <a:spLocks noGrp="1"/>
          </p:cNvSpPr>
          <p:nvPr>
            <p:ph type="body" sz="quarter" idx="10"/>
          </p:nvPr>
        </p:nvSpPr>
        <p:spPr>
          <a:xfrm>
            <a:off x="273050" y="188913"/>
            <a:ext cx="7848600" cy="161583"/>
          </a:xfrm>
        </p:spPr>
        <p:txBody>
          <a:bodyPr/>
          <a:lstStyle/>
          <a:p>
            <a:r>
              <a:rPr lang="en-US" altLang="ja-JP" sz="1050" dirty="0"/>
              <a:t>2</a:t>
            </a:r>
            <a:r>
              <a:rPr lang="en-US" altLang="ja-JP" dirty="0"/>
              <a:t>.</a:t>
            </a:r>
            <a:r>
              <a:rPr lang="ja-JP" altLang="en-US" dirty="0"/>
              <a:t> </a:t>
            </a:r>
            <a:r>
              <a:rPr lang="ja-JP" altLang="en-US" sz="1050" dirty="0"/>
              <a:t>実施アプローチ</a:t>
            </a:r>
            <a:endParaRPr kumimoji="1" lang="ja-JP" altLang="en-US" dirty="0"/>
          </a:p>
        </p:txBody>
      </p:sp>
      <p:graphicFrame>
        <p:nvGraphicFramePr>
          <p:cNvPr id="4" name="表 3">
            <a:extLst>
              <a:ext uri="{FF2B5EF4-FFF2-40B4-BE49-F238E27FC236}">
                <a16:creationId xmlns:a16="http://schemas.microsoft.com/office/drawing/2014/main" id="{44AA3876-6A1C-63EA-DD2B-C8C910F76908}"/>
              </a:ext>
            </a:extLst>
          </p:cNvPr>
          <p:cNvGraphicFramePr>
            <a:graphicFrameLocks noGrp="1"/>
          </p:cNvGraphicFramePr>
          <p:nvPr>
            <p:extLst>
              <p:ext uri="{D42A27DB-BD31-4B8C-83A1-F6EECF244321}">
                <p14:modId xmlns:p14="http://schemas.microsoft.com/office/powerpoint/2010/main" val="3612671837"/>
              </p:ext>
            </p:extLst>
          </p:nvPr>
        </p:nvGraphicFramePr>
        <p:xfrm>
          <a:off x="273050" y="1216524"/>
          <a:ext cx="9359899" cy="5030280"/>
        </p:xfrm>
        <a:graphic>
          <a:graphicData uri="http://schemas.openxmlformats.org/drawingml/2006/table">
            <a:tbl>
              <a:tblPr firstRow="1" bandRow="1">
                <a:tableStyleId>{5940675A-B579-460E-94D1-54222C63F5DA}</a:tableStyleId>
              </a:tblPr>
              <a:tblGrid>
                <a:gridCol w="296791">
                  <a:extLst>
                    <a:ext uri="{9D8B030D-6E8A-4147-A177-3AD203B41FA5}">
                      <a16:colId xmlns:a16="http://schemas.microsoft.com/office/drawing/2014/main" val="1409095430"/>
                    </a:ext>
                  </a:extLst>
                </a:gridCol>
                <a:gridCol w="847466">
                  <a:extLst>
                    <a:ext uri="{9D8B030D-6E8A-4147-A177-3AD203B41FA5}">
                      <a16:colId xmlns:a16="http://schemas.microsoft.com/office/drawing/2014/main" val="374578200"/>
                    </a:ext>
                  </a:extLst>
                </a:gridCol>
                <a:gridCol w="1772114">
                  <a:extLst>
                    <a:ext uri="{9D8B030D-6E8A-4147-A177-3AD203B41FA5}">
                      <a16:colId xmlns:a16="http://schemas.microsoft.com/office/drawing/2014/main" val="2455842054"/>
                    </a:ext>
                  </a:extLst>
                </a:gridCol>
                <a:gridCol w="1800365">
                  <a:extLst>
                    <a:ext uri="{9D8B030D-6E8A-4147-A177-3AD203B41FA5}">
                      <a16:colId xmlns:a16="http://schemas.microsoft.com/office/drawing/2014/main" val="340822468"/>
                    </a:ext>
                  </a:extLst>
                </a:gridCol>
                <a:gridCol w="2215055">
                  <a:extLst>
                    <a:ext uri="{9D8B030D-6E8A-4147-A177-3AD203B41FA5}">
                      <a16:colId xmlns:a16="http://schemas.microsoft.com/office/drawing/2014/main" val="1349574659"/>
                    </a:ext>
                  </a:extLst>
                </a:gridCol>
                <a:gridCol w="2428108">
                  <a:extLst>
                    <a:ext uri="{9D8B030D-6E8A-4147-A177-3AD203B41FA5}">
                      <a16:colId xmlns:a16="http://schemas.microsoft.com/office/drawing/2014/main" val="2657799985"/>
                    </a:ext>
                  </a:extLst>
                </a:gridCol>
              </a:tblGrid>
              <a:tr h="207921">
                <a:tc>
                  <a:txBody>
                    <a:bodyPr/>
                    <a:lstStyle/>
                    <a:p>
                      <a:r>
                        <a:rPr kumimoji="1" lang="en-US" altLang="ja-JP" sz="1100" dirty="0">
                          <a:solidFill>
                            <a:schemeClr val="bg1"/>
                          </a:solidFill>
                          <a:latin typeface="+mj-ea"/>
                          <a:ea typeface="+mj-ea"/>
                        </a:rPr>
                        <a:t>No.</a:t>
                      </a:r>
                      <a:endParaRPr kumimoji="1" lang="ja-JP" altLang="en-US" sz="1100" dirty="0">
                        <a:solidFill>
                          <a:schemeClr val="bg1"/>
                        </a:solidFill>
                        <a:latin typeface="+mj-ea"/>
                        <a:ea typeface="+mj-ea"/>
                      </a:endParaRPr>
                    </a:p>
                  </a:txBody>
                  <a:tcPr marL="36000" marR="36000" marT="36000" marB="36000">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r>
                        <a:rPr kumimoji="1" lang="ja-JP" altLang="en-US" sz="1100">
                          <a:solidFill>
                            <a:schemeClr val="bg1"/>
                          </a:solidFill>
                          <a:latin typeface="+mj-ea"/>
                          <a:ea typeface="+mj-ea"/>
                        </a:rPr>
                        <a:t>国</a:t>
                      </a:r>
                      <a:r>
                        <a:rPr kumimoji="1" lang="en-US" altLang="ja-JP" sz="1100">
                          <a:solidFill>
                            <a:schemeClr val="bg1"/>
                          </a:solidFill>
                          <a:latin typeface="+mj-ea"/>
                          <a:ea typeface="+mj-ea"/>
                        </a:rPr>
                        <a:t>/</a:t>
                      </a:r>
                      <a:r>
                        <a:rPr kumimoji="1" lang="ja-JP" altLang="en-US" sz="1100">
                          <a:solidFill>
                            <a:schemeClr val="bg1"/>
                          </a:solidFill>
                          <a:latin typeface="+mj-ea"/>
                          <a:ea typeface="+mj-ea"/>
                        </a:rPr>
                        <a:t>地域</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r>
                        <a:rPr kumimoji="1" lang="ja-JP" altLang="en-US" sz="1100" dirty="0">
                          <a:solidFill>
                            <a:schemeClr val="bg1"/>
                          </a:solidFill>
                          <a:latin typeface="+mj-ea"/>
                          <a:ea typeface="+mj-ea"/>
                        </a:rPr>
                        <a:t>フレームワーク</a:t>
                      </a:r>
                      <a:r>
                        <a:rPr kumimoji="1" lang="en-US" altLang="ja-JP" sz="1100" dirty="0">
                          <a:solidFill>
                            <a:schemeClr val="bg1"/>
                          </a:solidFill>
                          <a:latin typeface="+mj-ea"/>
                          <a:ea typeface="+mj-ea"/>
                        </a:rPr>
                        <a:t>/</a:t>
                      </a:r>
                      <a:r>
                        <a:rPr kumimoji="1" lang="ja-JP" altLang="en-US" sz="1100" dirty="0">
                          <a:solidFill>
                            <a:schemeClr val="bg1"/>
                          </a:solidFill>
                          <a:latin typeface="+mj-ea"/>
                          <a:ea typeface="+mj-ea"/>
                        </a:rPr>
                        <a:t>ガイドライン</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r>
                        <a:rPr kumimoji="1" lang="ja-JP" altLang="en-US" sz="1100">
                          <a:solidFill>
                            <a:schemeClr val="bg1"/>
                          </a:solidFill>
                          <a:latin typeface="+mj-ea"/>
                          <a:ea typeface="+mj-ea"/>
                        </a:rPr>
                        <a:t>関与団体</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r>
                        <a:rPr kumimoji="1" lang="ja-JP" altLang="en-US" sz="1100" dirty="0">
                          <a:solidFill>
                            <a:schemeClr val="bg1"/>
                          </a:solidFill>
                          <a:latin typeface="+mj-ea"/>
                          <a:ea typeface="+mj-ea"/>
                        </a:rPr>
                        <a:t>取組概要</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r>
                        <a:rPr kumimoji="1" lang="ja-JP" altLang="en-US" sz="1100" dirty="0">
                          <a:solidFill>
                            <a:schemeClr val="bg1"/>
                          </a:solidFill>
                          <a:latin typeface="+mj-ea"/>
                          <a:ea typeface="+mj-ea"/>
                        </a:rPr>
                        <a:t>フォーカスポイント</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217614649"/>
                  </a:ext>
                </a:extLst>
              </a:tr>
              <a:tr h="644274">
                <a:tc>
                  <a:txBody>
                    <a:bodyPr/>
                    <a:lstStyle/>
                    <a:p>
                      <a:r>
                        <a:rPr kumimoji="1" lang="en-US" altLang="ja-JP" sz="1100" dirty="0">
                          <a:latin typeface="+mj-ea"/>
                          <a:ea typeface="+mj-ea"/>
                        </a:rPr>
                        <a:t>1</a:t>
                      </a:r>
                      <a:endParaRPr kumimoji="1" lang="ja-JP" altLang="en-US" sz="1100" dirty="0">
                        <a:latin typeface="+mj-ea"/>
                        <a:ea typeface="+mj-ea"/>
                      </a:endParaRPr>
                    </a:p>
                  </a:txBody>
                  <a:tcPr marL="36000" marR="36000" marT="36000" marB="36000">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dirty="0">
                          <a:latin typeface="+mj-ea"/>
                          <a:ea typeface="+mj-ea"/>
                        </a:rPr>
                        <a:t>EU</a:t>
                      </a:r>
                      <a:endParaRPr kumimoji="1" lang="ja-JP" altLang="en-US" sz="1100"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dirty="0">
                          <a:latin typeface="+mj-ea"/>
                          <a:ea typeface="+mj-ea"/>
                          <a:hlinkClick r:id="rId2"/>
                        </a:rPr>
                        <a:t>eIDAS2.0</a:t>
                      </a:r>
                      <a:endParaRPr kumimoji="1" lang="en-US" altLang="ja-JP" sz="1100" dirty="0">
                        <a:latin typeface="+mj-ea"/>
                        <a:ea typeface="+mj-ea"/>
                      </a:endParaRPr>
                    </a:p>
                    <a:p>
                      <a:r>
                        <a:rPr kumimoji="1" lang="en-US" altLang="ja-JP" sz="1100" dirty="0">
                          <a:latin typeface="+mj-ea"/>
                          <a:ea typeface="+mj-ea"/>
                          <a:hlinkClick r:id="rId3"/>
                        </a:rPr>
                        <a:t>European Digital Identity Architecture and Reference Framework (ARF)</a:t>
                      </a:r>
                      <a:endParaRPr kumimoji="1" lang="ja-JP" altLang="en-US" sz="1100"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dirty="0">
                          <a:latin typeface="+mj-ea"/>
                          <a:ea typeface="+mj-ea"/>
                        </a:rPr>
                        <a:t>EU Commission</a:t>
                      </a:r>
                      <a:endParaRPr kumimoji="1" lang="ja-JP" altLang="en-US" sz="1100"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en-US" altLang="ja-JP" sz="1100" dirty="0">
                          <a:latin typeface="+mj-ea"/>
                          <a:ea typeface="+mj-ea"/>
                        </a:rPr>
                        <a:t>EUDIW</a:t>
                      </a:r>
                      <a:r>
                        <a:rPr kumimoji="1" lang="ja-JP" altLang="en-US" sz="1100" dirty="0">
                          <a:latin typeface="+mj-ea"/>
                          <a:ea typeface="+mj-ea"/>
                        </a:rPr>
                        <a:t>に関する</a:t>
                      </a:r>
                      <a:r>
                        <a:rPr kumimoji="1" lang="ja-JP" altLang="en-US" sz="1100" b="1" u="sng" dirty="0">
                          <a:latin typeface="+mj-ea"/>
                          <a:ea typeface="+mj-ea"/>
                        </a:rPr>
                        <a:t>規制整備</a:t>
                      </a:r>
                      <a:r>
                        <a:rPr kumimoji="1" lang="ja-JP" altLang="en-US" sz="1100" dirty="0">
                          <a:latin typeface="+mj-ea"/>
                          <a:ea typeface="+mj-ea"/>
                        </a:rPr>
                        <a:t>、ウォレットの</a:t>
                      </a:r>
                      <a:r>
                        <a:rPr kumimoji="1" lang="ja-JP" altLang="en-US" sz="1100" b="1" u="sng" dirty="0">
                          <a:latin typeface="+mj-ea"/>
                          <a:ea typeface="+mj-ea"/>
                        </a:rPr>
                        <a:t>仕様策定</a:t>
                      </a:r>
                      <a:r>
                        <a:rPr kumimoji="1" lang="en-US" altLang="ja-JP" sz="1100" b="1" u="sng" dirty="0">
                          <a:latin typeface="+mj-ea"/>
                          <a:ea typeface="+mj-ea"/>
                        </a:rPr>
                        <a:t>(ARF)</a:t>
                      </a:r>
                    </a:p>
                    <a:p>
                      <a:pPr marL="171450" indent="-171450">
                        <a:buFont typeface="Arial" panose="020B0604020202020204" pitchFamily="34" charset="0"/>
                        <a:buChar char="•"/>
                      </a:pPr>
                      <a:r>
                        <a:rPr kumimoji="1" lang="en-US" altLang="ja-JP" sz="1100" dirty="0">
                          <a:latin typeface="+mj-ea"/>
                          <a:ea typeface="+mj-ea"/>
                        </a:rPr>
                        <a:t>(EU</a:t>
                      </a:r>
                      <a:r>
                        <a:rPr kumimoji="1" lang="ja-JP" altLang="en-US" sz="1100" dirty="0">
                          <a:latin typeface="+mj-ea"/>
                          <a:ea typeface="+mj-ea"/>
                        </a:rPr>
                        <a:t>加盟国を通じて</a:t>
                      </a:r>
                      <a:r>
                        <a:rPr kumimoji="1" lang="en-US" altLang="ja-JP" sz="1100" dirty="0">
                          <a:latin typeface="+mj-ea"/>
                          <a:ea typeface="+mj-ea"/>
                        </a:rPr>
                        <a:t>)</a:t>
                      </a:r>
                      <a:r>
                        <a:rPr kumimoji="1" lang="ja-JP" altLang="en-US" sz="1100" b="1" u="sng" dirty="0">
                          <a:latin typeface="+mj-ea"/>
                          <a:ea typeface="+mj-ea"/>
                        </a:rPr>
                        <a:t>認定の支援</a:t>
                      </a:r>
                      <a:endParaRPr kumimoji="1" lang="en-US" altLang="ja-JP" sz="1100" b="1" u="sng" dirty="0">
                        <a:latin typeface="+mj-ea"/>
                        <a:ea typeface="+mj-ea"/>
                      </a:endParaRPr>
                    </a:p>
                    <a:p>
                      <a:pPr marL="171450" indent="-171450">
                        <a:buFont typeface="Arial" panose="020B0604020202020204" pitchFamily="34" charset="0"/>
                        <a:buChar char="•"/>
                      </a:pPr>
                      <a:r>
                        <a:rPr kumimoji="1" lang="ja-JP" altLang="en-US" sz="1100" dirty="0">
                          <a:latin typeface="+mj-ea"/>
                          <a:ea typeface="+mj-ea"/>
                        </a:rPr>
                        <a:t>民間事業者の</a:t>
                      </a:r>
                      <a:r>
                        <a:rPr kumimoji="1" lang="ja-JP" altLang="en-US" sz="1100" b="1" u="sng" dirty="0">
                          <a:latin typeface="+mj-ea"/>
                          <a:ea typeface="+mj-ea"/>
                        </a:rPr>
                        <a:t>実証実験支援</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en-US" altLang="ja-JP" sz="1100" b="0" dirty="0">
                          <a:solidFill>
                            <a:schemeClr val="tx1"/>
                          </a:solidFill>
                          <a:latin typeface="+mj-ea"/>
                          <a:ea typeface="+mj-ea"/>
                        </a:rPr>
                        <a:t>eIDAS2.0</a:t>
                      </a:r>
                      <a:r>
                        <a:rPr kumimoji="1" lang="ja-JP" altLang="en-US" sz="1100" b="0" dirty="0">
                          <a:solidFill>
                            <a:schemeClr val="tx1"/>
                          </a:solidFill>
                          <a:latin typeface="+mj-ea"/>
                          <a:ea typeface="+mj-ea"/>
                        </a:rPr>
                        <a:t>策定・普及</a:t>
                      </a:r>
                      <a:r>
                        <a:rPr kumimoji="1" lang="en-US" altLang="ja-JP" sz="1100" b="0" dirty="0">
                          <a:solidFill>
                            <a:schemeClr val="tx1"/>
                          </a:solidFill>
                          <a:latin typeface="+mj-ea"/>
                          <a:ea typeface="+mj-ea"/>
                        </a:rPr>
                        <a:t>(ARF</a:t>
                      </a:r>
                      <a:r>
                        <a:rPr kumimoji="1" lang="ja-JP" altLang="en-US" sz="1100" b="0" dirty="0">
                          <a:solidFill>
                            <a:schemeClr val="tx1"/>
                          </a:solidFill>
                          <a:latin typeface="+mj-ea"/>
                          <a:ea typeface="+mj-ea"/>
                        </a:rPr>
                        <a:t>・認定・実証実験</a:t>
                      </a:r>
                      <a:r>
                        <a:rPr kumimoji="1" lang="en-US" altLang="ja-JP" sz="1100" b="0" dirty="0">
                          <a:solidFill>
                            <a:schemeClr val="tx1"/>
                          </a:solidFill>
                          <a:latin typeface="+mj-ea"/>
                          <a:ea typeface="+mj-ea"/>
                        </a:rPr>
                        <a:t>)</a:t>
                      </a:r>
                      <a:r>
                        <a:rPr kumimoji="1" lang="ja-JP" altLang="en-US" sz="1100" b="0" dirty="0">
                          <a:solidFill>
                            <a:schemeClr val="tx1"/>
                          </a:solidFill>
                          <a:latin typeface="+mj-ea"/>
                          <a:ea typeface="+mj-ea"/>
                        </a:rPr>
                        <a:t>にかかる取組</a:t>
                      </a:r>
                      <a:br>
                        <a:rPr kumimoji="1" lang="en-US" altLang="ja-JP" sz="1100" b="0" dirty="0">
                          <a:solidFill>
                            <a:schemeClr val="tx1"/>
                          </a:solidFill>
                          <a:latin typeface="+mj-ea"/>
                          <a:ea typeface="+mj-ea"/>
                        </a:rPr>
                      </a:br>
                      <a:r>
                        <a:rPr kumimoji="1" lang="en-US" altLang="ja-JP" sz="1100" b="0" dirty="0">
                          <a:solidFill>
                            <a:schemeClr val="tx1"/>
                          </a:solidFill>
                          <a:latin typeface="+mj-ea"/>
                          <a:ea typeface="+mj-ea"/>
                        </a:rPr>
                        <a:t>(eIDAS1.0</a:t>
                      </a:r>
                      <a:r>
                        <a:rPr kumimoji="1" lang="ja-JP" altLang="en-US" sz="1100" b="0" dirty="0">
                          <a:solidFill>
                            <a:schemeClr val="tx1"/>
                          </a:solidFill>
                          <a:latin typeface="+mj-ea"/>
                          <a:ea typeface="+mj-ea"/>
                        </a:rPr>
                        <a:t>との差分、民間事業者・有識者の関与はどの程度あるか</a:t>
                      </a:r>
                      <a:r>
                        <a:rPr kumimoji="1" lang="en-US" altLang="ja-JP" sz="1100" b="0" dirty="0">
                          <a:solidFill>
                            <a:schemeClr val="tx1"/>
                          </a:solidFill>
                          <a:latin typeface="+mj-ea"/>
                          <a:ea typeface="+mj-ea"/>
                        </a:rPr>
                        <a:t>)</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86700206"/>
                  </a:ext>
                </a:extLst>
              </a:tr>
              <a:tr h="644274">
                <a:tc>
                  <a:txBody>
                    <a:bodyPr/>
                    <a:lstStyle/>
                    <a:p>
                      <a:r>
                        <a:rPr kumimoji="1" lang="en-US" altLang="ja-JP" sz="1100" dirty="0">
                          <a:latin typeface="+mj-ea"/>
                          <a:ea typeface="+mj-ea"/>
                        </a:rPr>
                        <a:t>2</a:t>
                      </a:r>
                      <a:endParaRPr kumimoji="1" lang="ja-JP" altLang="en-US" sz="1100" dirty="0">
                        <a:latin typeface="+mj-ea"/>
                        <a:ea typeface="+mj-ea"/>
                      </a:endParaRPr>
                    </a:p>
                  </a:txBody>
                  <a:tcPr marL="36000" marR="36000" marT="36000" marB="36000">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100">
                          <a:latin typeface="+mj-ea"/>
                          <a:ea typeface="+mj-ea"/>
                        </a:rPr>
                        <a:t>ドイツ</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dirty="0" err="1">
                          <a:latin typeface="+mj-ea"/>
                          <a:ea typeface="+mj-ea"/>
                          <a:hlinkClick r:id="rId4"/>
                        </a:rPr>
                        <a:t>IDunion</a:t>
                      </a:r>
                      <a:r>
                        <a:rPr kumimoji="1" lang="en-US" altLang="ja-JP" sz="1100" dirty="0">
                          <a:latin typeface="+mj-ea"/>
                          <a:ea typeface="+mj-ea"/>
                          <a:hlinkClick r:id="rId4"/>
                        </a:rPr>
                        <a:t> Network</a:t>
                      </a:r>
                      <a:endParaRPr kumimoji="1" lang="ja-JP" altLang="en-US" sz="1100"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100" kern="1200" dirty="0" err="1">
                          <a:solidFill>
                            <a:schemeClr val="tx1"/>
                          </a:solidFill>
                          <a:latin typeface="+mj-ea"/>
                          <a:ea typeface="+mn-ea"/>
                          <a:cs typeface="+mn-cs"/>
                        </a:rPr>
                        <a:t>IDunion</a:t>
                      </a:r>
                      <a:endParaRPr kumimoji="1" lang="en-US" altLang="ja-JP" sz="1100" kern="1200" dirty="0">
                        <a:solidFill>
                          <a:schemeClr val="tx1"/>
                        </a:solidFill>
                        <a:latin typeface="+mj-ea"/>
                        <a:ea typeface="+mn-ea"/>
                        <a:cs typeface="+mn-cs"/>
                      </a:endParaRPr>
                    </a:p>
                    <a:p>
                      <a:pPr marL="0" marR="0" lvl="0" indent="0" algn="l" defTabSz="990564"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tx1"/>
                          </a:solidFill>
                          <a:latin typeface="+mj-ea"/>
                          <a:ea typeface="+mn-ea"/>
                          <a:cs typeface="+mn-cs"/>
                        </a:rPr>
                        <a:t>(</a:t>
                      </a:r>
                      <a:r>
                        <a:rPr kumimoji="1" lang="ja-JP" altLang="en-US" sz="1100" kern="1200" dirty="0">
                          <a:solidFill>
                            <a:schemeClr val="tx1"/>
                          </a:solidFill>
                          <a:latin typeface="+mj-ea"/>
                          <a:ea typeface="+mn-ea"/>
                          <a:cs typeface="+mn-cs"/>
                        </a:rPr>
                        <a:t>官民コンソーシアム</a:t>
                      </a:r>
                      <a:r>
                        <a:rPr kumimoji="1" lang="en-US" altLang="ja-JP" sz="1100" kern="1200" dirty="0">
                          <a:solidFill>
                            <a:schemeClr val="tx1"/>
                          </a:solidFill>
                          <a:latin typeface="+mj-ea"/>
                          <a:ea typeface="+mn-ea"/>
                          <a:cs typeface="+mn-cs"/>
                        </a:rPr>
                        <a:t>)</a:t>
                      </a:r>
                      <a:endParaRPr kumimoji="1" lang="ja-JP" altLang="en-US" sz="1100" kern="1200" dirty="0">
                        <a:solidFill>
                          <a:schemeClr val="tx1"/>
                        </a:solidFill>
                        <a:latin typeface="+mj-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en-US" altLang="ja-JP" sz="1100" b="0" dirty="0">
                          <a:solidFill>
                            <a:schemeClr val="tx1"/>
                          </a:solidFill>
                          <a:latin typeface="+mj-ea"/>
                          <a:ea typeface="+mj-ea"/>
                        </a:rPr>
                        <a:t>eIDAS2.0</a:t>
                      </a:r>
                      <a:r>
                        <a:rPr kumimoji="1" lang="ja-JP" altLang="en-US" sz="1100" b="0" dirty="0">
                          <a:solidFill>
                            <a:schemeClr val="tx1"/>
                          </a:solidFill>
                          <a:latin typeface="+mj-ea"/>
                          <a:ea typeface="+mj-ea"/>
                        </a:rPr>
                        <a:t>や、</a:t>
                      </a:r>
                      <a:r>
                        <a:rPr kumimoji="1" lang="en-US" altLang="ja-JP" sz="1100" b="0" dirty="0">
                          <a:solidFill>
                            <a:schemeClr val="tx1"/>
                          </a:solidFill>
                          <a:latin typeface="+mj-ea"/>
                          <a:ea typeface="+mj-ea"/>
                        </a:rPr>
                        <a:t>GDPR</a:t>
                      </a:r>
                      <a:r>
                        <a:rPr kumimoji="1" lang="ja-JP" altLang="en-US" sz="1100" b="0" dirty="0">
                          <a:solidFill>
                            <a:schemeClr val="tx1"/>
                          </a:solidFill>
                          <a:latin typeface="+mj-ea"/>
                          <a:ea typeface="+mj-ea"/>
                        </a:rPr>
                        <a:t>に適合した</a:t>
                      </a:r>
                      <a:r>
                        <a:rPr kumimoji="1" lang="en-US" altLang="ja-JP" sz="1100" b="0" dirty="0">
                          <a:solidFill>
                            <a:schemeClr val="tx1"/>
                          </a:solidFill>
                          <a:latin typeface="+mj-ea"/>
                          <a:ea typeface="+mj-ea"/>
                        </a:rPr>
                        <a:t>ID</a:t>
                      </a:r>
                      <a:r>
                        <a:rPr kumimoji="1" lang="ja-JP" altLang="en-US" sz="1100" b="0" dirty="0">
                          <a:solidFill>
                            <a:schemeClr val="tx1"/>
                          </a:solidFill>
                          <a:latin typeface="+mj-ea"/>
                          <a:ea typeface="+mj-ea"/>
                        </a:rPr>
                        <a:t>・データ検証を可能とする</a:t>
                      </a:r>
                      <a:r>
                        <a:rPr kumimoji="1" lang="ja-JP" altLang="en-US" sz="1100" b="1" u="sng" kern="1200" dirty="0">
                          <a:solidFill>
                            <a:schemeClr val="tx1"/>
                          </a:solidFill>
                          <a:latin typeface="+mj-ea"/>
                          <a:ea typeface="+mn-ea"/>
                          <a:cs typeface="+mn-cs"/>
                        </a:rPr>
                        <a:t>共同運営・分散型データベースの</a:t>
                      </a:r>
                      <a:r>
                        <a:rPr kumimoji="1" lang="ja-JP" altLang="en-US" sz="1100" b="1" u="sng" dirty="0">
                          <a:solidFill>
                            <a:schemeClr val="tx1"/>
                          </a:solidFill>
                          <a:latin typeface="+mj-ea"/>
                          <a:ea typeface="+mj-ea"/>
                        </a:rPr>
                        <a:t>インフラ構築</a:t>
                      </a:r>
                      <a:endParaRPr kumimoji="1" lang="en-US" altLang="ja-JP" sz="1100" b="1" u="sng" dirty="0">
                        <a:solidFill>
                          <a:schemeClr val="tx1"/>
                        </a:solidFill>
                        <a:latin typeface="+mj-ea"/>
                        <a:ea typeface="+mj-ea"/>
                      </a:endParaRPr>
                    </a:p>
                    <a:p>
                      <a:pPr marL="171450" indent="-171450">
                        <a:buFont typeface="Arial" panose="020B0604020202020204" pitchFamily="34" charset="0"/>
                        <a:buChar char="•"/>
                      </a:pPr>
                      <a:r>
                        <a:rPr kumimoji="1" lang="ja-JP" altLang="en-US" sz="1100" b="1" u="sng" dirty="0">
                          <a:solidFill>
                            <a:schemeClr val="tx1"/>
                          </a:solidFill>
                          <a:latin typeface="+mj-ea"/>
                          <a:ea typeface="+mj-ea"/>
                        </a:rPr>
                        <a:t>法人のデジタルアイデンティティ推進</a:t>
                      </a:r>
                      <a:endParaRPr kumimoji="1" lang="en-US" altLang="ja-JP" sz="1100" b="1" u="sng" dirty="0">
                        <a:solidFill>
                          <a:schemeClr val="tx1"/>
                        </a:solidFill>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kern="1200" dirty="0">
                          <a:solidFill>
                            <a:schemeClr val="tx1"/>
                          </a:solidFill>
                          <a:latin typeface="+mj-ea"/>
                          <a:ea typeface="+mn-ea"/>
                          <a:cs typeface="+mn-cs"/>
                        </a:rPr>
                        <a:t>eIDAS2.0</a:t>
                      </a:r>
                      <a:r>
                        <a:rPr kumimoji="1" lang="ja-JP" altLang="en-US" sz="1100" b="0" kern="1200" dirty="0">
                          <a:solidFill>
                            <a:schemeClr val="tx1"/>
                          </a:solidFill>
                          <a:latin typeface="+mj-ea"/>
                          <a:ea typeface="+mn-ea"/>
                          <a:cs typeface="+mn-cs"/>
                        </a:rPr>
                        <a:t>との関連</a:t>
                      </a:r>
                      <a:endParaRPr kumimoji="1" lang="en-US" altLang="ja-JP" sz="1100" b="0" kern="1200" dirty="0">
                        <a:solidFill>
                          <a:schemeClr val="tx1"/>
                        </a:solidFill>
                        <a:latin typeface="+mj-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03226349"/>
                  </a:ext>
                </a:extLst>
              </a:tr>
              <a:tr h="644274">
                <a:tc>
                  <a:txBody>
                    <a:bodyPr/>
                    <a:lstStyle/>
                    <a:p>
                      <a:r>
                        <a:rPr kumimoji="1" lang="en-US" altLang="ja-JP" sz="1100" dirty="0">
                          <a:latin typeface="+mj-ea"/>
                          <a:ea typeface="+mj-ea"/>
                        </a:rPr>
                        <a:t>3</a:t>
                      </a:r>
                      <a:endParaRPr kumimoji="1" lang="ja-JP" altLang="en-US" sz="1100" dirty="0">
                        <a:latin typeface="+mj-ea"/>
                        <a:ea typeface="+mj-ea"/>
                      </a:endParaRPr>
                    </a:p>
                  </a:txBody>
                  <a:tcPr marL="36000" marR="36000" marT="36000" marB="36000">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100">
                          <a:latin typeface="+mj-ea"/>
                          <a:ea typeface="+mj-ea"/>
                        </a:rPr>
                        <a:t>イギリス</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dirty="0">
                          <a:latin typeface="+mj-ea"/>
                          <a:ea typeface="+mj-ea"/>
                          <a:hlinkClick r:id="rId5"/>
                        </a:rPr>
                        <a:t>The UK digital identity and attributes trust framework</a:t>
                      </a:r>
                      <a:r>
                        <a:rPr kumimoji="1" lang="ja-JP" altLang="en-US" sz="1100" dirty="0">
                          <a:latin typeface="+mj-ea"/>
                          <a:ea typeface="+mj-ea"/>
                          <a:hlinkClick r:id="rId5"/>
                        </a:rPr>
                        <a:t>　</a:t>
                      </a:r>
                      <a:r>
                        <a:rPr kumimoji="1" lang="en-US" altLang="ja-JP" sz="1100" dirty="0">
                          <a:latin typeface="+mj-ea"/>
                          <a:ea typeface="+mj-ea"/>
                          <a:hlinkClick r:id="rId5"/>
                        </a:rPr>
                        <a:t>βVer.</a:t>
                      </a:r>
                      <a:r>
                        <a:rPr kumimoji="1" lang="ja-JP" altLang="en-US" sz="1100" dirty="0">
                          <a:latin typeface="+mj-ea"/>
                          <a:ea typeface="+mj-ea"/>
                          <a:hlinkClick r:id="rId5"/>
                        </a:rPr>
                        <a:t> </a:t>
                      </a:r>
                      <a:r>
                        <a:rPr kumimoji="1" lang="en-US" altLang="ja-JP" sz="1100" dirty="0">
                          <a:latin typeface="+mj-ea"/>
                          <a:ea typeface="+mj-ea"/>
                          <a:hlinkClick r:id="rId5"/>
                        </a:rPr>
                        <a:t>0.3 (DIATF)</a:t>
                      </a:r>
                      <a:endParaRPr kumimoji="1" lang="ja-JP" altLang="en-US" sz="1100"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100" dirty="0">
                          <a:latin typeface="+mj-ea"/>
                          <a:ea typeface="+mj-ea"/>
                        </a:rPr>
                        <a:t>イギリス政府</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100" b="1" u="sng" dirty="0">
                          <a:solidFill>
                            <a:schemeClr val="tx1"/>
                          </a:solidFill>
                        </a:rPr>
                        <a:t>トラストフレームワークの整備</a:t>
                      </a:r>
                      <a:endParaRPr lang="en-US" altLang="ja-JP" sz="1100" b="1" u="sng" dirty="0">
                        <a:solidFill>
                          <a:schemeClr val="tx1"/>
                        </a:solidFill>
                      </a:endParaRPr>
                    </a:p>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u="none" kern="1200" dirty="0">
                          <a:solidFill>
                            <a:schemeClr val="tx1"/>
                          </a:solidFill>
                          <a:latin typeface="+mj-ea"/>
                          <a:ea typeface="+mn-ea"/>
                          <a:cs typeface="+mn-cs"/>
                        </a:rPr>
                        <a:t>(</a:t>
                      </a:r>
                      <a:r>
                        <a:rPr kumimoji="1" lang="ja-JP" altLang="en-US" sz="1100" b="0" u="none" kern="1200" dirty="0">
                          <a:solidFill>
                            <a:schemeClr val="tx1"/>
                          </a:solidFill>
                          <a:latin typeface="+mj-ea"/>
                          <a:ea typeface="+mn-ea"/>
                          <a:cs typeface="+mn-cs"/>
                        </a:rPr>
                        <a:t>認定団体を通じて</a:t>
                      </a:r>
                      <a:r>
                        <a:rPr kumimoji="1" lang="en-US" altLang="ja-JP" sz="1100" b="0" u="none" kern="1200" dirty="0">
                          <a:solidFill>
                            <a:schemeClr val="tx1"/>
                          </a:solidFill>
                          <a:latin typeface="+mj-ea"/>
                          <a:ea typeface="+mn-ea"/>
                          <a:cs typeface="+mn-cs"/>
                        </a:rPr>
                        <a:t>)</a:t>
                      </a:r>
                      <a:r>
                        <a:rPr kumimoji="1" lang="ja-JP" altLang="en-US" sz="1100" b="0" kern="1200" dirty="0">
                          <a:solidFill>
                            <a:schemeClr val="tx1"/>
                          </a:solidFill>
                          <a:latin typeface="+mj-ea"/>
                          <a:ea typeface="+mn-ea"/>
                          <a:cs typeface="+mn-cs"/>
                        </a:rPr>
                        <a:t>トラストフレームワーク</a:t>
                      </a:r>
                      <a:r>
                        <a:rPr kumimoji="1" lang="ja-JP" altLang="en-US" sz="1100" b="1" u="sng" kern="1200" dirty="0">
                          <a:solidFill>
                            <a:schemeClr val="tx1"/>
                          </a:solidFill>
                          <a:latin typeface="+mj-ea"/>
                          <a:ea typeface="+mn-ea"/>
                          <a:cs typeface="+mn-cs"/>
                        </a:rPr>
                        <a:t>認定プログラムの実施</a:t>
                      </a:r>
                      <a:endParaRPr kumimoji="1" lang="en-US" altLang="ja-JP" sz="1100" b="1" u="sng" kern="1200" dirty="0">
                        <a:solidFill>
                          <a:schemeClr val="tx1"/>
                        </a:solidFill>
                        <a:latin typeface="+mj-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u="none" kern="1200" dirty="0">
                          <a:solidFill>
                            <a:schemeClr val="tx1"/>
                          </a:solidFill>
                          <a:latin typeface="+mj-ea"/>
                          <a:ea typeface="+mn-ea"/>
                          <a:cs typeface="+mn-cs"/>
                        </a:rPr>
                        <a:t>左記トラストフレームワークの策定プロセスと普及にかかる取組</a:t>
                      </a:r>
                      <a:br>
                        <a:rPr kumimoji="1" lang="en-US" altLang="ja-JP" sz="1100" b="0" u="none" kern="1200" dirty="0">
                          <a:solidFill>
                            <a:schemeClr val="tx1"/>
                          </a:solidFill>
                          <a:latin typeface="+mj-ea"/>
                          <a:ea typeface="+mn-ea"/>
                          <a:cs typeface="+mn-cs"/>
                        </a:rPr>
                      </a:br>
                      <a:r>
                        <a:rPr kumimoji="1" lang="en-US" altLang="ja-JP" sz="1100" b="0" kern="1200" dirty="0">
                          <a:solidFill>
                            <a:schemeClr val="tx1"/>
                          </a:solidFill>
                          <a:latin typeface="+mj-ea"/>
                          <a:ea typeface="+mn-ea"/>
                          <a:cs typeface="+mn-cs"/>
                        </a:rPr>
                        <a:t>(</a:t>
                      </a:r>
                      <a:r>
                        <a:rPr kumimoji="1" lang="ja-JP" altLang="en-US" sz="1100" b="0" kern="1200" dirty="0">
                          <a:solidFill>
                            <a:schemeClr val="tx1"/>
                          </a:solidFill>
                          <a:latin typeface="+mj-ea"/>
                          <a:ea typeface="+mn-ea"/>
                          <a:cs typeface="+mn-cs"/>
                        </a:rPr>
                        <a:t>民間事業者・有識者の関与はどの程度あるか</a:t>
                      </a:r>
                      <a:r>
                        <a:rPr kumimoji="1" lang="en-US" altLang="ja-JP" sz="1100" b="0" kern="1200" dirty="0">
                          <a:solidFill>
                            <a:schemeClr val="tx1"/>
                          </a:solidFill>
                          <a:latin typeface="+mj-ea"/>
                          <a:ea typeface="+mn-ea"/>
                          <a:cs typeface="+mn-cs"/>
                        </a:rPr>
                        <a:t>)</a:t>
                      </a:r>
                      <a:endParaRPr kumimoji="1" lang="en-US" altLang="ja-JP" sz="1100" b="0" u="none" kern="1200" dirty="0">
                        <a:solidFill>
                          <a:schemeClr val="tx1"/>
                        </a:solidFill>
                        <a:latin typeface="+mj-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61010551"/>
                  </a:ext>
                </a:extLst>
              </a:tr>
              <a:tr h="789725">
                <a:tc>
                  <a:txBody>
                    <a:bodyPr/>
                    <a:lstStyle/>
                    <a:p>
                      <a:r>
                        <a:rPr kumimoji="1" lang="en-US" altLang="ja-JP" sz="1100" dirty="0">
                          <a:latin typeface="+mj-ea"/>
                          <a:ea typeface="+mj-ea"/>
                        </a:rPr>
                        <a:t>4</a:t>
                      </a:r>
                      <a:endParaRPr kumimoji="1" lang="ja-JP" altLang="en-US" sz="1100" dirty="0">
                        <a:latin typeface="+mj-ea"/>
                        <a:ea typeface="+mj-ea"/>
                      </a:endParaRPr>
                    </a:p>
                  </a:txBody>
                  <a:tcPr marL="36000" marR="36000" marT="36000" marB="36000">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100" dirty="0">
                          <a:latin typeface="+mj-ea"/>
                          <a:ea typeface="+mj-ea"/>
                        </a:rPr>
                        <a:t>オーストラリア</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dirty="0">
                          <a:latin typeface="+mj-ea"/>
                          <a:ea typeface="+mj-ea"/>
                          <a:hlinkClick r:id="rId6"/>
                        </a:rPr>
                        <a:t>Trusted Digital Identity Framework</a:t>
                      </a:r>
                      <a:r>
                        <a:rPr kumimoji="1" lang="ja-JP" altLang="en-US" sz="1100" dirty="0">
                          <a:latin typeface="+mj-ea"/>
                          <a:ea typeface="+mj-ea"/>
                          <a:hlinkClick r:id="rId6"/>
                        </a:rPr>
                        <a:t>（</a:t>
                      </a:r>
                      <a:r>
                        <a:rPr kumimoji="1" lang="en-US" altLang="ja-JP" sz="1100" dirty="0">
                          <a:latin typeface="+mj-ea"/>
                          <a:ea typeface="+mj-ea"/>
                          <a:hlinkClick r:id="rId6"/>
                        </a:rPr>
                        <a:t>TDIF</a:t>
                      </a:r>
                      <a:r>
                        <a:rPr kumimoji="1" lang="ja-JP" altLang="en-US" sz="1100" dirty="0">
                          <a:latin typeface="+mj-ea"/>
                          <a:ea typeface="+mj-ea"/>
                          <a:hlinkClick r:id="rId6"/>
                        </a:rPr>
                        <a:t>）</a:t>
                      </a:r>
                      <a:endParaRPr kumimoji="1" lang="ja-JP" altLang="en-US" sz="1100"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100">
                          <a:latin typeface="+mj-ea"/>
                          <a:ea typeface="+mj-ea"/>
                        </a:rPr>
                        <a:t>オーストラリア政府</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100" b="1" u="sng" dirty="0">
                          <a:solidFill>
                            <a:schemeClr val="tx1"/>
                          </a:solidFill>
                        </a:rPr>
                        <a:t>トラストフレームワークの整備</a:t>
                      </a:r>
                      <a:endParaRPr lang="en-US" altLang="ja-JP" sz="1100" b="1" u="sng" dirty="0">
                        <a:solidFill>
                          <a:schemeClr val="tx1"/>
                        </a:solidFill>
                      </a:endParaRPr>
                    </a:p>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u="none" kern="1200" dirty="0">
                          <a:solidFill>
                            <a:schemeClr val="tx1"/>
                          </a:solidFill>
                          <a:latin typeface="+mj-ea"/>
                          <a:ea typeface="+mn-ea"/>
                          <a:cs typeface="+mn-cs"/>
                        </a:rPr>
                        <a:t>(</a:t>
                      </a:r>
                      <a:r>
                        <a:rPr kumimoji="1" lang="ja-JP" altLang="en-US" sz="1100" b="0" u="none" kern="1200" dirty="0">
                          <a:solidFill>
                            <a:schemeClr val="tx1"/>
                          </a:solidFill>
                          <a:latin typeface="+mj-ea"/>
                          <a:ea typeface="+mn-ea"/>
                          <a:cs typeface="+mn-cs"/>
                        </a:rPr>
                        <a:t>認定団体を通じて</a:t>
                      </a:r>
                      <a:r>
                        <a:rPr kumimoji="1" lang="en-US" altLang="ja-JP" sz="1100" b="0" u="none" kern="1200" dirty="0">
                          <a:solidFill>
                            <a:schemeClr val="tx1"/>
                          </a:solidFill>
                          <a:latin typeface="+mj-ea"/>
                          <a:ea typeface="+mn-ea"/>
                          <a:cs typeface="+mn-cs"/>
                        </a:rPr>
                        <a:t>)</a:t>
                      </a:r>
                      <a:r>
                        <a:rPr kumimoji="1" lang="ja-JP" altLang="en-US" sz="1100" b="0" kern="1200" dirty="0">
                          <a:solidFill>
                            <a:schemeClr val="tx1"/>
                          </a:solidFill>
                          <a:latin typeface="+mj-ea"/>
                          <a:ea typeface="+mn-ea"/>
                          <a:cs typeface="+mn-cs"/>
                        </a:rPr>
                        <a:t>トラストフレームワーク</a:t>
                      </a:r>
                      <a:r>
                        <a:rPr kumimoji="1" lang="ja-JP" altLang="en-US" sz="1100" b="1" u="sng" kern="1200" dirty="0">
                          <a:solidFill>
                            <a:schemeClr val="tx1"/>
                          </a:solidFill>
                          <a:latin typeface="+mj-ea"/>
                          <a:ea typeface="+mn-ea"/>
                          <a:cs typeface="+mn-cs"/>
                        </a:rPr>
                        <a:t>認定プログラムの実施</a:t>
                      </a:r>
                      <a:endParaRPr kumimoji="1" lang="en-US" altLang="ja-JP" sz="1100" b="1" u="sng" kern="1200" dirty="0">
                        <a:solidFill>
                          <a:schemeClr val="tx1"/>
                        </a:solidFill>
                        <a:latin typeface="+mj-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u="none" kern="1200" dirty="0">
                          <a:solidFill>
                            <a:schemeClr val="tx1"/>
                          </a:solidFill>
                          <a:latin typeface="+mj-ea"/>
                          <a:ea typeface="+mn-ea"/>
                          <a:cs typeface="+mn-cs"/>
                        </a:rPr>
                        <a:t>左記トラストフレームワークの策定プロセスと普及にかかる取組</a:t>
                      </a:r>
                      <a:br>
                        <a:rPr kumimoji="1" lang="en-US" altLang="ja-JP" sz="1100" b="0" u="none" kern="1200" dirty="0">
                          <a:solidFill>
                            <a:schemeClr val="tx1"/>
                          </a:solidFill>
                          <a:latin typeface="+mj-ea"/>
                          <a:ea typeface="+mn-ea"/>
                          <a:cs typeface="+mn-cs"/>
                        </a:rPr>
                      </a:br>
                      <a:r>
                        <a:rPr kumimoji="1" lang="en-US" altLang="ja-JP" sz="1100" b="0" u="none" kern="1200" dirty="0">
                          <a:solidFill>
                            <a:schemeClr val="tx1"/>
                          </a:solidFill>
                          <a:latin typeface="+mj-ea"/>
                          <a:ea typeface="+mn-ea"/>
                          <a:cs typeface="+mn-cs"/>
                        </a:rPr>
                        <a:t>(</a:t>
                      </a:r>
                      <a:r>
                        <a:rPr kumimoji="1" lang="ja-JP" altLang="en-US" sz="1100" b="0" u="none" kern="1200" dirty="0">
                          <a:solidFill>
                            <a:schemeClr val="tx1"/>
                          </a:solidFill>
                          <a:latin typeface="+mj-ea"/>
                          <a:ea typeface="+mn-ea"/>
                          <a:cs typeface="+mn-cs"/>
                        </a:rPr>
                        <a:t>認定団体の活動等</a:t>
                      </a:r>
                      <a:r>
                        <a:rPr kumimoji="1" lang="en-US" altLang="ja-JP" sz="1100" b="0" u="none" kern="1200" dirty="0">
                          <a:solidFill>
                            <a:schemeClr val="tx1"/>
                          </a:solidFill>
                          <a:latin typeface="+mj-ea"/>
                          <a:ea typeface="+mn-ea"/>
                          <a:cs typeface="+mn-cs"/>
                        </a:rPr>
                        <a:t>)</a:t>
                      </a:r>
                    </a:p>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kern="1200" dirty="0">
                          <a:solidFill>
                            <a:schemeClr val="tx1"/>
                          </a:solidFill>
                          <a:latin typeface="+mj-ea"/>
                          <a:ea typeface="+mn-ea"/>
                          <a:cs typeface="+mn-cs"/>
                        </a:rPr>
                        <a:t>(</a:t>
                      </a:r>
                      <a:r>
                        <a:rPr kumimoji="1" lang="ja-JP" altLang="en-US" sz="1100" b="0" kern="1200" dirty="0">
                          <a:solidFill>
                            <a:schemeClr val="tx1"/>
                          </a:solidFill>
                          <a:latin typeface="+mj-ea"/>
                          <a:ea typeface="+mn-ea"/>
                          <a:cs typeface="+mn-cs"/>
                        </a:rPr>
                        <a:t>民間事業者・有識者の関与はどの程度あるか</a:t>
                      </a:r>
                      <a:r>
                        <a:rPr kumimoji="1" lang="en-US" altLang="ja-JP" sz="1100" b="0" kern="1200" dirty="0">
                          <a:solidFill>
                            <a:schemeClr val="tx1"/>
                          </a:solidFill>
                          <a:latin typeface="+mj-ea"/>
                          <a:ea typeface="+mn-ea"/>
                          <a:cs typeface="+mn-cs"/>
                        </a:rPr>
                        <a:t>)</a:t>
                      </a:r>
                      <a:endParaRPr kumimoji="1" lang="en-US" altLang="ja-JP" sz="1100" b="0" u="none" kern="1200" dirty="0">
                        <a:solidFill>
                          <a:schemeClr val="tx1"/>
                        </a:solidFill>
                        <a:latin typeface="+mj-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75570526"/>
                  </a:ext>
                </a:extLst>
              </a:tr>
              <a:tr h="789725">
                <a:tc>
                  <a:txBody>
                    <a:bodyPr/>
                    <a:lstStyle/>
                    <a:p>
                      <a:r>
                        <a:rPr kumimoji="1" lang="en-US" altLang="ja-JP" sz="1100" dirty="0">
                          <a:latin typeface="+mj-ea"/>
                          <a:ea typeface="+mj-ea"/>
                        </a:rPr>
                        <a:t>5</a:t>
                      </a:r>
                      <a:endParaRPr kumimoji="1" lang="ja-JP" altLang="en-US" sz="1100" dirty="0">
                        <a:latin typeface="+mj-ea"/>
                        <a:ea typeface="+mj-ea"/>
                      </a:endParaRPr>
                    </a:p>
                  </a:txBody>
                  <a:tcPr marL="36000" marR="36000" marT="36000" marB="36000">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100" dirty="0">
                          <a:latin typeface="+mj-ea"/>
                          <a:ea typeface="+mj-ea"/>
                        </a:rPr>
                        <a:t>カナダ</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dirty="0">
                          <a:latin typeface="+mj-ea"/>
                          <a:ea typeface="+mj-ea"/>
                          <a:hlinkClick r:id="rId7"/>
                        </a:rPr>
                        <a:t>Pan-Canadian Trust Framework</a:t>
                      </a:r>
                      <a:r>
                        <a:rPr kumimoji="1" lang="ja-JP" altLang="en-US" sz="1100" dirty="0">
                          <a:latin typeface="+mj-ea"/>
                          <a:ea typeface="+mj-ea"/>
                          <a:hlinkClick r:id="rId7"/>
                        </a:rPr>
                        <a:t>（</a:t>
                      </a:r>
                      <a:r>
                        <a:rPr kumimoji="1" lang="en-US" altLang="ja-JP" sz="1100" dirty="0">
                          <a:latin typeface="+mj-ea"/>
                          <a:ea typeface="+mj-ea"/>
                          <a:hlinkClick r:id="rId7"/>
                        </a:rPr>
                        <a:t>PCTF</a:t>
                      </a:r>
                      <a:r>
                        <a:rPr kumimoji="1" lang="ja-JP" altLang="en-US" sz="1100" dirty="0">
                          <a:latin typeface="+mj-ea"/>
                          <a:ea typeface="+mj-ea"/>
                          <a:hlinkClick r:id="rId7"/>
                        </a:rPr>
                        <a:t>）</a:t>
                      </a:r>
                      <a:endParaRPr kumimoji="1" lang="ja-JP" altLang="en-US" sz="1100"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dirty="0">
                          <a:latin typeface="+mj-ea"/>
                          <a:ea typeface="+mj-ea"/>
                        </a:rPr>
                        <a:t>DIACC</a:t>
                      </a:r>
                    </a:p>
                    <a:p>
                      <a:r>
                        <a:rPr kumimoji="1" lang="en-US" altLang="ja-JP" sz="1100" dirty="0">
                          <a:latin typeface="+mj-ea"/>
                          <a:ea typeface="+mj-ea"/>
                        </a:rPr>
                        <a:t>(</a:t>
                      </a:r>
                      <a:r>
                        <a:rPr kumimoji="1" lang="ja-JP" altLang="en-US" sz="1100" dirty="0">
                          <a:latin typeface="+mj-ea"/>
                          <a:ea typeface="+mj-ea"/>
                        </a:rPr>
                        <a:t>官民コンソーシアム</a:t>
                      </a:r>
                      <a:r>
                        <a:rPr kumimoji="1" lang="en-US" altLang="ja-JP" sz="1100" dirty="0">
                          <a:latin typeface="+mj-ea"/>
                          <a:ea typeface="+mj-ea"/>
                        </a:rPr>
                        <a:t>)</a:t>
                      </a:r>
                      <a:endParaRPr kumimoji="1" lang="ja-JP" altLang="en-US" sz="1100"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1" u="sng" dirty="0">
                          <a:solidFill>
                            <a:schemeClr val="tx1"/>
                          </a:solidFill>
                          <a:latin typeface="+mj-ea"/>
                          <a:ea typeface="+mj-ea"/>
                        </a:rPr>
                        <a:t>官民コンソーシアムの中で</a:t>
                      </a:r>
                      <a:r>
                        <a:rPr kumimoji="1" lang="ja-JP" altLang="en-US" sz="1100" b="0" dirty="0">
                          <a:solidFill>
                            <a:schemeClr val="tx1"/>
                          </a:solidFill>
                          <a:latin typeface="+mj-ea"/>
                          <a:ea typeface="+mj-ea"/>
                        </a:rPr>
                        <a:t>アイデンティティにかかる</a:t>
                      </a:r>
                      <a:r>
                        <a:rPr kumimoji="1" lang="ja-JP" altLang="en-US" sz="1100" b="1" u="sng" dirty="0">
                          <a:solidFill>
                            <a:schemeClr val="tx1"/>
                          </a:solidFill>
                          <a:latin typeface="+mj-ea"/>
                          <a:ea typeface="+mj-ea"/>
                        </a:rPr>
                        <a:t>トラストフレームワーク策定</a:t>
                      </a:r>
                      <a:endParaRPr kumimoji="1" lang="en-US" altLang="ja-JP" sz="1100" b="1" u="sng" dirty="0">
                        <a:solidFill>
                          <a:schemeClr val="tx1"/>
                        </a:solidFill>
                        <a:latin typeface="+mj-ea"/>
                        <a:ea typeface="+mj-ea"/>
                      </a:endParaRPr>
                    </a:p>
                    <a:p>
                      <a:pPr marL="171450" indent="-171450">
                        <a:buFont typeface="Arial" panose="020B0604020202020204" pitchFamily="34" charset="0"/>
                        <a:buChar char="•"/>
                      </a:pPr>
                      <a:r>
                        <a:rPr kumimoji="1" lang="en-US" altLang="ja-JP" sz="1100" b="0" dirty="0">
                          <a:solidFill>
                            <a:schemeClr val="tx1"/>
                          </a:solidFill>
                          <a:latin typeface="+mj-ea"/>
                          <a:ea typeface="+mj-ea"/>
                        </a:rPr>
                        <a:t>(</a:t>
                      </a:r>
                      <a:r>
                        <a:rPr kumimoji="1" lang="ja-JP" altLang="en-US" sz="1100" b="0" dirty="0">
                          <a:solidFill>
                            <a:schemeClr val="tx1"/>
                          </a:solidFill>
                          <a:latin typeface="+mj-ea"/>
                          <a:ea typeface="+mj-ea"/>
                        </a:rPr>
                        <a:t>認定団体を通じて</a:t>
                      </a:r>
                      <a:r>
                        <a:rPr kumimoji="1" lang="en-US" altLang="ja-JP" sz="1100" b="0" dirty="0">
                          <a:solidFill>
                            <a:schemeClr val="tx1"/>
                          </a:solidFill>
                          <a:latin typeface="+mj-ea"/>
                          <a:ea typeface="+mj-ea"/>
                        </a:rPr>
                        <a:t>)</a:t>
                      </a:r>
                      <a:r>
                        <a:rPr kumimoji="1" lang="ja-JP" altLang="en-US" sz="1100" b="0" dirty="0">
                          <a:solidFill>
                            <a:schemeClr val="tx1"/>
                          </a:solidFill>
                          <a:latin typeface="+mj-ea"/>
                          <a:ea typeface="+mj-ea"/>
                        </a:rPr>
                        <a:t>トラストフレームワーク</a:t>
                      </a:r>
                      <a:r>
                        <a:rPr kumimoji="1" lang="ja-JP" altLang="en-US" sz="1100" b="1" u="sng" dirty="0">
                          <a:solidFill>
                            <a:schemeClr val="tx1"/>
                          </a:solidFill>
                          <a:latin typeface="+mj-ea"/>
                          <a:ea typeface="+mj-ea"/>
                        </a:rPr>
                        <a:t>認定プログラムの実施</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ja-JP" altLang="en-US" sz="1100" b="0" u="none" kern="1200" dirty="0">
                          <a:solidFill>
                            <a:schemeClr val="tx1"/>
                          </a:solidFill>
                          <a:latin typeface="+mj-ea"/>
                          <a:ea typeface="+mn-ea"/>
                          <a:cs typeface="+mn-cs"/>
                        </a:rPr>
                        <a:t>左記トラストフレームワークの策定プロセスと普及にかかる取組</a:t>
                      </a:r>
                      <a:br>
                        <a:rPr kumimoji="1" lang="en-US" altLang="ja-JP" sz="1100" b="0" u="none" kern="1200" dirty="0">
                          <a:solidFill>
                            <a:schemeClr val="tx1"/>
                          </a:solidFill>
                          <a:latin typeface="+mj-ea"/>
                          <a:ea typeface="+mn-ea"/>
                          <a:cs typeface="+mn-cs"/>
                        </a:rPr>
                      </a:br>
                      <a:r>
                        <a:rPr kumimoji="1" lang="en-US" altLang="ja-JP" sz="1100" b="0" u="none" kern="1200" dirty="0">
                          <a:solidFill>
                            <a:schemeClr val="tx1"/>
                          </a:solidFill>
                          <a:latin typeface="+mj-ea"/>
                          <a:ea typeface="+mn-ea"/>
                          <a:cs typeface="+mn-cs"/>
                        </a:rPr>
                        <a:t>(</a:t>
                      </a:r>
                      <a:r>
                        <a:rPr kumimoji="1" lang="ja-JP" altLang="en-US" sz="1100" b="0" u="none" kern="1200" dirty="0">
                          <a:solidFill>
                            <a:schemeClr val="tx1"/>
                          </a:solidFill>
                          <a:latin typeface="+mj-ea"/>
                          <a:ea typeface="+mn-ea"/>
                          <a:cs typeface="+mn-cs"/>
                        </a:rPr>
                        <a:t>認定団体の活動等</a:t>
                      </a:r>
                      <a:r>
                        <a:rPr kumimoji="1" lang="en-US" altLang="ja-JP" sz="1100" b="0" u="none" kern="1200" dirty="0">
                          <a:solidFill>
                            <a:schemeClr val="tx1"/>
                          </a:solidFill>
                          <a:latin typeface="+mj-ea"/>
                          <a:ea typeface="+mn-ea"/>
                          <a:cs typeface="+mn-cs"/>
                        </a:rPr>
                        <a:t>)</a:t>
                      </a:r>
                      <a:endParaRPr kumimoji="1" lang="en-US" altLang="ja-JP" sz="1100" b="0" dirty="0">
                        <a:solidFill>
                          <a:schemeClr val="tx1"/>
                        </a:solidFill>
                        <a:latin typeface="+mj-ea"/>
                        <a:ea typeface="+mj-ea"/>
                      </a:endParaRPr>
                    </a:p>
                    <a:p>
                      <a:pPr marL="171450" indent="-171450">
                        <a:buFont typeface="Arial" panose="020B0604020202020204" pitchFamily="34" charset="0"/>
                        <a:buChar char="•"/>
                      </a:pPr>
                      <a:r>
                        <a:rPr kumimoji="1" lang="ja-JP" altLang="en-US" sz="1100" b="0" dirty="0">
                          <a:solidFill>
                            <a:schemeClr val="tx1"/>
                          </a:solidFill>
                          <a:latin typeface="+mj-ea"/>
                          <a:ea typeface="+mj-ea"/>
                        </a:rPr>
                        <a:t>官民コンソーシアム設立・運営にかかる課題</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65437173"/>
                  </a:ext>
                </a:extLst>
              </a:tr>
              <a:tr h="644274">
                <a:tc>
                  <a:txBody>
                    <a:bodyPr/>
                    <a:lstStyle/>
                    <a:p>
                      <a:r>
                        <a:rPr kumimoji="1" lang="en-US" altLang="ja-JP" sz="1100" dirty="0">
                          <a:latin typeface="+mj-ea"/>
                          <a:ea typeface="+mj-ea"/>
                        </a:rPr>
                        <a:t>6</a:t>
                      </a:r>
                      <a:endParaRPr kumimoji="1" lang="ja-JP" altLang="en-US" sz="1100" dirty="0">
                        <a:latin typeface="+mj-ea"/>
                        <a:ea typeface="+mj-ea"/>
                      </a:endParaRPr>
                    </a:p>
                  </a:txBody>
                  <a:tcPr marL="36000" marR="36000" marT="36000" marB="36000">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100" dirty="0">
                          <a:latin typeface="+mj-ea"/>
                          <a:ea typeface="+mj-ea"/>
                        </a:rPr>
                        <a:t>アメリカ</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b="0" u="none" dirty="0">
                          <a:latin typeface="+mj-ea"/>
                          <a:ea typeface="+mj-ea"/>
                          <a:hlinkClick r:id="rId8"/>
                        </a:rPr>
                        <a:t>Mobile Driver’s License (</a:t>
                      </a:r>
                      <a:r>
                        <a:rPr kumimoji="1" lang="en-US" altLang="ja-JP" sz="1100" b="0" u="none" dirty="0" err="1">
                          <a:latin typeface="+mj-ea"/>
                          <a:ea typeface="+mj-ea"/>
                          <a:hlinkClick r:id="rId8"/>
                        </a:rPr>
                        <a:t>mDL</a:t>
                      </a:r>
                      <a:r>
                        <a:rPr kumimoji="1" lang="en-US" altLang="ja-JP" sz="1100" b="0" u="none" dirty="0">
                          <a:latin typeface="+mj-ea"/>
                          <a:ea typeface="+mj-ea"/>
                          <a:hlinkClick r:id="rId8"/>
                        </a:rPr>
                        <a:t>)</a:t>
                      </a:r>
                    </a:p>
                    <a:p>
                      <a:r>
                        <a:rPr kumimoji="1" lang="en-US" altLang="ja-JP" sz="1100" b="0" u="none" dirty="0">
                          <a:latin typeface="+mj-ea"/>
                          <a:ea typeface="+mj-ea"/>
                          <a:hlinkClick r:id="rId8"/>
                        </a:rPr>
                        <a:t>Implementation Guidelines</a:t>
                      </a:r>
                      <a:endParaRPr kumimoji="1" lang="ja-JP" altLang="en-US" sz="1100" b="0" u="none"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en-US" altLang="ja-JP" sz="1100" b="0" u="none" dirty="0">
                          <a:latin typeface="+mj-ea"/>
                          <a:ea typeface="+mj-ea"/>
                        </a:rPr>
                        <a:t>American Association of Motor Vehicle Administrators</a:t>
                      </a:r>
                      <a:r>
                        <a:rPr kumimoji="1" lang="ja-JP" altLang="en-US" sz="1100" b="0" u="none" dirty="0">
                          <a:latin typeface="+mj-ea"/>
                          <a:ea typeface="+mj-ea"/>
                        </a:rPr>
                        <a:t> </a:t>
                      </a:r>
                      <a:r>
                        <a:rPr kumimoji="1" lang="en-US" altLang="ja-JP" sz="1100" b="0" u="none" dirty="0">
                          <a:latin typeface="+mj-ea"/>
                          <a:ea typeface="+mj-ea"/>
                        </a:rPr>
                        <a:t>(AAMVA) /</a:t>
                      </a:r>
                    </a:p>
                    <a:p>
                      <a:r>
                        <a:rPr kumimoji="1" lang="en-US" altLang="ja-JP" sz="1100" b="0" u="none" dirty="0">
                          <a:latin typeface="+mj-ea"/>
                          <a:ea typeface="+mj-ea"/>
                        </a:rPr>
                        <a:t>Secure Technology Alliance</a:t>
                      </a:r>
                      <a:endParaRPr kumimoji="1" lang="ja-JP" altLang="en-US" sz="1100" b="0" u="none" dirty="0">
                        <a:latin typeface="+mj-ea"/>
                        <a:ea typeface="+mj-ea"/>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kumimoji="1" lang="en-US" altLang="ja-JP" sz="1100" b="0" u="none" dirty="0">
                          <a:latin typeface="+mj-ea"/>
                          <a:ea typeface="+mj-ea"/>
                        </a:rPr>
                        <a:t>ISO18013-5</a:t>
                      </a:r>
                      <a:r>
                        <a:rPr kumimoji="1" lang="ja-JP" altLang="en-US" sz="1100" b="0" u="none" dirty="0">
                          <a:latin typeface="+mj-ea"/>
                          <a:ea typeface="+mj-ea"/>
                        </a:rPr>
                        <a:t>で標準化されて</a:t>
                      </a:r>
                      <a:r>
                        <a:rPr kumimoji="1" lang="ja-JP" altLang="en-US" sz="1100" b="1" u="sng" dirty="0">
                          <a:latin typeface="+mj-ea"/>
                          <a:ea typeface="+mj-ea"/>
                        </a:rPr>
                        <a:t>いる</a:t>
                      </a:r>
                      <a:r>
                        <a:rPr kumimoji="1" lang="en-US" altLang="ja-JP" sz="1100" b="1" u="sng" dirty="0" err="1">
                          <a:latin typeface="+mj-ea"/>
                          <a:ea typeface="+mj-ea"/>
                        </a:rPr>
                        <a:t>mDL</a:t>
                      </a:r>
                      <a:r>
                        <a:rPr kumimoji="1" lang="ja-JP" altLang="en-US" sz="1100" b="1" u="sng" dirty="0">
                          <a:latin typeface="+mj-ea"/>
                          <a:ea typeface="+mj-ea"/>
                        </a:rPr>
                        <a:t>の普及にかかる取組</a:t>
                      </a:r>
                      <a:br>
                        <a:rPr kumimoji="1" lang="en-US" altLang="ja-JP" sz="1100" b="1" u="sng" dirty="0">
                          <a:latin typeface="+mj-ea"/>
                          <a:ea typeface="+mj-ea"/>
                        </a:rPr>
                      </a:br>
                      <a:r>
                        <a:rPr kumimoji="1" lang="en-US" altLang="ja-JP" sz="1100" b="1" u="sng" dirty="0">
                          <a:latin typeface="+mj-ea"/>
                          <a:ea typeface="+mj-ea"/>
                        </a:rPr>
                        <a:t>(</a:t>
                      </a:r>
                      <a:r>
                        <a:rPr kumimoji="1" lang="ja-JP" altLang="en-US" sz="1100" b="1" u="sng" dirty="0">
                          <a:latin typeface="+mj-ea"/>
                          <a:ea typeface="+mj-ea"/>
                        </a:rPr>
                        <a:t>州外連携・</a:t>
                      </a:r>
                      <a:r>
                        <a:rPr kumimoji="1" lang="en-US" altLang="ja-JP" sz="1100" b="1" u="sng" dirty="0">
                          <a:latin typeface="+mj-ea"/>
                          <a:ea typeface="+mj-ea"/>
                        </a:rPr>
                        <a:t>ID</a:t>
                      </a:r>
                      <a:r>
                        <a:rPr kumimoji="1" lang="ja-JP" altLang="en-US" sz="1100" b="1" u="sng" dirty="0">
                          <a:latin typeface="+mj-ea"/>
                          <a:ea typeface="+mj-ea"/>
                        </a:rPr>
                        <a:t>としての利用等</a:t>
                      </a:r>
                      <a:r>
                        <a:rPr kumimoji="1" lang="en-US" altLang="ja-JP" sz="1100" b="1" u="sng" dirty="0">
                          <a:latin typeface="+mj-ea"/>
                          <a:ea typeface="+mj-ea"/>
                        </a:rPr>
                        <a:t>)</a:t>
                      </a: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u="none" kern="1200" dirty="0">
                          <a:solidFill>
                            <a:schemeClr val="tx1"/>
                          </a:solidFill>
                          <a:latin typeface="+mj-ea"/>
                          <a:ea typeface="+mn-ea"/>
                          <a:cs typeface="+mn-cs"/>
                        </a:rPr>
                        <a:t>ISO18013-5</a:t>
                      </a:r>
                      <a:r>
                        <a:rPr kumimoji="1" lang="ja-JP" altLang="en-US" sz="1100" b="0" u="none" kern="1200" dirty="0">
                          <a:solidFill>
                            <a:schemeClr val="tx1"/>
                          </a:solidFill>
                          <a:latin typeface="+mj-ea"/>
                          <a:ea typeface="+mn-ea"/>
                          <a:cs typeface="+mn-cs"/>
                        </a:rPr>
                        <a:t>を実装するためのガイドラインの策定プロセスと普及にかかる取組</a:t>
                      </a:r>
                      <a:endParaRPr kumimoji="1" lang="en-US" altLang="ja-JP" sz="1100" b="0" u="none" kern="1200" dirty="0">
                        <a:solidFill>
                          <a:schemeClr val="tx1"/>
                        </a:solidFill>
                        <a:latin typeface="+mj-ea"/>
                        <a:ea typeface="+mn-ea"/>
                        <a:cs typeface="+mn-cs"/>
                      </a:endParaRPr>
                    </a:p>
                    <a:p>
                      <a:pPr marL="171450" marR="0" lvl="0" indent="-1714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u="none" kern="1200" dirty="0">
                          <a:solidFill>
                            <a:schemeClr val="tx1"/>
                          </a:solidFill>
                          <a:latin typeface="+mj-ea"/>
                          <a:ea typeface="+mn-ea"/>
                          <a:cs typeface="+mn-cs"/>
                        </a:rPr>
                        <a:t>対応が進んでいる州における活動概要</a:t>
                      </a:r>
                      <a:endParaRPr kumimoji="1" lang="en-US" altLang="ja-JP" sz="1100" b="0" u="none" kern="1200" dirty="0">
                        <a:solidFill>
                          <a:schemeClr val="tx1"/>
                        </a:solidFill>
                        <a:latin typeface="+mj-ea"/>
                        <a:ea typeface="+mn-ea"/>
                        <a:cs typeface="+mn-cs"/>
                      </a:endParaRPr>
                    </a:p>
                  </a:txBody>
                  <a:tcPr marL="36000" marR="36000" marT="36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328011"/>
                  </a:ext>
                </a:extLst>
              </a:tr>
            </a:tbl>
          </a:graphicData>
        </a:graphic>
      </p:graphicFrame>
      <p:pic>
        <p:nvPicPr>
          <p:cNvPr id="6" name="Picture 2">
            <a:extLst>
              <a:ext uri="{FF2B5EF4-FFF2-40B4-BE49-F238E27FC236}">
                <a16:creationId xmlns:a16="http://schemas.microsoft.com/office/drawing/2014/main" id="{4B5EDD38-F30E-4D02-B693-6D889AE54AB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555" r="555"/>
          <a:stretch/>
        </p:blipFill>
        <p:spPr bwMode="gray">
          <a:xfrm>
            <a:off x="638007" y="3147985"/>
            <a:ext cx="720000" cy="483200"/>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3">
            <a:extLst>
              <a:ext uri="{FF2B5EF4-FFF2-40B4-BE49-F238E27FC236}">
                <a16:creationId xmlns:a16="http://schemas.microsoft.com/office/drawing/2014/main" id="{95DA4560-BD13-211E-DEA0-D1DF8974A827}"/>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786" r="786"/>
          <a:stretch/>
        </p:blipFill>
        <p:spPr bwMode="gray">
          <a:xfrm>
            <a:off x="631754" y="2413633"/>
            <a:ext cx="720000" cy="483199"/>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a:extLst>
              <a:ext uri="{FF2B5EF4-FFF2-40B4-BE49-F238E27FC236}">
                <a16:creationId xmlns:a16="http://schemas.microsoft.com/office/drawing/2014/main" id="{41949D64-26D6-23AD-A575-CCAEF2CEDBC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30" r="330"/>
          <a:stretch/>
        </p:blipFill>
        <p:spPr bwMode="gray">
          <a:xfrm>
            <a:off x="623733" y="5729983"/>
            <a:ext cx="720000" cy="482400"/>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a:extLst>
              <a:ext uri="{FF2B5EF4-FFF2-40B4-BE49-F238E27FC236}">
                <a16:creationId xmlns:a16="http://schemas.microsoft.com/office/drawing/2014/main" id="{7AE35173-688D-8EC4-F610-BED2BE9AD084}"/>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786" r="786"/>
          <a:stretch/>
        </p:blipFill>
        <p:spPr bwMode="gray">
          <a:xfrm>
            <a:off x="631754" y="4831597"/>
            <a:ext cx="720000" cy="482400"/>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9">
            <a:extLst>
              <a:ext uri="{FF2B5EF4-FFF2-40B4-BE49-F238E27FC236}">
                <a16:creationId xmlns:a16="http://schemas.microsoft.com/office/drawing/2014/main" id="{5458C0B8-C85A-FCF3-9EB8-3273BC6C3078}"/>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1" r="206"/>
          <a:stretch/>
        </p:blipFill>
        <p:spPr bwMode="gray">
          <a:xfrm>
            <a:off x="631754" y="3937519"/>
            <a:ext cx="720000" cy="482400"/>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Flag Of Eu PNG, SVG Clip art for Web - Download Clip Art, PNG Icon Arts">
            <a:extLst>
              <a:ext uri="{FF2B5EF4-FFF2-40B4-BE49-F238E27FC236}">
                <a16:creationId xmlns:a16="http://schemas.microsoft.com/office/drawing/2014/main" id="{35EB4BF9-3FF5-BA91-0333-0ABFA3554B6A}"/>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31754" y="1559846"/>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1" name="コンテンツ プレースホルダー 2">
            <a:extLst>
              <a:ext uri="{FF2B5EF4-FFF2-40B4-BE49-F238E27FC236}">
                <a16:creationId xmlns:a16="http://schemas.microsoft.com/office/drawing/2014/main" id="{69590EDC-6ED1-358F-8FDD-D11371CA8C62}"/>
              </a:ext>
            </a:extLst>
          </p:cNvPr>
          <p:cNvSpPr txBox="1">
            <a:spLocks/>
          </p:cNvSpPr>
          <p:nvPr/>
        </p:nvSpPr>
        <p:spPr>
          <a:xfrm>
            <a:off x="273050" y="908050"/>
            <a:ext cx="9359900" cy="30777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以下</a:t>
            </a:r>
            <a:r>
              <a:rPr lang="en-US" altLang="ja-JP" dirty="0"/>
              <a:t>6</a:t>
            </a:r>
            <a:r>
              <a:rPr lang="ja-JP" altLang="en-US" dirty="0"/>
              <a:t>の国・地域について調査を実施</a:t>
            </a:r>
            <a:endParaRPr lang="en-US" altLang="ja-JP" dirty="0"/>
          </a:p>
        </p:txBody>
      </p:sp>
    </p:spTree>
    <p:extLst>
      <p:ext uri="{BB962C8B-B14F-4D97-AF65-F5344CB8AC3E}">
        <p14:creationId xmlns:p14="http://schemas.microsoft.com/office/powerpoint/2010/main" val="3682823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DD2762-1828-AC6F-5953-3FD3D8A32F47}"/>
              </a:ext>
            </a:extLst>
          </p:cNvPr>
          <p:cNvSpPr>
            <a:spLocks noGrp="1"/>
          </p:cNvSpPr>
          <p:nvPr>
            <p:ph type="title"/>
          </p:nvPr>
        </p:nvSpPr>
        <p:spPr/>
        <p:txBody>
          <a:bodyPr/>
          <a:lstStyle/>
          <a:p>
            <a:r>
              <a:rPr kumimoji="1" lang="en-US" altLang="ja-JP" dirty="0"/>
              <a:t>2.3. </a:t>
            </a:r>
            <a:r>
              <a:rPr kumimoji="1" lang="ja-JP" altLang="en-US" dirty="0"/>
              <a:t>デスクトップ調査観点</a:t>
            </a:r>
          </a:p>
        </p:txBody>
      </p:sp>
      <p:sp>
        <p:nvSpPr>
          <p:cNvPr id="3" name="テキスト プレースホルダー 2">
            <a:extLst>
              <a:ext uri="{FF2B5EF4-FFF2-40B4-BE49-F238E27FC236}">
                <a16:creationId xmlns:a16="http://schemas.microsoft.com/office/drawing/2014/main" id="{A72AE08C-E9E4-5100-8885-599BC7642D93}"/>
              </a:ext>
            </a:extLst>
          </p:cNvPr>
          <p:cNvSpPr>
            <a:spLocks noGrp="1"/>
          </p:cNvSpPr>
          <p:nvPr>
            <p:ph type="body" sz="quarter" idx="10"/>
          </p:nvPr>
        </p:nvSpPr>
        <p:spPr>
          <a:xfrm>
            <a:off x="273050" y="188913"/>
            <a:ext cx="7848600" cy="161583"/>
          </a:xfrm>
        </p:spPr>
        <p:txBody>
          <a:bodyPr/>
          <a:lstStyle/>
          <a:p>
            <a:r>
              <a:rPr lang="en-US" altLang="ja-JP" sz="1050" dirty="0"/>
              <a:t>2</a:t>
            </a:r>
            <a:r>
              <a:rPr lang="en-US" altLang="ja-JP" dirty="0"/>
              <a:t>.</a:t>
            </a:r>
            <a:r>
              <a:rPr lang="ja-JP" altLang="en-US" dirty="0"/>
              <a:t> </a:t>
            </a:r>
            <a:r>
              <a:rPr lang="ja-JP" altLang="en-US" sz="1050" dirty="0"/>
              <a:t>実施アプローチ</a:t>
            </a:r>
            <a:endParaRPr kumimoji="1" lang="ja-JP" altLang="en-US" dirty="0"/>
          </a:p>
        </p:txBody>
      </p:sp>
      <p:sp>
        <p:nvSpPr>
          <p:cNvPr id="4" name="コンテンツ プレースホルダー 2">
            <a:extLst>
              <a:ext uri="{FF2B5EF4-FFF2-40B4-BE49-F238E27FC236}">
                <a16:creationId xmlns:a16="http://schemas.microsoft.com/office/drawing/2014/main" id="{EC4A03FA-50CD-E572-A234-70E77ADB1BE0}"/>
              </a:ext>
            </a:extLst>
          </p:cNvPr>
          <p:cNvSpPr txBox="1">
            <a:spLocks/>
          </p:cNvSpPr>
          <p:nvPr/>
        </p:nvSpPr>
        <p:spPr>
          <a:xfrm>
            <a:off x="273050" y="908050"/>
            <a:ext cx="9359900" cy="585940"/>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デスクトップ調査を行ったトラストフレームワークは</a:t>
            </a:r>
            <a:r>
              <a:rPr lang="en-US" altLang="ja-JP" dirty="0"/>
              <a:t>Trusted Web </a:t>
            </a:r>
            <a:r>
              <a:rPr lang="ja-JP" altLang="en-US" dirty="0"/>
              <a:t>ホワイトペーパー</a:t>
            </a:r>
            <a:r>
              <a:rPr lang="en-US" altLang="ja-JP" dirty="0"/>
              <a:t>ver.3.0</a:t>
            </a:r>
            <a:r>
              <a:rPr lang="ja-JP" altLang="en-US" dirty="0"/>
              <a:t>*のガバナンス</a:t>
            </a:r>
            <a:r>
              <a:rPr lang="en-US" altLang="ja-JP" dirty="0"/>
              <a:t>(</a:t>
            </a:r>
            <a:r>
              <a:rPr lang="ja-JP" altLang="en-US" dirty="0"/>
              <a:t>全体像</a:t>
            </a:r>
            <a:r>
              <a:rPr lang="en-US" altLang="ja-JP" dirty="0"/>
              <a:t>)</a:t>
            </a:r>
            <a:r>
              <a:rPr lang="ja-JP" altLang="en-US" dirty="0"/>
              <a:t>に倣って以下観点でガバナンス構造を整理</a:t>
            </a:r>
            <a:endParaRPr lang="en-US" altLang="ja-JP" dirty="0"/>
          </a:p>
          <a:p>
            <a:pPr lvl="1"/>
            <a:r>
              <a:rPr lang="ja-JP" altLang="en-US" dirty="0"/>
              <a:t>トラストフレームワークとその上位規制、トラストフレームワークとそれが適用されているサービスとの関係</a:t>
            </a:r>
          </a:p>
          <a:p>
            <a:pPr lvl="1"/>
            <a:r>
              <a:rPr lang="ja-JP" altLang="en-US" dirty="0"/>
              <a:t>トラストフレームワークと策定・認定主体の関係</a:t>
            </a:r>
          </a:p>
        </p:txBody>
      </p:sp>
      <p:sp>
        <p:nvSpPr>
          <p:cNvPr id="92" name="正方形/長方形 91">
            <a:extLst>
              <a:ext uri="{FF2B5EF4-FFF2-40B4-BE49-F238E27FC236}">
                <a16:creationId xmlns:a16="http://schemas.microsoft.com/office/drawing/2014/main" id="{ABB73342-331A-4689-B675-7B6FAE1BE037}"/>
              </a:ext>
            </a:extLst>
          </p:cNvPr>
          <p:cNvSpPr/>
          <p:nvPr/>
        </p:nvSpPr>
        <p:spPr>
          <a:xfrm>
            <a:off x="354075" y="2156556"/>
            <a:ext cx="9311577" cy="3984003"/>
          </a:xfrm>
          <a:prstGeom prst="rect">
            <a:avLst/>
          </a:prstGeom>
          <a:solidFill>
            <a:schemeClr val="bg1"/>
          </a:solidFill>
          <a:ln w="127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sz="1800" dirty="0"/>
          </a:p>
        </p:txBody>
      </p:sp>
      <p:sp>
        <p:nvSpPr>
          <p:cNvPr id="93" name="正方形/長方形 92">
            <a:extLst>
              <a:ext uri="{FF2B5EF4-FFF2-40B4-BE49-F238E27FC236}">
                <a16:creationId xmlns:a16="http://schemas.microsoft.com/office/drawing/2014/main" id="{C4294556-BF5A-6D83-F7AB-E679F39672A4}"/>
              </a:ext>
            </a:extLst>
          </p:cNvPr>
          <p:cNvSpPr/>
          <p:nvPr/>
        </p:nvSpPr>
        <p:spPr>
          <a:xfrm>
            <a:off x="350544" y="1997114"/>
            <a:ext cx="4779753" cy="294236"/>
          </a:xfrm>
          <a:prstGeom prst="rect">
            <a:avLst/>
          </a:prstGeom>
          <a:solidFill>
            <a:schemeClr val="accent1"/>
          </a:solidFill>
          <a:ln w="127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wrap="none" rtlCol="0" anchor="ctr"/>
          <a:lstStyle/>
          <a:p>
            <a:r>
              <a:rPr kumimoji="1" lang="en-US" altLang="ja-JP" sz="1400" b="1" dirty="0">
                <a:solidFill>
                  <a:schemeClr val="bg1"/>
                </a:solidFill>
              </a:rPr>
              <a:t>Trusted Web </a:t>
            </a:r>
            <a:r>
              <a:rPr kumimoji="1" lang="ja-JP" altLang="en-US" sz="1400" b="1" dirty="0">
                <a:solidFill>
                  <a:schemeClr val="bg1"/>
                </a:solidFill>
              </a:rPr>
              <a:t>ホワイトペーパー</a:t>
            </a:r>
            <a:r>
              <a:rPr kumimoji="1" lang="en-US" altLang="ja-JP" sz="1400" b="1" dirty="0">
                <a:solidFill>
                  <a:schemeClr val="bg1"/>
                </a:solidFill>
              </a:rPr>
              <a:t>ver.3.0 </a:t>
            </a:r>
            <a:r>
              <a:rPr kumimoji="1" lang="ja-JP" altLang="en-US" sz="1400" b="1" dirty="0">
                <a:solidFill>
                  <a:schemeClr val="bg1"/>
                </a:solidFill>
              </a:rPr>
              <a:t>ガバナンス（全体像）</a:t>
            </a:r>
          </a:p>
        </p:txBody>
      </p:sp>
      <p:pic>
        <p:nvPicPr>
          <p:cNvPr id="106" name="図 105">
            <a:extLst>
              <a:ext uri="{FF2B5EF4-FFF2-40B4-BE49-F238E27FC236}">
                <a16:creationId xmlns:a16="http://schemas.microsoft.com/office/drawing/2014/main" id="{957CA30A-1D72-E9B7-BD4E-F0A15F047F0B}"/>
              </a:ext>
            </a:extLst>
          </p:cNvPr>
          <p:cNvPicPr>
            <a:picLocks noChangeAspect="1"/>
          </p:cNvPicPr>
          <p:nvPr/>
        </p:nvPicPr>
        <p:blipFill>
          <a:blip r:embed="rId2"/>
          <a:stretch>
            <a:fillRect/>
          </a:stretch>
        </p:blipFill>
        <p:spPr>
          <a:xfrm>
            <a:off x="421914" y="2291350"/>
            <a:ext cx="9172368" cy="3849209"/>
          </a:xfrm>
          <a:prstGeom prst="rect">
            <a:avLst/>
          </a:prstGeom>
        </p:spPr>
      </p:pic>
      <p:sp>
        <p:nvSpPr>
          <p:cNvPr id="5" name="テキスト ボックス 4">
            <a:extLst>
              <a:ext uri="{FF2B5EF4-FFF2-40B4-BE49-F238E27FC236}">
                <a16:creationId xmlns:a16="http://schemas.microsoft.com/office/drawing/2014/main" id="{769C29A3-1973-FF14-629C-295E60C0BB07}"/>
              </a:ext>
            </a:extLst>
          </p:cNvPr>
          <p:cNvSpPr txBox="1"/>
          <p:nvPr/>
        </p:nvSpPr>
        <p:spPr>
          <a:xfrm>
            <a:off x="273050" y="6211060"/>
            <a:ext cx="9274285" cy="369332"/>
          </a:xfrm>
          <a:prstGeom prst="rect">
            <a:avLst/>
          </a:prstGeom>
          <a:noFill/>
        </p:spPr>
        <p:txBody>
          <a:bodyPr wrap="square">
            <a:spAutoFit/>
          </a:bodyPr>
          <a:lstStyle/>
          <a:p>
            <a:r>
              <a:rPr lang="ja-JP" altLang="en-US" sz="900" dirty="0">
                <a:latin typeface="+mn-ea"/>
                <a:ea typeface="+mn-ea"/>
              </a:rPr>
              <a:t>*</a:t>
            </a:r>
            <a:r>
              <a:rPr lang="en-US" altLang="ja-JP" sz="900" dirty="0">
                <a:latin typeface="+mn-ea"/>
                <a:ea typeface="+mn-ea"/>
              </a:rPr>
              <a:t>Trusted Web </a:t>
            </a:r>
            <a:r>
              <a:rPr lang="ja-JP" altLang="en-US" sz="900" dirty="0">
                <a:latin typeface="+mn-ea"/>
                <a:ea typeface="+mn-ea"/>
              </a:rPr>
              <a:t>ホワイトペーパー</a:t>
            </a:r>
            <a:r>
              <a:rPr lang="en-US" altLang="ja-JP" sz="900" dirty="0">
                <a:latin typeface="+mn-ea"/>
                <a:ea typeface="+mn-ea"/>
              </a:rPr>
              <a:t>ver.3.0</a:t>
            </a:r>
            <a:r>
              <a:rPr lang="ja-JP" altLang="en-US" sz="900" dirty="0">
                <a:latin typeface="+mn-ea"/>
                <a:ea typeface="+mn-ea"/>
              </a:rPr>
              <a:t>概要</a:t>
            </a:r>
            <a:endParaRPr lang="en-US" altLang="ja-JP" sz="900" dirty="0">
              <a:latin typeface="+mn-ea"/>
              <a:ea typeface="+mn-ea"/>
            </a:endParaRPr>
          </a:p>
          <a:p>
            <a:r>
              <a:rPr lang="en-US" altLang="ja-JP" sz="900" dirty="0">
                <a:latin typeface="+mn-ea"/>
                <a:ea typeface="+mn-ea"/>
                <a:hlinkClick r:id="rId3"/>
              </a:rPr>
              <a:t>https://www.kantei.go.jp/jp/singi/digitalmarket/trusted_web/pdf/trustedweb_3_gaiyou.pdf</a:t>
            </a:r>
            <a:endParaRPr lang="en-US" altLang="ja-JP" sz="900" dirty="0">
              <a:latin typeface="+mn-ea"/>
              <a:ea typeface="+mn-ea"/>
            </a:endParaRPr>
          </a:p>
        </p:txBody>
      </p:sp>
    </p:spTree>
    <p:extLst>
      <p:ext uri="{BB962C8B-B14F-4D97-AF65-F5344CB8AC3E}">
        <p14:creationId xmlns:p14="http://schemas.microsoft.com/office/powerpoint/2010/main" val="1210428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正方形/長方形 107">
            <a:extLst>
              <a:ext uri="{FF2B5EF4-FFF2-40B4-BE49-F238E27FC236}">
                <a16:creationId xmlns:a16="http://schemas.microsoft.com/office/drawing/2014/main" id="{F96C62DC-1D05-BC16-7693-F8C1C7C7354E}"/>
              </a:ext>
            </a:extLst>
          </p:cNvPr>
          <p:cNvSpPr/>
          <p:nvPr/>
        </p:nvSpPr>
        <p:spPr bwMode="gray">
          <a:xfrm>
            <a:off x="8832575" y="4377009"/>
            <a:ext cx="783234" cy="1032375"/>
          </a:xfrm>
          <a:prstGeom prst="rect">
            <a:avLst/>
          </a:prstGeom>
          <a:solidFill>
            <a:schemeClr val="bg1">
              <a:lumMod val="9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sz="1400" dirty="0">
              <a:latin typeface="+mn-lt"/>
              <a:ea typeface="+mn-ea"/>
            </a:endParaRPr>
          </a:p>
        </p:txBody>
      </p:sp>
      <p:sp>
        <p:nvSpPr>
          <p:cNvPr id="107" name="正方形/長方形 106">
            <a:extLst>
              <a:ext uri="{FF2B5EF4-FFF2-40B4-BE49-F238E27FC236}">
                <a16:creationId xmlns:a16="http://schemas.microsoft.com/office/drawing/2014/main" id="{07F6CBC3-BE40-5D7C-B58E-B1ECA798A775}"/>
              </a:ext>
            </a:extLst>
          </p:cNvPr>
          <p:cNvSpPr/>
          <p:nvPr/>
        </p:nvSpPr>
        <p:spPr bwMode="gray">
          <a:xfrm>
            <a:off x="8832575" y="1702232"/>
            <a:ext cx="783234" cy="2590529"/>
          </a:xfrm>
          <a:prstGeom prst="rect">
            <a:avLst/>
          </a:prstGeom>
          <a:solidFill>
            <a:schemeClr val="bg1">
              <a:lumMod val="9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sz="1400" dirty="0">
              <a:latin typeface="+mn-lt"/>
              <a:ea typeface="+mn-ea"/>
            </a:endParaRPr>
          </a:p>
        </p:txBody>
      </p:sp>
      <p:graphicFrame>
        <p:nvGraphicFramePr>
          <p:cNvPr id="4" name="オブジェクト 3" hidden="1">
            <a:extLst>
              <a:ext uri="{FF2B5EF4-FFF2-40B4-BE49-F238E27FC236}">
                <a16:creationId xmlns:a16="http://schemas.microsoft.com/office/drawing/2014/main" id="{AE04E25F-3FFD-4C31-A19B-B65A96A887CC}"/>
              </a:ext>
            </a:extLst>
          </p:cNvPr>
          <p:cNvGraphicFramePr>
            <a:graphicFrameLocks noChangeAspect="1"/>
          </p:cNvGraphicFramePr>
          <p:nvPr>
            <p:custDataLst>
              <p:tags r:id="rId1"/>
            </p:custDataLst>
            <p:extLst>
              <p:ext uri="{D42A27DB-BD31-4B8C-83A1-F6EECF244321}">
                <p14:modId xmlns:p14="http://schemas.microsoft.com/office/powerpoint/2010/main" val="17039654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624" imgH="623" progId="TCLayout.ActiveDocument.1">
                  <p:embed/>
                </p:oleObj>
              </mc:Choice>
              <mc:Fallback>
                <p:oleObj name="think-cell スライド" r:id="rId4" imgW="624" imgH="623" progId="TCLayout.ActiveDocument.1">
                  <p:embed/>
                  <p:pic>
                    <p:nvPicPr>
                      <p:cNvPr id="4" name="オブジェクト 3" hidden="1">
                        <a:extLst>
                          <a:ext uri="{FF2B5EF4-FFF2-40B4-BE49-F238E27FC236}">
                            <a16:creationId xmlns:a16="http://schemas.microsoft.com/office/drawing/2014/main" id="{AE04E25F-3FFD-4C31-A19B-B65A96A887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3C692FE-B352-4645-BC39-2F63B635E01F}"/>
              </a:ext>
            </a:extLst>
          </p:cNvPr>
          <p:cNvSpPr>
            <a:spLocks noGrp="1"/>
          </p:cNvSpPr>
          <p:nvPr>
            <p:ph type="title"/>
          </p:nvPr>
        </p:nvSpPr>
        <p:spPr/>
        <p:txBody>
          <a:bodyPr vert="horz"/>
          <a:lstStyle/>
          <a:p>
            <a:r>
              <a:rPr kumimoji="1" lang="en-US" altLang="ja-JP" dirty="0"/>
              <a:t>2.4. </a:t>
            </a:r>
            <a:r>
              <a:rPr kumimoji="1" lang="ja-JP" altLang="en-US" dirty="0"/>
              <a:t>ヒアリング調査観点</a:t>
            </a:r>
          </a:p>
        </p:txBody>
      </p:sp>
      <p:sp>
        <p:nvSpPr>
          <p:cNvPr id="9" name="テキスト プレースホルダー 8">
            <a:extLst>
              <a:ext uri="{FF2B5EF4-FFF2-40B4-BE49-F238E27FC236}">
                <a16:creationId xmlns:a16="http://schemas.microsoft.com/office/drawing/2014/main" id="{6C1403AB-9576-5200-77E3-0E57C40CB01C}"/>
              </a:ext>
            </a:extLst>
          </p:cNvPr>
          <p:cNvSpPr>
            <a:spLocks noGrp="1"/>
          </p:cNvSpPr>
          <p:nvPr>
            <p:ph type="body" sz="quarter" idx="10"/>
          </p:nvPr>
        </p:nvSpPr>
        <p:spPr/>
        <p:txBody>
          <a:bodyPr/>
          <a:lstStyle/>
          <a:p>
            <a:r>
              <a:rPr lang="en-US" altLang="ja-JP" sz="1050" dirty="0"/>
              <a:t>2.</a:t>
            </a:r>
            <a:r>
              <a:rPr lang="ja-JP" altLang="en-US" sz="1050" dirty="0"/>
              <a:t> 実施アプローチ</a:t>
            </a:r>
            <a:endParaRPr kumimoji="1" lang="ja-JP" altLang="en-US" dirty="0"/>
          </a:p>
        </p:txBody>
      </p:sp>
      <p:sp>
        <p:nvSpPr>
          <p:cNvPr id="54" name="コンテンツ プレースホルダー 2">
            <a:extLst>
              <a:ext uri="{FF2B5EF4-FFF2-40B4-BE49-F238E27FC236}">
                <a16:creationId xmlns:a16="http://schemas.microsoft.com/office/drawing/2014/main" id="{18E238A4-A1E9-390E-DA87-F6C2DDE5DD8E}"/>
              </a:ext>
            </a:extLst>
          </p:cNvPr>
          <p:cNvSpPr txBox="1">
            <a:spLocks/>
          </p:cNvSpPr>
          <p:nvPr/>
        </p:nvSpPr>
        <p:spPr>
          <a:xfrm>
            <a:off x="273050" y="908050"/>
            <a:ext cx="9359900" cy="585940"/>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トラストフレームワークやコンソーシアムそのものの概要ではなく、作成・設立や運用プロセスの課題抽出を目的に調査</a:t>
            </a:r>
            <a:endParaRPr lang="en-US" altLang="ja-JP" dirty="0"/>
          </a:p>
        </p:txBody>
      </p:sp>
      <p:sp>
        <p:nvSpPr>
          <p:cNvPr id="21" name="正方形/長方形 20">
            <a:extLst>
              <a:ext uri="{FF2B5EF4-FFF2-40B4-BE49-F238E27FC236}">
                <a16:creationId xmlns:a16="http://schemas.microsoft.com/office/drawing/2014/main" id="{240BD44E-2CC7-BDE0-970F-849C5B1290A1}"/>
              </a:ext>
            </a:extLst>
          </p:cNvPr>
          <p:cNvSpPr/>
          <p:nvPr/>
        </p:nvSpPr>
        <p:spPr bwMode="gray">
          <a:xfrm>
            <a:off x="288759" y="1702230"/>
            <a:ext cx="954506" cy="3707149"/>
          </a:xfrm>
          <a:prstGeom prst="rect">
            <a:avLst/>
          </a:prstGeom>
          <a:solidFill>
            <a:schemeClr val="accent1"/>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solidFill>
                  <a:schemeClr val="bg1"/>
                </a:solidFill>
                <a:latin typeface="+mn-lt"/>
                <a:ea typeface="+mn-ea"/>
              </a:rPr>
              <a:t>トラスト</a:t>
            </a:r>
            <a:endParaRPr lang="en-US" altLang="ja-JP" sz="1400" dirty="0">
              <a:solidFill>
                <a:schemeClr val="bg1"/>
              </a:solidFill>
              <a:latin typeface="+mn-lt"/>
              <a:ea typeface="+mn-ea"/>
            </a:endParaRPr>
          </a:p>
          <a:p>
            <a:pPr algn="ctr"/>
            <a:r>
              <a:rPr lang="ja-JP" altLang="en-US" sz="1400" dirty="0">
                <a:solidFill>
                  <a:schemeClr val="bg1"/>
                </a:solidFill>
                <a:latin typeface="+mn-lt"/>
                <a:ea typeface="+mn-ea"/>
              </a:rPr>
              <a:t>フレームワーク</a:t>
            </a:r>
          </a:p>
        </p:txBody>
      </p:sp>
      <p:sp>
        <p:nvSpPr>
          <p:cNvPr id="24" name="正方形/長方形 23">
            <a:extLst>
              <a:ext uri="{FF2B5EF4-FFF2-40B4-BE49-F238E27FC236}">
                <a16:creationId xmlns:a16="http://schemas.microsoft.com/office/drawing/2014/main" id="{4B3501EF-27B1-D0EC-D6D2-F7E1DCB897FB}"/>
              </a:ext>
            </a:extLst>
          </p:cNvPr>
          <p:cNvSpPr/>
          <p:nvPr/>
        </p:nvSpPr>
        <p:spPr bwMode="gray">
          <a:xfrm>
            <a:off x="2799535" y="1702232"/>
            <a:ext cx="5966077" cy="1032375"/>
          </a:xfrm>
          <a:prstGeom prst="rect">
            <a:avLst/>
          </a:prstGeom>
          <a:solidFill>
            <a:schemeClr val="accent5">
              <a:lumMod val="20000"/>
              <a:lumOff val="80000"/>
            </a:schemeClr>
          </a:solidFill>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indent="-171450" defTabSz="990564" rtl="0" eaLnBrk="1" fontAlgn="auto" latinLnBrk="0" hangingPunct="1">
              <a:lnSpc>
                <a:spcPct val="100000"/>
              </a:lnSpc>
              <a:spcBef>
                <a:spcPts val="600"/>
              </a:spcBef>
              <a:spcAft>
                <a:spcPts val="0"/>
              </a:spcAft>
              <a:buClrTx/>
              <a:buSzPct val="100000"/>
              <a:buFont typeface="Arial" panose="020B0604020202020204" pitchFamily="34" charset="0"/>
              <a:buChar char="•"/>
              <a:tabLst/>
            </a:pPr>
            <a:r>
              <a:rPr kumimoji="1" lang="ja-JP" altLang="en-US" sz="1200" b="0" i="0" u="none" strike="noStrike" kern="1200" cap="none" spc="0" normalizeH="0" baseline="0" noProof="0" dirty="0">
                <a:ln>
                  <a:noFill/>
                </a:ln>
                <a:solidFill>
                  <a:prstClr val="black"/>
                </a:solidFill>
                <a:effectLst/>
                <a:uLnTx/>
                <a:uFillTx/>
                <a:latin typeface="+mn-lt"/>
                <a:ea typeface="+mn-ea"/>
                <a:cs typeface="+mn-cs"/>
              </a:rPr>
              <a:t>策定に関わるプレイヤーやその巻き込みはどのように行ったか</a:t>
            </a:r>
          </a:p>
          <a:p>
            <a:pPr marL="171450" marR="0" indent="-171450" defTabSz="990564" rtl="0" eaLnBrk="1" fontAlgn="auto" latinLnBrk="0" hangingPunct="1">
              <a:lnSpc>
                <a:spcPct val="100000"/>
              </a:lnSpc>
              <a:spcBef>
                <a:spcPts val="600"/>
              </a:spcBef>
              <a:spcAft>
                <a:spcPts val="0"/>
              </a:spcAft>
              <a:buClrTx/>
              <a:buSzPct val="100000"/>
              <a:buFont typeface="Arial" panose="020B0604020202020204" pitchFamily="34" charset="0"/>
              <a:buChar char="•"/>
              <a:tabLst/>
            </a:pPr>
            <a:r>
              <a:rPr kumimoji="1" lang="ja-JP" altLang="en-US" sz="1200" b="0" i="0" u="none" strike="noStrike" kern="1200" cap="none" spc="0" normalizeH="0" baseline="0" noProof="0" dirty="0">
                <a:ln>
                  <a:noFill/>
                </a:ln>
                <a:solidFill>
                  <a:prstClr val="black"/>
                </a:solidFill>
                <a:effectLst/>
                <a:uLnTx/>
                <a:uFillTx/>
                <a:latin typeface="+mn-lt"/>
                <a:ea typeface="+mn-ea"/>
                <a:cs typeface="+mn-cs"/>
              </a:rPr>
              <a:t>議論を進める上で特に調整を要した点（留意点）は何か</a:t>
            </a:r>
          </a:p>
        </p:txBody>
      </p:sp>
      <p:sp>
        <p:nvSpPr>
          <p:cNvPr id="26" name="正方形/長方形 25">
            <a:extLst>
              <a:ext uri="{FF2B5EF4-FFF2-40B4-BE49-F238E27FC236}">
                <a16:creationId xmlns:a16="http://schemas.microsoft.com/office/drawing/2014/main" id="{8A8FA231-E243-F7BB-DF1E-80B29DA1EB0E}"/>
              </a:ext>
            </a:extLst>
          </p:cNvPr>
          <p:cNvSpPr/>
          <p:nvPr/>
        </p:nvSpPr>
        <p:spPr bwMode="gray">
          <a:xfrm>
            <a:off x="1273993" y="1702231"/>
            <a:ext cx="1458580" cy="1032375"/>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策定プロセス</a:t>
            </a:r>
          </a:p>
        </p:txBody>
      </p:sp>
      <p:sp>
        <p:nvSpPr>
          <p:cNvPr id="36" name="正方形/長方形 35">
            <a:extLst>
              <a:ext uri="{FF2B5EF4-FFF2-40B4-BE49-F238E27FC236}">
                <a16:creationId xmlns:a16="http://schemas.microsoft.com/office/drawing/2014/main" id="{048C1F6A-88F1-C3F9-2D28-A40592AC15E9}"/>
              </a:ext>
            </a:extLst>
          </p:cNvPr>
          <p:cNvSpPr/>
          <p:nvPr/>
        </p:nvSpPr>
        <p:spPr bwMode="gray">
          <a:xfrm>
            <a:off x="2799538" y="2822459"/>
            <a:ext cx="5966076" cy="1470300"/>
          </a:xfrm>
          <a:prstGeom prst="rect">
            <a:avLst/>
          </a:prstGeom>
          <a:solidFill>
            <a:schemeClr val="accent5">
              <a:lumMod val="20000"/>
              <a:lumOff val="80000"/>
            </a:schemeClr>
          </a:solidFill>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L="171450" marR="0" indent="-171450" defTabSz="990564" rtl="0" eaLnBrk="1" fontAlgn="auto" latinLnBrk="0" hangingPunct="1">
              <a:lnSpc>
                <a:spcPct val="100000"/>
              </a:lnSpc>
              <a:spcBef>
                <a:spcPts val="600"/>
              </a:spcBef>
              <a:spcAft>
                <a:spcPts val="0"/>
              </a:spcAft>
              <a:buClrTx/>
              <a:buSzPct val="100000"/>
              <a:buFont typeface="Arial" panose="020B0604020202020204" pitchFamily="34" charset="0"/>
              <a:buChar char="•"/>
              <a:tabLst/>
            </a:pPr>
            <a:r>
              <a:rPr kumimoji="1" lang="ja-JP" altLang="en-US" sz="1200" b="0" i="0" u="none" strike="noStrike" kern="1200" cap="none" spc="0" normalizeH="0" baseline="0" noProof="0" dirty="0">
                <a:ln>
                  <a:noFill/>
                </a:ln>
                <a:solidFill>
                  <a:prstClr val="black"/>
                </a:solidFill>
                <a:effectLst/>
                <a:uLnTx/>
                <a:uFillTx/>
                <a:latin typeface="+mn-lt"/>
                <a:ea typeface="+mn-ea"/>
                <a:cs typeface="+mn-cs"/>
              </a:rPr>
              <a:t>トラストフレームワークの社会実装に向けて、どのようなインセンティブ設計をしているか</a:t>
            </a:r>
            <a:endParaRPr kumimoji="1" lang="en-US" altLang="ja-JP" sz="1200" b="0" i="0" u="none" strike="noStrike" kern="1200" cap="none" spc="0" normalizeH="0" baseline="0" noProof="0" dirty="0">
              <a:ln>
                <a:noFill/>
              </a:ln>
              <a:solidFill>
                <a:prstClr val="black"/>
              </a:solidFill>
              <a:effectLst/>
              <a:uLnTx/>
              <a:uFillTx/>
              <a:latin typeface="+mn-lt"/>
              <a:ea typeface="+mn-ea"/>
              <a:cs typeface="+mn-cs"/>
            </a:endParaRPr>
          </a:p>
          <a:p>
            <a:pPr marL="171450" marR="0" indent="-171450" defTabSz="990564" rtl="0" eaLnBrk="1" fontAlgn="auto" latinLnBrk="0" hangingPunct="1">
              <a:lnSpc>
                <a:spcPct val="100000"/>
              </a:lnSpc>
              <a:spcBef>
                <a:spcPts val="600"/>
              </a:spcBef>
              <a:spcAft>
                <a:spcPts val="0"/>
              </a:spcAft>
              <a:buClrTx/>
              <a:buSzPct val="100000"/>
              <a:buFont typeface="Arial" panose="020B0604020202020204" pitchFamily="34" charset="0"/>
              <a:buChar char="•"/>
              <a:tabLst/>
            </a:pPr>
            <a:r>
              <a:rPr kumimoji="1" lang="ja-JP" altLang="en-US" sz="1200" b="0" i="0" u="none" strike="noStrike" kern="1200" cap="none" spc="0" normalizeH="0" baseline="0" noProof="0" dirty="0">
                <a:ln>
                  <a:noFill/>
                </a:ln>
                <a:solidFill>
                  <a:prstClr val="black"/>
                </a:solidFill>
                <a:effectLst/>
                <a:uLnTx/>
                <a:uFillTx/>
                <a:latin typeface="+mn-lt"/>
                <a:ea typeface="+mn-ea"/>
                <a:cs typeface="+mn-cs"/>
              </a:rPr>
              <a:t>トラストフレークワークを社会実装していく上でどのような組織を立ち上げ、運営されているか（コンソーシアム・認定機関）</a:t>
            </a:r>
            <a:endParaRPr kumimoji="1" lang="en-US" altLang="ja-JP" sz="1200" b="0" i="0" u="none" strike="noStrike" kern="1200" cap="none" spc="0" normalizeH="0" baseline="0" noProof="0" dirty="0">
              <a:ln>
                <a:noFill/>
              </a:ln>
              <a:solidFill>
                <a:prstClr val="black"/>
              </a:solidFill>
              <a:effectLst/>
              <a:uLnTx/>
              <a:uFillTx/>
              <a:latin typeface="+mn-lt"/>
              <a:ea typeface="+mn-ea"/>
              <a:cs typeface="+mn-cs"/>
            </a:endParaRPr>
          </a:p>
          <a:p>
            <a:pPr marL="171450" marR="0" indent="-171450" defTabSz="990564" rtl="0" eaLnBrk="1" fontAlgn="auto" latinLnBrk="0" hangingPunct="1">
              <a:lnSpc>
                <a:spcPct val="100000"/>
              </a:lnSpc>
              <a:spcBef>
                <a:spcPts val="600"/>
              </a:spcBef>
              <a:spcAft>
                <a:spcPts val="0"/>
              </a:spcAft>
              <a:buClrTx/>
              <a:buSzPct val="100000"/>
              <a:buFont typeface="Arial" panose="020B0604020202020204" pitchFamily="34" charset="0"/>
              <a:buChar char="•"/>
              <a:tabLst/>
            </a:pPr>
            <a:r>
              <a:rPr lang="ja-JP" altLang="en-US" sz="1200" dirty="0">
                <a:solidFill>
                  <a:prstClr val="black"/>
                </a:solidFill>
                <a:latin typeface="+mn-lt"/>
                <a:ea typeface="+mn-ea"/>
              </a:rPr>
              <a:t>社会実装上の課題は何か</a:t>
            </a:r>
            <a:endParaRPr kumimoji="1" lang="ja-JP" altLang="en-US"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37" name="正方形/長方形 36">
            <a:extLst>
              <a:ext uri="{FF2B5EF4-FFF2-40B4-BE49-F238E27FC236}">
                <a16:creationId xmlns:a16="http://schemas.microsoft.com/office/drawing/2014/main" id="{36D9156B-073F-AE32-C95F-1DA70AEEB746}"/>
              </a:ext>
            </a:extLst>
          </p:cNvPr>
          <p:cNvSpPr/>
          <p:nvPr/>
        </p:nvSpPr>
        <p:spPr bwMode="gray">
          <a:xfrm>
            <a:off x="1285550" y="2822459"/>
            <a:ext cx="1458585" cy="2586924"/>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社会実装・運用</a:t>
            </a:r>
            <a:endParaRPr lang="en-US" altLang="ja-JP" sz="1400" dirty="0">
              <a:latin typeface="+mn-lt"/>
              <a:ea typeface="+mn-ea"/>
            </a:endParaRPr>
          </a:p>
          <a:p>
            <a:pPr algn="ctr"/>
            <a:r>
              <a:rPr lang="ja-JP" altLang="en-US" sz="1400" dirty="0">
                <a:latin typeface="+mn-lt"/>
                <a:ea typeface="+mn-ea"/>
              </a:rPr>
              <a:t>プロセス</a:t>
            </a:r>
            <a:endParaRPr lang="en-US" altLang="ja-JP" sz="1400" dirty="0">
              <a:latin typeface="+mn-lt"/>
              <a:ea typeface="+mn-ea"/>
            </a:endParaRPr>
          </a:p>
          <a:p>
            <a:pPr algn="ctr"/>
            <a:endParaRPr lang="en-US" altLang="ja-JP" sz="1400" dirty="0"/>
          </a:p>
          <a:p>
            <a:pPr algn="ctr"/>
            <a:endParaRPr lang="en-US" altLang="ja-JP" sz="1400" dirty="0">
              <a:latin typeface="+mn-lt"/>
              <a:ea typeface="+mn-ea"/>
            </a:endParaRPr>
          </a:p>
          <a:p>
            <a:pPr algn="ctr"/>
            <a:endParaRPr lang="en-US" altLang="ja-JP" sz="1400" dirty="0"/>
          </a:p>
          <a:p>
            <a:pPr algn="ctr"/>
            <a:endParaRPr lang="en-US" altLang="ja-JP" sz="1400" dirty="0">
              <a:latin typeface="+mn-lt"/>
              <a:ea typeface="+mn-ea"/>
            </a:endParaRPr>
          </a:p>
          <a:p>
            <a:pPr algn="ctr"/>
            <a:endParaRPr lang="en-US" altLang="ja-JP" sz="1400" dirty="0"/>
          </a:p>
          <a:p>
            <a:pPr algn="ctr"/>
            <a:endParaRPr lang="ja-JP" altLang="en-US" sz="1400" dirty="0">
              <a:latin typeface="+mn-lt"/>
              <a:ea typeface="+mn-ea"/>
            </a:endParaRPr>
          </a:p>
        </p:txBody>
      </p:sp>
      <p:grpSp>
        <p:nvGrpSpPr>
          <p:cNvPr id="100" name="グループ化 99">
            <a:extLst>
              <a:ext uri="{FF2B5EF4-FFF2-40B4-BE49-F238E27FC236}">
                <a16:creationId xmlns:a16="http://schemas.microsoft.com/office/drawing/2014/main" id="{6EF92828-9551-AC46-1D44-2437966EC858}"/>
              </a:ext>
            </a:extLst>
          </p:cNvPr>
          <p:cNvGrpSpPr/>
          <p:nvPr/>
        </p:nvGrpSpPr>
        <p:grpSpPr>
          <a:xfrm>
            <a:off x="273050" y="1345195"/>
            <a:ext cx="970216" cy="215444"/>
            <a:chOff x="273050" y="1170142"/>
            <a:chExt cx="2033922" cy="215444"/>
          </a:xfrm>
        </p:grpSpPr>
        <p:cxnSp>
          <p:nvCxnSpPr>
            <p:cNvPr id="101" name="直線コネクタ 100">
              <a:extLst>
                <a:ext uri="{FF2B5EF4-FFF2-40B4-BE49-F238E27FC236}">
                  <a16:creationId xmlns:a16="http://schemas.microsoft.com/office/drawing/2014/main" id="{1F73F5DE-8291-3194-4EA6-443A17DB565A}"/>
                </a:ext>
              </a:extLst>
            </p:cNvPr>
            <p:cNvCxnSpPr/>
            <p:nvPr/>
          </p:nvCxnSpPr>
          <p:spPr>
            <a:xfrm>
              <a:off x="273050" y="1299039"/>
              <a:ext cx="203392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2" name="テキスト ボックス 101">
              <a:extLst>
                <a:ext uri="{FF2B5EF4-FFF2-40B4-BE49-F238E27FC236}">
                  <a16:creationId xmlns:a16="http://schemas.microsoft.com/office/drawing/2014/main" id="{9F6EB210-86AF-AB2A-810C-B06179A09B24}"/>
                </a:ext>
              </a:extLst>
            </p:cNvPr>
            <p:cNvSpPr txBox="1"/>
            <p:nvPr/>
          </p:nvSpPr>
          <p:spPr>
            <a:xfrm>
              <a:off x="832812" y="1170142"/>
              <a:ext cx="914401" cy="215444"/>
            </a:xfrm>
            <a:prstGeom prst="rect">
              <a:avLst/>
            </a:prstGeom>
            <a:solidFill>
              <a:schemeClr val="bg1"/>
            </a:solidFill>
          </p:spPr>
          <p:txBody>
            <a:bodyPr wrap="square" lIns="0" tIns="0" rIns="0" bIns="0" rtlCol="0">
              <a:spAutoFit/>
            </a:bodyPr>
            <a:lstStyle/>
            <a:p>
              <a:pPr algn="ctr"/>
              <a:r>
                <a:rPr kumimoji="1" lang="ja-JP" altLang="en-US" sz="1400" dirty="0">
                  <a:latin typeface="+mn-ea"/>
                  <a:ea typeface="+mn-ea"/>
                </a:rPr>
                <a:t>分類</a:t>
              </a:r>
            </a:p>
          </p:txBody>
        </p:sp>
      </p:grpSp>
      <p:pic>
        <p:nvPicPr>
          <p:cNvPr id="89" name="Picture 2">
            <a:extLst>
              <a:ext uri="{FF2B5EF4-FFF2-40B4-BE49-F238E27FC236}">
                <a16:creationId xmlns:a16="http://schemas.microsoft.com/office/drawing/2014/main" id="{BF0C4895-C2F1-2140-9AE3-7967F6CEE6D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55" r="555"/>
          <a:stretch/>
        </p:blipFill>
        <p:spPr bwMode="gray">
          <a:xfrm>
            <a:off x="8983358" y="2330000"/>
            <a:ext cx="482084" cy="323532"/>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4">
            <a:extLst>
              <a:ext uri="{FF2B5EF4-FFF2-40B4-BE49-F238E27FC236}">
                <a16:creationId xmlns:a16="http://schemas.microsoft.com/office/drawing/2014/main" id="{D4F45FDE-BB14-FD1C-0604-CFF3CF71EFB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30" r="330"/>
          <a:stretch/>
        </p:blipFill>
        <p:spPr bwMode="gray">
          <a:xfrm>
            <a:off x="8980552" y="3876138"/>
            <a:ext cx="482084" cy="322996"/>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6">
            <a:extLst>
              <a:ext uri="{FF2B5EF4-FFF2-40B4-BE49-F238E27FC236}">
                <a16:creationId xmlns:a16="http://schemas.microsoft.com/office/drawing/2014/main" id="{07E2F871-C756-6E68-869E-F37A349D516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786" r="786"/>
          <a:stretch/>
        </p:blipFill>
        <p:spPr bwMode="gray">
          <a:xfrm>
            <a:off x="8983358" y="3360938"/>
            <a:ext cx="482084" cy="322996"/>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 name="Picture 9">
            <a:extLst>
              <a:ext uri="{FF2B5EF4-FFF2-40B4-BE49-F238E27FC236}">
                <a16:creationId xmlns:a16="http://schemas.microsoft.com/office/drawing/2014/main" id="{35B5785D-EC30-03BC-CA02-9C7E549DAB1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 r="206"/>
          <a:stretch/>
        </p:blipFill>
        <p:spPr bwMode="gray">
          <a:xfrm>
            <a:off x="8983358" y="2845737"/>
            <a:ext cx="482084" cy="322996"/>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2" descr="Flag Of Eu PNG, SVG Clip art for Web - Download Clip Art, PNG Icon Arts">
            <a:extLst>
              <a:ext uri="{FF2B5EF4-FFF2-40B4-BE49-F238E27FC236}">
                <a16:creationId xmlns:a16="http://schemas.microsoft.com/office/drawing/2014/main" id="{10BF3A84-2EDB-6769-D7E1-E51B04915274}"/>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t="17435" b="15565"/>
          <a:stretch/>
        </p:blipFill>
        <p:spPr bwMode="auto">
          <a:xfrm>
            <a:off x="8987171" y="1814798"/>
            <a:ext cx="482084" cy="322997"/>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6">
            <a:extLst>
              <a:ext uri="{FF2B5EF4-FFF2-40B4-BE49-F238E27FC236}">
                <a16:creationId xmlns:a16="http://schemas.microsoft.com/office/drawing/2014/main" id="{9102BC1D-1CE2-5840-782C-DB8987D5C21B}"/>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786" r="786"/>
          <a:stretch/>
        </p:blipFill>
        <p:spPr bwMode="gray">
          <a:xfrm>
            <a:off x="8983358" y="4700246"/>
            <a:ext cx="482084" cy="322996"/>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3" name="グループ化 102">
            <a:extLst>
              <a:ext uri="{FF2B5EF4-FFF2-40B4-BE49-F238E27FC236}">
                <a16:creationId xmlns:a16="http://schemas.microsoft.com/office/drawing/2014/main" id="{7BC59553-47D3-ABD6-677B-BA1C6A5818D6}"/>
              </a:ext>
            </a:extLst>
          </p:cNvPr>
          <p:cNvGrpSpPr/>
          <p:nvPr/>
        </p:nvGrpSpPr>
        <p:grpSpPr>
          <a:xfrm>
            <a:off x="8847221" y="1345195"/>
            <a:ext cx="768588" cy="215444"/>
            <a:chOff x="273050" y="1170142"/>
            <a:chExt cx="2033922" cy="215444"/>
          </a:xfrm>
        </p:grpSpPr>
        <p:cxnSp>
          <p:nvCxnSpPr>
            <p:cNvPr id="104" name="直線コネクタ 103">
              <a:extLst>
                <a:ext uri="{FF2B5EF4-FFF2-40B4-BE49-F238E27FC236}">
                  <a16:creationId xmlns:a16="http://schemas.microsoft.com/office/drawing/2014/main" id="{7C75E031-080C-08A9-01A3-41AC2DBD5063}"/>
                </a:ext>
              </a:extLst>
            </p:cNvPr>
            <p:cNvCxnSpPr/>
            <p:nvPr/>
          </p:nvCxnSpPr>
          <p:spPr>
            <a:xfrm>
              <a:off x="273050" y="1299039"/>
              <a:ext cx="203392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5" name="テキスト ボックス 104">
              <a:extLst>
                <a:ext uri="{FF2B5EF4-FFF2-40B4-BE49-F238E27FC236}">
                  <a16:creationId xmlns:a16="http://schemas.microsoft.com/office/drawing/2014/main" id="{24362179-46BD-DC7F-FCFE-2752861220A8}"/>
                </a:ext>
              </a:extLst>
            </p:cNvPr>
            <p:cNvSpPr txBox="1"/>
            <p:nvPr/>
          </p:nvSpPr>
          <p:spPr>
            <a:xfrm>
              <a:off x="545528" y="1170142"/>
              <a:ext cx="1488962" cy="215444"/>
            </a:xfrm>
            <a:prstGeom prst="rect">
              <a:avLst/>
            </a:prstGeom>
            <a:solidFill>
              <a:schemeClr val="bg1"/>
            </a:solidFill>
          </p:spPr>
          <p:txBody>
            <a:bodyPr wrap="square" lIns="0" tIns="0" rIns="0" bIns="0" rtlCol="0">
              <a:spAutoFit/>
            </a:bodyPr>
            <a:lstStyle/>
            <a:p>
              <a:pPr algn="ctr"/>
              <a:r>
                <a:rPr kumimoji="1" lang="ja-JP" altLang="en-US" sz="1400" dirty="0">
                  <a:latin typeface="+mn-ea"/>
                  <a:ea typeface="+mn-ea"/>
                </a:rPr>
                <a:t>対象</a:t>
              </a:r>
            </a:p>
          </p:txBody>
        </p:sp>
      </p:grpSp>
      <p:grpSp>
        <p:nvGrpSpPr>
          <p:cNvPr id="109" name="グループ化 108">
            <a:extLst>
              <a:ext uri="{FF2B5EF4-FFF2-40B4-BE49-F238E27FC236}">
                <a16:creationId xmlns:a16="http://schemas.microsoft.com/office/drawing/2014/main" id="{8608FE71-AC72-7E44-277C-31D9F5E00E2E}"/>
              </a:ext>
            </a:extLst>
          </p:cNvPr>
          <p:cNvGrpSpPr/>
          <p:nvPr/>
        </p:nvGrpSpPr>
        <p:grpSpPr>
          <a:xfrm>
            <a:off x="1285550" y="1345195"/>
            <a:ext cx="7480062" cy="215444"/>
            <a:chOff x="273050" y="1170142"/>
            <a:chExt cx="2033922" cy="215444"/>
          </a:xfrm>
        </p:grpSpPr>
        <p:cxnSp>
          <p:nvCxnSpPr>
            <p:cNvPr id="110" name="直線コネクタ 109">
              <a:extLst>
                <a:ext uri="{FF2B5EF4-FFF2-40B4-BE49-F238E27FC236}">
                  <a16:creationId xmlns:a16="http://schemas.microsoft.com/office/drawing/2014/main" id="{9BDF8B26-7A4C-87B7-A022-5CC5B30626CB}"/>
                </a:ext>
              </a:extLst>
            </p:cNvPr>
            <p:cNvCxnSpPr/>
            <p:nvPr/>
          </p:nvCxnSpPr>
          <p:spPr>
            <a:xfrm>
              <a:off x="273050" y="1299039"/>
              <a:ext cx="2033922"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52117B5F-5602-C828-89EB-87191817497B}"/>
                </a:ext>
              </a:extLst>
            </p:cNvPr>
            <p:cNvSpPr txBox="1"/>
            <p:nvPr/>
          </p:nvSpPr>
          <p:spPr>
            <a:xfrm>
              <a:off x="1127576" y="1170142"/>
              <a:ext cx="324870" cy="215444"/>
            </a:xfrm>
            <a:prstGeom prst="rect">
              <a:avLst/>
            </a:prstGeom>
            <a:solidFill>
              <a:schemeClr val="bg1"/>
            </a:solidFill>
          </p:spPr>
          <p:txBody>
            <a:bodyPr wrap="square" lIns="0" tIns="0" rIns="0" bIns="0" rtlCol="0">
              <a:spAutoFit/>
            </a:bodyPr>
            <a:lstStyle/>
            <a:p>
              <a:pPr algn="ctr"/>
              <a:r>
                <a:rPr lang="ja-JP" altLang="en-US" sz="1400" dirty="0">
                  <a:latin typeface="+mn-ea"/>
                  <a:ea typeface="+mn-ea"/>
                </a:rPr>
                <a:t>ヒアリング観点</a:t>
              </a:r>
              <a:endParaRPr kumimoji="1" lang="ja-JP" altLang="en-US" sz="1400" dirty="0">
                <a:latin typeface="+mn-ea"/>
                <a:ea typeface="+mn-ea"/>
              </a:endParaRPr>
            </a:p>
          </p:txBody>
        </p:sp>
      </p:grpSp>
      <p:sp>
        <p:nvSpPr>
          <p:cNvPr id="51" name="正方形/長方形 50">
            <a:extLst>
              <a:ext uri="{FF2B5EF4-FFF2-40B4-BE49-F238E27FC236}">
                <a16:creationId xmlns:a16="http://schemas.microsoft.com/office/drawing/2014/main" id="{4567EBB3-012B-CC26-8F4E-4C9F07E105F4}"/>
              </a:ext>
            </a:extLst>
          </p:cNvPr>
          <p:cNvSpPr/>
          <p:nvPr/>
        </p:nvSpPr>
        <p:spPr bwMode="gray">
          <a:xfrm>
            <a:off x="1789629" y="4381258"/>
            <a:ext cx="954506" cy="1028126"/>
          </a:xfrm>
          <a:prstGeom prst="rect">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官民</a:t>
            </a:r>
            <a:endParaRPr lang="en-US" altLang="ja-JP" sz="1400" dirty="0">
              <a:latin typeface="+mn-lt"/>
              <a:ea typeface="+mn-ea"/>
            </a:endParaRPr>
          </a:p>
          <a:p>
            <a:pPr algn="ctr"/>
            <a:r>
              <a:rPr lang="ja-JP" altLang="en-US" sz="1400" dirty="0">
                <a:latin typeface="+mn-lt"/>
                <a:ea typeface="+mn-ea"/>
              </a:rPr>
              <a:t>コンソーシアム</a:t>
            </a:r>
          </a:p>
        </p:txBody>
      </p:sp>
      <p:sp>
        <p:nvSpPr>
          <p:cNvPr id="5" name="正方形/長方形 4">
            <a:extLst>
              <a:ext uri="{FF2B5EF4-FFF2-40B4-BE49-F238E27FC236}">
                <a16:creationId xmlns:a16="http://schemas.microsoft.com/office/drawing/2014/main" id="{805BA7AB-FAFD-D3C1-5875-001A75B1F45E}"/>
              </a:ext>
            </a:extLst>
          </p:cNvPr>
          <p:cNvSpPr/>
          <p:nvPr/>
        </p:nvSpPr>
        <p:spPr bwMode="gray">
          <a:xfrm>
            <a:off x="2799538" y="4380537"/>
            <a:ext cx="5966076" cy="1032375"/>
          </a:xfrm>
          <a:prstGeom prst="rect">
            <a:avLst/>
          </a:prstGeom>
          <a:solidFill>
            <a:schemeClr val="bg1">
              <a:lumMod val="95000"/>
            </a:schemeClr>
          </a:solidFill>
          <a:ln w="12700" algn="ctr">
            <a:solidFill>
              <a:schemeClr val="bg1"/>
            </a:solidFill>
            <a:miter lim="800000"/>
            <a:headEnd/>
            <a:tailEnd/>
          </a:ln>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marR="0" defTabSz="990564" rtl="0" eaLnBrk="1" fontAlgn="auto" latinLnBrk="0" hangingPunct="1">
              <a:lnSpc>
                <a:spcPct val="100000"/>
              </a:lnSpc>
              <a:spcBef>
                <a:spcPts val="600"/>
              </a:spcBef>
              <a:spcAft>
                <a:spcPts val="0"/>
              </a:spcAft>
              <a:buClrTx/>
              <a:buSzPct val="100000"/>
              <a:tabLst/>
            </a:pPr>
            <a:r>
              <a:rPr kumimoji="1" lang="en-US" altLang="ja-JP" sz="1200" b="0" i="0" u="none" strike="noStrike" kern="1200" cap="none" spc="0" normalizeH="0" baseline="0" noProof="0" dirty="0">
                <a:ln>
                  <a:noFill/>
                </a:ln>
                <a:solidFill>
                  <a:prstClr val="black"/>
                </a:solidFill>
                <a:effectLst/>
                <a:uLnTx/>
                <a:uFillTx/>
                <a:latin typeface="+mn-ea"/>
                <a:ea typeface="+mn-ea"/>
                <a:cs typeface="+mn-cs"/>
              </a:rPr>
              <a:t>※</a:t>
            </a:r>
            <a:r>
              <a:rPr kumimoji="1" lang="ja-JP" altLang="en-US" sz="1200" b="0" i="0" u="none" strike="noStrike" kern="1200" cap="none" spc="0" normalizeH="0" baseline="0" noProof="0" dirty="0">
                <a:ln>
                  <a:noFill/>
                </a:ln>
                <a:solidFill>
                  <a:prstClr val="black"/>
                </a:solidFill>
                <a:effectLst/>
                <a:uLnTx/>
                <a:uFillTx/>
                <a:latin typeface="+mn-ea"/>
                <a:ea typeface="+mn-ea"/>
                <a:cs typeface="+mn-cs"/>
              </a:rPr>
              <a:t>上記活動組織が官民コンソーシアムであった場合</a:t>
            </a:r>
            <a:endParaRPr kumimoji="1" lang="en-US" altLang="ja-JP" sz="1200" b="0" i="0" u="none" strike="noStrike" kern="1200" cap="none" spc="0" normalizeH="0" baseline="0" noProof="0" dirty="0">
              <a:ln>
                <a:noFill/>
              </a:ln>
              <a:solidFill>
                <a:prstClr val="black"/>
              </a:solidFill>
              <a:effectLst/>
              <a:uLnTx/>
              <a:uFillTx/>
              <a:latin typeface="+mn-ea"/>
              <a:ea typeface="+mn-ea"/>
              <a:cs typeface="+mn-cs"/>
            </a:endParaRPr>
          </a:p>
          <a:p>
            <a:pPr marL="171450" indent="-171450" defTabSz="990564" eaLnBrk="1" fontAlgn="auto" hangingPunct="1">
              <a:spcBef>
                <a:spcPts val="600"/>
              </a:spcBef>
              <a:spcAft>
                <a:spcPts val="0"/>
              </a:spcAft>
              <a:buSzPct val="100000"/>
              <a:buFont typeface="Arial" panose="020B0604020202020204" pitchFamily="34" charset="0"/>
              <a:buChar char="•"/>
            </a:pPr>
            <a:r>
              <a:rPr kumimoji="1" lang="ja-JP" altLang="en-US" sz="1200" dirty="0">
                <a:solidFill>
                  <a:prstClr val="black"/>
                </a:solidFill>
                <a:latin typeface="+mn-ea"/>
                <a:ea typeface="+mn-ea"/>
                <a:cs typeface="+mn-cs"/>
              </a:rPr>
              <a:t>コンソーシアム設立の目的は何か</a:t>
            </a:r>
            <a:endParaRPr kumimoji="1" lang="en-US" altLang="ja-JP" sz="1200" b="0" i="0" u="none" strike="noStrike" kern="1200" cap="none" spc="0" normalizeH="0" baseline="0" noProof="0" dirty="0">
              <a:ln>
                <a:noFill/>
              </a:ln>
              <a:solidFill>
                <a:prstClr val="black"/>
              </a:solidFill>
              <a:effectLst/>
              <a:uLnTx/>
              <a:uFillTx/>
              <a:latin typeface="+mn-ea"/>
              <a:ea typeface="+mn-ea"/>
              <a:cs typeface="+mn-cs"/>
            </a:endParaRPr>
          </a:p>
          <a:p>
            <a:pPr marL="171450" marR="0" indent="-171450" defTabSz="990564" rtl="0" eaLnBrk="1" fontAlgn="auto" latinLnBrk="0" hangingPunct="1">
              <a:lnSpc>
                <a:spcPct val="100000"/>
              </a:lnSpc>
              <a:spcBef>
                <a:spcPts val="600"/>
              </a:spcBef>
              <a:spcAft>
                <a:spcPts val="0"/>
              </a:spcAft>
              <a:buClrTx/>
              <a:buSzPct val="100000"/>
              <a:buFont typeface="Arial" panose="020B0604020202020204" pitchFamily="34" charset="0"/>
              <a:buChar char="•"/>
              <a:tabLst/>
            </a:pPr>
            <a:r>
              <a:rPr lang="ja-JP" altLang="en-US" sz="1200" dirty="0">
                <a:solidFill>
                  <a:prstClr val="black"/>
                </a:solidFill>
                <a:latin typeface="+mn-ea"/>
                <a:ea typeface="+mn-ea"/>
              </a:rPr>
              <a:t>どのような</a:t>
            </a:r>
            <a:r>
              <a:rPr kumimoji="1" lang="ja-JP" altLang="en-US" sz="1200" b="0" i="0" u="none" strike="noStrike" kern="1200" cap="none" spc="0" normalizeH="0" baseline="0" noProof="0" dirty="0">
                <a:ln>
                  <a:noFill/>
                </a:ln>
                <a:solidFill>
                  <a:prstClr val="black"/>
                </a:solidFill>
                <a:effectLst/>
                <a:uLnTx/>
                <a:uFillTx/>
                <a:latin typeface="+mn-ea"/>
                <a:ea typeface="+mn-ea"/>
                <a:cs typeface="+mn-cs"/>
              </a:rPr>
              <a:t>運営がされているか</a:t>
            </a:r>
            <a:endParaRPr kumimoji="1" lang="en-US" altLang="ja-JP" sz="1200" b="0" i="0" u="none" strike="noStrike" kern="1200" cap="none" spc="0" normalizeH="0" baseline="0" noProof="0" dirty="0">
              <a:ln>
                <a:noFill/>
              </a:ln>
              <a:solidFill>
                <a:prstClr val="black"/>
              </a:solidFill>
              <a:effectLst/>
              <a:uLnTx/>
              <a:uFillTx/>
              <a:latin typeface="+mn-ea"/>
              <a:ea typeface="+mn-ea"/>
              <a:cs typeface="+mn-cs"/>
            </a:endParaRPr>
          </a:p>
          <a:p>
            <a:pPr marL="171450" marR="0" indent="-171450" defTabSz="990564" rtl="0" eaLnBrk="1" fontAlgn="auto" latinLnBrk="0" hangingPunct="1">
              <a:lnSpc>
                <a:spcPct val="100000"/>
              </a:lnSpc>
              <a:spcBef>
                <a:spcPts val="600"/>
              </a:spcBef>
              <a:spcAft>
                <a:spcPts val="0"/>
              </a:spcAft>
              <a:buClrTx/>
              <a:buSzPct val="100000"/>
              <a:buFont typeface="Arial" panose="020B0604020202020204" pitchFamily="34" charset="0"/>
              <a:buChar char="•"/>
              <a:tabLst/>
            </a:pPr>
            <a:r>
              <a:rPr kumimoji="1" lang="ja-JP" altLang="en-US" sz="1200" i="0" strike="noStrike" kern="1200" cap="none" spc="0" normalizeH="0" baseline="0" noProof="0" dirty="0">
                <a:ln>
                  <a:noFill/>
                </a:ln>
                <a:solidFill>
                  <a:prstClr val="black"/>
                </a:solidFill>
                <a:effectLst/>
                <a:uLnTx/>
                <a:uFillTx/>
                <a:latin typeface="+mn-ea"/>
                <a:ea typeface="+mn-ea"/>
                <a:cs typeface="+mn-cs"/>
              </a:rPr>
              <a:t>目標と現状の差分は何か、それに向けた今後の対応方針として何を考えているか</a:t>
            </a:r>
          </a:p>
        </p:txBody>
      </p:sp>
    </p:spTree>
    <p:extLst>
      <p:ext uri="{BB962C8B-B14F-4D97-AF65-F5344CB8AC3E}">
        <p14:creationId xmlns:p14="http://schemas.microsoft.com/office/powerpoint/2010/main" val="616388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3A1D1FE-BC04-E092-5E95-92AAC15B804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39" imgH="639" progId="TCLayout.ActiveDocument.1">
                  <p:embed/>
                </p:oleObj>
              </mc:Choice>
              <mc:Fallback>
                <p:oleObj name="think-cell スライド" r:id="rId3" imgW="639" imgH="639" progId="TCLayout.ActiveDocument.1">
                  <p:embed/>
                  <p:pic>
                    <p:nvPicPr>
                      <p:cNvPr id="3" name="think-cell data - do not delete" hidden="1">
                        <a:extLst>
                          <a:ext uri="{FF2B5EF4-FFF2-40B4-BE49-F238E27FC236}">
                            <a16:creationId xmlns:a16="http://schemas.microsoft.com/office/drawing/2014/main" id="{33A1D1FE-BC04-E092-5E95-92AAC15B8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p:cNvSpPr>
            <a:spLocks noGrp="1"/>
          </p:cNvSpPr>
          <p:nvPr>
            <p:ph type="title"/>
          </p:nvPr>
        </p:nvSpPr>
        <p:spPr>
          <a:xfrm>
            <a:off x="273049" y="3121223"/>
            <a:ext cx="9072563" cy="307777"/>
          </a:xfrm>
        </p:spPr>
        <p:txBody>
          <a:bodyPr vert="horz"/>
          <a:lstStyle/>
          <a:p>
            <a:r>
              <a:rPr kumimoji="1" lang="en-US" altLang="ja-JP" dirty="0"/>
              <a:t>3</a:t>
            </a:r>
            <a:r>
              <a:rPr kumimoji="1" lang="en-US" altLang="zh-TW" dirty="0"/>
              <a:t>. </a:t>
            </a:r>
            <a:r>
              <a:rPr kumimoji="1" lang="ja-JP" altLang="en-US" dirty="0"/>
              <a:t>調査結果</a:t>
            </a:r>
          </a:p>
        </p:txBody>
      </p:sp>
    </p:spTree>
    <p:extLst>
      <p:ext uri="{BB962C8B-B14F-4D97-AF65-F5344CB8AC3E}">
        <p14:creationId xmlns:p14="http://schemas.microsoft.com/office/powerpoint/2010/main" val="1842864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正方形/長方形 278">
            <a:extLst>
              <a:ext uri="{FF2B5EF4-FFF2-40B4-BE49-F238E27FC236}">
                <a16:creationId xmlns:a16="http://schemas.microsoft.com/office/drawing/2014/main" id="{358CD810-1CFC-87A4-883C-93D25DC1C3D2}"/>
              </a:ext>
            </a:extLst>
          </p:cNvPr>
          <p:cNvSpPr/>
          <p:nvPr/>
        </p:nvSpPr>
        <p:spPr>
          <a:xfrm>
            <a:off x="273049" y="3365098"/>
            <a:ext cx="3078065" cy="1875924"/>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180000" rtlCol="0" anchor="t" anchorCtr="0"/>
          <a:lstStyle/>
          <a:p>
            <a:pPr marL="171450" indent="-171450">
              <a:buFont typeface="Arial" panose="020B0604020202020204" pitchFamily="34" charset="0"/>
              <a:buChar char="•"/>
            </a:pPr>
            <a:r>
              <a:rPr lang="ja-JP" altLang="en-US" sz="1200" dirty="0">
                <a:latin typeface="+mn-ea"/>
              </a:rPr>
              <a:t>欧州委員会のもと、「</a:t>
            </a:r>
            <a:r>
              <a:rPr lang="en-US" altLang="ja-JP" sz="1200" dirty="0">
                <a:latin typeface="+mn-ea"/>
              </a:rPr>
              <a:t>ARF</a:t>
            </a:r>
            <a:r>
              <a:rPr lang="ja-JP" altLang="en-US" sz="1200" dirty="0">
                <a:latin typeface="+mn-ea"/>
              </a:rPr>
              <a:t>」、</a:t>
            </a:r>
            <a:r>
              <a:rPr lang="en-US" altLang="ja-JP" sz="1200" dirty="0">
                <a:latin typeface="+mn-ea"/>
              </a:rPr>
              <a:t> </a:t>
            </a:r>
            <a:br>
              <a:rPr lang="en-US" altLang="ja-JP" sz="1200" dirty="0">
                <a:latin typeface="+mn-ea"/>
              </a:rPr>
            </a:br>
            <a:r>
              <a:rPr lang="ja-JP" altLang="en-US" sz="1200" dirty="0">
                <a:latin typeface="+mn-ea"/>
              </a:rPr>
              <a:t>「</a:t>
            </a:r>
            <a:r>
              <a:rPr lang="en-US" altLang="ja-JP" sz="1200" dirty="0">
                <a:latin typeface="+mn-ea"/>
              </a:rPr>
              <a:t>Implementation Act</a:t>
            </a:r>
            <a:r>
              <a:rPr lang="ja-JP" altLang="en-US" sz="1200" dirty="0">
                <a:latin typeface="+mn-ea"/>
              </a:rPr>
              <a:t>」を策定</a:t>
            </a:r>
            <a:endParaRPr lang="en-US" altLang="ja-JP" sz="1200" dirty="0">
              <a:latin typeface="+mn-ea"/>
            </a:endParaRPr>
          </a:p>
          <a:p>
            <a:pPr marL="361950" lvl="1" indent="-171450">
              <a:buFont typeface="Wingdings" panose="05000000000000000000" pitchFamily="2" charset="2"/>
              <a:buChar char="Ø"/>
            </a:pPr>
            <a:r>
              <a:rPr lang="en-US" altLang="ja-JP" sz="1200" dirty="0">
                <a:latin typeface="+mn-ea"/>
              </a:rPr>
              <a:t>Implementation Act</a:t>
            </a:r>
            <a:r>
              <a:rPr lang="ja-JP" altLang="en-US" sz="1200" dirty="0">
                <a:latin typeface="+mn-ea"/>
              </a:rPr>
              <a:t>：</a:t>
            </a:r>
            <a:r>
              <a:rPr lang="en-US" altLang="ja-JP" sz="1200" dirty="0">
                <a:latin typeface="+mn-ea"/>
              </a:rPr>
              <a:t>eIDAS2.0</a:t>
            </a:r>
            <a:r>
              <a:rPr lang="ja-JP" altLang="en-US" sz="1200" dirty="0">
                <a:latin typeface="+mn-ea"/>
              </a:rPr>
              <a:t>を満たすために実装で準拠すべき技術標準を取りまとめたもの</a:t>
            </a:r>
            <a:r>
              <a:rPr lang="en-US" altLang="ja-JP" sz="1200" dirty="0">
                <a:latin typeface="+mn-ea"/>
              </a:rPr>
              <a:t>(</a:t>
            </a:r>
            <a:r>
              <a:rPr lang="en-US" altLang="ja-JP" sz="1200" dirty="0" err="1">
                <a:latin typeface="+mn-ea"/>
              </a:rPr>
              <a:t>eIDAS</a:t>
            </a:r>
            <a:r>
              <a:rPr lang="ja-JP" altLang="en-US" sz="1200" dirty="0">
                <a:latin typeface="+mn-ea"/>
              </a:rPr>
              <a:t>施行後</a:t>
            </a:r>
            <a:r>
              <a:rPr lang="en-US" altLang="ja-JP" sz="1200" dirty="0">
                <a:latin typeface="+mn-ea"/>
              </a:rPr>
              <a:t>6-12</a:t>
            </a:r>
            <a:r>
              <a:rPr lang="ja-JP" altLang="en-US" sz="1200" dirty="0">
                <a:latin typeface="+mn-ea"/>
              </a:rPr>
              <a:t>か月程度で策定予定</a:t>
            </a:r>
            <a:r>
              <a:rPr lang="en-US" altLang="ja-JP" sz="1200" dirty="0">
                <a:latin typeface="+mn-ea"/>
              </a:rPr>
              <a:t>)</a:t>
            </a:r>
          </a:p>
          <a:p>
            <a:pPr marL="361950" lvl="1" indent="-171450">
              <a:buFont typeface="Wingdings" panose="05000000000000000000" pitchFamily="2" charset="2"/>
              <a:buChar char="Ø"/>
            </a:pPr>
            <a:r>
              <a:rPr lang="en-US" altLang="ja-JP" sz="1200" dirty="0">
                <a:latin typeface="+mn-ea"/>
              </a:rPr>
              <a:t>ARF</a:t>
            </a:r>
            <a:r>
              <a:rPr lang="ja-JP" altLang="en-US" sz="1200" dirty="0">
                <a:latin typeface="+mn-ea"/>
              </a:rPr>
              <a:t>：準拠必須ではないが、将来策定される</a:t>
            </a:r>
            <a:r>
              <a:rPr lang="en-US" altLang="ja-JP" sz="1200" dirty="0">
                <a:latin typeface="+mn-ea"/>
              </a:rPr>
              <a:t>Implementation Act</a:t>
            </a:r>
            <a:r>
              <a:rPr lang="ja-JP" altLang="en-US" sz="1200" dirty="0">
                <a:latin typeface="+mn-ea"/>
              </a:rPr>
              <a:t>に向けてウォレットの仕様・規格等検討をまとめたもの</a:t>
            </a:r>
            <a:endParaRPr lang="en-US" altLang="ja-JP" sz="1200" dirty="0">
              <a:latin typeface="+mn-ea"/>
            </a:endParaRPr>
          </a:p>
          <a:p>
            <a:pPr marL="361950" lvl="1" indent="-171450">
              <a:buFont typeface="Wingdings" panose="05000000000000000000" pitchFamily="2" charset="2"/>
              <a:buChar char="Ø"/>
            </a:pPr>
            <a:endParaRPr lang="en-US" altLang="ja-JP" sz="1200" dirty="0">
              <a:latin typeface="+mn-ea"/>
            </a:endParaRPr>
          </a:p>
          <a:p>
            <a:pPr marL="171450" indent="-171450">
              <a:buFont typeface="Arial" panose="020B0604020202020204" pitchFamily="34" charset="0"/>
              <a:buChar char="•"/>
            </a:pPr>
            <a:endParaRPr lang="ja-JP" altLang="en-US" sz="1200" dirty="0">
              <a:latin typeface="+mn-ea"/>
            </a:endParaRPr>
          </a:p>
        </p:txBody>
      </p:sp>
      <p:sp>
        <p:nvSpPr>
          <p:cNvPr id="280" name="正方形/長方形 279">
            <a:extLst>
              <a:ext uri="{FF2B5EF4-FFF2-40B4-BE49-F238E27FC236}">
                <a16:creationId xmlns:a16="http://schemas.microsoft.com/office/drawing/2014/main" id="{43676BCC-48EE-8934-C46D-6E534AA473F8}"/>
              </a:ext>
            </a:extLst>
          </p:cNvPr>
          <p:cNvSpPr/>
          <p:nvPr/>
        </p:nvSpPr>
        <p:spPr>
          <a:xfrm>
            <a:off x="273049" y="5426998"/>
            <a:ext cx="3078065" cy="958304"/>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180000" rtlCol="0" anchor="t" anchorCtr="0"/>
          <a:lstStyle/>
          <a:p>
            <a:pPr marL="171450" indent="-171450">
              <a:buFont typeface="Arial" panose="020B0604020202020204" pitchFamily="34" charset="0"/>
              <a:buChar char="•"/>
            </a:pPr>
            <a:r>
              <a:rPr lang="en-US" altLang="ja-JP" sz="1200" dirty="0">
                <a:latin typeface="+mn-ea"/>
              </a:rPr>
              <a:t>EU</a:t>
            </a:r>
            <a:r>
              <a:rPr lang="ja-JP" altLang="en-US" sz="1200" dirty="0">
                <a:latin typeface="+mn-ea"/>
              </a:rPr>
              <a:t>加盟国が、サービスプロバイダー認定・監査認定団体の監督実施責任あり</a:t>
            </a:r>
            <a:endParaRPr lang="en-US" altLang="ja-JP" sz="1200" dirty="0">
              <a:latin typeface="+mn-ea"/>
            </a:endParaRPr>
          </a:p>
          <a:p>
            <a:pPr marL="171450" indent="-171450">
              <a:buFont typeface="Arial" panose="020B0604020202020204" pitchFamily="34" charset="0"/>
              <a:buChar char="•"/>
            </a:pPr>
            <a:r>
              <a:rPr lang="ja-JP" altLang="en-US" sz="1200" dirty="0">
                <a:latin typeface="+mn-ea"/>
              </a:rPr>
              <a:t>認定された事業者はトラストリストとして確認することが可能</a:t>
            </a:r>
            <a:endParaRPr lang="en-US" altLang="ja-JP" sz="1200" dirty="0">
              <a:latin typeface="+mn-ea"/>
            </a:endParaRPr>
          </a:p>
        </p:txBody>
      </p:sp>
      <p:sp>
        <p:nvSpPr>
          <p:cNvPr id="278" name="正方形/長方形 277">
            <a:extLst>
              <a:ext uri="{FF2B5EF4-FFF2-40B4-BE49-F238E27FC236}">
                <a16:creationId xmlns:a16="http://schemas.microsoft.com/office/drawing/2014/main" id="{8D6ACA17-0D8F-AC94-3D7D-2C972C0712BE}"/>
              </a:ext>
            </a:extLst>
          </p:cNvPr>
          <p:cNvSpPr/>
          <p:nvPr/>
        </p:nvSpPr>
        <p:spPr>
          <a:xfrm>
            <a:off x="273049" y="2055112"/>
            <a:ext cx="3078065" cy="1137775"/>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180000" rtlCol="0" anchor="t" anchorCtr="0"/>
          <a:lstStyle/>
          <a:p>
            <a:pPr marL="171450" indent="-171450">
              <a:buFont typeface="Arial" panose="020B0604020202020204" pitchFamily="34" charset="0"/>
              <a:buChar char="•"/>
            </a:pPr>
            <a:r>
              <a:rPr kumimoji="1" lang="ja-JP" altLang="en-US" sz="1200" dirty="0">
                <a:latin typeface="+mn-ea"/>
              </a:rPr>
              <a:t>欧州委員会が策定</a:t>
            </a:r>
            <a:r>
              <a:rPr lang="ja-JP" altLang="en-US" sz="1200" dirty="0">
                <a:latin typeface="+mn-ea"/>
              </a:rPr>
              <a:t>、</a:t>
            </a:r>
            <a:r>
              <a:rPr lang="en-US" altLang="ja-JP" sz="1200" dirty="0">
                <a:latin typeface="+mn-ea"/>
              </a:rPr>
              <a:t>ENSIA(</a:t>
            </a:r>
            <a:r>
              <a:rPr lang="ja-JP" altLang="en-US" sz="1200" dirty="0">
                <a:latin typeface="+mn-ea"/>
              </a:rPr>
              <a:t>欧州ネットワーク・情報セキュリティ機関</a:t>
            </a:r>
            <a:r>
              <a:rPr lang="en-US" altLang="ja-JP" sz="1200" dirty="0">
                <a:latin typeface="+mn-ea"/>
              </a:rPr>
              <a:t>)</a:t>
            </a:r>
            <a:r>
              <a:rPr lang="ja-JP" altLang="en-US" sz="1200" dirty="0">
                <a:latin typeface="+mn-ea"/>
              </a:rPr>
              <a:t>がアドバイザリー関与</a:t>
            </a:r>
            <a:endParaRPr lang="en-US" altLang="ja-JP" sz="1200" dirty="0">
              <a:latin typeface="+mn-ea"/>
            </a:endParaRPr>
          </a:p>
          <a:p>
            <a:pPr marL="171450" indent="-171450">
              <a:buFont typeface="Arial" panose="020B0604020202020204" pitchFamily="34" charset="0"/>
              <a:buChar char="•"/>
            </a:pPr>
            <a:r>
              <a:rPr kumimoji="1" lang="ja-JP" altLang="en-US" sz="1200" dirty="0">
                <a:latin typeface="+mn-ea"/>
              </a:rPr>
              <a:t>民間事業者は</a:t>
            </a:r>
            <a:r>
              <a:rPr kumimoji="1" lang="en-US" altLang="ja-JP" sz="1200" dirty="0">
                <a:latin typeface="+mn-ea"/>
              </a:rPr>
              <a:t>LSP</a:t>
            </a:r>
            <a:r>
              <a:rPr kumimoji="1" lang="ja-JP" altLang="en-US" sz="1200" dirty="0">
                <a:latin typeface="+mn-ea"/>
              </a:rPr>
              <a:t>*</a:t>
            </a:r>
            <a:r>
              <a:rPr kumimoji="1" lang="en-US" altLang="ja-JP" sz="1200" baseline="30000" dirty="0">
                <a:latin typeface="+mn-ea"/>
              </a:rPr>
              <a:t>1</a:t>
            </a:r>
            <a:r>
              <a:rPr kumimoji="1" lang="en-US" altLang="ja-JP" sz="1200" dirty="0">
                <a:latin typeface="+mn-ea"/>
              </a:rPr>
              <a:t>(Large Scale Pilot)</a:t>
            </a:r>
            <a:r>
              <a:rPr kumimoji="1" lang="ja-JP" altLang="en-US" sz="1200" dirty="0">
                <a:latin typeface="+mn-ea"/>
              </a:rPr>
              <a:t>といわれるパイロット実証に参加し、そのフィードバックを反映</a:t>
            </a:r>
            <a:endParaRPr kumimoji="1" lang="en-US" altLang="ja-JP" sz="1200" dirty="0">
              <a:latin typeface="+mn-ea"/>
            </a:endParaRPr>
          </a:p>
        </p:txBody>
      </p:sp>
      <p:sp>
        <p:nvSpPr>
          <p:cNvPr id="242" name="正方形/長方形 241">
            <a:extLst>
              <a:ext uri="{FF2B5EF4-FFF2-40B4-BE49-F238E27FC236}">
                <a16:creationId xmlns:a16="http://schemas.microsoft.com/office/drawing/2014/main" id="{67046504-4578-C3E1-D8C1-32ACD18A31A4}"/>
              </a:ext>
            </a:extLst>
          </p:cNvPr>
          <p:cNvSpPr/>
          <p:nvPr/>
        </p:nvSpPr>
        <p:spPr>
          <a:xfrm>
            <a:off x="7459966" y="4382189"/>
            <a:ext cx="2280853" cy="1149442"/>
          </a:xfrm>
          <a:prstGeom prst="rect">
            <a:avLst/>
          </a:prstGeom>
          <a:solidFill>
            <a:schemeClr val="accent5">
              <a:lumMod val="75000"/>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70" name="正方形/長方形 169">
            <a:extLst>
              <a:ext uri="{FF2B5EF4-FFF2-40B4-BE49-F238E27FC236}">
                <a16:creationId xmlns:a16="http://schemas.microsoft.com/office/drawing/2014/main" id="{80289DF5-F091-8928-304D-DBFFE0E08FA6}"/>
              </a:ext>
            </a:extLst>
          </p:cNvPr>
          <p:cNvSpPr/>
          <p:nvPr/>
        </p:nvSpPr>
        <p:spPr>
          <a:xfrm>
            <a:off x="3406976" y="5536352"/>
            <a:ext cx="6331510" cy="834840"/>
          </a:xfrm>
          <a:prstGeom prst="rect">
            <a:avLst/>
          </a:prstGeom>
          <a:solidFill>
            <a:schemeClr val="accent5">
              <a:lumMod val="75000"/>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2" name="タイトル 1">
            <a:extLst>
              <a:ext uri="{FF2B5EF4-FFF2-40B4-BE49-F238E27FC236}">
                <a16:creationId xmlns:a16="http://schemas.microsoft.com/office/drawing/2014/main" id="{126DA40E-4AC2-113A-6594-6F4672A2D927}"/>
              </a:ext>
            </a:extLst>
          </p:cNvPr>
          <p:cNvSpPr>
            <a:spLocks noGrp="1"/>
          </p:cNvSpPr>
          <p:nvPr>
            <p:ph type="title"/>
          </p:nvPr>
        </p:nvSpPr>
        <p:spPr>
          <a:xfrm>
            <a:off x="273049" y="384919"/>
            <a:ext cx="8293901" cy="307777"/>
          </a:xfrm>
        </p:spPr>
        <p:txBody>
          <a:bodyPr/>
          <a:lstStyle/>
          <a:p>
            <a:r>
              <a:rPr kumimoji="1" lang="en-US" altLang="ja-JP" dirty="0">
                <a:latin typeface="+mn-ea"/>
                <a:ea typeface="+mn-ea"/>
              </a:rPr>
              <a:t>3.1. EU</a:t>
            </a:r>
            <a:r>
              <a:rPr kumimoji="1" lang="ja-JP" altLang="en-US" dirty="0">
                <a:latin typeface="+mn-ea"/>
                <a:ea typeface="+mn-ea"/>
              </a:rPr>
              <a:t>：</a:t>
            </a:r>
            <a:r>
              <a:rPr kumimoji="1" lang="en-US" altLang="ja-JP" dirty="0">
                <a:latin typeface="+mn-ea"/>
                <a:ea typeface="+mn-ea"/>
              </a:rPr>
              <a:t>eIDAS2.0/ARF – 3.1.1. </a:t>
            </a:r>
            <a:r>
              <a:rPr kumimoji="1" lang="ja-JP" altLang="en-US" dirty="0">
                <a:latin typeface="+mn-ea"/>
                <a:ea typeface="+mn-ea"/>
              </a:rPr>
              <a:t>ガバナンス構造　</a:t>
            </a:r>
          </a:p>
        </p:txBody>
      </p:sp>
      <p:sp>
        <p:nvSpPr>
          <p:cNvPr id="3" name="テキスト プレースホルダー 2">
            <a:extLst>
              <a:ext uri="{FF2B5EF4-FFF2-40B4-BE49-F238E27FC236}">
                <a16:creationId xmlns:a16="http://schemas.microsoft.com/office/drawing/2014/main" id="{A7C81732-9728-885E-D997-13D7B6DFCFA0}"/>
              </a:ext>
            </a:extLst>
          </p:cNvPr>
          <p:cNvSpPr>
            <a:spLocks noGrp="1"/>
          </p:cNvSpPr>
          <p:nvPr>
            <p:ph type="body" sz="quarter" idx="10"/>
          </p:nvPr>
        </p:nvSpPr>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144" name="正方形/長方形 143">
            <a:extLst>
              <a:ext uri="{FF2B5EF4-FFF2-40B4-BE49-F238E27FC236}">
                <a16:creationId xmlns:a16="http://schemas.microsoft.com/office/drawing/2014/main" id="{1F4F366D-FB29-3983-C4C3-CE65F0E2CB35}"/>
              </a:ext>
            </a:extLst>
          </p:cNvPr>
          <p:cNvSpPr/>
          <p:nvPr/>
        </p:nvSpPr>
        <p:spPr>
          <a:xfrm>
            <a:off x="4750996" y="1909118"/>
            <a:ext cx="1291964" cy="3587686"/>
          </a:xfrm>
          <a:prstGeom prst="rect">
            <a:avLst/>
          </a:prstGeom>
          <a:solidFill>
            <a:schemeClr val="accent3">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45" name="正方形/長方形 144">
            <a:extLst>
              <a:ext uri="{FF2B5EF4-FFF2-40B4-BE49-F238E27FC236}">
                <a16:creationId xmlns:a16="http://schemas.microsoft.com/office/drawing/2014/main" id="{2A8FAC8D-0F38-2FC2-CAC8-CE0A1166135F}"/>
              </a:ext>
            </a:extLst>
          </p:cNvPr>
          <p:cNvSpPr/>
          <p:nvPr/>
        </p:nvSpPr>
        <p:spPr>
          <a:xfrm>
            <a:off x="6084074" y="1909118"/>
            <a:ext cx="1291964" cy="3587686"/>
          </a:xfrm>
          <a:prstGeom prst="rect">
            <a:avLst/>
          </a:prstGeom>
          <a:solidFill>
            <a:srgbClr val="FF0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43" name="正方形/長方形 142">
            <a:extLst>
              <a:ext uri="{FF2B5EF4-FFF2-40B4-BE49-F238E27FC236}">
                <a16:creationId xmlns:a16="http://schemas.microsoft.com/office/drawing/2014/main" id="{8E3B91E0-95A5-4F46-6EF5-48992A894555}"/>
              </a:ext>
            </a:extLst>
          </p:cNvPr>
          <p:cNvSpPr/>
          <p:nvPr/>
        </p:nvSpPr>
        <p:spPr>
          <a:xfrm>
            <a:off x="3406977" y="1909118"/>
            <a:ext cx="1291964" cy="3587686"/>
          </a:xfrm>
          <a:prstGeom prst="rect">
            <a:avLst/>
          </a:prstGeom>
          <a:solidFill>
            <a:srgbClr val="FFC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81" name="四角形: 角を丸くする 80">
            <a:extLst>
              <a:ext uri="{FF2B5EF4-FFF2-40B4-BE49-F238E27FC236}">
                <a16:creationId xmlns:a16="http://schemas.microsoft.com/office/drawing/2014/main" id="{54A6B1DA-B77C-03E8-3CA3-4D0FA05BBB4B}"/>
              </a:ext>
            </a:extLst>
          </p:cNvPr>
          <p:cNvSpPr/>
          <p:nvPr/>
        </p:nvSpPr>
        <p:spPr>
          <a:xfrm>
            <a:off x="3704867" y="2676669"/>
            <a:ext cx="3345886" cy="739969"/>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tIns="0" rtlCol="0" anchor="t" anchorCtr="0"/>
          <a:lstStyle/>
          <a:p>
            <a:pPr algn="ctr"/>
            <a:r>
              <a:rPr kumimoji="1" lang="en-US" altLang="ja-JP" sz="1200" dirty="0" err="1">
                <a:latin typeface="+mn-ea"/>
              </a:rPr>
              <a:t>eIDAS</a:t>
            </a:r>
            <a:r>
              <a:rPr kumimoji="1" lang="en-US" altLang="ja-JP" sz="1200" dirty="0">
                <a:latin typeface="+mn-ea"/>
              </a:rPr>
              <a:t> 2.0</a:t>
            </a:r>
            <a:endParaRPr kumimoji="1" lang="ja-JP" altLang="en-US" sz="1200" dirty="0">
              <a:latin typeface="+mn-ea"/>
            </a:endParaRPr>
          </a:p>
        </p:txBody>
      </p:sp>
      <p:sp>
        <p:nvSpPr>
          <p:cNvPr id="28" name="正方形/長方形 27">
            <a:extLst>
              <a:ext uri="{FF2B5EF4-FFF2-40B4-BE49-F238E27FC236}">
                <a16:creationId xmlns:a16="http://schemas.microsoft.com/office/drawing/2014/main" id="{83833451-4D50-6CE7-8BB1-2192FFFFEDE8}"/>
              </a:ext>
            </a:extLst>
          </p:cNvPr>
          <p:cNvSpPr/>
          <p:nvPr/>
        </p:nvSpPr>
        <p:spPr>
          <a:xfrm>
            <a:off x="6119703" y="3604027"/>
            <a:ext cx="188130" cy="76913"/>
          </a:xfrm>
          <a:prstGeom prst="rect">
            <a:avLst/>
          </a:prstGeom>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31" name="正方形/長方形 30">
            <a:extLst>
              <a:ext uri="{FF2B5EF4-FFF2-40B4-BE49-F238E27FC236}">
                <a16:creationId xmlns:a16="http://schemas.microsoft.com/office/drawing/2014/main" id="{C4C71C5C-D2F4-BC6D-65F4-6D5CE7994445}"/>
              </a:ext>
            </a:extLst>
          </p:cNvPr>
          <p:cNvSpPr/>
          <p:nvPr/>
        </p:nvSpPr>
        <p:spPr>
          <a:xfrm>
            <a:off x="4502777" y="2776783"/>
            <a:ext cx="188130" cy="76913"/>
          </a:xfrm>
          <a:prstGeom prst="rect">
            <a:avLst/>
          </a:prstGeom>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43" name="正方形/長方形 42">
            <a:extLst>
              <a:ext uri="{FF2B5EF4-FFF2-40B4-BE49-F238E27FC236}">
                <a16:creationId xmlns:a16="http://schemas.microsoft.com/office/drawing/2014/main" id="{250ACD97-F5CB-8018-0EC6-83C0E35F7269}"/>
              </a:ext>
            </a:extLst>
          </p:cNvPr>
          <p:cNvSpPr/>
          <p:nvPr/>
        </p:nvSpPr>
        <p:spPr>
          <a:xfrm>
            <a:off x="3694540" y="5588806"/>
            <a:ext cx="3402456" cy="252000"/>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Qualified Trusted</a:t>
            </a:r>
            <a:r>
              <a:rPr lang="ja-JP" altLang="en-US" sz="1200" dirty="0">
                <a:solidFill>
                  <a:schemeClr val="bg1"/>
                </a:solidFill>
                <a:latin typeface="+mn-ea"/>
              </a:rPr>
              <a:t> </a:t>
            </a:r>
            <a:r>
              <a:rPr lang="en-US" altLang="ja-JP" sz="1200" dirty="0">
                <a:solidFill>
                  <a:schemeClr val="bg1"/>
                </a:solidFill>
                <a:latin typeface="+mn-ea"/>
              </a:rPr>
              <a:t>Service</a:t>
            </a:r>
            <a:r>
              <a:rPr lang="ja-JP" altLang="en-US" sz="1200" dirty="0">
                <a:solidFill>
                  <a:schemeClr val="bg1"/>
                </a:solidFill>
                <a:latin typeface="+mn-ea"/>
              </a:rPr>
              <a:t> </a:t>
            </a:r>
            <a:r>
              <a:rPr lang="en-US" altLang="ja-JP" sz="1200" dirty="0">
                <a:solidFill>
                  <a:schemeClr val="bg1"/>
                </a:solidFill>
                <a:latin typeface="+mn-ea"/>
              </a:rPr>
              <a:t>Provider (QTSP)</a:t>
            </a:r>
            <a:endParaRPr lang="ja-JP" altLang="en-US" sz="1200" dirty="0">
              <a:solidFill>
                <a:schemeClr val="bg1"/>
              </a:solidFill>
              <a:latin typeface="+mn-ea"/>
            </a:endParaRPr>
          </a:p>
        </p:txBody>
      </p:sp>
      <p:cxnSp>
        <p:nvCxnSpPr>
          <p:cNvPr id="47" name="直線矢印コネクタ 46">
            <a:extLst>
              <a:ext uri="{FF2B5EF4-FFF2-40B4-BE49-F238E27FC236}">
                <a16:creationId xmlns:a16="http://schemas.microsoft.com/office/drawing/2014/main" id="{649B3ACE-DCA7-F5D2-9E9F-A2483AD78D47}"/>
              </a:ext>
            </a:extLst>
          </p:cNvPr>
          <p:cNvCxnSpPr>
            <a:cxnSpLocks/>
          </p:cNvCxnSpPr>
          <p:nvPr/>
        </p:nvCxnSpPr>
        <p:spPr>
          <a:xfrm>
            <a:off x="6931429" y="3449060"/>
            <a:ext cx="0" cy="1105201"/>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55" name="フローチャート: 代替処理 54">
            <a:extLst>
              <a:ext uri="{FF2B5EF4-FFF2-40B4-BE49-F238E27FC236}">
                <a16:creationId xmlns:a16="http://schemas.microsoft.com/office/drawing/2014/main" id="{262A8734-012C-20EF-D10E-5A8A3B1E4B8E}"/>
              </a:ext>
            </a:extLst>
          </p:cNvPr>
          <p:cNvSpPr/>
          <p:nvPr/>
        </p:nvSpPr>
        <p:spPr>
          <a:xfrm>
            <a:off x="3790757" y="2952031"/>
            <a:ext cx="3202065" cy="181999"/>
          </a:xfrm>
          <a:prstGeom prst="flowChartAlternateProcess">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200" dirty="0">
                <a:latin typeface="+mn-ea"/>
              </a:rPr>
              <a:t>EU </a:t>
            </a:r>
            <a:r>
              <a:rPr kumimoji="1" lang="ja-JP" altLang="en-US" sz="1200" dirty="0">
                <a:latin typeface="+mn-ea"/>
              </a:rPr>
              <a:t>デジタルアイデンティティウォレット</a:t>
            </a:r>
          </a:p>
        </p:txBody>
      </p:sp>
      <p:sp>
        <p:nvSpPr>
          <p:cNvPr id="171" name="正方形/長方形 170">
            <a:extLst>
              <a:ext uri="{FF2B5EF4-FFF2-40B4-BE49-F238E27FC236}">
                <a16:creationId xmlns:a16="http://schemas.microsoft.com/office/drawing/2014/main" id="{2D36221D-9E1B-A760-8581-73EED50719B5}"/>
              </a:ext>
            </a:extLst>
          </p:cNvPr>
          <p:cNvSpPr/>
          <p:nvPr/>
        </p:nvSpPr>
        <p:spPr>
          <a:xfrm>
            <a:off x="7459965" y="1728521"/>
            <a:ext cx="2280854" cy="2556462"/>
          </a:xfrm>
          <a:prstGeom prst="rect">
            <a:avLst/>
          </a:prstGeom>
          <a:solidFill>
            <a:schemeClr val="accent6">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4" name="正方形/長方形 3">
            <a:extLst>
              <a:ext uri="{FF2B5EF4-FFF2-40B4-BE49-F238E27FC236}">
                <a16:creationId xmlns:a16="http://schemas.microsoft.com/office/drawing/2014/main" id="{E9CB9EE8-EDB1-A88B-A58C-9A8106CBBCCE}"/>
              </a:ext>
            </a:extLst>
          </p:cNvPr>
          <p:cNvSpPr/>
          <p:nvPr/>
        </p:nvSpPr>
        <p:spPr>
          <a:xfrm>
            <a:off x="7621255" y="2596958"/>
            <a:ext cx="1402767" cy="431989"/>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欧州委員会</a:t>
            </a:r>
            <a:endParaRPr kumimoji="1" lang="en-US" altLang="ja-JP" sz="1200" dirty="0">
              <a:solidFill>
                <a:schemeClr val="bg1"/>
              </a:solidFill>
              <a:latin typeface="+mn-ea"/>
            </a:endParaRPr>
          </a:p>
          <a:p>
            <a:pPr algn="ctr"/>
            <a:r>
              <a:rPr kumimoji="1" lang="en-US" altLang="ja-JP" sz="1200" dirty="0">
                <a:solidFill>
                  <a:schemeClr val="bg1"/>
                </a:solidFill>
                <a:latin typeface="+mn-ea"/>
              </a:rPr>
              <a:t>(EU DG CNECT)</a:t>
            </a:r>
            <a:endParaRPr kumimoji="1" lang="ja-JP" altLang="en-US" sz="1200" dirty="0">
              <a:solidFill>
                <a:schemeClr val="bg1"/>
              </a:solidFill>
              <a:latin typeface="+mn-ea"/>
            </a:endParaRPr>
          </a:p>
        </p:txBody>
      </p:sp>
      <p:sp>
        <p:nvSpPr>
          <p:cNvPr id="15" name="正方形/長方形 14">
            <a:extLst>
              <a:ext uri="{FF2B5EF4-FFF2-40B4-BE49-F238E27FC236}">
                <a16:creationId xmlns:a16="http://schemas.microsoft.com/office/drawing/2014/main" id="{040B9F23-2565-8E9F-01E0-28208DAAE11B}"/>
              </a:ext>
            </a:extLst>
          </p:cNvPr>
          <p:cNvSpPr/>
          <p:nvPr/>
        </p:nvSpPr>
        <p:spPr>
          <a:xfrm>
            <a:off x="7618032" y="4070439"/>
            <a:ext cx="1422960" cy="466279"/>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民間事業者</a:t>
            </a:r>
            <a:endParaRPr lang="en-US" altLang="ja-JP" sz="1200" dirty="0">
              <a:solidFill>
                <a:schemeClr val="bg1"/>
              </a:solidFill>
              <a:latin typeface="+mn-ea"/>
            </a:endParaRPr>
          </a:p>
          <a:p>
            <a:pPr algn="ctr"/>
            <a:r>
              <a:rPr lang="en-US" altLang="ja-JP" sz="1200" dirty="0">
                <a:solidFill>
                  <a:schemeClr val="bg1"/>
                </a:solidFill>
                <a:latin typeface="+mn-ea"/>
              </a:rPr>
              <a:t>(LSP</a:t>
            </a:r>
            <a:r>
              <a:rPr lang="ja-JP" altLang="en-US" sz="1200" dirty="0">
                <a:solidFill>
                  <a:schemeClr val="bg1"/>
                </a:solidFill>
                <a:latin typeface="+mn-ea"/>
              </a:rPr>
              <a:t>参加者</a:t>
            </a:r>
            <a:r>
              <a:rPr lang="en-US" altLang="ja-JP" sz="1200" dirty="0">
                <a:solidFill>
                  <a:schemeClr val="bg1"/>
                </a:solidFill>
                <a:latin typeface="+mn-ea"/>
              </a:rPr>
              <a:t>)</a:t>
            </a:r>
            <a:endParaRPr lang="ja-JP" altLang="en-US" sz="1050" dirty="0">
              <a:solidFill>
                <a:schemeClr val="bg1"/>
              </a:solidFill>
              <a:latin typeface="+mn-ea"/>
            </a:endParaRPr>
          </a:p>
        </p:txBody>
      </p:sp>
      <p:sp>
        <p:nvSpPr>
          <p:cNvPr id="33" name="正方形/長方形 32">
            <a:extLst>
              <a:ext uri="{FF2B5EF4-FFF2-40B4-BE49-F238E27FC236}">
                <a16:creationId xmlns:a16="http://schemas.microsoft.com/office/drawing/2014/main" id="{30E53312-22FD-3961-9BFC-8AE44DBC99FE}"/>
              </a:ext>
            </a:extLst>
          </p:cNvPr>
          <p:cNvSpPr/>
          <p:nvPr/>
        </p:nvSpPr>
        <p:spPr>
          <a:xfrm>
            <a:off x="7624141" y="3449060"/>
            <a:ext cx="1402767" cy="288000"/>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err="1">
                <a:solidFill>
                  <a:schemeClr val="bg1"/>
                </a:solidFill>
                <a:latin typeface="+mn-ea"/>
              </a:rPr>
              <a:t>eIDAS</a:t>
            </a:r>
            <a:r>
              <a:rPr lang="en-US" altLang="ja-JP" sz="1200" dirty="0">
                <a:solidFill>
                  <a:schemeClr val="bg1"/>
                </a:solidFill>
                <a:latin typeface="+mn-ea"/>
              </a:rPr>
              <a:t> </a:t>
            </a:r>
            <a:r>
              <a:rPr lang="ja-JP" altLang="en-US" sz="1200" dirty="0">
                <a:solidFill>
                  <a:schemeClr val="bg1"/>
                </a:solidFill>
                <a:latin typeface="+mn-ea"/>
              </a:rPr>
              <a:t>専門チーム</a:t>
            </a:r>
          </a:p>
        </p:txBody>
      </p:sp>
      <p:cxnSp>
        <p:nvCxnSpPr>
          <p:cNvPr id="38" name="直線矢印コネクタ 37">
            <a:extLst>
              <a:ext uri="{FF2B5EF4-FFF2-40B4-BE49-F238E27FC236}">
                <a16:creationId xmlns:a16="http://schemas.microsoft.com/office/drawing/2014/main" id="{B3169D7A-79C8-39DB-805F-5C4B86559758}"/>
              </a:ext>
            </a:extLst>
          </p:cNvPr>
          <p:cNvCxnSpPr>
            <a:cxnSpLocks/>
            <a:stCxn id="4" idx="2"/>
            <a:endCxn id="33" idx="0"/>
          </p:cNvCxnSpPr>
          <p:nvPr/>
        </p:nvCxnSpPr>
        <p:spPr>
          <a:xfrm>
            <a:off x="8322639" y="3028947"/>
            <a:ext cx="2886" cy="42011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032C53ED-10FB-0C72-118D-501A80ADEB79}"/>
              </a:ext>
            </a:extLst>
          </p:cNvPr>
          <p:cNvSpPr/>
          <p:nvPr/>
        </p:nvSpPr>
        <p:spPr>
          <a:xfrm>
            <a:off x="7617698" y="4722384"/>
            <a:ext cx="1406324" cy="288000"/>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加盟国</a:t>
            </a:r>
            <a:endParaRPr lang="en-US" altLang="ja-JP" sz="1200" dirty="0">
              <a:solidFill>
                <a:schemeClr val="bg1"/>
              </a:solidFill>
              <a:latin typeface="+mn-ea"/>
            </a:endParaRPr>
          </a:p>
        </p:txBody>
      </p:sp>
      <p:sp>
        <p:nvSpPr>
          <p:cNvPr id="51" name="正方形/長方形 50">
            <a:extLst>
              <a:ext uri="{FF2B5EF4-FFF2-40B4-BE49-F238E27FC236}">
                <a16:creationId xmlns:a16="http://schemas.microsoft.com/office/drawing/2014/main" id="{5A6BB551-CB78-7D82-28DC-87015B1CD8BD}"/>
              </a:ext>
            </a:extLst>
          </p:cNvPr>
          <p:cNvSpPr/>
          <p:nvPr/>
        </p:nvSpPr>
        <p:spPr>
          <a:xfrm>
            <a:off x="7615363" y="5276967"/>
            <a:ext cx="1406324" cy="288000"/>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NAB(</a:t>
            </a:r>
            <a:r>
              <a:rPr lang="ja-JP" altLang="en-US" sz="1200" dirty="0">
                <a:solidFill>
                  <a:schemeClr val="bg1"/>
                </a:solidFill>
                <a:latin typeface="+mn-ea"/>
              </a:rPr>
              <a:t>監督機関</a:t>
            </a:r>
            <a:r>
              <a:rPr lang="en-US" altLang="ja-JP" sz="1200" dirty="0">
                <a:solidFill>
                  <a:schemeClr val="bg1"/>
                </a:solidFill>
                <a:latin typeface="+mn-ea"/>
              </a:rPr>
              <a:t>)</a:t>
            </a:r>
          </a:p>
        </p:txBody>
      </p:sp>
      <p:sp>
        <p:nvSpPr>
          <p:cNvPr id="52" name="正方形/長方形 51">
            <a:extLst>
              <a:ext uri="{FF2B5EF4-FFF2-40B4-BE49-F238E27FC236}">
                <a16:creationId xmlns:a16="http://schemas.microsoft.com/office/drawing/2014/main" id="{3B9AC581-4A51-E00D-09FC-DB00C1713DE9}"/>
              </a:ext>
            </a:extLst>
          </p:cNvPr>
          <p:cNvSpPr/>
          <p:nvPr/>
        </p:nvSpPr>
        <p:spPr>
          <a:xfrm>
            <a:off x="7612062" y="5800192"/>
            <a:ext cx="1406324" cy="288000"/>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CAB(</a:t>
            </a:r>
            <a:r>
              <a:rPr lang="ja-JP" altLang="en-US" sz="1200" dirty="0">
                <a:solidFill>
                  <a:schemeClr val="bg1"/>
                </a:solidFill>
                <a:latin typeface="+mn-ea"/>
              </a:rPr>
              <a:t>認定機関</a:t>
            </a:r>
            <a:r>
              <a:rPr lang="en-US" altLang="ja-JP" sz="1200" dirty="0">
                <a:solidFill>
                  <a:schemeClr val="bg1"/>
                </a:solidFill>
                <a:latin typeface="+mn-ea"/>
              </a:rPr>
              <a:t>)</a:t>
            </a:r>
          </a:p>
        </p:txBody>
      </p:sp>
      <p:cxnSp>
        <p:nvCxnSpPr>
          <p:cNvPr id="76" name="直線矢印コネクタ 75">
            <a:extLst>
              <a:ext uri="{FF2B5EF4-FFF2-40B4-BE49-F238E27FC236}">
                <a16:creationId xmlns:a16="http://schemas.microsoft.com/office/drawing/2014/main" id="{F08DF98A-1818-D606-F3A8-2A14AD44AC6D}"/>
              </a:ext>
            </a:extLst>
          </p:cNvPr>
          <p:cNvCxnSpPr>
            <a:cxnSpLocks/>
            <a:stCxn id="51" idx="2"/>
            <a:endCxn id="52" idx="0"/>
          </p:cNvCxnSpPr>
          <p:nvPr/>
        </p:nvCxnSpPr>
        <p:spPr>
          <a:xfrm flipH="1">
            <a:off x="8315224" y="5564967"/>
            <a:ext cx="3301" cy="235225"/>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8" name="正方形/長方形 107">
            <a:extLst>
              <a:ext uri="{FF2B5EF4-FFF2-40B4-BE49-F238E27FC236}">
                <a16:creationId xmlns:a16="http://schemas.microsoft.com/office/drawing/2014/main" id="{09855CC6-AADA-6F10-0FA3-9CE2E9C1BBF0}"/>
              </a:ext>
            </a:extLst>
          </p:cNvPr>
          <p:cNvSpPr/>
          <p:nvPr/>
        </p:nvSpPr>
        <p:spPr>
          <a:xfrm>
            <a:off x="3704867" y="6161097"/>
            <a:ext cx="3402456" cy="225248"/>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エンドユーザ等</a:t>
            </a:r>
          </a:p>
        </p:txBody>
      </p:sp>
      <p:cxnSp>
        <p:nvCxnSpPr>
          <p:cNvPr id="21" name="直線矢印コネクタ 20">
            <a:extLst>
              <a:ext uri="{FF2B5EF4-FFF2-40B4-BE49-F238E27FC236}">
                <a16:creationId xmlns:a16="http://schemas.microsoft.com/office/drawing/2014/main" id="{A0CFFF29-0DA1-18F0-9B30-63E44AF8CFF0}"/>
              </a:ext>
            </a:extLst>
          </p:cNvPr>
          <p:cNvCxnSpPr>
            <a:cxnSpLocks/>
            <a:stCxn id="43" idx="2"/>
            <a:endCxn id="108" idx="0"/>
          </p:cNvCxnSpPr>
          <p:nvPr/>
        </p:nvCxnSpPr>
        <p:spPr>
          <a:xfrm>
            <a:off x="5395768" y="5840806"/>
            <a:ext cx="10327" cy="32029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69" name="グループ化 68">
            <a:extLst>
              <a:ext uri="{FF2B5EF4-FFF2-40B4-BE49-F238E27FC236}">
                <a16:creationId xmlns:a16="http://schemas.microsoft.com/office/drawing/2014/main" id="{E2A27DC0-DF78-2DF8-F008-4C13813AD183}"/>
              </a:ext>
            </a:extLst>
          </p:cNvPr>
          <p:cNvGrpSpPr/>
          <p:nvPr/>
        </p:nvGrpSpPr>
        <p:grpSpPr>
          <a:xfrm>
            <a:off x="3406977" y="1686595"/>
            <a:ext cx="3950840" cy="184666"/>
            <a:chOff x="2955712" y="818485"/>
            <a:chExt cx="4387516" cy="184666"/>
          </a:xfrm>
        </p:grpSpPr>
        <p:cxnSp>
          <p:nvCxnSpPr>
            <p:cNvPr id="61" name="直線コネクタ 60">
              <a:extLst>
                <a:ext uri="{FF2B5EF4-FFF2-40B4-BE49-F238E27FC236}">
                  <a16:creationId xmlns:a16="http://schemas.microsoft.com/office/drawing/2014/main" id="{1C8396D7-D365-9566-D10B-9B5D8684BFA8}"/>
                </a:ext>
              </a:extLst>
            </p:cNvPr>
            <p:cNvCxnSpPr/>
            <p:nvPr/>
          </p:nvCxnSpPr>
          <p:spPr>
            <a:xfrm>
              <a:off x="2955712" y="908050"/>
              <a:ext cx="438751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テキスト ボックス 61">
              <a:extLst>
                <a:ext uri="{FF2B5EF4-FFF2-40B4-BE49-F238E27FC236}">
                  <a16:creationId xmlns:a16="http://schemas.microsoft.com/office/drawing/2014/main" id="{C9F921A3-C178-A28F-B5F8-DA7FCC188299}"/>
                </a:ext>
              </a:extLst>
            </p:cNvPr>
            <p:cNvSpPr txBox="1"/>
            <p:nvPr/>
          </p:nvSpPr>
          <p:spPr>
            <a:xfrm>
              <a:off x="4704401" y="818485"/>
              <a:ext cx="890137" cy="184666"/>
            </a:xfrm>
            <a:prstGeom prst="rect">
              <a:avLst/>
            </a:prstGeom>
            <a:solidFill>
              <a:schemeClr val="bg1"/>
            </a:solidFill>
          </p:spPr>
          <p:txBody>
            <a:bodyPr wrap="square" lIns="0" tIns="0" rIns="0" bIns="0" rtlCol="0">
              <a:spAutoFit/>
            </a:bodyPr>
            <a:lstStyle/>
            <a:p>
              <a:pPr algn="ctr"/>
              <a:r>
                <a:rPr kumimoji="1" lang="ja-JP" altLang="en-US" sz="1200" dirty="0">
                  <a:latin typeface="+mn-ea"/>
                  <a:ea typeface="+mn-ea"/>
                </a:rPr>
                <a:t>領域</a:t>
              </a:r>
            </a:p>
          </p:txBody>
        </p:sp>
      </p:grpSp>
      <p:sp>
        <p:nvSpPr>
          <p:cNvPr id="94" name="四角形: 角を丸くする 93">
            <a:extLst>
              <a:ext uri="{FF2B5EF4-FFF2-40B4-BE49-F238E27FC236}">
                <a16:creationId xmlns:a16="http://schemas.microsoft.com/office/drawing/2014/main" id="{5762D4AB-F6B0-8043-8563-A42B9526C5AE}"/>
              </a:ext>
            </a:extLst>
          </p:cNvPr>
          <p:cNvSpPr/>
          <p:nvPr/>
        </p:nvSpPr>
        <p:spPr>
          <a:xfrm>
            <a:off x="6648721" y="4554261"/>
            <a:ext cx="567938" cy="315925"/>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a:latin typeface="+mn-ea"/>
              </a:rPr>
              <a:t>ARF</a:t>
            </a:r>
            <a:endParaRPr kumimoji="1" lang="ja-JP" altLang="en-US" sz="1200" dirty="0">
              <a:latin typeface="+mn-ea"/>
            </a:endParaRPr>
          </a:p>
        </p:txBody>
      </p:sp>
      <p:sp>
        <p:nvSpPr>
          <p:cNvPr id="95" name="四角形: 角を丸くする 94">
            <a:extLst>
              <a:ext uri="{FF2B5EF4-FFF2-40B4-BE49-F238E27FC236}">
                <a16:creationId xmlns:a16="http://schemas.microsoft.com/office/drawing/2014/main" id="{B556644B-CB92-F354-C97E-2FEFDD245CCD}"/>
              </a:ext>
            </a:extLst>
          </p:cNvPr>
          <p:cNvSpPr/>
          <p:nvPr/>
        </p:nvSpPr>
        <p:spPr>
          <a:xfrm>
            <a:off x="4981182" y="3175864"/>
            <a:ext cx="808848" cy="184845"/>
          </a:xfrm>
          <a:prstGeom prst="roundRect">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latin typeface="+mn-ea"/>
              </a:rPr>
              <a:t>トラストリスト</a:t>
            </a:r>
          </a:p>
        </p:txBody>
      </p:sp>
      <p:cxnSp>
        <p:nvCxnSpPr>
          <p:cNvPr id="135" name="直線矢印コネクタ 134">
            <a:extLst>
              <a:ext uri="{FF2B5EF4-FFF2-40B4-BE49-F238E27FC236}">
                <a16:creationId xmlns:a16="http://schemas.microsoft.com/office/drawing/2014/main" id="{1F7AC96F-B8CC-27A4-A622-C82596C3D0D6}"/>
              </a:ext>
            </a:extLst>
          </p:cNvPr>
          <p:cNvCxnSpPr>
            <a:cxnSpLocks/>
            <a:stCxn id="26" idx="2"/>
          </p:cNvCxnSpPr>
          <p:nvPr/>
        </p:nvCxnSpPr>
        <p:spPr>
          <a:xfrm>
            <a:off x="6428753" y="4359985"/>
            <a:ext cx="853" cy="1165478"/>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6" name="直線矢印コネクタ 205">
            <a:extLst>
              <a:ext uri="{FF2B5EF4-FFF2-40B4-BE49-F238E27FC236}">
                <a16:creationId xmlns:a16="http://schemas.microsoft.com/office/drawing/2014/main" id="{AF2A9F08-BBD1-72B9-A63E-295990476AD3}"/>
              </a:ext>
            </a:extLst>
          </p:cNvPr>
          <p:cNvCxnSpPr>
            <a:cxnSpLocks/>
            <a:stCxn id="43" idx="0"/>
            <a:endCxn id="95" idx="2"/>
          </p:cNvCxnSpPr>
          <p:nvPr/>
        </p:nvCxnSpPr>
        <p:spPr>
          <a:xfrm flipH="1" flipV="1">
            <a:off x="5385606" y="3360709"/>
            <a:ext cx="10162" cy="2228097"/>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0" name="コネクタ: カギ線 219">
            <a:extLst>
              <a:ext uri="{FF2B5EF4-FFF2-40B4-BE49-F238E27FC236}">
                <a16:creationId xmlns:a16="http://schemas.microsoft.com/office/drawing/2014/main" id="{A16EA2C9-BDC2-C053-0196-A8959C5A8FB9}"/>
              </a:ext>
            </a:extLst>
          </p:cNvPr>
          <p:cNvCxnSpPr>
            <a:cxnSpLocks/>
            <a:stCxn id="33" idx="1"/>
            <a:endCxn id="94" idx="3"/>
          </p:cNvCxnSpPr>
          <p:nvPr/>
        </p:nvCxnSpPr>
        <p:spPr>
          <a:xfrm rot="10800000" flipV="1">
            <a:off x="7216659" y="3593060"/>
            <a:ext cx="407482" cy="1119164"/>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34" name="コネクタ: カギ線 233">
            <a:extLst>
              <a:ext uri="{FF2B5EF4-FFF2-40B4-BE49-F238E27FC236}">
                <a16:creationId xmlns:a16="http://schemas.microsoft.com/office/drawing/2014/main" id="{ACBB880A-5355-EFBA-A2F2-966CCDB85F80}"/>
              </a:ext>
            </a:extLst>
          </p:cNvPr>
          <p:cNvCxnSpPr>
            <a:cxnSpLocks/>
            <a:stCxn id="52" idx="1"/>
            <a:endCxn id="43" idx="3"/>
          </p:cNvCxnSpPr>
          <p:nvPr/>
        </p:nvCxnSpPr>
        <p:spPr>
          <a:xfrm rot="10800000">
            <a:off x="7096996" y="5714806"/>
            <a:ext cx="515066" cy="229386"/>
          </a:xfrm>
          <a:prstGeom prst="bentConnector3">
            <a:avLst>
              <a:gd name="adj1" fmla="val 5000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41" name="直線矢印コネクタ 240">
            <a:extLst>
              <a:ext uri="{FF2B5EF4-FFF2-40B4-BE49-F238E27FC236}">
                <a16:creationId xmlns:a16="http://schemas.microsoft.com/office/drawing/2014/main" id="{5209388C-852C-A4B1-4FAE-E8B5652D0EDF}"/>
              </a:ext>
            </a:extLst>
          </p:cNvPr>
          <p:cNvCxnSpPr>
            <a:cxnSpLocks/>
            <a:stCxn id="48" idx="2"/>
            <a:endCxn id="51" idx="0"/>
          </p:cNvCxnSpPr>
          <p:nvPr/>
        </p:nvCxnSpPr>
        <p:spPr>
          <a:xfrm flipH="1">
            <a:off x="8318525" y="5010384"/>
            <a:ext cx="2335" cy="26658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0" name="コネクタ: カギ線 249">
            <a:extLst>
              <a:ext uri="{FF2B5EF4-FFF2-40B4-BE49-F238E27FC236}">
                <a16:creationId xmlns:a16="http://schemas.microsoft.com/office/drawing/2014/main" id="{692F080B-01DC-1E7D-B853-94452D350508}"/>
              </a:ext>
            </a:extLst>
          </p:cNvPr>
          <p:cNvCxnSpPr>
            <a:cxnSpLocks/>
            <a:stCxn id="51" idx="1"/>
            <a:endCxn id="95" idx="3"/>
          </p:cNvCxnSpPr>
          <p:nvPr/>
        </p:nvCxnSpPr>
        <p:spPr>
          <a:xfrm rot="10800000">
            <a:off x="5790031" y="3268287"/>
            <a:ext cx="1825333" cy="2152680"/>
          </a:xfrm>
          <a:prstGeom prst="bentConnector3">
            <a:avLst>
              <a:gd name="adj1" fmla="val 90427"/>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96" name="正方形/長方形 295">
            <a:extLst>
              <a:ext uri="{FF2B5EF4-FFF2-40B4-BE49-F238E27FC236}">
                <a16:creationId xmlns:a16="http://schemas.microsoft.com/office/drawing/2014/main" id="{1CD5D18A-E26B-98B5-E690-DD262BE21E7E}"/>
              </a:ext>
            </a:extLst>
          </p:cNvPr>
          <p:cNvSpPr/>
          <p:nvPr/>
        </p:nvSpPr>
        <p:spPr>
          <a:xfrm>
            <a:off x="7618032" y="2027207"/>
            <a:ext cx="1422960" cy="525827"/>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欧州ネットワーク・情報</a:t>
            </a:r>
            <a:endParaRPr lang="en-US" altLang="ja-JP" sz="1200" dirty="0">
              <a:solidFill>
                <a:schemeClr val="bg1"/>
              </a:solidFill>
              <a:latin typeface="+mn-ea"/>
            </a:endParaRPr>
          </a:p>
          <a:p>
            <a:pPr algn="ctr"/>
            <a:r>
              <a:rPr lang="ja-JP" altLang="en-US" sz="1200" dirty="0">
                <a:solidFill>
                  <a:schemeClr val="bg1"/>
                </a:solidFill>
                <a:latin typeface="+mn-ea"/>
              </a:rPr>
              <a:t>セキュリティ機関</a:t>
            </a:r>
            <a:endParaRPr lang="en-US" altLang="ja-JP" sz="1200" dirty="0">
              <a:solidFill>
                <a:schemeClr val="bg1"/>
              </a:solidFill>
              <a:latin typeface="+mn-ea"/>
            </a:endParaRPr>
          </a:p>
          <a:p>
            <a:pPr algn="ctr"/>
            <a:r>
              <a:rPr lang="en-US" altLang="ja-JP" sz="1200" dirty="0">
                <a:solidFill>
                  <a:schemeClr val="bg1"/>
                </a:solidFill>
                <a:latin typeface="+mn-ea"/>
              </a:rPr>
              <a:t>(ENSIA)</a:t>
            </a:r>
            <a:endParaRPr lang="ja-JP" altLang="en-US" sz="1050" dirty="0">
              <a:solidFill>
                <a:schemeClr val="bg1"/>
              </a:solidFill>
              <a:latin typeface="+mn-ea"/>
            </a:endParaRPr>
          </a:p>
        </p:txBody>
      </p:sp>
      <p:cxnSp>
        <p:nvCxnSpPr>
          <p:cNvPr id="304" name="コネクタ: カギ線 303">
            <a:extLst>
              <a:ext uri="{FF2B5EF4-FFF2-40B4-BE49-F238E27FC236}">
                <a16:creationId xmlns:a16="http://schemas.microsoft.com/office/drawing/2014/main" id="{1A434E71-208C-2A93-796C-2DD649E64569}"/>
              </a:ext>
            </a:extLst>
          </p:cNvPr>
          <p:cNvCxnSpPr>
            <a:cxnSpLocks/>
            <a:stCxn id="296" idx="1"/>
          </p:cNvCxnSpPr>
          <p:nvPr/>
        </p:nvCxnSpPr>
        <p:spPr>
          <a:xfrm rot="10800000" flipV="1">
            <a:off x="7034556" y="2290121"/>
            <a:ext cx="583476" cy="401826"/>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11" name="コネクタ: カギ線 310">
            <a:extLst>
              <a:ext uri="{FF2B5EF4-FFF2-40B4-BE49-F238E27FC236}">
                <a16:creationId xmlns:a16="http://schemas.microsoft.com/office/drawing/2014/main" id="{8D3EC8D0-5E8F-7E4F-96FE-17CDEF33940F}"/>
              </a:ext>
            </a:extLst>
          </p:cNvPr>
          <p:cNvCxnSpPr>
            <a:cxnSpLocks/>
            <a:stCxn id="48" idx="3"/>
            <a:endCxn id="33" idx="3"/>
          </p:cNvCxnSpPr>
          <p:nvPr/>
        </p:nvCxnSpPr>
        <p:spPr>
          <a:xfrm flipV="1">
            <a:off x="9024022" y="3593060"/>
            <a:ext cx="2886" cy="1273324"/>
          </a:xfrm>
          <a:prstGeom prst="bentConnector3">
            <a:avLst>
              <a:gd name="adj1" fmla="val 8020998"/>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4" name="コネクタ: カギ線 313">
            <a:extLst>
              <a:ext uri="{FF2B5EF4-FFF2-40B4-BE49-F238E27FC236}">
                <a16:creationId xmlns:a16="http://schemas.microsoft.com/office/drawing/2014/main" id="{91FBDEEE-7672-9FD3-7393-EC2287D5EDA9}"/>
              </a:ext>
            </a:extLst>
          </p:cNvPr>
          <p:cNvCxnSpPr>
            <a:cxnSpLocks/>
            <a:stCxn id="48" idx="3"/>
            <a:endCxn id="4" idx="3"/>
          </p:cNvCxnSpPr>
          <p:nvPr/>
        </p:nvCxnSpPr>
        <p:spPr>
          <a:xfrm flipV="1">
            <a:off x="9024022" y="2812953"/>
            <a:ext cx="12700" cy="2053431"/>
          </a:xfrm>
          <a:prstGeom prst="bentConnector3">
            <a:avLst>
              <a:gd name="adj1" fmla="val 1800000"/>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18" name="正方形/長方形 317">
            <a:extLst>
              <a:ext uri="{FF2B5EF4-FFF2-40B4-BE49-F238E27FC236}">
                <a16:creationId xmlns:a16="http://schemas.microsoft.com/office/drawing/2014/main" id="{59A151DB-A625-7B68-FD58-96257C7DBC33}"/>
              </a:ext>
            </a:extLst>
          </p:cNvPr>
          <p:cNvSpPr/>
          <p:nvPr/>
        </p:nvSpPr>
        <p:spPr>
          <a:xfrm>
            <a:off x="8466062" y="1720852"/>
            <a:ext cx="1340659" cy="259019"/>
          </a:xfrm>
          <a:prstGeom prst="rect">
            <a:avLst/>
          </a:prstGeom>
          <a:solidFill>
            <a:schemeClr val="tx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400" dirty="0">
                <a:solidFill>
                  <a:schemeClr val="bg1"/>
                </a:solidFill>
                <a:latin typeface="+mn-ea"/>
              </a:rPr>
              <a:t>EU</a:t>
            </a:r>
            <a:endParaRPr kumimoji="1" lang="ja-JP" altLang="en-US" sz="1400" dirty="0">
              <a:solidFill>
                <a:schemeClr val="bg1"/>
              </a:solidFill>
              <a:latin typeface="+mn-ea"/>
            </a:endParaRPr>
          </a:p>
        </p:txBody>
      </p:sp>
      <p:sp>
        <p:nvSpPr>
          <p:cNvPr id="320" name="正方形/長方形 319">
            <a:extLst>
              <a:ext uri="{FF2B5EF4-FFF2-40B4-BE49-F238E27FC236}">
                <a16:creationId xmlns:a16="http://schemas.microsoft.com/office/drawing/2014/main" id="{3533BDD2-CCC7-1BC6-4A24-D6D3DB886C82}"/>
              </a:ext>
            </a:extLst>
          </p:cNvPr>
          <p:cNvSpPr/>
          <p:nvPr/>
        </p:nvSpPr>
        <p:spPr>
          <a:xfrm>
            <a:off x="8448627" y="6121375"/>
            <a:ext cx="1340659" cy="259019"/>
          </a:xfrm>
          <a:prstGeom prst="rect">
            <a:avLst/>
          </a:prstGeom>
          <a:solidFill>
            <a:schemeClr val="tx1"/>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400" dirty="0">
                <a:solidFill>
                  <a:schemeClr val="bg1"/>
                </a:solidFill>
                <a:latin typeface="+mn-ea"/>
              </a:rPr>
              <a:t>EU </a:t>
            </a:r>
            <a:r>
              <a:rPr kumimoji="1" lang="ja-JP" altLang="en-US" sz="1400" dirty="0">
                <a:solidFill>
                  <a:schemeClr val="bg1"/>
                </a:solidFill>
                <a:latin typeface="+mn-ea"/>
              </a:rPr>
              <a:t>加盟国</a:t>
            </a:r>
          </a:p>
        </p:txBody>
      </p:sp>
      <p:cxnSp>
        <p:nvCxnSpPr>
          <p:cNvPr id="352" name="直線矢印コネクタ 351">
            <a:extLst>
              <a:ext uri="{FF2B5EF4-FFF2-40B4-BE49-F238E27FC236}">
                <a16:creationId xmlns:a16="http://schemas.microsoft.com/office/drawing/2014/main" id="{0F6B33C8-7009-0D66-B685-87152442C408}"/>
              </a:ext>
            </a:extLst>
          </p:cNvPr>
          <p:cNvCxnSpPr>
            <a:cxnSpLocks/>
            <a:stCxn id="4" idx="1"/>
          </p:cNvCxnSpPr>
          <p:nvPr/>
        </p:nvCxnSpPr>
        <p:spPr>
          <a:xfrm flipH="1">
            <a:off x="7037778" y="2812953"/>
            <a:ext cx="583477" cy="8982"/>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84" name="テキスト ボックス 383">
            <a:extLst>
              <a:ext uri="{FF2B5EF4-FFF2-40B4-BE49-F238E27FC236}">
                <a16:creationId xmlns:a16="http://schemas.microsoft.com/office/drawing/2014/main" id="{CA1A75AC-DFE0-F4A8-9154-BC6107E472E2}"/>
              </a:ext>
            </a:extLst>
          </p:cNvPr>
          <p:cNvSpPr txBox="1"/>
          <p:nvPr/>
        </p:nvSpPr>
        <p:spPr>
          <a:xfrm>
            <a:off x="8771756" y="3810587"/>
            <a:ext cx="969063" cy="184666"/>
          </a:xfrm>
          <a:prstGeom prst="rect">
            <a:avLst/>
          </a:prstGeom>
          <a:solidFill>
            <a:srgbClr val="D9DEE9"/>
          </a:solidFill>
        </p:spPr>
        <p:txBody>
          <a:bodyPr wrap="square" lIns="0" tIns="0" rIns="0" bIns="0">
            <a:spAutoFit/>
          </a:bodyPr>
          <a:lstStyle/>
          <a:p>
            <a:pPr algn="ctr"/>
            <a:r>
              <a:rPr lang="ja-JP" altLang="en-US" sz="1200" dirty="0">
                <a:latin typeface="+mn-ea"/>
                <a:ea typeface="+mn-ea"/>
              </a:rPr>
              <a:t>専門家の派遣</a:t>
            </a:r>
          </a:p>
        </p:txBody>
      </p:sp>
      <p:sp>
        <p:nvSpPr>
          <p:cNvPr id="385" name="テキスト ボックス 384">
            <a:extLst>
              <a:ext uri="{FF2B5EF4-FFF2-40B4-BE49-F238E27FC236}">
                <a16:creationId xmlns:a16="http://schemas.microsoft.com/office/drawing/2014/main" id="{949A7F9A-8AD4-9B78-21D2-57399B788FCD}"/>
              </a:ext>
            </a:extLst>
          </p:cNvPr>
          <p:cNvSpPr txBox="1"/>
          <p:nvPr/>
        </p:nvSpPr>
        <p:spPr>
          <a:xfrm>
            <a:off x="8409452" y="3131833"/>
            <a:ext cx="539301" cy="184666"/>
          </a:xfrm>
          <a:prstGeom prst="rect">
            <a:avLst/>
          </a:prstGeom>
          <a:solidFill>
            <a:srgbClr val="D9DEE9"/>
          </a:solidFill>
        </p:spPr>
        <p:txBody>
          <a:bodyPr wrap="square" lIns="0" tIns="0" rIns="0" bIns="0">
            <a:spAutoFit/>
          </a:bodyPr>
          <a:lstStyle/>
          <a:p>
            <a:pPr algn="ctr"/>
            <a:r>
              <a:rPr lang="ja-JP" altLang="en-US" sz="1200" dirty="0">
                <a:latin typeface="+mn-ea"/>
                <a:ea typeface="+mn-ea"/>
              </a:rPr>
              <a:t>指導</a:t>
            </a:r>
          </a:p>
        </p:txBody>
      </p:sp>
      <p:sp>
        <p:nvSpPr>
          <p:cNvPr id="386" name="テキスト ボックス 385">
            <a:extLst>
              <a:ext uri="{FF2B5EF4-FFF2-40B4-BE49-F238E27FC236}">
                <a16:creationId xmlns:a16="http://schemas.microsoft.com/office/drawing/2014/main" id="{DE6BA27D-05F2-5370-21E6-7D0484F4B57D}"/>
              </a:ext>
            </a:extLst>
          </p:cNvPr>
          <p:cNvSpPr txBox="1"/>
          <p:nvPr/>
        </p:nvSpPr>
        <p:spPr>
          <a:xfrm>
            <a:off x="7047532" y="6012623"/>
            <a:ext cx="532321" cy="184666"/>
          </a:xfrm>
          <a:prstGeom prst="rect">
            <a:avLst/>
          </a:prstGeom>
          <a:solidFill>
            <a:srgbClr val="DEEFF8"/>
          </a:solidFill>
        </p:spPr>
        <p:txBody>
          <a:bodyPr wrap="square" lIns="0" tIns="0" rIns="0" bIns="0">
            <a:spAutoFit/>
          </a:bodyPr>
          <a:lstStyle/>
          <a:p>
            <a:pPr algn="ctr"/>
            <a:r>
              <a:rPr lang="ja-JP" altLang="en-US" sz="1200" b="1" dirty="0">
                <a:solidFill>
                  <a:schemeClr val="accent3"/>
                </a:solidFill>
                <a:latin typeface="+mn-ea"/>
                <a:ea typeface="+mn-ea"/>
              </a:rPr>
              <a:t>認定</a:t>
            </a:r>
          </a:p>
        </p:txBody>
      </p:sp>
      <p:sp>
        <p:nvSpPr>
          <p:cNvPr id="387" name="テキスト ボックス 386">
            <a:extLst>
              <a:ext uri="{FF2B5EF4-FFF2-40B4-BE49-F238E27FC236}">
                <a16:creationId xmlns:a16="http://schemas.microsoft.com/office/drawing/2014/main" id="{8076BC62-B28D-08F6-2F51-EC1E929B613F}"/>
              </a:ext>
            </a:extLst>
          </p:cNvPr>
          <p:cNvSpPr txBox="1"/>
          <p:nvPr/>
        </p:nvSpPr>
        <p:spPr>
          <a:xfrm>
            <a:off x="4227250" y="2490918"/>
            <a:ext cx="710382" cy="184666"/>
          </a:xfrm>
          <a:prstGeom prst="rect">
            <a:avLst/>
          </a:prstGeom>
          <a:noFill/>
        </p:spPr>
        <p:txBody>
          <a:bodyPr wrap="square" lIns="0" tIns="0" rIns="0" bIns="0">
            <a:spAutoFit/>
          </a:bodyPr>
          <a:lstStyle/>
          <a:p>
            <a:pPr algn="ctr"/>
            <a:r>
              <a:rPr lang="ja-JP" altLang="en-US" sz="1200" dirty="0">
                <a:latin typeface="+mn-ea"/>
                <a:ea typeface="+mn-ea"/>
              </a:rPr>
              <a:t>準拠</a:t>
            </a:r>
          </a:p>
        </p:txBody>
      </p:sp>
      <p:sp>
        <p:nvSpPr>
          <p:cNvPr id="391" name="テキスト ボックス 390">
            <a:extLst>
              <a:ext uri="{FF2B5EF4-FFF2-40B4-BE49-F238E27FC236}">
                <a16:creationId xmlns:a16="http://schemas.microsoft.com/office/drawing/2014/main" id="{0320C786-B1EA-A07C-3989-8C9D4EDFF43A}"/>
              </a:ext>
            </a:extLst>
          </p:cNvPr>
          <p:cNvSpPr txBox="1"/>
          <p:nvPr/>
        </p:nvSpPr>
        <p:spPr>
          <a:xfrm>
            <a:off x="5557081" y="5894808"/>
            <a:ext cx="889127" cy="184666"/>
          </a:xfrm>
          <a:prstGeom prst="rect">
            <a:avLst/>
          </a:prstGeom>
          <a:solidFill>
            <a:srgbClr val="DEEFF8"/>
          </a:solidFill>
          <a:ln>
            <a:solidFill>
              <a:srgbClr val="DEEFF8"/>
            </a:solidFill>
          </a:ln>
        </p:spPr>
        <p:txBody>
          <a:bodyPr wrap="square" lIns="0" tIns="0" rIns="0" bIns="0">
            <a:spAutoFit/>
          </a:bodyPr>
          <a:lstStyle/>
          <a:p>
            <a:pPr algn="ctr"/>
            <a:r>
              <a:rPr lang="ja-JP" altLang="en-US" sz="1200" dirty="0">
                <a:latin typeface="+mn-ea"/>
                <a:ea typeface="+mn-ea"/>
              </a:rPr>
              <a:t>サービス提供</a:t>
            </a:r>
          </a:p>
        </p:txBody>
      </p:sp>
      <p:sp>
        <p:nvSpPr>
          <p:cNvPr id="401" name="テキスト ボックス 400">
            <a:extLst>
              <a:ext uri="{FF2B5EF4-FFF2-40B4-BE49-F238E27FC236}">
                <a16:creationId xmlns:a16="http://schemas.microsoft.com/office/drawing/2014/main" id="{E8F0E565-B097-5BF4-7AA2-4D3AB101436B}"/>
              </a:ext>
            </a:extLst>
          </p:cNvPr>
          <p:cNvSpPr txBox="1"/>
          <p:nvPr/>
        </p:nvSpPr>
        <p:spPr>
          <a:xfrm>
            <a:off x="8413513" y="5056834"/>
            <a:ext cx="757992" cy="184666"/>
          </a:xfrm>
          <a:prstGeom prst="rect">
            <a:avLst/>
          </a:prstGeom>
          <a:solidFill>
            <a:srgbClr val="DEEFF8"/>
          </a:solidFill>
          <a:ln>
            <a:solidFill>
              <a:srgbClr val="DEEFF8"/>
            </a:solidFill>
          </a:ln>
        </p:spPr>
        <p:txBody>
          <a:bodyPr wrap="square" lIns="0" tIns="0" rIns="0" bIns="0">
            <a:spAutoFit/>
          </a:bodyPr>
          <a:lstStyle/>
          <a:p>
            <a:pPr algn="ctr"/>
            <a:r>
              <a:rPr lang="ja-JP" altLang="en-US" sz="1200" dirty="0">
                <a:latin typeface="+mn-ea"/>
                <a:ea typeface="+mn-ea"/>
              </a:rPr>
              <a:t>選定・監督</a:t>
            </a:r>
            <a:endParaRPr lang="en-US" altLang="ja-JP" sz="1200" dirty="0">
              <a:latin typeface="+mn-ea"/>
              <a:ea typeface="+mn-ea"/>
            </a:endParaRPr>
          </a:p>
        </p:txBody>
      </p:sp>
      <p:sp>
        <p:nvSpPr>
          <p:cNvPr id="402" name="テキスト ボックス 401">
            <a:extLst>
              <a:ext uri="{FF2B5EF4-FFF2-40B4-BE49-F238E27FC236}">
                <a16:creationId xmlns:a16="http://schemas.microsoft.com/office/drawing/2014/main" id="{669947C0-29AE-FA6E-71B8-42EF9A9F9A28}"/>
              </a:ext>
            </a:extLst>
          </p:cNvPr>
          <p:cNvSpPr txBox="1"/>
          <p:nvPr/>
        </p:nvSpPr>
        <p:spPr>
          <a:xfrm>
            <a:off x="8413513" y="5597389"/>
            <a:ext cx="757992" cy="184666"/>
          </a:xfrm>
          <a:prstGeom prst="rect">
            <a:avLst/>
          </a:prstGeom>
          <a:solidFill>
            <a:srgbClr val="DEEFF8"/>
          </a:solidFill>
          <a:ln>
            <a:solidFill>
              <a:srgbClr val="DEEFF8"/>
            </a:solidFill>
          </a:ln>
        </p:spPr>
        <p:txBody>
          <a:bodyPr wrap="square" lIns="0" tIns="0" rIns="0" bIns="0">
            <a:spAutoFit/>
          </a:bodyPr>
          <a:lstStyle/>
          <a:p>
            <a:pPr algn="ctr"/>
            <a:r>
              <a:rPr lang="ja-JP" altLang="en-US" sz="1200" dirty="0">
                <a:latin typeface="+mn-ea"/>
                <a:ea typeface="+mn-ea"/>
              </a:rPr>
              <a:t>選定・監督</a:t>
            </a:r>
            <a:endParaRPr lang="en-US" altLang="ja-JP" sz="1200" dirty="0">
              <a:latin typeface="+mn-ea"/>
              <a:ea typeface="+mn-ea"/>
            </a:endParaRPr>
          </a:p>
        </p:txBody>
      </p:sp>
      <p:sp>
        <p:nvSpPr>
          <p:cNvPr id="404" name="テキスト ボックス 403">
            <a:extLst>
              <a:ext uri="{FF2B5EF4-FFF2-40B4-BE49-F238E27FC236}">
                <a16:creationId xmlns:a16="http://schemas.microsoft.com/office/drawing/2014/main" id="{BF51793B-645A-1245-28A9-1BB964E31281}"/>
              </a:ext>
            </a:extLst>
          </p:cNvPr>
          <p:cNvSpPr txBox="1"/>
          <p:nvPr/>
        </p:nvSpPr>
        <p:spPr>
          <a:xfrm>
            <a:off x="4886894" y="4270881"/>
            <a:ext cx="1013245" cy="184666"/>
          </a:xfrm>
          <a:prstGeom prst="rect">
            <a:avLst/>
          </a:prstGeom>
          <a:solidFill>
            <a:srgbClr val="DAE9E1"/>
          </a:solidFill>
          <a:ln>
            <a:noFill/>
          </a:ln>
        </p:spPr>
        <p:txBody>
          <a:bodyPr wrap="square" lIns="0" tIns="0" rIns="0" bIns="0">
            <a:spAutoFit/>
          </a:bodyPr>
          <a:lstStyle>
            <a:defPPr>
              <a:defRPr lang="ja-JP"/>
            </a:defPPr>
            <a:lvl1pPr algn="ctr">
              <a:defRPr sz="1000">
                <a:latin typeface="+mj-lt"/>
              </a:defRPr>
            </a:lvl1pPr>
          </a:lstStyle>
          <a:p>
            <a:r>
              <a:rPr lang="ja-JP" altLang="en-US" sz="1200" dirty="0">
                <a:latin typeface="+mn-ea"/>
                <a:ea typeface="+mn-ea"/>
              </a:rPr>
              <a:t>リストとして公開</a:t>
            </a:r>
            <a:endParaRPr lang="en-US" altLang="ja-JP" sz="1200" dirty="0">
              <a:latin typeface="+mn-ea"/>
              <a:ea typeface="+mn-ea"/>
            </a:endParaRPr>
          </a:p>
        </p:txBody>
      </p:sp>
      <p:sp>
        <p:nvSpPr>
          <p:cNvPr id="406" name="テキスト ボックス 405">
            <a:extLst>
              <a:ext uri="{FF2B5EF4-FFF2-40B4-BE49-F238E27FC236}">
                <a16:creationId xmlns:a16="http://schemas.microsoft.com/office/drawing/2014/main" id="{AC6AEC10-56BF-5354-C081-2A8E068227BD}"/>
              </a:ext>
            </a:extLst>
          </p:cNvPr>
          <p:cNvSpPr txBox="1"/>
          <p:nvPr/>
        </p:nvSpPr>
        <p:spPr>
          <a:xfrm>
            <a:off x="7109555" y="5440463"/>
            <a:ext cx="553935" cy="184666"/>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監査</a:t>
            </a:r>
          </a:p>
        </p:txBody>
      </p:sp>
      <p:sp>
        <p:nvSpPr>
          <p:cNvPr id="409" name="テキスト ボックス 408">
            <a:extLst>
              <a:ext uri="{FF2B5EF4-FFF2-40B4-BE49-F238E27FC236}">
                <a16:creationId xmlns:a16="http://schemas.microsoft.com/office/drawing/2014/main" id="{1649EE13-26D4-8286-0DAB-FE66BD1BFBA3}"/>
              </a:ext>
            </a:extLst>
          </p:cNvPr>
          <p:cNvSpPr txBox="1"/>
          <p:nvPr/>
        </p:nvSpPr>
        <p:spPr>
          <a:xfrm>
            <a:off x="6558810" y="2390375"/>
            <a:ext cx="710382" cy="184666"/>
          </a:xfrm>
          <a:prstGeom prst="rect">
            <a:avLst/>
          </a:prstGeom>
          <a:solidFill>
            <a:srgbClr val="FFD9D9"/>
          </a:solidFill>
        </p:spPr>
        <p:txBody>
          <a:bodyPr wrap="square" lIns="0" tIns="0" rIns="0" bIns="0">
            <a:spAutoFit/>
          </a:bodyPr>
          <a:lstStyle/>
          <a:p>
            <a:pPr algn="ctr"/>
            <a:r>
              <a:rPr lang="ja-JP" altLang="en-US" sz="1200" b="1" dirty="0">
                <a:solidFill>
                  <a:schemeClr val="accent1"/>
                </a:solidFill>
                <a:latin typeface="+mn-ea"/>
                <a:ea typeface="+mn-ea"/>
              </a:rPr>
              <a:t>アドバイス</a:t>
            </a:r>
          </a:p>
        </p:txBody>
      </p:sp>
      <p:sp>
        <p:nvSpPr>
          <p:cNvPr id="410" name="テキスト ボックス 409">
            <a:extLst>
              <a:ext uri="{FF2B5EF4-FFF2-40B4-BE49-F238E27FC236}">
                <a16:creationId xmlns:a16="http://schemas.microsoft.com/office/drawing/2014/main" id="{99918356-5AA0-5734-8C1F-2BE93E06F5A8}"/>
              </a:ext>
            </a:extLst>
          </p:cNvPr>
          <p:cNvSpPr txBox="1"/>
          <p:nvPr/>
        </p:nvSpPr>
        <p:spPr>
          <a:xfrm>
            <a:off x="6954157" y="2817253"/>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sp>
        <p:nvSpPr>
          <p:cNvPr id="411" name="テキスト ボックス 410">
            <a:extLst>
              <a:ext uri="{FF2B5EF4-FFF2-40B4-BE49-F238E27FC236}">
                <a16:creationId xmlns:a16="http://schemas.microsoft.com/office/drawing/2014/main" id="{E483E962-3913-4A27-4700-74E42A30800D}"/>
              </a:ext>
            </a:extLst>
          </p:cNvPr>
          <p:cNvSpPr txBox="1"/>
          <p:nvPr/>
        </p:nvSpPr>
        <p:spPr>
          <a:xfrm>
            <a:off x="7260174" y="3814642"/>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sp>
        <p:nvSpPr>
          <p:cNvPr id="412" name="テキスト ボックス 411">
            <a:extLst>
              <a:ext uri="{FF2B5EF4-FFF2-40B4-BE49-F238E27FC236}">
                <a16:creationId xmlns:a16="http://schemas.microsoft.com/office/drawing/2014/main" id="{88DF44B2-BEE0-B1F4-BCB7-192173178FE2}"/>
              </a:ext>
            </a:extLst>
          </p:cNvPr>
          <p:cNvSpPr txBox="1"/>
          <p:nvPr/>
        </p:nvSpPr>
        <p:spPr>
          <a:xfrm>
            <a:off x="7102808" y="3206033"/>
            <a:ext cx="640064" cy="307777"/>
          </a:xfrm>
          <a:prstGeom prst="rect">
            <a:avLst/>
          </a:prstGeom>
          <a:noFill/>
        </p:spPr>
        <p:txBody>
          <a:bodyPr wrap="square" lIns="0" tIns="0" rIns="0" bIns="0">
            <a:spAutoFit/>
          </a:bodyPr>
          <a:lstStyle/>
          <a:p>
            <a:pPr algn="ctr"/>
            <a:r>
              <a:rPr lang="ja-JP" altLang="en-US" sz="1000" b="1" dirty="0">
                <a:solidFill>
                  <a:schemeClr val="accent1"/>
                </a:solidFill>
                <a:latin typeface="+mn-ea"/>
                <a:ea typeface="+mn-ea"/>
              </a:rPr>
              <a:t>フィードバック</a:t>
            </a:r>
          </a:p>
        </p:txBody>
      </p:sp>
      <p:sp>
        <p:nvSpPr>
          <p:cNvPr id="427" name="テキスト ボックス 426">
            <a:extLst>
              <a:ext uri="{FF2B5EF4-FFF2-40B4-BE49-F238E27FC236}">
                <a16:creationId xmlns:a16="http://schemas.microsoft.com/office/drawing/2014/main" id="{2BBD9A05-A7D0-F9D8-F054-27CE18A9B892}"/>
              </a:ext>
            </a:extLst>
          </p:cNvPr>
          <p:cNvSpPr txBox="1"/>
          <p:nvPr/>
        </p:nvSpPr>
        <p:spPr>
          <a:xfrm>
            <a:off x="6168828" y="4926589"/>
            <a:ext cx="496505" cy="184666"/>
          </a:xfrm>
          <a:prstGeom prst="rect">
            <a:avLst/>
          </a:prstGeom>
          <a:solidFill>
            <a:srgbClr val="FFD9D9"/>
          </a:solidFill>
        </p:spPr>
        <p:txBody>
          <a:bodyPr wrap="square" lIns="0" tIns="0" rIns="0" bIns="0">
            <a:spAutoFit/>
          </a:bodyPr>
          <a:lstStyle/>
          <a:p>
            <a:pPr algn="ctr"/>
            <a:r>
              <a:rPr lang="ja-JP" altLang="en-US" sz="1200" dirty="0">
                <a:latin typeface="+mn-ea"/>
                <a:ea typeface="+mn-ea"/>
              </a:rPr>
              <a:t>準拠</a:t>
            </a:r>
          </a:p>
        </p:txBody>
      </p:sp>
      <p:sp>
        <p:nvSpPr>
          <p:cNvPr id="428" name="四角形: 角を丸くする 427">
            <a:extLst>
              <a:ext uri="{FF2B5EF4-FFF2-40B4-BE49-F238E27FC236}">
                <a16:creationId xmlns:a16="http://schemas.microsoft.com/office/drawing/2014/main" id="{BDC77883-A3BF-D9A5-9DDE-1C69E91DF246}"/>
              </a:ext>
            </a:extLst>
          </p:cNvPr>
          <p:cNvSpPr/>
          <p:nvPr/>
        </p:nvSpPr>
        <p:spPr>
          <a:xfrm>
            <a:off x="3688156" y="2274583"/>
            <a:ext cx="1002751" cy="208682"/>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tIns="0" rtlCol="0" anchor="t" anchorCtr="0"/>
          <a:lstStyle/>
          <a:p>
            <a:pPr algn="ctr"/>
            <a:r>
              <a:rPr kumimoji="1" lang="en-US" altLang="ja-JP" sz="1200" dirty="0">
                <a:latin typeface="+mn-ea"/>
              </a:rPr>
              <a:t>GDPR</a:t>
            </a:r>
            <a:endParaRPr kumimoji="1" lang="ja-JP" altLang="en-US" sz="1200" dirty="0">
              <a:latin typeface="+mn-ea"/>
            </a:endParaRPr>
          </a:p>
        </p:txBody>
      </p:sp>
      <p:cxnSp>
        <p:nvCxnSpPr>
          <p:cNvPr id="429" name="直線矢印コネクタ 428">
            <a:extLst>
              <a:ext uri="{FF2B5EF4-FFF2-40B4-BE49-F238E27FC236}">
                <a16:creationId xmlns:a16="http://schemas.microsoft.com/office/drawing/2014/main" id="{396E519E-005E-3B9A-3274-BB9CB61EA7D5}"/>
              </a:ext>
            </a:extLst>
          </p:cNvPr>
          <p:cNvCxnSpPr>
            <a:cxnSpLocks/>
            <a:stCxn id="428" idx="2"/>
          </p:cNvCxnSpPr>
          <p:nvPr/>
        </p:nvCxnSpPr>
        <p:spPr>
          <a:xfrm>
            <a:off x="4189532" y="2483265"/>
            <a:ext cx="0" cy="20868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2" name="テキスト ボックス 431">
            <a:extLst>
              <a:ext uri="{FF2B5EF4-FFF2-40B4-BE49-F238E27FC236}">
                <a16:creationId xmlns:a16="http://schemas.microsoft.com/office/drawing/2014/main" id="{C7523DD8-16D6-457A-1AE7-FDF028484885}"/>
              </a:ext>
            </a:extLst>
          </p:cNvPr>
          <p:cNvSpPr txBox="1"/>
          <p:nvPr/>
        </p:nvSpPr>
        <p:spPr>
          <a:xfrm>
            <a:off x="6579572" y="3690550"/>
            <a:ext cx="710382" cy="184666"/>
          </a:xfrm>
          <a:prstGeom prst="rect">
            <a:avLst/>
          </a:prstGeom>
          <a:solidFill>
            <a:srgbClr val="FFD9D9"/>
          </a:solidFill>
        </p:spPr>
        <p:txBody>
          <a:bodyPr wrap="square" lIns="0" tIns="0" rIns="0" bIns="0">
            <a:spAutoFit/>
          </a:bodyPr>
          <a:lstStyle/>
          <a:p>
            <a:pPr algn="ctr"/>
            <a:r>
              <a:rPr lang="ja-JP" altLang="en-US" sz="1200" dirty="0">
                <a:latin typeface="+mn-ea"/>
                <a:ea typeface="+mn-ea"/>
              </a:rPr>
              <a:t>関連</a:t>
            </a:r>
          </a:p>
        </p:txBody>
      </p:sp>
      <p:sp>
        <p:nvSpPr>
          <p:cNvPr id="26" name="四角形: 角を丸くする 25">
            <a:extLst>
              <a:ext uri="{FF2B5EF4-FFF2-40B4-BE49-F238E27FC236}">
                <a16:creationId xmlns:a16="http://schemas.microsoft.com/office/drawing/2014/main" id="{600C6EF9-9B4B-AB45-4629-7846E9AF1559}"/>
              </a:ext>
            </a:extLst>
          </p:cNvPr>
          <p:cNvSpPr/>
          <p:nvPr/>
        </p:nvSpPr>
        <p:spPr>
          <a:xfrm>
            <a:off x="5991108" y="3906975"/>
            <a:ext cx="875289" cy="453010"/>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900" dirty="0">
                <a:latin typeface="+mn-ea"/>
              </a:rPr>
              <a:t>Implementation</a:t>
            </a:r>
          </a:p>
          <a:p>
            <a:pPr algn="ctr"/>
            <a:r>
              <a:rPr kumimoji="1" lang="en-US" altLang="ja-JP" sz="900" dirty="0">
                <a:latin typeface="+mn-ea"/>
              </a:rPr>
              <a:t>Act</a:t>
            </a:r>
            <a:endParaRPr kumimoji="1" lang="ja-JP" altLang="en-US" sz="900" dirty="0">
              <a:latin typeface="+mn-ea"/>
            </a:endParaRPr>
          </a:p>
        </p:txBody>
      </p:sp>
      <p:cxnSp>
        <p:nvCxnSpPr>
          <p:cNvPr id="29" name="直線矢印コネクタ 28">
            <a:extLst>
              <a:ext uri="{FF2B5EF4-FFF2-40B4-BE49-F238E27FC236}">
                <a16:creationId xmlns:a16="http://schemas.microsoft.com/office/drawing/2014/main" id="{8F936839-9D53-6E5B-0DC8-01C422A81987}"/>
              </a:ext>
            </a:extLst>
          </p:cNvPr>
          <p:cNvCxnSpPr>
            <a:cxnSpLocks/>
            <a:endCxn id="26" idx="0"/>
          </p:cNvCxnSpPr>
          <p:nvPr/>
        </p:nvCxnSpPr>
        <p:spPr>
          <a:xfrm>
            <a:off x="6428752" y="3438772"/>
            <a:ext cx="1" cy="46820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6" name="テキスト ボックス 425">
            <a:extLst>
              <a:ext uri="{FF2B5EF4-FFF2-40B4-BE49-F238E27FC236}">
                <a16:creationId xmlns:a16="http://schemas.microsoft.com/office/drawing/2014/main" id="{2A672B37-ACFA-DBC6-F5CD-6AFB91526AF1}"/>
              </a:ext>
            </a:extLst>
          </p:cNvPr>
          <p:cNvSpPr txBox="1"/>
          <p:nvPr/>
        </p:nvSpPr>
        <p:spPr>
          <a:xfrm>
            <a:off x="6113109" y="3583674"/>
            <a:ext cx="548450" cy="184666"/>
          </a:xfrm>
          <a:prstGeom prst="rect">
            <a:avLst/>
          </a:prstGeom>
          <a:solidFill>
            <a:srgbClr val="FFD9D9"/>
          </a:solidFill>
        </p:spPr>
        <p:txBody>
          <a:bodyPr wrap="square" lIns="0" tIns="0" rIns="0" bIns="0">
            <a:spAutoFit/>
          </a:bodyPr>
          <a:lstStyle/>
          <a:p>
            <a:pPr algn="ctr"/>
            <a:r>
              <a:rPr lang="ja-JP" altLang="en-US" sz="1200" dirty="0">
                <a:latin typeface="+mn-ea"/>
                <a:ea typeface="+mn-ea"/>
              </a:rPr>
              <a:t>準拠</a:t>
            </a:r>
          </a:p>
        </p:txBody>
      </p:sp>
      <p:cxnSp>
        <p:nvCxnSpPr>
          <p:cNvPr id="5" name="コネクタ: カギ線 4">
            <a:extLst>
              <a:ext uri="{FF2B5EF4-FFF2-40B4-BE49-F238E27FC236}">
                <a16:creationId xmlns:a16="http://schemas.microsoft.com/office/drawing/2014/main" id="{6FA024CC-C164-07BA-88B6-AD60F96A6E72}"/>
              </a:ext>
            </a:extLst>
          </p:cNvPr>
          <p:cNvCxnSpPr>
            <a:cxnSpLocks/>
            <a:stCxn id="15" idx="1"/>
            <a:endCxn id="81" idx="3"/>
          </p:cNvCxnSpPr>
          <p:nvPr/>
        </p:nvCxnSpPr>
        <p:spPr>
          <a:xfrm rot="10800000">
            <a:off x="7050754" y="3046655"/>
            <a:ext cx="567279" cy="1256925"/>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8" name="コネクタ: カギ線 7">
            <a:extLst>
              <a:ext uri="{FF2B5EF4-FFF2-40B4-BE49-F238E27FC236}">
                <a16:creationId xmlns:a16="http://schemas.microsoft.com/office/drawing/2014/main" id="{B9A55359-CB48-2E1F-CB30-DCE23230193B}"/>
              </a:ext>
            </a:extLst>
          </p:cNvPr>
          <p:cNvCxnSpPr>
            <a:cxnSpLocks/>
            <a:stCxn id="15" idx="1"/>
            <a:endCxn id="94" idx="3"/>
          </p:cNvCxnSpPr>
          <p:nvPr/>
        </p:nvCxnSpPr>
        <p:spPr>
          <a:xfrm rot="10800000" flipV="1">
            <a:off x="7216660" y="4303578"/>
            <a:ext cx="401373" cy="408645"/>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 name="四角形: 角を丸くする 5">
            <a:extLst>
              <a:ext uri="{FF2B5EF4-FFF2-40B4-BE49-F238E27FC236}">
                <a16:creationId xmlns:a16="http://schemas.microsoft.com/office/drawing/2014/main" id="{9213E8BF-1152-0396-6F16-C93E999E9A86}"/>
              </a:ext>
            </a:extLst>
          </p:cNvPr>
          <p:cNvSpPr/>
          <p:nvPr/>
        </p:nvSpPr>
        <p:spPr>
          <a:xfrm>
            <a:off x="251011" y="3264227"/>
            <a:ext cx="1991500" cy="219073"/>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b="1" dirty="0">
                <a:solidFill>
                  <a:schemeClr val="bg1"/>
                </a:solidFill>
                <a:latin typeface="+mn-ea"/>
              </a:rPr>
              <a:t>規制に沿ったガイドライン等</a:t>
            </a:r>
            <a:endParaRPr kumimoji="1" lang="ja-JP" altLang="en-US" sz="1200" b="1" dirty="0">
              <a:solidFill>
                <a:schemeClr val="bg1"/>
              </a:solidFill>
              <a:latin typeface="+mn-ea"/>
            </a:endParaRPr>
          </a:p>
        </p:txBody>
      </p:sp>
      <p:sp>
        <p:nvSpPr>
          <p:cNvPr id="7" name="四角形: 角を丸くする 6">
            <a:extLst>
              <a:ext uri="{FF2B5EF4-FFF2-40B4-BE49-F238E27FC236}">
                <a16:creationId xmlns:a16="http://schemas.microsoft.com/office/drawing/2014/main" id="{56C8B52F-1E69-4BB3-FB33-AD5E96252513}"/>
              </a:ext>
            </a:extLst>
          </p:cNvPr>
          <p:cNvSpPr/>
          <p:nvPr/>
        </p:nvSpPr>
        <p:spPr>
          <a:xfrm>
            <a:off x="251011" y="1951599"/>
            <a:ext cx="1991500" cy="23338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上位の法規制：</a:t>
            </a:r>
            <a:r>
              <a:rPr kumimoji="1" lang="en-US" altLang="ja-JP" sz="1200" b="1" dirty="0">
                <a:solidFill>
                  <a:schemeClr val="bg1"/>
                </a:solidFill>
                <a:latin typeface="+mn-ea"/>
              </a:rPr>
              <a:t>eIDAS2.0</a:t>
            </a:r>
            <a:endParaRPr kumimoji="1" lang="ja-JP" altLang="en-US" sz="1200" b="1" dirty="0">
              <a:solidFill>
                <a:schemeClr val="bg1"/>
              </a:solidFill>
              <a:latin typeface="+mn-ea"/>
            </a:endParaRPr>
          </a:p>
        </p:txBody>
      </p:sp>
      <p:sp>
        <p:nvSpPr>
          <p:cNvPr id="9" name="四角形: 角を丸くする 8">
            <a:extLst>
              <a:ext uri="{FF2B5EF4-FFF2-40B4-BE49-F238E27FC236}">
                <a16:creationId xmlns:a16="http://schemas.microsoft.com/office/drawing/2014/main" id="{C095D8C9-9023-512A-A758-5D802EA2BDCE}"/>
              </a:ext>
            </a:extLst>
          </p:cNvPr>
          <p:cNvSpPr/>
          <p:nvPr/>
        </p:nvSpPr>
        <p:spPr>
          <a:xfrm>
            <a:off x="240028" y="5311123"/>
            <a:ext cx="1991500" cy="23007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サービス認定・ガバナンス</a:t>
            </a:r>
          </a:p>
        </p:txBody>
      </p:sp>
      <p:sp>
        <p:nvSpPr>
          <p:cNvPr id="17" name="テキスト ボックス 16">
            <a:extLst>
              <a:ext uri="{FF2B5EF4-FFF2-40B4-BE49-F238E27FC236}">
                <a16:creationId xmlns:a16="http://schemas.microsoft.com/office/drawing/2014/main" id="{4441F3F5-1C00-FC79-2B2F-BE8313681A50}"/>
              </a:ext>
            </a:extLst>
          </p:cNvPr>
          <p:cNvSpPr txBox="1"/>
          <p:nvPr/>
        </p:nvSpPr>
        <p:spPr>
          <a:xfrm>
            <a:off x="3739552" y="1965364"/>
            <a:ext cx="615553" cy="184666"/>
          </a:xfrm>
          <a:prstGeom prst="rect">
            <a:avLst/>
          </a:prstGeom>
          <a:noFill/>
        </p:spPr>
        <p:txBody>
          <a:bodyPr wrap="none" lIns="0" tIns="0" rIns="0" bIns="0" rtlCol="0">
            <a:spAutoFit/>
          </a:bodyPr>
          <a:lstStyle/>
          <a:p>
            <a:pPr algn="ctr"/>
            <a:r>
              <a:rPr kumimoji="1" lang="ja-JP" altLang="en-US" sz="1200" b="1" u="sng" dirty="0">
                <a:latin typeface="+mn-ea"/>
                <a:ea typeface="+mn-ea"/>
              </a:rPr>
              <a:t>一般要件</a:t>
            </a:r>
            <a:endParaRPr lang="en-US" altLang="ja-JP" sz="1200" b="1" u="sng" dirty="0">
              <a:latin typeface="+mn-ea"/>
              <a:ea typeface="+mn-ea"/>
            </a:endParaRPr>
          </a:p>
        </p:txBody>
      </p:sp>
      <p:sp>
        <p:nvSpPr>
          <p:cNvPr id="18" name="テキスト ボックス 17">
            <a:extLst>
              <a:ext uri="{FF2B5EF4-FFF2-40B4-BE49-F238E27FC236}">
                <a16:creationId xmlns:a16="http://schemas.microsoft.com/office/drawing/2014/main" id="{6564C9F9-7976-56A9-CE9A-0359D1E859AA}"/>
              </a:ext>
            </a:extLst>
          </p:cNvPr>
          <p:cNvSpPr txBox="1"/>
          <p:nvPr/>
        </p:nvSpPr>
        <p:spPr>
          <a:xfrm>
            <a:off x="4926278" y="1962856"/>
            <a:ext cx="993862" cy="184666"/>
          </a:xfrm>
          <a:prstGeom prst="rect">
            <a:avLst/>
          </a:prstGeom>
          <a:noFill/>
        </p:spPr>
        <p:txBody>
          <a:bodyPr wrap="none" lIns="0" tIns="0" rIns="0" bIns="0" rtlCol="0">
            <a:spAutoFit/>
          </a:bodyPr>
          <a:lstStyle/>
          <a:p>
            <a:pPr algn="ctr"/>
            <a:r>
              <a:rPr lang="ja-JP" altLang="en-US" sz="1200" b="1" u="sng" dirty="0">
                <a:latin typeface="+mn-ea"/>
                <a:ea typeface="+mn-ea"/>
              </a:rPr>
              <a:t>ガバナンス・認定</a:t>
            </a:r>
            <a:endParaRPr kumimoji="1" lang="en-US" altLang="ja-JP" sz="1200" b="1" u="sng" dirty="0">
              <a:latin typeface="+mn-ea"/>
              <a:ea typeface="+mn-ea"/>
            </a:endParaRPr>
          </a:p>
        </p:txBody>
      </p:sp>
      <p:sp>
        <p:nvSpPr>
          <p:cNvPr id="19" name="テキスト ボックス 18">
            <a:extLst>
              <a:ext uri="{FF2B5EF4-FFF2-40B4-BE49-F238E27FC236}">
                <a16:creationId xmlns:a16="http://schemas.microsoft.com/office/drawing/2014/main" id="{ABE114E2-3236-E3CE-1AAD-6B98221F1E8C}"/>
              </a:ext>
            </a:extLst>
          </p:cNvPr>
          <p:cNvSpPr txBox="1"/>
          <p:nvPr/>
        </p:nvSpPr>
        <p:spPr>
          <a:xfrm>
            <a:off x="6260265" y="1880459"/>
            <a:ext cx="905510" cy="369332"/>
          </a:xfrm>
          <a:prstGeom prst="rect">
            <a:avLst/>
          </a:prstGeom>
          <a:noFill/>
        </p:spPr>
        <p:txBody>
          <a:bodyPr wrap="square" lIns="0" tIns="0" rIns="0" bIns="0" rtlCol="0">
            <a:spAutoFit/>
          </a:bodyPr>
          <a:lstStyle/>
          <a:p>
            <a:pPr algn="ctr"/>
            <a:r>
              <a:rPr kumimoji="1" lang="ja-JP" altLang="en-US" sz="1200" b="1" u="sng" dirty="0">
                <a:latin typeface="+mn-ea"/>
                <a:ea typeface="+mn-ea"/>
              </a:rPr>
              <a:t>技術規格・</a:t>
            </a:r>
            <a:endParaRPr kumimoji="1" lang="en-US" altLang="ja-JP" sz="1200" b="1" u="sng" dirty="0">
              <a:latin typeface="+mn-ea"/>
              <a:ea typeface="+mn-ea"/>
            </a:endParaRPr>
          </a:p>
          <a:p>
            <a:pPr algn="ctr"/>
            <a:r>
              <a:rPr kumimoji="1" lang="ja-JP" altLang="en-US" sz="1200" b="1" u="sng" dirty="0">
                <a:latin typeface="+mn-ea"/>
                <a:ea typeface="+mn-ea"/>
              </a:rPr>
              <a:t>アーキテクチャ</a:t>
            </a:r>
          </a:p>
        </p:txBody>
      </p:sp>
      <p:cxnSp>
        <p:nvCxnSpPr>
          <p:cNvPr id="44" name="直線矢印コネクタ 43">
            <a:extLst>
              <a:ext uri="{FF2B5EF4-FFF2-40B4-BE49-F238E27FC236}">
                <a16:creationId xmlns:a16="http://schemas.microsoft.com/office/drawing/2014/main" id="{0BACE848-8857-CE6B-F8B1-CE584EE337B4}"/>
              </a:ext>
            </a:extLst>
          </p:cNvPr>
          <p:cNvCxnSpPr>
            <a:cxnSpLocks/>
          </p:cNvCxnSpPr>
          <p:nvPr/>
        </p:nvCxnSpPr>
        <p:spPr>
          <a:xfrm>
            <a:off x="6954157" y="4897267"/>
            <a:ext cx="0" cy="755934"/>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9347D455-86ED-E5DF-84FB-5B4466697BA3}"/>
              </a:ext>
            </a:extLst>
          </p:cNvPr>
          <p:cNvSpPr txBox="1"/>
          <p:nvPr/>
        </p:nvSpPr>
        <p:spPr>
          <a:xfrm>
            <a:off x="6700912" y="5087352"/>
            <a:ext cx="565069" cy="184666"/>
          </a:xfrm>
          <a:prstGeom prst="rect">
            <a:avLst/>
          </a:prstGeom>
          <a:solidFill>
            <a:srgbClr val="FFD9D9"/>
          </a:solidFill>
        </p:spPr>
        <p:txBody>
          <a:bodyPr wrap="square" lIns="0" tIns="0" rIns="0" bIns="0">
            <a:spAutoFit/>
          </a:bodyPr>
          <a:lstStyle/>
          <a:p>
            <a:pPr algn="ctr"/>
            <a:r>
              <a:rPr lang="ja-JP" altLang="en-US" sz="1200" dirty="0">
                <a:latin typeface="+mn-ea"/>
                <a:ea typeface="+mn-ea"/>
              </a:rPr>
              <a:t>関連</a:t>
            </a:r>
          </a:p>
        </p:txBody>
      </p:sp>
      <p:sp>
        <p:nvSpPr>
          <p:cNvPr id="50" name="コンテンツ プレースホルダー 2">
            <a:extLst>
              <a:ext uri="{FF2B5EF4-FFF2-40B4-BE49-F238E27FC236}">
                <a16:creationId xmlns:a16="http://schemas.microsoft.com/office/drawing/2014/main" id="{D42E21F8-1887-2908-0D7F-566BE46821CA}"/>
              </a:ext>
            </a:extLst>
          </p:cNvPr>
          <p:cNvSpPr txBox="1">
            <a:spLocks/>
          </p:cNvSpPr>
          <p:nvPr/>
        </p:nvSpPr>
        <p:spPr>
          <a:xfrm>
            <a:off x="273050" y="908049"/>
            <a:ext cx="7848599" cy="764541"/>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法規制</a:t>
            </a:r>
            <a:r>
              <a:rPr lang="en-US" altLang="ja-JP" dirty="0"/>
              <a:t>/</a:t>
            </a:r>
            <a:r>
              <a:rPr lang="ja-JP" altLang="en-US" dirty="0"/>
              <a:t>ガイドラインは欧州委員会側が策定、サービスの認定・監査は</a:t>
            </a:r>
            <a:r>
              <a:rPr lang="en-US" altLang="ja-JP" dirty="0"/>
              <a:t>EU</a:t>
            </a:r>
            <a:r>
              <a:rPr lang="ja-JP" altLang="en-US" dirty="0"/>
              <a:t>加盟国が実施する</a:t>
            </a:r>
            <a:endParaRPr lang="en-US" altLang="ja-JP" dirty="0"/>
          </a:p>
          <a:p>
            <a:r>
              <a:rPr lang="ja-JP" altLang="en-US" dirty="0"/>
              <a:t>法規制を施行したのちに、準拠すべき技術標準を決定するアプローチを取っているが、デジタルアイデンティティウォレットの規格を検討する専門チームで実装フレームワークの検討を並行して検討している</a:t>
            </a:r>
            <a:endParaRPr lang="en-US" altLang="ja-JP" dirty="0"/>
          </a:p>
        </p:txBody>
      </p:sp>
      <p:sp>
        <p:nvSpPr>
          <p:cNvPr id="10" name="正方形/長方形 9">
            <a:extLst>
              <a:ext uri="{FF2B5EF4-FFF2-40B4-BE49-F238E27FC236}">
                <a16:creationId xmlns:a16="http://schemas.microsoft.com/office/drawing/2014/main" id="{64F23042-24D7-CEA5-AD24-B438E7400ED2}"/>
              </a:ext>
            </a:extLst>
          </p:cNvPr>
          <p:cNvSpPr/>
          <p:nvPr/>
        </p:nvSpPr>
        <p:spPr>
          <a:xfrm>
            <a:off x="482058" y="6447295"/>
            <a:ext cx="9533671" cy="159122"/>
          </a:xfrm>
          <a:prstGeom prst="rect">
            <a:avLst/>
          </a:prstGeom>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ja-JP" altLang="en-US" sz="900" dirty="0"/>
              <a:t>公開資料・有識者ヒアリングより</a:t>
            </a:r>
            <a:r>
              <a:rPr kumimoji="1" lang="en-US" altLang="ja-JP" sz="900" dirty="0"/>
              <a:t>TOPPAN</a:t>
            </a:r>
            <a:r>
              <a:rPr kumimoji="1" lang="ja-JP" altLang="en-US" sz="900" dirty="0"/>
              <a:t>作成</a:t>
            </a:r>
            <a:endParaRPr kumimoji="1" lang="en-US" altLang="ja-JP" sz="900" dirty="0"/>
          </a:p>
          <a:p>
            <a:r>
              <a:rPr lang="en-US" altLang="ja-JP" sz="900" dirty="0">
                <a:hlinkClick r:id="rId2"/>
              </a:rPr>
              <a:t>https://ec.europa.eu/digital-building-blocks/sites/display/EUDIGITALIDENTITYWALLET/What+are+the+Large+Scale+Pilot+Projects</a:t>
            </a:r>
            <a:endParaRPr kumimoji="1" lang="ja-JP" altLang="en-US" sz="900" dirty="0"/>
          </a:p>
        </p:txBody>
      </p:sp>
      <p:grpSp>
        <p:nvGrpSpPr>
          <p:cNvPr id="30" name="グループ化 29">
            <a:extLst>
              <a:ext uri="{FF2B5EF4-FFF2-40B4-BE49-F238E27FC236}">
                <a16:creationId xmlns:a16="http://schemas.microsoft.com/office/drawing/2014/main" id="{4722F09F-82E8-CE74-07B9-72FAB1B18909}"/>
              </a:ext>
            </a:extLst>
          </p:cNvPr>
          <p:cNvGrpSpPr/>
          <p:nvPr/>
        </p:nvGrpSpPr>
        <p:grpSpPr>
          <a:xfrm>
            <a:off x="7970555" y="774666"/>
            <a:ext cx="1818731" cy="869140"/>
            <a:chOff x="7970555" y="683876"/>
            <a:chExt cx="1818731" cy="869140"/>
          </a:xfrm>
        </p:grpSpPr>
        <p:sp>
          <p:nvSpPr>
            <p:cNvPr id="13" name="正方形/長方形 12">
              <a:extLst>
                <a:ext uri="{FF2B5EF4-FFF2-40B4-BE49-F238E27FC236}">
                  <a16:creationId xmlns:a16="http://schemas.microsoft.com/office/drawing/2014/main" id="{7F2062DB-87CB-F626-CB69-2147397C1032}"/>
                </a:ext>
              </a:extLst>
            </p:cNvPr>
            <p:cNvSpPr/>
            <p:nvPr/>
          </p:nvSpPr>
          <p:spPr>
            <a:xfrm>
              <a:off x="7970555" y="683876"/>
              <a:ext cx="1818731" cy="869140"/>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cxnSp>
          <p:nvCxnSpPr>
            <p:cNvPr id="16" name="直線矢印コネクタ 15">
              <a:extLst>
                <a:ext uri="{FF2B5EF4-FFF2-40B4-BE49-F238E27FC236}">
                  <a16:creationId xmlns:a16="http://schemas.microsoft.com/office/drawing/2014/main" id="{F5E0F8BB-3F9C-E10E-2B00-A62D99625545}"/>
                </a:ext>
              </a:extLst>
            </p:cNvPr>
            <p:cNvCxnSpPr/>
            <p:nvPr/>
          </p:nvCxnSpPr>
          <p:spPr>
            <a:xfrm>
              <a:off x="8072708" y="984069"/>
              <a:ext cx="258070" cy="0"/>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C06B9AD7-21A9-DCBC-6C9C-7D7C3D86547F}"/>
                </a:ext>
              </a:extLst>
            </p:cNvPr>
            <p:cNvCxnSpPr/>
            <p:nvPr/>
          </p:nvCxnSpPr>
          <p:spPr>
            <a:xfrm>
              <a:off x="8072708" y="1210492"/>
              <a:ext cx="258070" cy="0"/>
            </a:xfrm>
            <a:prstGeom prst="straightConnector1">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7A444683-C61A-27A1-C039-B99D809DE02C}"/>
                </a:ext>
              </a:extLst>
            </p:cNvPr>
            <p:cNvCxnSpPr/>
            <p:nvPr/>
          </p:nvCxnSpPr>
          <p:spPr>
            <a:xfrm>
              <a:off x="8072708" y="1436915"/>
              <a:ext cx="258070"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0374EFEE-CD1D-6659-8DD8-7B3AE10F99D5}"/>
                </a:ext>
              </a:extLst>
            </p:cNvPr>
            <p:cNvSpPr txBox="1"/>
            <p:nvPr/>
          </p:nvSpPr>
          <p:spPr>
            <a:xfrm>
              <a:off x="8427608" y="886461"/>
              <a:ext cx="1310878" cy="184666"/>
            </a:xfrm>
            <a:prstGeom prst="rect">
              <a:avLst/>
            </a:prstGeom>
            <a:noFill/>
          </p:spPr>
          <p:txBody>
            <a:bodyPr wrap="square" lIns="0" tIns="0" rIns="0" bIns="0" rtlCol="0">
              <a:spAutoFit/>
            </a:bodyPr>
            <a:lstStyle/>
            <a:p>
              <a:r>
                <a:rPr kumimoji="1" lang="ja-JP" altLang="en-US" sz="1200" dirty="0">
                  <a:latin typeface="+mn-ea"/>
                  <a:ea typeface="+mn-ea"/>
                </a:rPr>
                <a:t>策定の流れ</a:t>
              </a:r>
            </a:p>
          </p:txBody>
        </p:sp>
        <p:sp>
          <p:nvSpPr>
            <p:cNvPr id="24" name="テキスト ボックス 23">
              <a:extLst>
                <a:ext uri="{FF2B5EF4-FFF2-40B4-BE49-F238E27FC236}">
                  <a16:creationId xmlns:a16="http://schemas.microsoft.com/office/drawing/2014/main" id="{1982EE06-EBC1-FEB2-6979-6661AA6E024E}"/>
                </a:ext>
              </a:extLst>
            </p:cNvPr>
            <p:cNvSpPr txBox="1"/>
            <p:nvPr/>
          </p:nvSpPr>
          <p:spPr>
            <a:xfrm>
              <a:off x="8427608" y="1114200"/>
              <a:ext cx="1310878" cy="184666"/>
            </a:xfrm>
            <a:prstGeom prst="rect">
              <a:avLst/>
            </a:prstGeom>
            <a:noFill/>
          </p:spPr>
          <p:txBody>
            <a:bodyPr wrap="square" lIns="0" tIns="0" rIns="0" bIns="0" rtlCol="0">
              <a:spAutoFit/>
            </a:bodyPr>
            <a:lstStyle/>
            <a:p>
              <a:r>
                <a:rPr lang="ja-JP" altLang="en-US" sz="1200" dirty="0">
                  <a:latin typeface="+mn-ea"/>
                  <a:ea typeface="+mn-ea"/>
                </a:rPr>
                <a:t>監査・認定等</a:t>
              </a:r>
              <a:r>
                <a:rPr kumimoji="1" lang="ja-JP" altLang="en-US" sz="1200" dirty="0">
                  <a:latin typeface="+mn-ea"/>
                  <a:ea typeface="+mn-ea"/>
                </a:rPr>
                <a:t>の流れ</a:t>
              </a:r>
            </a:p>
          </p:txBody>
        </p:sp>
        <p:sp>
          <p:nvSpPr>
            <p:cNvPr id="25" name="テキスト ボックス 24">
              <a:extLst>
                <a:ext uri="{FF2B5EF4-FFF2-40B4-BE49-F238E27FC236}">
                  <a16:creationId xmlns:a16="http://schemas.microsoft.com/office/drawing/2014/main" id="{C6E3D035-5C7C-CB65-96E2-43A08ECD1E31}"/>
                </a:ext>
              </a:extLst>
            </p:cNvPr>
            <p:cNvSpPr txBox="1"/>
            <p:nvPr/>
          </p:nvSpPr>
          <p:spPr>
            <a:xfrm>
              <a:off x="8427608" y="1348006"/>
              <a:ext cx="1310878" cy="184666"/>
            </a:xfrm>
            <a:prstGeom prst="rect">
              <a:avLst/>
            </a:prstGeom>
            <a:noFill/>
          </p:spPr>
          <p:txBody>
            <a:bodyPr wrap="square" lIns="0" tIns="0" rIns="0" bIns="0" rtlCol="0">
              <a:spAutoFit/>
            </a:bodyPr>
            <a:lstStyle/>
            <a:p>
              <a:r>
                <a:rPr lang="ja-JP" altLang="en-US" sz="1200" dirty="0">
                  <a:latin typeface="+mn-ea"/>
                  <a:ea typeface="+mn-ea"/>
                </a:rPr>
                <a:t>準拠等の関連性</a:t>
              </a:r>
              <a:endParaRPr kumimoji="1" lang="ja-JP" altLang="en-US" sz="1200" dirty="0">
                <a:latin typeface="+mn-ea"/>
                <a:ea typeface="+mn-ea"/>
              </a:endParaRPr>
            </a:p>
          </p:txBody>
        </p:sp>
        <p:sp>
          <p:nvSpPr>
            <p:cNvPr id="27" name="テキスト ボックス 26">
              <a:extLst>
                <a:ext uri="{FF2B5EF4-FFF2-40B4-BE49-F238E27FC236}">
                  <a16:creationId xmlns:a16="http://schemas.microsoft.com/office/drawing/2014/main" id="{50D222EF-8256-F878-F63A-5D0863B5081E}"/>
                </a:ext>
              </a:extLst>
            </p:cNvPr>
            <p:cNvSpPr txBox="1"/>
            <p:nvPr/>
          </p:nvSpPr>
          <p:spPr>
            <a:xfrm>
              <a:off x="7970555" y="691264"/>
              <a:ext cx="1310878" cy="184666"/>
            </a:xfrm>
            <a:prstGeom prst="rect">
              <a:avLst/>
            </a:prstGeom>
            <a:noFill/>
          </p:spPr>
          <p:txBody>
            <a:bodyPr wrap="square" lIns="0" tIns="0" rIns="0" bIns="0" rtlCol="0">
              <a:spAutoFit/>
            </a:bodyPr>
            <a:lstStyle/>
            <a:p>
              <a:r>
                <a:rPr kumimoji="1" lang="en-US" altLang="ja-JP" sz="1200" dirty="0">
                  <a:latin typeface="+mn-ea"/>
                  <a:ea typeface="+mn-ea"/>
                </a:rPr>
                <a:t>【</a:t>
              </a:r>
              <a:r>
                <a:rPr kumimoji="1" lang="ja-JP" altLang="en-US" sz="1200" dirty="0">
                  <a:latin typeface="+mn-ea"/>
                  <a:ea typeface="+mn-ea"/>
                </a:rPr>
                <a:t>凡例</a:t>
              </a:r>
              <a:r>
                <a:rPr kumimoji="1" lang="en-US" altLang="ja-JP" sz="1200" dirty="0">
                  <a:latin typeface="+mn-ea"/>
                  <a:ea typeface="+mn-ea"/>
                </a:rPr>
                <a:t>】</a:t>
              </a:r>
              <a:endParaRPr kumimoji="1" lang="ja-JP" altLang="en-US" sz="1200" dirty="0">
                <a:latin typeface="+mn-ea"/>
                <a:ea typeface="+mn-ea"/>
              </a:endParaRPr>
            </a:p>
          </p:txBody>
        </p:sp>
      </p:grpSp>
      <p:sp>
        <p:nvSpPr>
          <p:cNvPr id="11" name="テキスト ボックス 10">
            <a:extLst>
              <a:ext uri="{FF2B5EF4-FFF2-40B4-BE49-F238E27FC236}">
                <a16:creationId xmlns:a16="http://schemas.microsoft.com/office/drawing/2014/main" id="{295DCC65-5723-FA6E-F8DA-AC182F8941C2}"/>
              </a:ext>
            </a:extLst>
          </p:cNvPr>
          <p:cNvSpPr txBox="1"/>
          <p:nvPr/>
        </p:nvSpPr>
        <p:spPr>
          <a:xfrm>
            <a:off x="162568" y="6352353"/>
            <a:ext cx="445037" cy="369332"/>
          </a:xfrm>
          <a:prstGeom prst="rect">
            <a:avLst/>
          </a:prstGeom>
          <a:noFill/>
        </p:spPr>
        <p:txBody>
          <a:bodyPr wrap="square">
            <a:spAutoFit/>
          </a:bodyPr>
          <a:lstStyle/>
          <a:p>
            <a:pPr algn="r"/>
            <a:r>
              <a:rPr lang="ja-JP" altLang="en-US" sz="900" dirty="0">
                <a:latin typeface="+mn-ea"/>
                <a:ea typeface="+mn-ea"/>
              </a:rPr>
              <a:t>*</a:t>
            </a:r>
            <a:endParaRPr lang="en-US" altLang="ja-JP" sz="900" dirty="0">
              <a:latin typeface="+mn-ea"/>
              <a:ea typeface="+mn-ea"/>
            </a:endParaRPr>
          </a:p>
          <a:p>
            <a:pPr algn="r"/>
            <a:r>
              <a:rPr lang="ja-JP" altLang="en-US" sz="900" dirty="0">
                <a:latin typeface="+mn-ea"/>
                <a:ea typeface="+mn-ea"/>
              </a:rPr>
              <a:t>*</a:t>
            </a:r>
            <a:r>
              <a:rPr lang="en-US" altLang="ja-JP" sz="900" dirty="0">
                <a:latin typeface="+mn-ea"/>
                <a:ea typeface="+mn-ea"/>
              </a:rPr>
              <a:t>1</a:t>
            </a:r>
          </a:p>
        </p:txBody>
      </p:sp>
    </p:spTree>
    <p:extLst>
      <p:ext uri="{BB962C8B-B14F-4D97-AF65-F5344CB8AC3E}">
        <p14:creationId xmlns:p14="http://schemas.microsoft.com/office/powerpoint/2010/main" val="1932256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48BC758-405C-FC00-B36D-9A950D9D5219}"/>
              </a:ext>
            </a:extLst>
          </p:cNvPr>
          <p:cNvGraphicFramePr>
            <a:graphicFrameLocks noChangeAspect="1"/>
          </p:cNvGraphicFramePr>
          <p:nvPr>
            <p:custDataLst>
              <p:tags r:id="rId1"/>
            </p:custDataLst>
            <p:extLst>
              <p:ext uri="{D42A27DB-BD31-4B8C-83A1-F6EECF244321}">
                <p14:modId xmlns:p14="http://schemas.microsoft.com/office/powerpoint/2010/main" val="32399882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4" imgH="623" progId="TCLayout.ActiveDocument.1">
                  <p:embed/>
                </p:oleObj>
              </mc:Choice>
              <mc:Fallback>
                <p:oleObj name="think-cell スライド" r:id="rId3" imgW="624" imgH="623" progId="TCLayout.ActiveDocument.1">
                  <p:embed/>
                  <p:pic>
                    <p:nvPicPr>
                      <p:cNvPr id="10" name="think-cell data - do not delete" hidden="1">
                        <a:extLst>
                          <a:ext uri="{FF2B5EF4-FFF2-40B4-BE49-F238E27FC236}">
                            <a16:creationId xmlns:a16="http://schemas.microsoft.com/office/drawing/2014/main" id="{148BC758-405C-FC00-B36D-9A950D9D52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C8CB42DD-9D5A-9FA2-7788-3BCE19F9442E}"/>
              </a:ext>
            </a:extLst>
          </p:cNvPr>
          <p:cNvSpPr>
            <a:spLocks noGrp="1"/>
          </p:cNvSpPr>
          <p:nvPr>
            <p:ph type="title"/>
          </p:nvPr>
        </p:nvSpPr>
        <p:spPr>
          <a:xfrm>
            <a:off x="273049" y="384919"/>
            <a:ext cx="9426122" cy="307777"/>
          </a:xfrm>
        </p:spPr>
        <p:txBody>
          <a:bodyPr vert="horz"/>
          <a:lstStyle/>
          <a:p>
            <a:r>
              <a:rPr kumimoji="1" lang="en-US" altLang="ja-JP" dirty="0">
                <a:latin typeface="+mn-ea"/>
                <a:ea typeface="+mn-ea"/>
              </a:rPr>
              <a:t>3.1. EU</a:t>
            </a:r>
            <a:r>
              <a:rPr kumimoji="1" lang="ja-JP" altLang="en-US" dirty="0">
                <a:latin typeface="+mn-ea"/>
                <a:ea typeface="+mn-ea"/>
              </a:rPr>
              <a:t>：</a:t>
            </a:r>
            <a:r>
              <a:rPr kumimoji="1" lang="en-US" altLang="ja-JP" dirty="0">
                <a:latin typeface="+mn-ea"/>
                <a:ea typeface="+mn-ea"/>
              </a:rPr>
              <a:t>eIDAS2.0/ARF – 3.1.2. </a:t>
            </a:r>
            <a:r>
              <a:rPr kumimoji="1" lang="ja-JP" altLang="en-US" dirty="0">
                <a:latin typeface="+mn-ea"/>
                <a:ea typeface="+mn-ea"/>
              </a:rPr>
              <a:t>取組の変遷</a:t>
            </a:r>
            <a:endParaRPr kumimoji="1" lang="ja-JP" altLang="en-US" dirty="0"/>
          </a:p>
        </p:txBody>
      </p:sp>
      <p:sp>
        <p:nvSpPr>
          <p:cNvPr id="3" name="テキスト プレースホルダー 2">
            <a:extLst>
              <a:ext uri="{FF2B5EF4-FFF2-40B4-BE49-F238E27FC236}">
                <a16:creationId xmlns:a16="http://schemas.microsoft.com/office/drawing/2014/main" id="{51A6A080-6798-A929-417B-28B0F12B49E1}"/>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4" name="矢印: 山形 3">
            <a:extLst>
              <a:ext uri="{FF2B5EF4-FFF2-40B4-BE49-F238E27FC236}">
                <a16:creationId xmlns:a16="http://schemas.microsoft.com/office/drawing/2014/main" id="{0B0A3BA2-C67C-BF2E-96D2-B7768BAEB87D}"/>
              </a:ext>
            </a:extLst>
          </p:cNvPr>
          <p:cNvSpPr/>
          <p:nvPr/>
        </p:nvSpPr>
        <p:spPr>
          <a:xfrm>
            <a:off x="511629" y="3572268"/>
            <a:ext cx="7347858" cy="307777"/>
          </a:xfrm>
          <a:prstGeom prst="chevron">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5" name="楕円 4">
            <a:extLst>
              <a:ext uri="{FF2B5EF4-FFF2-40B4-BE49-F238E27FC236}">
                <a16:creationId xmlns:a16="http://schemas.microsoft.com/office/drawing/2014/main" id="{3C2B70C8-C77C-ADC2-1C72-40335CEBB16C}"/>
              </a:ext>
            </a:extLst>
          </p:cNvPr>
          <p:cNvSpPr/>
          <p:nvPr/>
        </p:nvSpPr>
        <p:spPr>
          <a:xfrm>
            <a:off x="674922" y="3399074"/>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2014</a:t>
            </a:r>
            <a:endParaRPr kumimoji="1" lang="ja-JP" altLang="en-US" sz="1600" dirty="0"/>
          </a:p>
        </p:txBody>
      </p:sp>
      <p:sp>
        <p:nvSpPr>
          <p:cNvPr id="11" name="楕円 10">
            <a:extLst>
              <a:ext uri="{FF2B5EF4-FFF2-40B4-BE49-F238E27FC236}">
                <a16:creationId xmlns:a16="http://schemas.microsoft.com/office/drawing/2014/main" id="{2D887BB2-F7CF-69AD-8F93-19A366EC8106}"/>
              </a:ext>
            </a:extLst>
          </p:cNvPr>
          <p:cNvSpPr/>
          <p:nvPr/>
        </p:nvSpPr>
        <p:spPr>
          <a:xfrm>
            <a:off x="4247834" y="3399074"/>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2021</a:t>
            </a:r>
            <a:endParaRPr kumimoji="1" lang="ja-JP" altLang="en-US" sz="1600" dirty="0"/>
          </a:p>
        </p:txBody>
      </p:sp>
      <p:sp>
        <p:nvSpPr>
          <p:cNvPr id="13" name="楕円 12">
            <a:extLst>
              <a:ext uri="{FF2B5EF4-FFF2-40B4-BE49-F238E27FC236}">
                <a16:creationId xmlns:a16="http://schemas.microsoft.com/office/drawing/2014/main" id="{8DD23377-5821-41A9-1CEB-B0C33BF15DF7}"/>
              </a:ext>
            </a:extLst>
          </p:cNvPr>
          <p:cNvSpPr/>
          <p:nvPr/>
        </p:nvSpPr>
        <p:spPr>
          <a:xfrm>
            <a:off x="6094778" y="3399074"/>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2023</a:t>
            </a:r>
            <a:endParaRPr kumimoji="1" lang="ja-JP" altLang="en-US" sz="1600" dirty="0"/>
          </a:p>
        </p:txBody>
      </p:sp>
      <p:sp>
        <p:nvSpPr>
          <p:cNvPr id="26" name="矢印: 山形 25">
            <a:extLst>
              <a:ext uri="{FF2B5EF4-FFF2-40B4-BE49-F238E27FC236}">
                <a16:creationId xmlns:a16="http://schemas.microsoft.com/office/drawing/2014/main" id="{07DB6AA5-9EBE-CA8C-D873-CAE0013D440E}"/>
              </a:ext>
            </a:extLst>
          </p:cNvPr>
          <p:cNvSpPr/>
          <p:nvPr/>
        </p:nvSpPr>
        <p:spPr>
          <a:xfrm>
            <a:off x="7105160" y="3572268"/>
            <a:ext cx="2610850" cy="307777"/>
          </a:xfrm>
          <a:prstGeom prst="chevron">
            <a:avLst/>
          </a:prstGeom>
          <a:solidFill>
            <a:schemeClr val="accent1">
              <a:lumMod val="60000"/>
              <a:lumOff val="40000"/>
            </a:schemeClr>
          </a:solidFill>
          <a:ln w="12700">
            <a:solidFill>
              <a:schemeClr val="accent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7" name="楕円 26">
            <a:extLst>
              <a:ext uri="{FF2B5EF4-FFF2-40B4-BE49-F238E27FC236}">
                <a16:creationId xmlns:a16="http://schemas.microsoft.com/office/drawing/2014/main" id="{19C8A98B-27E4-2A9D-92C7-C6EAE00112DA}"/>
              </a:ext>
            </a:extLst>
          </p:cNvPr>
          <p:cNvSpPr/>
          <p:nvPr/>
        </p:nvSpPr>
        <p:spPr>
          <a:xfrm>
            <a:off x="8330714" y="3399074"/>
            <a:ext cx="615553" cy="615553"/>
          </a:xfrm>
          <a:prstGeom prst="ellipse">
            <a:avLst/>
          </a:prstGeom>
          <a:solidFill>
            <a:schemeClr val="accent1">
              <a:lumMod val="60000"/>
              <a:lumOff val="4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2024~</a:t>
            </a:r>
          </a:p>
          <a:p>
            <a:pPr algn="ctr"/>
            <a:r>
              <a:rPr kumimoji="1" lang="en-US" altLang="ja-JP" sz="1600" dirty="0"/>
              <a:t>2026</a:t>
            </a:r>
            <a:endParaRPr kumimoji="1" lang="ja-JP" altLang="en-US" sz="1600" dirty="0"/>
          </a:p>
        </p:txBody>
      </p:sp>
      <p:sp>
        <p:nvSpPr>
          <p:cNvPr id="28" name="正方形/長方形 27">
            <a:extLst>
              <a:ext uri="{FF2B5EF4-FFF2-40B4-BE49-F238E27FC236}">
                <a16:creationId xmlns:a16="http://schemas.microsoft.com/office/drawing/2014/main" id="{CF523787-8819-C889-053D-33C339B33925}"/>
              </a:ext>
            </a:extLst>
          </p:cNvPr>
          <p:cNvSpPr/>
          <p:nvPr/>
        </p:nvSpPr>
        <p:spPr>
          <a:xfrm>
            <a:off x="909623" y="3932551"/>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29" name="正方形/長方形 28">
            <a:extLst>
              <a:ext uri="{FF2B5EF4-FFF2-40B4-BE49-F238E27FC236}">
                <a16:creationId xmlns:a16="http://schemas.microsoft.com/office/drawing/2014/main" id="{FA1D6010-3C67-2C76-092F-4A6CF92010B8}"/>
              </a:ext>
            </a:extLst>
          </p:cNvPr>
          <p:cNvSpPr/>
          <p:nvPr/>
        </p:nvSpPr>
        <p:spPr>
          <a:xfrm>
            <a:off x="285564" y="4453603"/>
            <a:ext cx="3149307"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err="1"/>
              <a:t>eIDAS</a:t>
            </a:r>
            <a:r>
              <a:rPr lang="en-US" altLang="ja-JP" sz="1200" b="1" u="sng" dirty="0"/>
              <a:t> 1.0</a:t>
            </a:r>
          </a:p>
          <a:p>
            <a:r>
              <a:rPr lang="en-US" altLang="ja-JP" sz="1200" dirty="0" err="1"/>
              <a:t>eSignatire</a:t>
            </a:r>
            <a:r>
              <a:rPr lang="en-US" altLang="ja-JP" sz="1200" dirty="0"/>
              <a:t> Directive</a:t>
            </a:r>
            <a:r>
              <a:rPr lang="ja-JP" altLang="en-US" sz="1200" dirty="0"/>
              <a:t>の内容を推し進め、</a:t>
            </a:r>
            <a:r>
              <a:rPr lang="en-US" altLang="ja-JP" sz="1200" dirty="0"/>
              <a:t>EU</a:t>
            </a:r>
            <a:r>
              <a:rPr lang="ja-JP" altLang="en-US" sz="1200" dirty="0"/>
              <a:t>における電子商取引の統一した基準を制定するもの。加盟国間で利用できる電子本人認証である</a:t>
            </a:r>
            <a:r>
              <a:rPr lang="en-US" altLang="ja-JP" sz="1200" dirty="0" err="1"/>
              <a:t>eID</a:t>
            </a:r>
            <a:r>
              <a:rPr lang="ja-JP" altLang="en-US" sz="1200" dirty="0"/>
              <a:t>と、電子署名・</a:t>
            </a:r>
            <a:r>
              <a:rPr lang="en-US" altLang="ja-JP" sz="1200" dirty="0"/>
              <a:t>e</a:t>
            </a:r>
            <a:r>
              <a:rPr lang="ja-JP" altLang="en-US" sz="1200" dirty="0"/>
              <a:t>タイムスタンプといった電子サービスであるトラストサービス等について規定している</a:t>
            </a:r>
          </a:p>
        </p:txBody>
      </p:sp>
      <p:sp>
        <p:nvSpPr>
          <p:cNvPr id="30" name="正方形/長方形 29">
            <a:extLst>
              <a:ext uri="{FF2B5EF4-FFF2-40B4-BE49-F238E27FC236}">
                <a16:creationId xmlns:a16="http://schemas.microsoft.com/office/drawing/2014/main" id="{BB62218C-E125-BD66-52B0-3E465F938B3D}"/>
              </a:ext>
            </a:extLst>
          </p:cNvPr>
          <p:cNvSpPr/>
          <p:nvPr/>
        </p:nvSpPr>
        <p:spPr>
          <a:xfrm>
            <a:off x="1721280" y="1705469"/>
            <a:ext cx="3149307"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err="1"/>
              <a:t>eIDAS</a:t>
            </a:r>
            <a:r>
              <a:rPr lang="en-US" altLang="ja-JP" sz="1200" b="1" u="sng" dirty="0"/>
              <a:t> 2.0</a:t>
            </a:r>
            <a:r>
              <a:rPr lang="ja-JP" altLang="en-US" sz="1200" b="1" u="sng" dirty="0"/>
              <a:t>（改正提案）</a:t>
            </a:r>
          </a:p>
          <a:p>
            <a:r>
              <a:rPr lang="en-US" altLang="ja-JP" sz="1200" dirty="0" err="1"/>
              <a:t>eIDAS</a:t>
            </a:r>
            <a:r>
              <a:rPr lang="en-US" altLang="ja-JP" sz="1200" dirty="0"/>
              <a:t> 1.0</a:t>
            </a:r>
            <a:r>
              <a:rPr lang="ja-JP" altLang="en-US" sz="1200" dirty="0"/>
              <a:t>のフレームワークを改善する改正</a:t>
            </a:r>
          </a:p>
          <a:p>
            <a:r>
              <a:rPr lang="ja-JP" altLang="en-US" sz="1200" dirty="0"/>
              <a:t>提案。</a:t>
            </a:r>
            <a:r>
              <a:rPr lang="en-US" altLang="ja-JP" sz="1200" dirty="0"/>
              <a:t>EUDIW</a:t>
            </a:r>
            <a:r>
              <a:rPr lang="ja-JP" altLang="en-US" sz="1200" dirty="0"/>
              <a:t>の提供を加盟国に義務付け、</a:t>
            </a:r>
          </a:p>
          <a:p>
            <a:r>
              <a:rPr lang="en-US" altLang="ja-JP" sz="1200" dirty="0" err="1"/>
              <a:t>eID</a:t>
            </a:r>
            <a:r>
              <a:rPr lang="ja-JP" altLang="en-US" sz="1200" dirty="0"/>
              <a:t>を含めた</a:t>
            </a:r>
            <a:r>
              <a:rPr lang="en-US" altLang="ja-JP" sz="1200" dirty="0"/>
              <a:t>ID</a:t>
            </a:r>
            <a:r>
              <a:rPr lang="ja-JP" altLang="en-US" sz="1200" dirty="0"/>
              <a:t>、属性証明、公的文書の格</a:t>
            </a:r>
          </a:p>
          <a:p>
            <a:r>
              <a:rPr lang="ja-JP" altLang="en-US" sz="1200" dirty="0"/>
              <a:t>納・利用を可能にするとともに、新たなトラス</a:t>
            </a:r>
          </a:p>
          <a:p>
            <a:r>
              <a:rPr lang="ja-JP" altLang="en-US" sz="1200" dirty="0"/>
              <a:t>トサービスへの対応、技術に関する下位規則</a:t>
            </a:r>
          </a:p>
          <a:p>
            <a:r>
              <a:rPr lang="ja-JP" altLang="en-US" sz="1200" dirty="0"/>
              <a:t>の整備義務化などを提案している</a:t>
            </a:r>
          </a:p>
        </p:txBody>
      </p:sp>
      <p:sp>
        <p:nvSpPr>
          <p:cNvPr id="32" name="正方形/長方形 31">
            <a:extLst>
              <a:ext uri="{FF2B5EF4-FFF2-40B4-BE49-F238E27FC236}">
                <a16:creationId xmlns:a16="http://schemas.microsoft.com/office/drawing/2014/main" id="{5C3BBF0B-3D5B-ABDB-6DD9-6FAB4E301A56}"/>
              </a:ext>
            </a:extLst>
          </p:cNvPr>
          <p:cNvSpPr/>
          <p:nvPr/>
        </p:nvSpPr>
        <p:spPr>
          <a:xfrm>
            <a:off x="6329479" y="3932551"/>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33" name="正方形/長方形 32">
            <a:extLst>
              <a:ext uri="{FF2B5EF4-FFF2-40B4-BE49-F238E27FC236}">
                <a16:creationId xmlns:a16="http://schemas.microsoft.com/office/drawing/2014/main" id="{E7B40383-1C4A-AB3E-2C94-D886325E9D93}"/>
              </a:ext>
            </a:extLst>
          </p:cNvPr>
          <p:cNvSpPr/>
          <p:nvPr/>
        </p:nvSpPr>
        <p:spPr>
          <a:xfrm>
            <a:off x="3984655" y="4453603"/>
            <a:ext cx="3149307"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Ins="72000" rtlCol="0" anchor="ctr"/>
          <a:lstStyle/>
          <a:p>
            <a:r>
              <a:rPr lang="en-US" altLang="ja-JP" sz="1200" b="1" u="sng" dirty="0"/>
              <a:t>EUDIW ARF</a:t>
            </a:r>
            <a:r>
              <a:rPr lang="ja-JP" altLang="en-US" sz="1200" b="1" u="sng" dirty="0"/>
              <a:t>公開</a:t>
            </a:r>
            <a:r>
              <a:rPr lang="en-US" altLang="ja-JP" sz="1200" b="1" u="sng" dirty="0"/>
              <a:t>*</a:t>
            </a:r>
            <a:r>
              <a:rPr lang="en-US" altLang="ja-JP" sz="1200" b="1" u="sng" baseline="30000" dirty="0"/>
              <a:t>1</a:t>
            </a:r>
            <a:endParaRPr lang="ja-JP" altLang="en-US" sz="1200" b="1" u="sng" baseline="30000" dirty="0"/>
          </a:p>
          <a:p>
            <a:r>
              <a:rPr lang="ja-JP" altLang="en-US" sz="1200" dirty="0"/>
              <a:t>相互運用性を確保した</a:t>
            </a:r>
            <a:r>
              <a:rPr lang="en-US" altLang="ja-JP" sz="1200" dirty="0"/>
              <a:t>EUDIW</a:t>
            </a:r>
            <a:r>
              <a:rPr lang="ja-JP" altLang="en-US" sz="1200" dirty="0"/>
              <a:t>にかかるソリューションを開発するために必要な一連の仕様を示したもの。</a:t>
            </a:r>
            <a:r>
              <a:rPr lang="en-US" altLang="ja-JP" sz="1200" dirty="0"/>
              <a:t>2021</a:t>
            </a:r>
            <a:r>
              <a:rPr lang="ja-JP" altLang="en-US" sz="1200" dirty="0"/>
              <a:t>年から使用開発に着手し、</a:t>
            </a:r>
            <a:r>
              <a:rPr lang="en-US" altLang="ja-JP" sz="1200" dirty="0"/>
              <a:t>2022</a:t>
            </a:r>
            <a:r>
              <a:rPr lang="ja-JP" altLang="en-US" sz="1200" dirty="0"/>
              <a:t>年にドラフト版、</a:t>
            </a:r>
            <a:r>
              <a:rPr lang="en-US" altLang="ja-JP" sz="1200" dirty="0"/>
              <a:t>2023</a:t>
            </a:r>
            <a:r>
              <a:rPr lang="ja-JP" altLang="en-US" sz="1200" dirty="0"/>
              <a:t>年に</a:t>
            </a:r>
            <a:r>
              <a:rPr lang="en-US" altLang="ja-JP" sz="1200" dirty="0"/>
              <a:t>v1.0.0</a:t>
            </a:r>
            <a:r>
              <a:rPr lang="ja-JP" altLang="en-US" sz="1200" dirty="0"/>
              <a:t>を公開</a:t>
            </a:r>
            <a:endParaRPr lang="en-US" altLang="ja-JP" sz="1200" dirty="0"/>
          </a:p>
        </p:txBody>
      </p:sp>
      <p:sp>
        <p:nvSpPr>
          <p:cNvPr id="35" name="正方形/長方形 34">
            <a:extLst>
              <a:ext uri="{FF2B5EF4-FFF2-40B4-BE49-F238E27FC236}">
                <a16:creationId xmlns:a16="http://schemas.microsoft.com/office/drawing/2014/main" id="{A878D9AF-F2EF-33AA-071A-DC317142983D}"/>
              </a:ext>
            </a:extLst>
          </p:cNvPr>
          <p:cNvSpPr/>
          <p:nvPr/>
        </p:nvSpPr>
        <p:spPr>
          <a:xfrm>
            <a:off x="8574538" y="3952579"/>
            <a:ext cx="146149" cy="760651"/>
          </a:xfrm>
          <a:prstGeom prst="rect">
            <a:avLst/>
          </a:prstGeom>
          <a:solidFill>
            <a:schemeClr val="accent1">
              <a:lumMod val="60000"/>
              <a:lumOff val="40000"/>
            </a:schemeClr>
          </a:solidFill>
          <a:ln w="12700">
            <a:solidFill>
              <a:schemeClr val="accent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endParaRPr lang="ja-JP" altLang="en-US" sz="1200" dirty="0"/>
          </a:p>
        </p:txBody>
      </p:sp>
      <p:sp>
        <p:nvSpPr>
          <p:cNvPr id="36" name="正方形/長方形 35">
            <a:extLst>
              <a:ext uri="{FF2B5EF4-FFF2-40B4-BE49-F238E27FC236}">
                <a16:creationId xmlns:a16="http://schemas.microsoft.com/office/drawing/2014/main" id="{74198A3B-6B99-D69B-01CA-59637B037AA0}"/>
              </a:ext>
            </a:extLst>
          </p:cNvPr>
          <p:cNvSpPr/>
          <p:nvPr/>
        </p:nvSpPr>
        <p:spPr>
          <a:xfrm>
            <a:off x="8041378" y="4454949"/>
            <a:ext cx="1657793" cy="1278541"/>
          </a:xfrm>
          <a:prstGeom prst="rect">
            <a:avLst/>
          </a:prstGeom>
          <a:solidFill>
            <a:schemeClr val="accent1">
              <a:lumMod val="60000"/>
              <a:lumOff val="40000"/>
            </a:schemeClr>
          </a:solidFill>
          <a:ln w="12700">
            <a:solidFill>
              <a:schemeClr val="accent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eIDAS2.0</a:t>
            </a:r>
            <a:r>
              <a:rPr lang="ja-JP" altLang="en-US" sz="1200" b="1" u="sng" dirty="0"/>
              <a:t>施行</a:t>
            </a:r>
            <a:r>
              <a:rPr lang="en-US" altLang="ja-JP" sz="1200" b="1" u="sng" dirty="0"/>
              <a:t>(</a:t>
            </a:r>
            <a:r>
              <a:rPr lang="ja-JP" altLang="en-US" sz="1200" b="1" u="sng" dirty="0"/>
              <a:t>予定</a:t>
            </a:r>
            <a:r>
              <a:rPr lang="en-US" altLang="ja-JP" sz="1200" b="1" u="sng" dirty="0"/>
              <a:t>)</a:t>
            </a:r>
            <a:br>
              <a:rPr lang="en-US" altLang="ja-JP" sz="1200" b="1" u="sng" dirty="0"/>
            </a:br>
            <a:r>
              <a:rPr lang="en-US" altLang="ja-JP" sz="1200" dirty="0"/>
              <a:t>(2024)</a:t>
            </a:r>
          </a:p>
          <a:p>
            <a:endParaRPr lang="en-US" altLang="ja-JP" sz="1200" b="1" u="sng" dirty="0"/>
          </a:p>
          <a:p>
            <a:r>
              <a:rPr lang="en-US" altLang="ja-JP" sz="1200" b="1" u="sng" dirty="0"/>
              <a:t>EUDIW</a:t>
            </a:r>
            <a:r>
              <a:rPr lang="ja-JP" altLang="en-US" sz="1200" b="1" u="sng" dirty="0"/>
              <a:t>の加盟国での</a:t>
            </a:r>
            <a:br>
              <a:rPr lang="en-US" altLang="ja-JP" sz="1200" b="1" u="sng" dirty="0"/>
            </a:br>
            <a:r>
              <a:rPr lang="ja-JP" altLang="en-US" sz="1200" b="1" u="sng" dirty="0"/>
              <a:t>運用開始</a:t>
            </a:r>
            <a:r>
              <a:rPr lang="en-US" altLang="ja-JP" sz="1200" b="1" u="sng" dirty="0"/>
              <a:t>(</a:t>
            </a:r>
            <a:r>
              <a:rPr lang="ja-JP" altLang="en-US" sz="1200" b="1" u="sng" dirty="0"/>
              <a:t>予定</a:t>
            </a:r>
            <a:r>
              <a:rPr lang="en-US" altLang="ja-JP" sz="1200" b="1" u="sng" dirty="0"/>
              <a:t>)</a:t>
            </a:r>
            <a:br>
              <a:rPr lang="en-US" altLang="ja-JP" sz="1200" b="1" u="sng" dirty="0"/>
            </a:br>
            <a:r>
              <a:rPr lang="en-US" altLang="ja-JP" sz="1200" dirty="0"/>
              <a:t>(eIDAS2.0</a:t>
            </a:r>
            <a:r>
              <a:rPr lang="ja-JP" altLang="en-US" sz="1200" dirty="0"/>
              <a:t>施行から</a:t>
            </a:r>
            <a:r>
              <a:rPr lang="en-US" altLang="ja-JP" sz="1200" dirty="0"/>
              <a:t>30</a:t>
            </a:r>
            <a:r>
              <a:rPr lang="ja-JP" altLang="en-US" sz="1200" dirty="0"/>
              <a:t>か月後目安</a:t>
            </a:r>
            <a:r>
              <a:rPr lang="en-US" altLang="ja-JP" sz="1200" dirty="0"/>
              <a:t>)</a:t>
            </a:r>
            <a:endParaRPr lang="ja-JP" altLang="en-US" sz="1200" dirty="0"/>
          </a:p>
        </p:txBody>
      </p:sp>
      <p:sp>
        <p:nvSpPr>
          <p:cNvPr id="38" name="正方形/長方形 37">
            <a:extLst>
              <a:ext uri="{FF2B5EF4-FFF2-40B4-BE49-F238E27FC236}">
                <a16:creationId xmlns:a16="http://schemas.microsoft.com/office/drawing/2014/main" id="{6F33867E-6E16-0553-E97A-6474AFCF3AD4}"/>
              </a:ext>
            </a:extLst>
          </p:cNvPr>
          <p:cNvSpPr/>
          <p:nvPr/>
        </p:nvSpPr>
        <p:spPr>
          <a:xfrm>
            <a:off x="4482535" y="2859903"/>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6" name="コンテンツ プレースホルダー 2">
            <a:extLst>
              <a:ext uri="{FF2B5EF4-FFF2-40B4-BE49-F238E27FC236}">
                <a16:creationId xmlns:a16="http://schemas.microsoft.com/office/drawing/2014/main" id="{F6A4DB93-527F-2D70-F1C5-FFCEE60DBEBD}"/>
              </a:ext>
            </a:extLst>
          </p:cNvPr>
          <p:cNvSpPr txBox="1">
            <a:spLocks/>
          </p:cNvSpPr>
          <p:nvPr/>
        </p:nvSpPr>
        <p:spPr>
          <a:xfrm>
            <a:off x="273050" y="908050"/>
            <a:ext cx="9359900" cy="30777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t>eIDAS</a:t>
            </a:r>
            <a:r>
              <a:rPr lang="en-US" altLang="ja-JP" dirty="0"/>
              <a:t> 2.0</a:t>
            </a:r>
            <a:r>
              <a:rPr lang="ja-JP" altLang="en-US" dirty="0"/>
              <a:t>を策定し、その施行</a:t>
            </a:r>
            <a:r>
              <a:rPr lang="en-US" altLang="ja-JP" dirty="0"/>
              <a:t>(EU</a:t>
            </a:r>
            <a:r>
              <a:rPr lang="ja-JP" altLang="en-US" dirty="0"/>
              <a:t>デジタルアイデンティティウォレットの運用</a:t>
            </a:r>
            <a:r>
              <a:rPr lang="en-US" altLang="ja-JP" dirty="0"/>
              <a:t>)</a:t>
            </a:r>
            <a:r>
              <a:rPr lang="ja-JP" altLang="en-US" dirty="0"/>
              <a:t>に向けた取組を進めている</a:t>
            </a:r>
            <a:endParaRPr lang="en-US" altLang="ja-JP" dirty="0"/>
          </a:p>
          <a:p>
            <a:r>
              <a:rPr lang="en-US" altLang="ja-JP" dirty="0"/>
              <a:t>2024</a:t>
            </a:r>
            <a:r>
              <a:rPr lang="ja-JP" altLang="en-US" dirty="0"/>
              <a:t>年に</a:t>
            </a:r>
            <a:r>
              <a:rPr lang="en-US" altLang="ja-JP" dirty="0" err="1"/>
              <a:t>eIDAS</a:t>
            </a:r>
            <a:r>
              <a:rPr lang="en-US" altLang="ja-JP" dirty="0"/>
              <a:t> 2.0</a:t>
            </a:r>
            <a:r>
              <a:rPr lang="ja-JP" altLang="en-US" dirty="0"/>
              <a:t>の施行がされる予定で、</a:t>
            </a:r>
            <a:r>
              <a:rPr lang="en-US" altLang="ja-JP" dirty="0"/>
              <a:t>2026</a:t>
            </a:r>
            <a:r>
              <a:rPr lang="ja-JP" altLang="en-US" dirty="0"/>
              <a:t>年に</a:t>
            </a:r>
            <a:r>
              <a:rPr lang="en-US" altLang="ja-JP" dirty="0"/>
              <a:t>EU DIW</a:t>
            </a:r>
            <a:r>
              <a:rPr lang="ja-JP" altLang="en-US" dirty="0"/>
              <a:t>の運用開始を目指している</a:t>
            </a:r>
            <a:endParaRPr lang="en-US" altLang="ja-JP" dirty="0"/>
          </a:p>
        </p:txBody>
      </p:sp>
      <p:sp>
        <p:nvSpPr>
          <p:cNvPr id="8" name="正方形/長方形 7">
            <a:extLst>
              <a:ext uri="{FF2B5EF4-FFF2-40B4-BE49-F238E27FC236}">
                <a16:creationId xmlns:a16="http://schemas.microsoft.com/office/drawing/2014/main" id="{4B7321D7-E715-E7B4-B256-B09C3D930363}"/>
              </a:ext>
            </a:extLst>
          </p:cNvPr>
          <p:cNvSpPr/>
          <p:nvPr/>
        </p:nvSpPr>
        <p:spPr>
          <a:xfrm>
            <a:off x="6329479" y="2679959"/>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7" name="正方形/長方形 6">
            <a:extLst>
              <a:ext uri="{FF2B5EF4-FFF2-40B4-BE49-F238E27FC236}">
                <a16:creationId xmlns:a16="http://schemas.microsoft.com/office/drawing/2014/main" id="{1C2D4A89-391E-ABC5-D850-09137A705EE1}"/>
              </a:ext>
            </a:extLst>
          </p:cNvPr>
          <p:cNvSpPr/>
          <p:nvPr/>
        </p:nvSpPr>
        <p:spPr>
          <a:xfrm>
            <a:off x="5406775" y="1678992"/>
            <a:ext cx="3149307"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Ins="72000" rtlCol="0" anchor="ctr"/>
          <a:lstStyle/>
          <a:p>
            <a:r>
              <a:rPr lang="en-US" altLang="ja-JP" sz="1200" b="1" u="sng" dirty="0"/>
              <a:t>Large Scale Pilots (LSP)</a:t>
            </a:r>
            <a:r>
              <a:rPr lang="ja-JP" altLang="en-US" sz="1200" b="1" u="sng" dirty="0"/>
              <a:t>開始</a:t>
            </a:r>
            <a:r>
              <a:rPr lang="en-US" altLang="ja-JP" sz="1200" b="1" u="sng" dirty="0"/>
              <a:t>*</a:t>
            </a:r>
            <a:r>
              <a:rPr lang="en-US" altLang="ja-JP" sz="1200" b="1" u="sng" baseline="30000" dirty="0"/>
              <a:t>2</a:t>
            </a:r>
          </a:p>
          <a:p>
            <a:r>
              <a:rPr lang="ja-JP" altLang="en-US" sz="1200" dirty="0"/>
              <a:t>実証実験を通じて実践的な結果を得ることで、規制プロセスや、</a:t>
            </a:r>
            <a:r>
              <a:rPr lang="en-US" altLang="ja-JP" sz="1200" dirty="0"/>
              <a:t>EUDIW</a:t>
            </a:r>
            <a:r>
              <a:rPr lang="ja-JP" altLang="en-US" sz="1200" dirty="0"/>
              <a:t>の技術仕様に対するフィードバックを目的としている。</a:t>
            </a:r>
            <a:r>
              <a:rPr lang="en-US" altLang="ja-JP" sz="1200" dirty="0"/>
              <a:t>4</a:t>
            </a:r>
            <a:r>
              <a:rPr lang="ja-JP" altLang="en-US" sz="1200" dirty="0"/>
              <a:t>つのコンソーシアム</a:t>
            </a:r>
            <a:r>
              <a:rPr lang="en-US" altLang="ja-JP" sz="1200" dirty="0"/>
              <a:t>(EWC</a:t>
            </a:r>
            <a:r>
              <a:rPr lang="ja-JP" altLang="en-US" sz="1200" dirty="0"/>
              <a:t>、</a:t>
            </a:r>
            <a:r>
              <a:rPr lang="en-US" altLang="ja-JP" sz="1200" dirty="0"/>
              <a:t>DC4EU</a:t>
            </a:r>
            <a:r>
              <a:rPr lang="ja-JP" altLang="en-US" sz="1200" dirty="0"/>
              <a:t>、</a:t>
            </a:r>
            <a:r>
              <a:rPr lang="en-US" altLang="ja-JP" sz="1200" dirty="0"/>
              <a:t>Potential</a:t>
            </a:r>
            <a:r>
              <a:rPr lang="ja-JP" altLang="en-US" sz="1200" dirty="0"/>
              <a:t>、</a:t>
            </a:r>
            <a:r>
              <a:rPr lang="en-US" altLang="ja-JP" sz="1200" dirty="0" err="1"/>
              <a:t>Nobid</a:t>
            </a:r>
            <a:r>
              <a:rPr lang="en-US" altLang="ja-JP" sz="1200" dirty="0"/>
              <a:t>)</a:t>
            </a:r>
            <a:r>
              <a:rPr lang="ja-JP" altLang="en-US" sz="1200" dirty="0"/>
              <a:t>で、</a:t>
            </a:r>
            <a:r>
              <a:rPr lang="en-US" altLang="ja-JP" sz="1200" dirty="0"/>
              <a:t>2023</a:t>
            </a:r>
            <a:r>
              <a:rPr lang="ja-JP" altLang="en-US" sz="1200" dirty="0"/>
              <a:t>年</a:t>
            </a:r>
            <a:r>
              <a:rPr lang="en-US" altLang="ja-JP" sz="1200" dirty="0"/>
              <a:t>4</a:t>
            </a:r>
            <a:r>
              <a:rPr lang="ja-JP" altLang="en-US" sz="1200" dirty="0"/>
              <a:t>月から実証を開始、</a:t>
            </a:r>
            <a:r>
              <a:rPr lang="en-US" altLang="ja-JP" sz="1200" dirty="0"/>
              <a:t>2</a:t>
            </a:r>
            <a:r>
              <a:rPr lang="ja-JP" altLang="en-US" sz="1200" dirty="0"/>
              <a:t>年間で実施する予定</a:t>
            </a:r>
            <a:endParaRPr lang="en-US" altLang="ja-JP" sz="1200" dirty="0"/>
          </a:p>
        </p:txBody>
      </p:sp>
      <p:sp>
        <p:nvSpPr>
          <p:cNvPr id="17" name="テキスト ボックス 16">
            <a:extLst>
              <a:ext uri="{FF2B5EF4-FFF2-40B4-BE49-F238E27FC236}">
                <a16:creationId xmlns:a16="http://schemas.microsoft.com/office/drawing/2014/main" id="{821F33F6-C813-B1BD-C5D6-6F5C608DA81E}"/>
              </a:ext>
            </a:extLst>
          </p:cNvPr>
          <p:cNvSpPr txBox="1"/>
          <p:nvPr/>
        </p:nvSpPr>
        <p:spPr>
          <a:xfrm>
            <a:off x="469147" y="5839026"/>
            <a:ext cx="9274285" cy="369332"/>
          </a:xfrm>
          <a:prstGeom prst="rect">
            <a:avLst/>
          </a:prstGeom>
          <a:noFill/>
        </p:spPr>
        <p:txBody>
          <a:bodyPr wrap="square">
            <a:spAutoFit/>
          </a:bodyPr>
          <a:lstStyle/>
          <a:p>
            <a:r>
              <a:rPr lang="ja-JP" altLang="en-US" sz="900" dirty="0">
                <a:latin typeface="+mn-ea"/>
                <a:ea typeface="+mn-ea"/>
              </a:rPr>
              <a:t>令和４年度デジタル取引環境整備事業（「</a:t>
            </a:r>
            <a:r>
              <a:rPr lang="en-US" altLang="ja-JP" sz="900" dirty="0">
                <a:latin typeface="+mn-ea"/>
                <a:ea typeface="+mn-ea"/>
              </a:rPr>
              <a:t>Trusted Web</a:t>
            </a:r>
            <a:r>
              <a:rPr lang="ja-JP" altLang="en-US" sz="900" dirty="0">
                <a:latin typeface="+mn-ea"/>
                <a:ea typeface="+mn-ea"/>
              </a:rPr>
              <a:t>」の実現に向けた技術動向調査）海外動向調査をもとに、直近の動向をアップデートして</a:t>
            </a:r>
            <a:r>
              <a:rPr lang="en-US" altLang="ja-JP" sz="900" dirty="0">
                <a:latin typeface="+mn-ea"/>
                <a:ea typeface="+mn-ea"/>
              </a:rPr>
              <a:t>TOPPAN</a:t>
            </a:r>
            <a:r>
              <a:rPr lang="ja-JP" altLang="en-US" sz="900" dirty="0">
                <a:latin typeface="+mn-ea"/>
                <a:ea typeface="+mn-ea"/>
              </a:rPr>
              <a:t>作成</a:t>
            </a:r>
            <a:endParaRPr lang="en-US" altLang="ja-JP" sz="900" dirty="0">
              <a:latin typeface="+mn-ea"/>
              <a:ea typeface="+mn-ea"/>
            </a:endParaRPr>
          </a:p>
          <a:p>
            <a:r>
              <a:rPr lang="en-US" altLang="ja-JP" sz="900" dirty="0">
                <a:latin typeface="+mn-ea"/>
                <a:ea typeface="+mn-ea"/>
                <a:hlinkClick r:id="rId5"/>
              </a:rPr>
              <a:t>https://www.kantei.go.jp/jp/singi/digitalmarket/trusted_web/2022seika/files/001_report_international.pdf</a:t>
            </a:r>
            <a:endParaRPr lang="en-US" altLang="ja-JP" sz="900" dirty="0">
              <a:latin typeface="+mn-ea"/>
              <a:ea typeface="+mn-ea"/>
            </a:endParaRPr>
          </a:p>
        </p:txBody>
      </p:sp>
      <p:sp>
        <p:nvSpPr>
          <p:cNvPr id="18" name="テキスト ボックス 17">
            <a:extLst>
              <a:ext uri="{FF2B5EF4-FFF2-40B4-BE49-F238E27FC236}">
                <a16:creationId xmlns:a16="http://schemas.microsoft.com/office/drawing/2014/main" id="{EDBA0737-753D-ECF9-6993-7F8AE8DFFA49}"/>
              </a:ext>
            </a:extLst>
          </p:cNvPr>
          <p:cNvSpPr txBox="1"/>
          <p:nvPr/>
        </p:nvSpPr>
        <p:spPr>
          <a:xfrm>
            <a:off x="555544" y="6199026"/>
            <a:ext cx="9069123" cy="276999"/>
          </a:xfrm>
          <a:prstGeom prst="rect">
            <a:avLst/>
          </a:prstGeom>
          <a:noFill/>
        </p:spPr>
        <p:txBody>
          <a:bodyPr wrap="square" lIns="0" tIns="0" rIns="0" bIns="0" rtlCol="0">
            <a:spAutoFit/>
          </a:bodyPr>
          <a:lstStyle/>
          <a:p>
            <a:pPr defTabSz="355600"/>
            <a:r>
              <a:rPr kumimoji="1" lang="en-US" altLang="ja-JP" sz="900" dirty="0">
                <a:latin typeface="+mn-ea"/>
                <a:ea typeface="+mn-ea"/>
                <a:hlinkClick r:id="rId6"/>
              </a:rPr>
              <a:t>https://digital-strategy.ec.europa.eu/en/library/european-digital-identity-wallet-architecture-and-reference-framework</a:t>
            </a:r>
            <a:endParaRPr kumimoji="1" lang="en-US" altLang="ja-JP" sz="900" dirty="0">
              <a:latin typeface="+mn-ea"/>
              <a:ea typeface="+mn-ea"/>
              <a:hlinkClick r:id="rId7"/>
            </a:endParaRPr>
          </a:p>
          <a:p>
            <a:pPr defTabSz="355600"/>
            <a:r>
              <a:rPr kumimoji="1" lang="en-US" altLang="ja-JP" sz="900" dirty="0">
                <a:latin typeface="+mn-ea"/>
                <a:ea typeface="+mn-ea"/>
                <a:hlinkClick r:id="rId7"/>
              </a:rPr>
              <a:t>https://idunion.org/2023/07/17/interview-large-scale-pilots/?lang=en</a:t>
            </a:r>
            <a:endParaRPr kumimoji="1" lang="en-US" altLang="ja-JP" sz="900" dirty="0">
              <a:latin typeface="+mn-ea"/>
              <a:ea typeface="+mn-ea"/>
            </a:endParaRPr>
          </a:p>
        </p:txBody>
      </p:sp>
      <p:sp>
        <p:nvSpPr>
          <p:cNvPr id="19" name="テキスト ボックス 18">
            <a:extLst>
              <a:ext uri="{FF2B5EF4-FFF2-40B4-BE49-F238E27FC236}">
                <a16:creationId xmlns:a16="http://schemas.microsoft.com/office/drawing/2014/main" id="{FF914FFD-870D-8B57-A47F-262BE2AD7EC4}"/>
              </a:ext>
            </a:extLst>
          </p:cNvPr>
          <p:cNvSpPr txBox="1"/>
          <p:nvPr/>
        </p:nvSpPr>
        <p:spPr>
          <a:xfrm>
            <a:off x="162568" y="6155482"/>
            <a:ext cx="445037" cy="369332"/>
          </a:xfrm>
          <a:prstGeom prst="rect">
            <a:avLst/>
          </a:prstGeom>
          <a:noFill/>
        </p:spPr>
        <p:txBody>
          <a:bodyPr wrap="square">
            <a:spAutoFit/>
          </a:bodyPr>
          <a:lstStyle/>
          <a:p>
            <a:pPr algn="r"/>
            <a:r>
              <a:rPr lang="ja-JP" altLang="en-US" sz="900" dirty="0">
                <a:latin typeface="+mn-ea"/>
                <a:ea typeface="+mn-ea"/>
              </a:rPr>
              <a:t>*</a:t>
            </a:r>
            <a:r>
              <a:rPr lang="en-US" altLang="ja-JP" sz="900" dirty="0">
                <a:latin typeface="+mn-ea"/>
                <a:ea typeface="+mn-ea"/>
              </a:rPr>
              <a:t>1</a:t>
            </a:r>
          </a:p>
          <a:p>
            <a:pPr algn="r"/>
            <a:r>
              <a:rPr lang="ja-JP" altLang="en-US" sz="900" dirty="0">
                <a:latin typeface="+mn-ea"/>
                <a:ea typeface="+mn-ea"/>
              </a:rPr>
              <a:t>*</a:t>
            </a:r>
            <a:r>
              <a:rPr lang="en-US" altLang="ja-JP" sz="900" dirty="0">
                <a:latin typeface="+mn-ea"/>
                <a:ea typeface="+mn-ea"/>
              </a:rPr>
              <a:t>2</a:t>
            </a:r>
          </a:p>
        </p:txBody>
      </p:sp>
    </p:spTree>
    <p:extLst>
      <p:ext uri="{BB962C8B-B14F-4D97-AF65-F5344CB8AC3E}">
        <p14:creationId xmlns:p14="http://schemas.microsoft.com/office/powerpoint/2010/main" val="104912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9E765F-9B31-9E25-6A18-EE2B80ACE925}"/>
              </a:ext>
            </a:extLst>
          </p:cNvPr>
          <p:cNvSpPr>
            <a:spLocks noGrp="1"/>
          </p:cNvSpPr>
          <p:nvPr>
            <p:ph type="title"/>
          </p:nvPr>
        </p:nvSpPr>
        <p:spPr>
          <a:xfrm>
            <a:off x="273050" y="384919"/>
            <a:ext cx="7848302" cy="307777"/>
          </a:xfrm>
        </p:spPr>
        <p:txBody>
          <a:bodyPr/>
          <a:lstStyle/>
          <a:p>
            <a:r>
              <a:rPr kumimoji="1" lang="en-US" altLang="ja-JP" dirty="0"/>
              <a:t>3.1. EU</a:t>
            </a:r>
            <a:r>
              <a:rPr kumimoji="1" lang="ja-JP" altLang="en-US" dirty="0"/>
              <a:t>：</a:t>
            </a:r>
            <a:r>
              <a:rPr kumimoji="1" lang="en-US" altLang="ja-JP" dirty="0"/>
              <a:t>eIDAS2.0</a:t>
            </a:r>
            <a:r>
              <a:rPr kumimoji="1" lang="ja-JP" altLang="en-US" dirty="0"/>
              <a:t>、</a:t>
            </a:r>
            <a:r>
              <a:rPr kumimoji="1" lang="en-US" altLang="ja-JP" dirty="0"/>
              <a:t>ARF</a:t>
            </a:r>
            <a:r>
              <a:rPr kumimoji="1" lang="ja-JP" altLang="en-US" dirty="0"/>
              <a:t>等 </a:t>
            </a:r>
            <a:r>
              <a:rPr kumimoji="1" lang="en-US" altLang="ja-JP" dirty="0">
                <a:latin typeface="+mn-ea"/>
                <a:ea typeface="+mn-ea"/>
              </a:rPr>
              <a:t>– 3.1.3. </a:t>
            </a:r>
            <a:r>
              <a:rPr kumimoji="1" lang="ja-JP" altLang="en-US" dirty="0">
                <a:latin typeface="+mn-ea"/>
                <a:ea typeface="+mn-ea"/>
              </a:rPr>
              <a:t>ヒアリング結果</a:t>
            </a:r>
            <a:r>
              <a:rPr kumimoji="1" lang="en-US" altLang="ja-JP" dirty="0">
                <a:latin typeface="+mn-ea"/>
                <a:ea typeface="+mn-ea"/>
              </a:rPr>
              <a:t>(1/3)</a:t>
            </a:r>
            <a:r>
              <a:rPr kumimoji="1" lang="ja-JP" altLang="en-US" dirty="0"/>
              <a:t>　</a:t>
            </a:r>
            <a:endParaRPr kumimoji="1" lang="ja-JP" altLang="en-US" sz="1600" dirty="0"/>
          </a:p>
        </p:txBody>
      </p:sp>
      <p:sp>
        <p:nvSpPr>
          <p:cNvPr id="3" name="テキスト プレースホルダー 2">
            <a:extLst>
              <a:ext uri="{FF2B5EF4-FFF2-40B4-BE49-F238E27FC236}">
                <a16:creationId xmlns:a16="http://schemas.microsoft.com/office/drawing/2014/main" id="{D1202B5A-0B04-9A3B-CB69-180645E6FF92}"/>
              </a:ext>
            </a:extLst>
          </p:cNvPr>
          <p:cNvSpPr>
            <a:spLocks noGrp="1"/>
          </p:cNvSpPr>
          <p:nvPr>
            <p:ph type="body" sz="quarter" idx="10"/>
          </p:nvPr>
        </p:nvSpPr>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6" name="コンテンツ プレースホルダー 2">
            <a:extLst>
              <a:ext uri="{FF2B5EF4-FFF2-40B4-BE49-F238E27FC236}">
                <a16:creationId xmlns:a16="http://schemas.microsoft.com/office/drawing/2014/main" id="{177624C5-C6AD-51C1-E814-93BE7ED45852}"/>
              </a:ext>
            </a:extLst>
          </p:cNvPr>
          <p:cNvSpPr txBox="1">
            <a:spLocks/>
          </p:cNvSpPr>
          <p:nvPr/>
        </p:nvSpPr>
        <p:spPr>
          <a:xfrm>
            <a:off x="273050" y="908050"/>
            <a:ext cx="9359900" cy="585940"/>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eIDAS2.0</a:t>
            </a:r>
            <a:r>
              <a:rPr lang="ja-JP" altLang="en-US" dirty="0"/>
              <a:t>は政府主導で推進しており、民間事業者はアドバイザーとして部分的な関与にとどまっている</a:t>
            </a:r>
            <a:endParaRPr lang="en-US" altLang="ja-JP" dirty="0"/>
          </a:p>
          <a:p>
            <a:r>
              <a:rPr lang="en-US" altLang="ja-JP" dirty="0"/>
              <a:t>EU</a:t>
            </a:r>
            <a:r>
              <a:rPr lang="ja-JP" altLang="en-US" dirty="0"/>
              <a:t>が</a:t>
            </a:r>
            <a:r>
              <a:rPr lang="en-US" altLang="ja-JP" dirty="0"/>
              <a:t>27</a:t>
            </a:r>
            <a:r>
              <a:rPr lang="ja-JP" altLang="en-US" dirty="0"/>
              <a:t>の加盟国から構成されているため策定に向けた調整が課題となっている</a:t>
            </a:r>
            <a:endParaRPr lang="en-US" altLang="ja-JP" dirty="0"/>
          </a:p>
        </p:txBody>
      </p:sp>
      <p:grpSp>
        <p:nvGrpSpPr>
          <p:cNvPr id="8" name="Graphic 4">
            <a:extLst>
              <a:ext uri="{FF2B5EF4-FFF2-40B4-BE49-F238E27FC236}">
                <a16:creationId xmlns:a16="http://schemas.microsoft.com/office/drawing/2014/main" id="{8E1DAAC2-E706-9052-39F4-F7E0B42B40BC}"/>
              </a:ext>
            </a:extLst>
          </p:cNvPr>
          <p:cNvGrpSpPr>
            <a:grpSpLocks noChangeAspect="1"/>
          </p:cNvGrpSpPr>
          <p:nvPr/>
        </p:nvGrpSpPr>
        <p:grpSpPr bwMode="gray">
          <a:xfrm>
            <a:off x="560388" y="2408098"/>
            <a:ext cx="1221430" cy="1221430"/>
            <a:chOff x="6146480" y="3339623"/>
            <a:chExt cx="362309" cy="361971"/>
          </a:xfrm>
          <a:solidFill>
            <a:schemeClr val="accent1"/>
          </a:solidFill>
        </p:grpSpPr>
        <p:sp>
          <p:nvSpPr>
            <p:cNvPr id="16" name="Graphic 4">
              <a:extLst>
                <a:ext uri="{FF2B5EF4-FFF2-40B4-BE49-F238E27FC236}">
                  <a16:creationId xmlns:a16="http://schemas.microsoft.com/office/drawing/2014/main" id="{F33C39E3-E800-DB86-E770-49DFB0D4DD00}"/>
                </a:ext>
              </a:extLst>
            </p:cNvPr>
            <p:cNvSpPr/>
            <p:nvPr/>
          </p:nvSpPr>
          <p:spPr bwMode="gray">
            <a:xfrm>
              <a:off x="6290254" y="3436660"/>
              <a:ext cx="75401" cy="27950"/>
            </a:xfrm>
            <a:custGeom>
              <a:avLst/>
              <a:gdLst>
                <a:gd name="connsiteX0" fmla="*/ 37700 w 75401"/>
                <a:gd name="connsiteY0" fmla="*/ 0 h 27950"/>
                <a:gd name="connsiteX1" fmla="*/ 639 w 75401"/>
                <a:gd name="connsiteY1" fmla="*/ 14045 h 27950"/>
                <a:gd name="connsiteX2" fmla="*/ 0 w 75401"/>
                <a:gd name="connsiteY2" fmla="*/ 15321 h 27950"/>
                <a:gd name="connsiteX3" fmla="*/ 42173 w 75401"/>
                <a:gd name="connsiteY3" fmla="*/ 25536 h 27950"/>
                <a:gd name="connsiteX4" fmla="*/ 48563 w 75401"/>
                <a:gd name="connsiteY4" fmla="*/ 19152 h 27950"/>
                <a:gd name="connsiteX5" fmla="*/ 57509 w 75401"/>
                <a:gd name="connsiteY5" fmla="*/ 19152 h 27950"/>
                <a:gd name="connsiteX6" fmla="*/ 57509 w 75401"/>
                <a:gd name="connsiteY6" fmla="*/ 19152 h 27950"/>
                <a:gd name="connsiteX7" fmla="*/ 62621 w 75401"/>
                <a:gd name="connsiteY7" fmla="*/ 24259 h 27950"/>
                <a:gd name="connsiteX8" fmla="*/ 75401 w 75401"/>
                <a:gd name="connsiteY8" fmla="*/ 15321 h 27950"/>
                <a:gd name="connsiteX9" fmla="*/ 74762 w 75401"/>
                <a:gd name="connsiteY9" fmla="*/ 14045 h 27950"/>
                <a:gd name="connsiteX10" fmla="*/ 37700 w 75401"/>
                <a:gd name="connsiteY10" fmla="*/ 0 h 2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401" h="27950">
                  <a:moveTo>
                    <a:pt x="37700" y="0"/>
                  </a:moveTo>
                  <a:cubicBezTo>
                    <a:pt x="19809" y="0"/>
                    <a:pt x="7668" y="5107"/>
                    <a:pt x="639" y="14045"/>
                  </a:cubicBezTo>
                  <a:lnTo>
                    <a:pt x="0" y="15321"/>
                  </a:lnTo>
                  <a:cubicBezTo>
                    <a:pt x="12780" y="33197"/>
                    <a:pt x="36422" y="27451"/>
                    <a:pt x="42173" y="25536"/>
                  </a:cubicBezTo>
                  <a:lnTo>
                    <a:pt x="48563" y="19152"/>
                  </a:lnTo>
                  <a:cubicBezTo>
                    <a:pt x="51119" y="16598"/>
                    <a:pt x="54953" y="16598"/>
                    <a:pt x="57509" y="19152"/>
                  </a:cubicBezTo>
                  <a:cubicBezTo>
                    <a:pt x="57509" y="19152"/>
                    <a:pt x="57509" y="19152"/>
                    <a:pt x="57509" y="19152"/>
                  </a:cubicBezTo>
                  <a:lnTo>
                    <a:pt x="62621" y="24259"/>
                  </a:lnTo>
                  <a:cubicBezTo>
                    <a:pt x="67733" y="22982"/>
                    <a:pt x="72206" y="19790"/>
                    <a:pt x="75401" y="15321"/>
                  </a:cubicBezTo>
                  <a:cubicBezTo>
                    <a:pt x="75401" y="14683"/>
                    <a:pt x="74762" y="14683"/>
                    <a:pt x="74762" y="14045"/>
                  </a:cubicBezTo>
                  <a:cubicBezTo>
                    <a:pt x="67733" y="5107"/>
                    <a:pt x="54953" y="0"/>
                    <a:pt x="37700" y="0"/>
                  </a:cubicBez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sp>
          <p:nvSpPr>
            <p:cNvPr id="17" name="Graphic 4">
              <a:extLst>
                <a:ext uri="{FF2B5EF4-FFF2-40B4-BE49-F238E27FC236}">
                  <a16:creationId xmlns:a16="http://schemas.microsoft.com/office/drawing/2014/main" id="{4CC75C6F-B617-3243-86BD-84656CCA29E0}"/>
                </a:ext>
              </a:extLst>
            </p:cNvPr>
            <p:cNvSpPr/>
            <p:nvPr/>
          </p:nvSpPr>
          <p:spPr bwMode="gray">
            <a:xfrm>
              <a:off x="6146480" y="33396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77323 w 362309"/>
                <a:gd name="connsiteY6" fmla="*/ 274511 h 361971"/>
                <a:gd name="connsiteX7" fmla="*/ 271572 w 362309"/>
                <a:gd name="connsiteY7" fmla="*/ 277703 h 361971"/>
                <a:gd name="connsiteX8" fmla="*/ 268377 w 362309"/>
                <a:gd name="connsiteY8" fmla="*/ 277065 h 361971"/>
                <a:gd name="connsiteX9" fmla="*/ 241540 w 362309"/>
                <a:gd name="connsiteY9" fmla="*/ 271319 h 361971"/>
                <a:gd name="connsiteX10" fmla="*/ 219175 w 362309"/>
                <a:gd name="connsiteY10" fmla="*/ 266850 h 361971"/>
                <a:gd name="connsiteX11" fmla="*/ 201922 w 362309"/>
                <a:gd name="connsiteY11" fmla="*/ 238122 h 361971"/>
                <a:gd name="connsiteX12" fmla="*/ 202561 w 362309"/>
                <a:gd name="connsiteY12" fmla="*/ 212587 h 361971"/>
                <a:gd name="connsiteX13" fmla="*/ 221092 w 362309"/>
                <a:gd name="connsiteY13" fmla="*/ 168537 h 361971"/>
                <a:gd name="connsiteX14" fmla="*/ 224287 w 362309"/>
                <a:gd name="connsiteY14" fmla="*/ 125765 h 361971"/>
                <a:gd name="connsiteX15" fmla="*/ 203200 w 362309"/>
                <a:gd name="connsiteY15" fmla="*/ 134702 h 361971"/>
                <a:gd name="connsiteX16" fmla="*/ 199366 w 362309"/>
                <a:gd name="connsiteY16" fmla="*/ 132787 h 361971"/>
                <a:gd name="connsiteX17" fmla="*/ 196171 w 362309"/>
                <a:gd name="connsiteY17" fmla="*/ 129595 h 361971"/>
                <a:gd name="connsiteX18" fmla="*/ 192976 w 362309"/>
                <a:gd name="connsiteY18" fmla="*/ 132787 h 361971"/>
                <a:gd name="connsiteX19" fmla="*/ 190420 w 362309"/>
                <a:gd name="connsiteY19" fmla="*/ 134064 h 361971"/>
                <a:gd name="connsiteX20" fmla="*/ 169972 w 362309"/>
                <a:gd name="connsiteY20" fmla="*/ 137256 h 361971"/>
                <a:gd name="connsiteX21" fmla="*/ 137384 w 362309"/>
                <a:gd name="connsiteY21" fmla="*/ 125126 h 361971"/>
                <a:gd name="connsiteX22" fmla="*/ 140579 w 362309"/>
                <a:gd name="connsiteY22" fmla="*/ 167899 h 361971"/>
                <a:gd name="connsiteX23" fmla="*/ 159109 w 362309"/>
                <a:gd name="connsiteY23" fmla="*/ 211948 h 361971"/>
                <a:gd name="connsiteX24" fmla="*/ 159748 w 362309"/>
                <a:gd name="connsiteY24" fmla="*/ 237484 h 361971"/>
                <a:gd name="connsiteX25" fmla="*/ 142496 w 362309"/>
                <a:gd name="connsiteY25" fmla="*/ 266212 h 361971"/>
                <a:gd name="connsiteX26" fmla="*/ 120131 w 362309"/>
                <a:gd name="connsiteY26" fmla="*/ 270681 h 361971"/>
                <a:gd name="connsiteX27" fmla="*/ 93293 w 362309"/>
                <a:gd name="connsiteY27" fmla="*/ 276426 h 361971"/>
                <a:gd name="connsiteX28" fmla="*/ 84347 w 362309"/>
                <a:gd name="connsiteY28" fmla="*/ 273873 h 361971"/>
                <a:gd name="connsiteX29" fmla="*/ 86903 w 362309"/>
                <a:gd name="connsiteY29" fmla="*/ 264935 h 361971"/>
                <a:gd name="connsiteX30" fmla="*/ 118853 w 362309"/>
                <a:gd name="connsiteY30" fmla="*/ 257274 h 361971"/>
                <a:gd name="connsiteX31" fmla="*/ 136106 w 362309"/>
                <a:gd name="connsiteY31" fmla="*/ 254082 h 361971"/>
                <a:gd name="connsiteX32" fmla="*/ 148246 w 362309"/>
                <a:gd name="connsiteY32" fmla="*/ 218332 h 361971"/>
                <a:gd name="connsiteX33" fmla="*/ 127799 w 362309"/>
                <a:gd name="connsiteY33" fmla="*/ 171091 h 361971"/>
                <a:gd name="connsiteX34" fmla="*/ 132911 w 362309"/>
                <a:gd name="connsiteY34" fmla="*/ 102782 h 361971"/>
                <a:gd name="connsiteX35" fmla="*/ 180196 w 362309"/>
                <a:gd name="connsiteY35" fmla="*/ 83630 h 361971"/>
                <a:gd name="connsiteX36" fmla="*/ 227482 w 362309"/>
                <a:gd name="connsiteY36" fmla="*/ 102782 h 361971"/>
                <a:gd name="connsiteX37" fmla="*/ 232593 w 362309"/>
                <a:gd name="connsiteY37" fmla="*/ 171091 h 361971"/>
                <a:gd name="connsiteX38" fmla="*/ 212146 w 362309"/>
                <a:gd name="connsiteY38" fmla="*/ 218332 h 361971"/>
                <a:gd name="connsiteX39" fmla="*/ 224287 w 362309"/>
                <a:gd name="connsiteY39" fmla="*/ 254082 h 361971"/>
                <a:gd name="connsiteX40" fmla="*/ 241540 w 362309"/>
                <a:gd name="connsiteY40" fmla="*/ 257274 h 361971"/>
                <a:gd name="connsiteX41" fmla="*/ 273489 w 362309"/>
                <a:gd name="connsiteY41" fmla="*/ 264935 h 361971"/>
                <a:gd name="connsiteX42" fmla="*/ 277323 w 362309"/>
                <a:gd name="connsiteY42" fmla="*/ 274511 h 361971"/>
                <a:gd name="connsiteX43" fmla="*/ 277323 w 362309"/>
                <a:gd name="connsiteY43" fmla="*/ 274511 h 361971"/>
                <a:gd name="connsiteX44" fmla="*/ 277323 w 362309"/>
                <a:gd name="connsiteY44" fmla="*/ 2745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1077"/>
                    <a:pt x="281157" y="0"/>
                    <a:pt x="181474" y="0"/>
                  </a:cubicBezTo>
                  <a:close/>
                  <a:moveTo>
                    <a:pt x="277323" y="274511"/>
                  </a:moveTo>
                  <a:cubicBezTo>
                    <a:pt x="276045" y="276426"/>
                    <a:pt x="274128" y="277703"/>
                    <a:pt x="271572" y="277703"/>
                  </a:cubicBezTo>
                  <a:cubicBezTo>
                    <a:pt x="270294" y="277703"/>
                    <a:pt x="269655" y="277703"/>
                    <a:pt x="268377" y="277065"/>
                  </a:cubicBezTo>
                  <a:cubicBezTo>
                    <a:pt x="260070" y="273234"/>
                    <a:pt x="250485" y="271319"/>
                    <a:pt x="241540" y="271319"/>
                  </a:cubicBezTo>
                  <a:cubicBezTo>
                    <a:pt x="233872" y="271319"/>
                    <a:pt x="226204" y="269404"/>
                    <a:pt x="219175" y="266850"/>
                  </a:cubicBezTo>
                  <a:cubicBezTo>
                    <a:pt x="208312" y="261105"/>
                    <a:pt x="203200" y="243868"/>
                    <a:pt x="201922" y="238122"/>
                  </a:cubicBezTo>
                  <a:cubicBezTo>
                    <a:pt x="200644" y="232377"/>
                    <a:pt x="198088" y="218971"/>
                    <a:pt x="202561" y="212587"/>
                  </a:cubicBezTo>
                  <a:cubicBezTo>
                    <a:pt x="210868" y="198542"/>
                    <a:pt x="216619" y="183859"/>
                    <a:pt x="221092" y="168537"/>
                  </a:cubicBezTo>
                  <a:cubicBezTo>
                    <a:pt x="225565" y="154492"/>
                    <a:pt x="226843" y="139809"/>
                    <a:pt x="224287" y="125765"/>
                  </a:cubicBezTo>
                  <a:cubicBezTo>
                    <a:pt x="218536" y="131510"/>
                    <a:pt x="210868" y="134702"/>
                    <a:pt x="203200" y="134702"/>
                  </a:cubicBezTo>
                  <a:cubicBezTo>
                    <a:pt x="201922" y="134702"/>
                    <a:pt x="200005" y="134064"/>
                    <a:pt x="199366" y="132787"/>
                  </a:cubicBezTo>
                  <a:lnTo>
                    <a:pt x="196171" y="129595"/>
                  </a:lnTo>
                  <a:lnTo>
                    <a:pt x="192976" y="132787"/>
                  </a:lnTo>
                  <a:cubicBezTo>
                    <a:pt x="192337" y="133425"/>
                    <a:pt x="191698" y="134064"/>
                    <a:pt x="190420" y="134064"/>
                  </a:cubicBezTo>
                  <a:cubicBezTo>
                    <a:pt x="184030" y="136617"/>
                    <a:pt x="177001" y="137894"/>
                    <a:pt x="169972" y="137256"/>
                  </a:cubicBezTo>
                  <a:cubicBezTo>
                    <a:pt x="157831" y="137894"/>
                    <a:pt x="146329" y="133425"/>
                    <a:pt x="137384" y="125126"/>
                  </a:cubicBezTo>
                  <a:cubicBezTo>
                    <a:pt x="134828" y="139171"/>
                    <a:pt x="136106" y="154492"/>
                    <a:pt x="140579" y="167899"/>
                  </a:cubicBezTo>
                  <a:cubicBezTo>
                    <a:pt x="145051" y="183220"/>
                    <a:pt x="151441" y="197903"/>
                    <a:pt x="159109" y="211948"/>
                  </a:cubicBezTo>
                  <a:cubicBezTo>
                    <a:pt x="163582" y="218971"/>
                    <a:pt x="161026" y="232377"/>
                    <a:pt x="159748" y="237484"/>
                  </a:cubicBezTo>
                  <a:cubicBezTo>
                    <a:pt x="158470" y="242591"/>
                    <a:pt x="153358" y="260466"/>
                    <a:pt x="142496" y="266212"/>
                  </a:cubicBezTo>
                  <a:cubicBezTo>
                    <a:pt x="135466" y="268766"/>
                    <a:pt x="127799" y="270681"/>
                    <a:pt x="120131" y="270681"/>
                  </a:cubicBezTo>
                  <a:cubicBezTo>
                    <a:pt x="110546" y="270681"/>
                    <a:pt x="101600" y="273234"/>
                    <a:pt x="93293" y="276426"/>
                  </a:cubicBezTo>
                  <a:cubicBezTo>
                    <a:pt x="90098" y="278341"/>
                    <a:pt x="86264" y="277065"/>
                    <a:pt x="84347" y="273873"/>
                  </a:cubicBezTo>
                  <a:cubicBezTo>
                    <a:pt x="82430" y="270681"/>
                    <a:pt x="83708" y="266850"/>
                    <a:pt x="86903" y="264935"/>
                  </a:cubicBezTo>
                  <a:cubicBezTo>
                    <a:pt x="97127" y="260466"/>
                    <a:pt x="107990" y="257913"/>
                    <a:pt x="118853" y="257274"/>
                  </a:cubicBezTo>
                  <a:cubicBezTo>
                    <a:pt x="124604" y="257274"/>
                    <a:pt x="130354" y="255998"/>
                    <a:pt x="136106" y="254082"/>
                  </a:cubicBezTo>
                  <a:cubicBezTo>
                    <a:pt x="145051" y="249614"/>
                    <a:pt x="150802" y="223439"/>
                    <a:pt x="148246" y="218332"/>
                  </a:cubicBezTo>
                  <a:cubicBezTo>
                    <a:pt x="139301" y="203649"/>
                    <a:pt x="132911" y="187689"/>
                    <a:pt x="127799" y="171091"/>
                  </a:cubicBezTo>
                  <a:cubicBezTo>
                    <a:pt x="122686" y="154492"/>
                    <a:pt x="116936" y="123211"/>
                    <a:pt x="132911" y="102782"/>
                  </a:cubicBezTo>
                  <a:cubicBezTo>
                    <a:pt x="142496" y="90014"/>
                    <a:pt x="158470" y="83630"/>
                    <a:pt x="180196" y="83630"/>
                  </a:cubicBezTo>
                  <a:cubicBezTo>
                    <a:pt x="201922" y="83630"/>
                    <a:pt x="217897" y="90014"/>
                    <a:pt x="227482" y="102782"/>
                  </a:cubicBezTo>
                  <a:cubicBezTo>
                    <a:pt x="243456" y="123849"/>
                    <a:pt x="237067" y="154492"/>
                    <a:pt x="232593" y="171091"/>
                  </a:cubicBezTo>
                  <a:cubicBezTo>
                    <a:pt x="228120" y="187689"/>
                    <a:pt x="221092" y="203649"/>
                    <a:pt x="212146" y="218332"/>
                  </a:cubicBezTo>
                  <a:cubicBezTo>
                    <a:pt x="209590" y="223439"/>
                    <a:pt x="215341" y="248975"/>
                    <a:pt x="224287" y="254082"/>
                  </a:cubicBezTo>
                  <a:cubicBezTo>
                    <a:pt x="230038" y="255998"/>
                    <a:pt x="235788" y="257274"/>
                    <a:pt x="241540" y="257274"/>
                  </a:cubicBezTo>
                  <a:cubicBezTo>
                    <a:pt x="252403" y="257913"/>
                    <a:pt x="263265" y="260466"/>
                    <a:pt x="273489" y="264935"/>
                  </a:cubicBezTo>
                  <a:cubicBezTo>
                    <a:pt x="277323" y="267489"/>
                    <a:pt x="278601" y="271319"/>
                    <a:pt x="277323" y="274511"/>
                  </a:cubicBezTo>
                  <a:cubicBezTo>
                    <a:pt x="277323" y="274511"/>
                    <a:pt x="277323" y="274511"/>
                    <a:pt x="277323" y="274511"/>
                  </a:cubicBezTo>
                  <a:lnTo>
                    <a:pt x="277323" y="274511"/>
                  </a:ln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grpSp>
      <p:sp>
        <p:nvSpPr>
          <p:cNvPr id="18" name="正方形/長方形 17">
            <a:extLst>
              <a:ext uri="{FF2B5EF4-FFF2-40B4-BE49-F238E27FC236}">
                <a16:creationId xmlns:a16="http://schemas.microsoft.com/office/drawing/2014/main" id="{437DC074-9AD2-57B4-BC55-CA2CE0AC3651}"/>
              </a:ext>
            </a:extLst>
          </p:cNvPr>
          <p:cNvSpPr/>
          <p:nvPr/>
        </p:nvSpPr>
        <p:spPr bwMode="gray">
          <a:xfrm>
            <a:off x="417017" y="1554990"/>
            <a:ext cx="4023247" cy="438596"/>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トラストフレームワーク策定プロセス</a:t>
            </a:r>
          </a:p>
        </p:txBody>
      </p:sp>
      <p:sp>
        <p:nvSpPr>
          <p:cNvPr id="19" name="吹き出し: 四角形 18">
            <a:extLst>
              <a:ext uri="{FF2B5EF4-FFF2-40B4-BE49-F238E27FC236}">
                <a16:creationId xmlns:a16="http://schemas.microsoft.com/office/drawing/2014/main" id="{249FFD6E-B10E-60FE-67CC-6E4C54EA1161}"/>
              </a:ext>
            </a:extLst>
          </p:cNvPr>
          <p:cNvSpPr/>
          <p:nvPr/>
        </p:nvSpPr>
        <p:spPr>
          <a:xfrm>
            <a:off x="2266513" y="2097770"/>
            <a:ext cx="7366437" cy="3293659"/>
          </a:xfrm>
          <a:prstGeom prst="wedgeRectCallout">
            <a:avLst>
              <a:gd name="adj1" fmla="val -56887"/>
              <a:gd name="adj2" fmla="val -19857"/>
            </a:avLst>
          </a:prstGeom>
          <a:solidFill>
            <a:schemeClr val="accent5">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a:spcBef>
                <a:spcPts val="600"/>
              </a:spcBef>
            </a:pPr>
            <a:r>
              <a:rPr kumimoji="1" lang="en-US" altLang="ja-JP" sz="1400" dirty="0"/>
              <a:t>【</a:t>
            </a:r>
            <a:r>
              <a:rPr kumimoji="1" lang="ja-JP" altLang="en-US" sz="1400" dirty="0"/>
              <a:t>トラストフレームワーク策定の巻き込み</a:t>
            </a:r>
            <a:r>
              <a:rPr kumimoji="1" lang="en-US" altLang="ja-JP" sz="1400" dirty="0"/>
              <a:t>】</a:t>
            </a:r>
          </a:p>
          <a:p>
            <a:pPr marL="342900" indent="-342900">
              <a:spcBef>
                <a:spcPts val="600"/>
              </a:spcBef>
              <a:buFont typeface="Arial" panose="020B0604020202020204" pitchFamily="34" charset="0"/>
              <a:buChar char="•"/>
            </a:pPr>
            <a:r>
              <a:rPr kumimoji="1" lang="ja-JP" altLang="en-US" sz="1400" dirty="0"/>
              <a:t>欧州委員会 </a:t>
            </a:r>
            <a:r>
              <a:rPr kumimoji="1" lang="en-US" altLang="ja-JP" sz="1400" dirty="0"/>
              <a:t>(DG CONNECT) </a:t>
            </a:r>
            <a:r>
              <a:rPr lang="ja-JP" altLang="en-US" sz="1400" dirty="0"/>
              <a:t>の中で策定を進めて</a:t>
            </a:r>
            <a:r>
              <a:rPr kumimoji="1" lang="ja-JP" altLang="en-US" sz="1400" dirty="0"/>
              <a:t>、その後、欧州議会と欧州連合理事会でその内容が採択される。基本的に政府関係者で策定するが、場合によっては有識者や民間事業者を専門家として招待することもある</a:t>
            </a:r>
            <a:endParaRPr kumimoji="1" lang="en-US" altLang="ja-JP" sz="1400" dirty="0"/>
          </a:p>
          <a:p>
            <a:pPr marL="800100" lvl="1" indent="-342900">
              <a:spcBef>
                <a:spcPts val="600"/>
              </a:spcBef>
              <a:buFont typeface="Wingdings" panose="05000000000000000000" pitchFamily="2" charset="2"/>
              <a:buChar char="Ø"/>
            </a:pPr>
            <a:r>
              <a:rPr kumimoji="1" lang="ja-JP" altLang="en-US" sz="1400" dirty="0"/>
              <a:t>民間事業者</a:t>
            </a:r>
            <a:r>
              <a:rPr lang="ja-JP" altLang="en-US" sz="1400" dirty="0"/>
              <a:t>は、</a:t>
            </a:r>
            <a:r>
              <a:rPr kumimoji="1" lang="en-US" altLang="ja-JP" sz="1400" dirty="0" err="1"/>
              <a:t>eIDAS</a:t>
            </a:r>
            <a:r>
              <a:rPr kumimoji="1" lang="ja-JP" altLang="en-US" sz="1400" dirty="0"/>
              <a:t>規制の実施のために事業者</a:t>
            </a:r>
            <a:r>
              <a:rPr kumimoji="1" lang="en-US" altLang="ja-JP" sz="1400" dirty="0"/>
              <a:t>(</a:t>
            </a:r>
            <a:r>
              <a:rPr kumimoji="1" lang="ja-JP" altLang="en-US" sz="1400" dirty="0"/>
              <a:t>属性証明事業者、証明書利用者、ウォレットプロバイダーなど</a:t>
            </a:r>
            <a:r>
              <a:rPr kumimoji="1" lang="en-US" altLang="ja-JP" sz="1400" dirty="0"/>
              <a:t>)</a:t>
            </a:r>
            <a:r>
              <a:rPr kumimoji="1" lang="ja-JP" altLang="en-US" sz="1400" dirty="0"/>
              <a:t>として参画することが可能となっている。特に、大規模パイロットテストに参画し、その結果についてフィードバックを行うことができる</a:t>
            </a:r>
            <a:endParaRPr kumimoji="1" lang="en-US" altLang="ja-JP" sz="1400" dirty="0"/>
          </a:p>
          <a:p>
            <a:pPr marL="800100" lvl="1" indent="-342900">
              <a:spcBef>
                <a:spcPts val="600"/>
              </a:spcBef>
              <a:buFont typeface="Wingdings" panose="05000000000000000000" pitchFamily="2" charset="2"/>
              <a:buChar char="Ø"/>
            </a:pPr>
            <a:r>
              <a:rPr kumimoji="1" lang="ja-JP" altLang="en-US" sz="1400" dirty="0"/>
              <a:t>欧州ネットワーク情報セキュリティ機関 </a:t>
            </a:r>
            <a:r>
              <a:rPr kumimoji="1" lang="en-US" altLang="ja-JP" sz="1400" dirty="0"/>
              <a:t>(ENISA)</a:t>
            </a:r>
            <a:r>
              <a:rPr lang="ja-JP" altLang="en-US" sz="1400" dirty="0"/>
              <a:t>は</a:t>
            </a:r>
            <a:r>
              <a:rPr kumimoji="1" lang="ja-JP" altLang="en-US" sz="1400" dirty="0"/>
              <a:t>サイバーセキュリティの側面に関するガイドや専門知識を提供し</a:t>
            </a:r>
            <a:r>
              <a:rPr kumimoji="1" lang="en-US" altLang="ja-JP" sz="1400" dirty="0" err="1"/>
              <a:t>eIDAS</a:t>
            </a:r>
            <a:r>
              <a:rPr kumimoji="1" lang="ja-JP" altLang="en-US" sz="1400" dirty="0"/>
              <a:t>のガバナンスと実施を支援している</a:t>
            </a:r>
          </a:p>
          <a:p>
            <a:pPr>
              <a:spcBef>
                <a:spcPts val="600"/>
              </a:spcBef>
            </a:pPr>
            <a:r>
              <a:rPr kumimoji="1" lang="en-US" altLang="ja-JP" sz="1400" dirty="0"/>
              <a:t>【</a:t>
            </a:r>
            <a:r>
              <a:rPr kumimoji="1" lang="ja-JP" altLang="en-US" sz="1400" dirty="0"/>
              <a:t>策定の課題</a:t>
            </a:r>
            <a:r>
              <a:rPr kumimoji="1" lang="en-US" altLang="ja-JP" sz="1400" dirty="0"/>
              <a:t>】</a:t>
            </a:r>
          </a:p>
          <a:p>
            <a:pPr marL="342900" indent="-342900">
              <a:spcBef>
                <a:spcPts val="600"/>
              </a:spcBef>
              <a:buFont typeface="Arial" panose="020B0604020202020204" pitchFamily="34" charset="0"/>
              <a:buChar char="•"/>
            </a:pPr>
            <a:r>
              <a:rPr lang="ja-JP" altLang="en-US" sz="1400" dirty="0">
                <a:solidFill>
                  <a:prstClr val="black"/>
                </a:solidFill>
                <a:latin typeface="+mn-lt"/>
                <a:ea typeface="+mn-ea"/>
              </a:rPr>
              <a:t>各加盟国で国民</a:t>
            </a:r>
            <a:r>
              <a:rPr lang="en-US" altLang="ja-JP" sz="1400" dirty="0">
                <a:solidFill>
                  <a:prstClr val="black"/>
                </a:solidFill>
                <a:latin typeface="+mn-lt"/>
                <a:ea typeface="+mn-ea"/>
              </a:rPr>
              <a:t>ID</a:t>
            </a:r>
            <a:r>
              <a:rPr lang="ja-JP" altLang="en-US" sz="1400" dirty="0">
                <a:solidFill>
                  <a:prstClr val="black"/>
                </a:solidFill>
                <a:latin typeface="+mn-lt"/>
                <a:ea typeface="+mn-ea"/>
              </a:rPr>
              <a:t>の整備進捗が異なるため調整が困難となっている</a:t>
            </a:r>
          </a:p>
        </p:txBody>
      </p:sp>
    </p:spTree>
    <p:extLst>
      <p:ext uri="{BB962C8B-B14F-4D97-AF65-F5344CB8AC3E}">
        <p14:creationId xmlns:p14="http://schemas.microsoft.com/office/powerpoint/2010/main" val="230528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9E765F-9B31-9E25-6A18-EE2B80ACE925}"/>
              </a:ext>
            </a:extLst>
          </p:cNvPr>
          <p:cNvSpPr>
            <a:spLocks noGrp="1"/>
          </p:cNvSpPr>
          <p:nvPr>
            <p:ph type="title"/>
          </p:nvPr>
        </p:nvSpPr>
        <p:spPr>
          <a:xfrm>
            <a:off x="273050" y="384919"/>
            <a:ext cx="7848302" cy="307777"/>
          </a:xfrm>
        </p:spPr>
        <p:txBody>
          <a:bodyPr/>
          <a:lstStyle/>
          <a:p>
            <a:r>
              <a:rPr kumimoji="1" lang="en-US" altLang="ja-JP" dirty="0"/>
              <a:t>3.1. EU</a:t>
            </a:r>
            <a:r>
              <a:rPr kumimoji="1" lang="ja-JP" altLang="en-US" dirty="0"/>
              <a:t>：</a:t>
            </a:r>
            <a:r>
              <a:rPr kumimoji="1" lang="en-US" altLang="ja-JP" dirty="0"/>
              <a:t>eIDAS2.0</a:t>
            </a:r>
            <a:r>
              <a:rPr kumimoji="1" lang="ja-JP" altLang="en-US" dirty="0"/>
              <a:t>、</a:t>
            </a:r>
            <a:r>
              <a:rPr kumimoji="1" lang="en-US" altLang="ja-JP" dirty="0"/>
              <a:t>ARF</a:t>
            </a:r>
            <a:r>
              <a:rPr kumimoji="1" lang="ja-JP" altLang="en-US" dirty="0"/>
              <a:t>等 </a:t>
            </a:r>
            <a:r>
              <a:rPr kumimoji="1" lang="en-US" altLang="ja-JP" dirty="0">
                <a:latin typeface="+mn-ea"/>
                <a:ea typeface="+mn-ea"/>
              </a:rPr>
              <a:t>– 3.1.3. </a:t>
            </a:r>
            <a:r>
              <a:rPr kumimoji="1" lang="ja-JP" altLang="en-US" dirty="0">
                <a:latin typeface="+mn-ea"/>
                <a:ea typeface="+mn-ea"/>
              </a:rPr>
              <a:t>ヒアリング結果</a:t>
            </a:r>
            <a:r>
              <a:rPr kumimoji="1" lang="en-US" altLang="ja-JP" dirty="0">
                <a:latin typeface="+mn-ea"/>
                <a:ea typeface="+mn-ea"/>
              </a:rPr>
              <a:t>(2/3)</a:t>
            </a:r>
            <a:r>
              <a:rPr kumimoji="1" lang="ja-JP" altLang="en-US" dirty="0"/>
              <a:t>　　</a:t>
            </a:r>
            <a:endParaRPr kumimoji="1" lang="ja-JP" altLang="en-US" sz="1600" dirty="0"/>
          </a:p>
        </p:txBody>
      </p:sp>
      <p:sp>
        <p:nvSpPr>
          <p:cNvPr id="3" name="テキスト プレースホルダー 2">
            <a:extLst>
              <a:ext uri="{FF2B5EF4-FFF2-40B4-BE49-F238E27FC236}">
                <a16:creationId xmlns:a16="http://schemas.microsoft.com/office/drawing/2014/main" id="{D1202B5A-0B04-9A3B-CB69-180645E6FF92}"/>
              </a:ext>
            </a:extLst>
          </p:cNvPr>
          <p:cNvSpPr>
            <a:spLocks noGrp="1"/>
          </p:cNvSpPr>
          <p:nvPr>
            <p:ph type="body" sz="quarter" idx="10"/>
          </p:nvPr>
        </p:nvSpPr>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6" name="コンテンツ プレースホルダー 2">
            <a:extLst>
              <a:ext uri="{FF2B5EF4-FFF2-40B4-BE49-F238E27FC236}">
                <a16:creationId xmlns:a16="http://schemas.microsoft.com/office/drawing/2014/main" id="{177624C5-C6AD-51C1-E814-93BE7ED45852}"/>
              </a:ext>
            </a:extLst>
          </p:cNvPr>
          <p:cNvSpPr txBox="1">
            <a:spLocks/>
          </p:cNvSpPr>
          <p:nvPr/>
        </p:nvSpPr>
        <p:spPr>
          <a:xfrm>
            <a:off x="273049" y="908050"/>
            <a:ext cx="9498631" cy="585940"/>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法規制の強制的な執行によって社会実装のインセンティブを確保している</a:t>
            </a:r>
            <a:endParaRPr lang="en-US" altLang="ja-JP" dirty="0"/>
          </a:p>
          <a:p>
            <a:r>
              <a:rPr lang="ja-JP" altLang="en-US" dirty="0"/>
              <a:t>社会実装の責任は各加盟国に帰属しており、加盟国ごとに社会実装に関わる団体は異なる、</a:t>
            </a:r>
            <a:r>
              <a:rPr lang="en-US" altLang="ja-JP" dirty="0"/>
              <a:t>EU</a:t>
            </a:r>
            <a:r>
              <a:rPr lang="ja-JP" altLang="en-US" dirty="0"/>
              <a:t>側からの支援も用意されている</a:t>
            </a:r>
            <a:endParaRPr lang="en-US" altLang="ja-JP" dirty="0"/>
          </a:p>
        </p:txBody>
      </p:sp>
      <p:grpSp>
        <p:nvGrpSpPr>
          <p:cNvPr id="8" name="Graphic 4">
            <a:extLst>
              <a:ext uri="{FF2B5EF4-FFF2-40B4-BE49-F238E27FC236}">
                <a16:creationId xmlns:a16="http://schemas.microsoft.com/office/drawing/2014/main" id="{8E1DAAC2-E706-9052-39F4-F7E0B42B40BC}"/>
              </a:ext>
            </a:extLst>
          </p:cNvPr>
          <p:cNvGrpSpPr>
            <a:grpSpLocks noChangeAspect="1"/>
          </p:cNvGrpSpPr>
          <p:nvPr/>
        </p:nvGrpSpPr>
        <p:grpSpPr bwMode="gray">
          <a:xfrm>
            <a:off x="560388" y="2415847"/>
            <a:ext cx="1221430" cy="1221430"/>
            <a:chOff x="6146480" y="3339623"/>
            <a:chExt cx="362309" cy="361971"/>
          </a:xfrm>
          <a:solidFill>
            <a:schemeClr val="accent1"/>
          </a:solidFill>
        </p:grpSpPr>
        <p:sp>
          <p:nvSpPr>
            <p:cNvPr id="16" name="Graphic 4">
              <a:extLst>
                <a:ext uri="{FF2B5EF4-FFF2-40B4-BE49-F238E27FC236}">
                  <a16:creationId xmlns:a16="http://schemas.microsoft.com/office/drawing/2014/main" id="{F33C39E3-E800-DB86-E770-49DFB0D4DD00}"/>
                </a:ext>
              </a:extLst>
            </p:cNvPr>
            <p:cNvSpPr/>
            <p:nvPr/>
          </p:nvSpPr>
          <p:spPr bwMode="gray">
            <a:xfrm>
              <a:off x="6290254" y="3436660"/>
              <a:ext cx="75401" cy="27950"/>
            </a:xfrm>
            <a:custGeom>
              <a:avLst/>
              <a:gdLst>
                <a:gd name="connsiteX0" fmla="*/ 37700 w 75401"/>
                <a:gd name="connsiteY0" fmla="*/ 0 h 27950"/>
                <a:gd name="connsiteX1" fmla="*/ 639 w 75401"/>
                <a:gd name="connsiteY1" fmla="*/ 14045 h 27950"/>
                <a:gd name="connsiteX2" fmla="*/ 0 w 75401"/>
                <a:gd name="connsiteY2" fmla="*/ 15321 h 27950"/>
                <a:gd name="connsiteX3" fmla="*/ 42173 w 75401"/>
                <a:gd name="connsiteY3" fmla="*/ 25536 h 27950"/>
                <a:gd name="connsiteX4" fmla="*/ 48563 w 75401"/>
                <a:gd name="connsiteY4" fmla="*/ 19152 h 27950"/>
                <a:gd name="connsiteX5" fmla="*/ 57509 w 75401"/>
                <a:gd name="connsiteY5" fmla="*/ 19152 h 27950"/>
                <a:gd name="connsiteX6" fmla="*/ 57509 w 75401"/>
                <a:gd name="connsiteY6" fmla="*/ 19152 h 27950"/>
                <a:gd name="connsiteX7" fmla="*/ 62621 w 75401"/>
                <a:gd name="connsiteY7" fmla="*/ 24259 h 27950"/>
                <a:gd name="connsiteX8" fmla="*/ 75401 w 75401"/>
                <a:gd name="connsiteY8" fmla="*/ 15321 h 27950"/>
                <a:gd name="connsiteX9" fmla="*/ 74762 w 75401"/>
                <a:gd name="connsiteY9" fmla="*/ 14045 h 27950"/>
                <a:gd name="connsiteX10" fmla="*/ 37700 w 75401"/>
                <a:gd name="connsiteY10" fmla="*/ 0 h 2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401" h="27950">
                  <a:moveTo>
                    <a:pt x="37700" y="0"/>
                  </a:moveTo>
                  <a:cubicBezTo>
                    <a:pt x="19809" y="0"/>
                    <a:pt x="7668" y="5107"/>
                    <a:pt x="639" y="14045"/>
                  </a:cubicBezTo>
                  <a:lnTo>
                    <a:pt x="0" y="15321"/>
                  </a:lnTo>
                  <a:cubicBezTo>
                    <a:pt x="12780" y="33197"/>
                    <a:pt x="36422" y="27451"/>
                    <a:pt x="42173" y="25536"/>
                  </a:cubicBezTo>
                  <a:lnTo>
                    <a:pt x="48563" y="19152"/>
                  </a:lnTo>
                  <a:cubicBezTo>
                    <a:pt x="51119" y="16598"/>
                    <a:pt x="54953" y="16598"/>
                    <a:pt x="57509" y="19152"/>
                  </a:cubicBezTo>
                  <a:cubicBezTo>
                    <a:pt x="57509" y="19152"/>
                    <a:pt x="57509" y="19152"/>
                    <a:pt x="57509" y="19152"/>
                  </a:cubicBezTo>
                  <a:lnTo>
                    <a:pt x="62621" y="24259"/>
                  </a:lnTo>
                  <a:cubicBezTo>
                    <a:pt x="67733" y="22982"/>
                    <a:pt x="72206" y="19790"/>
                    <a:pt x="75401" y="15321"/>
                  </a:cubicBezTo>
                  <a:cubicBezTo>
                    <a:pt x="75401" y="14683"/>
                    <a:pt x="74762" y="14683"/>
                    <a:pt x="74762" y="14045"/>
                  </a:cubicBezTo>
                  <a:cubicBezTo>
                    <a:pt x="67733" y="5107"/>
                    <a:pt x="54953" y="0"/>
                    <a:pt x="37700" y="0"/>
                  </a:cubicBez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sp>
          <p:nvSpPr>
            <p:cNvPr id="17" name="Graphic 4">
              <a:extLst>
                <a:ext uri="{FF2B5EF4-FFF2-40B4-BE49-F238E27FC236}">
                  <a16:creationId xmlns:a16="http://schemas.microsoft.com/office/drawing/2014/main" id="{4CC75C6F-B617-3243-86BD-84656CCA29E0}"/>
                </a:ext>
              </a:extLst>
            </p:cNvPr>
            <p:cNvSpPr/>
            <p:nvPr/>
          </p:nvSpPr>
          <p:spPr bwMode="gray">
            <a:xfrm>
              <a:off x="6146480" y="33396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77323 w 362309"/>
                <a:gd name="connsiteY6" fmla="*/ 274511 h 361971"/>
                <a:gd name="connsiteX7" fmla="*/ 271572 w 362309"/>
                <a:gd name="connsiteY7" fmla="*/ 277703 h 361971"/>
                <a:gd name="connsiteX8" fmla="*/ 268377 w 362309"/>
                <a:gd name="connsiteY8" fmla="*/ 277065 h 361971"/>
                <a:gd name="connsiteX9" fmla="*/ 241540 w 362309"/>
                <a:gd name="connsiteY9" fmla="*/ 271319 h 361971"/>
                <a:gd name="connsiteX10" fmla="*/ 219175 w 362309"/>
                <a:gd name="connsiteY10" fmla="*/ 266850 h 361971"/>
                <a:gd name="connsiteX11" fmla="*/ 201922 w 362309"/>
                <a:gd name="connsiteY11" fmla="*/ 238122 h 361971"/>
                <a:gd name="connsiteX12" fmla="*/ 202561 w 362309"/>
                <a:gd name="connsiteY12" fmla="*/ 212587 h 361971"/>
                <a:gd name="connsiteX13" fmla="*/ 221092 w 362309"/>
                <a:gd name="connsiteY13" fmla="*/ 168537 h 361971"/>
                <a:gd name="connsiteX14" fmla="*/ 224287 w 362309"/>
                <a:gd name="connsiteY14" fmla="*/ 125765 h 361971"/>
                <a:gd name="connsiteX15" fmla="*/ 203200 w 362309"/>
                <a:gd name="connsiteY15" fmla="*/ 134702 h 361971"/>
                <a:gd name="connsiteX16" fmla="*/ 199366 w 362309"/>
                <a:gd name="connsiteY16" fmla="*/ 132787 h 361971"/>
                <a:gd name="connsiteX17" fmla="*/ 196171 w 362309"/>
                <a:gd name="connsiteY17" fmla="*/ 129595 h 361971"/>
                <a:gd name="connsiteX18" fmla="*/ 192976 w 362309"/>
                <a:gd name="connsiteY18" fmla="*/ 132787 h 361971"/>
                <a:gd name="connsiteX19" fmla="*/ 190420 w 362309"/>
                <a:gd name="connsiteY19" fmla="*/ 134064 h 361971"/>
                <a:gd name="connsiteX20" fmla="*/ 169972 w 362309"/>
                <a:gd name="connsiteY20" fmla="*/ 137256 h 361971"/>
                <a:gd name="connsiteX21" fmla="*/ 137384 w 362309"/>
                <a:gd name="connsiteY21" fmla="*/ 125126 h 361971"/>
                <a:gd name="connsiteX22" fmla="*/ 140579 w 362309"/>
                <a:gd name="connsiteY22" fmla="*/ 167899 h 361971"/>
                <a:gd name="connsiteX23" fmla="*/ 159109 w 362309"/>
                <a:gd name="connsiteY23" fmla="*/ 211948 h 361971"/>
                <a:gd name="connsiteX24" fmla="*/ 159748 w 362309"/>
                <a:gd name="connsiteY24" fmla="*/ 237484 h 361971"/>
                <a:gd name="connsiteX25" fmla="*/ 142496 w 362309"/>
                <a:gd name="connsiteY25" fmla="*/ 266212 h 361971"/>
                <a:gd name="connsiteX26" fmla="*/ 120131 w 362309"/>
                <a:gd name="connsiteY26" fmla="*/ 270681 h 361971"/>
                <a:gd name="connsiteX27" fmla="*/ 93293 w 362309"/>
                <a:gd name="connsiteY27" fmla="*/ 276426 h 361971"/>
                <a:gd name="connsiteX28" fmla="*/ 84347 w 362309"/>
                <a:gd name="connsiteY28" fmla="*/ 273873 h 361971"/>
                <a:gd name="connsiteX29" fmla="*/ 86903 w 362309"/>
                <a:gd name="connsiteY29" fmla="*/ 264935 h 361971"/>
                <a:gd name="connsiteX30" fmla="*/ 118853 w 362309"/>
                <a:gd name="connsiteY30" fmla="*/ 257274 h 361971"/>
                <a:gd name="connsiteX31" fmla="*/ 136106 w 362309"/>
                <a:gd name="connsiteY31" fmla="*/ 254082 h 361971"/>
                <a:gd name="connsiteX32" fmla="*/ 148246 w 362309"/>
                <a:gd name="connsiteY32" fmla="*/ 218332 h 361971"/>
                <a:gd name="connsiteX33" fmla="*/ 127799 w 362309"/>
                <a:gd name="connsiteY33" fmla="*/ 171091 h 361971"/>
                <a:gd name="connsiteX34" fmla="*/ 132911 w 362309"/>
                <a:gd name="connsiteY34" fmla="*/ 102782 h 361971"/>
                <a:gd name="connsiteX35" fmla="*/ 180196 w 362309"/>
                <a:gd name="connsiteY35" fmla="*/ 83630 h 361971"/>
                <a:gd name="connsiteX36" fmla="*/ 227482 w 362309"/>
                <a:gd name="connsiteY36" fmla="*/ 102782 h 361971"/>
                <a:gd name="connsiteX37" fmla="*/ 232593 w 362309"/>
                <a:gd name="connsiteY37" fmla="*/ 171091 h 361971"/>
                <a:gd name="connsiteX38" fmla="*/ 212146 w 362309"/>
                <a:gd name="connsiteY38" fmla="*/ 218332 h 361971"/>
                <a:gd name="connsiteX39" fmla="*/ 224287 w 362309"/>
                <a:gd name="connsiteY39" fmla="*/ 254082 h 361971"/>
                <a:gd name="connsiteX40" fmla="*/ 241540 w 362309"/>
                <a:gd name="connsiteY40" fmla="*/ 257274 h 361971"/>
                <a:gd name="connsiteX41" fmla="*/ 273489 w 362309"/>
                <a:gd name="connsiteY41" fmla="*/ 264935 h 361971"/>
                <a:gd name="connsiteX42" fmla="*/ 277323 w 362309"/>
                <a:gd name="connsiteY42" fmla="*/ 274511 h 361971"/>
                <a:gd name="connsiteX43" fmla="*/ 277323 w 362309"/>
                <a:gd name="connsiteY43" fmla="*/ 274511 h 361971"/>
                <a:gd name="connsiteX44" fmla="*/ 277323 w 362309"/>
                <a:gd name="connsiteY44" fmla="*/ 2745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1077"/>
                    <a:pt x="281157" y="0"/>
                    <a:pt x="181474" y="0"/>
                  </a:cubicBezTo>
                  <a:close/>
                  <a:moveTo>
                    <a:pt x="277323" y="274511"/>
                  </a:moveTo>
                  <a:cubicBezTo>
                    <a:pt x="276045" y="276426"/>
                    <a:pt x="274128" y="277703"/>
                    <a:pt x="271572" y="277703"/>
                  </a:cubicBezTo>
                  <a:cubicBezTo>
                    <a:pt x="270294" y="277703"/>
                    <a:pt x="269655" y="277703"/>
                    <a:pt x="268377" y="277065"/>
                  </a:cubicBezTo>
                  <a:cubicBezTo>
                    <a:pt x="260070" y="273234"/>
                    <a:pt x="250485" y="271319"/>
                    <a:pt x="241540" y="271319"/>
                  </a:cubicBezTo>
                  <a:cubicBezTo>
                    <a:pt x="233872" y="271319"/>
                    <a:pt x="226204" y="269404"/>
                    <a:pt x="219175" y="266850"/>
                  </a:cubicBezTo>
                  <a:cubicBezTo>
                    <a:pt x="208312" y="261105"/>
                    <a:pt x="203200" y="243868"/>
                    <a:pt x="201922" y="238122"/>
                  </a:cubicBezTo>
                  <a:cubicBezTo>
                    <a:pt x="200644" y="232377"/>
                    <a:pt x="198088" y="218971"/>
                    <a:pt x="202561" y="212587"/>
                  </a:cubicBezTo>
                  <a:cubicBezTo>
                    <a:pt x="210868" y="198542"/>
                    <a:pt x="216619" y="183859"/>
                    <a:pt x="221092" y="168537"/>
                  </a:cubicBezTo>
                  <a:cubicBezTo>
                    <a:pt x="225565" y="154492"/>
                    <a:pt x="226843" y="139809"/>
                    <a:pt x="224287" y="125765"/>
                  </a:cubicBezTo>
                  <a:cubicBezTo>
                    <a:pt x="218536" y="131510"/>
                    <a:pt x="210868" y="134702"/>
                    <a:pt x="203200" y="134702"/>
                  </a:cubicBezTo>
                  <a:cubicBezTo>
                    <a:pt x="201922" y="134702"/>
                    <a:pt x="200005" y="134064"/>
                    <a:pt x="199366" y="132787"/>
                  </a:cubicBezTo>
                  <a:lnTo>
                    <a:pt x="196171" y="129595"/>
                  </a:lnTo>
                  <a:lnTo>
                    <a:pt x="192976" y="132787"/>
                  </a:lnTo>
                  <a:cubicBezTo>
                    <a:pt x="192337" y="133425"/>
                    <a:pt x="191698" y="134064"/>
                    <a:pt x="190420" y="134064"/>
                  </a:cubicBezTo>
                  <a:cubicBezTo>
                    <a:pt x="184030" y="136617"/>
                    <a:pt x="177001" y="137894"/>
                    <a:pt x="169972" y="137256"/>
                  </a:cubicBezTo>
                  <a:cubicBezTo>
                    <a:pt x="157831" y="137894"/>
                    <a:pt x="146329" y="133425"/>
                    <a:pt x="137384" y="125126"/>
                  </a:cubicBezTo>
                  <a:cubicBezTo>
                    <a:pt x="134828" y="139171"/>
                    <a:pt x="136106" y="154492"/>
                    <a:pt x="140579" y="167899"/>
                  </a:cubicBezTo>
                  <a:cubicBezTo>
                    <a:pt x="145051" y="183220"/>
                    <a:pt x="151441" y="197903"/>
                    <a:pt x="159109" y="211948"/>
                  </a:cubicBezTo>
                  <a:cubicBezTo>
                    <a:pt x="163582" y="218971"/>
                    <a:pt x="161026" y="232377"/>
                    <a:pt x="159748" y="237484"/>
                  </a:cubicBezTo>
                  <a:cubicBezTo>
                    <a:pt x="158470" y="242591"/>
                    <a:pt x="153358" y="260466"/>
                    <a:pt x="142496" y="266212"/>
                  </a:cubicBezTo>
                  <a:cubicBezTo>
                    <a:pt x="135466" y="268766"/>
                    <a:pt x="127799" y="270681"/>
                    <a:pt x="120131" y="270681"/>
                  </a:cubicBezTo>
                  <a:cubicBezTo>
                    <a:pt x="110546" y="270681"/>
                    <a:pt x="101600" y="273234"/>
                    <a:pt x="93293" y="276426"/>
                  </a:cubicBezTo>
                  <a:cubicBezTo>
                    <a:pt x="90098" y="278341"/>
                    <a:pt x="86264" y="277065"/>
                    <a:pt x="84347" y="273873"/>
                  </a:cubicBezTo>
                  <a:cubicBezTo>
                    <a:pt x="82430" y="270681"/>
                    <a:pt x="83708" y="266850"/>
                    <a:pt x="86903" y="264935"/>
                  </a:cubicBezTo>
                  <a:cubicBezTo>
                    <a:pt x="97127" y="260466"/>
                    <a:pt x="107990" y="257913"/>
                    <a:pt x="118853" y="257274"/>
                  </a:cubicBezTo>
                  <a:cubicBezTo>
                    <a:pt x="124604" y="257274"/>
                    <a:pt x="130354" y="255998"/>
                    <a:pt x="136106" y="254082"/>
                  </a:cubicBezTo>
                  <a:cubicBezTo>
                    <a:pt x="145051" y="249614"/>
                    <a:pt x="150802" y="223439"/>
                    <a:pt x="148246" y="218332"/>
                  </a:cubicBezTo>
                  <a:cubicBezTo>
                    <a:pt x="139301" y="203649"/>
                    <a:pt x="132911" y="187689"/>
                    <a:pt x="127799" y="171091"/>
                  </a:cubicBezTo>
                  <a:cubicBezTo>
                    <a:pt x="122686" y="154492"/>
                    <a:pt x="116936" y="123211"/>
                    <a:pt x="132911" y="102782"/>
                  </a:cubicBezTo>
                  <a:cubicBezTo>
                    <a:pt x="142496" y="90014"/>
                    <a:pt x="158470" y="83630"/>
                    <a:pt x="180196" y="83630"/>
                  </a:cubicBezTo>
                  <a:cubicBezTo>
                    <a:pt x="201922" y="83630"/>
                    <a:pt x="217897" y="90014"/>
                    <a:pt x="227482" y="102782"/>
                  </a:cubicBezTo>
                  <a:cubicBezTo>
                    <a:pt x="243456" y="123849"/>
                    <a:pt x="237067" y="154492"/>
                    <a:pt x="232593" y="171091"/>
                  </a:cubicBezTo>
                  <a:cubicBezTo>
                    <a:pt x="228120" y="187689"/>
                    <a:pt x="221092" y="203649"/>
                    <a:pt x="212146" y="218332"/>
                  </a:cubicBezTo>
                  <a:cubicBezTo>
                    <a:pt x="209590" y="223439"/>
                    <a:pt x="215341" y="248975"/>
                    <a:pt x="224287" y="254082"/>
                  </a:cubicBezTo>
                  <a:cubicBezTo>
                    <a:pt x="230038" y="255998"/>
                    <a:pt x="235788" y="257274"/>
                    <a:pt x="241540" y="257274"/>
                  </a:cubicBezTo>
                  <a:cubicBezTo>
                    <a:pt x="252403" y="257913"/>
                    <a:pt x="263265" y="260466"/>
                    <a:pt x="273489" y="264935"/>
                  </a:cubicBezTo>
                  <a:cubicBezTo>
                    <a:pt x="277323" y="267489"/>
                    <a:pt x="278601" y="271319"/>
                    <a:pt x="277323" y="274511"/>
                  </a:cubicBezTo>
                  <a:cubicBezTo>
                    <a:pt x="277323" y="274511"/>
                    <a:pt x="277323" y="274511"/>
                    <a:pt x="277323" y="274511"/>
                  </a:cubicBezTo>
                  <a:lnTo>
                    <a:pt x="277323" y="274511"/>
                  </a:ln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grpSp>
      <p:sp>
        <p:nvSpPr>
          <p:cNvPr id="18" name="正方形/長方形 17">
            <a:extLst>
              <a:ext uri="{FF2B5EF4-FFF2-40B4-BE49-F238E27FC236}">
                <a16:creationId xmlns:a16="http://schemas.microsoft.com/office/drawing/2014/main" id="{437DC074-9AD2-57B4-BC55-CA2CE0AC3651}"/>
              </a:ext>
            </a:extLst>
          </p:cNvPr>
          <p:cNvSpPr/>
          <p:nvPr/>
        </p:nvSpPr>
        <p:spPr bwMode="gray">
          <a:xfrm>
            <a:off x="417017" y="1554990"/>
            <a:ext cx="4023247" cy="438596"/>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トラストフレームワーク社会実装・運用プロセス</a:t>
            </a:r>
          </a:p>
        </p:txBody>
      </p:sp>
      <p:sp>
        <p:nvSpPr>
          <p:cNvPr id="19" name="吹き出し: 四角形 18">
            <a:extLst>
              <a:ext uri="{FF2B5EF4-FFF2-40B4-BE49-F238E27FC236}">
                <a16:creationId xmlns:a16="http://schemas.microsoft.com/office/drawing/2014/main" id="{249FFD6E-B10E-60FE-67CC-6E4C54EA1161}"/>
              </a:ext>
            </a:extLst>
          </p:cNvPr>
          <p:cNvSpPr/>
          <p:nvPr/>
        </p:nvSpPr>
        <p:spPr>
          <a:xfrm>
            <a:off x="2220019" y="2130748"/>
            <a:ext cx="7412931" cy="4014329"/>
          </a:xfrm>
          <a:prstGeom prst="wedgeRectCallout">
            <a:avLst>
              <a:gd name="adj1" fmla="val -57095"/>
              <a:gd name="adj2" fmla="val -24876"/>
            </a:avLst>
          </a:prstGeom>
          <a:solidFill>
            <a:schemeClr val="accent5">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a:spcBef>
                <a:spcPts val="600"/>
              </a:spcBef>
            </a:pPr>
            <a:r>
              <a:rPr lang="en-US" altLang="ja-JP" sz="1400" dirty="0"/>
              <a:t>【</a:t>
            </a:r>
            <a:r>
              <a:rPr lang="ja-JP" altLang="en-US" sz="1400" dirty="0"/>
              <a:t>運用のインセンティブ設計</a:t>
            </a:r>
            <a:r>
              <a:rPr lang="en-US" altLang="ja-JP" sz="1400" dirty="0"/>
              <a:t>】</a:t>
            </a:r>
          </a:p>
          <a:p>
            <a:pPr marL="285750" indent="-285750">
              <a:spcBef>
                <a:spcPts val="600"/>
              </a:spcBef>
              <a:buFont typeface="Arial" panose="020B0604020202020204" pitchFamily="34" charset="0"/>
              <a:buChar char="•"/>
            </a:pPr>
            <a:r>
              <a:rPr lang="ja-JP" altLang="en-US" sz="1400" dirty="0"/>
              <a:t>時限立法による強制的な法執行を課している。</a:t>
            </a:r>
            <a:r>
              <a:rPr lang="en-US" altLang="ja-JP" sz="1400" dirty="0"/>
              <a:t>eIDAS2.0</a:t>
            </a:r>
            <a:r>
              <a:rPr lang="ja-JP" altLang="en-US" sz="1400" dirty="0"/>
              <a:t>が施行された後、</a:t>
            </a:r>
            <a:r>
              <a:rPr lang="en-US" altLang="ja-JP" sz="1400" dirty="0"/>
              <a:t>eIDAS2.0 Implementation Act</a:t>
            </a:r>
            <a:r>
              <a:rPr lang="ja-JP" altLang="en-US" sz="1400" dirty="0"/>
              <a:t>の策定・施行</a:t>
            </a:r>
            <a:r>
              <a:rPr lang="en-US" altLang="ja-JP" sz="1400" dirty="0"/>
              <a:t>(eIDAS2.0</a:t>
            </a:r>
            <a:r>
              <a:rPr lang="ja-JP" altLang="en-US" sz="1400" dirty="0"/>
              <a:t>施行後</a:t>
            </a:r>
            <a:r>
              <a:rPr lang="en-US" altLang="ja-JP" sz="1400" dirty="0"/>
              <a:t>6</a:t>
            </a:r>
            <a:r>
              <a:rPr lang="ja-JP" altLang="en-US" sz="1400" dirty="0"/>
              <a:t>か月程度要す</a:t>
            </a:r>
            <a:r>
              <a:rPr lang="en-US" altLang="ja-JP" sz="1400" dirty="0"/>
              <a:t>)</a:t>
            </a:r>
            <a:r>
              <a:rPr lang="ja-JP" altLang="en-US" sz="1400" dirty="0"/>
              <a:t>を経て、その</a:t>
            </a:r>
            <a:r>
              <a:rPr lang="en-US" altLang="ja-JP" sz="1400" dirty="0"/>
              <a:t>2</a:t>
            </a:r>
            <a:r>
              <a:rPr lang="ja-JP" altLang="en-US" sz="1400" dirty="0"/>
              <a:t>年後に</a:t>
            </a:r>
            <a:r>
              <a:rPr lang="en-US" altLang="ja-JP" sz="1400" dirty="0"/>
              <a:t>EU</a:t>
            </a:r>
            <a:r>
              <a:rPr lang="ja-JP" altLang="en-US" sz="1400" dirty="0"/>
              <a:t>デジタルアイデンティティウォレットの導入が進められる</a:t>
            </a:r>
            <a:endParaRPr lang="en-US" altLang="ja-JP" sz="1400" dirty="0"/>
          </a:p>
          <a:p>
            <a:pPr>
              <a:spcBef>
                <a:spcPts val="600"/>
              </a:spcBef>
            </a:pPr>
            <a:r>
              <a:rPr lang="en-US" altLang="ja-JP" sz="1400" dirty="0"/>
              <a:t>【</a:t>
            </a:r>
            <a:r>
              <a:rPr lang="ja-JP" altLang="en-US" sz="1400" dirty="0"/>
              <a:t>社会実装に関わる団体</a:t>
            </a:r>
            <a:r>
              <a:rPr lang="en-US" altLang="ja-JP" sz="1400" dirty="0"/>
              <a:t>】</a:t>
            </a:r>
          </a:p>
          <a:p>
            <a:pPr marL="285750" indent="-285750">
              <a:spcBef>
                <a:spcPts val="600"/>
              </a:spcBef>
              <a:buFont typeface="Arial" panose="020B0604020202020204" pitchFamily="34" charset="0"/>
              <a:buChar char="•"/>
            </a:pPr>
            <a:r>
              <a:rPr lang="ja-JP" altLang="en-US" sz="1400" dirty="0"/>
              <a:t>事業者の認定や認定プロセスの監督、認定にかかる支援は加盟国ごとに策定・運用することになる。本プロセスは</a:t>
            </a:r>
            <a:r>
              <a:rPr lang="en-US" altLang="ja-JP" sz="1400" dirty="0"/>
              <a:t>EU</a:t>
            </a:r>
            <a:r>
              <a:rPr lang="ja-JP" altLang="en-US" sz="1400" dirty="0"/>
              <a:t>で中央的な管理がされていない</a:t>
            </a:r>
          </a:p>
          <a:p>
            <a:pPr marL="742950" lvl="1" indent="-285750">
              <a:spcBef>
                <a:spcPts val="600"/>
              </a:spcBef>
              <a:buFont typeface="Wingdings" panose="05000000000000000000" pitchFamily="2" charset="2"/>
              <a:buChar char="Ø"/>
            </a:pPr>
            <a:r>
              <a:rPr lang="ja-JP" altLang="en-US" sz="1400" dirty="0"/>
              <a:t>適合性評価機関 </a:t>
            </a:r>
            <a:r>
              <a:rPr lang="en-US" altLang="ja-JP" sz="1400" dirty="0"/>
              <a:t>(CAB) :</a:t>
            </a:r>
            <a:r>
              <a:rPr lang="en-US" altLang="ja-JP" sz="1400" dirty="0" err="1"/>
              <a:t>eIDAS</a:t>
            </a:r>
            <a:r>
              <a:rPr lang="ja-JP" altLang="en-US" sz="1400" dirty="0"/>
              <a:t>規則に対する</a:t>
            </a:r>
            <a:r>
              <a:rPr lang="en-US" altLang="ja-JP" sz="1400" dirty="0"/>
              <a:t>TSP</a:t>
            </a:r>
            <a:r>
              <a:rPr lang="ja-JP" altLang="en-US" sz="1400" dirty="0"/>
              <a:t>の適合性評価と事業者認定を実施、</a:t>
            </a:r>
            <a:r>
              <a:rPr lang="en-US" altLang="ja-JP" sz="1400" dirty="0"/>
              <a:t>NAB</a:t>
            </a:r>
            <a:r>
              <a:rPr lang="ja-JP" altLang="en-US" sz="1400" dirty="0"/>
              <a:t>から認定を受けて実施</a:t>
            </a:r>
          </a:p>
          <a:p>
            <a:pPr marL="742950" lvl="1" indent="-285750">
              <a:spcBef>
                <a:spcPts val="600"/>
              </a:spcBef>
              <a:buFont typeface="Wingdings" panose="05000000000000000000" pitchFamily="2" charset="2"/>
              <a:buChar char="Ø"/>
            </a:pPr>
            <a:r>
              <a:rPr lang="ja-JP" altLang="en-US" sz="1400" dirty="0"/>
              <a:t>国家監督機関 </a:t>
            </a:r>
            <a:r>
              <a:rPr lang="en-US" altLang="ja-JP" sz="1400" dirty="0"/>
              <a:t>(NAB):</a:t>
            </a:r>
            <a:r>
              <a:rPr lang="ja-JP" altLang="en-US" sz="1400" dirty="0"/>
              <a:t>各加盟国の信頼されたサービスプロバイダ</a:t>
            </a:r>
            <a:r>
              <a:rPr lang="en-US" altLang="ja-JP" sz="1400" dirty="0"/>
              <a:t>(TSP)</a:t>
            </a:r>
            <a:r>
              <a:rPr lang="ja-JP" altLang="en-US" sz="1400" dirty="0"/>
              <a:t>のコンプライアンスを監督する機関、国内の適合性評価機関 </a:t>
            </a:r>
            <a:r>
              <a:rPr lang="en-US" altLang="ja-JP" sz="1400" dirty="0"/>
              <a:t>(CAB) </a:t>
            </a:r>
            <a:r>
              <a:rPr lang="ja-JP" altLang="en-US" sz="1400" dirty="0"/>
              <a:t>を認定・監督</a:t>
            </a:r>
          </a:p>
          <a:p>
            <a:pPr marL="742950" lvl="1" indent="-285750">
              <a:spcBef>
                <a:spcPts val="600"/>
              </a:spcBef>
              <a:buFont typeface="Wingdings" panose="05000000000000000000" pitchFamily="2" charset="2"/>
              <a:buChar char="Ø"/>
            </a:pPr>
            <a:r>
              <a:rPr lang="ja-JP" altLang="en-US" sz="1400" dirty="0"/>
              <a:t>加盟国</a:t>
            </a:r>
            <a:r>
              <a:rPr lang="en-US" altLang="ja-JP" sz="1400" dirty="0"/>
              <a:t>:</a:t>
            </a:r>
            <a:r>
              <a:rPr lang="ja-JP" altLang="en-US" sz="1400" dirty="0"/>
              <a:t>事業者向けにガイダンス・情報提供、ワークショップ、財政支援等を実施</a:t>
            </a:r>
            <a:endParaRPr lang="en-US" altLang="ja-JP" sz="1400" dirty="0"/>
          </a:p>
          <a:p>
            <a:pPr marL="285750" indent="-285750">
              <a:spcBef>
                <a:spcPts val="600"/>
              </a:spcBef>
              <a:buFont typeface="Arial" panose="020B0604020202020204" pitchFamily="34" charset="0"/>
              <a:buChar char="•"/>
            </a:pPr>
            <a:r>
              <a:rPr lang="ja-JP" altLang="en-US" sz="1400" dirty="0"/>
              <a:t>ウォレットの実装も各加盟国判断となり、各国で実装の検討を進めている。</a:t>
            </a:r>
            <a:r>
              <a:rPr lang="en-US" altLang="ja-JP" sz="1400" dirty="0"/>
              <a:t>EU</a:t>
            </a:r>
            <a:r>
              <a:rPr lang="ja-JP" altLang="en-US" sz="1400" dirty="0"/>
              <a:t>側では</a:t>
            </a:r>
            <a:r>
              <a:rPr lang="en-US" altLang="ja-JP" sz="1400" dirty="0"/>
              <a:t>EUDIW</a:t>
            </a:r>
            <a:r>
              <a:rPr lang="ja-JP" altLang="en-US" sz="1400" dirty="0"/>
              <a:t>構築にかかるパートナーシップ契約</a:t>
            </a:r>
            <a:r>
              <a:rPr lang="en-US" altLang="ja-JP" sz="1400" dirty="0"/>
              <a:t>*</a:t>
            </a:r>
            <a:r>
              <a:rPr lang="ja-JP" altLang="en-US" sz="1400" dirty="0"/>
              <a:t>を締結しており、加盟国はこの事業者からの支援を受けることが可能</a:t>
            </a:r>
            <a:br>
              <a:rPr lang="en-US" altLang="ja-JP" sz="1400" dirty="0"/>
            </a:br>
            <a:r>
              <a:rPr lang="en-US" altLang="ja-JP" sz="1400" dirty="0"/>
              <a:t>(</a:t>
            </a:r>
            <a:r>
              <a:rPr lang="ja-JP" altLang="en-US" sz="1400" dirty="0"/>
              <a:t>例えば、事業者から</a:t>
            </a:r>
            <a:r>
              <a:rPr lang="en-US" altLang="ja-JP" sz="1400" dirty="0"/>
              <a:t>EU DIW</a:t>
            </a:r>
            <a:r>
              <a:rPr lang="ja-JP" altLang="en-US" sz="1400" dirty="0"/>
              <a:t>にかかる</a:t>
            </a:r>
            <a:r>
              <a:rPr lang="en-US" altLang="ja-JP" sz="1400" dirty="0"/>
              <a:t>OSS</a:t>
            </a:r>
            <a:r>
              <a:rPr lang="ja-JP" altLang="en-US" sz="1400" dirty="0"/>
              <a:t>の提供を受けたり、開発にかかるコンサルティング等の支援を受けたりすることが可能である</a:t>
            </a:r>
            <a:r>
              <a:rPr lang="en-US" altLang="ja-JP" sz="1400" dirty="0"/>
              <a:t>)</a:t>
            </a:r>
            <a:endParaRPr lang="ja-JP" altLang="en-US" sz="1400" dirty="0"/>
          </a:p>
        </p:txBody>
      </p:sp>
      <p:sp>
        <p:nvSpPr>
          <p:cNvPr id="5" name="テキスト ボックス 4">
            <a:extLst>
              <a:ext uri="{FF2B5EF4-FFF2-40B4-BE49-F238E27FC236}">
                <a16:creationId xmlns:a16="http://schemas.microsoft.com/office/drawing/2014/main" id="{BCC4CAEA-083D-8AC5-D566-B5264F92464B}"/>
              </a:ext>
            </a:extLst>
          </p:cNvPr>
          <p:cNvSpPr txBox="1"/>
          <p:nvPr/>
        </p:nvSpPr>
        <p:spPr>
          <a:xfrm>
            <a:off x="273050" y="6218601"/>
            <a:ext cx="9359900" cy="230832"/>
          </a:xfrm>
          <a:prstGeom prst="rect">
            <a:avLst/>
          </a:prstGeom>
          <a:noFill/>
        </p:spPr>
        <p:txBody>
          <a:bodyPr wrap="square">
            <a:spAutoFit/>
          </a:bodyPr>
          <a:lstStyle/>
          <a:p>
            <a:r>
              <a:rPr lang="ja-JP" altLang="en-US" sz="900" dirty="0">
                <a:latin typeface="+mn-ea"/>
                <a:ea typeface="+mn-ea"/>
              </a:rPr>
              <a:t>*</a:t>
            </a:r>
            <a:r>
              <a:rPr lang="en-US" altLang="ja-JP" sz="900" dirty="0">
                <a:latin typeface="+mn-ea"/>
                <a:ea typeface="+mn-ea"/>
                <a:hlinkClick r:id="rId2"/>
              </a:rPr>
              <a:t>https://www.biometricupdate.com/202212/scytales-wins-eu-digital-identity-wallet-contract-council-reaches-consensus-on-rules</a:t>
            </a:r>
            <a:endParaRPr lang="en-US" altLang="ja-JP" sz="900" dirty="0">
              <a:latin typeface="+mn-ea"/>
              <a:ea typeface="+mn-ea"/>
            </a:endParaRPr>
          </a:p>
        </p:txBody>
      </p:sp>
    </p:spTree>
    <p:extLst>
      <p:ext uri="{BB962C8B-B14F-4D97-AF65-F5344CB8AC3E}">
        <p14:creationId xmlns:p14="http://schemas.microsoft.com/office/powerpoint/2010/main" val="3041003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EC02FF-8C23-57BA-78F2-56E5CEC4D73B}"/>
              </a:ext>
            </a:extLst>
          </p:cNvPr>
          <p:cNvSpPr>
            <a:spLocks noGrp="1"/>
          </p:cNvSpPr>
          <p:nvPr>
            <p:ph type="title"/>
          </p:nvPr>
        </p:nvSpPr>
        <p:spPr/>
        <p:txBody>
          <a:bodyPr/>
          <a:lstStyle/>
          <a:p>
            <a:r>
              <a:rPr kumimoji="1" lang="en-US" altLang="ja-JP" dirty="0"/>
              <a:t>3.1. EU</a:t>
            </a:r>
            <a:r>
              <a:rPr kumimoji="1" lang="ja-JP" altLang="en-US" dirty="0"/>
              <a:t>：</a:t>
            </a:r>
            <a:r>
              <a:rPr kumimoji="1" lang="en-US" altLang="ja-JP" dirty="0"/>
              <a:t>eIDAS2.0</a:t>
            </a:r>
            <a:r>
              <a:rPr kumimoji="1" lang="ja-JP" altLang="en-US" dirty="0"/>
              <a:t>、</a:t>
            </a:r>
            <a:r>
              <a:rPr kumimoji="1" lang="en-US" altLang="ja-JP" dirty="0"/>
              <a:t>ARF</a:t>
            </a:r>
            <a:r>
              <a:rPr kumimoji="1" lang="ja-JP" altLang="en-US" dirty="0"/>
              <a:t>等 </a:t>
            </a:r>
            <a:r>
              <a:rPr kumimoji="1" lang="en-US" altLang="ja-JP" dirty="0">
                <a:latin typeface="+mn-ea"/>
                <a:ea typeface="+mn-ea"/>
              </a:rPr>
              <a:t>– 3.1.3. </a:t>
            </a:r>
            <a:r>
              <a:rPr kumimoji="1" lang="ja-JP" altLang="en-US" dirty="0">
                <a:latin typeface="+mn-ea"/>
                <a:ea typeface="+mn-ea"/>
              </a:rPr>
              <a:t>ヒアリング結果</a:t>
            </a:r>
            <a:r>
              <a:rPr kumimoji="1" lang="en-US" altLang="ja-JP" dirty="0">
                <a:latin typeface="+mn-ea"/>
                <a:ea typeface="+mn-ea"/>
              </a:rPr>
              <a:t>(3/3)</a:t>
            </a:r>
            <a:endParaRPr kumimoji="1" lang="ja-JP" altLang="en-US" dirty="0"/>
          </a:p>
        </p:txBody>
      </p:sp>
      <p:sp>
        <p:nvSpPr>
          <p:cNvPr id="3" name="テキスト プレースホルダー 2">
            <a:extLst>
              <a:ext uri="{FF2B5EF4-FFF2-40B4-BE49-F238E27FC236}">
                <a16:creationId xmlns:a16="http://schemas.microsoft.com/office/drawing/2014/main" id="{647FDA19-D2CB-7197-749F-F03C3DC724DA}"/>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grpSp>
        <p:nvGrpSpPr>
          <p:cNvPr id="4" name="Graphic 4">
            <a:extLst>
              <a:ext uri="{FF2B5EF4-FFF2-40B4-BE49-F238E27FC236}">
                <a16:creationId xmlns:a16="http://schemas.microsoft.com/office/drawing/2014/main" id="{4296F652-17BD-E87A-1730-4B43D4545248}"/>
              </a:ext>
            </a:extLst>
          </p:cNvPr>
          <p:cNvGrpSpPr>
            <a:grpSpLocks noChangeAspect="1"/>
          </p:cNvGrpSpPr>
          <p:nvPr/>
        </p:nvGrpSpPr>
        <p:grpSpPr bwMode="gray">
          <a:xfrm>
            <a:off x="560388" y="2415847"/>
            <a:ext cx="1221430" cy="1221430"/>
            <a:chOff x="6146480" y="3339623"/>
            <a:chExt cx="362309" cy="361971"/>
          </a:xfrm>
          <a:solidFill>
            <a:schemeClr val="accent1"/>
          </a:solidFill>
        </p:grpSpPr>
        <p:sp>
          <p:nvSpPr>
            <p:cNvPr id="5" name="Graphic 4">
              <a:extLst>
                <a:ext uri="{FF2B5EF4-FFF2-40B4-BE49-F238E27FC236}">
                  <a16:creationId xmlns:a16="http://schemas.microsoft.com/office/drawing/2014/main" id="{23D98E91-D045-A194-9868-3390CCF52797}"/>
                </a:ext>
              </a:extLst>
            </p:cNvPr>
            <p:cNvSpPr/>
            <p:nvPr/>
          </p:nvSpPr>
          <p:spPr bwMode="gray">
            <a:xfrm>
              <a:off x="6290254" y="3436660"/>
              <a:ext cx="75401" cy="27950"/>
            </a:xfrm>
            <a:custGeom>
              <a:avLst/>
              <a:gdLst>
                <a:gd name="connsiteX0" fmla="*/ 37700 w 75401"/>
                <a:gd name="connsiteY0" fmla="*/ 0 h 27950"/>
                <a:gd name="connsiteX1" fmla="*/ 639 w 75401"/>
                <a:gd name="connsiteY1" fmla="*/ 14045 h 27950"/>
                <a:gd name="connsiteX2" fmla="*/ 0 w 75401"/>
                <a:gd name="connsiteY2" fmla="*/ 15321 h 27950"/>
                <a:gd name="connsiteX3" fmla="*/ 42173 w 75401"/>
                <a:gd name="connsiteY3" fmla="*/ 25536 h 27950"/>
                <a:gd name="connsiteX4" fmla="*/ 48563 w 75401"/>
                <a:gd name="connsiteY4" fmla="*/ 19152 h 27950"/>
                <a:gd name="connsiteX5" fmla="*/ 57509 w 75401"/>
                <a:gd name="connsiteY5" fmla="*/ 19152 h 27950"/>
                <a:gd name="connsiteX6" fmla="*/ 57509 w 75401"/>
                <a:gd name="connsiteY6" fmla="*/ 19152 h 27950"/>
                <a:gd name="connsiteX7" fmla="*/ 62621 w 75401"/>
                <a:gd name="connsiteY7" fmla="*/ 24259 h 27950"/>
                <a:gd name="connsiteX8" fmla="*/ 75401 w 75401"/>
                <a:gd name="connsiteY8" fmla="*/ 15321 h 27950"/>
                <a:gd name="connsiteX9" fmla="*/ 74762 w 75401"/>
                <a:gd name="connsiteY9" fmla="*/ 14045 h 27950"/>
                <a:gd name="connsiteX10" fmla="*/ 37700 w 75401"/>
                <a:gd name="connsiteY10" fmla="*/ 0 h 2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401" h="27950">
                  <a:moveTo>
                    <a:pt x="37700" y="0"/>
                  </a:moveTo>
                  <a:cubicBezTo>
                    <a:pt x="19809" y="0"/>
                    <a:pt x="7668" y="5107"/>
                    <a:pt x="639" y="14045"/>
                  </a:cubicBezTo>
                  <a:lnTo>
                    <a:pt x="0" y="15321"/>
                  </a:lnTo>
                  <a:cubicBezTo>
                    <a:pt x="12780" y="33197"/>
                    <a:pt x="36422" y="27451"/>
                    <a:pt x="42173" y="25536"/>
                  </a:cubicBezTo>
                  <a:lnTo>
                    <a:pt x="48563" y="19152"/>
                  </a:lnTo>
                  <a:cubicBezTo>
                    <a:pt x="51119" y="16598"/>
                    <a:pt x="54953" y="16598"/>
                    <a:pt x="57509" y="19152"/>
                  </a:cubicBezTo>
                  <a:cubicBezTo>
                    <a:pt x="57509" y="19152"/>
                    <a:pt x="57509" y="19152"/>
                    <a:pt x="57509" y="19152"/>
                  </a:cubicBezTo>
                  <a:lnTo>
                    <a:pt x="62621" y="24259"/>
                  </a:lnTo>
                  <a:cubicBezTo>
                    <a:pt x="67733" y="22982"/>
                    <a:pt x="72206" y="19790"/>
                    <a:pt x="75401" y="15321"/>
                  </a:cubicBezTo>
                  <a:cubicBezTo>
                    <a:pt x="75401" y="14683"/>
                    <a:pt x="74762" y="14683"/>
                    <a:pt x="74762" y="14045"/>
                  </a:cubicBezTo>
                  <a:cubicBezTo>
                    <a:pt x="67733" y="5107"/>
                    <a:pt x="54953" y="0"/>
                    <a:pt x="37700" y="0"/>
                  </a:cubicBez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sp>
          <p:nvSpPr>
            <p:cNvPr id="6" name="Graphic 4">
              <a:extLst>
                <a:ext uri="{FF2B5EF4-FFF2-40B4-BE49-F238E27FC236}">
                  <a16:creationId xmlns:a16="http://schemas.microsoft.com/office/drawing/2014/main" id="{C8C9BED5-35FF-BD1F-A6B9-997960A0F14C}"/>
                </a:ext>
              </a:extLst>
            </p:cNvPr>
            <p:cNvSpPr/>
            <p:nvPr/>
          </p:nvSpPr>
          <p:spPr bwMode="gray">
            <a:xfrm>
              <a:off x="6146480" y="33396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77323 w 362309"/>
                <a:gd name="connsiteY6" fmla="*/ 274511 h 361971"/>
                <a:gd name="connsiteX7" fmla="*/ 271572 w 362309"/>
                <a:gd name="connsiteY7" fmla="*/ 277703 h 361971"/>
                <a:gd name="connsiteX8" fmla="*/ 268377 w 362309"/>
                <a:gd name="connsiteY8" fmla="*/ 277065 h 361971"/>
                <a:gd name="connsiteX9" fmla="*/ 241540 w 362309"/>
                <a:gd name="connsiteY9" fmla="*/ 271319 h 361971"/>
                <a:gd name="connsiteX10" fmla="*/ 219175 w 362309"/>
                <a:gd name="connsiteY10" fmla="*/ 266850 h 361971"/>
                <a:gd name="connsiteX11" fmla="*/ 201922 w 362309"/>
                <a:gd name="connsiteY11" fmla="*/ 238122 h 361971"/>
                <a:gd name="connsiteX12" fmla="*/ 202561 w 362309"/>
                <a:gd name="connsiteY12" fmla="*/ 212587 h 361971"/>
                <a:gd name="connsiteX13" fmla="*/ 221092 w 362309"/>
                <a:gd name="connsiteY13" fmla="*/ 168537 h 361971"/>
                <a:gd name="connsiteX14" fmla="*/ 224287 w 362309"/>
                <a:gd name="connsiteY14" fmla="*/ 125765 h 361971"/>
                <a:gd name="connsiteX15" fmla="*/ 203200 w 362309"/>
                <a:gd name="connsiteY15" fmla="*/ 134702 h 361971"/>
                <a:gd name="connsiteX16" fmla="*/ 199366 w 362309"/>
                <a:gd name="connsiteY16" fmla="*/ 132787 h 361971"/>
                <a:gd name="connsiteX17" fmla="*/ 196171 w 362309"/>
                <a:gd name="connsiteY17" fmla="*/ 129595 h 361971"/>
                <a:gd name="connsiteX18" fmla="*/ 192976 w 362309"/>
                <a:gd name="connsiteY18" fmla="*/ 132787 h 361971"/>
                <a:gd name="connsiteX19" fmla="*/ 190420 w 362309"/>
                <a:gd name="connsiteY19" fmla="*/ 134064 h 361971"/>
                <a:gd name="connsiteX20" fmla="*/ 169972 w 362309"/>
                <a:gd name="connsiteY20" fmla="*/ 137256 h 361971"/>
                <a:gd name="connsiteX21" fmla="*/ 137384 w 362309"/>
                <a:gd name="connsiteY21" fmla="*/ 125126 h 361971"/>
                <a:gd name="connsiteX22" fmla="*/ 140579 w 362309"/>
                <a:gd name="connsiteY22" fmla="*/ 167899 h 361971"/>
                <a:gd name="connsiteX23" fmla="*/ 159109 w 362309"/>
                <a:gd name="connsiteY23" fmla="*/ 211948 h 361971"/>
                <a:gd name="connsiteX24" fmla="*/ 159748 w 362309"/>
                <a:gd name="connsiteY24" fmla="*/ 237484 h 361971"/>
                <a:gd name="connsiteX25" fmla="*/ 142496 w 362309"/>
                <a:gd name="connsiteY25" fmla="*/ 266212 h 361971"/>
                <a:gd name="connsiteX26" fmla="*/ 120131 w 362309"/>
                <a:gd name="connsiteY26" fmla="*/ 270681 h 361971"/>
                <a:gd name="connsiteX27" fmla="*/ 93293 w 362309"/>
                <a:gd name="connsiteY27" fmla="*/ 276426 h 361971"/>
                <a:gd name="connsiteX28" fmla="*/ 84347 w 362309"/>
                <a:gd name="connsiteY28" fmla="*/ 273873 h 361971"/>
                <a:gd name="connsiteX29" fmla="*/ 86903 w 362309"/>
                <a:gd name="connsiteY29" fmla="*/ 264935 h 361971"/>
                <a:gd name="connsiteX30" fmla="*/ 118853 w 362309"/>
                <a:gd name="connsiteY30" fmla="*/ 257274 h 361971"/>
                <a:gd name="connsiteX31" fmla="*/ 136106 w 362309"/>
                <a:gd name="connsiteY31" fmla="*/ 254082 h 361971"/>
                <a:gd name="connsiteX32" fmla="*/ 148246 w 362309"/>
                <a:gd name="connsiteY32" fmla="*/ 218332 h 361971"/>
                <a:gd name="connsiteX33" fmla="*/ 127799 w 362309"/>
                <a:gd name="connsiteY33" fmla="*/ 171091 h 361971"/>
                <a:gd name="connsiteX34" fmla="*/ 132911 w 362309"/>
                <a:gd name="connsiteY34" fmla="*/ 102782 h 361971"/>
                <a:gd name="connsiteX35" fmla="*/ 180196 w 362309"/>
                <a:gd name="connsiteY35" fmla="*/ 83630 h 361971"/>
                <a:gd name="connsiteX36" fmla="*/ 227482 w 362309"/>
                <a:gd name="connsiteY36" fmla="*/ 102782 h 361971"/>
                <a:gd name="connsiteX37" fmla="*/ 232593 w 362309"/>
                <a:gd name="connsiteY37" fmla="*/ 171091 h 361971"/>
                <a:gd name="connsiteX38" fmla="*/ 212146 w 362309"/>
                <a:gd name="connsiteY38" fmla="*/ 218332 h 361971"/>
                <a:gd name="connsiteX39" fmla="*/ 224287 w 362309"/>
                <a:gd name="connsiteY39" fmla="*/ 254082 h 361971"/>
                <a:gd name="connsiteX40" fmla="*/ 241540 w 362309"/>
                <a:gd name="connsiteY40" fmla="*/ 257274 h 361971"/>
                <a:gd name="connsiteX41" fmla="*/ 273489 w 362309"/>
                <a:gd name="connsiteY41" fmla="*/ 264935 h 361971"/>
                <a:gd name="connsiteX42" fmla="*/ 277323 w 362309"/>
                <a:gd name="connsiteY42" fmla="*/ 274511 h 361971"/>
                <a:gd name="connsiteX43" fmla="*/ 277323 w 362309"/>
                <a:gd name="connsiteY43" fmla="*/ 274511 h 361971"/>
                <a:gd name="connsiteX44" fmla="*/ 277323 w 362309"/>
                <a:gd name="connsiteY44" fmla="*/ 2745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1077"/>
                    <a:pt x="281157" y="0"/>
                    <a:pt x="181474" y="0"/>
                  </a:cubicBezTo>
                  <a:close/>
                  <a:moveTo>
                    <a:pt x="277323" y="274511"/>
                  </a:moveTo>
                  <a:cubicBezTo>
                    <a:pt x="276045" y="276426"/>
                    <a:pt x="274128" y="277703"/>
                    <a:pt x="271572" y="277703"/>
                  </a:cubicBezTo>
                  <a:cubicBezTo>
                    <a:pt x="270294" y="277703"/>
                    <a:pt x="269655" y="277703"/>
                    <a:pt x="268377" y="277065"/>
                  </a:cubicBezTo>
                  <a:cubicBezTo>
                    <a:pt x="260070" y="273234"/>
                    <a:pt x="250485" y="271319"/>
                    <a:pt x="241540" y="271319"/>
                  </a:cubicBezTo>
                  <a:cubicBezTo>
                    <a:pt x="233872" y="271319"/>
                    <a:pt x="226204" y="269404"/>
                    <a:pt x="219175" y="266850"/>
                  </a:cubicBezTo>
                  <a:cubicBezTo>
                    <a:pt x="208312" y="261105"/>
                    <a:pt x="203200" y="243868"/>
                    <a:pt x="201922" y="238122"/>
                  </a:cubicBezTo>
                  <a:cubicBezTo>
                    <a:pt x="200644" y="232377"/>
                    <a:pt x="198088" y="218971"/>
                    <a:pt x="202561" y="212587"/>
                  </a:cubicBezTo>
                  <a:cubicBezTo>
                    <a:pt x="210868" y="198542"/>
                    <a:pt x="216619" y="183859"/>
                    <a:pt x="221092" y="168537"/>
                  </a:cubicBezTo>
                  <a:cubicBezTo>
                    <a:pt x="225565" y="154492"/>
                    <a:pt x="226843" y="139809"/>
                    <a:pt x="224287" y="125765"/>
                  </a:cubicBezTo>
                  <a:cubicBezTo>
                    <a:pt x="218536" y="131510"/>
                    <a:pt x="210868" y="134702"/>
                    <a:pt x="203200" y="134702"/>
                  </a:cubicBezTo>
                  <a:cubicBezTo>
                    <a:pt x="201922" y="134702"/>
                    <a:pt x="200005" y="134064"/>
                    <a:pt x="199366" y="132787"/>
                  </a:cubicBezTo>
                  <a:lnTo>
                    <a:pt x="196171" y="129595"/>
                  </a:lnTo>
                  <a:lnTo>
                    <a:pt x="192976" y="132787"/>
                  </a:lnTo>
                  <a:cubicBezTo>
                    <a:pt x="192337" y="133425"/>
                    <a:pt x="191698" y="134064"/>
                    <a:pt x="190420" y="134064"/>
                  </a:cubicBezTo>
                  <a:cubicBezTo>
                    <a:pt x="184030" y="136617"/>
                    <a:pt x="177001" y="137894"/>
                    <a:pt x="169972" y="137256"/>
                  </a:cubicBezTo>
                  <a:cubicBezTo>
                    <a:pt x="157831" y="137894"/>
                    <a:pt x="146329" y="133425"/>
                    <a:pt x="137384" y="125126"/>
                  </a:cubicBezTo>
                  <a:cubicBezTo>
                    <a:pt x="134828" y="139171"/>
                    <a:pt x="136106" y="154492"/>
                    <a:pt x="140579" y="167899"/>
                  </a:cubicBezTo>
                  <a:cubicBezTo>
                    <a:pt x="145051" y="183220"/>
                    <a:pt x="151441" y="197903"/>
                    <a:pt x="159109" y="211948"/>
                  </a:cubicBezTo>
                  <a:cubicBezTo>
                    <a:pt x="163582" y="218971"/>
                    <a:pt x="161026" y="232377"/>
                    <a:pt x="159748" y="237484"/>
                  </a:cubicBezTo>
                  <a:cubicBezTo>
                    <a:pt x="158470" y="242591"/>
                    <a:pt x="153358" y="260466"/>
                    <a:pt x="142496" y="266212"/>
                  </a:cubicBezTo>
                  <a:cubicBezTo>
                    <a:pt x="135466" y="268766"/>
                    <a:pt x="127799" y="270681"/>
                    <a:pt x="120131" y="270681"/>
                  </a:cubicBezTo>
                  <a:cubicBezTo>
                    <a:pt x="110546" y="270681"/>
                    <a:pt x="101600" y="273234"/>
                    <a:pt x="93293" y="276426"/>
                  </a:cubicBezTo>
                  <a:cubicBezTo>
                    <a:pt x="90098" y="278341"/>
                    <a:pt x="86264" y="277065"/>
                    <a:pt x="84347" y="273873"/>
                  </a:cubicBezTo>
                  <a:cubicBezTo>
                    <a:pt x="82430" y="270681"/>
                    <a:pt x="83708" y="266850"/>
                    <a:pt x="86903" y="264935"/>
                  </a:cubicBezTo>
                  <a:cubicBezTo>
                    <a:pt x="97127" y="260466"/>
                    <a:pt x="107990" y="257913"/>
                    <a:pt x="118853" y="257274"/>
                  </a:cubicBezTo>
                  <a:cubicBezTo>
                    <a:pt x="124604" y="257274"/>
                    <a:pt x="130354" y="255998"/>
                    <a:pt x="136106" y="254082"/>
                  </a:cubicBezTo>
                  <a:cubicBezTo>
                    <a:pt x="145051" y="249614"/>
                    <a:pt x="150802" y="223439"/>
                    <a:pt x="148246" y="218332"/>
                  </a:cubicBezTo>
                  <a:cubicBezTo>
                    <a:pt x="139301" y="203649"/>
                    <a:pt x="132911" y="187689"/>
                    <a:pt x="127799" y="171091"/>
                  </a:cubicBezTo>
                  <a:cubicBezTo>
                    <a:pt x="122686" y="154492"/>
                    <a:pt x="116936" y="123211"/>
                    <a:pt x="132911" y="102782"/>
                  </a:cubicBezTo>
                  <a:cubicBezTo>
                    <a:pt x="142496" y="90014"/>
                    <a:pt x="158470" y="83630"/>
                    <a:pt x="180196" y="83630"/>
                  </a:cubicBezTo>
                  <a:cubicBezTo>
                    <a:pt x="201922" y="83630"/>
                    <a:pt x="217897" y="90014"/>
                    <a:pt x="227482" y="102782"/>
                  </a:cubicBezTo>
                  <a:cubicBezTo>
                    <a:pt x="243456" y="123849"/>
                    <a:pt x="237067" y="154492"/>
                    <a:pt x="232593" y="171091"/>
                  </a:cubicBezTo>
                  <a:cubicBezTo>
                    <a:pt x="228120" y="187689"/>
                    <a:pt x="221092" y="203649"/>
                    <a:pt x="212146" y="218332"/>
                  </a:cubicBezTo>
                  <a:cubicBezTo>
                    <a:pt x="209590" y="223439"/>
                    <a:pt x="215341" y="248975"/>
                    <a:pt x="224287" y="254082"/>
                  </a:cubicBezTo>
                  <a:cubicBezTo>
                    <a:pt x="230038" y="255998"/>
                    <a:pt x="235788" y="257274"/>
                    <a:pt x="241540" y="257274"/>
                  </a:cubicBezTo>
                  <a:cubicBezTo>
                    <a:pt x="252403" y="257913"/>
                    <a:pt x="263265" y="260466"/>
                    <a:pt x="273489" y="264935"/>
                  </a:cubicBezTo>
                  <a:cubicBezTo>
                    <a:pt x="277323" y="267489"/>
                    <a:pt x="278601" y="271319"/>
                    <a:pt x="277323" y="274511"/>
                  </a:cubicBezTo>
                  <a:cubicBezTo>
                    <a:pt x="277323" y="274511"/>
                    <a:pt x="277323" y="274511"/>
                    <a:pt x="277323" y="274511"/>
                  </a:cubicBezTo>
                  <a:lnTo>
                    <a:pt x="277323" y="274511"/>
                  </a:ln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grpSp>
      <p:sp>
        <p:nvSpPr>
          <p:cNvPr id="7" name="正方形/長方形 6">
            <a:extLst>
              <a:ext uri="{FF2B5EF4-FFF2-40B4-BE49-F238E27FC236}">
                <a16:creationId xmlns:a16="http://schemas.microsoft.com/office/drawing/2014/main" id="{B487B2C6-825E-D44A-58C1-F5987DB57E98}"/>
              </a:ext>
            </a:extLst>
          </p:cNvPr>
          <p:cNvSpPr/>
          <p:nvPr/>
        </p:nvSpPr>
        <p:spPr bwMode="gray">
          <a:xfrm>
            <a:off x="417017" y="1554990"/>
            <a:ext cx="4023247" cy="438596"/>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トラストフレームワーク社会実装・運用プロセス</a:t>
            </a:r>
          </a:p>
        </p:txBody>
      </p:sp>
      <p:sp>
        <p:nvSpPr>
          <p:cNvPr id="8" name="吹き出し: 四角形 7">
            <a:extLst>
              <a:ext uri="{FF2B5EF4-FFF2-40B4-BE49-F238E27FC236}">
                <a16:creationId xmlns:a16="http://schemas.microsoft.com/office/drawing/2014/main" id="{3418AAF1-C808-1165-49CE-12E4C092BE0A}"/>
              </a:ext>
            </a:extLst>
          </p:cNvPr>
          <p:cNvSpPr/>
          <p:nvPr/>
        </p:nvSpPr>
        <p:spPr>
          <a:xfrm>
            <a:off x="2220019" y="2130748"/>
            <a:ext cx="7412931" cy="3727611"/>
          </a:xfrm>
          <a:prstGeom prst="wedgeRectCallout">
            <a:avLst>
              <a:gd name="adj1" fmla="val -57095"/>
              <a:gd name="adj2" fmla="val -24876"/>
            </a:avLst>
          </a:prstGeom>
          <a:solidFill>
            <a:schemeClr val="accent5">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a:spcBef>
                <a:spcPts val="600"/>
              </a:spcBef>
            </a:pPr>
            <a:r>
              <a:rPr lang="en-US" altLang="ja-JP" sz="1400" dirty="0"/>
              <a:t>【</a:t>
            </a:r>
            <a:r>
              <a:rPr lang="ja-JP" altLang="en-US" sz="1400" dirty="0"/>
              <a:t>社会実装上の課題</a:t>
            </a:r>
            <a:r>
              <a:rPr lang="en-US" altLang="ja-JP" sz="1400" dirty="0"/>
              <a:t>】</a:t>
            </a:r>
          </a:p>
          <a:p>
            <a:pPr marL="285750" indent="-285750">
              <a:spcBef>
                <a:spcPts val="600"/>
              </a:spcBef>
              <a:buFont typeface="Arial" panose="020B0604020202020204" pitchFamily="34" charset="0"/>
              <a:buChar char="•"/>
            </a:pPr>
            <a:r>
              <a:rPr lang="en-US" altLang="ja-JP" sz="1400" dirty="0"/>
              <a:t>eIDAS1.0</a:t>
            </a:r>
            <a:r>
              <a:rPr lang="ja-JP" altLang="en-US" sz="1400" dirty="0"/>
              <a:t>の時に、「</a:t>
            </a:r>
            <a:r>
              <a:rPr lang="en-US" altLang="ja-JP" sz="1400" dirty="0" err="1"/>
              <a:t>eID</a:t>
            </a:r>
            <a:r>
              <a:rPr lang="ja-JP" altLang="en-US" sz="1400" dirty="0"/>
              <a:t>」、「</a:t>
            </a:r>
            <a:r>
              <a:rPr lang="en-US" altLang="ja-JP" sz="1400" dirty="0" err="1"/>
              <a:t>eIDAS</a:t>
            </a:r>
            <a:r>
              <a:rPr lang="ja-JP" altLang="en-US" sz="1400" dirty="0"/>
              <a:t>ノード」の実装を行っており、これらのサービスとインフラを</a:t>
            </a:r>
            <a:r>
              <a:rPr lang="en-US" altLang="ja-JP" sz="1400" dirty="0"/>
              <a:t>EUDIW</a:t>
            </a:r>
            <a:r>
              <a:rPr lang="ja-JP" altLang="en-US" sz="1400" dirty="0"/>
              <a:t>を</a:t>
            </a:r>
            <a:br>
              <a:rPr lang="en-US" altLang="ja-JP" sz="1400" dirty="0"/>
            </a:br>
            <a:r>
              <a:rPr lang="ja-JP" altLang="en-US" sz="1400" dirty="0"/>
              <a:t>どのように共存させるか、移行させるかが課題となっている</a:t>
            </a:r>
            <a:endParaRPr lang="en-US" altLang="ja-JP" sz="1400" dirty="0"/>
          </a:p>
          <a:p>
            <a:pPr lvl="1">
              <a:spcBef>
                <a:spcPts val="600"/>
              </a:spcBef>
            </a:pPr>
            <a:r>
              <a:rPr lang="en-US" altLang="ja-JP" sz="1400" dirty="0"/>
              <a:t>【</a:t>
            </a:r>
            <a:r>
              <a:rPr lang="en-US" altLang="ja-JP" sz="1400" dirty="0" err="1"/>
              <a:t>eID</a:t>
            </a:r>
            <a:r>
              <a:rPr lang="en-US" altLang="ja-JP" sz="1400" dirty="0"/>
              <a:t>】</a:t>
            </a:r>
          </a:p>
          <a:p>
            <a:pPr marL="742950" lvl="1" indent="-285750">
              <a:spcBef>
                <a:spcPts val="600"/>
              </a:spcBef>
              <a:buFont typeface="Wingdings" panose="05000000000000000000" pitchFamily="2" charset="2"/>
              <a:buChar char="Ø"/>
            </a:pPr>
            <a:r>
              <a:rPr lang="ja-JP" altLang="en-US" sz="1400" dirty="0"/>
              <a:t>加盟国によって発行されており、政府が発行する</a:t>
            </a:r>
            <a:r>
              <a:rPr lang="en-US" altLang="ja-JP" sz="1400" dirty="0"/>
              <a:t>ID</a:t>
            </a:r>
            <a:r>
              <a:rPr lang="ja-JP" altLang="en-US" sz="1400" dirty="0"/>
              <a:t>カードを使用して、政府の申請で自分自身を強力に認証することが可能であるが、国によって整備状況が異なる</a:t>
            </a:r>
            <a:r>
              <a:rPr lang="en-US" altLang="ja-JP" sz="1400" dirty="0"/>
              <a:t>(</a:t>
            </a:r>
            <a:r>
              <a:rPr lang="ja-JP" altLang="en-US" sz="1400" dirty="0"/>
              <a:t>多くの国ではデジタルウォレットとしての使用はまだ広く実装されていない状況となっている</a:t>
            </a:r>
            <a:r>
              <a:rPr lang="en-US" altLang="ja-JP" sz="1400" dirty="0"/>
              <a:t>)</a:t>
            </a:r>
          </a:p>
          <a:p>
            <a:pPr marL="742950" lvl="1" indent="-285750">
              <a:spcBef>
                <a:spcPts val="600"/>
              </a:spcBef>
              <a:buFont typeface="Wingdings" panose="05000000000000000000" pitchFamily="2" charset="2"/>
              <a:buChar char="Ø"/>
            </a:pPr>
            <a:r>
              <a:rPr lang="ja-JP" altLang="en-US" sz="1400" dirty="0"/>
              <a:t>各加盟国は</a:t>
            </a:r>
            <a:r>
              <a:rPr lang="en-US" altLang="ja-JP" sz="1400" dirty="0" err="1"/>
              <a:t>eID</a:t>
            </a:r>
            <a:r>
              <a:rPr lang="en-US" altLang="ja-JP" sz="1400" dirty="0"/>
              <a:t>(</a:t>
            </a:r>
            <a:r>
              <a:rPr lang="ja-JP" altLang="en-US" sz="1400" dirty="0"/>
              <a:t>をベースに構築したデジタルウォレット等</a:t>
            </a:r>
            <a:r>
              <a:rPr lang="en-US" altLang="ja-JP" sz="1400" dirty="0"/>
              <a:t>)</a:t>
            </a:r>
            <a:r>
              <a:rPr lang="ja-JP" altLang="en-US" sz="1400" dirty="0"/>
              <a:t>と</a:t>
            </a:r>
            <a:r>
              <a:rPr lang="en-US" altLang="ja-JP" sz="1400" dirty="0"/>
              <a:t>EUDIW</a:t>
            </a:r>
            <a:r>
              <a:rPr lang="ja-JP" altLang="en-US" sz="1400" dirty="0"/>
              <a:t>を共存するか、</a:t>
            </a:r>
            <a:r>
              <a:rPr lang="en-US" altLang="ja-JP" sz="1400" dirty="0"/>
              <a:t>EUDIW</a:t>
            </a:r>
            <a:r>
              <a:rPr lang="ja-JP" altLang="en-US" sz="1400" dirty="0"/>
              <a:t>のみを活用してサービス提供するかについて検討する必要がある</a:t>
            </a:r>
            <a:endParaRPr lang="en-US" altLang="ja-JP" sz="1400" dirty="0"/>
          </a:p>
          <a:p>
            <a:pPr lvl="1">
              <a:spcBef>
                <a:spcPts val="600"/>
              </a:spcBef>
            </a:pPr>
            <a:r>
              <a:rPr lang="en-US" altLang="ja-JP" sz="1400" dirty="0"/>
              <a:t>【</a:t>
            </a:r>
            <a:r>
              <a:rPr lang="en-US" altLang="ja-JP" sz="1400" dirty="0" err="1"/>
              <a:t>eIDAS</a:t>
            </a:r>
            <a:r>
              <a:rPr lang="ja-JP" altLang="en-US" sz="1400" dirty="0"/>
              <a:t>ノード</a:t>
            </a:r>
            <a:r>
              <a:rPr lang="en-US" altLang="ja-JP" sz="1400" dirty="0"/>
              <a:t>】</a:t>
            </a:r>
          </a:p>
          <a:p>
            <a:pPr marL="742950" lvl="1" indent="-285750">
              <a:spcBef>
                <a:spcPts val="600"/>
              </a:spcBef>
              <a:buFont typeface="Wingdings" panose="05000000000000000000" pitchFamily="2" charset="2"/>
              <a:buChar char="Ø"/>
            </a:pPr>
            <a:r>
              <a:rPr lang="ja-JP" altLang="en-US" sz="1400" dirty="0"/>
              <a:t>多国間で</a:t>
            </a:r>
            <a:r>
              <a:rPr lang="en-US" altLang="ja-JP" sz="1400" dirty="0" err="1"/>
              <a:t>eID</a:t>
            </a:r>
            <a:r>
              <a:rPr lang="ja-JP" altLang="en-US" sz="1400" dirty="0"/>
              <a:t>等の情報をやり取りをするためのゲートウェイで</a:t>
            </a:r>
            <a:r>
              <a:rPr lang="en-US" altLang="ja-JP" sz="1400" dirty="0"/>
              <a:t>eIDAS1.0</a:t>
            </a:r>
            <a:r>
              <a:rPr lang="ja-JP" altLang="en-US" sz="1400" dirty="0"/>
              <a:t>の時に運用が開始されたものとなっている</a:t>
            </a:r>
            <a:endParaRPr lang="en-US" altLang="ja-JP" sz="1400" dirty="0"/>
          </a:p>
          <a:p>
            <a:pPr marL="742950" lvl="1" indent="-285750">
              <a:spcBef>
                <a:spcPts val="600"/>
              </a:spcBef>
              <a:buFont typeface="Wingdings" panose="05000000000000000000" pitchFamily="2" charset="2"/>
              <a:buChar char="Ø"/>
            </a:pPr>
            <a:r>
              <a:rPr lang="ja-JP" altLang="en-US" sz="1400" dirty="0"/>
              <a:t>現在考えられている</a:t>
            </a:r>
            <a:r>
              <a:rPr lang="en-US" altLang="ja-JP" sz="1400" dirty="0"/>
              <a:t>EUDIW</a:t>
            </a:r>
            <a:r>
              <a:rPr lang="ja-JP" altLang="en-US" sz="1400" dirty="0"/>
              <a:t>では、</a:t>
            </a:r>
            <a:r>
              <a:rPr lang="en-US" altLang="ja-JP" sz="1400" dirty="0" err="1"/>
              <a:t>eIDAS</a:t>
            </a:r>
            <a:r>
              <a:rPr lang="ja-JP" altLang="en-US" sz="1400" dirty="0"/>
              <a:t>ノードを活用することは念頭に置いていないが、</a:t>
            </a:r>
            <a:r>
              <a:rPr lang="en-US" altLang="ja-JP" sz="1400" dirty="0"/>
              <a:t>eIDAS1.0</a:t>
            </a:r>
            <a:r>
              <a:rPr lang="ja-JP" altLang="en-US" sz="1400" dirty="0"/>
              <a:t>ベースのクロスボーダー</a:t>
            </a:r>
            <a:r>
              <a:rPr lang="en-US" altLang="ja-JP" sz="1400" dirty="0" err="1"/>
              <a:t>eID</a:t>
            </a:r>
            <a:r>
              <a:rPr lang="ja-JP" altLang="en-US" sz="1400" dirty="0"/>
              <a:t>運用は残っているため、しばらくは共存する可能性が高い</a:t>
            </a:r>
          </a:p>
        </p:txBody>
      </p:sp>
      <p:sp>
        <p:nvSpPr>
          <p:cNvPr id="43" name="コンテンツ プレースホルダー 2">
            <a:extLst>
              <a:ext uri="{FF2B5EF4-FFF2-40B4-BE49-F238E27FC236}">
                <a16:creationId xmlns:a16="http://schemas.microsoft.com/office/drawing/2014/main" id="{194AEE57-01FB-89EF-5030-0EF3B4627B44}"/>
              </a:ext>
            </a:extLst>
          </p:cNvPr>
          <p:cNvSpPr txBox="1">
            <a:spLocks/>
          </p:cNvSpPr>
          <p:nvPr/>
        </p:nvSpPr>
        <p:spPr>
          <a:xfrm>
            <a:off x="273049" y="908050"/>
            <a:ext cx="9498631" cy="585940"/>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eIDAS1.0</a:t>
            </a:r>
            <a:r>
              <a:rPr lang="ja-JP" altLang="en-US" dirty="0"/>
              <a:t>策定時に実装したサービス・社会インフラとの共存が今後の課題となっている</a:t>
            </a:r>
            <a:endParaRPr lang="en-US" altLang="ja-JP" dirty="0"/>
          </a:p>
        </p:txBody>
      </p:sp>
    </p:spTree>
    <p:extLst>
      <p:ext uri="{BB962C8B-B14F-4D97-AF65-F5344CB8AC3E}">
        <p14:creationId xmlns:p14="http://schemas.microsoft.com/office/powerpoint/2010/main" val="4204516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0BEA9D-09D5-8FF2-A8E4-681089A77ECF}"/>
              </a:ext>
            </a:extLst>
          </p:cNvPr>
          <p:cNvSpPr>
            <a:spLocks noGrp="1"/>
          </p:cNvSpPr>
          <p:nvPr>
            <p:ph type="title"/>
          </p:nvPr>
        </p:nvSpPr>
        <p:spPr>
          <a:xfrm>
            <a:off x="273050" y="384919"/>
            <a:ext cx="7848302" cy="307777"/>
          </a:xfrm>
        </p:spPr>
        <p:txBody>
          <a:bodyPr/>
          <a:lstStyle/>
          <a:p>
            <a:r>
              <a:rPr kumimoji="1" lang="en-US" altLang="ja-JP" dirty="0"/>
              <a:t>3.2. </a:t>
            </a:r>
            <a:r>
              <a:rPr kumimoji="1" lang="ja-JP" altLang="en-US" dirty="0"/>
              <a:t>ドイツ：</a:t>
            </a:r>
            <a:r>
              <a:rPr kumimoji="1" lang="en-US" altLang="ja-JP" dirty="0" err="1"/>
              <a:t>IDunion</a:t>
            </a:r>
            <a:r>
              <a:rPr kumimoji="1" lang="en-US" altLang="ja-JP" dirty="0"/>
              <a:t> Network – 3.2.1. </a:t>
            </a:r>
            <a:r>
              <a:rPr kumimoji="1" lang="ja-JP" altLang="en-US" dirty="0"/>
              <a:t>ガバナンス構造</a:t>
            </a:r>
          </a:p>
        </p:txBody>
      </p:sp>
      <p:sp>
        <p:nvSpPr>
          <p:cNvPr id="3" name="テキスト プレースホルダー 2">
            <a:extLst>
              <a:ext uri="{FF2B5EF4-FFF2-40B4-BE49-F238E27FC236}">
                <a16:creationId xmlns:a16="http://schemas.microsoft.com/office/drawing/2014/main" id="{97D47DD8-4DD5-EA50-1E92-E4F0319C6173}"/>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7" name="正方形/長方形 6">
            <a:extLst>
              <a:ext uri="{FF2B5EF4-FFF2-40B4-BE49-F238E27FC236}">
                <a16:creationId xmlns:a16="http://schemas.microsoft.com/office/drawing/2014/main" id="{28D58DB7-A073-BED0-CEA9-CB8D3F18FB0E}"/>
              </a:ext>
            </a:extLst>
          </p:cNvPr>
          <p:cNvSpPr/>
          <p:nvPr/>
        </p:nvSpPr>
        <p:spPr>
          <a:xfrm>
            <a:off x="4843984" y="1977308"/>
            <a:ext cx="1291964" cy="3431454"/>
          </a:xfrm>
          <a:prstGeom prst="rect">
            <a:avLst/>
          </a:prstGeom>
          <a:solidFill>
            <a:schemeClr val="accent3">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8" name="正方形/長方形 7">
            <a:extLst>
              <a:ext uri="{FF2B5EF4-FFF2-40B4-BE49-F238E27FC236}">
                <a16:creationId xmlns:a16="http://schemas.microsoft.com/office/drawing/2014/main" id="{D3546C3D-4113-20F1-1082-9DB99AE36B22}"/>
              </a:ext>
            </a:extLst>
          </p:cNvPr>
          <p:cNvSpPr/>
          <p:nvPr/>
        </p:nvSpPr>
        <p:spPr>
          <a:xfrm>
            <a:off x="6177062" y="1977308"/>
            <a:ext cx="1291964" cy="3431454"/>
          </a:xfrm>
          <a:prstGeom prst="rect">
            <a:avLst/>
          </a:prstGeom>
          <a:solidFill>
            <a:srgbClr val="FF0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 name="正方形/長方形 8">
            <a:extLst>
              <a:ext uri="{FF2B5EF4-FFF2-40B4-BE49-F238E27FC236}">
                <a16:creationId xmlns:a16="http://schemas.microsoft.com/office/drawing/2014/main" id="{4374CC05-B689-2A16-1C32-EB5C8EC17DE9}"/>
              </a:ext>
            </a:extLst>
          </p:cNvPr>
          <p:cNvSpPr/>
          <p:nvPr/>
        </p:nvSpPr>
        <p:spPr>
          <a:xfrm>
            <a:off x="3481743" y="1977308"/>
            <a:ext cx="1310185" cy="3431454"/>
          </a:xfrm>
          <a:prstGeom prst="rect">
            <a:avLst/>
          </a:prstGeom>
          <a:solidFill>
            <a:srgbClr val="FFC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0" name="正方形/長方形 9">
            <a:extLst>
              <a:ext uri="{FF2B5EF4-FFF2-40B4-BE49-F238E27FC236}">
                <a16:creationId xmlns:a16="http://schemas.microsoft.com/office/drawing/2014/main" id="{E9B8551C-EFAE-5D80-796B-4086AD1C6028}"/>
              </a:ext>
            </a:extLst>
          </p:cNvPr>
          <p:cNvSpPr/>
          <p:nvPr/>
        </p:nvSpPr>
        <p:spPr>
          <a:xfrm>
            <a:off x="3797855" y="6080919"/>
            <a:ext cx="3515682" cy="225248"/>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エンドユーザ等</a:t>
            </a:r>
          </a:p>
        </p:txBody>
      </p:sp>
      <p:sp>
        <p:nvSpPr>
          <p:cNvPr id="13" name="四角形: 角を丸くする 12">
            <a:extLst>
              <a:ext uri="{FF2B5EF4-FFF2-40B4-BE49-F238E27FC236}">
                <a16:creationId xmlns:a16="http://schemas.microsoft.com/office/drawing/2014/main" id="{5DE9B785-88F8-8292-DE18-C604EB7AE872}"/>
              </a:ext>
            </a:extLst>
          </p:cNvPr>
          <p:cNvSpPr/>
          <p:nvPr/>
        </p:nvSpPr>
        <p:spPr>
          <a:xfrm>
            <a:off x="4913268" y="4011068"/>
            <a:ext cx="2491233" cy="851158"/>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err="1"/>
              <a:t>IDunion</a:t>
            </a:r>
            <a:r>
              <a:rPr lang="en-US" altLang="ja-JP" sz="1200" dirty="0"/>
              <a:t> Network</a:t>
            </a:r>
          </a:p>
        </p:txBody>
      </p:sp>
      <p:cxnSp>
        <p:nvCxnSpPr>
          <p:cNvPr id="14" name="直線矢印コネクタ 13">
            <a:extLst>
              <a:ext uri="{FF2B5EF4-FFF2-40B4-BE49-F238E27FC236}">
                <a16:creationId xmlns:a16="http://schemas.microsoft.com/office/drawing/2014/main" id="{8E4D1158-7B14-0148-9151-D6786F406B5A}"/>
              </a:ext>
            </a:extLst>
          </p:cNvPr>
          <p:cNvCxnSpPr>
            <a:cxnSpLocks/>
            <a:stCxn id="21" idx="2"/>
            <a:endCxn id="10" idx="0"/>
          </p:cNvCxnSpPr>
          <p:nvPr/>
        </p:nvCxnSpPr>
        <p:spPr>
          <a:xfrm>
            <a:off x="5555696" y="5822208"/>
            <a:ext cx="0" cy="25871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B6B5C7F9-DFB6-A78D-B33C-8D0299F7F2F6}"/>
              </a:ext>
            </a:extLst>
          </p:cNvPr>
          <p:cNvSpPr/>
          <p:nvPr/>
        </p:nvSpPr>
        <p:spPr>
          <a:xfrm>
            <a:off x="3797855" y="5580471"/>
            <a:ext cx="3515682" cy="241737"/>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サービス事業者</a:t>
            </a:r>
            <a:endParaRPr lang="en-US" altLang="ja-JP" sz="1200" dirty="0">
              <a:solidFill>
                <a:schemeClr val="bg1"/>
              </a:solidFill>
            </a:endParaRPr>
          </a:p>
        </p:txBody>
      </p:sp>
      <p:grpSp>
        <p:nvGrpSpPr>
          <p:cNvPr id="35" name="グループ化 34">
            <a:extLst>
              <a:ext uri="{FF2B5EF4-FFF2-40B4-BE49-F238E27FC236}">
                <a16:creationId xmlns:a16="http://schemas.microsoft.com/office/drawing/2014/main" id="{E11F4410-EEAE-5733-2829-28357440D7D8}"/>
              </a:ext>
            </a:extLst>
          </p:cNvPr>
          <p:cNvGrpSpPr/>
          <p:nvPr/>
        </p:nvGrpSpPr>
        <p:grpSpPr>
          <a:xfrm>
            <a:off x="3499965" y="1772201"/>
            <a:ext cx="3950840" cy="184666"/>
            <a:chOff x="2955712" y="818485"/>
            <a:chExt cx="4387516" cy="184666"/>
          </a:xfrm>
        </p:grpSpPr>
        <p:cxnSp>
          <p:nvCxnSpPr>
            <p:cNvPr id="36" name="直線コネクタ 35">
              <a:extLst>
                <a:ext uri="{FF2B5EF4-FFF2-40B4-BE49-F238E27FC236}">
                  <a16:creationId xmlns:a16="http://schemas.microsoft.com/office/drawing/2014/main" id="{BBAA5870-584D-4E53-B92E-BEC42E949E58}"/>
                </a:ext>
              </a:extLst>
            </p:cNvPr>
            <p:cNvCxnSpPr/>
            <p:nvPr/>
          </p:nvCxnSpPr>
          <p:spPr>
            <a:xfrm>
              <a:off x="2955712" y="908050"/>
              <a:ext cx="438751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A5D1ED6B-D3E8-24B1-CE80-7A9F26B290AE}"/>
                </a:ext>
              </a:extLst>
            </p:cNvPr>
            <p:cNvSpPr txBox="1"/>
            <p:nvPr/>
          </p:nvSpPr>
          <p:spPr>
            <a:xfrm>
              <a:off x="4734346" y="818485"/>
              <a:ext cx="830246" cy="184666"/>
            </a:xfrm>
            <a:prstGeom prst="rect">
              <a:avLst/>
            </a:prstGeom>
            <a:solidFill>
              <a:schemeClr val="bg1"/>
            </a:solidFill>
          </p:spPr>
          <p:txBody>
            <a:bodyPr wrap="square" lIns="0" tIns="0" rIns="0" bIns="0" rtlCol="0">
              <a:spAutoFit/>
            </a:bodyPr>
            <a:lstStyle/>
            <a:p>
              <a:pPr algn="ctr"/>
              <a:r>
                <a:rPr kumimoji="1" lang="ja-JP" altLang="en-US" sz="1200" dirty="0">
                  <a:latin typeface="+mn-ea"/>
                  <a:ea typeface="+mn-ea"/>
                </a:rPr>
                <a:t>領域</a:t>
              </a:r>
            </a:p>
          </p:txBody>
        </p:sp>
      </p:grpSp>
      <p:cxnSp>
        <p:nvCxnSpPr>
          <p:cNvPr id="40" name="直線矢印コネクタ 39">
            <a:extLst>
              <a:ext uri="{FF2B5EF4-FFF2-40B4-BE49-F238E27FC236}">
                <a16:creationId xmlns:a16="http://schemas.microsoft.com/office/drawing/2014/main" id="{D46801A1-4032-F065-A24D-0170AB3D9598}"/>
              </a:ext>
            </a:extLst>
          </p:cNvPr>
          <p:cNvCxnSpPr>
            <a:cxnSpLocks/>
          </p:cNvCxnSpPr>
          <p:nvPr/>
        </p:nvCxnSpPr>
        <p:spPr>
          <a:xfrm>
            <a:off x="5452271" y="3280877"/>
            <a:ext cx="0" cy="747519"/>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B51015C3-E90D-A589-C9CA-C4777086B893}"/>
              </a:ext>
            </a:extLst>
          </p:cNvPr>
          <p:cNvSpPr/>
          <p:nvPr/>
        </p:nvSpPr>
        <p:spPr>
          <a:xfrm>
            <a:off x="3767849" y="2644630"/>
            <a:ext cx="3368843" cy="728580"/>
          </a:xfrm>
          <a:prstGeom prst="rect">
            <a:avLst/>
          </a:prstGeom>
          <a:solidFill>
            <a:schemeClr val="bg1">
              <a:lumMod val="95000"/>
            </a:schemeClr>
          </a:solidFill>
          <a:ln w="12700">
            <a:solidFill>
              <a:schemeClr val="tx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400" dirty="0"/>
              <a:t>GDPR / </a:t>
            </a:r>
            <a:r>
              <a:rPr kumimoji="1" lang="en-US" altLang="ja-JP" sz="1400" dirty="0" err="1"/>
              <a:t>eIDA</a:t>
            </a:r>
            <a:r>
              <a:rPr lang="en-US" altLang="ja-JP" sz="1400" dirty="0" err="1"/>
              <a:t>S</a:t>
            </a:r>
            <a:endParaRPr lang="en-US" altLang="ja-JP" sz="1400" dirty="0"/>
          </a:p>
          <a:p>
            <a:pPr algn="ctr"/>
            <a:r>
              <a:rPr kumimoji="1" lang="en-US" altLang="ja-JP" sz="1400" dirty="0"/>
              <a:t>(EUDIW ARF</a:t>
            </a:r>
            <a:r>
              <a:rPr kumimoji="1" lang="ja-JP" altLang="en-US" sz="1400" dirty="0"/>
              <a:t>等含む</a:t>
            </a:r>
            <a:r>
              <a:rPr kumimoji="1" lang="en-US" altLang="ja-JP" sz="1400" dirty="0"/>
              <a:t>)</a:t>
            </a:r>
            <a:endParaRPr kumimoji="1" lang="ja-JP" altLang="en-US" sz="1400" dirty="0"/>
          </a:p>
        </p:txBody>
      </p:sp>
      <p:sp>
        <p:nvSpPr>
          <p:cNvPr id="45" name="正方形/長方形 44">
            <a:extLst>
              <a:ext uri="{FF2B5EF4-FFF2-40B4-BE49-F238E27FC236}">
                <a16:creationId xmlns:a16="http://schemas.microsoft.com/office/drawing/2014/main" id="{C1C6A6EE-2A2A-5305-8E00-616B3D9D30F7}"/>
              </a:ext>
            </a:extLst>
          </p:cNvPr>
          <p:cNvSpPr/>
          <p:nvPr/>
        </p:nvSpPr>
        <p:spPr>
          <a:xfrm>
            <a:off x="7967622" y="2658111"/>
            <a:ext cx="1664704" cy="467860"/>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連邦経済エネルギー省</a:t>
            </a:r>
            <a:endParaRPr lang="en-US" altLang="ja-JP" sz="1200" dirty="0">
              <a:solidFill>
                <a:schemeClr val="bg1"/>
              </a:solidFill>
            </a:endParaRPr>
          </a:p>
          <a:p>
            <a:pPr algn="ctr"/>
            <a:r>
              <a:rPr lang="en-US" altLang="ja-JP" sz="1200" dirty="0">
                <a:solidFill>
                  <a:schemeClr val="bg1"/>
                </a:solidFill>
              </a:rPr>
              <a:t>(BMWK)</a:t>
            </a:r>
          </a:p>
        </p:txBody>
      </p:sp>
      <p:cxnSp>
        <p:nvCxnSpPr>
          <p:cNvPr id="46" name="直線矢印コネクタ 45">
            <a:extLst>
              <a:ext uri="{FF2B5EF4-FFF2-40B4-BE49-F238E27FC236}">
                <a16:creationId xmlns:a16="http://schemas.microsoft.com/office/drawing/2014/main" id="{F74E73F5-A737-4820-A56D-770226D8E6CC}"/>
              </a:ext>
            </a:extLst>
          </p:cNvPr>
          <p:cNvCxnSpPr>
            <a:cxnSpLocks/>
            <a:stCxn id="45" idx="2"/>
            <a:endCxn id="49" idx="0"/>
          </p:cNvCxnSpPr>
          <p:nvPr/>
        </p:nvCxnSpPr>
        <p:spPr>
          <a:xfrm>
            <a:off x="8799974" y="3125971"/>
            <a:ext cx="1" cy="54434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2E7E75E5-218B-2151-05DE-76FF95ADBEBA}"/>
              </a:ext>
            </a:extLst>
          </p:cNvPr>
          <p:cNvSpPr/>
          <p:nvPr/>
        </p:nvSpPr>
        <p:spPr>
          <a:xfrm>
            <a:off x="7967623" y="3670311"/>
            <a:ext cx="1664703" cy="358085"/>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err="1">
                <a:solidFill>
                  <a:schemeClr val="bg1"/>
                </a:solidFill>
              </a:rPr>
              <a:t>IDunion</a:t>
            </a:r>
            <a:endParaRPr lang="en-US" altLang="ja-JP" sz="1200" dirty="0">
              <a:solidFill>
                <a:schemeClr val="bg1"/>
              </a:solidFill>
            </a:endParaRPr>
          </a:p>
        </p:txBody>
      </p:sp>
      <p:sp>
        <p:nvSpPr>
          <p:cNvPr id="23" name="正方形/長方形 22">
            <a:extLst>
              <a:ext uri="{FF2B5EF4-FFF2-40B4-BE49-F238E27FC236}">
                <a16:creationId xmlns:a16="http://schemas.microsoft.com/office/drawing/2014/main" id="{CF6B4A36-C832-5E2A-335C-B745B78E4577}"/>
              </a:ext>
            </a:extLst>
          </p:cNvPr>
          <p:cNvSpPr/>
          <p:nvPr/>
        </p:nvSpPr>
        <p:spPr>
          <a:xfrm>
            <a:off x="7967623" y="4593016"/>
            <a:ext cx="1664703" cy="358085"/>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err="1">
                <a:solidFill>
                  <a:schemeClr val="bg1"/>
                </a:solidFill>
              </a:rPr>
              <a:t>IDunion</a:t>
            </a:r>
            <a:r>
              <a:rPr lang="en-US" altLang="ja-JP" sz="1200" dirty="0">
                <a:solidFill>
                  <a:schemeClr val="bg1"/>
                </a:solidFill>
              </a:rPr>
              <a:t> SCE</a:t>
            </a:r>
          </a:p>
        </p:txBody>
      </p:sp>
      <p:cxnSp>
        <p:nvCxnSpPr>
          <p:cNvPr id="24" name="直線矢印コネクタ 23">
            <a:extLst>
              <a:ext uri="{FF2B5EF4-FFF2-40B4-BE49-F238E27FC236}">
                <a16:creationId xmlns:a16="http://schemas.microsoft.com/office/drawing/2014/main" id="{DCB878EE-E76D-7ADD-CFBA-78DEED16AB5F}"/>
              </a:ext>
            </a:extLst>
          </p:cNvPr>
          <p:cNvCxnSpPr>
            <a:cxnSpLocks/>
            <a:stCxn id="49" idx="2"/>
            <a:endCxn id="23" idx="0"/>
          </p:cNvCxnSpPr>
          <p:nvPr/>
        </p:nvCxnSpPr>
        <p:spPr>
          <a:xfrm>
            <a:off x="8799975" y="4028396"/>
            <a:ext cx="0" cy="56462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E4C4BB13-DF81-0333-6BE1-5634C5435823}"/>
              </a:ext>
            </a:extLst>
          </p:cNvPr>
          <p:cNvCxnSpPr>
            <a:cxnSpLocks/>
            <a:stCxn id="23" idx="1"/>
            <a:endCxn id="13" idx="3"/>
          </p:cNvCxnSpPr>
          <p:nvPr/>
        </p:nvCxnSpPr>
        <p:spPr>
          <a:xfrm rot="10800000">
            <a:off x="7404501" y="4436647"/>
            <a:ext cx="563122" cy="335412"/>
          </a:xfrm>
          <a:prstGeom prst="bentConnector3">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7B77F830-55D2-BFE3-D5B8-DD1A5B0FB015}"/>
              </a:ext>
            </a:extLst>
          </p:cNvPr>
          <p:cNvCxnSpPr>
            <a:cxnSpLocks/>
            <a:stCxn id="13" idx="2"/>
          </p:cNvCxnSpPr>
          <p:nvPr/>
        </p:nvCxnSpPr>
        <p:spPr>
          <a:xfrm>
            <a:off x="6158885" y="4862226"/>
            <a:ext cx="0" cy="718245"/>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コンテンツ プレースホルダー 2">
            <a:extLst>
              <a:ext uri="{FF2B5EF4-FFF2-40B4-BE49-F238E27FC236}">
                <a16:creationId xmlns:a16="http://schemas.microsoft.com/office/drawing/2014/main" id="{112DACA9-73A8-32A0-4565-221C4BDD602E}"/>
              </a:ext>
            </a:extLst>
          </p:cNvPr>
          <p:cNvSpPr txBox="1">
            <a:spLocks/>
          </p:cNvSpPr>
          <p:nvPr/>
        </p:nvSpPr>
        <p:spPr>
          <a:xfrm>
            <a:off x="273050" y="908049"/>
            <a:ext cx="9359900" cy="764541"/>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en-US" altLang="ja-JP" dirty="0"/>
          </a:p>
        </p:txBody>
      </p:sp>
      <p:sp>
        <p:nvSpPr>
          <p:cNvPr id="38" name="正方形/長方形 37">
            <a:extLst>
              <a:ext uri="{FF2B5EF4-FFF2-40B4-BE49-F238E27FC236}">
                <a16:creationId xmlns:a16="http://schemas.microsoft.com/office/drawing/2014/main" id="{B0264F3E-1B84-71F5-1C45-B72AB64AC620}"/>
              </a:ext>
            </a:extLst>
          </p:cNvPr>
          <p:cNvSpPr/>
          <p:nvPr/>
        </p:nvSpPr>
        <p:spPr>
          <a:xfrm>
            <a:off x="273049" y="3485777"/>
            <a:ext cx="3078065" cy="1148070"/>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180000" rtlCol="0" anchor="t" anchorCtr="0"/>
          <a:lstStyle/>
          <a:p>
            <a:pPr marL="171450" indent="-171450">
              <a:buFont typeface="Arial" panose="020B0604020202020204" pitchFamily="34" charset="0"/>
              <a:buChar char="•"/>
            </a:pPr>
            <a:r>
              <a:rPr lang="ja-JP" altLang="en-US" sz="1200" dirty="0">
                <a:latin typeface="+mn-ea"/>
              </a:rPr>
              <a:t>上記規制と互換性のある法人アイデンティティネットワークの技術標準を策定</a:t>
            </a:r>
            <a:endParaRPr lang="en-US" altLang="ja-JP" sz="1200" dirty="0">
              <a:latin typeface="+mn-ea"/>
            </a:endParaRPr>
          </a:p>
          <a:p>
            <a:pPr marL="171450" indent="-171450">
              <a:buFont typeface="Arial" panose="020B0604020202020204" pitchFamily="34" charset="0"/>
              <a:buChar char="•"/>
            </a:pPr>
            <a:r>
              <a:rPr lang="en-US" altLang="ja-JP" sz="1200" dirty="0">
                <a:latin typeface="+mn-ea"/>
              </a:rPr>
              <a:t>Hyperledger Aries / Indy</a:t>
            </a:r>
            <a:r>
              <a:rPr lang="ja-JP" altLang="en-US" sz="1200" dirty="0">
                <a:latin typeface="+mn-ea"/>
              </a:rPr>
              <a:t>等のオープンソースを活用</a:t>
            </a:r>
          </a:p>
        </p:txBody>
      </p:sp>
      <p:sp>
        <p:nvSpPr>
          <p:cNvPr id="39" name="正方形/長方形 38">
            <a:extLst>
              <a:ext uri="{FF2B5EF4-FFF2-40B4-BE49-F238E27FC236}">
                <a16:creationId xmlns:a16="http://schemas.microsoft.com/office/drawing/2014/main" id="{36201354-5A25-112C-8B94-CEF885839266}"/>
              </a:ext>
            </a:extLst>
          </p:cNvPr>
          <p:cNvSpPr/>
          <p:nvPr/>
        </p:nvSpPr>
        <p:spPr>
          <a:xfrm>
            <a:off x="273049" y="5233111"/>
            <a:ext cx="3078065" cy="1148069"/>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180000" rtlCol="0" anchor="t" anchorCtr="0"/>
          <a:lstStyle/>
          <a:p>
            <a:pPr marL="171450" indent="-171450">
              <a:buFont typeface="Arial" panose="020B0604020202020204" pitchFamily="34" charset="0"/>
              <a:buChar char="•"/>
            </a:pPr>
            <a:r>
              <a:rPr lang="ja-JP" altLang="en-US" sz="1200" dirty="0">
                <a:latin typeface="+mn-ea"/>
              </a:rPr>
              <a:t>認定基準・認定プロセスは調査で確認できなかった</a:t>
            </a:r>
            <a:endParaRPr lang="en-US" altLang="ja-JP" sz="1200" dirty="0">
              <a:latin typeface="+mn-ea"/>
            </a:endParaRPr>
          </a:p>
          <a:p>
            <a:pPr marL="171450" indent="-171450">
              <a:buFont typeface="Arial" panose="020B0604020202020204" pitchFamily="34" charset="0"/>
              <a:buChar char="•"/>
            </a:pPr>
            <a:r>
              <a:rPr lang="ja-JP" altLang="en-US" sz="1200" dirty="0">
                <a:latin typeface="+mn-ea"/>
              </a:rPr>
              <a:t>既に４つのソリューションが</a:t>
            </a:r>
            <a:r>
              <a:rPr lang="en-US" altLang="ja-JP" sz="1200" dirty="0" err="1">
                <a:latin typeface="+mn-ea"/>
              </a:rPr>
              <a:t>IDunion</a:t>
            </a:r>
            <a:r>
              <a:rPr lang="ja-JP" altLang="en-US" sz="1200" dirty="0">
                <a:latin typeface="+mn-ea"/>
              </a:rPr>
              <a:t>ネットワークとの互換性があると認定されている</a:t>
            </a:r>
            <a:br>
              <a:rPr lang="en-US" altLang="ja-JP" sz="1200" dirty="0">
                <a:latin typeface="+mn-ea"/>
              </a:rPr>
            </a:br>
            <a:r>
              <a:rPr lang="en-US" altLang="ja-JP" sz="1200" dirty="0">
                <a:latin typeface="+mn-ea"/>
              </a:rPr>
              <a:t>(Lissi</a:t>
            </a:r>
            <a:r>
              <a:rPr lang="ja-JP" altLang="en-US" sz="1200" dirty="0">
                <a:latin typeface="+mn-ea"/>
              </a:rPr>
              <a:t>、</a:t>
            </a:r>
            <a:r>
              <a:rPr lang="en-US" altLang="ja-JP" sz="1200" dirty="0" err="1">
                <a:latin typeface="+mn-ea"/>
              </a:rPr>
              <a:t>esatus</a:t>
            </a:r>
            <a:r>
              <a:rPr lang="en-US" altLang="ja-JP" sz="1200" dirty="0">
                <a:latin typeface="+mn-ea"/>
              </a:rPr>
              <a:t>)</a:t>
            </a:r>
          </a:p>
        </p:txBody>
      </p:sp>
      <p:sp>
        <p:nvSpPr>
          <p:cNvPr id="42" name="正方形/長方形 41">
            <a:extLst>
              <a:ext uri="{FF2B5EF4-FFF2-40B4-BE49-F238E27FC236}">
                <a16:creationId xmlns:a16="http://schemas.microsoft.com/office/drawing/2014/main" id="{8213C48B-014D-5DAD-278A-9A3FEA1D5715}"/>
              </a:ext>
            </a:extLst>
          </p:cNvPr>
          <p:cNvSpPr/>
          <p:nvPr/>
        </p:nvSpPr>
        <p:spPr>
          <a:xfrm>
            <a:off x="273049" y="2194595"/>
            <a:ext cx="3078065" cy="764542"/>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180000" rtlCol="0" anchor="t" anchorCtr="0"/>
          <a:lstStyle/>
          <a:p>
            <a:pPr marL="171450" indent="-171450">
              <a:buFont typeface="Arial" panose="020B0604020202020204" pitchFamily="34" charset="0"/>
              <a:buChar char="•"/>
            </a:pPr>
            <a:r>
              <a:rPr kumimoji="1" lang="en-US" altLang="ja-JP" sz="1200" dirty="0">
                <a:latin typeface="+mn-ea"/>
              </a:rPr>
              <a:t>EU</a:t>
            </a:r>
            <a:r>
              <a:rPr kumimoji="1" lang="ja-JP" altLang="en-US" sz="1200" dirty="0">
                <a:latin typeface="+mn-ea"/>
              </a:rPr>
              <a:t>で策定されている</a:t>
            </a:r>
            <a:r>
              <a:rPr kumimoji="1" lang="en-US" altLang="ja-JP" sz="1200" dirty="0">
                <a:latin typeface="+mn-ea"/>
              </a:rPr>
              <a:t>GDPR/</a:t>
            </a:r>
            <a:r>
              <a:rPr kumimoji="1" lang="en-US" altLang="ja-JP" sz="1200" dirty="0" err="1">
                <a:latin typeface="+mn-ea"/>
              </a:rPr>
              <a:t>eIDAS</a:t>
            </a:r>
            <a:r>
              <a:rPr kumimoji="1" lang="ja-JP" altLang="en-US" sz="1200" dirty="0">
                <a:latin typeface="+mn-ea"/>
              </a:rPr>
              <a:t>に準拠</a:t>
            </a:r>
            <a:endParaRPr kumimoji="1" lang="en-US" altLang="ja-JP" sz="1200" dirty="0">
              <a:latin typeface="+mn-ea"/>
            </a:endParaRPr>
          </a:p>
          <a:p>
            <a:pPr marL="171450" indent="-171450">
              <a:buFont typeface="Arial" panose="020B0604020202020204" pitchFamily="34" charset="0"/>
              <a:buChar char="•"/>
            </a:pPr>
            <a:r>
              <a:rPr lang="en-US" altLang="ja-JP" sz="1200" dirty="0">
                <a:latin typeface="+mn-ea"/>
              </a:rPr>
              <a:t>EU ARF</a:t>
            </a:r>
            <a:r>
              <a:rPr lang="ja-JP" altLang="en-US" sz="1200" dirty="0">
                <a:latin typeface="+mn-ea"/>
              </a:rPr>
              <a:t>のフレームワークに則った実装の取組を進めている</a:t>
            </a:r>
            <a:endParaRPr kumimoji="1" lang="en-US" altLang="ja-JP" sz="1200" dirty="0">
              <a:latin typeface="+mn-ea"/>
            </a:endParaRPr>
          </a:p>
        </p:txBody>
      </p:sp>
      <p:sp>
        <p:nvSpPr>
          <p:cNvPr id="43" name="四角形: 角を丸くする 42">
            <a:extLst>
              <a:ext uri="{FF2B5EF4-FFF2-40B4-BE49-F238E27FC236}">
                <a16:creationId xmlns:a16="http://schemas.microsoft.com/office/drawing/2014/main" id="{7E1F7CDE-F31E-F007-3131-20A8228A3AC1}"/>
              </a:ext>
            </a:extLst>
          </p:cNvPr>
          <p:cNvSpPr/>
          <p:nvPr/>
        </p:nvSpPr>
        <p:spPr>
          <a:xfrm>
            <a:off x="251011" y="3376241"/>
            <a:ext cx="1991500" cy="219073"/>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b="1" dirty="0">
                <a:solidFill>
                  <a:schemeClr val="bg1"/>
                </a:solidFill>
                <a:latin typeface="+mn-ea"/>
              </a:rPr>
              <a:t>規制に沿ったガイドライン等</a:t>
            </a:r>
            <a:endParaRPr kumimoji="1" lang="ja-JP" altLang="en-US" sz="1200" b="1" dirty="0">
              <a:solidFill>
                <a:schemeClr val="bg1"/>
              </a:solidFill>
              <a:latin typeface="+mn-ea"/>
            </a:endParaRPr>
          </a:p>
        </p:txBody>
      </p:sp>
      <p:sp>
        <p:nvSpPr>
          <p:cNvPr id="44" name="四角形: 角を丸くする 43">
            <a:extLst>
              <a:ext uri="{FF2B5EF4-FFF2-40B4-BE49-F238E27FC236}">
                <a16:creationId xmlns:a16="http://schemas.microsoft.com/office/drawing/2014/main" id="{1DBB9D47-9108-F5F2-1368-4AE75C3E6E8D}"/>
              </a:ext>
            </a:extLst>
          </p:cNvPr>
          <p:cNvSpPr/>
          <p:nvPr/>
        </p:nvSpPr>
        <p:spPr>
          <a:xfrm>
            <a:off x="251011" y="2091081"/>
            <a:ext cx="1991500" cy="23338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上位の法規制：</a:t>
            </a:r>
            <a:r>
              <a:rPr kumimoji="1" lang="en-US" altLang="ja-JP" sz="1200" b="1" dirty="0">
                <a:solidFill>
                  <a:schemeClr val="bg1"/>
                </a:solidFill>
                <a:latin typeface="+mn-ea"/>
              </a:rPr>
              <a:t>eIDAS2.0</a:t>
            </a:r>
            <a:r>
              <a:rPr kumimoji="1" lang="ja-JP" altLang="en-US" sz="1200" b="1" dirty="0">
                <a:solidFill>
                  <a:schemeClr val="bg1"/>
                </a:solidFill>
                <a:latin typeface="+mn-ea"/>
              </a:rPr>
              <a:t>等</a:t>
            </a:r>
          </a:p>
        </p:txBody>
      </p:sp>
      <p:sp>
        <p:nvSpPr>
          <p:cNvPr id="47" name="四角形: 角を丸くする 46">
            <a:extLst>
              <a:ext uri="{FF2B5EF4-FFF2-40B4-BE49-F238E27FC236}">
                <a16:creationId xmlns:a16="http://schemas.microsoft.com/office/drawing/2014/main" id="{1A34670F-D841-465F-5DE2-40A175CD4C63}"/>
              </a:ext>
            </a:extLst>
          </p:cNvPr>
          <p:cNvSpPr/>
          <p:nvPr/>
        </p:nvSpPr>
        <p:spPr>
          <a:xfrm>
            <a:off x="240028" y="5118072"/>
            <a:ext cx="1991500" cy="23007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サービス認定・ガバナンス</a:t>
            </a:r>
          </a:p>
        </p:txBody>
      </p:sp>
      <p:sp>
        <p:nvSpPr>
          <p:cNvPr id="48" name="テキスト ボックス 47">
            <a:extLst>
              <a:ext uri="{FF2B5EF4-FFF2-40B4-BE49-F238E27FC236}">
                <a16:creationId xmlns:a16="http://schemas.microsoft.com/office/drawing/2014/main" id="{0F023C19-51F6-D128-0F34-B4DA2F36033C}"/>
              </a:ext>
            </a:extLst>
          </p:cNvPr>
          <p:cNvSpPr txBox="1"/>
          <p:nvPr/>
        </p:nvSpPr>
        <p:spPr>
          <a:xfrm>
            <a:off x="8315442" y="3280877"/>
            <a:ext cx="969063" cy="184666"/>
          </a:xfrm>
          <a:prstGeom prst="rect">
            <a:avLst/>
          </a:prstGeom>
          <a:solidFill>
            <a:schemeClr val="bg1"/>
          </a:solidFill>
        </p:spPr>
        <p:txBody>
          <a:bodyPr wrap="square" lIns="0" tIns="0" rIns="0" bIns="0">
            <a:spAutoFit/>
          </a:bodyPr>
          <a:lstStyle/>
          <a:p>
            <a:pPr algn="ctr"/>
            <a:r>
              <a:rPr lang="ja-JP" altLang="en-US" sz="1200" dirty="0">
                <a:latin typeface="+mn-ea"/>
                <a:ea typeface="+mn-ea"/>
              </a:rPr>
              <a:t>資金援助</a:t>
            </a:r>
          </a:p>
        </p:txBody>
      </p:sp>
      <p:sp>
        <p:nvSpPr>
          <p:cNvPr id="50" name="テキスト ボックス 49">
            <a:extLst>
              <a:ext uri="{FF2B5EF4-FFF2-40B4-BE49-F238E27FC236}">
                <a16:creationId xmlns:a16="http://schemas.microsoft.com/office/drawing/2014/main" id="{4921C790-7C1F-7518-B8A1-99D911CE2F12}"/>
              </a:ext>
            </a:extLst>
          </p:cNvPr>
          <p:cNvSpPr txBox="1"/>
          <p:nvPr/>
        </p:nvSpPr>
        <p:spPr>
          <a:xfrm>
            <a:off x="8315442" y="4193530"/>
            <a:ext cx="969063" cy="184666"/>
          </a:xfrm>
          <a:prstGeom prst="rect">
            <a:avLst/>
          </a:prstGeom>
          <a:solidFill>
            <a:schemeClr val="bg1"/>
          </a:solidFill>
        </p:spPr>
        <p:txBody>
          <a:bodyPr wrap="square" lIns="0" tIns="0" rIns="0" bIns="0">
            <a:spAutoFit/>
          </a:bodyPr>
          <a:lstStyle/>
          <a:p>
            <a:pPr algn="ctr"/>
            <a:r>
              <a:rPr lang="ja-JP" altLang="en-US" sz="1200" dirty="0">
                <a:latin typeface="+mn-ea"/>
                <a:ea typeface="+mn-ea"/>
              </a:rPr>
              <a:t>法人設立</a:t>
            </a:r>
          </a:p>
        </p:txBody>
      </p:sp>
      <p:sp>
        <p:nvSpPr>
          <p:cNvPr id="52" name="正方形/長方形 51">
            <a:extLst>
              <a:ext uri="{FF2B5EF4-FFF2-40B4-BE49-F238E27FC236}">
                <a16:creationId xmlns:a16="http://schemas.microsoft.com/office/drawing/2014/main" id="{5AAB58EE-7FFA-2F5A-0E0D-2C83DE642552}"/>
              </a:ext>
            </a:extLst>
          </p:cNvPr>
          <p:cNvSpPr/>
          <p:nvPr/>
        </p:nvSpPr>
        <p:spPr>
          <a:xfrm>
            <a:off x="273050" y="6447295"/>
            <a:ext cx="9533671" cy="159122"/>
          </a:xfrm>
          <a:prstGeom prst="rect">
            <a:avLst/>
          </a:prstGeom>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ja-JP" altLang="en-US" sz="900" dirty="0"/>
              <a:t>*公開資料より</a:t>
            </a:r>
            <a:r>
              <a:rPr kumimoji="1" lang="en-US" altLang="ja-JP" sz="900" dirty="0"/>
              <a:t>TOPPAN</a:t>
            </a:r>
            <a:r>
              <a:rPr kumimoji="1" lang="ja-JP" altLang="en-US" sz="900" dirty="0"/>
              <a:t>作成</a:t>
            </a:r>
          </a:p>
        </p:txBody>
      </p:sp>
      <p:sp>
        <p:nvSpPr>
          <p:cNvPr id="58" name="コンテンツ プレースホルダー 2">
            <a:extLst>
              <a:ext uri="{FF2B5EF4-FFF2-40B4-BE49-F238E27FC236}">
                <a16:creationId xmlns:a16="http://schemas.microsoft.com/office/drawing/2014/main" id="{B50B82A0-659D-1543-189B-1E2CE5AAA153}"/>
              </a:ext>
            </a:extLst>
          </p:cNvPr>
          <p:cNvSpPr txBox="1">
            <a:spLocks/>
          </p:cNvSpPr>
          <p:nvPr/>
        </p:nvSpPr>
        <p:spPr>
          <a:xfrm>
            <a:off x="273050" y="913526"/>
            <a:ext cx="7643322" cy="764541"/>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t>IDunion</a:t>
            </a:r>
            <a:r>
              <a:rPr lang="ja-JP" altLang="en-US" dirty="0"/>
              <a:t>ネットワークは、</a:t>
            </a:r>
            <a:r>
              <a:rPr lang="en-US" altLang="ja-JP" dirty="0"/>
              <a:t>EU</a:t>
            </a:r>
            <a:r>
              <a:rPr lang="ja-JP" altLang="en-US" dirty="0"/>
              <a:t>の</a:t>
            </a:r>
            <a:r>
              <a:rPr lang="en-US" altLang="ja-JP" dirty="0" err="1"/>
              <a:t>eIDAS</a:t>
            </a:r>
            <a:r>
              <a:rPr lang="en-US" altLang="ja-JP" dirty="0"/>
              <a:t>/GDPR</a:t>
            </a:r>
            <a:r>
              <a:rPr lang="ja-JP" altLang="en-US" dirty="0"/>
              <a:t>に準拠したアイデンティティネットワークの構築を進めている</a:t>
            </a:r>
            <a:endParaRPr lang="en-US" altLang="ja-JP" dirty="0"/>
          </a:p>
          <a:p>
            <a:r>
              <a:rPr lang="ja-JP" altLang="en-US" dirty="0"/>
              <a:t>当初はドイツ政府から資金援助を受けて検討していたが、法人を設立し欧州での法人デジタルアイデンティティ推進・技術標準検討・ユースケースマッチング等を行っている</a:t>
            </a:r>
            <a:endParaRPr lang="en-US" altLang="ja-JP" dirty="0"/>
          </a:p>
        </p:txBody>
      </p:sp>
      <p:sp>
        <p:nvSpPr>
          <p:cNvPr id="63" name="テキスト ボックス 62">
            <a:extLst>
              <a:ext uri="{FF2B5EF4-FFF2-40B4-BE49-F238E27FC236}">
                <a16:creationId xmlns:a16="http://schemas.microsoft.com/office/drawing/2014/main" id="{E8978470-0E24-9C09-761F-EF77E1B0BE6F}"/>
              </a:ext>
            </a:extLst>
          </p:cNvPr>
          <p:cNvSpPr txBox="1"/>
          <p:nvPr/>
        </p:nvSpPr>
        <p:spPr>
          <a:xfrm>
            <a:off x="5512109" y="3583674"/>
            <a:ext cx="548450" cy="184666"/>
          </a:xfrm>
          <a:prstGeom prst="rect">
            <a:avLst/>
          </a:prstGeom>
          <a:noFill/>
        </p:spPr>
        <p:txBody>
          <a:bodyPr wrap="square" lIns="0" tIns="0" rIns="0" bIns="0">
            <a:spAutoFit/>
          </a:bodyPr>
          <a:lstStyle/>
          <a:p>
            <a:pPr algn="ctr"/>
            <a:r>
              <a:rPr lang="ja-JP" altLang="en-US" sz="1200" dirty="0">
                <a:latin typeface="+mn-ea"/>
                <a:ea typeface="+mn-ea"/>
              </a:rPr>
              <a:t>準拠</a:t>
            </a:r>
          </a:p>
        </p:txBody>
      </p:sp>
      <p:sp>
        <p:nvSpPr>
          <p:cNvPr id="64" name="テキスト ボックス 63">
            <a:extLst>
              <a:ext uri="{FF2B5EF4-FFF2-40B4-BE49-F238E27FC236}">
                <a16:creationId xmlns:a16="http://schemas.microsoft.com/office/drawing/2014/main" id="{38BBC91E-998F-129A-DBF2-1C5A2462888D}"/>
              </a:ext>
            </a:extLst>
          </p:cNvPr>
          <p:cNvSpPr txBox="1"/>
          <p:nvPr/>
        </p:nvSpPr>
        <p:spPr>
          <a:xfrm>
            <a:off x="6200000" y="5048445"/>
            <a:ext cx="548450" cy="184666"/>
          </a:xfrm>
          <a:prstGeom prst="rect">
            <a:avLst/>
          </a:prstGeom>
          <a:solidFill>
            <a:srgbClr val="FFD9D9"/>
          </a:solidFill>
        </p:spPr>
        <p:txBody>
          <a:bodyPr wrap="square" lIns="0" tIns="0" rIns="0" bIns="0">
            <a:spAutoFit/>
          </a:bodyPr>
          <a:lstStyle/>
          <a:p>
            <a:pPr algn="ctr"/>
            <a:r>
              <a:rPr lang="ja-JP" altLang="en-US" sz="1200" dirty="0">
                <a:latin typeface="+mn-ea"/>
                <a:ea typeface="+mn-ea"/>
              </a:rPr>
              <a:t>準拠</a:t>
            </a:r>
          </a:p>
        </p:txBody>
      </p:sp>
      <p:sp>
        <p:nvSpPr>
          <p:cNvPr id="4" name="テキスト ボックス 3">
            <a:extLst>
              <a:ext uri="{FF2B5EF4-FFF2-40B4-BE49-F238E27FC236}">
                <a16:creationId xmlns:a16="http://schemas.microsoft.com/office/drawing/2014/main" id="{69BF2FBC-1EEB-4BA9-B40D-ADFA753005C5}"/>
              </a:ext>
            </a:extLst>
          </p:cNvPr>
          <p:cNvSpPr txBox="1"/>
          <p:nvPr/>
        </p:nvSpPr>
        <p:spPr>
          <a:xfrm>
            <a:off x="3832540" y="2073852"/>
            <a:ext cx="615553" cy="184666"/>
          </a:xfrm>
          <a:prstGeom prst="rect">
            <a:avLst/>
          </a:prstGeom>
          <a:noFill/>
        </p:spPr>
        <p:txBody>
          <a:bodyPr wrap="none" lIns="0" tIns="0" rIns="0" bIns="0" rtlCol="0">
            <a:spAutoFit/>
          </a:bodyPr>
          <a:lstStyle/>
          <a:p>
            <a:pPr algn="ctr"/>
            <a:r>
              <a:rPr kumimoji="1" lang="ja-JP" altLang="en-US" sz="1200" b="1" u="sng" dirty="0">
                <a:latin typeface="+mn-ea"/>
                <a:ea typeface="+mn-ea"/>
              </a:rPr>
              <a:t>一般要件</a:t>
            </a:r>
            <a:endParaRPr lang="en-US" altLang="ja-JP" sz="1200" b="1" u="sng" dirty="0">
              <a:latin typeface="+mn-ea"/>
              <a:ea typeface="+mn-ea"/>
            </a:endParaRPr>
          </a:p>
        </p:txBody>
      </p:sp>
      <p:sp>
        <p:nvSpPr>
          <p:cNvPr id="5" name="テキスト ボックス 4">
            <a:extLst>
              <a:ext uri="{FF2B5EF4-FFF2-40B4-BE49-F238E27FC236}">
                <a16:creationId xmlns:a16="http://schemas.microsoft.com/office/drawing/2014/main" id="{4F2290B5-842E-3564-7EE6-4094A40C66B9}"/>
              </a:ext>
            </a:extLst>
          </p:cNvPr>
          <p:cNvSpPr txBox="1"/>
          <p:nvPr/>
        </p:nvSpPr>
        <p:spPr>
          <a:xfrm>
            <a:off x="5019266" y="2071344"/>
            <a:ext cx="993862" cy="184666"/>
          </a:xfrm>
          <a:prstGeom prst="rect">
            <a:avLst/>
          </a:prstGeom>
          <a:noFill/>
        </p:spPr>
        <p:txBody>
          <a:bodyPr wrap="none" lIns="0" tIns="0" rIns="0" bIns="0" rtlCol="0">
            <a:spAutoFit/>
          </a:bodyPr>
          <a:lstStyle/>
          <a:p>
            <a:pPr algn="ctr"/>
            <a:r>
              <a:rPr lang="ja-JP" altLang="en-US" sz="1200" b="1" u="sng" dirty="0">
                <a:latin typeface="+mn-ea"/>
                <a:ea typeface="+mn-ea"/>
              </a:rPr>
              <a:t>ガバナンス・認定</a:t>
            </a:r>
            <a:endParaRPr kumimoji="1" lang="en-US" altLang="ja-JP" sz="1200" b="1" u="sng" dirty="0">
              <a:latin typeface="+mn-ea"/>
              <a:ea typeface="+mn-ea"/>
            </a:endParaRPr>
          </a:p>
        </p:txBody>
      </p:sp>
      <p:sp>
        <p:nvSpPr>
          <p:cNvPr id="6" name="テキスト ボックス 5">
            <a:extLst>
              <a:ext uri="{FF2B5EF4-FFF2-40B4-BE49-F238E27FC236}">
                <a16:creationId xmlns:a16="http://schemas.microsoft.com/office/drawing/2014/main" id="{20DC8336-45B2-D9BB-A4D9-18AD268081A2}"/>
              </a:ext>
            </a:extLst>
          </p:cNvPr>
          <p:cNvSpPr txBox="1"/>
          <p:nvPr/>
        </p:nvSpPr>
        <p:spPr>
          <a:xfrm>
            <a:off x="6353253" y="1988947"/>
            <a:ext cx="905510" cy="369332"/>
          </a:xfrm>
          <a:prstGeom prst="rect">
            <a:avLst/>
          </a:prstGeom>
          <a:noFill/>
        </p:spPr>
        <p:txBody>
          <a:bodyPr wrap="square" lIns="0" tIns="0" rIns="0" bIns="0" rtlCol="0">
            <a:spAutoFit/>
          </a:bodyPr>
          <a:lstStyle/>
          <a:p>
            <a:pPr algn="ctr"/>
            <a:r>
              <a:rPr kumimoji="1" lang="ja-JP" altLang="en-US" sz="1200" b="1" u="sng" dirty="0">
                <a:latin typeface="+mn-ea"/>
                <a:ea typeface="+mn-ea"/>
              </a:rPr>
              <a:t>技術規格・</a:t>
            </a:r>
            <a:endParaRPr kumimoji="1" lang="en-US" altLang="ja-JP" sz="1200" b="1" u="sng" dirty="0">
              <a:latin typeface="+mn-ea"/>
              <a:ea typeface="+mn-ea"/>
            </a:endParaRPr>
          </a:p>
          <a:p>
            <a:pPr algn="ctr"/>
            <a:r>
              <a:rPr kumimoji="1" lang="ja-JP" altLang="en-US" sz="1200" b="1" u="sng" dirty="0">
                <a:latin typeface="+mn-ea"/>
                <a:ea typeface="+mn-ea"/>
              </a:rPr>
              <a:t>アーキテクチャ</a:t>
            </a:r>
          </a:p>
        </p:txBody>
      </p:sp>
      <p:grpSp>
        <p:nvGrpSpPr>
          <p:cNvPr id="11" name="グループ化 10">
            <a:extLst>
              <a:ext uri="{FF2B5EF4-FFF2-40B4-BE49-F238E27FC236}">
                <a16:creationId xmlns:a16="http://schemas.microsoft.com/office/drawing/2014/main" id="{14974453-FDE4-292D-C27F-3162E97ADF3A}"/>
              </a:ext>
            </a:extLst>
          </p:cNvPr>
          <p:cNvGrpSpPr/>
          <p:nvPr/>
        </p:nvGrpSpPr>
        <p:grpSpPr>
          <a:xfrm>
            <a:off x="7970555" y="774666"/>
            <a:ext cx="1818731" cy="869140"/>
            <a:chOff x="7970555" y="683876"/>
            <a:chExt cx="1818731" cy="869140"/>
          </a:xfrm>
        </p:grpSpPr>
        <p:sp>
          <p:nvSpPr>
            <p:cNvPr id="12" name="正方形/長方形 11">
              <a:extLst>
                <a:ext uri="{FF2B5EF4-FFF2-40B4-BE49-F238E27FC236}">
                  <a16:creationId xmlns:a16="http://schemas.microsoft.com/office/drawing/2014/main" id="{4D765FBA-8705-AC68-D1A5-BA81E8DA7B02}"/>
                </a:ext>
              </a:extLst>
            </p:cNvPr>
            <p:cNvSpPr/>
            <p:nvPr/>
          </p:nvSpPr>
          <p:spPr>
            <a:xfrm>
              <a:off x="7970555" y="683876"/>
              <a:ext cx="1818731" cy="869140"/>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cxnSp>
          <p:nvCxnSpPr>
            <p:cNvPr id="15" name="直線矢印コネクタ 14">
              <a:extLst>
                <a:ext uri="{FF2B5EF4-FFF2-40B4-BE49-F238E27FC236}">
                  <a16:creationId xmlns:a16="http://schemas.microsoft.com/office/drawing/2014/main" id="{5E6C8930-F97E-942B-4D27-A9748544AB1B}"/>
                </a:ext>
              </a:extLst>
            </p:cNvPr>
            <p:cNvCxnSpPr/>
            <p:nvPr/>
          </p:nvCxnSpPr>
          <p:spPr>
            <a:xfrm>
              <a:off x="8072708" y="984069"/>
              <a:ext cx="258070" cy="0"/>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A17B3AE2-3D28-75F7-6E37-20F5C831CBC6}"/>
                </a:ext>
              </a:extLst>
            </p:cNvPr>
            <p:cNvCxnSpPr/>
            <p:nvPr/>
          </p:nvCxnSpPr>
          <p:spPr>
            <a:xfrm>
              <a:off x="8072708" y="1210492"/>
              <a:ext cx="258070" cy="0"/>
            </a:xfrm>
            <a:prstGeom prst="straightConnector1">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8A5DA06F-B223-F08D-97B9-A09C649A2DA5}"/>
                </a:ext>
              </a:extLst>
            </p:cNvPr>
            <p:cNvCxnSpPr/>
            <p:nvPr/>
          </p:nvCxnSpPr>
          <p:spPr>
            <a:xfrm>
              <a:off x="8072708" y="1436915"/>
              <a:ext cx="258070"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C53896F2-222F-002B-7C12-C616B500A5EF}"/>
                </a:ext>
              </a:extLst>
            </p:cNvPr>
            <p:cNvSpPr txBox="1"/>
            <p:nvPr/>
          </p:nvSpPr>
          <p:spPr>
            <a:xfrm>
              <a:off x="8427608" y="886461"/>
              <a:ext cx="1310878" cy="184666"/>
            </a:xfrm>
            <a:prstGeom prst="rect">
              <a:avLst/>
            </a:prstGeom>
            <a:noFill/>
          </p:spPr>
          <p:txBody>
            <a:bodyPr wrap="square" lIns="0" tIns="0" rIns="0" bIns="0" rtlCol="0">
              <a:spAutoFit/>
            </a:bodyPr>
            <a:lstStyle/>
            <a:p>
              <a:r>
                <a:rPr kumimoji="1" lang="ja-JP" altLang="en-US" sz="1200" dirty="0">
                  <a:latin typeface="+mn-ea"/>
                  <a:ea typeface="+mn-ea"/>
                </a:rPr>
                <a:t>策定の流れ</a:t>
              </a:r>
            </a:p>
          </p:txBody>
        </p:sp>
        <p:sp>
          <p:nvSpPr>
            <p:cNvPr id="19" name="テキスト ボックス 18">
              <a:extLst>
                <a:ext uri="{FF2B5EF4-FFF2-40B4-BE49-F238E27FC236}">
                  <a16:creationId xmlns:a16="http://schemas.microsoft.com/office/drawing/2014/main" id="{8E80E1C7-667E-89BA-A6C8-B1266C1BB0DC}"/>
                </a:ext>
              </a:extLst>
            </p:cNvPr>
            <p:cNvSpPr txBox="1"/>
            <p:nvPr/>
          </p:nvSpPr>
          <p:spPr>
            <a:xfrm>
              <a:off x="8427608" y="1114200"/>
              <a:ext cx="1310878" cy="184666"/>
            </a:xfrm>
            <a:prstGeom prst="rect">
              <a:avLst/>
            </a:prstGeom>
            <a:noFill/>
          </p:spPr>
          <p:txBody>
            <a:bodyPr wrap="square" lIns="0" tIns="0" rIns="0" bIns="0" rtlCol="0">
              <a:spAutoFit/>
            </a:bodyPr>
            <a:lstStyle/>
            <a:p>
              <a:r>
                <a:rPr lang="ja-JP" altLang="en-US" sz="1200" dirty="0">
                  <a:latin typeface="+mn-ea"/>
                  <a:ea typeface="+mn-ea"/>
                </a:rPr>
                <a:t>監査・認定等</a:t>
              </a:r>
              <a:r>
                <a:rPr kumimoji="1" lang="ja-JP" altLang="en-US" sz="1200" dirty="0">
                  <a:latin typeface="+mn-ea"/>
                  <a:ea typeface="+mn-ea"/>
                </a:rPr>
                <a:t>の流れ</a:t>
              </a:r>
            </a:p>
          </p:txBody>
        </p:sp>
        <p:sp>
          <p:nvSpPr>
            <p:cNvPr id="20" name="テキスト ボックス 19">
              <a:extLst>
                <a:ext uri="{FF2B5EF4-FFF2-40B4-BE49-F238E27FC236}">
                  <a16:creationId xmlns:a16="http://schemas.microsoft.com/office/drawing/2014/main" id="{C35AA277-9B04-324A-033F-CB6DB40E88BB}"/>
                </a:ext>
              </a:extLst>
            </p:cNvPr>
            <p:cNvSpPr txBox="1"/>
            <p:nvPr/>
          </p:nvSpPr>
          <p:spPr>
            <a:xfrm>
              <a:off x="8427608" y="1348006"/>
              <a:ext cx="1310878" cy="184666"/>
            </a:xfrm>
            <a:prstGeom prst="rect">
              <a:avLst/>
            </a:prstGeom>
            <a:noFill/>
          </p:spPr>
          <p:txBody>
            <a:bodyPr wrap="square" lIns="0" tIns="0" rIns="0" bIns="0" rtlCol="0">
              <a:spAutoFit/>
            </a:bodyPr>
            <a:lstStyle/>
            <a:p>
              <a:r>
                <a:rPr lang="ja-JP" altLang="en-US" sz="1200" dirty="0">
                  <a:latin typeface="+mn-ea"/>
                  <a:ea typeface="+mn-ea"/>
                </a:rPr>
                <a:t>準拠等の関連性</a:t>
              </a:r>
              <a:endParaRPr kumimoji="1" lang="ja-JP" altLang="en-US" sz="1200" dirty="0">
                <a:latin typeface="+mn-ea"/>
                <a:ea typeface="+mn-ea"/>
              </a:endParaRPr>
            </a:p>
          </p:txBody>
        </p:sp>
        <p:sp>
          <p:nvSpPr>
            <p:cNvPr id="25" name="テキスト ボックス 24">
              <a:extLst>
                <a:ext uri="{FF2B5EF4-FFF2-40B4-BE49-F238E27FC236}">
                  <a16:creationId xmlns:a16="http://schemas.microsoft.com/office/drawing/2014/main" id="{B60413EF-3EF0-2985-3A73-5B7C44364ED7}"/>
                </a:ext>
              </a:extLst>
            </p:cNvPr>
            <p:cNvSpPr txBox="1"/>
            <p:nvPr/>
          </p:nvSpPr>
          <p:spPr>
            <a:xfrm>
              <a:off x="7970555" y="691264"/>
              <a:ext cx="1310878" cy="184666"/>
            </a:xfrm>
            <a:prstGeom prst="rect">
              <a:avLst/>
            </a:prstGeom>
            <a:noFill/>
          </p:spPr>
          <p:txBody>
            <a:bodyPr wrap="square" lIns="0" tIns="0" rIns="0" bIns="0" rtlCol="0">
              <a:spAutoFit/>
            </a:bodyPr>
            <a:lstStyle/>
            <a:p>
              <a:r>
                <a:rPr kumimoji="1" lang="en-US" altLang="ja-JP" sz="1200" dirty="0">
                  <a:latin typeface="+mn-ea"/>
                  <a:ea typeface="+mn-ea"/>
                </a:rPr>
                <a:t>【</a:t>
              </a:r>
              <a:r>
                <a:rPr kumimoji="1" lang="ja-JP" altLang="en-US" sz="1200" dirty="0">
                  <a:latin typeface="+mn-ea"/>
                  <a:ea typeface="+mn-ea"/>
                </a:rPr>
                <a:t>凡例</a:t>
              </a:r>
              <a:r>
                <a:rPr kumimoji="1" lang="en-US" altLang="ja-JP" sz="1200" dirty="0">
                  <a:latin typeface="+mn-ea"/>
                  <a:ea typeface="+mn-ea"/>
                </a:rPr>
                <a:t>】</a:t>
              </a:r>
              <a:endParaRPr kumimoji="1" lang="ja-JP" altLang="en-US" sz="1200" dirty="0">
                <a:latin typeface="+mn-ea"/>
                <a:ea typeface="+mn-ea"/>
              </a:endParaRPr>
            </a:p>
          </p:txBody>
        </p:sp>
      </p:grpSp>
      <p:cxnSp>
        <p:nvCxnSpPr>
          <p:cNvPr id="27" name="直線矢印コネクタ 26">
            <a:extLst>
              <a:ext uri="{FF2B5EF4-FFF2-40B4-BE49-F238E27FC236}">
                <a16:creationId xmlns:a16="http://schemas.microsoft.com/office/drawing/2014/main" id="{B29D7F56-D83C-7CCD-D0EF-1242EB0939DE}"/>
              </a:ext>
            </a:extLst>
          </p:cNvPr>
          <p:cNvCxnSpPr>
            <a:cxnSpLocks/>
          </p:cNvCxnSpPr>
          <p:nvPr/>
        </p:nvCxnSpPr>
        <p:spPr>
          <a:xfrm flipV="1">
            <a:off x="6463775" y="3334719"/>
            <a:ext cx="0" cy="693677"/>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FD0A7F26-570A-C454-6E40-7A11A9D05F9D}"/>
              </a:ext>
            </a:extLst>
          </p:cNvPr>
          <p:cNvSpPr txBox="1"/>
          <p:nvPr/>
        </p:nvSpPr>
        <p:spPr>
          <a:xfrm>
            <a:off x="6502433" y="3537002"/>
            <a:ext cx="1475519" cy="369332"/>
          </a:xfrm>
          <a:prstGeom prst="rect">
            <a:avLst/>
          </a:prstGeom>
          <a:noFill/>
        </p:spPr>
        <p:txBody>
          <a:bodyPr wrap="square" lIns="0" tIns="0" rIns="0" bIns="0">
            <a:spAutoFit/>
          </a:bodyPr>
          <a:lstStyle>
            <a:defPPr>
              <a:defRPr lang="ja-JP"/>
            </a:defPPr>
            <a:lvl1pPr algn="ctr">
              <a:defRPr sz="1200" b="1">
                <a:solidFill>
                  <a:schemeClr val="accent1"/>
                </a:solidFill>
                <a:latin typeface="+mn-ea"/>
                <a:ea typeface="+mn-ea"/>
              </a:defRPr>
            </a:lvl1pPr>
          </a:lstStyle>
          <a:p>
            <a:r>
              <a:rPr lang="en-US" altLang="ja-JP" dirty="0"/>
              <a:t>Large Scale Pilot</a:t>
            </a:r>
          </a:p>
          <a:p>
            <a:r>
              <a:rPr lang="ja-JP" altLang="en-US" dirty="0"/>
              <a:t>メンバとしてフィードバック</a:t>
            </a:r>
          </a:p>
        </p:txBody>
      </p:sp>
      <p:sp>
        <p:nvSpPr>
          <p:cNvPr id="26" name="テキスト ボックス 25">
            <a:extLst>
              <a:ext uri="{FF2B5EF4-FFF2-40B4-BE49-F238E27FC236}">
                <a16:creationId xmlns:a16="http://schemas.microsoft.com/office/drawing/2014/main" id="{50798220-AD4D-6846-6B8E-28EC95C40084}"/>
              </a:ext>
            </a:extLst>
          </p:cNvPr>
          <p:cNvSpPr txBox="1"/>
          <p:nvPr/>
        </p:nvSpPr>
        <p:spPr>
          <a:xfrm>
            <a:off x="7300231" y="4884818"/>
            <a:ext cx="759171" cy="184666"/>
          </a:xfrm>
          <a:prstGeom prst="rect">
            <a:avLst/>
          </a:prstGeom>
          <a:noFill/>
        </p:spPr>
        <p:txBody>
          <a:bodyPr wrap="square" lIns="0" tIns="0" rIns="0" bIns="0">
            <a:spAutoFit/>
          </a:bodyPr>
          <a:lstStyle>
            <a:defPPr>
              <a:defRPr lang="ja-JP"/>
            </a:defPPr>
            <a:lvl1pPr algn="ctr">
              <a:defRPr sz="1200" b="1">
                <a:solidFill>
                  <a:schemeClr val="accent1"/>
                </a:solidFill>
                <a:latin typeface="+mn-ea"/>
                <a:ea typeface="+mn-ea"/>
              </a:defRPr>
            </a:lvl1pPr>
          </a:lstStyle>
          <a:p>
            <a:r>
              <a:rPr lang="ja-JP" altLang="en-US" dirty="0"/>
              <a:t>策定・開発</a:t>
            </a:r>
          </a:p>
        </p:txBody>
      </p:sp>
      <p:sp>
        <p:nvSpPr>
          <p:cNvPr id="28" name="テキスト ボックス 27">
            <a:extLst>
              <a:ext uri="{FF2B5EF4-FFF2-40B4-BE49-F238E27FC236}">
                <a16:creationId xmlns:a16="http://schemas.microsoft.com/office/drawing/2014/main" id="{A481F116-3444-1B6D-ADC7-B16687E657E9}"/>
              </a:ext>
            </a:extLst>
          </p:cNvPr>
          <p:cNvSpPr txBox="1"/>
          <p:nvPr/>
        </p:nvSpPr>
        <p:spPr>
          <a:xfrm>
            <a:off x="5228936" y="4963490"/>
            <a:ext cx="963282" cy="369332"/>
          </a:xfrm>
          <a:prstGeom prst="rect">
            <a:avLst/>
          </a:prstGeom>
          <a:noFill/>
        </p:spPr>
        <p:txBody>
          <a:bodyPr wrap="square" lIns="0" tIns="0" rIns="0" bIns="0">
            <a:spAutoFit/>
          </a:bodyPr>
          <a:lstStyle>
            <a:defPPr>
              <a:defRPr lang="ja-JP"/>
            </a:defPPr>
            <a:lvl1pPr algn="ctr">
              <a:defRPr sz="1200" b="1">
                <a:solidFill>
                  <a:schemeClr val="accent3"/>
                </a:solidFill>
                <a:latin typeface="+mn-ea"/>
                <a:ea typeface="+mn-ea"/>
              </a:defRPr>
            </a:lvl1pPr>
          </a:lstStyle>
          <a:p>
            <a:r>
              <a:rPr lang="ja-JP" altLang="en-US" dirty="0"/>
              <a:t>認定</a:t>
            </a:r>
            <a:endParaRPr lang="en-US" altLang="ja-JP" dirty="0"/>
          </a:p>
          <a:p>
            <a:r>
              <a:rPr lang="en-US" altLang="ja-JP" dirty="0"/>
              <a:t>(</a:t>
            </a:r>
            <a:r>
              <a:rPr lang="ja-JP" altLang="en-US" dirty="0"/>
              <a:t>実態不明</a:t>
            </a:r>
            <a:r>
              <a:rPr lang="en-US" altLang="ja-JP" dirty="0"/>
              <a:t>)</a:t>
            </a:r>
            <a:endParaRPr lang="ja-JP" altLang="en-US" dirty="0"/>
          </a:p>
        </p:txBody>
      </p:sp>
      <p:cxnSp>
        <p:nvCxnSpPr>
          <p:cNvPr id="31" name="直線矢印コネクタ 30">
            <a:extLst>
              <a:ext uri="{FF2B5EF4-FFF2-40B4-BE49-F238E27FC236}">
                <a16:creationId xmlns:a16="http://schemas.microsoft.com/office/drawing/2014/main" id="{621ABD52-8E35-80F9-BF51-AE599885EF6A}"/>
              </a:ext>
            </a:extLst>
          </p:cNvPr>
          <p:cNvCxnSpPr>
            <a:cxnSpLocks/>
          </p:cNvCxnSpPr>
          <p:nvPr/>
        </p:nvCxnSpPr>
        <p:spPr>
          <a:xfrm>
            <a:off x="5289918" y="4862226"/>
            <a:ext cx="0" cy="718245"/>
          </a:xfrm>
          <a:prstGeom prst="straightConnector1">
            <a:avLst/>
          </a:prstGeom>
          <a:ln w="19050">
            <a:solidFill>
              <a:schemeClr val="accent3"/>
            </a:solidFill>
            <a:prstDash val="sysDash"/>
            <a:headEnd type="none" w="med" len="med"/>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6198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3E6F03-0FDB-316C-A11B-F656240B4054}"/>
              </a:ext>
            </a:extLst>
          </p:cNvPr>
          <p:cNvSpPr>
            <a:spLocks noGrp="1"/>
          </p:cNvSpPr>
          <p:nvPr>
            <p:ph type="title"/>
          </p:nvPr>
        </p:nvSpPr>
        <p:spPr/>
        <p:txBody>
          <a:bodyPr/>
          <a:lstStyle/>
          <a:p>
            <a:r>
              <a:rPr kumimoji="1" lang="en-US" altLang="ja-JP" dirty="0"/>
              <a:t>3.2. </a:t>
            </a:r>
            <a:r>
              <a:rPr kumimoji="1" lang="ja-JP" altLang="en-US" dirty="0"/>
              <a:t>ドイツ：</a:t>
            </a:r>
            <a:r>
              <a:rPr kumimoji="1" lang="en-US" altLang="ja-JP" dirty="0" err="1"/>
              <a:t>IDunion</a:t>
            </a:r>
            <a:r>
              <a:rPr kumimoji="1" lang="en-US" altLang="ja-JP" dirty="0"/>
              <a:t> Network – 3.2.2. </a:t>
            </a:r>
            <a:r>
              <a:rPr kumimoji="1" lang="ja-JP" altLang="en-US" dirty="0"/>
              <a:t>取組の</a:t>
            </a:r>
            <a:r>
              <a:rPr kumimoji="1" lang="ja-JP" altLang="en-US" dirty="0">
                <a:latin typeface="+mn-ea"/>
                <a:ea typeface="+mn-ea"/>
              </a:rPr>
              <a:t>変遷</a:t>
            </a:r>
            <a:endParaRPr kumimoji="1" lang="ja-JP" altLang="en-US" dirty="0"/>
          </a:p>
        </p:txBody>
      </p:sp>
      <p:sp>
        <p:nvSpPr>
          <p:cNvPr id="3" name="テキスト プレースホルダー 2">
            <a:extLst>
              <a:ext uri="{FF2B5EF4-FFF2-40B4-BE49-F238E27FC236}">
                <a16:creationId xmlns:a16="http://schemas.microsoft.com/office/drawing/2014/main" id="{2394A747-0913-D2A5-E4E9-341E954E2B5C}"/>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5" name="矢印: 山形 4">
            <a:extLst>
              <a:ext uri="{FF2B5EF4-FFF2-40B4-BE49-F238E27FC236}">
                <a16:creationId xmlns:a16="http://schemas.microsoft.com/office/drawing/2014/main" id="{A6BF1B4F-0663-969B-78A7-180B43EF19DE}"/>
              </a:ext>
            </a:extLst>
          </p:cNvPr>
          <p:cNvSpPr/>
          <p:nvPr/>
        </p:nvSpPr>
        <p:spPr>
          <a:xfrm>
            <a:off x="511629" y="3547992"/>
            <a:ext cx="8833984" cy="307777"/>
          </a:xfrm>
          <a:prstGeom prst="chevron">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6" name="楕円 5">
            <a:extLst>
              <a:ext uri="{FF2B5EF4-FFF2-40B4-BE49-F238E27FC236}">
                <a16:creationId xmlns:a16="http://schemas.microsoft.com/office/drawing/2014/main" id="{6BC885BA-8BD1-9E7E-7419-03736B4845DB}"/>
              </a:ext>
            </a:extLst>
          </p:cNvPr>
          <p:cNvSpPr/>
          <p:nvPr/>
        </p:nvSpPr>
        <p:spPr>
          <a:xfrm>
            <a:off x="1132114" y="3374798"/>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2020</a:t>
            </a:r>
            <a:endParaRPr kumimoji="1" lang="ja-JP" altLang="en-US" sz="1600" dirty="0"/>
          </a:p>
        </p:txBody>
      </p:sp>
      <p:sp>
        <p:nvSpPr>
          <p:cNvPr id="7" name="楕円 6">
            <a:extLst>
              <a:ext uri="{FF2B5EF4-FFF2-40B4-BE49-F238E27FC236}">
                <a16:creationId xmlns:a16="http://schemas.microsoft.com/office/drawing/2014/main" id="{00D0DD53-ACE4-C31E-F96E-8E926DE78431}"/>
              </a:ext>
            </a:extLst>
          </p:cNvPr>
          <p:cNvSpPr/>
          <p:nvPr/>
        </p:nvSpPr>
        <p:spPr>
          <a:xfrm>
            <a:off x="3163909" y="3374798"/>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2021</a:t>
            </a:r>
            <a:endParaRPr kumimoji="1" lang="ja-JP" altLang="en-US" sz="1600" dirty="0"/>
          </a:p>
        </p:txBody>
      </p:sp>
      <p:sp>
        <p:nvSpPr>
          <p:cNvPr id="8" name="楕円 7">
            <a:extLst>
              <a:ext uri="{FF2B5EF4-FFF2-40B4-BE49-F238E27FC236}">
                <a16:creationId xmlns:a16="http://schemas.microsoft.com/office/drawing/2014/main" id="{AA27193E-CE23-CE9F-4F98-013B0C01124B}"/>
              </a:ext>
            </a:extLst>
          </p:cNvPr>
          <p:cNvSpPr/>
          <p:nvPr/>
        </p:nvSpPr>
        <p:spPr>
          <a:xfrm>
            <a:off x="7227499" y="3374798"/>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2023</a:t>
            </a:r>
            <a:endParaRPr kumimoji="1" lang="ja-JP" altLang="en-US" sz="1600" dirty="0"/>
          </a:p>
        </p:txBody>
      </p:sp>
      <p:sp>
        <p:nvSpPr>
          <p:cNvPr id="11" name="テキスト ボックス 10">
            <a:extLst>
              <a:ext uri="{FF2B5EF4-FFF2-40B4-BE49-F238E27FC236}">
                <a16:creationId xmlns:a16="http://schemas.microsoft.com/office/drawing/2014/main" id="{C71D6FDA-9A92-02DA-651F-4BC681A00518}"/>
              </a:ext>
            </a:extLst>
          </p:cNvPr>
          <p:cNvSpPr txBox="1"/>
          <p:nvPr/>
        </p:nvSpPr>
        <p:spPr>
          <a:xfrm>
            <a:off x="469147" y="5839026"/>
            <a:ext cx="9274285" cy="369332"/>
          </a:xfrm>
          <a:prstGeom prst="rect">
            <a:avLst/>
          </a:prstGeom>
          <a:noFill/>
        </p:spPr>
        <p:txBody>
          <a:bodyPr wrap="square">
            <a:spAutoFit/>
          </a:bodyPr>
          <a:lstStyle/>
          <a:p>
            <a:r>
              <a:rPr lang="ja-JP" altLang="en-US" sz="900" dirty="0">
                <a:latin typeface="+mn-ea"/>
                <a:ea typeface="+mn-ea"/>
              </a:rPr>
              <a:t>令和４年度デジタル取引環境整備事業（「</a:t>
            </a:r>
            <a:r>
              <a:rPr lang="en-US" altLang="ja-JP" sz="900" dirty="0">
                <a:latin typeface="+mn-ea"/>
                <a:ea typeface="+mn-ea"/>
              </a:rPr>
              <a:t>Trusted Web</a:t>
            </a:r>
            <a:r>
              <a:rPr lang="ja-JP" altLang="en-US" sz="900" dirty="0">
                <a:latin typeface="+mn-ea"/>
                <a:ea typeface="+mn-ea"/>
              </a:rPr>
              <a:t>」の実現に向けた技術動向調査）海外動向調査をもとに、直近の動向をアップデートして</a:t>
            </a:r>
            <a:r>
              <a:rPr lang="en-US" altLang="ja-JP" sz="900" dirty="0">
                <a:latin typeface="+mn-ea"/>
                <a:ea typeface="+mn-ea"/>
              </a:rPr>
              <a:t>TOPPAN</a:t>
            </a:r>
            <a:r>
              <a:rPr lang="ja-JP" altLang="en-US" sz="900" dirty="0">
                <a:latin typeface="+mn-ea"/>
                <a:ea typeface="+mn-ea"/>
              </a:rPr>
              <a:t>作成</a:t>
            </a:r>
            <a:endParaRPr lang="en-US" altLang="ja-JP" sz="900" dirty="0">
              <a:latin typeface="+mn-ea"/>
              <a:ea typeface="+mn-ea"/>
            </a:endParaRPr>
          </a:p>
          <a:p>
            <a:r>
              <a:rPr lang="en-US" altLang="ja-JP" sz="900" dirty="0">
                <a:latin typeface="+mn-ea"/>
                <a:ea typeface="+mn-ea"/>
                <a:hlinkClick r:id="rId2"/>
              </a:rPr>
              <a:t>https://www.kantei.go.jp/jp/singi/digitalmarket/trusted_web/2022seika/files/001_report_international.pdf</a:t>
            </a:r>
            <a:endParaRPr lang="en-US" altLang="ja-JP" sz="900" dirty="0">
              <a:latin typeface="+mn-ea"/>
              <a:ea typeface="+mn-ea"/>
            </a:endParaRPr>
          </a:p>
        </p:txBody>
      </p:sp>
      <p:sp>
        <p:nvSpPr>
          <p:cNvPr id="12" name="正方形/長方形 11">
            <a:extLst>
              <a:ext uri="{FF2B5EF4-FFF2-40B4-BE49-F238E27FC236}">
                <a16:creationId xmlns:a16="http://schemas.microsoft.com/office/drawing/2014/main" id="{5366CC9E-7256-6136-E262-DA57A407DABF}"/>
              </a:ext>
            </a:extLst>
          </p:cNvPr>
          <p:cNvSpPr/>
          <p:nvPr/>
        </p:nvSpPr>
        <p:spPr>
          <a:xfrm>
            <a:off x="1366815" y="3908275"/>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3" name="正方形/長方形 12">
            <a:extLst>
              <a:ext uri="{FF2B5EF4-FFF2-40B4-BE49-F238E27FC236}">
                <a16:creationId xmlns:a16="http://schemas.microsoft.com/office/drawing/2014/main" id="{3F5C3C57-C652-8119-877A-DFE824E8E68C}"/>
              </a:ext>
            </a:extLst>
          </p:cNvPr>
          <p:cNvSpPr/>
          <p:nvPr/>
        </p:nvSpPr>
        <p:spPr>
          <a:xfrm>
            <a:off x="571727" y="4444825"/>
            <a:ext cx="3116869"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ja-JP" altLang="en-US" sz="1200" b="1" u="sng" dirty="0"/>
              <a:t>「</a:t>
            </a:r>
            <a:r>
              <a:rPr lang="en-US" altLang="ja-JP" sz="1200" b="1" u="sng" dirty="0"/>
              <a:t>Secure Digital Identities</a:t>
            </a:r>
            <a:r>
              <a:rPr lang="ja-JP" altLang="en-US" sz="1200" b="1" u="sng" dirty="0"/>
              <a:t>」 ショーケース</a:t>
            </a:r>
            <a:br>
              <a:rPr lang="en-US" altLang="ja-JP" sz="1200" b="1" u="sng" dirty="0"/>
            </a:br>
            <a:r>
              <a:rPr lang="en-US" altLang="ja-JP" sz="1200" b="1" u="sng" dirty="0"/>
              <a:t>(</a:t>
            </a:r>
            <a:r>
              <a:rPr lang="ja-JP" altLang="en-US" sz="1200" b="1" u="sng" dirty="0"/>
              <a:t>コンペティション・フェーズ</a:t>
            </a:r>
            <a:r>
              <a:rPr lang="en-US" altLang="ja-JP" sz="1200" b="1" u="sng" dirty="0"/>
              <a:t>)</a:t>
            </a:r>
          </a:p>
          <a:p>
            <a:r>
              <a:rPr lang="ja-JP" altLang="en-US" sz="1200" dirty="0"/>
              <a:t>ドイツにおける </a:t>
            </a:r>
            <a:r>
              <a:rPr lang="en-US" altLang="ja-JP" sz="1200" dirty="0" err="1"/>
              <a:t>eIDAS</a:t>
            </a:r>
            <a:r>
              <a:rPr lang="en-US" altLang="ja-JP" sz="1200" dirty="0"/>
              <a:t> </a:t>
            </a:r>
            <a:r>
              <a:rPr lang="ja-JP" altLang="en-US" sz="1200" dirty="0"/>
              <a:t>ソリューションの開発と行政・（中小）企業・個人への利用促進を目的として連邦経済エネルギー省の資金提供を受けて「</a:t>
            </a:r>
            <a:r>
              <a:rPr lang="en-US" altLang="ja-JP" sz="1200" dirty="0"/>
              <a:t>Secure Digital Identities</a:t>
            </a:r>
            <a:r>
              <a:rPr lang="ja-JP" altLang="en-US" sz="1200" dirty="0"/>
              <a:t>」 ショーケースを開始</a:t>
            </a:r>
            <a:endParaRPr lang="en-US" altLang="ja-JP" sz="1200" dirty="0"/>
          </a:p>
        </p:txBody>
      </p:sp>
      <p:sp>
        <p:nvSpPr>
          <p:cNvPr id="14" name="正方形/長方形 13">
            <a:extLst>
              <a:ext uri="{FF2B5EF4-FFF2-40B4-BE49-F238E27FC236}">
                <a16:creationId xmlns:a16="http://schemas.microsoft.com/office/drawing/2014/main" id="{E64A6F35-BB08-CD67-6185-F378E515BA30}"/>
              </a:ext>
            </a:extLst>
          </p:cNvPr>
          <p:cNvSpPr/>
          <p:nvPr/>
        </p:nvSpPr>
        <p:spPr>
          <a:xfrm>
            <a:off x="2550839" y="1681193"/>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ja-JP" altLang="en-US" sz="1200" b="1" u="sng" dirty="0"/>
              <a:t>「</a:t>
            </a:r>
            <a:r>
              <a:rPr lang="en-US" altLang="ja-JP" sz="1200" b="1" u="sng" dirty="0"/>
              <a:t>Secure Digital Identities</a:t>
            </a:r>
            <a:r>
              <a:rPr lang="ja-JP" altLang="en-US" sz="1200" b="1" u="sng" dirty="0"/>
              <a:t>」 ショーケース</a:t>
            </a:r>
            <a:br>
              <a:rPr lang="en-US" altLang="ja-JP" sz="1200" b="1" u="sng" dirty="0"/>
            </a:br>
            <a:r>
              <a:rPr lang="en-US" altLang="ja-JP" sz="1200" b="1" u="sng" dirty="0"/>
              <a:t>(</a:t>
            </a:r>
            <a:r>
              <a:rPr lang="ja-JP" altLang="en-US" sz="1200" b="1" u="sng" dirty="0"/>
              <a:t>実装フェーズ</a:t>
            </a:r>
            <a:r>
              <a:rPr lang="en-US" altLang="ja-JP" sz="1200" b="1" u="sng" dirty="0"/>
              <a:t>)</a:t>
            </a:r>
          </a:p>
          <a:p>
            <a:r>
              <a:rPr lang="ja-JP" altLang="en-US" sz="1200" dirty="0"/>
              <a:t>ドイツにおける </a:t>
            </a:r>
            <a:r>
              <a:rPr lang="en-US" altLang="ja-JP" sz="1200" dirty="0" err="1"/>
              <a:t>eIDAS</a:t>
            </a:r>
            <a:r>
              <a:rPr lang="en-US" altLang="ja-JP" sz="1200" dirty="0"/>
              <a:t> </a:t>
            </a:r>
            <a:r>
              <a:rPr lang="ja-JP" altLang="en-US" sz="1200" dirty="0"/>
              <a:t>ソリューションの開発と行政・（中小）企業・個人への利用促進を目的として「</a:t>
            </a:r>
            <a:r>
              <a:rPr lang="en-US" altLang="ja-JP" sz="1200" dirty="0"/>
              <a:t>Secure Digital Identities</a:t>
            </a:r>
            <a:r>
              <a:rPr lang="ja-JP" altLang="en-US" sz="1200" dirty="0"/>
              <a:t>」 ショーケースを開始</a:t>
            </a:r>
            <a:endParaRPr lang="en-US" altLang="ja-JP" sz="1200" dirty="0"/>
          </a:p>
        </p:txBody>
      </p:sp>
      <p:sp>
        <p:nvSpPr>
          <p:cNvPr id="4" name="正方形/長方形 3">
            <a:extLst>
              <a:ext uri="{FF2B5EF4-FFF2-40B4-BE49-F238E27FC236}">
                <a16:creationId xmlns:a16="http://schemas.microsoft.com/office/drawing/2014/main" id="{DC199A2E-E80D-85FE-17B9-9F37E056A05C}"/>
              </a:ext>
            </a:extLst>
          </p:cNvPr>
          <p:cNvSpPr/>
          <p:nvPr/>
        </p:nvSpPr>
        <p:spPr>
          <a:xfrm>
            <a:off x="3398610" y="2835627"/>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22" name="楕円 21">
            <a:extLst>
              <a:ext uri="{FF2B5EF4-FFF2-40B4-BE49-F238E27FC236}">
                <a16:creationId xmlns:a16="http://schemas.microsoft.com/office/drawing/2014/main" id="{57479D22-399E-5006-D797-D8F9C98E395B}"/>
              </a:ext>
            </a:extLst>
          </p:cNvPr>
          <p:cNvSpPr/>
          <p:nvPr/>
        </p:nvSpPr>
        <p:spPr>
          <a:xfrm>
            <a:off x="5195704" y="3374798"/>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2022</a:t>
            </a:r>
            <a:endParaRPr kumimoji="1" lang="ja-JP" altLang="en-US" sz="1600" dirty="0"/>
          </a:p>
        </p:txBody>
      </p:sp>
      <p:sp>
        <p:nvSpPr>
          <p:cNvPr id="23" name="正方形/長方形 22">
            <a:extLst>
              <a:ext uri="{FF2B5EF4-FFF2-40B4-BE49-F238E27FC236}">
                <a16:creationId xmlns:a16="http://schemas.microsoft.com/office/drawing/2014/main" id="{08840423-723A-69D6-6593-2ACDFD494891}"/>
              </a:ext>
            </a:extLst>
          </p:cNvPr>
          <p:cNvSpPr/>
          <p:nvPr/>
        </p:nvSpPr>
        <p:spPr>
          <a:xfrm>
            <a:off x="5430405" y="3908275"/>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7" name="正方形/長方形 16">
            <a:extLst>
              <a:ext uri="{FF2B5EF4-FFF2-40B4-BE49-F238E27FC236}">
                <a16:creationId xmlns:a16="http://schemas.microsoft.com/office/drawing/2014/main" id="{1A856BD3-89C0-B819-AF20-B102EC9FACEC}"/>
              </a:ext>
            </a:extLst>
          </p:cNvPr>
          <p:cNvSpPr/>
          <p:nvPr/>
        </p:nvSpPr>
        <p:spPr>
          <a:xfrm>
            <a:off x="4518797" y="4429327"/>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err="1"/>
              <a:t>IDunion</a:t>
            </a:r>
            <a:r>
              <a:rPr lang="zh-TW" altLang="en-US" sz="1200" b="1" u="sng" dirty="0"/>
              <a:t>欧州協同組合</a:t>
            </a:r>
            <a:r>
              <a:rPr lang="en-US" altLang="ja-JP" sz="1200" b="1" u="sng" dirty="0"/>
              <a:t>(SCE)</a:t>
            </a:r>
            <a:r>
              <a:rPr lang="ja-JP" altLang="en-US" sz="1200" b="1" u="sng" dirty="0"/>
              <a:t>の設立</a:t>
            </a:r>
            <a:r>
              <a:rPr lang="en-US" altLang="ja-JP" sz="1200" b="1" u="sng" dirty="0"/>
              <a:t>*</a:t>
            </a:r>
            <a:r>
              <a:rPr lang="en-US" altLang="ja-JP" sz="1200" b="1" u="sng" baseline="30000" dirty="0"/>
              <a:t>1</a:t>
            </a:r>
          </a:p>
          <a:p>
            <a:r>
              <a:rPr lang="ja-JP" altLang="en-US" sz="1200" dirty="0"/>
              <a:t>これまで政府研究予算で運営していたプロジェクトを民間事業者から資金を収集する非営利事業体へ移行</a:t>
            </a:r>
            <a:r>
              <a:rPr lang="en-US" altLang="ja-JP" sz="1200" dirty="0"/>
              <a:t>(</a:t>
            </a:r>
            <a:r>
              <a:rPr lang="ja-JP" altLang="en-US" sz="1200" dirty="0"/>
              <a:t>あらゆる法人がコミュニティポリシーを順守すれば参加可能</a:t>
            </a:r>
            <a:r>
              <a:rPr lang="en-US" altLang="ja-JP" sz="1200" dirty="0"/>
              <a:t>)</a:t>
            </a:r>
            <a:r>
              <a:rPr lang="ja-JP" altLang="en-US" sz="1200" dirty="0"/>
              <a:t>、法人化によってデジタルアイデンティティのインフラストラクチャを本番環境で提供することを念頭においた開発が可能</a:t>
            </a:r>
            <a:endParaRPr lang="en-US" altLang="ja-JP" sz="1200" dirty="0"/>
          </a:p>
        </p:txBody>
      </p:sp>
      <p:sp>
        <p:nvSpPr>
          <p:cNvPr id="24" name="正方形/長方形 23">
            <a:extLst>
              <a:ext uri="{FF2B5EF4-FFF2-40B4-BE49-F238E27FC236}">
                <a16:creationId xmlns:a16="http://schemas.microsoft.com/office/drawing/2014/main" id="{1078A2D2-8144-1E80-8F81-4D532859502A}"/>
              </a:ext>
            </a:extLst>
          </p:cNvPr>
          <p:cNvSpPr/>
          <p:nvPr/>
        </p:nvSpPr>
        <p:spPr>
          <a:xfrm>
            <a:off x="6614429" y="1681193"/>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Large Scale Pilot (LSP)</a:t>
            </a:r>
            <a:r>
              <a:rPr lang="ja-JP" altLang="en-US" sz="1200" b="1" u="sng" dirty="0"/>
              <a:t>開始</a:t>
            </a:r>
            <a:r>
              <a:rPr lang="en-US" altLang="ja-JP" sz="1200" b="1" u="sng" dirty="0"/>
              <a:t>*</a:t>
            </a:r>
            <a:r>
              <a:rPr lang="en-US" altLang="ja-JP" sz="1200" b="1" u="sng" baseline="30000" dirty="0"/>
              <a:t>2</a:t>
            </a:r>
          </a:p>
          <a:p>
            <a:r>
              <a:rPr lang="en-US" altLang="ja-JP" sz="1200" dirty="0" err="1"/>
              <a:t>IDunion</a:t>
            </a:r>
            <a:r>
              <a:rPr lang="ja-JP" altLang="en-US" sz="1200" dirty="0"/>
              <a:t>は、</a:t>
            </a:r>
            <a:r>
              <a:rPr lang="en-US" altLang="ja-JP" sz="1200" dirty="0" err="1"/>
              <a:t>IDunion</a:t>
            </a:r>
            <a:r>
              <a:rPr lang="ja-JP" altLang="en-US" sz="1200" dirty="0"/>
              <a:t>に所属するコンソーシアムメンバ等の参加を通じて、間接的に</a:t>
            </a:r>
            <a:r>
              <a:rPr lang="en-US" altLang="ja-JP" sz="1200" dirty="0"/>
              <a:t>EWC</a:t>
            </a:r>
            <a:r>
              <a:rPr lang="ja-JP" altLang="en-US" sz="1200" dirty="0"/>
              <a:t>の実証ユースケースに関与している</a:t>
            </a:r>
            <a:endParaRPr lang="en-US" altLang="ja-JP" sz="1200" dirty="0"/>
          </a:p>
          <a:p>
            <a:endParaRPr lang="en-US" altLang="ja-JP" sz="1200" dirty="0"/>
          </a:p>
          <a:p>
            <a:endParaRPr lang="ja-JP" altLang="en-US" sz="1200" dirty="0"/>
          </a:p>
        </p:txBody>
      </p:sp>
      <p:sp>
        <p:nvSpPr>
          <p:cNvPr id="25" name="正方形/長方形 24">
            <a:extLst>
              <a:ext uri="{FF2B5EF4-FFF2-40B4-BE49-F238E27FC236}">
                <a16:creationId xmlns:a16="http://schemas.microsoft.com/office/drawing/2014/main" id="{89A5FBC5-C227-0121-F493-F23A23C61139}"/>
              </a:ext>
            </a:extLst>
          </p:cNvPr>
          <p:cNvSpPr/>
          <p:nvPr/>
        </p:nvSpPr>
        <p:spPr>
          <a:xfrm>
            <a:off x="7462200" y="2835627"/>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9" name="コンテンツ プレースホルダー 2">
            <a:extLst>
              <a:ext uri="{FF2B5EF4-FFF2-40B4-BE49-F238E27FC236}">
                <a16:creationId xmlns:a16="http://schemas.microsoft.com/office/drawing/2014/main" id="{042A9401-A016-5E31-D83E-D8C26C321E92}"/>
              </a:ext>
            </a:extLst>
          </p:cNvPr>
          <p:cNvSpPr txBox="1">
            <a:spLocks/>
          </p:cNvSpPr>
          <p:nvPr/>
        </p:nvSpPr>
        <p:spPr>
          <a:xfrm>
            <a:off x="273050" y="908050"/>
            <a:ext cx="9359900" cy="30777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政府が資金供与するプロジェクトから、法人化することで、本番システム提供にむけた開発が可能となる体制を構築した</a:t>
            </a:r>
            <a:endParaRPr lang="en-US" altLang="ja-JP" dirty="0"/>
          </a:p>
          <a:p>
            <a:r>
              <a:rPr lang="en-US" altLang="ja-JP" dirty="0"/>
              <a:t>LSP</a:t>
            </a:r>
            <a:r>
              <a:rPr lang="ja-JP" altLang="en-US" dirty="0"/>
              <a:t>を通じて</a:t>
            </a:r>
            <a:r>
              <a:rPr lang="en-US" altLang="ja-JP" dirty="0" err="1"/>
              <a:t>eIDAS</a:t>
            </a:r>
            <a:r>
              <a:rPr lang="en-US" altLang="ja-JP" dirty="0"/>
              <a:t> 2.0</a:t>
            </a:r>
            <a:r>
              <a:rPr lang="ja-JP" altLang="en-US" dirty="0"/>
              <a:t>や、</a:t>
            </a:r>
            <a:r>
              <a:rPr lang="en-US" altLang="ja-JP" dirty="0"/>
              <a:t>EUDIW</a:t>
            </a:r>
            <a:r>
              <a:rPr lang="ja-JP" altLang="en-US" dirty="0"/>
              <a:t>の技術仕様にかかる課題の提言ができる体制を整備した</a:t>
            </a:r>
            <a:endParaRPr lang="en-US" altLang="ja-JP" dirty="0"/>
          </a:p>
        </p:txBody>
      </p:sp>
      <p:sp>
        <p:nvSpPr>
          <p:cNvPr id="10" name="テキスト ボックス 9">
            <a:extLst>
              <a:ext uri="{FF2B5EF4-FFF2-40B4-BE49-F238E27FC236}">
                <a16:creationId xmlns:a16="http://schemas.microsoft.com/office/drawing/2014/main" id="{70420823-5351-9AC8-FB5E-3BB96E2BB8C6}"/>
              </a:ext>
            </a:extLst>
          </p:cNvPr>
          <p:cNvSpPr txBox="1"/>
          <p:nvPr/>
        </p:nvSpPr>
        <p:spPr>
          <a:xfrm>
            <a:off x="555544" y="6199026"/>
            <a:ext cx="9069123" cy="276999"/>
          </a:xfrm>
          <a:prstGeom prst="rect">
            <a:avLst/>
          </a:prstGeom>
          <a:noFill/>
        </p:spPr>
        <p:txBody>
          <a:bodyPr wrap="square" lIns="0" tIns="0" rIns="0" bIns="0" rtlCol="0">
            <a:spAutoFit/>
          </a:bodyPr>
          <a:lstStyle/>
          <a:p>
            <a:pPr defTabSz="355600"/>
            <a:r>
              <a:rPr kumimoji="1" lang="en-US" altLang="ja-JP" sz="900" dirty="0">
                <a:latin typeface="+mn-ea"/>
                <a:ea typeface="+mn-ea"/>
                <a:hlinkClick r:id="rId3"/>
              </a:rPr>
              <a:t>https://idunion.org/2022/08/16/idunion-announces-successful-establishment-of-european-cooperative/?lang=en</a:t>
            </a:r>
            <a:endParaRPr kumimoji="1" lang="en-US" altLang="ja-JP" sz="900" dirty="0">
              <a:latin typeface="+mn-ea"/>
              <a:ea typeface="+mn-ea"/>
            </a:endParaRPr>
          </a:p>
          <a:p>
            <a:pPr defTabSz="355600"/>
            <a:r>
              <a:rPr kumimoji="1" lang="en-US" altLang="ja-JP" sz="900" dirty="0">
                <a:latin typeface="+mn-ea"/>
                <a:ea typeface="+mn-ea"/>
                <a:hlinkClick r:id="rId4"/>
              </a:rPr>
              <a:t>https://idunion.org/2023/07/17/interview-large-scale-pilots/?lang=en</a:t>
            </a:r>
            <a:endParaRPr kumimoji="1" lang="en-US" altLang="ja-JP" sz="900" dirty="0">
              <a:latin typeface="+mn-ea"/>
              <a:ea typeface="+mn-ea"/>
            </a:endParaRPr>
          </a:p>
        </p:txBody>
      </p:sp>
      <p:sp>
        <p:nvSpPr>
          <p:cNvPr id="15" name="テキスト ボックス 14">
            <a:extLst>
              <a:ext uri="{FF2B5EF4-FFF2-40B4-BE49-F238E27FC236}">
                <a16:creationId xmlns:a16="http://schemas.microsoft.com/office/drawing/2014/main" id="{D18D8471-C674-28AE-B1E3-9A1A0BFD2BAC}"/>
              </a:ext>
            </a:extLst>
          </p:cNvPr>
          <p:cNvSpPr txBox="1"/>
          <p:nvPr/>
        </p:nvSpPr>
        <p:spPr>
          <a:xfrm>
            <a:off x="162568" y="6155482"/>
            <a:ext cx="445037" cy="369332"/>
          </a:xfrm>
          <a:prstGeom prst="rect">
            <a:avLst/>
          </a:prstGeom>
          <a:noFill/>
        </p:spPr>
        <p:txBody>
          <a:bodyPr wrap="square">
            <a:spAutoFit/>
          </a:bodyPr>
          <a:lstStyle/>
          <a:p>
            <a:pPr algn="r"/>
            <a:r>
              <a:rPr lang="ja-JP" altLang="en-US" sz="900" dirty="0">
                <a:latin typeface="+mn-ea"/>
                <a:ea typeface="+mn-ea"/>
              </a:rPr>
              <a:t>*</a:t>
            </a:r>
            <a:r>
              <a:rPr lang="en-US" altLang="ja-JP" sz="900" dirty="0">
                <a:latin typeface="+mn-ea"/>
                <a:ea typeface="+mn-ea"/>
              </a:rPr>
              <a:t>1</a:t>
            </a:r>
          </a:p>
          <a:p>
            <a:pPr algn="r"/>
            <a:r>
              <a:rPr lang="ja-JP" altLang="en-US" sz="900" dirty="0">
                <a:latin typeface="+mn-ea"/>
                <a:ea typeface="+mn-ea"/>
              </a:rPr>
              <a:t>*</a:t>
            </a:r>
            <a:r>
              <a:rPr lang="en-US" altLang="ja-JP" sz="900" dirty="0">
                <a:latin typeface="+mn-ea"/>
                <a:ea typeface="+mn-ea"/>
              </a:rPr>
              <a:t>2</a:t>
            </a:r>
          </a:p>
        </p:txBody>
      </p:sp>
    </p:spTree>
    <p:extLst>
      <p:ext uri="{BB962C8B-B14F-4D97-AF65-F5344CB8AC3E}">
        <p14:creationId xmlns:p14="http://schemas.microsoft.com/office/powerpoint/2010/main" val="2313317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E98A1C-ADC5-843E-1510-638B6CF3FBB7}"/>
              </a:ext>
            </a:extLst>
          </p:cNvPr>
          <p:cNvSpPr>
            <a:spLocks noGrp="1"/>
          </p:cNvSpPr>
          <p:nvPr>
            <p:ph type="title"/>
          </p:nvPr>
        </p:nvSpPr>
        <p:spPr>
          <a:xfrm>
            <a:off x="273050" y="384919"/>
            <a:ext cx="7848302" cy="307777"/>
          </a:xfrm>
        </p:spPr>
        <p:txBody>
          <a:bodyPr/>
          <a:lstStyle/>
          <a:p>
            <a:r>
              <a:rPr kumimoji="1" lang="en-US" altLang="ja-JP" dirty="0"/>
              <a:t>3.3. </a:t>
            </a:r>
            <a:r>
              <a:rPr kumimoji="1" lang="ja-JP" altLang="en-US" dirty="0"/>
              <a:t>イギリス：</a:t>
            </a:r>
            <a:r>
              <a:rPr kumimoji="1" lang="en-US" altLang="ja-JP" dirty="0"/>
              <a:t>DIATF – 3.3.1. </a:t>
            </a:r>
            <a:r>
              <a:rPr kumimoji="1" lang="ja-JP" altLang="en-US" dirty="0"/>
              <a:t>ガバナンス構造</a:t>
            </a:r>
          </a:p>
        </p:txBody>
      </p:sp>
      <p:sp>
        <p:nvSpPr>
          <p:cNvPr id="3" name="テキスト プレースホルダー 2">
            <a:extLst>
              <a:ext uri="{FF2B5EF4-FFF2-40B4-BE49-F238E27FC236}">
                <a16:creationId xmlns:a16="http://schemas.microsoft.com/office/drawing/2014/main" id="{3017E99C-2EC4-F77A-399E-6A85E9832E9C}"/>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4" name="正方形/長方形 3">
            <a:extLst>
              <a:ext uri="{FF2B5EF4-FFF2-40B4-BE49-F238E27FC236}">
                <a16:creationId xmlns:a16="http://schemas.microsoft.com/office/drawing/2014/main" id="{899367BC-90E2-02F1-3A53-C2B165B7DF9E}"/>
              </a:ext>
            </a:extLst>
          </p:cNvPr>
          <p:cNvSpPr/>
          <p:nvPr/>
        </p:nvSpPr>
        <p:spPr>
          <a:xfrm>
            <a:off x="273049" y="3391069"/>
            <a:ext cx="3131499" cy="1642917"/>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r>
              <a:rPr kumimoji="1" lang="ja-JP" altLang="en-US" sz="1200" dirty="0"/>
              <a:t>実験的な取組の中でトラストフレームワーク策定を進めたのちに上位の法規制が確立</a:t>
            </a:r>
            <a:endParaRPr kumimoji="1" lang="en-US" altLang="ja-JP" sz="1200" dirty="0"/>
          </a:p>
          <a:p>
            <a:pPr marL="171450" indent="-171450">
              <a:buFont typeface="Arial" panose="020B0604020202020204" pitchFamily="34" charset="0"/>
              <a:buChar char="•"/>
            </a:pPr>
            <a:r>
              <a:rPr kumimoji="1" lang="ja-JP" altLang="en-US" sz="1200" dirty="0"/>
              <a:t>政府主体で</a:t>
            </a:r>
            <a:r>
              <a:rPr lang="ja-JP" altLang="en-US" sz="1200" dirty="0"/>
              <a:t>一般的な属性情報にかかるフレームワーク</a:t>
            </a:r>
            <a:r>
              <a:rPr kumimoji="1" lang="ja-JP" altLang="en-US" sz="1200" dirty="0"/>
              <a:t>策定・監査を実施</a:t>
            </a:r>
            <a:endParaRPr kumimoji="1" lang="en-US" altLang="ja-JP" sz="1200" dirty="0"/>
          </a:p>
          <a:p>
            <a:pPr marL="171450" indent="-171450">
              <a:buFont typeface="Arial" panose="020B0604020202020204" pitchFamily="34" charset="0"/>
              <a:buChar char="•"/>
            </a:pPr>
            <a:r>
              <a:rPr lang="ja-JP" altLang="en-US" sz="1200" dirty="0"/>
              <a:t>業界特有のユースケースは認定を受けることで業界団体・公共団体が策定可能</a:t>
            </a:r>
            <a:br>
              <a:rPr lang="en-US" altLang="ja-JP" sz="1200" dirty="0"/>
            </a:br>
            <a:r>
              <a:rPr lang="en-US" altLang="ja-JP" sz="1200" dirty="0"/>
              <a:t>(</a:t>
            </a:r>
            <a:r>
              <a:rPr lang="ja-JP" altLang="en-US" sz="1200" dirty="0"/>
              <a:t>トラストスキーム</a:t>
            </a:r>
            <a:r>
              <a:rPr lang="en-US" altLang="ja-JP" sz="1200" dirty="0"/>
              <a:t>)</a:t>
            </a:r>
            <a:endParaRPr kumimoji="1" lang="en-US" altLang="ja-JP" sz="1200" dirty="0"/>
          </a:p>
        </p:txBody>
      </p:sp>
      <p:sp>
        <p:nvSpPr>
          <p:cNvPr id="5" name="正方形/長方形 4">
            <a:extLst>
              <a:ext uri="{FF2B5EF4-FFF2-40B4-BE49-F238E27FC236}">
                <a16:creationId xmlns:a16="http://schemas.microsoft.com/office/drawing/2014/main" id="{08E77D46-A487-EB84-8175-A6883588465B}"/>
              </a:ext>
            </a:extLst>
          </p:cNvPr>
          <p:cNvSpPr/>
          <p:nvPr/>
        </p:nvSpPr>
        <p:spPr>
          <a:xfrm>
            <a:off x="273049" y="5271633"/>
            <a:ext cx="3131499" cy="1067015"/>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r>
              <a:rPr lang="ja-JP" altLang="en-US" sz="1200" dirty="0"/>
              <a:t>現在</a:t>
            </a:r>
            <a:r>
              <a:rPr lang="en-US" altLang="ja-JP" sz="1200" dirty="0"/>
              <a:t>1</a:t>
            </a:r>
            <a:r>
              <a:rPr lang="ja-JP" altLang="en-US" sz="1200" dirty="0"/>
              <a:t>つのスキームが認定を受けておりサービスを展開</a:t>
            </a:r>
            <a:r>
              <a:rPr lang="en-US" altLang="ja-JP" sz="1200" dirty="0"/>
              <a:t>(</a:t>
            </a:r>
            <a:r>
              <a:rPr lang="ja-JP" altLang="en-US" sz="1200" dirty="0"/>
              <a:t>内務省が管轄する就業に際する犯罪歴確認サービス</a:t>
            </a:r>
            <a:r>
              <a:rPr lang="en-US" altLang="ja-JP" sz="1200" dirty="0"/>
              <a:t>)</a:t>
            </a:r>
          </a:p>
          <a:p>
            <a:pPr marL="171450" indent="-171450">
              <a:buFont typeface="Arial" panose="020B0604020202020204" pitchFamily="34" charset="0"/>
              <a:buChar char="•"/>
            </a:pPr>
            <a:r>
              <a:rPr lang="ja-JP" altLang="en-US" sz="1200" dirty="0"/>
              <a:t>国家認定機関が指定した認定団体が、事業者の認定・監査を実施</a:t>
            </a:r>
            <a:endParaRPr lang="en-US" altLang="ja-JP" sz="1200" dirty="0"/>
          </a:p>
        </p:txBody>
      </p:sp>
      <p:sp>
        <p:nvSpPr>
          <p:cNvPr id="6" name="正方形/長方形 5">
            <a:extLst>
              <a:ext uri="{FF2B5EF4-FFF2-40B4-BE49-F238E27FC236}">
                <a16:creationId xmlns:a16="http://schemas.microsoft.com/office/drawing/2014/main" id="{20F17395-5E8D-4DE2-4C68-29EEE7F97C70}"/>
              </a:ext>
            </a:extLst>
          </p:cNvPr>
          <p:cNvSpPr/>
          <p:nvPr/>
        </p:nvSpPr>
        <p:spPr>
          <a:xfrm>
            <a:off x="273049" y="1943425"/>
            <a:ext cx="3131499" cy="1241944"/>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r>
              <a:rPr kumimoji="1" lang="ja-JP" altLang="en-US" sz="1200" dirty="0"/>
              <a:t>トラストフレームワークは、現在議会を通過中のデータ保護およびデジタル情報法案</a:t>
            </a:r>
            <a:r>
              <a:rPr kumimoji="1" lang="en-US" altLang="ja-JP" sz="1200" dirty="0"/>
              <a:t>(ECHR Memorandum)</a:t>
            </a:r>
            <a:r>
              <a:rPr kumimoji="1" lang="ja-JP" altLang="en-US" sz="1200" dirty="0"/>
              <a:t>によって</a:t>
            </a:r>
            <a:r>
              <a:rPr lang="ja-JP" altLang="en-US" sz="1200" dirty="0"/>
              <a:t>、</a:t>
            </a:r>
            <a:r>
              <a:rPr kumimoji="1" lang="ja-JP" altLang="en-US" sz="1200" dirty="0"/>
              <a:t>法的根拠が確立される予定</a:t>
            </a:r>
            <a:endParaRPr kumimoji="1" lang="en-US" altLang="ja-JP" sz="1200" dirty="0"/>
          </a:p>
        </p:txBody>
      </p:sp>
      <p:sp>
        <p:nvSpPr>
          <p:cNvPr id="9" name="正方形/長方形 8">
            <a:extLst>
              <a:ext uri="{FF2B5EF4-FFF2-40B4-BE49-F238E27FC236}">
                <a16:creationId xmlns:a16="http://schemas.microsoft.com/office/drawing/2014/main" id="{A68D0734-10DD-4B0E-EAA9-910405447D2D}"/>
              </a:ext>
            </a:extLst>
          </p:cNvPr>
          <p:cNvSpPr/>
          <p:nvPr/>
        </p:nvSpPr>
        <p:spPr>
          <a:xfrm>
            <a:off x="4944727" y="1922238"/>
            <a:ext cx="1291964" cy="3483884"/>
          </a:xfrm>
          <a:prstGeom prst="rect">
            <a:avLst/>
          </a:prstGeom>
          <a:solidFill>
            <a:schemeClr val="accent3">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0" name="正方形/長方形 9">
            <a:extLst>
              <a:ext uri="{FF2B5EF4-FFF2-40B4-BE49-F238E27FC236}">
                <a16:creationId xmlns:a16="http://schemas.microsoft.com/office/drawing/2014/main" id="{1AA27F42-7052-C4EE-62DA-211DC70D1166}"/>
              </a:ext>
            </a:extLst>
          </p:cNvPr>
          <p:cNvSpPr/>
          <p:nvPr/>
        </p:nvSpPr>
        <p:spPr>
          <a:xfrm>
            <a:off x="6277805" y="1922238"/>
            <a:ext cx="1291964" cy="3483884"/>
          </a:xfrm>
          <a:prstGeom prst="rect">
            <a:avLst/>
          </a:prstGeom>
          <a:solidFill>
            <a:srgbClr val="FF0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1" name="正方形/長方形 10">
            <a:extLst>
              <a:ext uri="{FF2B5EF4-FFF2-40B4-BE49-F238E27FC236}">
                <a16:creationId xmlns:a16="http://schemas.microsoft.com/office/drawing/2014/main" id="{76CDF05C-1ED3-C781-81D4-3FF48629E274}"/>
              </a:ext>
            </a:extLst>
          </p:cNvPr>
          <p:cNvSpPr/>
          <p:nvPr/>
        </p:nvSpPr>
        <p:spPr>
          <a:xfrm>
            <a:off x="3600708" y="1922238"/>
            <a:ext cx="1291964" cy="3483884"/>
          </a:xfrm>
          <a:prstGeom prst="rect">
            <a:avLst/>
          </a:prstGeom>
          <a:solidFill>
            <a:srgbClr val="FFC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2" name="四角形: 角を丸くする 11">
            <a:extLst>
              <a:ext uri="{FF2B5EF4-FFF2-40B4-BE49-F238E27FC236}">
                <a16:creationId xmlns:a16="http://schemas.microsoft.com/office/drawing/2014/main" id="{5C892C24-845D-9BA3-F142-08349704987E}"/>
              </a:ext>
            </a:extLst>
          </p:cNvPr>
          <p:cNvSpPr/>
          <p:nvPr/>
        </p:nvSpPr>
        <p:spPr>
          <a:xfrm>
            <a:off x="3643757" y="2606967"/>
            <a:ext cx="2485599" cy="429991"/>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0" tIns="0" rIns="0" bIns="0" rtlCol="0" anchor="t" anchorCtr="0"/>
          <a:lstStyle/>
          <a:p>
            <a:pPr algn="ctr"/>
            <a:r>
              <a:rPr kumimoji="1" lang="en-US" altLang="ja-JP" sz="1200" dirty="0">
                <a:latin typeface="+mn-ea"/>
              </a:rPr>
              <a:t>European Convention on Human Rights</a:t>
            </a:r>
            <a:r>
              <a:rPr lang="ja-JP" altLang="en-US" sz="1200" dirty="0">
                <a:latin typeface="+mn-ea"/>
              </a:rPr>
              <a:t> </a:t>
            </a:r>
            <a:r>
              <a:rPr lang="en-US" altLang="ja-JP" sz="1200" dirty="0">
                <a:latin typeface="+mn-ea"/>
              </a:rPr>
              <a:t>(</a:t>
            </a:r>
            <a:r>
              <a:rPr kumimoji="1" lang="en-US" altLang="ja-JP" sz="1200" dirty="0">
                <a:latin typeface="+mn-ea"/>
              </a:rPr>
              <a:t>ECHR</a:t>
            </a:r>
            <a:r>
              <a:rPr lang="en-US" altLang="ja-JP" sz="1200" dirty="0">
                <a:latin typeface="+mn-ea"/>
              </a:rPr>
              <a:t>)</a:t>
            </a:r>
            <a:r>
              <a:rPr kumimoji="1" lang="en-US" altLang="ja-JP" sz="1200" dirty="0">
                <a:latin typeface="+mn-ea"/>
              </a:rPr>
              <a:t> Memorandum</a:t>
            </a:r>
          </a:p>
        </p:txBody>
      </p:sp>
      <p:sp>
        <p:nvSpPr>
          <p:cNvPr id="14" name="正方形/長方形 13">
            <a:extLst>
              <a:ext uri="{FF2B5EF4-FFF2-40B4-BE49-F238E27FC236}">
                <a16:creationId xmlns:a16="http://schemas.microsoft.com/office/drawing/2014/main" id="{D6682BFE-4CF3-FB62-C90F-D544D8B9C87B}"/>
              </a:ext>
            </a:extLst>
          </p:cNvPr>
          <p:cNvSpPr/>
          <p:nvPr/>
        </p:nvSpPr>
        <p:spPr>
          <a:xfrm>
            <a:off x="4696508" y="2831401"/>
            <a:ext cx="188130" cy="76913"/>
          </a:xfrm>
          <a:prstGeom prst="rect">
            <a:avLst/>
          </a:prstGeom>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27" name="正方形/長方形 26">
            <a:extLst>
              <a:ext uri="{FF2B5EF4-FFF2-40B4-BE49-F238E27FC236}">
                <a16:creationId xmlns:a16="http://schemas.microsoft.com/office/drawing/2014/main" id="{C26269D4-BD2B-94B1-E8C5-8D283F29F5A1}"/>
              </a:ext>
            </a:extLst>
          </p:cNvPr>
          <p:cNvSpPr/>
          <p:nvPr/>
        </p:nvSpPr>
        <p:spPr>
          <a:xfrm>
            <a:off x="3898598" y="6224716"/>
            <a:ext cx="3515682" cy="225248"/>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エンドユーザ等</a:t>
            </a:r>
          </a:p>
        </p:txBody>
      </p:sp>
      <p:cxnSp>
        <p:nvCxnSpPr>
          <p:cNvPr id="30" name="直線矢印コネクタ 29">
            <a:extLst>
              <a:ext uri="{FF2B5EF4-FFF2-40B4-BE49-F238E27FC236}">
                <a16:creationId xmlns:a16="http://schemas.microsoft.com/office/drawing/2014/main" id="{45A33F8B-7D79-0A1E-175F-A521EDA57956}"/>
              </a:ext>
            </a:extLst>
          </p:cNvPr>
          <p:cNvCxnSpPr>
            <a:cxnSpLocks/>
            <a:stCxn id="106" idx="2"/>
          </p:cNvCxnSpPr>
          <p:nvPr/>
        </p:nvCxnSpPr>
        <p:spPr>
          <a:xfrm flipH="1">
            <a:off x="5092463" y="5272079"/>
            <a:ext cx="1" cy="296384"/>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 name="四角形: 角を丸くする 42">
            <a:extLst>
              <a:ext uri="{FF2B5EF4-FFF2-40B4-BE49-F238E27FC236}">
                <a16:creationId xmlns:a16="http://schemas.microsoft.com/office/drawing/2014/main" id="{E54634C5-0295-339D-1E2D-81FC0665FCDE}"/>
              </a:ext>
            </a:extLst>
          </p:cNvPr>
          <p:cNvSpPr/>
          <p:nvPr/>
        </p:nvSpPr>
        <p:spPr>
          <a:xfrm>
            <a:off x="3657433" y="4113718"/>
            <a:ext cx="2516016" cy="408001"/>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a:latin typeface="+mn-ea"/>
              </a:rPr>
              <a:t>Trust Framework</a:t>
            </a:r>
          </a:p>
          <a:p>
            <a:pPr algn="ctr"/>
            <a:endParaRPr lang="en-US" altLang="ja-JP" sz="1200" dirty="0">
              <a:latin typeface="+mn-ea"/>
            </a:endParaRPr>
          </a:p>
        </p:txBody>
      </p:sp>
      <p:cxnSp>
        <p:nvCxnSpPr>
          <p:cNvPr id="46" name="直線矢印コネクタ 45">
            <a:extLst>
              <a:ext uri="{FF2B5EF4-FFF2-40B4-BE49-F238E27FC236}">
                <a16:creationId xmlns:a16="http://schemas.microsoft.com/office/drawing/2014/main" id="{6F657ECF-6263-C56C-1950-547E75DDAA2B}"/>
              </a:ext>
            </a:extLst>
          </p:cNvPr>
          <p:cNvCxnSpPr>
            <a:cxnSpLocks/>
          </p:cNvCxnSpPr>
          <p:nvPr/>
        </p:nvCxnSpPr>
        <p:spPr>
          <a:xfrm flipV="1">
            <a:off x="4173781" y="3045147"/>
            <a:ext cx="0" cy="103645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E4F12499-C5F7-EDBE-D3DC-E5CE3B86023A}"/>
              </a:ext>
            </a:extLst>
          </p:cNvPr>
          <p:cNvCxnSpPr>
            <a:cxnSpLocks/>
            <a:stCxn id="107" idx="2"/>
            <a:endCxn id="27" idx="0"/>
          </p:cNvCxnSpPr>
          <p:nvPr/>
        </p:nvCxnSpPr>
        <p:spPr>
          <a:xfrm>
            <a:off x="5656439" y="5980791"/>
            <a:ext cx="0" cy="243925"/>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9" name="テキスト ボックス 68">
            <a:extLst>
              <a:ext uri="{FF2B5EF4-FFF2-40B4-BE49-F238E27FC236}">
                <a16:creationId xmlns:a16="http://schemas.microsoft.com/office/drawing/2014/main" id="{49D956C3-E0E7-CC0C-70E1-754E7031D5AD}"/>
              </a:ext>
            </a:extLst>
          </p:cNvPr>
          <p:cNvSpPr txBox="1"/>
          <p:nvPr/>
        </p:nvSpPr>
        <p:spPr>
          <a:xfrm>
            <a:off x="4655520" y="6008598"/>
            <a:ext cx="1022028" cy="184666"/>
          </a:xfrm>
          <a:prstGeom prst="rect">
            <a:avLst/>
          </a:prstGeom>
          <a:noFill/>
          <a:ln>
            <a:noFill/>
          </a:ln>
        </p:spPr>
        <p:txBody>
          <a:bodyPr wrap="square" lIns="0" tIns="0" rIns="0" bIns="0">
            <a:spAutoFit/>
          </a:bodyPr>
          <a:lstStyle/>
          <a:p>
            <a:pPr algn="ctr"/>
            <a:r>
              <a:rPr lang="ja-JP" altLang="en-US" sz="1200" dirty="0">
                <a:latin typeface="+mn-ea"/>
                <a:ea typeface="+mn-ea"/>
              </a:rPr>
              <a:t>サービス提供</a:t>
            </a:r>
          </a:p>
        </p:txBody>
      </p:sp>
      <p:sp>
        <p:nvSpPr>
          <p:cNvPr id="80" name="テキスト ボックス 79">
            <a:extLst>
              <a:ext uri="{FF2B5EF4-FFF2-40B4-BE49-F238E27FC236}">
                <a16:creationId xmlns:a16="http://schemas.microsoft.com/office/drawing/2014/main" id="{1519029D-5579-E42B-9FE3-E8B4CD29D5E0}"/>
              </a:ext>
            </a:extLst>
          </p:cNvPr>
          <p:cNvSpPr txBox="1"/>
          <p:nvPr/>
        </p:nvSpPr>
        <p:spPr>
          <a:xfrm>
            <a:off x="4087444" y="3117018"/>
            <a:ext cx="1554716" cy="184666"/>
          </a:xfrm>
          <a:prstGeom prst="rect">
            <a:avLst/>
          </a:prstGeom>
          <a:noFill/>
        </p:spPr>
        <p:txBody>
          <a:bodyPr wrap="square" lIns="0" tIns="0" rIns="0" bIns="0">
            <a:spAutoFit/>
          </a:bodyPr>
          <a:lstStyle/>
          <a:p>
            <a:pPr algn="ctr"/>
            <a:r>
              <a:rPr lang="ja-JP" altLang="en-US" sz="1200" dirty="0">
                <a:latin typeface="+mn-ea"/>
                <a:ea typeface="+mn-ea"/>
              </a:rPr>
              <a:t>法的拘束力の担保</a:t>
            </a:r>
          </a:p>
        </p:txBody>
      </p:sp>
      <p:sp>
        <p:nvSpPr>
          <p:cNvPr id="106" name="四角形: 角を丸くする 105">
            <a:extLst>
              <a:ext uri="{FF2B5EF4-FFF2-40B4-BE49-F238E27FC236}">
                <a16:creationId xmlns:a16="http://schemas.microsoft.com/office/drawing/2014/main" id="{A0F2638E-2C0E-916E-4762-CD953AC1E0D0}"/>
              </a:ext>
            </a:extLst>
          </p:cNvPr>
          <p:cNvSpPr/>
          <p:nvPr/>
        </p:nvSpPr>
        <p:spPr>
          <a:xfrm>
            <a:off x="4587232" y="4937943"/>
            <a:ext cx="1010463" cy="334136"/>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ja-JP" altLang="en-US" sz="1200" dirty="0">
                <a:latin typeface="+mn-ea"/>
              </a:rPr>
              <a:t>トラストスキーム</a:t>
            </a:r>
            <a:endParaRPr lang="en-US" altLang="ja-JP" sz="1200" dirty="0">
              <a:latin typeface="+mn-ea"/>
            </a:endParaRPr>
          </a:p>
        </p:txBody>
      </p:sp>
      <p:sp>
        <p:nvSpPr>
          <p:cNvPr id="107" name="正方形/長方形 106">
            <a:extLst>
              <a:ext uri="{FF2B5EF4-FFF2-40B4-BE49-F238E27FC236}">
                <a16:creationId xmlns:a16="http://schemas.microsoft.com/office/drawing/2014/main" id="{54096026-E81F-1610-37A1-84DC652DECB3}"/>
              </a:ext>
            </a:extLst>
          </p:cNvPr>
          <p:cNvSpPr/>
          <p:nvPr/>
        </p:nvSpPr>
        <p:spPr>
          <a:xfrm>
            <a:off x="3898598" y="5622706"/>
            <a:ext cx="3515682" cy="358085"/>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サービスプロバイダー</a:t>
            </a:r>
            <a:endParaRPr lang="en-US" altLang="ja-JP" sz="1200" dirty="0">
              <a:solidFill>
                <a:schemeClr val="bg1"/>
              </a:solidFill>
              <a:latin typeface="+mn-ea"/>
            </a:endParaRPr>
          </a:p>
          <a:p>
            <a:pPr algn="ctr"/>
            <a:r>
              <a:rPr lang="en-US" altLang="ja-JP" sz="1200" dirty="0">
                <a:solidFill>
                  <a:schemeClr val="bg1"/>
                </a:solidFill>
                <a:latin typeface="+mn-ea"/>
              </a:rPr>
              <a:t>(Identity / Attribute / Orchestration)</a:t>
            </a:r>
            <a:endParaRPr lang="ja-JP" altLang="en-US" sz="1200" dirty="0">
              <a:solidFill>
                <a:schemeClr val="bg1"/>
              </a:solidFill>
              <a:latin typeface="+mn-ea"/>
            </a:endParaRPr>
          </a:p>
        </p:txBody>
      </p:sp>
      <p:cxnSp>
        <p:nvCxnSpPr>
          <p:cNvPr id="108" name="直線矢印コネクタ 107">
            <a:extLst>
              <a:ext uri="{FF2B5EF4-FFF2-40B4-BE49-F238E27FC236}">
                <a16:creationId xmlns:a16="http://schemas.microsoft.com/office/drawing/2014/main" id="{3A2C64B3-E063-0CDB-C820-1E5362F22D53}"/>
              </a:ext>
            </a:extLst>
          </p:cNvPr>
          <p:cNvCxnSpPr>
            <a:cxnSpLocks/>
          </p:cNvCxnSpPr>
          <p:nvPr/>
        </p:nvCxnSpPr>
        <p:spPr>
          <a:xfrm>
            <a:off x="4030035" y="4521719"/>
            <a:ext cx="0" cy="106780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1" name="正方形/長方形 110">
            <a:extLst>
              <a:ext uri="{FF2B5EF4-FFF2-40B4-BE49-F238E27FC236}">
                <a16:creationId xmlns:a16="http://schemas.microsoft.com/office/drawing/2014/main" id="{1E8ED53D-D29D-DF43-6DE0-27B6D645AB8C}"/>
              </a:ext>
            </a:extLst>
          </p:cNvPr>
          <p:cNvSpPr/>
          <p:nvPr/>
        </p:nvSpPr>
        <p:spPr>
          <a:xfrm>
            <a:off x="8049071" y="4081600"/>
            <a:ext cx="1585650" cy="36680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zh-TW" altLang="en-US" sz="1200" dirty="0">
                <a:solidFill>
                  <a:schemeClr val="bg1"/>
                </a:solidFill>
                <a:latin typeface="+mn-ea"/>
              </a:rPr>
              <a:t>英国認証機関</a:t>
            </a:r>
            <a:endParaRPr lang="en-US" altLang="zh-TW" sz="1200" dirty="0">
              <a:solidFill>
                <a:schemeClr val="bg1"/>
              </a:solidFill>
              <a:latin typeface="+mn-ea"/>
            </a:endParaRPr>
          </a:p>
          <a:p>
            <a:pPr algn="ctr"/>
            <a:r>
              <a:rPr lang="zh-TW" altLang="en-US" sz="1200" dirty="0">
                <a:solidFill>
                  <a:schemeClr val="bg1"/>
                </a:solidFill>
                <a:latin typeface="+mn-ea"/>
              </a:rPr>
              <a:t>認定審議会</a:t>
            </a:r>
            <a:r>
              <a:rPr lang="en-US" altLang="ja-JP" sz="1200" dirty="0">
                <a:solidFill>
                  <a:schemeClr val="bg1"/>
                </a:solidFill>
                <a:latin typeface="+mn-ea"/>
              </a:rPr>
              <a:t>(UKAS)</a:t>
            </a:r>
            <a:endParaRPr lang="ja-JP" altLang="en-US" sz="1200" dirty="0">
              <a:solidFill>
                <a:schemeClr val="bg1"/>
              </a:solidFill>
              <a:latin typeface="+mn-ea"/>
            </a:endParaRPr>
          </a:p>
        </p:txBody>
      </p:sp>
      <p:sp>
        <p:nvSpPr>
          <p:cNvPr id="112" name="正方形/長方形 111">
            <a:extLst>
              <a:ext uri="{FF2B5EF4-FFF2-40B4-BE49-F238E27FC236}">
                <a16:creationId xmlns:a16="http://schemas.microsoft.com/office/drawing/2014/main" id="{35F7230A-B9EE-2C3B-66C1-A7D4067600DC}"/>
              </a:ext>
            </a:extLst>
          </p:cNvPr>
          <p:cNvSpPr/>
          <p:nvPr/>
        </p:nvSpPr>
        <p:spPr>
          <a:xfrm>
            <a:off x="8049071" y="3422731"/>
            <a:ext cx="1585650" cy="54891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デジタル・文化・メディア・</a:t>
            </a:r>
            <a:endParaRPr lang="en-US" altLang="ja-JP" sz="1200" dirty="0">
              <a:solidFill>
                <a:schemeClr val="bg1"/>
              </a:solidFill>
              <a:latin typeface="+mn-ea"/>
            </a:endParaRPr>
          </a:p>
          <a:p>
            <a:pPr algn="ctr"/>
            <a:r>
              <a:rPr lang="ja-JP" altLang="en-US" sz="1200" dirty="0">
                <a:solidFill>
                  <a:schemeClr val="bg1"/>
                </a:solidFill>
                <a:latin typeface="+mn-ea"/>
              </a:rPr>
              <a:t>スポーツ省</a:t>
            </a:r>
            <a:endParaRPr lang="en-US" altLang="ja-JP" sz="1200" dirty="0">
              <a:solidFill>
                <a:schemeClr val="bg1"/>
              </a:solidFill>
              <a:latin typeface="+mn-ea"/>
            </a:endParaRPr>
          </a:p>
          <a:p>
            <a:pPr algn="ctr"/>
            <a:r>
              <a:rPr lang="ja-JP" altLang="en-US" sz="1200" dirty="0">
                <a:solidFill>
                  <a:schemeClr val="bg1"/>
                </a:solidFill>
                <a:latin typeface="+mn-ea"/>
              </a:rPr>
              <a:t>（</a:t>
            </a:r>
            <a:r>
              <a:rPr lang="en-US" altLang="ja-JP" sz="1200" dirty="0">
                <a:solidFill>
                  <a:schemeClr val="bg1"/>
                </a:solidFill>
                <a:latin typeface="+mn-ea"/>
              </a:rPr>
              <a:t>DCMS</a:t>
            </a:r>
            <a:r>
              <a:rPr lang="ja-JP" altLang="en-US" sz="1200" dirty="0">
                <a:solidFill>
                  <a:schemeClr val="bg1"/>
                </a:solidFill>
                <a:latin typeface="+mn-ea"/>
              </a:rPr>
              <a:t>）</a:t>
            </a:r>
          </a:p>
        </p:txBody>
      </p:sp>
      <p:cxnSp>
        <p:nvCxnSpPr>
          <p:cNvPr id="114" name="コネクタ: カギ線 113">
            <a:extLst>
              <a:ext uri="{FF2B5EF4-FFF2-40B4-BE49-F238E27FC236}">
                <a16:creationId xmlns:a16="http://schemas.microsoft.com/office/drawing/2014/main" id="{EA38F0DB-C3A7-0AD8-569E-D28A64A3D402}"/>
              </a:ext>
            </a:extLst>
          </p:cNvPr>
          <p:cNvCxnSpPr>
            <a:cxnSpLocks/>
          </p:cNvCxnSpPr>
          <p:nvPr/>
        </p:nvCxnSpPr>
        <p:spPr>
          <a:xfrm rot="10800000" flipV="1">
            <a:off x="4587232" y="3596585"/>
            <a:ext cx="3461848" cy="498486"/>
          </a:xfrm>
          <a:prstGeom prst="bentConnector3">
            <a:avLst>
              <a:gd name="adj1" fmla="val 100047"/>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30" name="正方形/長方形 129">
            <a:extLst>
              <a:ext uri="{FF2B5EF4-FFF2-40B4-BE49-F238E27FC236}">
                <a16:creationId xmlns:a16="http://schemas.microsoft.com/office/drawing/2014/main" id="{E2BC15AA-A8B5-32F2-BEBF-BCE1491A067D}"/>
              </a:ext>
            </a:extLst>
          </p:cNvPr>
          <p:cNvSpPr/>
          <p:nvPr/>
        </p:nvSpPr>
        <p:spPr>
          <a:xfrm>
            <a:off x="8049071" y="4689363"/>
            <a:ext cx="1585650" cy="36680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認定団体</a:t>
            </a:r>
            <a:endParaRPr lang="en-US" altLang="ja-JP" sz="1200" dirty="0">
              <a:solidFill>
                <a:schemeClr val="bg1"/>
              </a:solidFill>
              <a:latin typeface="+mn-ea"/>
            </a:endParaRPr>
          </a:p>
          <a:p>
            <a:pPr algn="ctr"/>
            <a:r>
              <a:rPr lang="en-US" altLang="ja-JP" sz="1200" dirty="0">
                <a:solidFill>
                  <a:schemeClr val="bg1"/>
                </a:solidFill>
                <a:latin typeface="+mn-ea"/>
              </a:rPr>
              <a:t>(Kantara Initiative</a:t>
            </a:r>
            <a:r>
              <a:rPr lang="ja-JP" altLang="en-US" sz="1200" dirty="0">
                <a:solidFill>
                  <a:schemeClr val="bg1"/>
                </a:solidFill>
                <a:latin typeface="+mn-ea"/>
              </a:rPr>
              <a:t>等</a:t>
            </a:r>
            <a:r>
              <a:rPr lang="en-US" altLang="ja-JP" sz="1200" dirty="0">
                <a:solidFill>
                  <a:schemeClr val="bg1"/>
                </a:solidFill>
                <a:latin typeface="+mn-ea"/>
              </a:rPr>
              <a:t>)</a:t>
            </a:r>
            <a:endParaRPr lang="ja-JP" altLang="en-US" sz="1200" dirty="0">
              <a:solidFill>
                <a:schemeClr val="bg1"/>
              </a:solidFill>
              <a:latin typeface="+mn-ea"/>
            </a:endParaRPr>
          </a:p>
        </p:txBody>
      </p:sp>
      <p:cxnSp>
        <p:nvCxnSpPr>
          <p:cNvPr id="141" name="コネクタ: カギ線 140">
            <a:extLst>
              <a:ext uri="{FF2B5EF4-FFF2-40B4-BE49-F238E27FC236}">
                <a16:creationId xmlns:a16="http://schemas.microsoft.com/office/drawing/2014/main" id="{37FF4D53-5992-C479-2155-3741592BB8B8}"/>
              </a:ext>
            </a:extLst>
          </p:cNvPr>
          <p:cNvCxnSpPr>
            <a:cxnSpLocks/>
            <a:stCxn id="43" idx="2"/>
            <a:endCxn id="106" idx="0"/>
          </p:cNvCxnSpPr>
          <p:nvPr/>
        </p:nvCxnSpPr>
        <p:spPr>
          <a:xfrm rot="16200000" flipH="1">
            <a:off x="4795840" y="4641319"/>
            <a:ext cx="416224" cy="177023"/>
          </a:xfrm>
          <a:prstGeom prst="bentConnector3">
            <a:avLst>
              <a:gd name="adj1" fmla="val 50000"/>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3" name="直線矢印コネクタ 152">
            <a:extLst>
              <a:ext uri="{FF2B5EF4-FFF2-40B4-BE49-F238E27FC236}">
                <a16:creationId xmlns:a16="http://schemas.microsoft.com/office/drawing/2014/main" id="{C97EA239-A548-114B-8802-F121262136E1}"/>
              </a:ext>
            </a:extLst>
          </p:cNvPr>
          <p:cNvCxnSpPr>
            <a:cxnSpLocks/>
          </p:cNvCxnSpPr>
          <p:nvPr/>
        </p:nvCxnSpPr>
        <p:spPr>
          <a:xfrm flipV="1">
            <a:off x="5772097" y="4497841"/>
            <a:ext cx="0" cy="1124865"/>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2" name="直線矢印コネクタ 161">
            <a:extLst>
              <a:ext uri="{FF2B5EF4-FFF2-40B4-BE49-F238E27FC236}">
                <a16:creationId xmlns:a16="http://schemas.microsoft.com/office/drawing/2014/main" id="{B8D43CD3-190F-4636-F183-893EA8E9ECC0}"/>
              </a:ext>
            </a:extLst>
          </p:cNvPr>
          <p:cNvCxnSpPr>
            <a:cxnSpLocks/>
            <a:stCxn id="111" idx="2"/>
            <a:endCxn id="130" idx="0"/>
          </p:cNvCxnSpPr>
          <p:nvPr/>
        </p:nvCxnSpPr>
        <p:spPr>
          <a:xfrm>
            <a:off x="8841896" y="4448402"/>
            <a:ext cx="0" cy="24096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5" name="コネクタ: カギ線 164">
            <a:extLst>
              <a:ext uri="{FF2B5EF4-FFF2-40B4-BE49-F238E27FC236}">
                <a16:creationId xmlns:a16="http://schemas.microsoft.com/office/drawing/2014/main" id="{944E324A-60AD-0504-B8ED-64CCB33DFA42}"/>
              </a:ext>
            </a:extLst>
          </p:cNvPr>
          <p:cNvCxnSpPr>
            <a:cxnSpLocks/>
            <a:stCxn id="112" idx="1"/>
          </p:cNvCxnSpPr>
          <p:nvPr/>
        </p:nvCxnSpPr>
        <p:spPr>
          <a:xfrm rot="10800000" flipV="1">
            <a:off x="6225549" y="3697187"/>
            <a:ext cx="1823523" cy="620510"/>
          </a:xfrm>
          <a:prstGeom prst="bentConnector3">
            <a:avLst>
              <a:gd name="adj1" fmla="val 5000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71" name="コネクタ: カギ線 170">
            <a:extLst>
              <a:ext uri="{FF2B5EF4-FFF2-40B4-BE49-F238E27FC236}">
                <a16:creationId xmlns:a16="http://schemas.microsoft.com/office/drawing/2014/main" id="{89A05AF7-0EB8-B1EB-B917-1F8ECDCC83A3}"/>
              </a:ext>
            </a:extLst>
          </p:cNvPr>
          <p:cNvCxnSpPr>
            <a:cxnSpLocks/>
            <a:stCxn id="130" idx="1"/>
            <a:endCxn id="107" idx="3"/>
          </p:cNvCxnSpPr>
          <p:nvPr/>
        </p:nvCxnSpPr>
        <p:spPr>
          <a:xfrm rot="10800000" flipV="1">
            <a:off x="7414281" y="4872763"/>
            <a:ext cx="634791" cy="928985"/>
          </a:xfrm>
          <a:prstGeom prst="bentConnector3">
            <a:avLst>
              <a:gd name="adj1" fmla="val 5000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75" name="コネクタ: カギ線 174">
            <a:extLst>
              <a:ext uri="{FF2B5EF4-FFF2-40B4-BE49-F238E27FC236}">
                <a16:creationId xmlns:a16="http://schemas.microsoft.com/office/drawing/2014/main" id="{C3941E00-6F7B-B63A-BF4D-D69849B42079}"/>
              </a:ext>
            </a:extLst>
          </p:cNvPr>
          <p:cNvCxnSpPr>
            <a:cxnSpLocks/>
            <a:stCxn id="130" idx="1"/>
            <a:endCxn id="106" idx="3"/>
          </p:cNvCxnSpPr>
          <p:nvPr/>
        </p:nvCxnSpPr>
        <p:spPr>
          <a:xfrm rot="10800000" flipV="1">
            <a:off x="5597695" y="4872763"/>
            <a:ext cx="2451376" cy="232247"/>
          </a:xfrm>
          <a:prstGeom prst="bentConnector3">
            <a:avLst>
              <a:gd name="adj1" fmla="val 5000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84" name="正方形/長方形 183">
            <a:extLst>
              <a:ext uri="{FF2B5EF4-FFF2-40B4-BE49-F238E27FC236}">
                <a16:creationId xmlns:a16="http://schemas.microsoft.com/office/drawing/2014/main" id="{746705E2-98FA-5381-D426-10C9D655DEF9}"/>
              </a:ext>
            </a:extLst>
          </p:cNvPr>
          <p:cNvSpPr/>
          <p:nvPr/>
        </p:nvSpPr>
        <p:spPr>
          <a:xfrm>
            <a:off x="8049071" y="5459741"/>
            <a:ext cx="1585650" cy="570870"/>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スキームオーナー</a:t>
            </a:r>
            <a:endParaRPr lang="en-US" altLang="ja-JP" sz="1200" dirty="0">
              <a:solidFill>
                <a:schemeClr val="bg1"/>
              </a:solidFill>
              <a:latin typeface="+mn-ea"/>
            </a:endParaRPr>
          </a:p>
          <a:p>
            <a:pPr algn="ctr"/>
            <a:r>
              <a:rPr lang="en-US" altLang="ja-JP" sz="1200" dirty="0">
                <a:solidFill>
                  <a:schemeClr val="bg1"/>
                </a:solidFill>
                <a:latin typeface="+mn-ea"/>
              </a:rPr>
              <a:t>(</a:t>
            </a:r>
            <a:r>
              <a:rPr lang="ja-JP" altLang="en-US" sz="1200" dirty="0">
                <a:solidFill>
                  <a:schemeClr val="bg1"/>
                </a:solidFill>
                <a:latin typeface="+mn-ea"/>
              </a:rPr>
              <a:t>業界団体・公共団体</a:t>
            </a:r>
            <a:r>
              <a:rPr lang="en-US" altLang="ja-JP" sz="1200" dirty="0">
                <a:solidFill>
                  <a:schemeClr val="bg1"/>
                </a:solidFill>
                <a:latin typeface="+mn-ea"/>
              </a:rPr>
              <a:t>)</a:t>
            </a:r>
            <a:endParaRPr lang="ja-JP" altLang="en-US" sz="1200" dirty="0">
              <a:solidFill>
                <a:schemeClr val="bg1"/>
              </a:solidFill>
              <a:latin typeface="+mn-ea"/>
            </a:endParaRPr>
          </a:p>
        </p:txBody>
      </p:sp>
      <p:cxnSp>
        <p:nvCxnSpPr>
          <p:cNvPr id="185" name="コネクタ: カギ線 184">
            <a:extLst>
              <a:ext uri="{FF2B5EF4-FFF2-40B4-BE49-F238E27FC236}">
                <a16:creationId xmlns:a16="http://schemas.microsoft.com/office/drawing/2014/main" id="{DA37893E-DCD8-0FC9-D5C7-F9DB2E28D91C}"/>
              </a:ext>
            </a:extLst>
          </p:cNvPr>
          <p:cNvCxnSpPr>
            <a:cxnSpLocks/>
            <a:stCxn id="184" idx="1"/>
          </p:cNvCxnSpPr>
          <p:nvPr/>
        </p:nvCxnSpPr>
        <p:spPr>
          <a:xfrm rot="10800000">
            <a:off x="5636517" y="5229336"/>
            <a:ext cx="2412555" cy="515841"/>
          </a:xfrm>
          <a:prstGeom prst="bentConnector3">
            <a:avLst>
              <a:gd name="adj1" fmla="val 1110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95" name="正方形/長方形 194">
            <a:extLst>
              <a:ext uri="{FF2B5EF4-FFF2-40B4-BE49-F238E27FC236}">
                <a16:creationId xmlns:a16="http://schemas.microsoft.com/office/drawing/2014/main" id="{E953F8AB-4652-4E5A-536C-98B069AA9795}"/>
              </a:ext>
            </a:extLst>
          </p:cNvPr>
          <p:cNvSpPr/>
          <p:nvPr/>
        </p:nvSpPr>
        <p:spPr>
          <a:xfrm>
            <a:off x="8049071" y="2646171"/>
            <a:ext cx="1585650" cy="36680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内務省</a:t>
            </a:r>
            <a:r>
              <a:rPr lang="en-US" altLang="ja-JP" sz="1200" dirty="0">
                <a:solidFill>
                  <a:schemeClr val="bg1"/>
                </a:solidFill>
                <a:latin typeface="+mn-ea"/>
              </a:rPr>
              <a:t>(Home Office)</a:t>
            </a:r>
            <a:r>
              <a:rPr lang="ja-JP" altLang="en-US" sz="1200" dirty="0">
                <a:solidFill>
                  <a:schemeClr val="bg1"/>
                </a:solidFill>
                <a:latin typeface="+mn-ea"/>
              </a:rPr>
              <a:t>等</a:t>
            </a:r>
            <a:endParaRPr lang="en-US" altLang="ja-JP" sz="1200" dirty="0">
              <a:solidFill>
                <a:schemeClr val="bg1"/>
              </a:solidFill>
              <a:latin typeface="+mn-ea"/>
            </a:endParaRPr>
          </a:p>
        </p:txBody>
      </p:sp>
      <p:cxnSp>
        <p:nvCxnSpPr>
          <p:cNvPr id="199" name="直線矢印コネクタ 198">
            <a:extLst>
              <a:ext uri="{FF2B5EF4-FFF2-40B4-BE49-F238E27FC236}">
                <a16:creationId xmlns:a16="http://schemas.microsoft.com/office/drawing/2014/main" id="{74FE9D7C-14B8-0837-B161-CE7B41CDAB1D}"/>
              </a:ext>
            </a:extLst>
          </p:cNvPr>
          <p:cNvCxnSpPr>
            <a:cxnSpLocks/>
            <a:stCxn id="195" idx="1"/>
            <a:endCxn id="12" idx="3"/>
          </p:cNvCxnSpPr>
          <p:nvPr/>
        </p:nvCxnSpPr>
        <p:spPr>
          <a:xfrm flipH="1" flipV="1">
            <a:off x="6129356" y="2821963"/>
            <a:ext cx="1919715" cy="7609"/>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05" name="テキスト ボックス 204">
            <a:extLst>
              <a:ext uri="{FF2B5EF4-FFF2-40B4-BE49-F238E27FC236}">
                <a16:creationId xmlns:a16="http://schemas.microsoft.com/office/drawing/2014/main" id="{75C2AB2F-3039-5EFB-5CA0-27B46BD5CF1C}"/>
              </a:ext>
            </a:extLst>
          </p:cNvPr>
          <p:cNvSpPr txBox="1"/>
          <p:nvPr/>
        </p:nvSpPr>
        <p:spPr>
          <a:xfrm>
            <a:off x="7070391" y="3881736"/>
            <a:ext cx="1031985" cy="369332"/>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フレームワークの監査</a:t>
            </a:r>
          </a:p>
        </p:txBody>
      </p:sp>
      <p:sp>
        <p:nvSpPr>
          <p:cNvPr id="206" name="テキスト ボックス 205">
            <a:extLst>
              <a:ext uri="{FF2B5EF4-FFF2-40B4-BE49-F238E27FC236}">
                <a16:creationId xmlns:a16="http://schemas.microsoft.com/office/drawing/2014/main" id="{1422B8B8-81F8-D0B0-E5F7-D07C4D680776}"/>
              </a:ext>
            </a:extLst>
          </p:cNvPr>
          <p:cNvSpPr txBox="1"/>
          <p:nvPr/>
        </p:nvSpPr>
        <p:spPr>
          <a:xfrm>
            <a:off x="6659540" y="4623937"/>
            <a:ext cx="1306534" cy="184666"/>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事業者の認定・監査</a:t>
            </a:r>
          </a:p>
        </p:txBody>
      </p:sp>
      <p:sp>
        <p:nvSpPr>
          <p:cNvPr id="212" name="テキスト ボックス 211">
            <a:extLst>
              <a:ext uri="{FF2B5EF4-FFF2-40B4-BE49-F238E27FC236}">
                <a16:creationId xmlns:a16="http://schemas.microsoft.com/office/drawing/2014/main" id="{4EE88520-F857-45A5-2266-FA23E4576DBF}"/>
              </a:ext>
            </a:extLst>
          </p:cNvPr>
          <p:cNvSpPr txBox="1"/>
          <p:nvPr/>
        </p:nvSpPr>
        <p:spPr>
          <a:xfrm>
            <a:off x="3945138" y="4689363"/>
            <a:ext cx="710382" cy="184666"/>
          </a:xfrm>
          <a:prstGeom prst="rect">
            <a:avLst/>
          </a:prstGeom>
          <a:noFill/>
        </p:spPr>
        <p:txBody>
          <a:bodyPr wrap="square" lIns="0" tIns="0" rIns="0" bIns="0">
            <a:spAutoFit/>
          </a:bodyPr>
          <a:lstStyle/>
          <a:p>
            <a:pPr algn="ctr"/>
            <a:r>
              <a:rPr lang="ja-JP" altLang="en-US" sz="1200" dirty="0">
                <a:latin typeface="+mn-ea"/>
                <a:ea typeface="+mn-ea"/>
              </a:rPr>
              <a:t>準拠</a:t>
            </a:r>
          </a:p>
        </p:txBody>
      </p:sp>
      <p:sp>
        <p:nvSpPr>
          <p:cNvPr id="222" name="テキスト ボックス 221">
            <a:extLst>
              <a:ext uri="{FF2B5EF4-FFF2-40B4-BE49-F238E27FC236}">
                <a16:creationId xmlns:a16="http://schemas.microsoft.com/office/drawing/2014/main" id="{57532922-5286-CA17-D5C4-ADCCD0644B5F}"/>
              </a:ext>
            </a:extLst>
          </p:cNvPr>
          <p:cNvSpPr txBox="1"/>
          <p:nvPr/>
        </p:nvSpPr>
        <p:spPr>
          <a:xfrm>
            <a:off x="8901929" y="4482343"/>
            <a:ext cx="710382" cy="184666"/>
          </a:xfrm>
          <a:prstGeom prst="rect">
            <a:avLst/>
          </a:prstGeom>
          <a:noFill/>
        </p:spPr>
        <p:txBody>
          <a:bodyPr wrap="square" lIns="0" tIns="0" rIns="0" bIns="0">
            <a:spAutoFit/>
          </a:bodyPr>
          <a:lstStyle/>
          <a:p>
            <a:pPr algn="ctr"/>
            <a:r>
              <a:rPr lang="ja-JP" altLang="en-US" sz="1200" dirty="0">
                <a:latin typeface="+mn-ea"/>
                <a:ea typeface="+mn-ea"/>
              </a:rPr>
              <a:t>認定</a:t>
            </a:r>
          </a:p>
        </p:txBody>
      </p:sp>
      <p:sp>
        <p:nvSpPr>
          <p:cNvPr id="223" name="テキスト ボックス 222">
            <a:extLst>
              <a:ext uri="{FF2B5EF4-FFF2-40B4-BE49-F238E27FC236}">
                <a16:creationId xmlns:a16="http://schemas.microsoft.com/office/drawing/2014/main" id="{1D328F7B-AA48-3E9B-E39A-CBC6E0A0BFE7}"/>
              </a:ext>
            </a:extLst>
          </p:cNvPr>
          <p:cNvSpPr txBox="1"/>
          <p:nvPr/>
        </p:nvSpPr>
        <p:spPr>
          <a:xfrm>
            <a:off x="7300814" y="2577546"/>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grpSp>
        <p:nvGrpSpPr>
          <p:cNvPr id="232" name="グループ化 231">
            <a:extLst>
              <a:ext uri="{FF2B5EF4-FFF2-40B4-BE49-F238E27FC236}">
                <a16:creationId xmlns:a16="http://schemas.microsoft.com/office/drawing/2014/main" id="{EFD8AE2D-1A94-228D-5DFE-759F7700961D}"/>
              </a:ext>
            </a:extLst>
          </p:cNvPr>
          <p:cNvGrpSpPr/>
          <p:nvPr/>
        </p:nvGrpSpPr>
        <p:grpSpPr>
          <a:xfrm>
            <a:off x="3600708" y="1741213"/>
            <a:ext cx="3950840" cy="184666"/>
            <a:chOff x="2955712" y="818485"/>
            <a:chExt cx="4387516" cy="184666"/>
          </a:xfrm>
        </p:grpSpPr>
        <p:cxnSp>
          <p:nvCxnSpPr>
            <p:cNvPr id="233" name="直線コネクタ 232">
              <a:extLst>
                <a:ext uri="{FF2B5EF4-FFF2-40B4-BE49-F238E27FC236}">
                  <a16:creationId xmlns:a16="http://schemas.microsoft.com/office/drawing/2014/main" id="{41536C52-FA55-2370-114A-E46110BE65F4}"/>
                </a:ext>
              </a:extLst>
            </p:cNvPr>
            <p:cNvCxnSpPr/>
            <p:nvPr/>
          </p:nvCxnSpPr>
          <p:spPr>
            <a:xfrm>
              <a:off x="2955712" y="908050"/>
              <a:ext cx="438751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4" name="テキスト ボックス 233">
              <a:extLst>
                <a:ext uri="{FF2B5EF4-FFF2-40B4-BE49-F238E27FC236}">
                  <a16:creationId xmlns:a16="http://schemas.microsoft.com/office/drawing/2014/main" id="{EC54EF0C-5080-37D3-CAC6-EE472B16CFE3}"/>
                </a:ext>
              </a:extLst>
            </p:cNvPr>
            <p:cNvSpPr txBox="1"/>
            <p:nvPr/>
          </p:nvSpPr>
          <p:spPr>
            <a:xfrm>
              <a:off x="4734346" y="818485"/>
              <a:ext cx="830246" cy="184666"/>
            </a:xfrm>
            <a:prstGeom prst="rect">
              <a:avLst/>
            </a:prstGeom>
            <a:solidFill>
              <a:schemeClr val="bg1"/>
            </a:solidFill>
          </p:spPr>
          <p:txBody>
            <a:bodyPr wrap="square" lIns="0" tIns="0" rIns="0" bIns="0" rtlCol="0">
              <a:spAutoFit/>
            </a:bodyPr>
            <a:lstStyle/>
            <a:p>
              <a:pPr algn="ctr"/>
              <a:r>
                <a:rPr kumimoji="1" lang="ja-JP" altLang="en-US" sz="1200" dirty="0">
                  <a:latin typeface="+mn-ea"/>
                  <a:ea typeface="+mn-ea"/>
                </a:rPr>
                <a:t>領域</a:t>
              </a:r>
            </a:p>
          </p:txBody>
        </p:sp>
      </p:grpSp>
      <p:cxnSp>
        <p:nvCxnSpPr>
          <p:cNvPr id="276" name="直線矢印コネクタ 275">
            <a:extLst>
              <a:ext uri="{FF2B5EF4-FFF2-40B4-BE49-F238E27FC236}">
                <a16:creationId xmlns:a16="http://schemas.microsoft.com/office/drawing/2014/main" id="{4EA40C47-FEF9-7DCD-B182-95204F3D4AF1}"/>
              </a:ext>
            </a:extLst>
          </p:cNvPr>
          <p:cNvCxnSpPr>
            <a:cxnSpLocks/>
          </p:cNvCxnSpPr>
          <p:nvPr/>
        </p:nvCxnSpPr>
        <p:spPr>
          <a:xfrm flipV="1">
            <a:off x="5262144" y="4503891"/>
            <a:ext cx="6259" cy="416225"/>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5" name="テキスト ボックス 264">
            <a:extLst>
              <a:ext uri="{FF2B5EF4-FFF2-40B4-BE49-F238E27FC236}">
                <a16:creationId xmlns:a16="http://schemas.microsoft.com/office/drawing/2014/main" id="{1B669402-0A3F-1BA5-6718-21D4F3101C2F}"/>
              </a:ext>
            </a:extLst>
          </p:cNvPr>
          <p:cNvSpPr txBox="1"/>
          <p:nvPr/>
        </p:nvSpPr>
        <p:spPr>
          <a:xfrm>
            <a:off x="5232785" y="4692806"/>
            <a:ext cx="963282" cy="169277"/>
          </a:xfrm>
          <a:prstGeom prst="rect">
            <a:avLst/>
          </a:prstGeom>
          <a:solidFill>
            <a:srgbClr val="DAE9E1"/>
          </a:solidFill>
          <a:ln>
            <a:noFill/>
          </a:ln>
        </p:spPr>
        <p:txBody>
          <a:bodyPr wrap="square" lIns="0" tIns="0" rIns="0" bIns="0">
            <a:spAutoFit/>
          </a:bodyPr>
          <a:lstStyle>
            <a:defPPr>
              <a:defRPr lang="ja-JP"/>
            </a:defPPr>
            <a:lvl1pPr algn="ctr">
              <a:defRPr sz="1000">
                <a:latin typeface="+mj-lt"/>
              </a:defRPr>
            </a:lvl1pPr>
          </a:lstStyle>
          <a:p>
            <a:r>
              <a:rPr lang="ja-JP" altLang="en-US" sz="1100" dirty="0">
                <a:latin typeface="+mn-ea"/>
                <a:ea typeface="+mn-ea"/>
              </a:rPr>
              <a:t>認定リスト掲載</a:t>
            </a:r>
          </a:p>
        </p:txBody>
      </p:sp>
      <p:sp>
        <p:nvSpPr>
          <p:cNvPr id="279" name="テキスト ボックス 278">
            <a:extLst>
              <a:ext uri="{FF2B5EF4-FFF2-40B4-BE49-F238E27FC236}">
                <a16:creationId xmlns:a16="http://schemas.microsoft.com/office/drawing/2014/main" id="{8E65CFE1-0AC4-D0D0-87A8-F22A85B5A5E1}"/>
              </a:ext>
            </a:extLst>
          </p:cNvPr>
          <p:cNvSpPr txBox="1"/>
          <p:nvPr/>
        </p:nvSpPr>
        <p:spPr>
          <a:xfrm>
            <a:off x="4367291" y="5336020"/>
            <a:ext cx="710382" cy="184666"/>
          </a:xfrm>
          <a:prstGeom prst="rect">
            <a:avLst/>
          </a:prstGeom>
          <a:noFill/>
        </p:spPr>
        <p:txBody>
          <a:bodyPr wrap="square" lIns="0" tIns="0" rIns="0" bIns="0">
            <a:spAutoFit/>
          </a:bodyPr>
          <a:lstStyle/>
          <a:p>
            <a:pPr algn="ctr"/>
            <a:r>
              <a:rPr lang="ja-JP" altLang="en-US" sz="1200" dirty="0">
                <a:latin typeface="+mn-ea"/>
                <a:ea typeface="+mn-ea"/>
              </a:rPr>
              <a:t>準拠</a:t>
            </a:r>
          </a:p>
        </p:txBody>
      </p:sp>
      <p:sp>
        <p:nvSpPr>
          <p:cNvPr id="282" name="四角形: 角を丸くする 281">
            <a:extLst>
              <a:ext uri="{FF2B5EF4-FFF2-40B4-BE49-F238E27FC236}">
                <a16:creationId xmlns:a16="http://schemas.microsoft.com/office/drawing/2014/main" id="{FFB713E2-6E41-41A7-95BD-C8061DAA8154}"/>
              </a:ext>
            </a:extLst>
          </p:cNvPr>
          <p:cNvSpPr/>
          <p:nvPr/>
        </p:nvSpPr>
        <p:spPr>
          <a:xfrm>
            <a:off x="4989071" y="4313376"/>
            <a:ext cx="1180532" cy="184845"/>
          </a:xfrm>
          <a:prstGeom prst="roundRect">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latin typeface="+mn-ea"/>
              </a:rPr>
              <a:t>accreditation</a:t>
            </a:r>
            <a:endParaRPr lang="ja-JP" altLang="en-US" sz="1200" dirty="0">
              <a:latin typeface="+mn-ea"/>
            </a:endParaRPr>
          </a:p>
        </p:txBody>
      </p:sp>
      <p:sp>
        <p:nvSpPr>
          <p:cNvPr id="13" name="テキスト ボックス 12">
            <a:extLst>
              <a:ext uri="{FF2B5EF4-FFF2-40B4-BE49-F238E27FC236}">
                <a16:creationId xmlns:a16="http://schemas.microsoft.com/office/drawing/2014/main" id="{A19B6F52-B4A5-26FC-7737-25F3CBD731B6}"/>
              </a:ext>
            </a:extLst>
          </p:cNvPr>
          <p:cNvSpPr txBox="1"/>
          <p:nvPr/>
        </p:nvSpPr>
        <p:spPr>
          <a:xfrm>
            <a:off x="6659540" y="3373565"/>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sp>
        <p:nvSpPr>
          <p:cNvPr id="21" name="四角形: 角を丸くする 20">
            <a:extLst>
              <a:ext uri="{FF2B5EF4-FFF2-40B4-BE49-F238E27FC236}">
                <a16:creationId xmlns:a16="http://schemas.microsoft.com/office/drawing/2014/main" id="{652E8489-7D2D-0285-F772-EB5535C5AA6F}"/>
              </a:ext>
            </a:extLst>
          </p:cNvPr>
          <p:cNvSpPr/>
          <p:nvPr/>
        </p:nvSpPr>
        <p:spPr>
          <a:xfrm>
            <a:off x="251011" y="3281532"/>
            <a:ext cx="1991500" cy="219073"/>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b="1" dirty="0">
                <a:solidFill>
                  <a:schemeClr val="bg1"/>
                </a:solidFill>
                <a:latin typeface="+mn-ea"/>
              </a:rPr>
              <a:t>規制に沿ったガイドライン等</a:t>
            </a:r>
            <a:endParaRPr kumimoji="1" lang="ja-JP" altLang="en-US" sz="1200" b="1" dirty="0">
              <a:solidFill>
                <a:schemeClr val="bg1"/>
              </a:solidFill>
              <a:latin typeface="+mn-ea"/>
            </a:endParaRPr>
          </a:p>
        </p:txBody>
      </p:sp>
      <p:sp>
        <p:nvSpPr>
          <p:cNvPr id="22" name="四角形: 角を丸くする 21">
            <a:extLst>
              <a:ext uri="{FF2B5EF4-FFF2-40B4-BE49-F238E27FC236}">
                <a16:creationId xmlns:a16="http://schemas.microsoft.com/office/drawing/2014/main" id="{D69401E1-7112-59D9-5864-8F4FD9C55704}"/>
              </a:ext>
            </a:extLst>
          </p:cNvPr>
          <p:cNvSpPr/>
          <p:nvPr/>
        </p:nvSpPr>
        <p:spPr>
          <a:xfrm>
            <a:off x="251011" y="1862579"/>
            <a:ext cx="1991500" cy="23338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上位の法規制</a:t>
            </a:r>
          </a:p>
        </p:txBody>
      </p:sp>
      <p:sp>
        <p:nvSpPr>
          <p:cNvPr id="23" name="四角形: 角を丸くする 22">
            <a:extLst>
              <a:ext uri="{FF2B5EF4-FFF2-40B4-BE49-F238E27FC236}">
                <a16:creationId xmlns:a16="http://schemas.microsoft.com/office/drawing/2014/main" id="{33D681F1-0723-1498-38BF-D303E8037401}"/>
              </a:ext>
            </a:extLst>
          </p:cNvPr>
          <p:cNvSpPr/>
          <p:nvPr/>
        </p:nvSpPr>
        <p:spPr>
          <a:xfrm>
            <a:off x="240028" y="5127338"/>
            <a:ext cx="1991500" cy="23007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サービス認定・ガバナンス</a:t>
            </a:r>
          </a:p>
        </p:txBody>
      </p:sp>
      <p:sp>
        <p:nvSpPr>
          <p:cNvPr id="24" name="コンテンツ プレースホルダー 2">
            <a:extLst>
              <a:ext uri="{FF2B5EF4-FFF2-40B4-BE49-F238E27FC236}">
                <a16:creationId xmlns:a16="http://schemas.microsoft.com/office/drawing/2014/main" id="{A95151ED-B190-7058-98C5-7FE8377028F3}"/>
              </a:ext>
            </a:extLst>
          </p:cNvPr>
          <p:cNvSpPr txBox="1">
            <a:spLocks/>
          </p:cNvSpPr>
          <p:nvPr/>
        </p:nvSpPr>
        <p:spPr>
          <a:xfrm>
            <a:off x="273050" y="913526"/>
            <a:ext cx="7386214" cy="764541"/>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DIATF</a:t>
            </a:r>
            <a:r>
              <a:rPr lang="ja-JP" altLang="en-US" dirty="0"/>
              <a:t>は、国の機関を中心にトラストフレームワークの策定、認定プログラムの運営を進めている</a:t>
            </a:r>
            <a:endParaRPr lang="en-US" altLang="ja-JP" dirty="0"/>
          </a:p>
          <a:p>
            <a:r>
              <a:rPr lang="ja-JP" altLang="en-US" dirty="0"/>
              <a:t>一般的な属性情報にかかるルールを</a:t>
            </a:r>
            <a:r>
              <a:rPr lang="en-US" altLang="ja-JP" dirty="0"/>
              <a:t>DIATF</a:t>
            </a:r>
            <a:r>
              <a:rPr lang="ja-JP" altLang="en-US" dirty="0"/>
              <a:t>で定め、そのうえで業界特有のルールが存在する場合はトラストスキームで定義してサービス提供ができる仕組みとしている</a:t>
            </a:r>
            <a:endParaRPr lang="en-US" altLang="ja-JP" dirty="0"/>
          </a:p>
        </p:txBody>
      </p:sp>
      <p:sp>
        <p:nvSpPr>
          <p:cNvPr id="25" name="テキスト ボックス 24">
            <a:extLst>
              <a:ext uri="{FF2B5EF4-FFF2-40B4-BE49-F238E27FC236}">
                <a16:creationId xmlns:a16="http://schemas.microsoft.com/office/drawing/2014/main" id="{5A2D3D80-B9A5-EF5C-8556-DCBFA22F72DE}"/>
              </a:ext>
            </a:extLst>
          </p:cNvPr>
          <p:cNvSpPr txBox="1"/>
          <p:nvPr/>
        </p:nvSpPr>
        <p:spPr>
          <a:xfrm>
            <a:off x="7659264" y="5267112"/>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sp>
        <p:nvSpPr>
          <p:cNvPr id="31" name="正方形/長方形 30">
            <a:extLst>
              <a:ext uri="{FF2B5EF4-FFF2-40B4-BE49-F238E27FC236}">
                <a16:creationId xmlns:a16="http://schemas.microsoft.com/office/drawing/2014/main" id="{920BFC48-B9EA-A7CD-6EA6-20348923C558}"/>
              </a:ext>
            </a:extLst>
          </p:cNvPr>
          <p:cNvSpPr/>
          <p:nvPr/>
        </p:nvSpPr>
        <p:spPr>
          <a:xfrm>
            <a:off x="273050" y="6447295"/>
            <a:ext cx="9533671" cy="159122"/>
          </a:xfrm>
          <a:prstGeom prst="rect">
            <a:avLst/>
          </a:prstGeom>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ja-JP" altLang="en-US" sz="900" dirty="0"/>
              <a:t>*公開資料・有識者ヒアリングより</a:t>
            </a:r>
            <a:r>
              <a:rPr kumimoji="1" lang="en-US" altLang="ja-JP" sz="900" dirty="0"/>
              <a:t>TOPPAN</a:t>
            </a:r>
            <a:r>
              <a:rPr kumimoji="1" lang="ja-JP" altLang="en-US" sz="900" dirty="0"/>
              <a:t>作成</a:t>
            </a:r>
          </a:p>
        </p:txBody>
      </p:sp>
      <p:sp>
        <p:nvSpPr>
          <p:cNvPr id="7" name="テキスト ボックス 6">
            <a:extLst>
              <a:ext uri="{FF2B5EF4-FFF2-40B4-BE49-F238E27FC236}">
                <a16:creationId xmlns:a16="http://schemas.microsoft.com/office/drawing/2014/main" id="{24F8AB3D-814D-33B2-7869-7E7177A11A97}"/>
              </a:ext>
            </a:extLst>
          </p:cNvPr>
          <p:cNvSpPr txBox="1"/>
          <p:nvPr/>
        </p:nvSpPr>
        <p:spPr>
          <a:xfrm>
            <a:off x="3948776" y="2004109"/>
            <a:ext cx="615553" cy="184666"/>
          </a:xfrm>
          <a:prstGeom prst="rect">
            <a:avLst/>
          </a:prstGeom>
          <a:noFill/>
        </p:spPr>
        <p:txBody>
          <a:bodyPr wrap="none" lIns="0" tIns="0" rIns="0" bIns="0" rtlCol="0">
            <a:spAutoFit/>
          </a:bodyPr>
          <a:lstStyle/>
          <a:p>
            <a:pPr algn="ctr"/>
            <a:r>
              <a:rPr kumimoji="1" lang="ja-JP" altLang="en-US" sz="1200" b="1" u="sng" dirty="0">
                <a:latin typeface="+mn-ea"/>
                <a:ea typeface="+mn-ea"/>
              </a:rPr>
              <a:t>一般要件</a:t>
            </a:r>
            <a:endParaRPr lang="en-US" altLang="ja-JP" sz="1200" b="1" u="sng" dirty="0">
              <a:latin typeface="+mn-ea"/>
              <a:ea typeface="+mn-ea"/>
            </a:endParaRPr>
          </a:p>
        </p:txBody>
      </p:sp>
      <p:sp>
        <p:nvSpPr>
          <p:cNvPr id="8" name="テキスト ボックス 7">
            <a:extLst>
              <a:ext uri="{FF2B5EF4-FFF2-40B4-BE49-F238E27FC236}">
                <a16:creationId xmlns:a16="http://schemas.microsoft.com/office/drawing/2014/main" id="{11F47EBE-426E-96D6-2A88-0D3D4A4939EF}"/>
              </a:ext>
            </a:extLst>
          </p:cNvPr>
          <p:cNvSpPr txBox="1"/>
          <p:nvPr/>
        </p:nvSpPr>
        <p:spPr>
          <a:xfrm>
            <a:off x="5135502" y="2001601"/>
            <a:ext cx="993862" cy="184666"/>
          </a:xfrm>
          <a:prstGeom prst="rect">
            <a:avLst/>
          </a:prstGeom>
          <a:noFill/>
        </p:spPr>
        <p:txBody>
          <a:bodyPr wrap="none" lIns="0" tIns="0" rIns="0" bIns="0" rtlCol="0">
            <a:spAutoFit/>
          </a:bodyPr>
          <a:lstStyle/>
          <a:p>
            <a:pPr algn="ctr"/>
            <a:r>
              <a:rPr lang="ja-JP" altLang="en-US" sz="1200" b="1" u="sng" dirty="0">
                <a:latin typeface="+mn-ea"/>
                <a:ea typeface="+mn-ea"/>
              </a:rPr>
              <a:t>ガバナンス・認定</a:t>
            </a:r>
            <a:endParaRPr kumimoji="1" lang="en-US" altLang="ja-JP" sz="1200" b="1" u="sng" dirty="0">
              <a:latin typeface="+mn-ea"/>
              <a:ea typeface="+mn-ea"/>
            </a:endParaRPr>
          </a:p>
        </p:txBody>
      </p:sp>
      <p:sp>
        <p:nvSpPr>
          <p:cNvPr id="15" name="テキスト ボックス 14">
            <a:extLst>
              <a:ext uri="{FF2B5EF4-FFF2-40B4-BE49-F238E27FC236}">
                <a16:creationId xmlns:a16="http://schemas.microsoft.com/office/drawing/2014/main" id="{E5F6397F-C133-4C12-D796-BA42EA61ED37}"/>
              </a:ext>
            </a:extLst>
          </p:cNvPr>
          <p:cNvSpPr txBox="1"/>
          <p:nvPr/>
        </p:nvSpPr>
        <p:spPr>
          <a:xfrm>
            <a:off x="6469489" y="1919204"/>
            <a:ext cx="905510" cy="369332"/>
          </a:xfrm>
          <a:prstGeom prst="rect">
            <a:avLst/>
          </a:prstGeom>
          <a:noFill/>
        </p:spPr>
        <p:txBody>
          <a:bodyPr wrap="square" lIns="0" tIns="0" rIns="0" bIns="0" rtlCol="0">
            <a:spAutoFit/>
          </a:bodyPr>
          <a:lstStyle/>
          <a:p>
            <a:pPr algn="ctr"/>
            <a:r>
              <a:rPr kumimoji="1" lang="ja-JP" altLang="en-US" sz="1200" b="1" u="sng" dirty="0">
                <a:latin typeface="+mn-ea"/>
                <a:ea typeface="+mn-ea"/>
              </a:rPr>
              <a:t>技術規格・</a:t>
            </a:r>
            <a:endParaRPr kumimoji="1" lang="en-US" altLang="ja-JP" sz="1200" b="1" u="sng" dirty="0">
              <a:latin typeface="+mn-ea"/>
              <a:ea typeface="+mn-ea"/>
            </a:endParaRPr>
          </a:p>
          <a:p>
            <a:pPr algn="ctr"/>
            <a:r>
              <a:rPr kumimoji="1" lang="ja-JP" altLang="en-US" sz="1200" b="1" u="sng" dirty="0">
                <a:latin typeface="+mn-ea"/>
                <a:ea typeface="+mn-ea"/>
              </a:rPr>
              <a:t>アーキテクチャ</a:t>
            </a:r>
          </a:p>
        </p:txBody>
      </p:sp>
      <p:grpSp>
        <p:nvGrpSpPr>
          <p:cNvPr id="16" name="グループ化 15">
            <a:extLst>
              <a:ext uri="{FF2B5EF4-FFF2-40B4-BE49-F238E27FC236}">
                <a16:creationId xmlns:a16="http://schemas.microsoft.com/office/drawing/2014/main" id="{0163D338-1E57-6FF7-22BF-A43690DB470E}"/>
              </a:ext>
            </a:extLst>
          </p:cNvPr>
          <p:cNvGrpSpPr/>
          <p:nvPr/>
        </p:nvGrpSpPr>
        <p:grpSpPr>
          <a:xfrm>
            <a:off x="7970555" y="774666"/>
            <a:ext cx="1818731" cy="869140"/>
            <a:chOff x="7970555" y="683876"/>
            <a:chExt cx="1818731" cy="869140"/>
          </a:xfrm>
        </p:grpSpPr>
        <p:sp>
          <p:nvSpPr>
            <p:cNvPr id="17" name="正方形/長方形 16">
              <a:extLst>
                <a:ext uri="{FF2B5EF4-FFF2-40B4-BE49-F238E27FC236}">
                  <a16:creationId xmlns:a16="http://schemas.microsoft.com/office/drawing/2014/main" id="{8161E700-7B00-F3A1-7599-4A0EED9494F9}"/>
                </a:ext>
              </a:extLst>
            </p:cNvPr>
            <p:cNvSpPr/>
            <p:nvPr/>
          </p:nvSpPr>
          <p:spPr>
            <a:xfrm>
              <a:off x="7970555" y="683876"/>
              <a:ext cx="1818731" cy="869140"/>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cxnSp>
          <p:nvCxnSpPr>
            <p:cNvPr id="18" name="直線矢印コネクタ 17">
              <a:extLst>
                <a:ext uri="{FF2B5EF4-FFF2-40B4-BE49-F238E27FC236}">
                  <a16:creationId xmlns:a16="http://schemas.microsoft.com/office/drawing/2014/main" id="{13C82EB7-B34F-EFC2-FA5D-CDA4899D58F8}"/>
                </a:ext>
              </a:extLst>
            </p:cNvPr>
            <p:cNvCxnSpPr/>
            <p:nvPr/>
          </p:nvCxnSpPr>
          <p:spPr>
            <a:xfrm>
              <a:off x="8072708" y="984069"/>
              <a:ext cx="258070" cy="0"/>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3DD3FF92-F437-CE7D-193D-AA80A6D25A9E}"/>
                </a:ext>
              </a:extLst>
            </p:cNvPr>
            <p:cNvCxnSpPr/>
            <p:nvPr/>
          </p:nvCxnSpPr>
          <p:spPr>
            <a:xfrm>
              <a:off x="8072708" y="1210492"/>
              <a:ext cx="258070" cy="0"/>
            </a:xfrm>
            <a:prstGeom prst="straightConnector1">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CFFF58B6-1ABD-3906-B631-C491425C16A6}"/>
                </a:ext>
              </a:extLst>
            </p:cNvPr>
            <p:cNvCxnSpPr/>
            <p:nvPr/>
          </p:nvCxnSpPr>
          <p:spPr>
            <a:xfrm>
              <a:off x="8072708" y="1436915"/>
              <a:ext cx="258070"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F2AC6BD7-FF79-3905-9F87-448787F0EDD6}"/>
                </a:ext>
              </a:extLst>
            </p:cNvPr>
            <p:cNvSpPr txBox="1"/>
            <p:nvPr/>
          </p:nvSpPr>
          <p:spPr>
            <a:xfrm>
              <a:off x="8427608" y="886461"/>
              <a:ext cx="1310878" cy="184666"/>
            </a:xfrm>
            <a:prstGeom prst="rect">
              <a:avLst/>
            </a:prstGeom>
            <a:noFill/>
          </p:spPr>
          <p:txBody>
            <a:bodyPr wrap="square" lIns="0" tIns="0" rIns="0" bIns="0" rtlCol="0">
              <a:spAutoFit/>
            </a:bodyPr>
            <a:lstStyle/>
            <a:p>
              <a:r>
                <a:rPr kumimoji="1" lang="ja-JP" altLang="en-US" sz="1200" dirty="0">
                  <a:latin typeface="+mn-ea"/>
                  <a:ea typeface="+mn-ea"/>
                </a:rPr>
                <a:t>策定の流れ</a:t>
              </a:r>
            </a:p>
          </p:txBody>
        </p:sp>
        <p:sp>
          <p:nvSpPr>
            <p:cNvPr id="28" name="テキスト ボックス 27">
              <a:extLst>
                <a:ext uri="{FF2B5EF4-FFF2-40B4-BE49-F238E27FC236}">
                  <a16:creationId xmlns:a16="http://schemas.microsoft.com/office/drawing/2014/main" id="{B194FBE5-F134-0E4A-4E79-F3A691E68202}"/>
                </a:ext>
              </a:extLst>
            </p:cNvPr>
            <p:cNvSpPr txBox="1"/>
            <p:nvPr/>
          </p:nvSpPr>
          <p:spPr>
            <a:xfrm>
              <a:off x="8427608" y="1114200"/>
              <a:ext cx="1310878" cy="184666"/>
            </a:xfrm>
            <a:prstGeom prst="rect">
              <a:avLst/>
            </a:prstGeom>
            <a:noFill/>
          </p:spPr>
          <p:txBody>
            <a:bodyPr wrap="square" lIns="0" tIns="0" rIns="0" bIns="0" rtlCol="0">
              <a:spAutoFit/>
            </a:bodyPr>
            <a:lstStyle/>
            <a:p>
              <a:r>
                <a:rPr lang="ja-JP" altLang="en-US" sz="1200" dirty="0">
                  <a:latin typeface="+mn-ea"/>
                  <a:ea typeface="+mn-ea"/>
                </a:rPr>
                <a:t>監査・認定等</a:t>
              </a:r>
              <a:r>
                <a:rPr kumimoji="1" lang="ja-JP" altLang="en-US" sz="1200" dirty="0">
                  <a:latin typeface="+mn-ea"/>
                  <a:ea typeface="+mn-ea"/>
                </a:rPr>
                <a:t>の流れ</a:t>
              </a:r>
            </a:p>
          </p:txBody>
        </p:sp>
        <p:sp>
          <p:nvSpPr>
            <p:cNvPr id="29" name="テキスト ボックス 28">
              <a:extLst>
                <a:ext uri="{FF2B5EF4-FFF2-40B4-BE49-F238E27FC236}">
                  <a16:creationId xmlns:a16="http://schemas.microsoft.com/office/drawing/2014/main" id="{633A2A3E-5B35-51B4-AD02-F993437B0349}"/>
                </a:ext>
              </a:extLst>
            </p:cNvPr>
            <p:cNvSpPr txBox="1"/>
            <p:nvPr/>
          </p:nvSpPr>
          <p:spPr>
            <a:xfrm>
              <a:off x="8427608" y="1348006"/>
              <a:ext cx="1310878" cy="184666"/>
            </a:xfrm>
            <a:prstGeom prst="rect">
              <a:avLst/>
            </a:prstGeom>
            <a:noFill/>
          </p:spPr>
          <p:txBody>
            <a:bodyPr wrap="square" lIns="0" tIns="0" rIns="0" bIns="0" rtlCol="0">
              <a:spAutoFit/>
            </a:bodyPr>
            <a:lstStyle/>
            <a:p>
              <a:r>
                <a:rPr lang="ja-JP" altLang="en-US" sz="1200" dirty="0">
                  <a:latin typeface="+mn-ea"/>
                  <a:ea typeface="+mn-ea"/>
                </a:rPr>
                <a:t>準拠等の関連性</a:t>
              </a:r>
              <a:endParaRPr kumimoji="1" lang="ja-JP" altLang="en-US" sz="1200" dirty="0">
                <a:latin typeface="+mn-ea"/>
                <a:ea typeface="+mn-ea"/>
              </a:endParaRPr>
            </a:p>
          </p:txBody>
        </p:sp>
        <p:sp>
          <p:nvSpPr>
            <p:cNvPr id="32" name="テキスト ボックス 31">
              <a:extLst>
                <a:ext uri="{FF2B5EF4-FFF2-40B4-BE49-F238E27FC236}">
                  <a16:creationId xmlns:a16="http://schemas.microsoft.com/office/drawing/2014/main" id="{2C2E292A-269A-49EC-1CD4-AD822FB7E08C}"/>
                </a:ext>
              </a:extLst>
            </p:cNvPr>
            <p:cNvSpPr txBox="1"/>
            <p:nvPr/>
          </p:nvSpPr>
          <p:spPr>
            <a:xfrm>
              <a:off x="7970555" y="691264"/>
              <a:ext cx="1310878" cy="184666"/>
            </a:xfrm>
            <a:prstGeom prst="rect">
              <a:avLst/>
            </a:prstGeom>
            <a:noFill/>
          </p:spPr>
          <p:txBody>
            <a:bodyPr wrap="square" lIns="0" tIns="0" rIns="0" bIns="0" rtlCol="0">
              <a:spAutoFit/>
            </a:bodyPr>
            <a:lstStyle/>
            <a:p>
              <a:r>
                <a:rPr kumimoji="1" lang="en-US" altLang="ja-JP" sz="1200" dirty="0">
                  <a:latin typeface="+mn-ea"/>
                  <a:ea typeface="+mn-ea"/>
                </a:rPr>
                <a:t>【</a:t>
              </a:r>
              <a:r>
                <a:rPr kumimoji="1" lang="ja-JP" altLang="en-US" sz="1200" dirty="0">
                  <a:latin typeface="+mn-ea"/>
                  <a:ea typeface="+mn-ea"/>
                </a:rPr>
                <a:t>凡例</a:t>
              </a:r>
              <a:r>
                <a:rPr kumimoji="1" lang="en-US" altLang="ja-JP" sz="1200" dirty="0">
                  <a:latin typeface="+mn-ea"/>
                  <a:ea typeface="+mn-ea"/>
                </a:rPr>
                <a:t>】</a:t>
              </a:r>
              <a:endParaRPr kumimoji="1" lang="ja-JP" altLang="en-US" sz="1200" dirty="0">
                <a:latin typeface="+mn-ea"/>
                <a:ea typeface="+mn-ea"/>
              </a:endParaRPr>
            </a:p>
          </p:txBody>
        </p:sp>
      </p:grpSp>
    </p:spTree>
    <p:extLst>
      <p:ext uri="{BB962C8B-B14F-4D97-AF65-F5344CB8AC3E}">
        <p14:creationId xmlns:p14="http://schemas.microsoft.com/office/powerpoint/2010/main" val="1425633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1B92906-64C4-6EEA-156E-CDCB4553C582}"/>
              </a:ext>
            </a:extLst>
          </p:cNvPr>
          <p:cNvGraphicFramePr>
            <a:graphicFrameLocks noChangeAspect="1"/>
          </p:cNvGraphicFramePr>
          <p:nvPr>
            <p:custDataLst>
              <p:tags r:id="rId1"/>
            </p:custDataLst>
            <p:extLst>
              <p:ext uri="{D42A27DB-BD31-4B8C-83A1-F6EECF244321}">
                <p14:modId xmlns:p14="http://schemas.microsoft.com/office/powerpoint/2010/main" val="41538075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4" imgH="623" progId="TCLayout.ActiveDocument.1">
                  <p:embed/>
                </p:oleObj>
              </mc:Choice>
              <mc:Fallback>
                <p:oleObj name="think-cell スライド" r:id="rId3" imgW="624" imgH="623" progId="TCLayout.ActiveDocument.1">
                  <p:embed/>
                  <p:pic>
                    <p:nvPicPr>
                      <p:cNvPr id="18" name="think-cell data - do not delete" hidden="1">
                        <a:extLst>
                          <a:ext uri="{FF2B5EF4-FFF2-40B4-BE49-F238E27FC236}">
                            <a16:creationId xmlns:a16="http://schemas.microsoft.com/office/drawing/2014/main" id="{B1B92906-64C4-6EEA-156E-CDCB4553C5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8F3261DC-94A6-789E-6EBD-3CDA0920AAEF}"/>
              </a:ext>
            </a:extLst>
          </p:cNvPr>
          <p:cNvSpPr>
            <a:spLocks noGrp="1"/>
          </p:cNvSpPr>
          <p:nvPr>
            <p:ph type="title"/>
          </p:nvPr>
        </p:nvSpPr>
        <p:spPr/>
        <p:txBody>
          <a:bodyPr vert="horz"/>
          <a:lstStyle/>
          <a:p>
            <a:r>
              <a:rPr kumimoji="1" lang="en-US" altLang="ja-JP" dirty="0"/>
              <a:t>3.3. </a:t>
            </a:r>
            <a:r>
              <a:rPr kumimoji="1" lang="ja-JP" altLang="en-US" dirty="0"/>
              <a:t>イギリス：</a:t>
            </a:r>
            <a:r>
              <a:rPr kumimoji="1" lang="en-US" altLang="ja-JP" dirty="0"/>
              <a:t>DIATF – 3.3.2. </a:t>
            </a:r>
            <a:r>
              <a:rPr kumimoji="1" lang="ja-JP" altLang="en-US" dirty="0"/>
              <a:t>取組の</a:t>
            </a:r>
            <a:r>
              <a:rPr kumimoji="1" lang="ja-JP" altLang="en-US" dirty="0">
                <a:latin typeface="+mn-ea"/>
                <a:ea typeface="+mn-ea"/>
              </a:rPr>
              <a:t>変遷</a:t>
            </a:r>
            <a:endParaRPr kumimoji="1" lang="ja-JP" altLang="en-US" dirty="0"/>
          </a:p>
        </p:txBody>
      </p:sp>
      <p:sp>
        <p:nvSpPr>
          <p:cNvPr id="3" name="テキスト プレースホルダー 2">
            <a:extLst>
              <a:ext uri="{FF2B5EF4-FFF2-40B4-BE49-F238E27FC236}">
                <a16:creationId xmlns:a16="http://schemas.microsoft.com/office/drawing/2014/main" id="{E84717BF-DFA7-3276-5DEF-C85E155FD88E}"/>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4" name="矢印: 山形 3">
            <a:extLst>
              <a:ext uri="{FF2B5EF4-FFF2-40B4-BE49-F238E27FC236}">
                <a16:creationId xmlns:a16="http://schemas.microsoft.com/office/drawing/2014/main" id="{95E6F75F-78D0-F7D7-7526-4112A174BD84}"/>
              </a:ext>
            </a:extLst>
          </p:cNvPr>
          <p:cNvSpPr/>
          <p:nvPr/>
        </p:nvSpPr>
        <p:spPr>
          <a:xfrm>
            <a:off x="511629" y="3547992"/>
            <a:ext cx="8833984" cy="307777"/>
          </a:xfrm>
          <a:prstGeom prst="chevron">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5" name="楕円 4">
            <a:extLst>
              <a:ext uri="{FF2B5EF4-FFF2-40B4-BE49-F238E27FC236}">
                <a16:creationId xmlns:a16="http://schemas.microsoft.com/office/drawing/2014/main" id="{6D474989-42EE-C3D9-7F6D-41A5C3533119}"/>
              </a:ext>
            </a:extLst>
          </p:cNvPr>
          <p:cNvSpPr/>
          <p:nvPr/>
        </p:nvSpPr>
        <p:spPr>
          <a:xfrm>
            <a:off x="1132114" y="3374798"/>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2021</a:t>
            </a:r>
            <a:endParaRPr kumimoji="1" lang="ja-JP" altLang="en-US" sz="1600" dirty="0"/>
          </a:p>
        </p:txBody>
      </p:sp>
      <p:sp>
        <p:nvSpPr>
          <p:cNvPr id="6" name="楕円 5">
            <a:extLst>
              <a:ext uri="{FF2B5EF4-FFF2-40B4-BE49-F238E27FC236}">
                <a16:creationId xmlns:a16="http://schemas.microsoft.com/office/drawing/2014/main" id="{04E80298-E3A2-E1F4-4DEB-3DA0E1DC4E27}"/>
              </a:ext>
            </a:extLst>
          </p:cNvPr>
          <p:cNvSpPr/>
          <p:nvPr/>
        </p:nvSpPr>
        <p:spPr>
          <a:xfrm>
            <a:off x="4179807" y="3374798"/>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2022</a:t>
            </a:r>
            <a:endParaRPr kumimoji="1" lang="ja-JP" altLang="en-US" sz="1600" dirty="0"/>
          </a:p>
        </p:txBody>
      </p:sp>
      <p:sp>
        <p:nvSpPr>
          <p:cNvPr id="7" name="楕円 6">
            <a:extLst>
              <a:ext uri="{FF2B5EF4-FFF2-40B4-BE49-F238E27FC236}">
                <a16:creationId xmlns:a16="http://schemas.microsoft.com/office/drawing/2014/main" id="{0CF7517C-CDBE-60A1-527F-7F016334B962}"/>
              </a:ext>
            </a:extLst>
          </p:cNvPr>
          <p:cNvSpPr/>
          <p:nvPr/>
        </p:nvSpPr>
        <p:spPr>
          <a:xfrm>
            <a:off x="7227499" y="3374798"/>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2023</a:t>
            </a:r>
            <a:endParaRPr kumimoji="1" lang="ja-JP" altLang="en-US" sz="1600" dirty="0"/>
          </a:p>
        </p:txBody>
      </p:sp>
      <p:sp>
        <p:nvSpPr>
          <p:cNvPr id="8" name="正方形/長方形 7">
            <a:extLst>
              <a:ext uri="{FF2B5EF4-FFF2-40B4-BE49-F238E27FC236}">
                <a16:creationId xmlns:a16="http://schemas.microsoft.com/office/drawing/2014/main" id="{36411B0C-349F-12BA-3473-3FA9775F4602}"/>
              </a:ext>
            </a:extLst>
          </p:cNvPr>
          <p:cNvSpPr/>
          <p:nvPr/>
        </p:nvSpPr>
        <p:spPr>
          <a:xfrm>
            <a:off x="1366815" y="3908275"/>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9" name="正方形/長方形 8">
            <a:extLst>
              <a:ext uri="{FF2B5EF4-FFF2-40B4-BE49-F238E27FC236}">
                <a16:creationId xmlns:a16="http://schemas.microsoft.com/office/drawing/2014/main" id="{5283DE9F-E6A8-EBC8-9ED8-52F5977548DD}"/>
              </a:ext>
            </a:extLst>
          </p:cNvPr>
          <p:cNvSpPr/>
          <p:nvPr/>
        </p:nvSpPr>
        <p:spPr>
          <a:xfrm>
            <a:off x="571728" y="4444825"/>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Trust Framework α</a:t>
            </a:r>
            <a:r>
              <a:rPr lang="ja-JP" altLang="en-US" sz="1200" b="1" u="sng" dirty="0"/>
              <a:t> </a:t>
            </a:r>
            <a:r>
              <a:rPr lang="en-US" altLang="ja-JP" sz="1200" b="1" u="sng" dirty="0"/>
              <a:t>v2</a:t>
            </a:r>
            <a:r>
              <a:rPr lang="ja-JP" altLang="en-US" sz="1200" b="1" u="sng" dirty="0"/>
              <a:t> </a:t>
            </a:r>
            <a:r>
              <a:rPr lang="en-US" altLang="ja-JP" sz="1200" b="1" u="sng" dirty="0"/>
              <a:t>(0.2)</a:t>
            </a:r>
          </a:p>
          <a:p>
            <a:r>
              <a:rPr lang="ja-JP" altLang="en-US" sz="1200" dirty="0"/>
              <a:t>様々なアプリケーションでのデジタル</a:t>
            </a:r>
            <a:r>
              <a:rPr lang="en-US" altLang="ja-JP" sz="1200" dirty="0"/>
              <a:t>ID</a:t>
            </a:r>
            <a:r>
              <a:rPr lang="ja-JP" altLang="en-US" sz="1200" dirty="0"/>
              <a:t>の作成と</a:t>
            </a:r>
          </a:p>
          <a:p>
            <a:r>
              <a:rPr lang="ja-JP" altLang="en-US" sz="1200" dirty="0"/>
              <a:t>使用を促進するために設計された、相互運用</a:t>
            </a:r>
          </a:p>
          <a:p>
            <a:r>
              <a:rPr lang="ja-JP" altLang="en-US" sz="1200" dirty="0"/>
              <a:t>可能なトラストフレームワーク</a:t>
            </a:r>
          </a:p>
          <a:p>
            <a:r>
              <a:rPr lang="ja-JP" altLang="en-US" sz="1200" dirty="0"/>
              <a:t>デジタル </a:t>
            </a:r>
            <a:r>
              <a:rPr lang="en-US" altLang="ja-JP" sz="1200" dirty="0"/>
              <a:t>ID </a:t>
            </a:r>
            <a:r>
              <a:rPr lang="ja-JP" altLang="en-US" sz="1200" dirty="0"/>
              <a:t>、属性情報が、任意のエンティティ</a:t>
            </a:r>
          </a:p>
          <a:p>
            <a:r>
              <a:rPr lang="ja-JP" altLang="en-US" sz="1200" dirty="0"/>
              <a:t>によって信頼されることを保証する</a:t>
            </a:r>
            <a:endParaRPr lang="en-US" altLang="ja-JP" sz="1200" dirty="0"/>
          </a:p>
        </p:txBody>
      </p:sp>
      <p:sp>
        <p:nvSpPr>
          <p:cNvPr id="11" name="正方形/長方形 10">
            <a:extLst>
              <a:ext uri="{FF2B5EF4-FFF2-40B4-BE49-F238E27FC236}">
                <a16:creationId xmlns:a16="http://schemas.microsoft.com/office/drawing/2014/main" id="{F26C96A8-D6F3-86B8-485E-619927507BA1}"/>
              </a:ext>
            </a:extLst>
          </p:cNvPr>
          <p:cNvSpPr/>
          <p:nvPr/>
        </p:nvSpPr>
        <p:spPr>
          <a:xfrm>
            <a:off x="4414508" y="2835627"/>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3" name="正方形/長方形 12">
            <a:extLst>
              <a:ext uri="{FF2B5EF4-FFF2-40B4-BE49-F238E27FC236}">
                <a16:creationId xmlns:a16="http://schemas.microsoft.com/office/drawing/2014/main" id="{BA831FCC-D622-9D0D-93BB-06DBC9DDB13F}"/>
              </a:ext>
            </a:extLst>
          </p:cNvPr>
          <p:cNvSpPr/>
          <p:nvPr/>
        </p:nvSpPr>
        <p:spPr>
          <a:xfrm>
            <a:off x="7462200" y="3908275"/>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4" name="正方形/長方形 13">
            <a:extLst>
              <a:ext uri="{FF2B5EF4-FFF2-40B4-BE49-F238E27FC236}">
                <a16:creationId xmlns:a16="http://schemas.microsoft.com/office/drawing/2014/main" id="{4B28D5FB-B715-D24F-E83A-3F54A55DF8B2}"/>
              </a:ext>
            </a:extLst>
          </p:cNvPr>
          <p:cNvSpPr/>
          <p:nvPr/>
        </p:nvSpPr>
        <p:spPr>
          <a:xfrm>
            <a:off x="5344510" y="4429327"/>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Gov.UK Verify</a:t>
            </a:r>
            <a:r>
              <a:rPr lang="ja-JP" altLang="en-US" sz="1200" b="1" u="sng" dirty="0"/>
              <a:t>の廃止・</a:t>
            </a:r>
            <a:r>
              <a:rPr lang="en-US" altLang="ja-JP" sz="1200" b="1" u="sng" dirty="0"/>
              <a:t>GOV.UK One Login</a:t>
            </a:r>
            <a:r>
              <a:rPr lang="ja-JP" altLang="en-US" sz="1200" b="1" u="sng" dirty="0"/>
              <a:t>の提供開始*</a:t>
            </a:r>
            <a:r>
              <a:rPr lang="en-US" altLang="ja-JP" sz="1200" b="1" u="sng" baseline="30000" dirty="0"/>
              <a:t>2</a:t>
            </a:r>
          </a:p>
          <a:p>
            <a:r>
              <a:rPr lang="en-US" altLang="ja-JP" sz="1200" dirty="0"/>
              <a:t>2016</a:t>
            </a:r>
            <a:r>
              <a:rPr lang="ja-JP" altLang="en-US" sz="1200" dirty="0"/>
              <a:t>年に運用開始した</a:t>
            </a:r>
            <a:r>
              <a:rPr lang="en-US" altLang="ja-JP" sz="1200" dirty="0"/>
              <a:t>Gov.UK Verify</a:t>
            </a:r>
            <a:r>
              <a:rPr lang="ja-JP" altLang="en-US" sz="1200" dirty="0"/>
              <a:t>を廃止し、新たに</a:t>
            </a:r>
            <a:r>
              <a:rPr lang="en-US" altLang="ja-JP" sz="1200" dirty="0"/>
              <a:t>GOV.UK One Login</a:t>
            </a:r>
            <a:r>
              <a:rPr lang="ja-JP" altLang="en-US" sz="1200" dirty="0"/>
              <a:t>の提供を開始</a:t>
            </a:r>
            <a:br>
              <a:rPr lang="en-US" altLang="ja-JP" sz="1200" dirty="0"/>
            </a:br>
            <a:r>
              <a:rPr lang="en-US" altLang="ja-JP" sz="1200" dirty="0"/>
              <a:t>(</a:t>
            </a:r>
            <a:r>
              <a:rPr lang="ja-JP" altLang="en-US" sz="1200" dirty="0"/>
              <a:t>利用可能なサービスが制限されていること、認証手続きが煩雑でコストが増加する等の課題を改善する等の目的でサービス刷新</a:t>
            </a:r>
            <a:r>
              <a:rPr lang="en-US" altLang="ja-JP" sz="1200" dirty="0"/>
              <a:t>)</a:t>
            </a:r>
          </a:p>
        </p:txBody>
      </p:sp>
      <p:sp>
        <p:nvSpPr>
          <p:cNvPr id="15" name="正方形/長方形 14">
            <a:extLst>
              <a:ext uri="{FF2B5EF4-FFF2-40B4-BE49-F238E27FC236}">
                <a16:creationId xmlns:a16="http://schemas.microsoft.com/office/drawing/2014/main" id="{39468CD2-785F-96AC-A48A-0BEF8A676659}"/>
              </a:ext>
            </a:extLst>
          </p:cNvPr>
          <p:cNvSpPr/>
          <p:nvPr/>
        </p:nvSpPr>
        <p:spPr>
          <a:xfrm>
            <a:off x="6614429" y="1681193"/>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ECHR Memorandum</a:t>
            </a:r>
            <a:r>
              <a:rPr lang="ja-JP" altLang="en-US" sz="1200" b="1" u="sng" dirty="0"/>
              <a:t>*</a:t>
            </a:r>
            <a:r>
              <a:rPr lang="en-US" altLang="ja-JP" sz="1200" b="1" u="sng" baseline="30000" dirty="0"/>
              <a:t>3</a:t>
            </a:r>
          </a:p>
          <a:p>
            <a:r>
              <a:rPr lang="en-US" altLang="ja-JP" sz="1200" dirty="0"/>
              <a:t>Trust Framework</a:t>
            </a:r>
            <a:r>
              <a:rPr lang="ja-JP" altLang="en-US" sz="1200" dirty="0"/>
              <a:t>の下で身元確認等にかかるサービスを提供するためには政府認定機関が指定した認定団体から認証を受けることが必須となる</a:t>
            </a:r>
            <a:r>
              <a:rPr lang="en-US" altLang="ja-JP" sz="1200" dirty="0"/>
              <a:t>(</a:t>
            </a:r>
            <a:r>
              <a:rPr lang="ja-JP" altLang="en-US" sz="1200" dirty="0"/>
              <a:t>現在審議中</a:t>
            </a:r>
            <a:r>
              <a:rPr lang="en-US" altLang="ja-JP" sz="1200" dirty="0"/>
              <a:t>)</a:t>
            </a:r>
          </a:p>
        </p:txBody>
      </p:sp>
      <p:sp>
        <p:nvSpPr>
          <p:cNvPr id="16" name="正方形/長方形 15">
            <a:extLst>
              <a:ext uri="{FF2B5EF4-FFF2-40B4-BE49-F238E27FC236}">
                <a16:creationId xmlns:a16="http://schemas.microsoft.com/office/drawing/2014/main" id="{BF2C79AE-43C4-E89C-1F84-D9D46D404CF0}"/>
              </a:ext>
            </a:extLst>
          </p:cNvPr>
          <p:cNvSpPr/>
          <p:nvPr/>
        </p:nvSpPr>
        <p:spPr>
          <a:xfrm>
            <a:off x="7462200" y="2835627"/>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2" name="コンテンツ プレースホルダー 2">
            <a:extLst>
              <a:ext uri="{FF2B5EF4-FFF2-40B4-BE49-F238E27FC236}">
                <a16:creationId xmlns:a16="http://schemas.microsoft.com/office/drawing/2014/main" id="{E6979979-96C9-EEB9-FB4F-223162123887}"/>
              </a:ext>
            </a:extLst>
          </p:cNvPr>
          <p:cNvSpPr txBox="1">
            <a:spLocks/>
          </p:cNvSpPr>
          <p:nvPr/>
        </p:nvSpPr>
        <p:spPr>
          <a:xfrm>
            <a:off x="273050" y="908050"/>
            <a:ext cx="9359900" cy="569339"/>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Trust Framework</a:t>
            </a:r>
            <a:r>
              <a:rPr lang="ja-JP" altLang="en-US" dirty="0"/>
              <a:t>を策定し、パブリックコメントや試験的なサービス導入を行うことで改善を進めている</a:t>
            </a:r>
            <a:endParaRPr lang="en-US" altLang="ja-JP" dirty="0"/>
          </a:p>
          <a:p>
            <a:r>
              <a:rPr lang="en-US" altLang="ja-JP" dirty="0"/>
              <a:t>ECHR Memorandum</a:t>
            </a:r>
            <a:r>
              <a:rPr lang="ja-JP" altLang="en-US" dirty="0"/>
              <a:t>を施行することで、</a:t>
            </a:r>
            <a:r>
              <a:rPr lang="en-US" altLang="ja-JP" dirty="0"/>
              <a:t>Trust Framework</a:t>
            </a:r>
            <a:r>
              <a:rPr lang="ja-JP" altLang="en-US" dirty="0"/>
              <a:t>の法的拘束力担保を進めている</a:t>
            </a:r>
            <a:endParaRPr lang="en-US" altLang="ja-JP" dirty="0"/>
          </a:p>
        </p:txBody>
      </p:sp>
      <p:sp>
        <p:nvSpPr>
          <p:cNvPr id="10" name="正方形/長方形 9">
            <a:extLst>
              <a:ext uri="{FF2B5EF4-FFF2-40B4-BE49-F238E27FC236}">
                <a16:creationId xmlns:a16="http://schemas.microsoft.com/office/drawing/2014/main" id="{DF036113-9E02-32D9-8898-721A48C4C527}"/>
              </a:ext>
            </a:extLst>
          </p:cNvPr>
          <p:cNvSpPr/>
          <p:nvPr/>
        </p:nvSpPr>
        <p:spPr>
          <a:xfrm>
            <a:off x="2550839" y="1681193"/>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Trust Framework β</a:t>
            </a:r>
            <a:r>
              <a:rPr lang="ja-JP" altLang="en-US" sz="1200" b="1" u="sng" dirty="0"/>
              <a:t> </a:t>
            </a:r>
            <a:r>
              <a:rPr lang="en-US" altLang="ja-JP" sz="1200" b="1" u="sng" dirty="0"/>
              <a:t>(0.3)*</a:t>
            </a:r>
            <a:r>
              <a:rPr lang="en-US" altLang="ja-JP" sz="1200" b="1" u="sng" baseline="30000" dirty="0"/>
              <a:t>1</a:t>
            </a:r>
            <a:endParaRPr lang="en-US" altLang="ja-JP" sz="1200" baseline="30000" dirty="0"/>
          </a:p>
          <a:p>
            <a:r>
              <a:rPr lang="ja-JP" altLang="en-US" sz="1200" dirty="0"/>
              <a:t>事業者や国民等からフィードバックを受けて、ベータ版を発行</a:t>
            </a:r>
            <a:endParaRPr lang="en-US" altLang="ja-JP" sz="1200" dirty="0"/>
          </a:p>
          <a:p>
            <a:r>
              <a:rPr lang="ja-JP" altLang="en-US" sz="1200" b="0" i="0" dirty="0">
                <a:solidFill>
                  <a:srgbClr val="0B0C0C"/>
                </a:solidFill>
                <a:effectLst/>
                <a:latin typeface="GDS Transport"/>
              </a:rPr>
              <a:t>雇用者と家主の労働権、賃貸権、雇用前の</a:t>
            </a:r>
            <a:r>
              <a:rPr lang="en-US" altLang="ja-JP" sz="1200" b="0" i="0" dirty="0">
                <a:solidFill>
                  <a:srgbClr val="0B0C0C"/>
                </a:solidFill>
                <a:effectLst/>
                <a:latin typeface="GDS Transport"/>
              </a:rPr>
              <a:t>DBS</a:t>
            </a:r>
            <a:r>
              <a:rPr lang="ja-JP" altLang="en-US" sz="1200" b="0" i="0" dirty="0">
                <a:solidFill>
                  <a:srgbClr val="0B0C0C"/>
                </a:solidFill>
                <a:effectLst/>
                <a:latin typeface="GDS Transport"/>
              </a:rPr>
              <a:t>チェック支援のユースケースで試験的に導入し、トラストフレームワークの実用性検証を実施</a:t>
            </a:r>
            <a:endParaRPr lang="en-US" altLang="ja-JP" sz="1200" dirty="0">
              <a:solidFill>
                <a:srgbClr val="0B0C0C"/>
              </a:solidFill>
              <a:latin typeface="GDS Transport"/>
            </a:endParaRPr>
          </a:p>
        </p:txBody>
      </p:sp>
      <p:sp>
        <p:nvSpPr>
          <p:cNvPr id="19" name="テキスト ボックス 18">
            <a:extLst>
              <a:ext uri="{FF2B5EF4-FFF2-40B4-BE49-F238E27FC236}">
                <a16:creationId xmlns:a16="http://schemas.microsoft.com/office/drawing/2014/main" id="{92D37093-DA06-BEC8-ADFD-9536B7516CC1}"/>
              </a:ext>
            </a:extLst>
          </p:cNvPr>
          <p:cNvSpPr txBox="1"/>
          <p:nvPr/>
        </p:nvSpPr>
        <p:spPr>
          <a:xfrm>
            <a:off x="555544" y="6115312"/>
            <a:ext cx="9069123" cy="553998"/>
          </a:xfrm>
          <a:prstGeom prst="rect">
            <a:avLst/>
          </a:prstGeom>
          <a:noFill/>
        </p:spPr>
        <p:txBody>
          <a:bodyPr wrap="square" lIns="0" tIns="0" rIns="0" bIns="0" rtlCol="0">
            <a:spAutoFit/>
          </a:bodyPr>
          <a:lstStyle/>
          <a:p>
            <a:pPr defTabSz="355600"/>
            <a:r>
              <a:rPr kumimoji="1" lang="en-US" altLang="ja-JP" sz="900" dirty="0">
                <a:latin typeface="+mn-ea"/>
                <a:ea typeface="+mn-ea"/>
                <a:hlinkClick r:id="rId5"/>
              </a:rPr>
              <a:t>https://www.gov.uk/government/publications/uk-digital-identity-and-attributes-trust-framework-beta-version/uk-digital-identity-and-attributes-trust-framework-beta-version</a:t>
            </a:r>
            <a:endParaRPr kumimoji="1" lang="en-US" altLang="ja-JP" sz="900" dirty="0">
              <a:latin typeface="+mn-ea"/>
              <a:ea typeface="+mn-ea"/>
            </a:endParaRPr>
          </a:p>
          <a:p>
            <a:pPr>
              <a:tabLst>
                <a:tab pos="355600" algn="l"/>
              </a:tabLst>
            </a:pPr>
            <a:r>
              <a:rPr kumimoji="1" lang="en-US" altLang="ja-JP" sz="900" dirty="0">
                <a:latin typeface="+mn-ea"/>
                <a:ea typeface="+mn-ea"/>
                <a:hlinkClick r:id="rId6"/>
              </a:rPr>
              <a:t>https://gds.blog.gov.uk/2023/06/24/gov-uk-one-login-june-2023-update/</a:t>
            </a:r>
            <a:endParaRPr kumimoji="1" lang="en-US" altLang="ja-JP" sz="900" dirty="0">
              <a:latin typeface="+mn-ea"/>
              <a:ea typeface="+mn-ea"/>
            </a:endParaRPr>
          </a:p>
          <a:p>
            <a:pPr defTabSz="355600"/>
            <a:r>
              <a:rPr kumimoji="1" lang="en-US" altLang="ja-JP" sz="900" dirty="0">
                <a:latin typeface="+mn-ea"/>
                <a:ea typeface="+mn-ea"/>
                <a:hlinkClick r:id="rId7"/>
              </a:rPr>
              <a:t>https://www.gov.uk/government/publications/data-protection-and-digital-information-bill-impact-assessments/data-protection-and-digital-information-no-2-bill-european-convention-on-human-rights-memorandum#summary-of-key-echr-issues-under-the-bill</a:t>
            </a:r>
            <a:endParaRPr kumimoji="1" lang="en-US" altLang="ja-JP" sz="900" dirty="0">
              <a:latin typeface="+mn-ea"/>
              <a:ea typeface="+mn-ea"/>
            </a:endParaRPr>
          </a:p>
        </p:txBody>
      </p:sp>
      <p:sp>
        <p:nvSpPr>
          <p:cNvPr id="20" name="テキスト ボックス 19">
            <a:extLst>
              <a:ext uri="{FF2B5EF4-FFF2-40B4-BE49-F238E27FC236}">
                <a16:creationId xmlns:a16="http://schemas.microsoft.com/office/drawing/2014/main" id="{42A415C8-5EBC-964F-C34D-0DCAC0609DAB}"/>
              </a:ext>
            </a:extLst>
          </p:cNvPr>
          <p:cNvSpPr txBox="1"/>
          <p:nvPr/>
        </p:nvSpPr>
        <p:spPr>
          <a:xfrm>
            <a:off x="281334" y="5753178"/>
            <a:ext cx="9462098" cy="369332"/>
          </a:xfrm>
          <a:prstGeom prst="rect">
            <a:avLst/>
          </a:prstGeom>
          <a:noFill/>
        </p:spPr>
        <p:txBody>
          <a:bodyPr wrap="square">
            <a:spAutoFit/>
          </a:bodyPr>
          <a:lstStyle/>
          <a:p>
            <a:r>
              <a:rPr lang="ja-JP" altLang="en-US" sz="900" dirty="0">
                <a:latin typeface="+mn-ea"/>
                <a:ea typeface="+mn-ea"/>
              </a:rPr>
              <a:t>     令和４年度デジタル取引環境整備事業（「</a:t>
            </a:r>
            <a:r>
              <a:rPr lang="en-US" altLang="ja-JP" sz="900" dirty="0">
                <a:latin typeface="+mn-ea"/>
                <a:ea typeface="+mn-ea"/>
              </a:rPr>
              <a:t>Trusted Web</a:t>
            </a:r>
            <a:r>
              <a:rPr lang="ja-JP" altLang="en-US" sz="900" dirty="0">
                <a:latin typeface="+mn-ea"/>
                <a:ea typeface="+mn-ea"/>
              </a:rPr>
              <a:t>」の実現に向けた技術動向調査）海外動向調査をもとに、直近の動向をアップデートして</a:t>
            </a:r>
            <a:r>
              <a:rPr lang="en-US" altLang="ja-JP" sz="900" dirty="0">
                <a:latin typeface="+mn-ea"/>
                <a:ea typeface="+mn-ea"/>
              </a:rPr>
              <a:t>TOPPAN</a:t>
            </a:r>
            <a:r>
              <a:rPr lang="ja-JP" altLang="en-US" sz="900" dirty="0">
                <a:latin typeface="+mn-ea"/>
                <a:ea typeface="+mn-ea"/>
              </a:rPr>
              <a:t>作成</a:t>
            </a:r>
            <a:endParaRPr lang="en-US" altLang="ja-JP" sz="900" dirty="0">
              <a:latin typeface="+mn-ea"/>
              <a:ea typeface="+mn-ea"/>
            </a:endParaRPr>
          </a:p>
          <a:p>
            <a:pPr>
              <a:tabLst>
                <a:tab pos="177800" algn="l"/>
              </a:tabLst>
            </a:pPr>
            <a:r>
              <a:rPr lang="en-US" altLang="ja-JP" sz="900" dirty="0">
                <a:latin typeface="+mn-ea"/>
                <a:ea typeface="+mn-ea"/>
              </a:rPr>
              <a:t>	</a:t>
            </a:r>
            <a:r>
              <a:rPr lang="en-US" altLang="ja-JP" sz="900" dirty="0">
                <a:latin typeface="+mn-ea"/>
                <a:ea typeface="+mn-ea"/>
                <a:hlinkClick r:id="rId8"/>
              </a:rPr>
              <a:t>https://www.kantei.go.jp/jp/singi/digitalmarket/trusted_web/2022seika/files/001_report_international.pdf</a:t>
            </a:r>
            <a:endParaRPr lang="en-US" altLang="ja-JP" sz="900" dirty="0">
              <a:latin typeface="+mn-ea"/>
              <a:ea typeface="+mn-ea"/>
            </a:endParaRPr>
          </a:p>
        </p:txBody>
      </p:sp>
      <p:sp>
        <p:nvSpPr>
          <p:cNvPr id="21" name="テキスト ボックス 20">
            <a:extLst>
              <a:ext uri="{FF2B5EF4-FFF2-40B4-BE49-F238E27FC236}">
                <a16:creationId xmlns:a16="http://schemas.microsoft.com/office/drawing/2014/main" id="{B5D39211-A334-F700-0B33-26A807B4DD35}"/>
              </a:ext>
            </a:extLst>
          </p:cNvPr>
          <p:cNvSpPr txBox="1"/>
          <p:nvPr/>
        </p:nvSpPr>
        <p:spPr>
          <a:xfrm>
            <a:off x="162568" y="6082654"/>
            <a:ext cx="445037" cy="507831"/>
          </a:xfrm>
          <a:prstGeom prst="rect">
            <a:avLst/>
          </a:prstGeom>
          <a:noFill/>
        </p:spPr>
        <p:txBody>
          <a:bodyPr wrap="square">
            <a:spAutoFit/>
          </a:bodyPr>
          <a:lstStyle/>
          <a:p>
            <a:pPr algn="r"/>
            <a:r>
              <a:rPr lang="ja-JP" altLang="en-US" sz="900" dirty="0">
                <a:latin typeface="+mn-ea"/>
                <a:ea typeface="+mn-ea"/>
              </a:rPr>
              <a:t>*</a:t>
            </a:r>
            <a:r>
              <a:rPr lang="en-US" altLang="ja-JP" sz="900" dirty="0">
                <a:latin typeface="+mn-ea"/>
                <a:ea typeface="+mn-ea"/>
              </a:rPr>
              <a:t>1</a:t>
            </a:r>
          </a:p>
          <a:p>
            <a:pPr algn="r"/>
            <a:r>
              <a:rPr lang="ja-JP" altLang="en-US" sz="900" dirty="0">
                <a:latin typeface="+mn-ea"/>
                <a:ea typeface="+mn-ea"/>
              </a:rPr>
              <a:t>*</a:t>
            </a:r>
            <a:r>
              <a:rPr lang="en-US" altLang="ja-JP" sz="900" dirty="0">
                <a:latin typeface="+mn-ea"/>
                <a:ea typeface="+mn-ea"/>
              </a:rPr>
              <a:t>2</a:t>
            </a:r>
          </a:p>
          <a:p>
            <a:pPr algn="r"/>
            <a:r>
              <a:rPr lang="ja-JP" altLang="en-US" sz="900" dirty="0">
                <a:latin typeface="+mn-ea"/>
                <a:ea typeface="+mn-ea"/>
              </a:rPr>
              <a:t>*</a:t>
            </a:r>
            <a:r>
              <a:rPr lang="en-US" altLang="ja-JP" sz="900" dirty="0">
                <a:latin typeface="+mn-ea"/>
                <a:ea typeface="+mn-ea"/>
              </a:rPr>
              <a:t>3</a:t>
            </a:r>
          </a:p>
        </p:txBody>
      </p:sp>
    </p:spTree>
    <p:extLst>
      <p:ext uri="{BB962C8B-B14F-4D97-AF65-F5344CB8AC3E}">
        <p14:creationId xmlns:p14="http://schemas.microsoft.com/office/powerpoint/2010/main" val="802312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0CABD9-5A3E-46B9-ACC2-EE9F9190A59C}"/>
              </a:ext>
            </a:extLst>
          </p:cNvPr>
          <p:cNvSpPr>
            <a:spLocks noGrp="1"/>
          </p:cNvSpPr>
          <p:nvPr>
            <p:ph type="title"/>
          </p:nvPr>
        </p:nvSpPr>
        <p:spPr/>
        <p:txBody>
          <a:bodyPr/>
          <a:lstStyle/>
          <a:p>
            <a:r>
              <a:rPr kumimoji="1" lang="en-US" altLang="ja-JP" dirty="0"/>
              <a:t>3.3. </a:t>
            </a:r>
            <a:r>
              <a:rPr kumimoji="1" lang="ja-JP" altLang="en-US" dirty="0"/>
              <a:t>イギリス：</a:t>
            </a:r>
            <a:r>
              <a:rPr kumimoji="1" lang="en-US" altLang="ja-JP" dirty="0"/>
              <a:t>DIATF – 3.3.3. </a:t>
            </a:r>
            <a:r>
              <a:rPr kumimoji="1" lang="ja-JP" altLang="en-US" dirty="0"/>
              <a:t>ヒアリング結果</a:t>
            </a:r>
          </a:p>
        </p:txBody>
      </p:sp>
      <p:sp>
        <p:nvSpPr>
          <p:cNvPr id="3" name="テキスト プレースホルダー 2">
            <a:extLst>
              <a:ext uri="{FF2B5EF4-FFF2-40B4-BE49-F238E27FC236}">
                <a16:creationId xmlns:a16="http://schemas.microsoft.com/office/drawing/2014/main" id="{6AE590F8-1B79-9219-87AD-FCD003B57CA8}"/>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grpSp>
        <p:nvGrpSpPr>
          <p:cNvPr id="4" name="Graphic 4">
            <a:extLst>
              <a:ext uri="{FF2B5EF4-FFF2-40B4-BE49-F238E27FC236}">
                <a16:creationId xmlns:a16="http://schemas.microsoft.com/office/drawing/2014/main" id="{88F14052-1BB2-0D32-8951-6C44921CA59F}"/>
              </a:ext>
            </a:extLst>
          </p:cNvPr>
          <p:cNvGrpSpPr>
            <a:grpSpLocks noChangeAspect="1"/>
          </p:cNvGrpSpPr>
          <p:nvPr/>
        </p:nvGrpSpPr>
        <p:grpSpPr bwMode="gray">
          <a:xfrm>
            <a:off x="560388" y="2458579"/>
            <a:ext cx="1221430" cy="1221430"/>
            <a:chOff x="6146480" y="3339623"/>
            <a:chExt cx="362309" cy="361971"/>
          </a:xfrm>
          <a:solidFill>
            <a:schemeClr val="accent1"/>
          </a:solidFill>
        </p:grpSpPr>
        <p:sp>
          <p:nvSpPr>
            <p:cNvPr id="5" name="Graphic 4">
              <a:extLst>
                <a:ext uri="{FF2B5EF4-FFF2-40B4-BE49-F238E27FC236}">
                  <a16:creationId xmlns:a16="http://schemas.microsoft.com/office/drawing/2014/main" id="{6F4FA867-FED6-ED0A-5338-E8CC07A06976}"/>
                </a:ext>
              </a:extLst>
            </p:cNvPr>
            <p:cNvSpPr/>
            <p:nvPr/>
          </p:nvSpPr>
          <p:spPr bwMode="gray">
            <a:xfrm>
              <a:off x="6290254" y="3436660"/>
              <a:ext cx="75401" cy="27950"/>
            </a:xfrm>
            <a:custGeom>
              <a:avLst/>
              <a:gdLst>
                <a:gd name="connsiteX0" fmla="*/ 37700 w 75401"/>
                <a:gd name="connsiteY0" fmla="*/ 0 h 27950"/>
                <a:gd name="connsiteX1" fmla="*/ 639 w 75401"/>
                <a:gd name="connsiteY1" fmla="*/ 14045 h 27950"/>
                <a:gd name="connsiteX2" fmla="*/ 0 w 75401"/>
                <a:gd name="connsiteY2" fmla="*/ 15321 h 27950"/>
                <a:gd name="connsiteX3" fmla="*/ 42173 w 75401"/>
                <a:gd name="connsiteY3" fmla="*/ 25536 h 27950"/>
                <a:gd name="connsiteX4" fmla="*/ 48563 w 75401"/>
                <a:gd name="connsiteY4" fmla="*/ 19152 h 27950"/>
                <a:gd name="connsiteX5" fmla="*/ 57509 w 75401"/>
                <a:gd name="connsiteY5" fmla="*/ 19152 h 27950"/>
                <a:gd name="connsiteX6" fmla="*/ 57509 w 75401"/>
                <a:gd name="connsiteY6" fmla="*/ 19152 h 27950"/>
                <a:gd name="connsiteX7" fmla="*/ 62621 w 75401"/>
                <a:gd name="connsiteY7" fmla="*/ 24259 h 27950"/>
                <a:gd name="connsiteX8" fmla="*/ 75401 w 75401"/>
                <a:gd name="connsiteY8" fmla="*/ 15321 h 27950"/>
                <a:gd name="connsiteX9" fmla="*/ 74762 w 75401"/>
                <a:gd name="connsiteY9" fmla="*/ 14045 h 27950"/>
                <a:gd name="connsiteX10" fmla="*/ 37700 w 75401"/>
                <a:gd name="connsiteY10" fmla="*/ 0 h 2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401" h="27950">
                  <a:moveTo>
                    <a:pt x="37700" y="0"/>
                  </a:moveTo>
                  <a:cubicBezTo>
                    <a:pt x="19809" y="0"/>
                    <a:pt x="7668" y="5107"/>
                    <a:pt x="639" y="14045"/>
                  </a:cubicBezTo>
                  <a:lnTo>
                    <a:pt x="0" y="15321"/>
                  </a:lnTo>
                  <a:cubicBezTo>
                    <a:pt x="12780" y="33197"/>
                    <a:pt x="36422" y="27451"/>
                    <a:pt x="42173" y="25536"/>
                  </a:cubicBezTo>
                  <a:lnTo>
                    <a:pt x="48563" y="19152"/>
                  </a:lnTo>
                  <a:cubicBezTo>
                    <a:pt x="51119" y="16598"/>
                    <a:pt x="54953" y="16598"/>
                    <a:pt x="57509" y="19152"/>
                  </a:cubicBezTo>
                  <a:cubicBezTo>
                    <a:pt x="57509" y="19152"/>
                    <a:pt x="57509" y="19152"/>
                    <a:pt x="57509" y="19152"/>
                  </a:cubicBezTo>
                  <a:lnTo>
                    <a:pt x="62621" y="24259"/>
                  </a:lnTo>
                  <a:cubicBezTo>
                    <a:pt x="67733" y="22982"/>
                    <a:pt x="72206" y="19790"/>
                    <a:pt x="75401" y="15321"/>
                  </a:cubicBezTo>
                  <a:cubicBezTo>
                    <a:pt x="75401" y="14683"/>
                    <a:pt x="74762" y="14683"/>
                    <a:pt x="74762" y="14045"/>
                  </a:cubicBezTo>
                  <a:cubicBezTo>
                    <a:pt x="67733" y="5107"/>
                    <a:pt x="54953" y="0"/>
                    <a:pt x="37700" y="0"/>
                  </a:cubicBez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sp>
          <p:nvSpPr>
            <p:cNvPr id="6" name="Graphic 4">
              <a:extLst>
                <a:ext uri="{FF2B5EF4-FFF2-40B4-BE49-F238E27FC236}">
                  <a16:creationId xmlns:a16="http://schemas.microsoft.com/office/drawing/2014/main" id="{56E8F5C9-9F88-3B18-4481-9AA58AEA2482}"/>
                </a:ext>
              </a:extLst>
            </p:cNvPr>
            <p:cNvSpPr/>
            <p:nvPr/>
          </p:nvSpPr>
          <p:spPr bwMode="gray">
            <a:xfrm>
              <a:off x="6146480" y="33396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77323 w 362309"/>
                <a:gd name="connsiteY6" fmla="*/ 274511 h 361971"/>
                <a:gd name="connsiteX7" fmla="*/ 271572 w 362309"/>
                <a:gd name="connsiteY7" fmla="*/ 277703 h 361971"/>
                <a:gd name="connsiteX8" fmla="*/ 268377 w 362309"/>
                <a:gd name="connsiteY8" fmla="*/ 277065 h 361971"/>
                <a:gd name="connsiteX9" fmla="*/ 241540 w 362309"/>
                <a:gd name="connsiteY9" fmla="*/ 271319 h 361971"/>
                <a:gd name="connsiteX10" fmla="*/ 219175 w 362309"/>
                <a:gd name="connsiteY10" fmla="*/ 266850 h 361971"/>
                <a:gd name="connsiteX11" fmla="*/ 201922 w 362309"/>
                <a:gd name="connsiteY11" fmla="*/ 238122 h 361971"/>
                <a:gd name="connsiteX12" fmla="*/ 202561 w 362309"/>
                <a:gd name="connsiteY12" fmla="*/ 212587 h 361971"/>
                <a:gd name="connsiteX13" fmla="*/ 221092 w 362309"/>
                <a:gd name="connsiteY13" fmla="*/ 168537 h 361971"/>
                <a:gd name="connsiteX14" fmla="*/ 224287 w 362309"/>
                <a:gd name="connsiteY14" fmla="*/ 125765 h 361971"/>
                <a:gd name="connsiteX15" fmla="*/ 203200 w 362309"/>
                <a:gd name="connsiteY15" fmla="*/ 134702 h 361971"/>
                <a:gd name="connsiteX16" fmla="*/ 199366 w 362309"/>
                <a:gd name="connsiteY16" fmla="*/ 132787 h 361971"/>
                <a:gd name="connsiteX17" fmla="*/ 196171 w 362309"/>
                <a:gd name="connsiteY17" fmla="*/ 129595 h 361971"/>
                <a:gd name="connsiteX18" fmla="*/ 192976 w 362309"/>
                <a:gd name="connsiteY18" fmla="*/ 132787 h 361971"/>
                <a:gd name="connsiteX19" fmla="*/ 190420 w 362309"/>
                <a:gd name="connsiteY19" fmla="*/ 134064 h 361971"/>
                <a:gd name="connsiteX20" fmla="*/ 169972 w 362309"/>
                <a:gd name="connsiteY20" fmla="*/ 137256 h 361971"/>
                <a:gd name="connsiteX21" fmla="*/ 137384 w 362309"/>
                <a:gd name="connsiteY21" fmla="*/ 125126 h 361971"/>
                <a:gd name="connsiteX22" fmla="*/ 140579 w 362309"/>
                <a:gd name="connsiteY22" fmla="*/ 167899 h 361971"/>
                <a:gd name="connsiteX23" fmla="*/ 159109 w 362309"/>
                <a:gd name="connsiteY23" fmla="*/ 211948 h 361971"/>
                <a:gd name="connsiteX24" fmla="*/ 159748 w 362309"/>
                <a:gd name="connsiteY24" fmla="*/ 237484 h 361971"/>
                <a:gd name="connsiteX25" fmla="*/ 142496 w 362309"/>
                <a:gd name="connsiteY25" fmla="*/ 266212 h 361971"/>
                <a:gd name="connsiteX26" fmla="*/ 120131 w 362309"/>
                <a:gd name="connsiteY26" fmla="*/ 270681 h 361971"/>
                <a:gd name="connsiteX27" fmla="*/ 93293 w 362309"/>
                <a:gd name="connsiteY27" fmla="*/ 276426 h 361971"/>
                <a:gd name="connsiteX28" fmla="*/ 84347 w 362309"/>
                <a:gd name="connsiteY28" fmla="*/ 273873 h 361971"/>
                <a:gd name="connsiteX29" fmla="*/ 86903 w 362309"/>
                <a:gd name="connsiteY29" fmla="*/ 264935 h 361971"/>
                <a:gd name="connsiteX30" fmla="*/ 118853 w 362309"/>
                <a:gd name="connsiteY30" fmla="*/ 257274 h 361971"/>
                <a:gd name="connsiteX31" fmla="*/ 136106 w 362309"/>
                <a:gd name="connsiteY31" fmla="*/ 254082 h 361971"/>
                <a:gd name="connsiteX32" fmla="*/ 148246 w 362309"/>
                <a:gd name="connsiteY32" fmla="*/ 218332 h 361971"/>
                <a:gd name="connsiteX33" fmla="*/ 127799 w 362309"/>
                <a:gd name="connsiteY33" fmla="*/ 171091 h 361971"/>
                <a:gd name="connsiteX34" fmla="*/ 132911 w 362309"/>
                <a:gd name="connsiteY34" fmla="*/ 102782 h 361971"/>
                <a:gd name="connsiteX35" fmla="*/ 180196 w 362309"/>
                <a:gd name="connsiteY35" fmla="*/ 83630 h 361971"/>
                <a:gd name="connsiteX36" fmla="*/ 227482 w 362309"/>
                <a:gd name="connsiteY36" fmla="*/ 102782 h 361971"/>
                <a:gd name="connsiteX37" fmla="*/ 232593 w 362309"/>
                <a:gd name="connsiteY37" fmla="*/ 171091 h 361971"/>
                <a:gd name="connsiteX38" fmla="*/ 212146 w 362309"/>
                <a:gd name="connsiteY38" fmla="*/ 218332 h 361971"/>
                <a:gd name="connsiteX39" fmla="*/ 224287 w 362309"/>
                <a:gd name="connsiteY39" fmla="*/ 254082 h 361971"/>
                <a:gd name="connsiteX40" fmla="*/ 241540 w 362309"/>
                <a:gd name="connsiteY40" fmla="*/ 257274 h 361971"/>
                <a:gd name="connsiteX41" fmla="*/ 273489 w 362309"/>
                <a:gd name="connsiteY41" fmla="*/ 264935 h 361971"/>
                <a:gd name="connsiteX42" fmla="*/ 277323 w 362309"/>
                <a:gd name="connsiteY42" fmla="*/ 274511 h 361971"/>
                <a:gd name="connsiteX43" fmla="*/ 277323 w 362309"/>
                <a:gd name="connsiteY43" fmla="*/ 274511 h 361971"/>
                <a:gd name="connsiteX44" fmla="*/ 277323 w 362309"/>
                <a:gd name="connsiteY44" fmla="*/ 2745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1077"/>
                    <a:pt x="281157" y="0"/>
                    <a:pt x="181474" y="0"/>
                  </a:cubicBezTo>
                  <a:close/>
                  <a:moveTo>
                    <a:pt x="277323" y="274511"/>
                  </a:moveTo>
                  <a:cubicBezTo>
                    <a:pt x="276045" y="276426"/>
                    <a:pt x="274128" y="277703"/>
                    <a:pt x="271572" y="277703"/>
                  </a:cubicBezTo>
                  <a:cubicBezTo>
                    <a:pt x="270294" y="277703"/>
                    <a:pt x="269655" y="277703"/>
                    <a:pt x="268377" y="277065"/>
                  </a:cubicBezTo>
                  <a:cubicBezTo>
                    <a:pt x="260070" y="273234"/>
                    <a:pt x="250485" y="271319"/>
                    <a:pt x="241540" y="271319"/>
                  </a:cubicBezTo>
                  <a:cubicBezTo>
                    <a:pt x="233872" y="271319"/>
                    <a:pt x="226204" y="269404"/>
                    <a:pt x="219175" y="266850"/>
                  </a:cubicBezTo>
                  <a:cubicBezTo>
                    <a:pt x="208312" y="261105"/>
                    <a:pt x="203200" y="243868"/>
                    <a:pt x="201922" y="238122"/>
                  </a:cubicBezTo>
                  <a:cubicBezTo>
                    <a:pt x="200644" y="232377"/>
                    <a:pt x="198088" y="218971"/>
                    <a:pt x="202561" y="212587"/>
                  </a:cubicBezTo>
                  <a:cubicBezTo>
                    <a:pt x="210868" y="198542"/>
                    <a:pt x="216619" y="183859"/>
                    <a:pt x="221092" y="168537"/>
                  </a:cubicBezTo>
                  <a:cubicBezTo>
                    <a:pt x="225565" y="154492"/>
                    <a:pt x="226843" y="139809"/>
                    <a:pt x="224287" y="125765"/>
                  </a:cubicBezTo>
                  <a:cubicBezTo>
                    <a:pt x="218536" y="131510"/>
                    <a:pt x="210868" y="134702"/>
                    <a:pt x="203200" y="134702"/>
                  </a:cubicBezTo>
                  <a:cubicBezTo>
                    <a:pt x="201922" y="134702"/>
                    <a:pt x="200005" y="134064"/>
                    <a:pt x="199366" y="132787"/>
                  </a:cubicBezTo>
                  <a:lnTo>
                    <a:pt x="196171" y="129595"/>
                  </a:lnTo>
                  <a:lnTo>
                    <a:pt x="192976" y="132787"/>
                  </a:lnTo>
                  <a:cubicBezTo>
                    <a:pt x="192337" y="133425"/>
                    <a:pt x="191698" y="134064"/>
                    <a:pt x="190420" y="134064"/>
                  </a:cubicBezTo>
                  <a:cubicBezTo>
                    <a:pt x="184030" y="136617"/>
                    <a:pt x="177001" y="137894"/>
                    <a:pt x="169972" y="137256"/>
                  </a:cubicBezTo>
                  <a:cubicBezTo>
                    <a:pt x="157831" y="137894"/>
                    <a:pt x="146329" y="133425"/>
                    <a:pt x="137384" y="125126"/>
                  </a:cubicBezTo>
                  <a:cubicBezTo>
                    <a:pt x="134828" y="139171"/>
                    <a:pt x="136106" y="154492"/>
                    <a:pt x="140579" y="167899"/>
                  </a:cubicBezTo>
                  <a:cubicBezTo>
                    <a:pt x="145051" y="183220"/>
                    <a:pt x="151441" y="197903"/>
                    <a:pt x="159109" y="211948"/>
                  </a:cubicBezTo>
                  <a:cubicBezTo>
                    <a:pt x="163582" y="218971"/>
                    <a:pt x="161026" y="232377"/>
                    <a:pt x="159748" y="237484"/>
                  </a:cubicBezTo>
                  <a:cubicBezTo>
                    <a:pt x="158470" y="242591"/>
                    <a:pt x="153358" y="260466"/>
                    <a:pt x="142496" y="266212"/>
                  </a:cubicBezTo>
                  <a:cubicBezTo>
                    <a:pt x="135466" y="268766"/>
                    <a:pt x="127799" y="270681"/>
                    <a:pt x="120131" y="270681"/>
                  </a:cubicBezTo>
                  <a:cubicBezTo>
                    <a:pt x="110546" y="270681"/>
                    <a:pt x="101600" y="273234"/>
                    <a:pt x="93293" y="276426"/>
                  </a:cubicBezTo>
                  <a:cubicBezTo>
                    <a:pt x="90098" y="278341"/>
                    <a:pt x="86264" y="277065"/>
                    <a:pt x="84347" y="273873"/>
                  </a:cubicBezTo>
                  <a:cubicBezTo>
                    <a:pt x="82430" y="270681"/>
                    <a:pt x="83708" y="266850"/>
                    <a:pt x="86903" y="264935"/>
                  </a:cubicBezTo>
                  <a:cubicBezTo>
                    <a:pt x="97127" y="260466"/>
                    <a:pt x="107990" y="257913"/>
                    <a:pt x="118853" y="257274"/>
                  </a:cubicBezTo>
                  <a:cubicBezTo>
                    <a:pt x="124604" y="257274"/>
                    <a:pt x="130354" y="255998"/>
                    <a:pt x="136106" y="254082"/>
                  </a:cubicBezTo>
                  <a:cubicBezTo>
                    <a:pt x="145051" y="249614"/>
                    <a:pt x="150802" y="223439"/>
                    <a:pt x="148246" y="218332"/>
                  </a:cubicBezTo>
                  <a:cubicBezTo>
                    <a:pt x="139301" y="203649"/>
                    <a:pt x="132911" y="187689"/>
                    <a:pt x="127799" y="171091"/>
                  </a:cubicBezTo>
                  <a:cubicBezTo>
                    <a:pt x="122686" y="154492"/>
                    <a:pt x="116936" y="123211"/>
                    <a:pt x="132911" y="102782"/>
                  </a:cubicBezTo>
                  <a:cubicBezTo>
                    <a:pt x="142496" y="90014"/>
                    <a:pt x="158470" y="83630"/>
                    <a:pt x="180196" y="83630"/>
                  </a:cubicBezTo>
                  <a:cubicBezTo>
                    <a:pt x="201922" y="83630"/>
                    <a:pt x="217897" y="90014"/>
                    <a:pt x="227482" y="102782"/>
                  </a:cubicBezTo>
                  <a:cubicBezTo>
                    <a:pt x="243456" y="123849"/>
                    <a:pt x="237067" y="154492"/>
                    <a:pt x="232593" y="171091"/>
                  </a:cubicBezTo>
                  <a:cubicBezTo>
                    <a:pt x="228120" y="187689"/>
                    <a:pt x="221092" y="203649"/>
                    <a:pt x="212146" y="218332"/>
                  </a:cubicBezTo>
                  <a:cubicBezTo>
                    <a:pt x="209590" y="223439"/>
                    <a:pt x="215341" y="248975"/>
                    <a:pt x="224287" y="254082"/>
                  </a:cubicBezTo>
                  <a:cubicBezTo>
                    <a:pt x="230038" y="255998"/>
                    <a:pt x="235788" y="257274"/>
                    <a:pt x="241540" y="257274"/>
                  </a:cubicBezTo>
                  <a:cubicBezTo>
                    <a:pt x="252403" y="257913"/>
                    <a:pt x="263265" y="260466"/>
                    <a:pt x="273489" y="264935"/>
                  </a:cubicBezTo>
                  <a:cubicBezTo>
                    <a:pt x="277323" y="267489"/>
                    <a:pt x="278601" y="271319"/>
                    <a:pt x="277323" y="274511"/>
                  </a:cubicBezTo>
                  <a:cubicBezTo>
                    <a:pt x="277323" y="274511"/>
                    <a:pt x="277323" y="274511"/>
                    <a:pt x="277323" y="274511"/>
                  </a:cubicBezTo>
                  <a:lnTo>
                    <a:pt x="277323" y="274511"/>
                  </a:ln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grpSp>
      <p:sp>
        <p:nvSpPr>
          <p:cNvPr id="7" name="正方形/長方形 6">
            <a:extLst>
              <a:ext uri="{FF2B5EF4-FFF2-40B4-BE49-F238E27FC236}">
                <a16:creationId xmlns:a16="http://schemas.microsoft.com/office/drawing/2014/main" id="{88DC013E-05C6-9C99-29DD-9ADA13F1CA1A}"/>
              </a:ext>
            </a:extLst>
          </p:cNvPr>
          <p:cNvSpPr/>
          <p:nvPr/>
        </p:nvSpPr>
        <p:spPr bwMode="gray">
          <a:xfrm>
            <a:off x="417017" y="1605471"/>
            <a:ext cx="4023247" cy="438596"/>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トラストフレームワーク策定プロセス・運用プロセス</a:t>
            </a:r>
          </a:p>
        </p:txBody>
      </p:sp>
      <p:sp>
        <p:nvSpPr>
          <p:cNvPr id="8" name="吹き出し: 四角形 7">
            <a:extLst>
              <a:ext uri="{FF2B5EF4-FFF2-40B4-BE49-F238E27FC236}">
                <a16:creationId xmlns:a16="http://schemas.microsoft.com/office/drawing/2014/main" id="{F0FECED5-35B3-9D8E-DC66-4986BE320CE4}"/>
              </a:ext>
            </a:extLst>
          </p:cNvPr>
          <p:cNvSpPr/>
          <p:nvPr/>
        </p:nvSpPr>
        <p:spPr>
          <a:xfrm>
            <a:off x="2266513" y="2148251"/>
            <a:ext cx="7366437" cy="3539627"/>
          </a:xfrm>
          <a:prstGeom prst="wedgeRectCallout">
            <a:avLst>
              <a:gd name="adj1" fmla="val -56887"/>
              <a:gd name="adj2" fmla="val -19857"/>
            </a:avLst>
          </a:prstGeom>
          <a:solidFill>
            <a:schemeClr val="accent5">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a:spcBef>
                <a:spcPts val="600"/>
              </a:spcBef>
            </a:pPr>
            <a:r>
              <a:rPr kumimoji="1" lang="en-US" altLang="ja-JP" sz="1400" dirty="0"/>
              <a:t>【</a:t>
            </a:r>
            <a:r>
              <a:rPr kumimoji="1" lang="ja-JP" altLang="en-US" sz="1400" dirty="0"/>
              <a:t>トラストフレームワーク策定の巻き込み</a:t>
            </a:r>
            <a:r>
              <a:rPr kumimoji="1" lang="en-US" altLang="ja-JP" sz="1400" dirty="0"/>
              <a:t>】</a:t>
            </a:r>
          </a:p>
          <a:p>
            <a:pPr marL="342900" indent="-342900">
              <a:spcBef>
                <a:spcPts val="600"/>
              </a:spcBef>
              <a:buFont typeface="Arial" panose="020B0604020202020204" pitchFamily="34" charset="0"/>
              <a:buChar char="•"/>
            </a:pPr>
            <a:r>
              <a:rPr lang="en-US" altLang="ja-JP" sz="1400" dirty="0"/>
              <a:t>DCMS</a:t>
            </a:r>
            <a:r>
              <a:rPr lang="ja-JP" altLang="en-US" sz="1400" dirty="0"/>
              <a:t>で策定するので国が主体となって策定している。民間事業者はフィードバック・パブリックコメントで関与することができるが策定における役割を持ち合わせてはいない</a:t>
            </a:r>
            <a:endParaRPr lang="en-US" altLang="ja-JP" sz="1400" dirty="0"/>
          </a:p>
          <a:p>
            <a:pPr>
              <a:spcBef>
                <a:spcPts val="600"/>
              </a:spcBef>
            </a:pPr>
            <a:r>
              <a:rPr lang="en-US" altLang="ja-JP" sz="1400" dirty="0"/>
              <a:t>【</a:t>
            </a:r>
            <a:r>
              <a:rPr lang="ja-JP" altLang="en-US" sz="1400" dirty="0"/>
              <a:t>運用のインセンティブ設計</a:t>
            </a:r>
            <a:r>
              <a:rPr lang="en-US" altLang="ja-JP" sz="1400" dirty="0"/>
              <a:t>】</a:t>
            </a:r>
          </a:p>
          <a:p>
            <a:pPr marL="342900" indent="-342900">
              <a:spcBef>
                <a:spcPts val="600"/>
              </a:spcBef>
              <a:buFont typeface="Arial" panose="020B0604020202020204" pitchFamily="34" charset="0"/>
              <a:buChar char="•"/>
            </a:pPr>
            <a:r>
              <a:rPr kumimoji="1" lang="en-US" altLang="ja-JP" sz="1400" dirty="0"/>
              <a:t>ECHR Memorandum</a:t>
            </a:r>
            <a:r>
              <a:rPr kumimoji="1" lang="ja-JP" altLang="en-US" sz="1400" dirty="0"/>
              <a:t>によって、民間事業者は、トラストフレームワークの下で身元確認サービスを提供するためには政府認定機関が指定した認定団体から認証を受けることが必須となった</a:t>
            </a:r>
            <a:endParaRPr kumimoji="1" lang="en-US" altLang="ja-JP" sz="1400" dirty="0"/>
          </a:p>
          <a:p>
            <a:pPr marL="342900" indent="-342900">
              <a:spcBef>
                <a:spcPts val="600"/>
              </a:spcBef>
              <a:buFont typeface="Arial" panose="020B0604020202020204" pitchFamily="34" charset="0"/>
              <a:buChar char="•"/>
            </a:pPr>
            <a:r>
              <a:rPr kumimoji="1" lang="ja-JP" altLang="en-US" sz="1400" dirty="0"/>
              <a:t>認定を受けることで、以前は不可能だった本人確認・資格確認の方法が実現できることがインセンティブであると考えられる</a:t>
            </a:r>
            <a:r>
              <a:rPr kumimoji="1" lang="en-US" altLang="ja-JP" sz="1400" dirty="0"/>
              <a:t>(</a:t>
            </a:r>
            <a:r>
              <a:rPr kumimoji="1" lang="ja-JP" altLang="en-US" sz="1400" dirty="0"/>
              <a:t>以前は対面での確認が必須だったがオンラインでの確認が可能など</a:t>
            </a:r>
            <a:r>
              <a:rPr kumimoji="1" lang="en-US" altLang="ja-JP" sz="1400" dirty="0"/>
              <a:t>)</a:t>
            </a:r>
          </a:p>
          <a:p>
            <a:pPr>
              <a:spcBef>
                <a:spcPts val="600"/>
              </a:spcBef>
            </a:pPr>
            <a:r>
              <a:rPr lang="en-US" altLang="ja-JP" sz="1400" dirty="0"/>
              <a:t>【</a:t>
            </a:r>
            <a:r>
              <a:rPr lang="ja-JP" altLang="en-US" sz="1400" dirty="0"/>
              <a:t>社会実装について</a:t>
            </a:r>
            <a:r>
              <a:rPr lang="en-US" altLang="ja-JP" sz="1400" dirty="0"/>
              <a:t>】</a:t>
            </a:r>
          </a:p>
          <a:p>
            <a:pPr marL="285750" indent="-285750">
              <a:spcBef>
                <a:spcPts val="600"/>
              </a:spcBef>
              <a:buFont typeface="Arial" panose="020B0604020202020204" pitchFamily="34" charset="0"/>
              <a:buChar char="•"/>
            </a:pPr>
            <a:r>
              <a:rPr kumimoji="1" lang="ja-JP" altLang="en-US" sz="1400" dirty="0"/>
              <a:t>ボトムアップ的アプローチで実施をしている</a:t>
            </a:r>
            <a:br>
              <a:rPr kumimoji="1" lang="en-US" altLang="ja-JP" sz="1400" dirty="0"/>
            </a:br>
            <a:r>
              <a:rPr kumimoji="1" lang="en-US" altLang="ja-JP" sz="1400" dirty="0"/>
              <a:t>(</a:t>
            </a:r>
            <a:r>
              <a:rPr kumimoji="1" lang="ja-JP" altLang="en-US" sz="1400" dirty="0"/>
              <a:t>サンドボックス的な取組→トラストフレームワーク策定→法整備による認定強化</a:t>
            </a:r>
            <a:r>
              <a:rPr kumimoji="1" lang="en-US" altLang="ja-JP" sz="1400" dirty="0"/>
              <a:t>)</a:t>
            </a:r>
          </a:p>
          <a:p>
            <a:pPr marL="285750" indent="-285750">
              <a:spcBef>
                <a:spcPts val="600"/>
              </a:spcBef>
              <a:buFont typeface="Arial" panose="020B0604020202020204" pitchFamily="34" charset="0"/>
              <a:buChar char="•"/>
            </a:pPr>
            <a:r>
              <a:rPr kumimoji="1" lang="ja-JP" altLang="en-US" sz="1400" dirty="0"/>
              <a:t>現時点で先行的にユースケースで取り組んでいる事例は、今後トラストフレームワークの認定を受けていくようになると考える</a:t>
            </a:r>
            <a:endParaRPr kumimoji="1" lang="en-US" altLang="ja-JP" sz="1400" dirty="0"/>
          </a:p>
        </p:txBody>
      </p:sp>
      <p:sp>
        <p:nvSpPr>
          <p:cNvPr id="10" name="コンテンツ プレースホルダー 2">
            <a:extLst>
              <a:ext uri="{FF2B5EF4-FFF2-40B4-BE49-F238E27FC236}">
                <a16:creationId xmlns:a16="http://schemas.microsoft.com/office/drawing/2014/main" id="{22C28492-51CB-4E16-FBD7-A0B348240FAA}"/>
              </a:ext>
            </a:extLst>
          </p:cNvPr>
          <p:cNvSpPr txBox="1">
            <a:spLocks/>
          </p:cNvSpPr>
          <p:nvPr/>
        </p:nvSpPr>
        <p:spPr>
          <a:xfrm>
            <a:off x="273049" y="908050"/>
            <a:ext cx="9498631" cy="585940"/>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先行的な取り組みをサンドボックス制度で取り組み、それを念頭に置いてトラストフレームワークの策定・ガバナンス強化を進めていくことで実践的な社会実装を狙っていることが示唆された</a:t>
            </a:r>
            <a:endParaRPr lang="en-US" altLang="ja-JP" dirty="0"/>
          </a:p>
        </p:txBody>
      </p:sp>
    </p:spTree>
    <p:extLst>
      <p:ext uri="{BB962C8B-B14F-4D97-AF65-F5344CB8AC3E}">
        <p14:creationId xmlns:p14="http://schemas.microsoft.com/office/powerpoint/2010/main" val="1177142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E98A1C-ADC5-843E-1510-638B6CF3FBB7}"/>
              </a:ext>
            </a:extLst>
          </p:cNvPr>
          <p:cNvSpPr>
            <a:spLocks noGrp="1"/>
          </p:cNvSpPr>
          <p:nvPr>
            <p:ph type="title"/>
          </p:nvPr>
        </p:nvSpPr>
        <p:spPr>
          <a:xfrm>
            <a:off x="273050" y="384919"/>
            <a:ext cx="7848302" cy="307777"/>
          </a:xfrm>
        </p:spPr>
        <p:txBody>
          <a:bodyPr/>
          <a:lstStyle/>
          <a:p>
            <a:r>
              <a:rPr kumimoji="1" lang="en-US" altLang="ja-JP" dirty="0"/>
              <a:t>3.4. </a:t>
            </a:r>
            <a:r>
              <a:rPr kumimoji="1" lang="ja-JP" altLang="en-US" dirty="0"/>
              <a:t>オーストラリア：</a:t>
            </a:r>
            <a:r>
              <a:rPr kumimoji="1" lang="en-US" altLang="ja-JP" dirty="0"/>
              <a:t>TDIF – 3.4.1. </a:t>
            </a:r>
            <a:r>
              <a:rPr kumimoji="1" lang="ja-JP" altLang="en-US" dirty="0"/>
              <a:t>ガバナンス構造　</a:t>
            </a:r>
          </a:p>
        </p:txBody>
      </p:sp>
      <p:sp>
        <p:nvSpPr>
          <p:cNvPr id="3" name="テキスト プレースホルダー 2">
            <a:extLst>
              <a:ext uri="{FF2B5EF4-FFF2-40B4-BE49-F238E27FC236}">
                <a16:creationId xmlns:a16="http://schemas.microsoft.com/office/drawing/2014/main" id="{3017E99C-2EC4-F77A-399E-6A85E9832E9C}"/>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9" name="正方形/長方形 8">
            <a:extLst>
              <a:ext uri="{FF2B5EF4-FFF2-40B4-BE49-F238E27FC236}">
                <a16:creationId xmlns:a16="http://schemas.microsoft.com/office/drawing/2014/main" id="{A68D0734-10DD-4B0E-EAA9-910405447D2D}"/>
              </a:ext>
            </a:extLst>
          </p:cNvPr>
          <p:cNvSpPr/>
          <p:nvPr/>
        </p:nvSpPr>
        <p:spPr>
          <a:xfrm>
            <a:off x="4944722" y="1868822"/>
            <a:ext cx="1291964" cy="3459802"/>
          </a:xfrm>
          <a:prstGeom prst="rect">
            <a:avLst/>
          </a:prstGeom>
          <a:solidFill>
            <a:schemeClr val="accent3">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0" name="正方形/長方形 9">
            <a:extLst>
              <a:ext uri="{FF2B5EF4-FFF2-40B4-BE49-F238E27FC236}">
                <a16:creationId xmlns:a16="http://schemas.microsoft.com/office/drawing/2014/main" id="{1AA27F42-7052-C4EE-62DA-211DC70D1166}"/>
              </a:ext>
            </a:extLst>
          </p:cNvPr>
          <p:cNvSpPr/>
          <p:nvPr/>
        </p:nvSpPr>
        <p:spPr>
          <a:xfrm>
            <a:off x="6277800" y="1868822"/>
            <a:ext cx="1291964" cy="3459802"/>
          </a:xfrm>
          <a:prstGeom prst="rect">
            <a:avLst/>
          </a:prstGeom>
          <a:solidFill>
            <a:srgbClr val="FF0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1" name="正方形/長方形 10">
            <a:extLst>
              <a:ext uri="{FF2B5EF4-FFF2-40B4-BE49-F238E27FC236}">
                <a16:creationId xmlns:a16="http://schemas.microsoft.com/office/drawing/2014/main" id="{76CDF05C-1ED3-C781-81D4-3FF48629E274}"/>
              </a:ext>
            </a:extLst>
          </p:cNvPr>
          <p:cNvSpPr/>
          <p:nvPr/>
        </p:nvSpPr>
        <p:spPr>
          <a:xfrm>
            <a:off x="3582481" y="1868822"/>
            <a:ext cx="1310185" cy="3459802"/>
          </a:xfrm>
          <a:prstGeom prst="rect">
            <a:avLst/>
          </a:prstGeom>
          <a:solidFill>
            <a:srgbClr val="FFC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12" name="四角形: 角を丸くする 11">
            <a:extLst>
              <a:ext uri="{FF2B5EF4-FFF2-40B4-BE49-F238E27FC236}">
                <a16:creationId xmlns:a16="http://schemas.microsoft.com/office/drawing/2014/main" id="{5C892C24-845D-9BA3-F142-08349704987E}"/>
              </a:ext>
            </a:extLst>
          </p:cNvPr>
          <p:cNvSpPr/>
          <p:nvPr/>
        </p:nvSpPr>
        <p:spPr>
          <a:xfrm>
            <a:off x="3684670" y="2593328"/>
            <a:ext cx="2493020" cy="300957"/>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0" rtlCol="0" anchor="t" anchorCtr="0"/>
          <a:lstStyle/>
          <a:p>
            <a:pPr algn="ctr"/>
            <a:r>
              <a:rPr kumimoji="1" lang="en-US" altLang="ja-JP" sz="1200" dirty="0"/>
              <a:t>Digital ID Bill and Digital ID Rules</a:t>
            </a:r>
          </a:p>
        </p:txBody>
      </p:sp>
      <p:sp>
        <p:nvSpPr>
          <p:cNvPr id="14" name="正方形/長方形 13">
            <a:extLst>
              <a:ext uri="{FF2B5EF4-FFF2-40B4-BE49-F238E27FC236}">
                <a16:creationId xmlns:a16="http://schemas.microsoft.com/office/drawing/2014/main" id="{D6682BFE-4CF3-FB62-C90F-D544D8B9C87B}"/>
              </a:ext>
            </a:extLst>
          </p:cNvPr>
          <p:cNvSpPr/>
          <p:nvPr/>
        </p:nvSpPr>
        <p:spPr>
          <a:xfrm>
            <a:off x="4696503" y="2753903"/>
            <a:ext cx="188130" cy="76913"/>
          </a:xfrm>
          <a:prstGeom prst="rect">
            <a:avLst/>
          </a:prstGeom>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7" name="正方形/長方形 26">
            <a:extLst>
              <a:ext uri="{FF2B5EF4-FFF2-40B4-BE49-F238E27FC236}">
                <a16:creationId xmlns:a16="http://schemas.microsoft.com/office/drawing/2014/main" id="{C26269D4-BD2B-94B1-E8C5-8D283F29F5A1}"/>
              </a:ext>
            </a:extLst>
          </p:cNvPr>
          <p:cNvSpPr/>
          <p:nvPr/>
        </p:nvSpPr>
        <p:spPr>
          <a:xfrm>
            <a:off x="3898593" y="6215274"/>
            <a:ext cx="3515682" cy="225248"/>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エンドユーザ</a:t>
            </a:r>
          </a:p>
        </p:txBody>
      </p:sp>
      <p:sp>
        <p:nvSpPr>
          <p:cNvPr id="43" name="四角形: 角を丸くする 42">
            <a:extLst>
              <a:ext uri="{FF2B5EF4-FFF2-40B4-BE49-F238E27FC236}">
                <a16:creationId xmlns:a16="http://schemas.microsoft.com/office/drawing/2014/main" id="{E54634C5-0295-339D-1E2D-81FC0665FCDE}"/>
              </a:ext>
            </a:extLst>
          </p:cNvPr>
          <p:cNvSpPr/>
          <p:nvPr/>
        </p:nvSpPr>
        <p:spPr>
          <a:xfrm>
            <a:off x="3657427" y="4036220"/>
            <a:ext cx="2534137" cy="408001"/>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a:t>TDIF</a:t>
            </a:r>
          </a:p>
          <a:p>
            <a:pPr algn="ctr"/>
            <a:endParaRPr lang="en-US" altLang="ja-JP" sz="1200" dirty="0"/>
          </a:p>
        </p:txBody>
      </p:sp>
      <p:cxnSp>
        <p:nvCxnSpPr>
          <p:cNvPr id="46" name="直線矢印コネクタ 45">
            <a:extLst>
              <a:ext uri="{FF2B5EF4-FFF2-40B4-BE49-F238E27FC236}">
                <a16:creationId xmlns:a16="http://schemas.microsoft.com/office/drawing/2014/main" id="{6F657ECF-6263-C56C-1950-547E75DDAA2B}"/>
              </a:ext>
            </a:extLst>
          </p:cNvPr>
          <p:cNvCxnSpPr>
            <a:cxnSpLocks/>
            <a:stCxn id="43" idx="0"/>
            <a:endCxn id="12" idx="2"/>
          </p:cNvCxnSpPr>
          <p:nvPr/>
        </p:nvCxnSpPr>
        <p:spPr>
          <a:xfrm flipV="1">
            <a:off x="4924496" y="2894285"/>
            <a:ext cx="6684" cy="1141935"/>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1519029D-5579-E42B-9FE3-E8B4CD29D5E0}"/>
              </a:ext>
            </a:extLst>
          </p:cNvPr>
          <p:cNvSpPr txBox="1"/>
          <p:nvPr/>
        </p:nvSpPr>
        <p:spPr>
          <a:xfrm>
            <a:off x="4966765" y="3367582"/>
            <a:ext cx="1325850" cy="184666"/>
          </a:xfrm>
          <a:prstGeom prst="rect">
            <a:avLst/>
          </a:prstGeom>
          <a:noFill/>
        </p:spPr>
        <p:txBody>
          <a:bodyPr wrap="square" lIns="0" tIns="0" rIns="0" bIns="0">
            <a:spAutoFit/>
          </a:bodyPr>
          <a:lstStyle/>
          <a:p>
            <a:pPr algn="ctr"/>
            <a:r>
              <a:rPr lang="ja-JP" altLang="en-US" sz="1200" dirty="0">
                <a:latin typeface="+mn-ea"/>
                <a:ea typeface="+mn-ea"/>
              </a:rPr>
              <a:t>法的拘束力の担保</a:t>
            </a:r>
            <a:endParaRPr lang="en-US" altLang="ja-JP" sz="1200" dirty="0">
              <a:latin typeface="+mn-ea"/>
              <a:ea typeface="+mn-ea"/>
            </a:endParaRPr>
          </a:p>
        </p:txBody>
      </p:sp>
      <p:sp>
        <p:nvSpPr>
          <p:cNvPr id="107" name="正方形/長方形 106">
            <a:extLst>
              <a:ext uri="{FF2B5EF4-FFF2-40B4-BE49-F238E27FC236}">
                <a16:creationId xmlns:a16="http://schemas.microsoft.com/office/drawing/2014/main" id="{54096026-E81F-1610-37A1-84DC652DECB3}"/>
              </a:ext>
            </a:extLst>
          </p:cNvPr>
          <p:cNvSpPr/>
          <p:nvPr/>
        </p:nvSpPr>
        <p:spPr>
          <a:xfrm>
            <a:off x="3898593" y="5490965"/>
            <a:ext cx="3515682" cy="418653"/>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rPr>
              <a:t>Service provider</a:t>
            </a:r>
            <a:r>
              <a:rPr lang="ja-JP" altLang="en-US" sz="1200" dirty="0">
                <a:solidFill>
                  <a:schemeClr val="bg1"/>
                </a:solidFill>
              </a:rPr>
              <a:t>*</a:t>
            </a:r>
            <a:endParaRPr lang="en-US" altLang="ja-JP" sz="1200" dirty="0">
              <a:solidFill>
                <a:schemeClr val="bg1"/>
              </a:solidFill>
            </a:endParaRPr>
          </a:p>
          <a:p>
            <a:pPr algn="ctr"/>
            <a:r>
              <a:rPr lang="en-US" altLang="ja-JP" sz="1200" dirty="0">
                <a:solidFill>
                  <a:schemeClr val="bg1"/>
                </a:solidFill>
              </a:rPr>
              <a:t>(Identity / Identity Exchange / Attribute / Credential)</a:t>
            </a:r>
          </a:p>
        </p:txBody>
      </p:sp>
      <p:cxnSp>
        <p:nvCxnSpPr>
          <p:cNvPr id="108" name="直線矢印コネクタ 107">
            <a:extLst>
              <a:ext uri="{FF2B5EF4-FFF2-40B4-BE49-F238E27FC236}">
                <a16:creationId xmlns:a16="http://schemas.microsoft.com/office/drawing/2014/main" id="{3A2C64B3-E063-0CDB-C820-1E5362F22D53}"/>
              </a:ext>
            </a:extLst>
          </p:cNvPr>
          <p:cNvCxnSpPr>
            <a:cxnSpLocks/>
          </p:cNvCxnSpPr>
          <p:nvPr/>
        </p:nvCxnSpPr>
        <p:spPr>
          <a:xfrm>
            <a:off x="4257958" y="4444221"/>
            <a:ext cx="0" cy="106780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2" name="正方形/長方形 111">
            <a:extLst>
              <a:ext uri="{FF2B5EF4-FFF2-40B4-BE49-F238E27FC236}">
                <a16:creationId xmlns:a16="http://schemas.microsoft.com/office/drawing/2014/main" id="{35F7230A-B9EE-2C3B-66C1-A7D4067600DC}"/>
              </a:ext>
            </a:extLst>
          </p:cNvPr>
          <p:cNvSpPr/>
          <p:nvPr/>
        </p:nvSpPr>
        <p:spPr>
          <a:xfrm>
            <a:off x="8016874" y="3426018"/>
            <a:ext cx="1650034" cy="470399"/>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デジタル変革庁</a:t>
            </a:r>
            <a:endParaRPr lang="en-US" altLang="ja-JP" sz="1200" dirty="0">
              <a:solidFill>
                <a:schemeClr val="bg1"/>
              </a:solidFill>
            </a:endParaRPr>
          </a:p>
          <a:p>
            <a:pPr algn="ctr"/>
            <a:r>
              <a:rPr lang="en-US" altLang="ja-JP" sz="1200" dirty="0">
                <a:solidFill>
                  <a:schemeClr val="bg1"/>
                </a:solidFill>
              </a:rPr>
              <a:t>(DTA)</a:t>
            </a:r>
            <a:endParaRPr lang="ja-JP" altLang="en-US" sz="1200" dirty="0">
              <a:solidFill>
                <a:schemeClr val="bg1"/>
              </a:solidFill>
            </a:endParaRPr>
          </a:p>
        </p:txBody>
      </p:sp>
      <p:sp>
        <p:nvSpPr>
          <p:cNvPr id="130" name="正方形/長方形 129">
            <a:extLst>
              <a:ext uri="{FF2B5EF4-FFF2-40B4-BE49-F238E27FC236}">
                <a16:creationId xmlns:a16="http://schemas.microsoft.com/office/drawing/2014/main" id="{E2BC15AA-A8B5-32F2-BEBF-BCE1491A067D}"/>
              </a:ext>
            </a:extLst>
          </p:cNvPr>
          <p:cNvSpPr/>
          <p:nvPr/>
        </p:nvSpPr>
        <p:spPr>
          <a:xfrm>
            <a:off x="8016874" y="4258775"/>
            <a:ext cx="1650034" cy="484653"/>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金融省</a:t>
            </a:r>
            <a:endParaRPr lang="en-US" altLang="ja-JP" sz="1200" dirty="0">
              <a:solidFill>
                <a:schemeClr val="bg1"/>
              </a:solidFill>
            </a:endParaRPr>
          </a:p>
          <a:p>
            <a:pPr algn="ctr"/>
            <a:r>
              <a:rPr lang="en-US" altLang="ja-JP" sz="1200" dirty="0">
                <a:solidFill>
                  <a:schemeClr val="bg1"/>
                </a:solidFill>
              </a:rPr>
              <a:t>(Department of Finance)</a:t>
            </a:r>
            <a:endParaRPr lang="ja-JP" altLang="en-US" sz="1200" dirty="0">
              <a:solidFill>
                <a:schemeClr val="bg1"/>
              </a:solidFill>
            </a:endParaRPr>
          </a:p>
        </p:txBody>
      </p:sp>
      <p:sp>
        <p:nvSpPr>
          <p:cNvPr id="195" name="正方形/長方形 194">
            <a:extLst>
              <a:ext uri="{FF2B5EF4-FFF2-40B4-BE49-F238E27FC236}">
                <a16:creationId xmlns:a16="http://schemas.microsoft.com/office/drawing/2014/main" id="{E953F8AB-4652-4E5A-536C-98B069AA9795}"/>
              </a:ext>
            </a:extLst>
          </p:cNvPr>
          <p:cNvSpPr/>
          <p:nvPr/>
        </p:nvSpPr>
        <p:spPr>
          <a:xfrm>
            <a:off x="8016874" y="2441306"/>
            <a:ext cx="1650034" cy="621537"/>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オーストラリア</a:t>
            </a:r>
            <a:endParaRPr lang="en-US" altLang="ja-JP" sz="1200" dirty="0">
              <a:solidFill>
                <a:schemeClr val="bg1"/>
              </a:solidFill>
            </a:endParaRPr>
          </a:p>
          <a:p>
            <a:pPr algn="ctr"/>
            <a:r>
              <a:rPr lang="ja-JP" altLang="en-US" sz="1200" dirty="0">
                <a:solidFill>
                  <a:schemeClr val="bg1"/>
                </a:solidFill>
              </a:rPr>
              <a:t>公正取引委員会</a:t>
            </a:r>
            <a:endParaRPr lang="en-US" altLang="ja-JP" sz="1200" dirty="0">
              <a:solidFill>
                <a:schemeClr val="bg1"/>
              </a:solidFill>
            </a:endParaRPr>
          </a:p>
          <a:p>
            <a:pPr algn="ctr"/>
            <a:r>
              <a:rPr lang="en-US" altLang="ja-JP" sz="1200" dirty="0">
                <a:solidFill>
                  <a:schemeClr val="bg1"/>
                </a:solidFill>
              </a:rPr>
              <a:t>(ACCC)</a:t>
            </a:r>
            <a:endParaRPr lang="ja-JP" altLang="en-US" sz="1200" dirty="0">
              <a:solidFill>
                <a:schemeClr val="bg1"/>
              </a:solidFill>
            </a:endParaRPr>
          </a:p>
        </p:txBody>
      </p:sp>
      <p:cxnSp>
        <p:nvCxnSpPr>
          <p:cNvPr id="199" name="直線矢印コネクタ 198">
            <a:extLst>
              <a:ext uri="{FF2B5EF4-FFF2-40B4-BE49-F238E27FC236}">
                <a16:creationId xmlns:a16="http://schemas.microsoft.com/office/drawing/2014/main" id="{74FE9D7C-14B8-0837-B161-CE7B41CDAB1D}"/>
              </a:ext>
            </a:extLst>
          </p:cNvPr>
          <p:cNvCxnSpPr>
            <a:cxnSpLocks/>
            <a:stCxn id="195" idx="1"/>
            <a:endCxn id="12" idx="3"/>
          </p:cNvCxnSpPr>
          <p:nvPr/>
        </p:nvCxnSpPr>
        <p:spPr>
          <a:xfrm flipH="1" flipV="1">
            <a:off x="6177690" y="2743807"/>
            <a:ext cx="1839184" cy="8268"/>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23" name="テキスト ボックス 222">
            <a:extLst>
              <a:ext uri="{FF2B5EF4-FFF2-40B4-BE49-F238E27FC236}">
                <a16:creationId xmlns:a16="http://schemas.microsoft.com/office/drawing/2014/main" id="{1D328F7B-AA48-3E9B-E39A-CBC6E0A0BFE7}"/>
              </a:ext>
            </a:extLst>
          </p:cNvPr>
          <p:cNvSpPr txBox="1"/>
          <p:nvPr/>
        </p:nvSpPr>
        <p:spPr>
          <a:xfrm>
            <a:off x="7414275" y="2520047"/>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grpSp>
        <p:nvGrpSpPr>
          <p:cNvPr id="20" name="グループ化 19">
            <a:extLst>
              <a:ext uri="{FF2B5EF4-FFF2-40B4-BE49-F238E27FC236}">
                <a16:creationId xmlns:a16="http://schemas.microsoft.com/office/drawing/2014/main" id="{165D9FCF-9F7B-4DCF-D023-0783E55B3B3A}"/>
              </a:ext>
            </a:extLst>
          </p:cNvPr>
          <p:cNvGrpSpPr/>
          <p:nvPr/>
        </p:nvGrpSpPr>
        <p:grpSpPr>
          <a:xfrm>
            <a:off x="3600703" y="1663715"/>
            <a:ext cx="3950840" cy="184666"/>
            <a:chOff x="2955712" y="818485"/>
            <a:chExt cx="4387516" cy="184666"/>
          </a:xfrm>
        </p:grpSpPr>
        <p:cxnSp>
          <p:nvCxnSpPr>
            <p:cNvPr id="21" name="直線コネクタ 20">
              <a:extLst>
                <a:ext uri="{FF2B5EF4-FFF2-40B4-BE49-F238E27FC236}">
                  <a16:creationId xmlns:a16="http://schemas.microsoft.com/office/drawing/2014/main" id="{441D4B16-818A-BD17-54AD-759DE74A4080}"/>
                </a:ext>
              </a:extLst>
            </p:cNvPr>
            <p:cNvCxnSpPr/>
            <p:nvPr/>
          </p:nvCxnSpPr>
          <p:spPr>
            <a:xfrm>
              <a:off x="2955712" y="908050"/>
              <a:ext cx="438751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C7ABD04C-91B8-3C0C-1AD1-D6BE4B89FF4A}"/>
                </a:ext>
              </a:extLst>
            </p:cNvPr>
            <p:cNvSpPr txBox="1"/>
            <p:nvPr/>
          </p:nvSpPr>
          <p:spPr>
            <a:xfrm>
              <a:off x="4721768" y="818485"/>
              <a:ext cx="855403" cy="184666"/>
            </a:xfrm>
            <a:prstGeom prst="rect">
              <a:avLst/>
            </a:prstGeom>
            <a:solidFill>
              <a:schemeClr val="bg1"/>
            </a:solidFill>
          </p:spPr>
          <p:txBody>
            <a:bodyPr wrap="square" lIns="0" tIns="0" rIns="0" bIns="0" rtlCol="0">
              <a:spAutoFit/>
            </a:bodyPr>
            <a:lstStyle/>
            <a:p>
              <a:pPr algn="ctr"/>
              <a:r>
                <a:rPr lang="ja-JP" altLang="en-US" sz="1200" dirty="0">
                  <a:latin typeface="+mn-ea"/>
                  <a:ea typeface="+mn-ea"/>
                </a:rPr>
                <a:t>領域</a:t>
              </a:r>
              <a:endParaRPr kumimoji="1" lang="ja-JP" altLang="en-US" sz="1200" dirty="0">
                <a:latin typeface="+mn-ea"/>
                <a:ea typeface="+mn-ea"/>
              </a:endParaRPr>
            </a:p>
          </p:txBody>
        </p:sp>
      </p:grpSp>
      <p:cxnSp>
        <p:nvCxnSpPr>
          <p:cNvPr id="61" name="コネクタ: カギ線 60">
            <a:extLst>
              <a:ext uri="{FF2B5EF4-FFF2-40B4-BE49-F238E27FC236}">
                <a16:creationId xmlns:a16="http://schemas.microsoft.com/office/drawing/2014/main" id="{22977E73-8F33-F25D-393B-E070DCEB8C1A}"/>
              </a:ext>
            </a:extLst>
          </p:cNvPr>
          <p:cNvCxnSpPr>
            <a:cxnSpLocks/>
            <a:endCxn id="43" idx="3"/>
          </p:cNvCxnSpPr>
          <p:nvPr/>
        </p:nvCxnSpPr>
        <p:spPr>
          <a:xfrm rot="10800000" flipV="1">
            <a:off x="6191564" y="2881081"/>
            <a:ext cx="1857504" cy="1359139"/>
          </a:xfrm>
          <a:prstGeom prst="bentConnector3">
            <a:avLst>
              <a:gd name="adj1" fmla="val 5797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7CB18550-B080-4ABB-4F03-EA7ED56494AF}"/>
              </a:ext>
            </a:extLst>
          </p:cNvPr>
          <p:cNvCxnSpPr>
            <a:cxnSpLocks/>
            <a:stCxn id="112" idx="1"/>
          </p:cNvCxnSpPr>
          <p:nvPr/>
        </p:nvCxnSpPr>
        <p:spPr>
          <a:xfrm rot="10800000" flipV="1">
            <a:off x="6191620" y="3661217"/>
            <a:ext cx="1825255" cy="732895"/>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72" name="コネクタ: カギ線 71">
            <a:extLst>
              <a:ext uri="{FF2B5EF4-FFF2-40B4-BE49-F238E27FC236}">
                <a16:creationId xmlns:a16="http://schemas.microsoft.com/office/drawing/2014/main" id="{1FE5056A-1C4E-F61D-AA77-4B81CE615DE6}"/>
              </a:ext>
            </a:extLst>
          </p:cNvPr>
          <p:cNvCxnSpPr>
            <a:cxnSpLocks/>
            <a:stCxn id="130" idx="1"/>
            <a:endCxn id="107" idx="3"/>
          </p:cNvCxnSpPr>
          <p:nvPr/>
        </p:nvCxnSpPr>
        <p:spPr>
          <a:xfrm rot="10800000" flipV="1">
            <a:off x="7414276" y="4501102"/>
            <a:ext cx="602599" cy="1199190"/>
          </a:xfrm>
          <a:prstGeom prst="bentConnector3">
            <a:avLst>
              <a:gd name="adj1" fmla="val 5000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EE20FDEC-68A2-1486-E2AD-77C3FF0AD6F1}"/>
              </a:ext>
            </a:extLst>
          </p:cNvPr>
          <p:cNvCxnSpPr>
            <a:cxnSpLocks/>
            <a:stCxn id="107" idx="2"/>
            <a:endCxn id="27" idx="0"/>
          </p:cNvCxnSpPr>
          <p:nvPr/>
        </p:nvCxnSpPr>
        <p:spPr>
          <a:xfrm>
            <a:off x="5656434" y="5909618"/>
            <a:ext cx="0" cy="305656"/>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58B5EEEE-3DFC-773B-66EA-37656226BBD6}"/>
              </a:ext>
            </a:extLst>
          </p:cNvPr>
          <p:cNvCxnSpPr>
            <a:cxnSpLocks/>
            <a:stCxn id="107" idx="0"/>
          </p:cNvCxnSpPr>
          <p:nvPr/>
        </p:nvCxnSpPr>
        <p:spPr>
          <a:xfrm flipV="1">
            <a:off x="5656434" y="4444221"/>
            <a:ext cx="0" cy="1046744"/>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四角形: 角を丸くする 85">
            <a:extLst>
              <a:ext uri="{FF2B5EF4-FFF2-40B4-BE49-F238E27FC236}">
                <a16:creationId xmlns:a16="http://schemas.microsoft.com/office/drawing/2014/main" id="{0A28920A-F3CB-D2DB-E8B7-B05C3247D990}"/>
              </a:ext>
            </a:extLst>
          </p:cNvPr>
          <p:cNvSpPr/>
          <p:nvPr/>
        </p:nvSpPr>
        <p:spPr>
          <a:xfrm>
            <a:off x="4989066" y="4235878"/>
            <a:ext cx="1180532" cy="184845"/>
          </a:xfrm>
          <a:prstGeom prst="roundRect">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t>TDIF accreditation</a:t>
            </a:r>
            <a:endParaRPr lang="ja-JP" altLang="en-US" sz="1200" dirty="0"/>
          </a:p>
        </p:txBody>
      </p:sp>
      <p:sp>
        <p:nvSpPr>
          <p:cNvPr id="7" name="正方形/長方形 6">
            <a:extLst>
              <a:ext uri="{FF2B5EF4-FFF2-40B4-BE49-F238E27FC236}">
                <a16:creationId xmlns:a16="http://schemas.microsoft.com/office/drawing/2014/main" id="{65CB64A8-022A-C46B-C62C-768CC3C32525}"/>
              </a:ext>
            </a:extLst>
          </p:cNvPr>
          <p:cNvSpPr/>
          <p:nvPr/>
        </p:nvSpPr>
        <p:spPr>
          <a:xfrm>
            <a:off x="273049" y="3243833"/>
            <a:ext cx="3131499" cy="1642917"/>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r>
              <a:rPr lang="ja-JP" altLang="en-US" sz="1200" dirty="0"/>
              <a:t>デジタル変革庁が</a:t>
            </a:r>
            <a:r>
              <a:rPr kumimoji="1" lang="en-US" altLang="ja-JP" sz="1200" dirty="0"/>
              <a:t>TDIF</a:t>
            </a:r>
            <a:r>
              <a:rPr kumimoji="1" lang="ja-JP" altLang="en-US" sz="1200" dirty="0"/>
              <a:t>を策定</a:t>
            </a:r>
          </a:p>
          <a:p>
            <a:pPr marL="171450" indent="-171450">
              <a:buFont typeface="Arial" panose="020B0604020202020204" pitchFamily="34" charset="0"/>
              <a:buChar char="•"/>
            </a:pPr>
            <a:r>
              <a:rPr kumimoji="1" lang="ja-JP" altLang="en-US" sz="1200" dirty="0"/>
              <a:t>財務省は、認定にかかる申請対応と認定付与を担当</a:t>
            </a:r>
          </a:p>
          <a:p>
            <a:pPr marL="171450" indent="-171450">
              <a:buFont typeface="Arial" panose="020B0604020202020204" pitchFamily="34" charset="0"/>
              <a:buChar char="•"/>
            </a:pPr>
            <a:r>
              <a:rPr lang="ja-JP" altLang="en-US" sz="1200" dirty="0"/>
              <a:t>オーストラリア公正取引委員会が</a:t>
            </a:r>
            <a:r>
              <a:rPr kumimoji="1" lang="ja-JP" altLang="en-US" sz="1200" dirty="0"/>
              <a:t>、認定された団体の監査を実施</a:t>
            </a:r>
            <a:endParaRPr kumimoji="1" lang="en-US" altLang="ja-JP" sz="1200" dirty="0"/>
          </a:p>
        </p:txBody>
      </p:sp>
      <p:sp>
        <p:nvSpPr>
          <p:cNvPr id="8" name="正方形/長方形 7">
            <a:extLst>
              <a:ext uri="{FF2B5EF4-FFF2-40B4-BE49-F238E27FC236}">
                <a16:creationId xmlns:a16="http://schemas.microsoft.com/office/drawing/2014/main" id="{5A6C5793-6F1E-CA1C-916C-3DE8FFC460D2}"/>
              </a:ext>
            </a:extLst>
          </p:cNvPr>
          <p:cNvSpPr/>
          <p:nvPr/>
        </p:nvSpPr>
        <p:spPr>
          <a:xfrm>
            <a:off x="273049" y="5232883"/>
            <a:ext cx="3131499" cy="1067015"/>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r>
              <a:rPr lang="ja-JP" altLang="en-US" sz="1200" dirty="0"/>
              <a:t>「政府</a:t>
            </a:r>
            <a:r>
              <a:rPr lang="en-US" altLang="ja-JP" sz="1200" dirty="0"/>
              <a:t>ID</a:t>
            </a:r>
            <a:r>
              <a:rPr lang="ja-JP" altLang="en-US" sz="1200" dirty="0"/>
              <a:t>」と、「民間</a:t>
            </a:r>
            <a:r>
              <a:rPr lang="en-US" altLang="ja-JP" sz="1200" dirty="0"/>
              <a:t>ID</a:t>
            </a:r>
            <a:r>
              <a:rPr lang="ja-JP" altLang="en-US" sz="1200" dirty="0"/>
              <a:t>」の</a:t>
            </a:r>
            <a:r>
              <a:rPr lang="en-US" altLang="ja-JP" sz="1200" dirty="0"/>
              <a:t>2</a:t>
            </a:r>
            <a:r>
              <a:rPr lang="ja-JP" altLang="en-US" sz="1200" dirty="0"/>
              <a:t>種類のサービスが存在し、認定を受けている</a:t>
            </a:r>
            <a:endParaRPr lang="en-US" altLang="ja-JP" sz="1200" dirty="0"/>
          </a:p>
        </p:txBody>
      </p:sp>
      <p:sp>
        <p:nvSpPr>
          <p:cNvPr id="13" name="正方形/長方形 12">
            <a:extLst>
              <a:ext uri="{FF2B5EF4-FFF2-40B4-BE49-F238E27FC236}">
                <a16:creationId xmlns:a16="http://schemas.microsoft.com/office/drawing/2014/main" id="{564DE95C-B048-9070-6F0A-3CE106637D1E}"/>
              </a:ext>
            </a:extLst>
          </p:cNvPr>
          <p:cNvSpPr/>
          <p:nvPr/>
        </p:nvSpPr>
        <p:spPr>
          <a:xfrm>
            <a:off x="273049" y="1904675"/>
            <a:ext cx="3131499" cy="1000178"/>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endParaRPr kumimoji="1" lang="en-US" altLang="ja-JP" sz="1200" dirty="0"/>
          </a:p>
          <a:p>
            <a:pPr marL="171450" indent="-171450">
              <a:buFont typeface="Arial" panose="020B0604020202020204" pitchFamily="34" charset="0"/>
              <a:buChar char="•"/>
            </a:pPr>
            <a:r>
              <a:rPr lang="ja-JP" altLang="en-US" sz="1200" dirty="0"/>
              <a:t>現行策定されている</a:t>
            </a:r>
            <a:r>
              <a:rPr kumimoji="1" lang="en-US" altLang="ja-JP" sz="1200" dirty="0"/>
              <a:t>TDIF</a:t>
            </a:r>
            <a:r>
              <a:rPr kumimoji="1" lang="ja-JP" altLang="en-US" sz="1200" dirty="0"/>
              <a:t>の認定制度の強化等を目的に、デジタル</a:t>
            </a:r>
            <a:r>
              <a:rPr kumimoji="1" lang="en-US" altLang="ja-JP" sz="1200" dirty="0"/>
              <a:t>ID</a:t>
            </a:r>
            <a:r>
              <a:rPr kumimoji="1" lang="ja-JP" altLang="en-US" sz="1200" dirty="0"/>
              <a:t>と認定規則を定めた法規制「</a:t>
            </a:r>
            <a:r>
              <a:rPr kumimoji="1" lang="en-US" altLang="ja-JP" sz="1200" dirty="0"/>
              <a:t>Digital ID Bill and Digital ID Rules</a:t>
            </a:r>
            <a:r>
              <a:rPr kumimoji="1" lang="ja-JP" altLang="en-US" sz="1200" dirty="0"/>
              <a:t>」を整備</a:t>
            </a:r>
            <a:r>
              <a:rPr kumimoji="1" lang="en-US" altLang="ja-JP" sz="1200" dirty="0"/>
              <a:t>(</a:t>
            </a:r>
            <a:r>
              <a:rPr kumimoji="1" lang="ja-JP" altLang="en-US" sz="1200" dirty="0"/>
              <a:t>現在審議中</a:t>
            </a:r>
            <a:r>
              <a:rPr kumimoji="1" lang="en-US" altLang="ja-JP" sz="1200" dirty="0"/>
              <a:t>)</a:t>
            </a:r>
          </a:p>
        </p:txBody>
      </p:sp>
      <p:sp>
        <p:nvSpPr>
          <p:cNvPr id="15" name="四角形: 角を丸くする 14">
            <a:extLst>
              <a:ext uri="{FF2B5EF4-FFF2-40B4-BE49-F238E27FC236}">
                <a16:creationId xmlns:a16="http://schemas.microsoft.com/office/drawing/2014/main" id="{A24DAD10-7DDB-A514-9051-FFFF6B8FA9C2}"/>
              </a:ext>
            </a:extLst>
          </p:cNvPr>
          <p:cNvSpPr/>
          <p:nvPr/>
        </p:nvSpPr>
        <p:spPr>
          <a:xfrm>
            <a:off x="251011" y="3134296"/>
            <a:ext cx="1991500" cy="219073"/>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b="1" dirty="0">
                <a:solidFill>
                  <a:schemeClr val="bg1"/>
                </a:solidFill>
                <a:latin typeface="+mn-ea"/>
              </a:rPr>
              <a:t>規制に沿ったガイドライン等</a:t>
            </a:r>
            <a:endParaRPr kumimoji="1" lang="ja-JP" altLang="en-US" sz="1200" b="1" dirty="0">
              <a:solidFill>
                <a:schemeClr val="bg1"/>
              </a:solidFill>
              <a:latin typeface="+mn-ea"/>
            </a:endParaRPr>
          </a:p>
        </p:txBody>
      </p:sp>
      <p:sp>
        <p:nvSpPr>
          <p:cNvPr id="16" name="四角形: 角を丸くする 15">
            <a:extLst>
              <a:ext uri="{FF2B5EF4-FFF2-40B4-BE49-F238E27FC236}">
                <a16:creationId xmlns:a16="http://schemas.microsoft.com/office/drawing/2014/main" id="{7CC34399-BF1E-BCCD-A1E8-9A63693B46DF}"/>
              </a:ext>
            </a:extLst>
          </p:cNvPr>
          <p:cNvSpPr/>
          <p:nvPr/>
        </p:nvSpPr>
        <p:spPr>
          <a:xfrm>
            <a:off x="251011" y="1823829"/>
            <a:ext cx="1991500" cy="23338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上位の法規制</a:t>
            </a:r>
          </a:p>
        </p:txBody>
      </p:sp>
      <p:sp>
        <p:nvSpPr>
          <p:cNvPr id="23" name="四角形: 角を丸くする 22">
            <a:extLst>
              <a:ext uri="{FF2B5EF4-FFF2-40B4-BE49-F238E27FC236}">
                <a16:creationId xmlns:a16="http://schemas.microsoft.com/office/drawing/2014/main" id="{7E80FDDE-2EEF-5A14-4243-F70057BFE429}"/>
              </a:ext>
            </a:extLst>
          </p:cNvPr>
          <p:cNvSpPr/>
          <p:nvPr/>
        </p:nvSpPr>
        <p:spPr>
          <a:xfrm>
            <a:off x="240028" y="5088588"/>
            <a:ext cx="1991500" cy="23007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サービス認定・ガバナンス</a:t>
            </a:r>
          </a:p>
        </p:txBody>
      </p:sp>
      <p:sp>
        <p:nvSpPr>
          <p:cNvPr id="24" name="正方形/長方形 23">
            <a:extLst>
              <a:ext uri="{FF2B5EF4-FFF2-40B4-BE49-F238E27FC236}">
                <a16:creationId xmlns:a16="http://schemas.microsoft.com/office/drawing/2014/main" id="{21FAA5D1-80C3-98D9-F0D1-5189A38C6492}"/>
              </a:ext>
            </a:extLst>
          </p:cNvPr>
          <p:cNvSpPr/>
          <p:nvPr/>
        </p:nvSpPr>
        <p:spPr>
          <a:xfrm>
            <a:off x="273050" y="6447295"/>
            <a:ext cx="9533671" cy="159122"/>
          </a:xfrm>
          <a:prstGeom prst="rect">
            <a:avLst/>
          </a:prstGeom>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ja-JP" altLang="en-US" sz="900" dirty="0"/>
              <a:t>*公開資料・有識者ヒアリングより</a:t>
            </a:r>
            <a:r>
              <a:rPr kumimoji="1" lang="en-US" altLang="ja-JP" sz="900" dirty="0"/>
              <a:t>TOPPAN</a:t>
            </a:r>
            <a:r>
              <a:rPr kumimoji="1" lang="ja-JP" altLang="en-US" sz="900" dirty="0"/>
              <a:t>作成</a:t>
            </a:r>
          </a:p>
        </p:txBody>
      </p:sp>
      <p:sp>
        <p:nvSpPr>
          <p:cNvPr id="25" name="テキスト ボックス 24">
            <a:extLst>
              <a:ext uri="{FF2B5EF4-FFF2-40B4-BE49-F238E27FC236}">
                <a16:creationId xmlns:a16="http://schemas.microsoft.com/office/drawing/2014/main" id="{A4B3DB60-5F95-0F92-3190-1DB2C98ABAC3}"/>
              </a:ext>
            </a:extLst>
          </p:cNvPr>
          <p:cNvSpPr txBox="1"/>
          <p:nvPr/>
        </p:nvSpPr>
        <p:spPr>
          <a:xfrm>
            <a:off x="7089367" y="2953530"/>
            <a:ext cx="1031985" cy="369332"/>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事業者の</a:t>
            </a:r>
            <a:endParaRPr lang="en-US" altLang="ja-JP" sz="1200" b="1" dirty="0">
              <a:solidFill>
                <a:schemeClr val="accent3"/>
              </a:solidFill>
              <a:latin typeface="+mn-ea"/>
              <a:ea typeface="+mn-ea"/>
            </a:endParaRPr>
          </a:p>
          <a:p>
            <a:pPr algn="ctr"/>
            <a:r>
              <a:rPr lang="ja-JP" altLang="en-US" sz="1200" b="1" dirty="0">
                <a:solidFill>
                  <a:schemeClr val="accent3"/>
                </a:solidFill>
                <a:latin typeface="+mn-ea"/>
                <a:ea typeface="+mn-ea"/>
              </a:rPr>
              <a:t>監査</a:t>
            </a:r>
          </a:p>
        </p:txBody>
      </p:sp>
      <p:sp>
        <p:nvSpPr>
          <p:cNvPr id="26" name="テキスト ボックス 25">
            <a:extLst>
              <a:ext uri="{FF2B5EF4-FFF2-40B4-BE49-F238E27FC236}">
                <a16:creationId xmlns:a16="http://schemas.microsoft.com/office/drawing/2014/main" id="{77BE8672-386B-2D0C-075F-8F64B0EA35C8}"/>
              </a:ext>
            </a:extLst>
          </p:cNvPr>
          <p:cNvSpPr txBox="1"/>
          <p:nvPr/>
        </p:nvSpPr>
        <p:spPr>
          <a:xfrm>
            <a:off x="7414275" y="3769838"/>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sp>
        <p:nvSpPr>
          <p:cNvPr id="28" name="テキスト ボックス 27">
            <a:extLst>
              <a:ext uri="{FF2B5EF4-FFF2-40B4-BE49-F238E27FC236}">
                <a16:creationId xmlns:a16="http://schemas.microsoft.com/office/drawing/2014/main" id="{FDF31FF3-1F9E-17DF-DAC9-7DE9ECE562BC}"/>
              </a:ext>
            </a:extLst>
          </p:cNvPr>
          <p:cNvSpPr txBox="1"/>
          <p:nvPr/>
        </p:nvSpPr>
        <p:spPr>
          <a:xfrm>
            <a:off x="7478533" y="4957577"/>
            <a:ext cx="1031985" cy="184666"/>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認定</a:t>
            </a:r>
          </a:p>
        </p:txBody>
      </p:sp>
      <p:sp>
        <p:nvSpPr>
          <p:cNvPr id="30" name="テキスト ボックス 29">
            <a:extLst>
              <a:ext uri="{FF2B5EF4-FFF2-40B4-BE49-F238E27FC236}">
                <a16:creationId xmlns:a16="http://schemas.microsoft.com/office/drawing/2014/main" id="{B3C12BA4-3A98-D44F-E21C-F24D3C3BD7E9}"/>
              </a:ext>
            </a:extLst>
          </p:cNvPr>
          <p:cNvSpPr txBox="1"/>
          <p:nvPr/>
        </p:nvSpPr>
        <p:spPr>
          <a:xfrm>
            <a:off x="4212724" y="4670052"/>
            <a:ext cx="710382" cy="184666"/>
          </a:xfrm>
          <a:prstGeom prst="rect">
            <a:avLst/>
          </a:prstGeom>
          <a:noFill/>
        </p:spPr>
        <p:txBody>
          <a:bodyPr wrap="square" lIns="0" tIns="0" rIns="0" bIns="0">
            <a:spAutoFit/>
          </a:bodyPr>
          <a:lstStyle/>
          <a:p>
            <a:pPr algn="ctr"/>
            <a:r>
              <a:rPr lang="ja-JP" altLang="en-US" sz="1200" dirty="0">
                <a:latin typeface="+mn-ea"/>
                <a:ea typeface="+mn-ea"/>
              </a:rPr>
              <a:t>準拠</a:t>
            </a:r>
            <a:endParaRPr lang="en-US" altLang="ja-JP" sz="1200" dirty="0">
              <a:latin typeface="+mn-ea"/>
              <a:ea typeface="+mn-ea"/>
            </a:endParaRPr>
          </a:p>
        </p:txBody>
      </p:sp>
      <p:sp>
        <p:nvSpPr>
          <p:cNvPr id="32" name="テキスト ボックス 31">
            <a:extLst>
              <a:ext uri="{FF2B5EF4-FFF2-40B4-BE49-F238E27FC236}">
                <a16:creationId xmlns:a16="http://schemas.microsoft.com/office/drawing/2014/main" id="{A13CCBE6-0040-DE48-5885-2E4A41CE9026}"/>
              </a:ext>
            </a:extLst>
          </p:cNvPr>
          <p:cNvSpPr txBox="1"/>
          <p:nvPr/>
        </p:nvSpPr>
        <p:spPr>
          <a:xfrm>
            <a:off x="5174793" y="4847685"/>
            <a:ext cx="963282" cy="169277"/>
          </a:xfrm>
          <a:prstGeom prst="rect">
            <a:avLst/>
          </a:prstGeom>
          <a:solidFill>
            <a:srgbClr val="DAE9E1"/>
          </a:solidFill>
          <a:ln>
            <a:noFill/>
          </a:ln>
        </p:spPr>
        <p:txBody>
          <a:bodyPr wrap="square" lIns="0" tIns="0" rIns="0" bIns="0">
            <a:spAutoFit/>
          </a:bodyPr>
          <a:lstStyle>
            <a:defPPr>
              <a:defRPr lang="ja-JP"/>
            </a:defPPr>
            <a:lvl1pPr algn="ctr">
              <a:defRPr sz="1000">
                <a:latin typeface="+mj-lt"/>
              </a:defRPr>
            </a:lvl1pPr>
          </a:lstStyle>
          <a:p>
            <a:r>
              <a:rPr lang="ja-JP" altLang="en-US" sz="1100" dirty="0">
                <a:latin typeface="+mn-ea"/>
                <a:ea typeface="+mn-ea"/>
              </a:rPr>
              <a:t>認定リスト掲載</a:t>
            </a:r>
          </a:p>
        </p:txBody>
      </p:sp>
      <p:sp>
        <p:nvSpPr>
          <p:cNvPr id="33" name="テキスト ボックス 32">
            <a:extLst>
              <a:ext uri="{FF2B5EF4-FFF2-40B4-BE49-F238E27FC236}">
                <a16:creationId xmlns:a16="http://schemas.microsoft.com/office/drawing/2014/main" id="{7A91C6AB-DF13-34EB-B1B5-A58438CC109C}"/>
              </a:ext>
            </a:extLst>
          </p:cNvPr>
          <p:cNvSpPr txBox="1"/>
          <p:nvPr/>
        </p:nvSpPr>
        <p:spPr>
          <a:xfrm>
            <a:off x="5680549" y="5975104"/>
            <a:ext cx="1022028" cy="184666"/>
          </a:xfrm>
          <a:prstGeom prst="rect">
            <a:avLst/>
          </a:prstGeom>
          <a:noFill/>
          <a:ln>
            <a:noFill/>
          </a:ln>
        </p:spPr>
        <p:txBody>
          <a:bodyPr wrap="square" lIns="0" tIns="0" rIns="0" bIns="0">
            <a:spAutoFit/>
          </a:bodyPr>
          <a:lstStyle/>
          <a:p>
            <a:pPr algn="ctr"/>
            <a:r>
              <a:rPr lang="ja-JP" altLang="en-US" sz="1200" dirty="0">
                <a:latin typeface="+mn-ea"/>
                <a:ea typeface="+mn-ea"/>
              </a:rPr>
              <a:t>サービス提供</a:t>
            </a:r>
          </a:p>
        </p:txBody>
      </p:sp>
      <p:sp>
        <p:nvSpPr>
          <p:cNvPr id="34" name="コンテンツ プレースホルダー 2">
            <a:extLst>
              <a:ext uri="{FF2B5EF4-FFF2-40B4-BE49-F238E27FC236}">
                <a16:creationId xmlns:a16="http://schemas.microsoft.com/office/drawing/2014/main" id="{F9E77A8E-AFCE-8F18-1F9C-857794C86644}"/>
              </a:ext>
            </a:extLst>
          </p:cNvPr>
          <p:cNvSpPr txBox="1">
            <a:spLocks/>
          </p:cNvSpPr>
          <p:nvPr/>
        </p:nvSpPr>
        <p:spPr>
          <a:xfrm>
            <a:off x="273050" y="913526"/>
            <a:ext cx="9359900" cy="764541"/>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TDIF</a:t>
            </a:r>
            <a:r>
              <a:rPr lang="ja-JP" altLang="en-US" dirty="0"/>
              <a:t>は、国の機関を中心にトラストフレームワークの策定、認定プログラムの運営を進めている</a:t>
            </a:r>
            <a:endParaRPr lang="en-US" altLang="ja-JP" dirty="0"/>
          </a:p>
        </p:txBody>
      </p:sp>
      <p:sp>
        <p:nvSpPr>
          <p:cNvPr id="4" name="テキスト ボックス 3">
            <a:extLst>
              <a:ext uri="{FF2B5EF4-FFF2-40B4-BE49-F238E27FC236}">
                <a16:creationId xmlns:a16="http://schemas.microsoft.com/office/drawing/2014/main" id="{0F3507C7-BCFB-3C1C-BBE8-6F53C5AF580D}"/>
              </a:ext>
            </a:extLst>
          </p:cNvPr>
          <p:cNvSpPr txBox="1"/>
          <p:nvPr/>
        </p:nvSpPr>
        <p:spPr>
          <a:xfrm>
            <a:off x="3948776" y="1957615"/>
            <a:ext cx="615553" cy="184666"/>
          </a:xfrm>
          <a:prstGeom prst="rect">
            <a:avLst/>
          </a:prstGeom>
          <a:noFill/>
        </p:spPr>
        <p:txBody>
          <a:bodyPr wrap="none" lIns="0" tIns="0" rIns="0" bIns="0" rtlCol="0">
            <a:spAutoFit/>
          </a:bodyPr>
          <a:lstStyle/>
          <a:p>
            <a:pPr algn="ctr"/>
            <a:r>
              <a:rPr kumimoji="1" lang="ja-JP" altLang="en-US" sz="1200" b="1" u="sng" dirty="0">
                <a:latin typeface="+mn-ea"/>
                <a:ea typeface="+mn-ea"/>
              </a:rPr>
              <a:t>一般要件</a:t>
            </a:r>
            <a:endParaRPr lang="en-US" altLang="ja-JP" sz="1200" b="1" u="sng" dirty="0">
              <a:latin typeface="+mn-ea"/>
              <a:ea typeface="+mn-ea"/>
            </a:endParaRPr>
          </a:p>
        </p:txBody>
      </p:sp>
      <p:sp>
        <p:nvSpPr>
          <p:cNvPr id="5" name="テキスト ボックス 4">
            <a:extLst>
              <a:ext uri="{FF2B5EF4-FFF2-40B4-BE49-F238E27FC236}">
                <a16:creationId xmlns:a16="http://schemas.microsoft.com/office/drawing/2014/main" id="{B002A89D-E25D-AB4F-3BB8-253908FC6243}"/>
              </a:ext>
            </a:extLst>
          </p:cNvPr>
          <p:cNvSpPr txBox="1"/>
          <p:nvPr/>
        </p:nvSpPr>
        <p:spPr>
          <a:xfrm>
            <a:off x="5135502" y="1955107"/>
            <a:ext cx="993862" cy="184666"/>
          </a:xfrm>
          <a:prstGeom prst="rect">
            <a:avLst/>
          </a:prstGeom>
          <a:noFill/>
        </p:spPr>
        <p:txBody>
          <a:bodyPr wrap="none" lIns="0" tIns="0" rIns="0" bIns="0" rtlCol="0">
            <a:spAutoFit/>
          </a:bodyPr>
          <a:lstStyle/>
          <a:p>
            <a:pPr algn="ctr"/>
            <a:r>
              <a:rPr lang="ja-JP" altLang="en-US" sz="1200" b="1" u="sng" dirty="0">
                <a:latin typeface="+mn-ea"/>
                <a:ea typeface="+mn-ea"/>
              </a:rPr>
              <a:t>ガバナンス・認定</a:t>
            </a:r>
            <a:endParaRPr kumimoji="1" lang="en-US" altLang="ja-JP" sz="1200" b="1" u="sng" dirty="0">
              <a:latin typeface="+mn-ea"/>
              <a:ea typeface="+mn-ea"/>
            </a:endParaRPr>
          </a:p>
        </p:txBody>
      </p:sp>
      <p:sp>
        <p:nvSpPr>
          <p:cNvPr id="6" name="テキスト ボックス 5">
            <a:extLst>
              <a:ext uri="{FF2B5EF4-FFF2-40B4-BE49-F238E27FC236}">
                <a16:creationId xmlns:a16="http://schemas.microsoft.com/office/drawing/2014/main" id="{8BF3B70A-B262-4AC9-3958-33B03D66C3A7}"/>
              </a:ext>
            </a:extLst>
          </p:cNvPr>
          <p:cNvSpPr txBox="1"/>
          <p:nvPr/>
        </p:nvSpPr>
        <p:spPr>
          <a:xfrm>
            <a:off x="6469489" y="1872710"/>
            <a:ext cx="905510" cy="369332"/>
          </a:xfrm>
          <a:prstGeom prst="rect">
            <a:avLst/>
          </a:prstGeom>
          <a:noFill/>
        </p:spPr>
        <p:txBody>
          <a:bodyPr wrap="square" lIns="0" tIns="0" rIns="0" bIns="0" rtlCol="0">
            <a:spAutoFit/>
          </a:bodyPr>
          <a:lstStyle/>
          <a:p>
            <a:pPr algn="ctr"/>
            <a:r>
              <a:rPr kumimoji="1" lang="ja-JP" altLang="en-US" sz="1200" b="1" u="sng" dirty="0">
                <a:latin typeface="+mn-ea"/>
                <a:ea typeface="+mn-ea"/>
              </a:rPr>
              <a:t>技術規格・</a:t>
            </a:r>
            <a:endParaRPr kumimoji="1" lang="en-US" altLang="ja-JP" sz="1200" b="1" u="sng" dirty="0">
              <a:latin typeface="+mn-ea"/>
              <a:ea typeface="+mn-ea"/>
            </a:endParaRPr>
          </a:p>
          <a:p>
            <a:pPr algn="ctr"/>
            <a:r>
              <a:rPr kumimoji="1" lang="ja-JP" altLang="en-US" sz="1200" b="1" u="sng" dirty="0">
                <a:latin typeface="+mn-ea"/>
                <a:ea typeface="+mn-ea"/>
              </a:rPr>
              <a:t>アーキテクチャ</a:t>
            </a:r>
          </a:p>
        </p:txBody>
      </p:sp>
      <p:grpSp>
        <p:nvGrpSpPr>
          <p:cNvPr id="17" name="グループ化 16">
            <a:extLst>
              <a:ext uri="{FF2B5EF4-FFF2-40B4-BE49-F238E27FC236}">
                <a16:creationId xmlns:a16="http://schemas.microsoft.com/office/drawing/2014/main" id="{E6DE481C-BEC1-8E0D-74BA-1A640EB1FB7B}"/>
              </a:ext>
            </a:extLst>
          </p:cNvPr>
          <p:cNvGrpSpPr/>
          <p:nvPr/>
        </p:nvGrpSpPr>
        <p:grpSpPr>
          <a:xfrm>
            <a:off x="7970555" y="774666"/>
            <a:ext cx="1818731" cy="869140"/>
            <a:chOff x="7970555" y="683876"/>
            <a:chExt cx="1818731" cy="869140"/>
          </a:xfrm>
        </p:grpSpPr>
        <p:sp>
          <p:nvSpPr>
            <p:cNvPr id="18" name="正方形/長方形 17">
              <a:extLst>
                <a:ext uri="{FF2B5EF4-FFF2-40B4-BE49-F238E27FC236}">
                  <a16:creationId xmlns:a16="http://schemas.microsoft.com/office/drawing/2014/main" id="{A67F2209-7B9C-B6EC-30DB-44ACD7806053}"/>
                </a:ext>
              </a:extLst>
            </p:cNvPr>
            <p:cNvSpPr/>
            <p:nvPr/>
          </p:nvSpPr>
          <p:spPr>
            <a:xfrm>
              <a:off x="7970555" y="683876"/>
              <a:ext cx="1818731" cy="869140"/>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cxnSp>
          <p:nvCxnSpPr>
            <p:cNvPr id="19" name="直線矢印コネクタ 18">
              <a:extLst>
                <a:ext uri="{FF2B5EF4-FFF2-40B4-BE49-F238E27FC236}">
                  <a16:creationId xmlns:a16="http://schemas.microsoft.com/office/drawing/2014/main" id="{44F1394B-C713-5F77-C088-E5990C0C50D6}"/>
                </a:ext>
              </a:extLst>
            </p:cNvPr>
            <p:cNvCxnSpPr/>
            <p:nvPr/>
          </p:nvCxnSpPr>
          <p:spPr>
            <a:xfrm>
              <a:off x="8072708" y="984069"/>
              <a:ext cx="258070" cy="0"/>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CB7B94CC-D1CD-A859-22D0-BB2B0D100AFE}"/>
                </a:ext>
              </a:extLst>
            </p:cNvPr>
            <p:cNvCxnSpPr/>
            <p:nvPr/>
          </p:nvCxnSpPr>
          <p:spPr>
            <a:xfrm>
              <a:off x="8072708" y="1210492"/>
              <a:ext cx="258070" cy="0"/>
            </a:xfrm>
            <a:prstGeom prst="straightConnector1">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BBDBFEFC-BC85-8E95-8C23-FEB1B43ECE1F}"/>
                </a:ext>
              </a:extLst>
            </p:cNvPr>
            <p:cNvCxnSpPr/>
            <p:nvPr/>
          </p:nvCxnSpPr>
          <p:spPr>
            <a:xfrm>
              <a:off x="8072708" y="1436915"/>
              <a:ext cx="258070"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8FA0E86B-64DA-9B7C-98A6-BA4AB073BB60}"/>
                </a:ext>
              </a:extLst>
            </p:cNvPr>
            <p:cNvSpPr txBox="1"/>
            <p:nvPr/>
          </p:nvSpPr>
          <p:spPr>
            <a:xfrm>
              <a:off x="8427608" y="886461"/>
              <a:ext cx="1310878" cy="184666"/>
            </a:xfrm>
            <a:prstGeom prst="rect">
              <a:avLst/>
            </a:prstGeom>
            <a:noFill/>
          </p:spPr>
          <p:txBody>
            <a:bodyPr wrap="square" lIns="0" tIns="0" rIns="0" bIns="0" rtlCol="0">
              <a:spAutoFit/>
            </a:bodyPr>
            <a:lstStyle/>
            <a:p>
              <a:r>
                <a:rPr kumimoji="1" lang="ja-JP" altLang="en-US" sz="1200" dirty="0">
                  <a:latin typeface="+mn-ea"/>
                  <a:ea typeface="+mn-ea"/>
                </a:rPr>
                <a:t>策定の流れ</a:t>
              </a:r>
            </a:p>
          </p:txBody>
        </p:sp>
        <p:sp>
          <p:nvSpPr>
            <p:cNvPr id="36" name="テキスト ボックス 35">
              <a:extLst>
                <a:ext uri="{FF2B5EF4-FFF2-40B4-BE49-F238E27FC236}">
                  <a16:creationId xmlns:a16="http://schemas.microsoft.com/office/drawing/2014/main" id="{23804C4E-0AD0-C1A7-1911-EC6A34308BB8}"/>
                </a:ext>
              </a:extLst>
            </p:cNvPr>
            <p:cNvSpPr txBox="1"/>
            <p:nvPr/>
          </p:nvSpPr>
          <p:spPr>
            <a:xfrm>
              <a:off x="8427608" y="1114200"/>
              <a:ext cx="1310878" cy="184666"/>
            </a:xfrm>
            <a:prstGeom prst="rect">
              <a:avLst/>
            </a:prstGeom>
            <a:noFill/>
          </p:spPr>
          <p:txBody>
            <a:bodyPr wrap="square" lIns="0" tIns="0" rIns="0" bIns="0" rtlCol="0">
              <a:spAutoFit/>
            </a:bodyPr>
            <a:lstStyle/>
            <a:p>
              <a:r>
                <a:rPr lang="ja-JP" altLang="en-US" sz="1200" dirty="0">
                  <a:latin typeface="+mn-ea"/>
                  <a:ea typeface="+mn-ea"/>
                </a:rPr>
                <a:t>監査・認定等</a:t>
              </a:r>
              <a:r>
                <a:rPr kumimoji="1" lang="ja-JP" altLang="en-US" sz="1200" dirty="0">
                  <a:latin typeface="+mn-ea"/>
                  <a:ea typeface="+mn-ea"/>
                </a:rPr>
                <a:t>の流れ</a:t>
              </a:r>
            </a:p>
          </p:txBody>
        </p:sp>
        <p:sp>
          <p:nvSpPr>
            <p:cNvPr id="37" name="テキスト ボックス 36">
              <a:extLst>
                <a:ext uri="{FF2B5EF4-FFF2-40B4-BE49-F238E27FC236}">
                  <a16:creationId xmlns:a16="http://schemas.microsoft.com/office/drawing/2014/main" id="{A6EFB7C2-D7BB-B4F8-191F-C66EC8FECFD2}"/>
                </a:ext>
              </a:extLst>
            </p:cNvPr>
            <p:cNvSpPr txBox="1"/>
            <p:nvPr/>
          </p:nvSpPr>
          <p:spPr>
            <a:xfrm>
              <a:off x="8427608" y="1348006"/>
              <a:ext cx="1310878" cy="184666"/>
            </a:xfrm>
            <a:prstGeom prst="rect">
              <a:avLst/>
            </a:prstGeom>
            <a:noFill/>
          </p:spPr>
          <p:txBody>
            <a:bodyPr wrap="square" lIns="0" tIns="0" rIns="0" bIns="0" rtlCol="0">
              <a:spAutoFit/>
            </a:bodyPr>
            <a:lstStyle/>
            <a:p>
              <a:r>
                <a:rPr lang="ja-JP" altLang="en-US" sz="1200" dirty="0">
                  <a:latin typeface="+mn-ea"/>
                  <a:ea typeface="+mn-ea"/>
                </a:rPr>
                <a:t>準拠等の関連性</a:t>
              </a:r>
              <a:endParaRPr kumimoji="1" lang="ja-JP" altLang="en-US" sz="1200" dirty="0">
                <a:latin typeface="+mn-ea"/>
                <a:ea typeface="+mn-ea"/>
              </a:endParaRPr>
            </a:p>
          </p:txBody>
        </p:sp>
        <p:sp>
          <p:nvSpPr>
            <p:cNvPr id="38" name="テキスト ボックス 37">
              <a:extLst>
                <a:ext uri="{FF2B5EF4-FFF2-40B4-BE49-F238E27FC236}">
                  <a16:creationId xmlns:a16="http://schemas.microsoft.com/office/drawing/2014/main" id="{BC432516-E4AD-C7CB-7DDF-0786433F40E4}"/>
                </a:ext>
              </a:extLst>
            </p:cNvPr>
            <p:cNvSpPr txBox="1"/>
            <p:nvPr/>
          </p:nvSpPr>
          <p:spPr>
            <a:xfrm>
              <a:off x="7970555" y="691264"/>
              <a:ext cx="1310878" cy="184666"/>
            </a:xfrm>
            <a:prstGeom prst="rect">
              <a:avLst/>
            </a:prstGeom>
            <a:noFill/>
          </p:spPr>
          <p:txBody>
            <a:bodyPr wrap="square" lIns="0" tIns="0" rIns="0" bIns="0" rtlCol="0">
              <a:spAutoFit/>
            </a:bodyPr>
            <a:lstStyle/>
            <a:p>
              <a:r>
                <a:rPr kumimoji="1" lang="en-US" altLang="ja-JP" sz="1200" dirty="0">
                  <a:latin typeface="+mn-ea"/>
                  <a:ea typeface="+mn-ea"/>
                </a:rPr>
                <a:t>【</a:t>
              </a:r>
              <a:r>
                <a:rPr kumimoji="1" lang="ja-JP" altLang="en-US" sz="1200" dirty="0">
                  <a:latin typeface="+mn-ea"/>
                  <a:ea typeface="+mn-ea"/>
                </a:rPr>
                <a:t>凡例</a:t>
              </a:r>
              <a:r>
                <a:rPr kumimoji="1" lang="en-US" altLang="ja-JP" sz="1200" dirty="0">
                  <a:latin typeface="+mn-ea"/>
                  <a:ea typeface="+mn-ea"/>
                </a:rPr>
                <a:t>】</a:t>
              </a:r>
              <a:endParaRPr kumimoji="1" lang="ja-JP" altLang="en-US" sz="1200" dirty="0">
                <a:latin typeface="+mn-ea"/>
                <a:ea typeface="+mn-ea"/>
              </a:endParaRPr>
            </a:p>
          </p:txBody>
        </p:sp>
      </p:grpSp>
    </p:spTree>
    <p:extLst>
      <p:ext uri="{BB962C8B-B14F-4D97-AF65-F5344CB8AC3E}">
        <p14:creationId xmlns:p14="http://schemas.microsoft.com/office/powerpoint/2010/main" val="687326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3261DC-94A6-789E-6EBD-3CDA0920AAEF}"/>
              </a:ext>
            </a:extLst>
          </p:cNvPr>
          <p:cNvSpPr>
            <a:spLocks noGrp="1"/>
          </p:cNvSpPr>
          <p:nvPr>
            <p:ph type="title"/>
          </p:nvPr>
        </p:nvSpPr>
        <p:spPr/>
        <p:txBody>
          <a:bodyPr/>
          <a:lstStyle/>
          <a:p>
            <a:r>
              <a:rPr kumimoji="1" lang="en-US" altLang="ja-JP" dirty="0"/>
              <a:t>3.4. </a:t>
            </a:r>
            <a:r>
              <a:rPr kumimoji="1" lang="ja-JP" altLang="en-US" dirty="0"/>
              <a:t>オーストラリア：</a:t>
            </a:r>
            <a:r>
              <a:rPr kumimoji="1" lang="en-US" altLang="ja-JP" dirty="0"/>
              <a:t>TDIF – 3.4.2. </a:t>
            </a:r>
            <a:r>
              <a:rPr kumimoji="1" lang="ja-JP" altLang="en-US" dirty="0"/>
              <a:t>取組の</a:t>
            </a:r>
            <a:r>
              <a:rPr kumimoji="1" lang="ja-JP" altLang="en-US" dirty="0">
                <a:latin typeface="+mn-ea"/>
                <a:ea typeface="+mn-ea"/>
              </a:rPr>
              <a:t>変遷</a:t>
            </a:r>
            <a:endParaRPr kumimoji="1" lang="ja-JP" altLang="en-US" dirty="0"/>
          </a:p>
        </p:txBody>
      </p:sp>
      <p:sp>
        <p:nvSpPr>
          <p:cNvPr id="3" name="テキスト プレースホルダー 2">
            <a:extLst>
              <a:ext uri="{FF2B5EF4-FFF2-40B4-BE49-F238E27FC236}">
                <a16:creationId xmlns:a16="http://schemas.microsoft.com/office/drawing/2014/main" id="{E84717BF-DFA7-3276-5DEF-C85E155FD88E}"/>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4" name="矢印: 山形 3">
            <a:extLst>
              <a:ext uri="{FF2B5EF4-FFF2-40B4-BE49-F238E27FC236}">
                <a16:creationId xmlns:a16="http://schemas.microsoft.com/office/drawing/2014/main" id="{95E6F75F-78D0-F7D7-7526-4112A174BD84}"/>
              </a:ext>
            </a:extLst>
          </p:cNvPr>
          <p:cNvSpPr/>
          <p:nvPr/>
        </p:nvSpPr>
        <p:spPr>
          <a:xfrm>
            <a:off x="511629" y="3475058"/>
            <a:ext cx="8833984" cy="307777"/>
          </a:xfrm>
          <a:prstGeom prst="chevron">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5" name="楕円 4">
            <a:extLst>
              <a:ext uri="{FF2B5EF4-FFF2-40B4-BE49-F238E27FC236}">
                <a16:creationId xmlns:a16="http://schemas.microsoft.com/office/drawing/2014/main" id="{6D474989-42EE-C3D9-7F6D-41A5C3533119}"/>
              </a:ext>
            </a:extLst>
          </p:cNvPr>
          <p:cNvSpPr/>
          <p:nvPr/>
        </p:nvSpPr>
        <p:spPr>
          <a:xfrm>
            <a:off x="1132114" y="3301864"/>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2013</a:t>
            </a:r>
            <a:endParaRPr kumimoji="1" lang="ja-JP" altLang="en-US" sz="1600" dirty="0"/>
          </a:p>
        </p:txBody>
      </p:sp>
      <p:sp>
        <p:nvSpPr>
          <p:cNvPr id="6" name="楕円 5">
            <a:extLst>
              <a:ext uri="{FF2B5EF4-FFF2-40B4-BE49-F238E27FC236}">
                <a16:creationId xmlns:a16="http://schemas.microsoft.com/office/drawing/2014/main" id="{04E80298-E3A2-E1F4-4DEB-3DA0E1DC4E27}"/>
              </a:ext>
            </a:extLst>
          </p:cNvPr>
          <p:cNvSpPr/>
          <p:nvPr/>
        </p:nvSpPr>
        <p:spPr>
          <a:xfrm>
            <a:off x="2823708" y="3301864"/>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2015</a:t>
            </a:r>
            <a:endParaRPr kumimoji="1" lang="ja-JP" altLang="en-US" sz="1600" dirty="0"/>
          </a:p>
        </p:txBody>
      </p:sp>
      <p:sp>
        <p:nvSpPr>
          <p:cNvPr id="7" name="楕円 6">
            <a:extLst>
              <a:ext uri="{FF2B5EF4-FFF2-40B4-BE49-F238E27FC236}">
                <a16:creationId xmlns:a16="http://schemas.microsoft.com/office/drawing/2014/main" id="{0CF7517C-CDBE-60A1-527F-7F016334B962}"/>
              </a:ext>
            </a:extLst>
          </p:cNvPr>
          <p:cNvSpPr/>
          <p:nvPr/>
        </p:nvSpPr>
        <p:spPr>
          <a:xfrm>
            <a:off x="7227499" y="3301864"/>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2023</a:t>
            </a:r>
            <a:endParaRPr kumimoji="1" lang="ja-JP" altLang="en-US" sz="1600" dirty="0"/>
          </a:p>
        </p:txBody>
      </p:sp>
      <p:sp>
        <p:nvSpPr>
          <p:cNvPr id="8" name="正方形/長方形 7">
            <a:extLst>
              <a:ext uri="{FF2B5EF4-FFF2-40B4-BE49-F238E27FC236}">
                <a16:creationId xmlns:a16="http://schemas.microsoft.com/office/drawing/2014/main" id="{36411B0C-349F-12BA-3473-3FA9775F4602}"/>
              </a:ext>
            </a:extLst>
          </p:cNvPr>
          <p:cNvSpPr/>
          <p:nvPr/>
        </p:nvSpPr>
        <p:spPr>
          <a:xfrm>
            <a:off x="1366815" y="3835341"/>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9" name="正方形/長方形 8">
            <a:extLst>
              <a:ext uri="{FF2B5EF4-FFF2-40B4-BE49-F238E27FC236}">
                <a16:creationId xmlns:a16="http://schemas.microsoft.com/office/drawing/2014/main" id="{5283DE9F-E6A8-EBC8-9ED8-52F5977548DD}"/>
              </a:ext>
            </a:extLst>
          </p:cNvPr>
          <p:cNvSpPr/>
          <p:nvPr/>
        </p:nvSpPr>
        <p:spPr>
          <a:xfrm>
            <a:off x="571728" y="4371891"/>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err="1"/>
              <a:t>myGov</a:t>
            </a:r>
            <a:r>
              <a:rPr lang="ja-JP" altLang="en-US" sz="1200" b="1" u="sng" dirty="0"/>
              <a:t>、 </a:t>
            </a:r>
            <a:r>
              <a:rPr lang="en-US" altLang="ja-JP" sz="1200" b="1" u="sng" dirty="0"/>
              <a:t>my </a:t>
            </a:r>
            <a:r>
              <a:rPr lang="en-US" altLang="ja-JP" sz="1200" b="1" u="sng" dirty="0" err="1"/>
              <a:t>GovID</a:t>
            </a:r>
            <a:endParaRPr lang="ja-JP" altLang="en-US" sz="1200" b="1" u="sng" dirty="0"/>
          </a:p>
          <a:p>
            <a:r>
              <a:rPr lang="ja-JP" altLang="en-US" sz="1200" dirty="0"/>
              <a:t>複数の行政サービスにアクセスし、証明書の発</a:t>
            </a:r>
          </a:p>
          <a:p>
            <a:r>
              <a:rPr lang="ja-JP" altLang="en-US" sz="1200" dirty="0"/>
              <a:t>行が可能なプラットフォームであり、</a:t>
            </a:r>
            <a:r>
              <a:rPr lang="en-US" altLang="ja-JP" sz="1200" dirty="0"/>
              <a:t>13</a:t>
            </a:r>
            <a:r>
              <a:rPr lang="ja-JP" altLang="en-US" sz="1200" dirty="0"/>
              <a:t>のサービ</a:t>
            </a:r>
          </a:p>
          <a:p>
            <a:r>
              <a:rPr lang="ja-JP" altLang="en-US" sz="1200" dirty="0"/>
              <a:t>スを利用可能となる</a:t>
            </a:r>
          </a:p>
          <a:p>
            <a:r>
              <a:rPr lang="ja-JP" altLang="en-US" sz="1200" dirty="0"/>
              <a:t>約</a:t>
            </a:r>
            <a:r>
              <a:rPr lang="en-US" altLang="ja-JP" sz="1200" dirty="0"/>
              <a:t>230</a:t>
            </a:r>
            <a:r>
              <a:rPr lang="ja-JP" altLang="en-US" sz="1200" dirty="0"/>
              <a:t>万人がデジタル</a:t>
            </a:r>
            <a:r>
              <a:rPr lang="en-US" altLang="ja-JP" sz="1200" dirty="0"/>
              <a:t>ID</a:t>
            </a:r>
            <a:r>
              <a:rPr lang="ja-JP" altLang="en-US" sz="1200" dirty="0"/>
              <a:t>である</a:t>
            </a:r>
            <a:r>
              <a:rPr lang="en-US" altLang="ja-JP" sz="1200" dirty="0"/>
              <a:t>my </a:t>
            </a:r>
            <a:r>
              <a:rPr lang="en-US" altLang="ja-JP" sz="1200" dirty="0" err="1"/>
              <a:t>GovID</a:t>
            </a:r>
            <a:r>
              <a:rPr lang="ja-JP" altLang="en-US" sz="1200" dirty="0"/>
              <a:t>を</a:t>
            </a:r>
          </a:p>
          <a:p>
            <a:r>
              <a:rPr lang="ja-JP" altLang="en-US" sz="1200" dirty="0"/>
              <a:t>使って</a:t>
            </a:r>
            <a:r>
              <a:rPr lang="en-US" altLang="ja-JP" sz="1200" dirty="0"/>
              <a:t>my GOV</a:t>
            </a:r>
            <a:r>
              <a:rPr lang="ja-JP" altLang="en-US" sz="1200" dirty="0"/>
              <a:t>にサインインしている</a:t>
            </a:r>
            <a:endParaRPr lang="en-US" altLang="ja-JP" sz="1200" dirty="0"/>
          </a:p>
        </p:txBody>
      </p:sp>
      <p:sp>
        <p:nvSpPr>
          <p:cNvPr id="10" name="正方形/長方形 9">
            <a:extLst>
              <a:ext uri="{FF2B5EF4-FFF2-40B4-BE49-F238E27FC236}">
                <a16:creationId xmlns:a16="http://schemas.microsoft.com/office/drawing/2014/main" id="{DF036113-9E02-32D9-8898-721A48C4C527}"/>
              </a:ext>
            </a:extLst>
          </p:cNvPr>
          <p:cNvSpPr/>
          <p:nvPr/>
        </p:nvSpPr>
        <p:spPr>
          <a:xfrm>
            <a:off x="1194740" y="1608259"/>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solidFill>
                  <a:srgbClr val="0B0C0C"/>
                </a:solidFill>
                <a:latin typeface="+mn-ea"/>
              </a:rPr>
              <a:t>Digital Identity System</a:t>
            </a:r>
            <a:endParaRPr lang="ja-JP" altLang="en-US" sz="1200" b="1" u="sng" dirty="0">
              <a:solidFill>
                <a:srgbClr val="0B0C0C"/>
              </a:solidFill>
              <a:latin typeface="+mn-ea"/>
            </a:endParaRPr>
          </a:p>
          <a:p>
            <a:r>
              <a:rPr lang="ja-JP" altLang="en-US" sz="1200" dirty="0">
                <a:solidFill>
                  <a:srgbClr val="0B0C0C"/>
                </a:solidFill>
                <a:latin typeface="+mn-ea"/>
              </a:rPr>
              <a:t>政府および経済界全体からのサービスへの安</a:t>
            </a:r>
          </a:p>
          <a:p>
            <a:r>
              <a:rPr lang="ja-JP" altLang="en-US" sz="1200" dirty="0">
                <a:solidFill>
                  <a:srgbClr val="0B0C0C"/>
                </a:solidFill>
                <a:latin typeface="+mn-ea"/>
              </a:rPr>
              <a:t>全かつシンプルなアクセスのためのデジタル・アイ</a:t>
            </a:r>
          </a:p>
          <a:p>
            <a:r>
              <a:rPr lang="ja-JP" altLang="en-US" sz="1200" dirty="0">
                <a:solidFill>
                  <a:srgbClr val="0B0C0C"/>
                </a:solidFill>
                <a:latin typeface="+mn-ea"/>
              </a:rPr>
              <a:t>デンティティ・システムの利用を拡大するための</a:t>
            </a:r>
          </a:p>
          <a:p>
            <a:r>
              <a:rPr lang="ja-JP" altLang="en-US" sz="1200" dirty="0">
                <a:solidFill>
                  <a:srgbClr val="0B0C0C"/>
                </a:solidFill>
                <a:latin typeface="+mn-ea"/>
              </a:rPr>
              <a:t>取り組みであり、ユーザー自らがコントロール可</a:t>
            </a:r>
          </a:p>
          <a:p>
            <a:r>
              <a:rPr lang="ja-JP" altLang="en-US" sz="1200" dirty="0">
                <a:solidFill>
                  <a:srgbClr val="0B0C0C"/>
                </a:solidFill>
                <a:latin typeface="+mn-ea"/>
              </a:rPr>
              <a:t>能であることを要件に</a:t>
            </a:r>
            <a:r>
              <a:rPr lang="en-US" altLang="ja-JP" sz="1200" dirty="0">
                <a:solidFill>
                  <a:srgbClr val="0B0C0C"/>
                </a:solidFill>
                <a:latin typeface="+mn-ea"/>
              </a:rPr>
              <a:t>2015</a:t>
            </a:r>
            <a:r>
              <a:rPr lang="ja-JP" altLang="en-US" sz="1200" dirty="0">
                <a:solidFill>
                  <a:srgbClr val="0B0C0C"/>
                </a:solidFill>
                <a:latin typeface="+mn-ea"/>
              </a:rPr>
              <a:t>年に開始された</a:t>
            </a:r>
            <a:endParaRPr lang="en-US" altLang="ja-JP" sz="1200" dirty="0">
              <a:solidFill>
                <a:srgbClr val="0B0C0C"/>
              </a:solidFill>
              <a:latin typeface="+mn-ea"/>
            </a:endParaRPr>
          </a:p>
        </p:txBody>
      </p:sp>
      <p:sp>
        <p:nvSpPr>
          <p:cNvPr id="11" name="正方形/長方形 10">
            <a:extLst>
              <a:ext uri="{FF2B5EF4-FFF2-40B4-BE49-F238E27FC236}">
                <a16:creationId xmlns:a16="http://schemas.microsoft.com/office/drawing/2014/main" id="{F26C96A8-D6F3-86B8-485E-619927507BA1}"/>
              </a:ext>
            </a:extLst>
          </p:cNvPr>
          <p:cNvSpPr/>
          <p:nvPr/>
        </p:nvSpPr>
        <p:spPr>
          <a:xfrm>
            <a:off x="3058409" y="2762693"/>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3" name="正方形/長方形 12">
            <a:extLst>
              <a:ext uri="{FF2B5EF4-FFF2-40B4-BE49-F238E27FC236}">
                <a16:creationId xmlns:a16="http://schemas.microsoft.com/office/drawing/2014/main" id="{BA831FCC-D622-9D0D-93BB-06DBC9DDB13F}"/>
              </a:ext>
            </a:extLst>
          </p:cNvPr>
          <p:cNvSpPr/>
          <p:nvPr/>
        </p:nvSpPr>
        <p:spPr>
          <a:xfrm>
            <a:off x="5063581" y="3835341"/>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4" name="正方形/長方形 13">
            <a:extLst>
              <a:ext uri="{FF2B5EF4-FFF2-40B4-BE49-F238E27FC236}">
                <a16:creationId xmlns:a16="http://schemas.microsoft.com/office/drawing/2014/main" id="{4B28D5FB-B715-D24F-E83A-3F54A55DF8B2}"/>
              </a:ext>
            </a:extLst>
          </p:cNvPr>
          <p:cNvSpPr/>
          <p:nvPr/>
        </p:nvSpPr>
        <p:spPr>
          <a:xfrm>
            <a:off x="4136571" y="4356393"/>
            <a:ext cx="3370809"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Trusted Digital Identity Framework</a:t>
            </a:r>
            <a:r>
              <a:rPr lang="ja-JP" altLang="en-US" sz="1200" b="1" u="sng" dirty="0"/>
              <a:t>（</a:t>
            </a:r>
            <a:r>
              <a:rPr lang="en-US" altLang="ja-JP" sz="1200" b="1" u="sng" dirty="0"/>
              <a:t>TDIF</a:t>
            </a:r>
            <a:r>
              <a:rPr lang="ja-JP" altLang="en-US" sz="1200" b="1" u="sng" dirty="0"/>
              <a:t>）</a:t>
            </a:r>
          </a:p>
          <a:p>
            <a:r>
              <a:rPr lang="ja-JP" altLang="en-US" sz="1200" dirty="0"/>
              <a:t>オーストラリア政府が推進するデジタル</a:t>
            </a:r>
            <a:r>
              <a:rPr lang="en-US" altLang="ja-JP" sz="1200" dirty="0"/>
              <a:t>ID</a:t>
            </a:r>
            <a:r>
              <a:rPr lang="ja-JP" altLang="en-US" sz="1200" dirty="0"/>
              <a:t>システム</a:t>
            </a:r>
          </a:p>
          <a:p>
            <a:r>
              <a:rPr lang="ja-JP" altLang="en-US" sz="1200" dirty="0"/>
              <a:t>内のプロバイダーとサービスに対する規則と標準を示したフレームワークであり、米</a:t>
            </a:r>
            <a:r>
              <a:rPr lang="en-US" altLang="ja-JP" sz="1200" dirty="0"/>
              <a:t>NIST</a:t>
            </a:r>
            <a:r>
              <a:rPr lang="ja-JP" altLang="en-US" sz="1200" dirty="0"/>
              <a:t>の</a:t>
            </a:r>
            <a:r>
              <a:rPr lang="en-US" altLang="ja-JP" sz="1200" dirty="0"/>
              <a:t>SP800-63B</a:t>
            </a:r>
            <a:r>
              <a:rPr lang="ja-JP" altLang="en-US" sz="1200" dirty="0"/>
              <a:t>を参考に</a:t>
            </a:r>
            <a:r>
              <a:rPr lang="en-US" altLang="ja-JP" sz="1200" dirty="0"/>
              <a:t>DTA</a:t>
            </a:r>
            <a:r>
              <a:rPr lang="ja-JP" altLang="en-US" sz="1200" dirty="0"/>
              <a:t>（デジタルトランスフォーメンション庁）主導で策定が進められた</a:t>
            </a:r>
            <a:endParaRPr lang="en-US" altLang="ja-JP" sz="1200" dirty="0"/>
          </a:p>
        </p:txBody>
      </p:sp>
      <p:sp>
        <p:nvSpPr>
          <p:cNvPr id="15" name="正方形/長方形 14">
            <a:extLst>
              <a:ext uri="{FF2B5EF4-FFF2-40B4-BE49-F238E27FC236}">
                <a16:creationId xmlns:a16="http://schemas.microsoft.com/office/drawing/2014/main" id="{39468CD2-785F-96AC-A48A-0BEF8A676659}"/>
              </a:ext>
            </a:extLst>
          </p:cNvPr>
          <p:cNvSpPr/>
          <p:nvPr/>
        </p:nvSpPr>
        <p:spPr>
          <a:xfrm>
            <a:off x="5684838" y="1608259"/>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solidFill>
                  <a:srgbClr val="0B0C0C"/>
                </a:solidFill>
                <a:latin typeface="+mn-ea"/>
              </a:rPr>
              <a:t>Digital ID Bill and Digital ID Rules</a:t>
            </a:r>
            <a:r>
              <a:rPr lang="ja-JP" altLang="en-US" sz="1200" b="1" u="sng" dirty="0">
                <a:solidFill>
                  <a:srgbClr val="0B0C0C"/>
                </a:solidFill>
                <a:latin typeface="+mn-ea"/>
              </a:rPr>
              <a:t>*</a:t>
            </a:r>
            <a:endParaRPr lang="en-US" altLang="ja-JP" sz="1200" b="1" u="sng" dirty="0">
              <a:solidFill>
                <a:srgbClr val="0B0C0C"/>
              </a:solidFill>
              <a:latin typeface="+mn-ea"/>
            </a:endParaRPr>
          </a:p>
          <a:p>
            <a:r>
              <a:rPr lang="ja-JP" altLang="en-US" sz="1200" dirty="0">
                <a:solidFill>
                  <a:srgbClr val="0B0C0C"/>
                </a:solidFill>
                <a:latin typeface="+mn-ea"/>
              </a:rPr>
              <a:t>主にデジタル</a:t>
            </a:r>
            <a:r>
              <a:rPr lang="en-US" altLang="ja-JP" sz="1200" dirty="0">
                <a:solidFill>
                  <a:srgbClr val="0B0C0C"/>
                </a:solidFill>
                <a:latin typeface="+mn-ea"/>
              </a:rPr>
              <a:t>ID</a:t>
            </a:r>
            <a:r>
              <a:rPr lang="ja-JP" altLang="en-US" sz="1200" dirty="0">
                <a:solidFill>
                  <a:srgbClr val="0B0C0C"/>
                </a:solidFill>
                <a:latin typeface="+mn-ea"/>
              </a:rPr>
              <a:t>サービスを提供する事業体のための認定スキームを確立すること、デジタル</a:t>
            </a:r>
            <a:r>
              <a:rPr lang="en-US" altLang="ja-JP" sz="1200" dirty="0">
                <a:solidFill>
                  <a:srgbClr val="0B0C0C"/>
                </a:solidFill>
                <a:latin typeface="+mn-ea"/>
              </a:rPr>
              <a:t>ID</a:t>
            </a:r>
            <a:r>
              <a:rPr lang="ja-JP" altLang="en-US" sz="1200" dirty="0">
                <a:solidFill>
                  <a:srgbClr val="0B0C0C"/>
                </a:solidFill>
                <a:latin typeface="+mn-ea"/>
              </a:rPr>
              <a:t>規制当局として</a:t>
            </a:r>
            <a:r>
              <a:rPr lang="en-US" altLang="ja-JP" sz="1200" dirty="0">
                <a:solidFill>
                  <a:srgbClr val="0B0C0C"/>
                </a:solidFill>
                <a:latin typeface="+mn-ea"/>
              </a:rPr>
              <a:t>ACCC</a:t>
            </a:r>
            <a:r>
              <a:rPr lang="ja-JP" altLang="en-US" sz="1200" dirty="0">
                <a:solidFill>
                  <a:srgbClr val="0B0C0C"/>
                </a:solidFill>
                <a:latin typeface="+mn-ea"/>
              </a:rPr>
              <a:t>の役割を強化すること、デジタル</a:t>
            </a:r>
            <a:r>
              <a:rPr lang="en-US" altLang="ja-JP" sz="1200" dirty="0">
                <a:solidFill>
                  <a:srgbClr val="0B0C0C"/>
                </a:solidFill>
                <a:latin typeface="+mn-ea"/>
              </a:rPr>
              <a:t>ID</a:t>
            </a:r>
            <a:r>
              <a:rPr lang="ja-JP" altLang="en-US" sz="1200" dirty="0">
                <a:solidFill>
                  <a:srgbClr val="0B0C0C"/>
                </a:solidFill>
                <a:latin typeface="+mn-ea"/>
              </a:rPr>
              <a:t>のプライバシー保護を強化すること、ユーザにとって利用できる</a:t>
            </a:r>
            <a:r>
              <a:rPr lang="en-US" altLang="ja-JP" sz="1200" dirty="0">
                <a:solidFill>
                  <a:srgbClr val="0B0C0C"/>
                </a:solidFill>
                <a:latin typeface="+mn-ea"/>
              </a:rPr>
              <a:t>ID</a:t>
            </a:r>
            <a:r>
              <a:rPr lang="ja-JP" altLang="en-US" sz="1200" dirty="0">
                <a:solidFill>
                  <a:srgbClr val="0B0C0C"/>
                </a:solidFill>
                <a:latin typeface="+mn-ea"/>
              </a:rPr>
              <a:t>プロバイダの選択肢を増やすこと等が規定されている</a:t>
            </a:r>
            <a:endParaRPr lang="en-US" altLang="ja-JP" sz="1200" dirty="0">
              <a:solidFill>
                <a:srgbClr val="0B0C0C"/>
              </a:solidFill>
              <a:latin typeface="+mn-ea"/>
            </a:endParaRPr>
          </a:p>
        </p:txBody>
      </p:sp>
      <p:sp>
        <p:nvSpPr>
          <p:cNvPr id="16" name="正方形/長方形 15">
            <a:extLst>
              <a:ext uri="{FF2B5EF4-FFF2-40B4-BE49-F238E27FC236}">
                <a16:creationId xmlns:a16="http://schemas.microsoft.com/office/drawing/2014/main" id="{BF2C79AE-43C4-E89C-1F84-D9D46D404CF0}"/>
              </a:ext>
            </a:extLst>
          </p:cNvPr>
          <p:cNvSpPr/>
          <p:nvPr/>
        </p:nvSpPr>
        <p:spPr>
          <a:xfrm>
            <a:off x="7462200" y="2762693"/>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2" name="楕円 11">
            <a:extLst>
              <a:ext uri="{FF2B5EF4-FFF2-40B4-BE49-F238E27FC236}">
                <a16:creationId xmlns:a16="http://schemas.microsoft.com/office/drawing/2014/main" id="{4982A1E8-C8D7-2D94-61B2-C25C9022E942}"/>
              </a:ext>
            </a:extLst>
          </p:cNvPr>
          <p:cNvSpPr/>
          <p:nvPr/>
        </p:nvSpPr>
        <p:spPr>
          <a:xfrm>
            <a:off x="4828950" y="3301864"/>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2018</a:t>
            </a:r>
            <a:endParaRPr kumimoji="1" lang="ja-JP" altLang="en-US" sz="1600" dirty="0"/>
          </a:p>
        </p:txBody>
      </p:sp>
      <p:sp>
        <p:nvSpPr>
          <p:cNvPr id="20" name="コンテンツ プレースホルダー 2">
            <a:extLst>
              <a:ext uri="{FF2B5EF4-FFF2-40B4-BE49-F238E27FC236}">
                <a16:creationId xmlns:a16="http://schemas.microsoft.com/office/drawing/2014/main" id="{D699EC0C-4731-B5B6-B235-58BCEFF4366D}"/>
              </a:ext>
            </a:extLst>
          </p:cNvPr>
          <p:cNvSpPr txBox="1">
            <a:spLocks/>
          </p:cNvSpPr>
          <p:nvPr/>
        </p:nvSpPr>
        <p:spPr>
          <a:xfrm>
            <a:off x="273050" y="908050"/>
            <a:ext cx="9359900" cy="569339"/>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行政サービス利用にかかる認証サービスの普及や、プライバシー保護を実現するために、</a:t>
            </a:r>
            <a:r>
              <a:rPr lang="en-US" altLang="ja-JP" dirty="0"/>
              <a:t>Trust Framework</a:t>
            </a:r>
            <a:r>
              <a:rPr lang="ja-JP" altLang="en-US" dirty="0"/>
              <a:t>、法規制の順に策定を行い執行能力を強化している</a:t>
            </a:r>
          </a:p>
          <a:p>
            <a:endParaRPr lang="en-US" altLang="ja-JP" dirty="0"/>
          </a:p>
        </p:txBody>
      </p:sp>
      <p:sp>
        <p:nvSpPr>
          <p:cNvPr id="21" name="テキスト ボックス 20">
            <a:extLst>
              <a:ext uri="{FF2B5EF4-FFF2-40B4-BE49-F238E27FC236}">
                <a16:creationId xmlns:a16="http://schemas.microsoft.com/office/drawing/2014/main" id="{608D359C-91FA-8F53-DBBE-10B457A90267}"/>
              </a:ext>
            </a:extLst>
          </p:cNvPr>
          <p:cNvSpPr txBox="1"/>
          <p:nvPr/>
        </p:nvSpPr>
        <p:spPr>
          <a:xfrm>
            <a:off x="555544" y="6169742"/>
            <a:ext cx="9069123" cy="138499"/>
          </a:xfrm>
          <a:prstGeom prst="rect">
            <a:avLst/>
          </a:prstGeom>
          <a:noFill/>
        </p:spPr>
        <p:txBody>
          <a:bodyPr wrap="square" lIns="0" tIns="0" rIns="0" bIns="0" rtlCol="0">
            <a:spAutoFit/>
          </a:bodyPr>
          <a:lstStyle/>
          <a:p>
            <a:pPr defTabSz="355600"/>
            <a:r>
              <a:rPr kumimoji="1" lang="en-US" altLang="ja-JP" sz="900" dirty="0">
                <a:latin typeface="+mn-ea"/>
                <a:ea typeface="+mn-ea"/>
                <a:hlinkClick r:id="rId2"/>
              </a:rPr>
              <a:t>https://www.digitalidentity.gov.au/have-your-say/2023-digital-id-bill-and-rules-submissions</a:t>
            </a:r>
            <a:endParaRPr kumimoji="1" lang="en-US" altLang="ja-JP" sz="900" dirty="0">
              <a:latin typeface="+mn-ea"/>
              <a:ea typeface="+mn-ea"/>
            </a:endParaRPr>
          </a:p>
        </p:txBody>
      </p:sp>
      <p:sp>
        <p:nvSpPr>
          <p:cNvPr id="22" name="テキスト ボックス 21">
            <a:extLst>
              <a:ext uri="{FF2B5EF4-FFF2-40B4-BE49-F238E27FC236}">
                <a16:creationId xmlns:a16="http://schemas.microsoft.com/office/drawing/2014/main" id="{E9C492BE-0A1D-8D32-2428-3BDA37F1FB80}"/>
              </a:ext>
            </a:extLst>
          </p:cNvPr>
          <p:cNvSpPr txBox="1"/>
          <p:nvPr/>
        </p:nvSpPr>
        <p:spPr>
          <a:xfrm>
            <a:off x="281334" y="5818493"/>
            <a:ext cx="9462098" cy="369332"/>
          </a:xfrm>
          <a:prstGeom prst="rect">
            <a:avLst/>
          </a:prstGeom>
          <a:noFill/>
        </p:spPr>
        <p:txBody>
          <a:bodyPr wrap="square">
            <a:spAutoFit/>
          </a:bodyPr>
          <a:lstStyle/>
          <a:p>
            <a:r>
              <a:rPr lang="ja-JP" altLang="en-US" sz="900" dirty="0">
                <a:latin typeface="+mn-ea"/>
                <a:ea typeface="+mn-ea"/>
              </a:rPr>
              <a:t>     令和４年度デジタル取引環境整備事業（「</a:t>
            </a:r>
            <a:r>
              <a:rPr lang="en-US" altLang="ja-JP" sz="900" dirty="0">
                <a:latin typeface="+mn-ea"/>
                <a:ea typeface="+mn-ea"/>
              </a:rPr>
              <a:t>Trusted Web</a:t>
            </a:r>
            <a:r>
              <a:rPr lang="ja-JP" altLang="en-US" sz="900" dirty="0">
                <a:latin typeface="+mn-ea"/>
                <a:ea typeface="+mn-ea"/>
              </a:rPr>
              <a:t>」の実現に向けた技術動向調査）海外動向調査をもとに、直近の動向をアップデートして</a:t>
            </a:r>
            <a:r>
              <a:rPr lang="en-US" altLang="ja-JP" sz="900" dirty="0">
                <a:latin typeface="+mn-ea"/>
                <a:ea typeface="+mn-ea"/>
              </a:rPr>
              <a:t>TOPPAN</a:t>
            </a:r>
            <a:r>
              <a:rPr lang="ja-JP" altLang="en-US" sz="900" dirty="0">
                <a:latin typeface="+mn-ea"/>
                <a:ea typeface="+mn-ea"/>
              </a:rPr>
              <a:t>作成</a:t>
            </a:r>
            <a:endParaRPr lang="en-US" altLang="ja-JP" sz="900" dirty="0">
              <a:latin typeface="+mn-ea"/>
              <a:ea typeface="+mn-ea"/>
            </a:endParaRPr>
          </a:p>
          <a:p>
            <a:pPr>
              <a:tabLst>
                <a:tab pos="177800" algn="l"/>
              </a:tabLst>
            </a:pPr>
            <a:r>
              <a:rPr lang="en-US" altLang="ja-JP" sz="900" dirty="0">
                <a:latin typeface="+mn-ea"/>
                <a:ea typeface="+mn-ea"/>
              </a:rPr>
              <a:t>	</a:t>
            </a:r>
            <a:r>
              <a:rPr lang="en-US" altLang="ja-JP" sz="900" dirty="0">
                <a:latin typeface="+mn-ea"/>
                <a:ea typeface="+mn-ea"/>
                <a:hlinkClick r:id="rId3"/>
              </a:rPr>
              <a:t>https://www.kantei.go.jp/jp/singi/digitalmarket/trusted_web/2022seika/files/001_report_international.pdf</a:t>
            </a:r>
            <a:endParaRPr lang="en-US" altLang="ja-JP" sz="900" dirty="0">
              <a:latin typeface="+mn-ea"/>
              <a:ea typeface="+mn-ea"/>
            </a:endParaRPr>
          </a:p>
        </p:txBody>
      </p:sp>
      <p:sp>
        <p:nvSpPr>
          <p:cNvPr id="23" name="テキスト ボックス 22">
            <a:extLst>
              <a:ext uri="{FF2B5EF4-FFF2-40B4-BE49-F238E27FC236}">
                <a16:creationId xmlns:a16="http://schemas.microsoft.com/office/drawing/2014/main" id="{6EAA552C-7667-CC14-E297-E834178BAEFF}"/>
              </a:ext>
            </a:extLst>
          </p:cNvPr>
          <p:cNvSpPr txBox="1"/>
          <p:nvPr/>
        </p:nvSpPr>
        <p:spPr>
          <a:xfrm>
            <a:off x="162568" y="6147969"/>
            <a:ext cx="445037" cy="230832"/>
          </a:xfrm>
          <a:prstGeom prst="rect">
            <a:avLst/>
          </a:prstGeom>
          <a:noFill/>
        </p:spPr>
        <p:txBody>
          <a:bodyPr wrap="square">
            <a:spAutoFit/>
          </a:bodyPr>
          <a:lstStyle/>
          <a:p>
            <a:pPr algn="r"/>
            <a:r>
              <a:rPr lang="ja-JP" altLang="en-US" sz="900" dirty="0">
                <a:latin typeface="+mn-ea"/>
                <a:ea typeface="+mn-ea"/>
              </a:rPr>
              <a:t>*</a:t>
            </a:r>
            <a:endParaRPr lang="en-US" altLang="ja-JP" sz="900" dirty="0">
              <a:latin typeface="+mn-ea"/>
              <a:ea typeface="+mn-ea"/>
            </a:endParaRPr>
          </a:p>
        </p:txBody>
      </p:sp>
    </p:spTree>
    <p:extLst>
      <p:ext uri="{BB962C8B-B14F-4D97-AF65-F5344CB8AC3E}">
        <p14:creationId xmlns:p14="http://schemas.microsoft.com/office/powerpoint/2010/main" val="1613084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A2B281-6F43-ABFA-12AF-78E14D222774}"/>
              </a:ext>
            </a:extLst>
          </p:cNvPr>
          <p:cNvSpPr>
            <a:spLocks noGrp="1"/>
          </p:cNvSpPr>
          <p:nvPr>
            <p:ph type="title"/>
          </p:nvPr>
        </p:nvSpPr>
        <p:spPr/>
        <p:txBody>
          <a:bodyPr/>
          <a:lstStyle/>
          <a:p>
            <a:r>
              <a:rPr kumimoji="1" lang="en-US" altLang="ja-JP" dirty="0"/>
              <a:t>3.4. </a:t>
            </a:r>
            <a:r>
              <a:rPr kumimoji="1" lang="ja-JP" altLang="en-US" dirty="0"/>
              <a:t>オーストラリア：</a:t>
            </a:r>
            <a:r>
              <a:rPr kumimoji="1" lang="en-US" altLang="ja-JP" dirty="0"/>
              <a:t>TDIF – 3.4.3. </a:t>
            </a:r>
            <a:r>
              <a:rPr kumimoji="1" lang="ja-JP" altLang="en-US" dirty="0"/>
              <a:t>ヒアリング結果</a:t>
            </a:r>
          </a:p>
        </p:txBody>
      </p:sp>
      <p:sp>
        <p:nvSpPr>
          <p:cNvPr id="3" name="テキスト プレースホルダー 2">
            <a:extLst>
              <a:ext uri="{FF2B5EF4-FFF2-40B4-BE49-F238E27FC236}">
                <a16:creationId xmlns:a16="http://schemas.microsoft.com/office/drawing/2014/main" id="{2C3EFFE8-429F-4A49-6973-14405F50F7FA}"/>
              </a:ext>
            </a:extLst>
          </p:cNvPr>
          <p:cNvSpPr>
            <a:spLocks noGrp="1"/>
          </p:cNvSpPr>
          <p:nvPr>
            <p:ph type="body" sz="quarter" idx="10"/>
          </p:nvPr>
        </p:nvSpPr>
        <p:spPr/>
        <p:txBody>
          <a:bodyPr/>
          <a:lstStyle/>
          <a:p>
            <a:r>
              <a:rPr kumimoji="1" lang="en-US" altLang="ja-JP" dirty="0"/>
              <a:t>3. </a:t>
            </a:r>
            <a:r>
              <a:rPr kumimoji="1" lang="ja-JP" altLang="en-US" dirty="0"/>
              <a:t>調査結果</a:t>
            </a:r>
          </a:p>
        </p:txBody>
      </p:sp>
      <p:grpSp>
        <p:nvGrpSpPr>
          <p:cNvPr id="4" name="Graphic 4">
            <a:extLst>
              <a:ext uri="{FF2B5EF4-FFF2-40B4-BE49-F238E27FC236}">
                <a16:creationId xmlns:a16="http://schemas.microsoft.com/office/drawing/2014/main" id="{7C2CB097-E2F8-B0A9-A83F-3905EE0A0D69}"/>
              </a:ext>
            </a:extLst>
          </p:cNvPr>
          <p:cNvGrpSpPr>
            <a:grpSpLocks noChangeAspect="1"/>
          </p:cNvGrpSpPr>
          <p:nvPr/>
        </p:nvGrpSpPr>
        <p:grpSpPr bwMode="gray">
          <a:xfrm>
            <a:off x="560388" y="2644555"/>
            <a:ext cx="1221430" cy="1221430"/>
            <a:chOff x="6146480" y="3339623"/>
            <a:chExt cx="362309" cy="361971"/>
          </a:xfrm>
          <a:solidFill>
            <a:schemeClr val="accent1"/>
          </a:solidFill>
        </p:grpSpPr>
        <p:sp>
          <p:nvSpPr>
            <p:cNvPr id="5" name="Graphic 4">
              <a:extLst>
                <a:ext uri="{FF2B5EF4-FFF2-40B4-BE49-F238E27FC236}">
                  <a16:creationId xmlns:a16="http://schemas.microsoft.com/office/drawing/2014/main" id="{52C24F17-0D7F-52DB-1248-DB93CB0EE1ED}"/>
                </a:ext>
              </a:extLst>
            </p:cNvPr>
            <p:cNvSpPr/>
            <p:nvPr/>
          </p:nvSpPr>
          <p:spPr bwMode="gray">
            <a:xfrm>
              <a:off x="6290254" y="3436660"/>
              <a:ext cx="75401" cy="27950"/>
            </a:xfrm>
            <a:custGeom>
              <a:avLst/>
              <a:gdLst>
                <a:gd name="connsiteX0" fmla="*/ 37700 w 75401"/>
                <a:gd name="connsiteY0" fmla="*/ 0 h 27950"/>
                <a:gd name="connsiteX1" fmla="*/ 639 w 75401"/>
                <a:gd name="connsiteY1" fmla="*/ 14045 h 27950"/>
                <a:gd name="connsiteX2" fmla="*/ 0 w 75401"/>
                <a:gd name="connsiteY2" fmla="*/ 15321 h 27950"/>
                <a:gd name="connsiteX3" fmla="*/ 42173 w 75401"/>
                <a:gd name="connsiteY3" fmla="*/ 25536 h 27950"/>
                <a:gd name="connsiteX4" fmla="*/ 48563 w 75401"/>
                <a:gd name="connsiteY4" fmla="*/ 19152 h 27950"/>
                <a:gd name="connsiteX5" fmla="*/ 57509 w 75401"/>
                <a:gd name="connsiteY5" fmla="*/ 19152 h 27950"/>
                <a:gd name="connsiteX6" fmla="*/ 57509 w 75401"/>
                <a:gd name="connsiteY6" fmla="*/ 19152 h 27950"/>
                <a:gd name="connsiteX7" fmla="*/ 62621 w 75401"/>
                <a:gd name="connsiteY7" fmla="*/ 24259 h 27950"/>
                <a:gd name="connsiteX8" fmla="*/ 75401 w 75401"/>
                <a:gd name="connsiteY8" fmla="*/ 15321 h 27950"/>
                <a:gd name="connsiteX9" fmla="*/ 74762 w 75401"/>
                <a:gd name="connsiteY9" fmla="*/ 14045 h 27950"/>
                <a:gd name="connsiteX10" fmla="*/ 37700 w 75401"/>
                <a:gd name="connsiteY10" fmla="*/ 0 h 2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401" h="27950">
                  <a:moveTo>
                    <a:pt x="37700" y="0"/>
                  </a:moveTo>
                  <a:cubicBezTo>
                    <a:pt x="19809" y="0"/>
                    <a:pt x="7668" y="5107"/>
                    <a:pt x="639" y="14045"/>
                  </a:cubicBezTo>
                  <a:lnTo>
                    <a:pt x="0" y="15321"/>
                  </a:lnTo>
                  <a:cubicBezTo>
                    <a:pt x="12780" y="33197"/>
                    <a:pt x="36422" y="27451"/>
                    <a:pt x="42173" y="25536"/>
                  </a:cubicBezTo>
                  <a:lnTo>
                    <a:pt x="48563" y="19152"/>
                  </a:lnTo>
                  <a:cubicBezTo>
                    <a:pt x="51119" y="16598"/>
                    <a:pt x="54953" y="16598"/>
                    <a:pt x="57509" y="19152"/>
                  </a:cubicBezTo>
                  <a:cubicBezTo>
                    <a:pt x="57509" y="19152"/>
                    <a:pt x="57509" y="19152"/>
                    <a:pt x="57509" y="19152"/>
                  </a:cubicBezTo>
                  <a:lnTo>
                    <a:pt x="62621" y="24259"/>
                  </a:lnTo>
                  <a:cubicBezTo>
                    <a:pt x="67733" y="22982"/>
                    <a:pt x="72206" y="19790"/>
                    <a:pt x="75401" y="15321"/>
                  </a:cubicBezTo>
                  <a:cubicBezTo>
                    <a:pt x="75401" y="14683"/>
                    <a:pt x="74762" y="14683"/>
                    <a:pt x="74762" y="14045"/>
                  </a:cubicBezTo>
                  <a:cubicBezTo>
                    <a:pt x="67733" y="5107"/>
                    <a:pt x="54953" y="0"/>
                    <a:pt x="37700" y="0"/>
                  </a:cubicBez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sp>
          <p:nvSpPr>
            <p:cNvPr id="6" name="Graphic 4">
              <a:extLst>
                <a:ext uri="{FF2B5EF4-FFF2-40B4-BE49-F238E27FC236}">
                  <a16:creationId xmlns:a16="http://schemas.microsoft.com/office/drawing/2014/main" id="{2EC074F3-117C-8C7B-94F3-7DE39BD9B436}"/>
                </a:ext>
              </a:extLst>
            </p:cNvPr>
            <p:cNvSpPr/>
            <p:nvPr/>
          </p:nvSpPr>
          <p:spPr bwMode="gray">
            <a:xfrm>
              <a:off x="6146480" y="33396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77323 w 362309"/>
                <a:gd name="connsiteY6" fmla="*/ 274511 h 361971"/>
                <a:gd name="connsiteX7" fmla="*/ 271572 w 362309"/>
                <a:gd name="connsiteY7" fmla="*/ 277703 h 361971"/>
                <a:gd name="connsiteX8" fmla="*/ 268377 w 362309"/>
                <a:gd name="connsiteY8" fmla="*/ 277065 h 361971"/>
                <a:gd name="connsiteX9" fmla="*/ 241540 w 362309"/>
                <a:gd name="connsiteY9" fmla="*/ 271319 h 361971"/>
                <a:gd name="connsiteX10" fmla="*/ 219175 w 362309"/>
                <a:gd name="connsiteY10" fmla="*/ 266850 h 361971"/>
                <a:gd name="connsiteX11" fmla="*/ 201922 w 362309"/>
                <a:gd name="connsiteY11" fmla="*/ 238122 h 361971"/>
                <a:gd name="connsiteX12" fmla="*/ 202561 w 362309"/>
                <a:gd name="connsiteY12" fmla="*/ 212587 h 361971"/>
                <a:gd name="connsiteX13" fmla="*/ 221092 w 362309"/>
                <a:gd name="connsiteY13" fmla="*/ 168537 h 361971"/>
                <a:gd name="connsiteX14" fmla="*/ 224287 w 362309"/>
                <a:gd name="connsiteY14" fmla="*/ 125765 h 361971"/>
                <a:gd name="connsiteX15" fmla="*/ 203200 w 362309"/>
                <a:gd name="connsiteY15" fmla="*/ 134702 h 361971"/>
                <a:gd name="connsiteX16" fmla="*/ 199366 w 362309"/>
                <a:gd name="connsiteY16" fmla="*/ 132787 h 361971"/>
                <a:gd name="connsiteX17" fmla="*/ 196171 w 362309"/>
                <a:gd name="connsiteY17" fmla="*/ 129595 h 361971"/>
                <a:gd name="connsiteX18" fmla="*/ 192976 w 362309"/>
                <a:gd name="connsiteY18" fmla="*/ 132787 h 361971"/>
                <a:gd name="connsiteX19" fmla="*/ 190420 w 362309"/>
                <a:gd name="connsiteY19" fmla="*/ 134064 h 361971"/>
                <a:gd name="connsiteX20" fmla="*/ 169972 w 362309"/>
                <a:gd name="connsiteY20" fmla="*/ 137256 h 361971"/>
                <a:gd name="connsiteX21" fmla="*/ 137384 w 362309"/>
                <a:gd name="connsiteY21" fmla="*/ 125126 h 361971"/>
                <a:gd name="connsiteX22" fmla="*/ 140579 w 362309"/>
                <a:gd name="connsiteY22" fmla="*/ 167899 h 361971"/>
                <a:gd name="connsiteX23" fmla="*/ 159109 w 362309"/>
                <a:gd name="connsiteY23" fmla="*/ 211948 h 361971"/>
                <a:gd name="connsiteX24" fmla="*/ 159748 w 362309"/>
                <a:gd name="connsiteY24" fmla="*/ 237484 h 361971"/>
                <a:gd name="connsiteX25" fmla="*/ 142496 w 362309"/>
                <a:gd name="connsiteY25" fmla="*/ 266212 h 361971"/>
                <a:gd name="connsiteX26" fmla="*/ 120131 w 362309"/>
                <a:gd name="connsiteY26" fmla="*/ 270681 h 361971"/>
                <a:gd name="connsiteX27" fmla="*/ 93293 w 362309"/>
                <a:gd name="connsiteY27" fmla="*/ 276426 h 361971"/>
                <a:gd name="connsiteX28" fmla="*/ 84347 w 362309"/>
                <a:gd name="connsiteY28" fmla="*/ 273873 h 361971"/>
                <a:gd name="connsiteX29" fmla="*/ 86903 w 362309"/>
                <a:gd name="connsiteY29" fmla="*/ 264935 h 361971"/>
                <a:gd name="connsiteX30" fmla="*/ 118853 w 362309"/>
                <a:gd name="connsiteY30" fmla="*/ 257274 h 361971"/>
                <a:gd name="connsiteX31" fmla="*/ 136106 w 362309"/>
                <a:gd name="connsiteY31" fmla="*/ 254082 h 361971"/>
                <a:gd name="connsiteX32" fmla="*/ 148246 w 362309"/>
                <a:gd name="connsiteY32" fmla="*/ 218332 h 361971"/>
                <a:gd name="connsiteX33" fmla="*/ 127799 w 362309"/>
                <a:gd name="connsiteY33" fmla="*/ 171091 h 361971"/>
                <a:gd name="connsiteX34" fmla="*/ 132911 w 362309"/>
                <a:gd name="connsiteY34" fmla="*/ 102782 h 361971"/>
                <a:gd name="connsiteX35" fmla="*/ 180196 w 362309"/>
                <a:gd name="connsiteY35" fmla="*/ 83630 h 361971"/>
                <a:gd name="connsiteX36" fmla="*/ 227482 w 362309"/>
                <a:gd name="connsiteY36" fmla="*/ 102782 h 361971"/>
                <a:gd name="connsiteX37" fmla="*/ 232593 w 362309"/>
                <a:gd name="connsiteY37" fmla="*/ 171091 h 361971"/>
                <a:gd name="connsiteX38" fmla="*/ 212146 w 362309"/>
                <a:gd name="connsiteY38" fmla="*/ 218332 h 361971"/>
                <a:gd name="connsiteX39" fmla="*/ 224287 w 362309"/>
                <a:gd name="connsiteY39" fmla="*/ 254082 h 361971"/>
                <a:gd name="connsiteX40" fmla="*/ 241540 w 362309"/>
                <a:gd name="connsiteY40" fmla="*/ 257274 h 361971"/>
                <a:gd name="connsiteX41" fmla="*/ 273489 w 362309"/>
                <a:gd name="connsiteY41" fmla="*/ 264935 h 361971"/>
                <a:gd name="connsiteX42" fmla="*/ 277323 w 362309"/>
                <a:gd name="connsiteY42" fmla="*/ 274511 h 361971"/>
                <a:gd name="connsiteX43" fmla="*/ 277323 w 362309"/>
                <a:gd name="connsiteY43" fmla="*/ 274511 h 361971"/>
                <a:gd name="connsiteX44" fmla="*/ 277323 w 362309"/>
                <a:gd name="connsiteY44" fmla="*/ 2745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1077"/>
                    <a:pt x="281157" y="0"/>
                    <a:pt x="181474" y="0"/>
                  </a:cubicBezTo>
                  <a:close/>
                  <a:moveTo>
                    <a:pt x="277323" y="274511"/>
                  </a:moveTo>
                  <a:cubicBezTo>
                    <a:pt x="276045" y="276426"/>
                    <a:pt x="274128" y="277703"/>
                    <a:pt x="271572" y="277703"/>
                  </a:cubicBezTo>
                  <a:cubicBezTo>
                    <a:pt x="270294" y="277703"/>
                    <a:pt x="269655" y="277703"/>
                    <a:pt x="268377" y="277065"/>
                  </a:cubicBezTo>
                  <a:cubicBezTo>
                    <a:pt x="260070" y="273234"/>
                    <a:pt x="250485" y="271319"/>
                    <a:pt x="241540" y="271319"/>
                  </a:cubicBezTo>
                  <a:cubicBezTo>
                    <a:pt x="233872" y="271319"/>
                    <a:pt x="226204" y="269404"/>
                    <a:pt x="219175" y="266850"/>
                  </a:cubicBezTo>
                  <a:cubicBezTo>
                    <a:pt x="208312" y="261105"/>
                    <a:pt x="203200" y="243868"/>
                    <a:pt x="201922" y="238122"/>
                  </a:cubicBezTo>
                  <a:cubicBezTo>
                    <a:pt x="200644" y="232377"/>
                    <a:pt x="198088" y="218971"/>
                    <a:pt x="202561" y="212587"/>
                  </a:cubicBezTo>
                  <a:cubicBezTo>
                    <a:pt x="210868" y="198542"/>
                    <a:pt x="216619" y="183859"/>
                    <a:pt x="221092" y="168537"/>
                  </a:cubicBezTo>
                  <a:cubicBezTo>
                    <a:pt x="225565" y="154492"/>
                    <a:pt x="226843" y="139809"/>
                    <a:pt x="224287" y="125765"/>
                  </a:cubicBezTo>
                  <a:cubicBezTo>
                    <a:pt x="218536" y="131510"/>
                    <a:pt x="210868" y="134702"/>
                    <a:pt x="203200" y="134702"/>
                  </a:cubicBezTo>
                  <a:cubicBezTo>
                    <a:pt x="201922" y="134702"/>
                    <a:pt x="200005" y="134064"/>
                    <a:pt x="199366" y="132787"/>
                  </a:cubicBezTo>
                  <a:lnTo>
                    <a:pt x="196171" y="129595"/>
                  </a:lnTo>
                  <a:lnTo>
                    <a:pt x="192976" y="132787"/>
                  </a:lnTo>
                  <a:cubicBezTo>
                    <a:pt x="192337" y="133425"/>
                    <a:pt x="191698" y="134064"/>
                    <a:pt x="190420" y="134064"/>
                  </a:cubicBezTo>
                  <a:cubicBezTo>
                    <a:pt x="184030" y="136617"/>
                    <a:pt x="177001" y="137894"/>
                    <a:pt x="169972" y="137256"/>
                  </a:cubicBezTo>
                  <a:cubicBezTo>
                    <a:pt x="157831" y="137894"/>
                    <a:pt x="146329" y="133425"/>
                    <a:pt x="137384" y="125126"/>
                  </a:cubicBezTo>
                  <a:cubicBezTo>
                    <a:pt x="134828" y="139171"/>
                    <a:pt x="136106" y="154492"/>
                    <a:pt x="140579" y="167899"/>
                  </a:cubicBezTo>
                  <a:cubicBezTo>
                    <a:pt x="145051" y="183220"/>
                    <a:pt x="151441" y="197903"/>
                    <a:pt x="159109" y="211948"/>
                  </a:cubicBezTo>
                  <a:cubicBezTo>
                    <a:pt x="163582" y="218971"/>
                    <a:pt x="161026" y="232377"/>
                    <a:pt x="159748" y="237484"/>
                  </a:cubicBezTo>
                  <a:cubicBezTo>
                    <a:pt x="158470" y="242591"/>
                    <a:pt x="153358" y="260466"/>
                    <a:pt x="142496" y="266212"/>
                  </a:cubicBezTo>
                  <a:cubicBezTo>
                    <a:pt x="135466" y="268766"/>
                    <a:pt x="127799" y="270681"/>
                    <a:pt x="120131" y="270681"/>
                  </a:cubicBezTo>
                  <a:cubicBezTo>
                    <a:pt x="110546" y="270681"/>
                    <a:pt x="101600" y="273234"/>
                    <a:pt x="93293" y="276426"/>
                  </a:cubicBezTo>
                  <a:cubicBezTo>
                    <a:pt x="90098" y="278341"/>
                    <a:pt x="86264" y="277065"/>
                    <a:pt x="84347" y="273873"/>
                  </a:cubicBezTo>
                  <a:cubicBezTo>
                    <a:pt x="82430" y="270681"/>
                    <a:pt x="83708" y="266850"/>
                    <a:pt x="86903" y="264935"/>
                  </a:cubicBezTo>
                  <a:cubicBezTo>
                    <a:pt x="97127" y="260466"/>
                    <a:pt x="107990" y="257913"/>
                    <a:pt x="118853" y="257274"/>
                  </a:cubicBezTo>
                  <a:cubicBezTo>
                    <a:pt x="124604" y="257274"/>
                    <a:pt x="130354" y="255998"/>
                    <a:pt x="136106" y="254082"/>
                  </a:cubicBezTo>
                  <a:cubicBezTo>
                    <a:pt x="145051" y="249614"/>
                    <a:pt x="150802" y="223439"/>
                    <a:pt x="148246" y="218332"/>
                  </a:cubicBezTo>
                  <a:cubicBezTo>
                    <a:pt x="139301" y="203649"/>
                    <a:pt x="132911" y="187689"/>
                    <a:pt x="127799" y="171091"/>
                  </a:cubicBezTo>
                  <a:cubicBezTo>
                    <a:pt x="122686" y="154492"/>
                    <a:pt x="116936" y="123211"/>
                    <a:pt x="132911" y="102782"/>
                  </a:cubicBezTo>
                  <a:cubicBezTo>
                    <a:pt x="142496" y="90014"/>
                    <a:pt x="158470" y="83630"/>
                    <a:pt x="180196" y="83630"/>
                  </a:cubicBezTo>
                  <a:cubicBezTo>
                    <a:pt x="201922" y="83630"/>
                    <a:pt x="217897" y="90014"/>
                    <a:pt x="227482" y="102782"/>
                  </a:cubicBezTo>
                  <a:cubicBezTo>
                    <a:pt x="243456" y="123849"/>
                    <a:pt x="237067" y="154492"/>
                    <a:pt x="232593" y="171091"/>
                  </a:cubicBezTo>
                  <a:cubicBezTo>
                    <a:pt x="228120" y="187689"/>
                    <a:pt x="221092" y="203649"/>
                    <a:pt x="212146" y="218332"/>
                  </a:cubicBezTo>
                  <a:cubicBezTo>
                    <a:pt x="209590" y="223439"/>
                    <a:pt x="215341" y="248975"/>
                    <a:pt x="224287" y="254082"/>
                  </a:cubicBezTo>
                  <a:cubicBezTo>
                    <a:pt x="230038" y="255998"/>
                    <a:pt x="235788" y="257274"/>
                    <a:pt x="241540" y="257274"/>
                  </a:cubicBezTo>
                  <a:cubicBezTo>
                    <a:pt x="252403" y="257913"/>
                    <a:pt x="263265" y="260466"/>
                    <a:pt x="273489" y="264935"/>
                  </a:cubicBezTo>
                  <a:cubicBezTo>
                    <a:pt x="277323" y="267489"/>
                    <a:pt x="278601" y="271319"/>
                    <a:pt x="277323" y="274511"/>
                  </a:cubicBezTo>
                  <a:cubicBezTo>
                    <a:pt x="277323" y="274511"/>
                    <a:pt x="277323" y="274511"/>
                    <a:pt x="277323" y="274511"/>
                  </a:cubicBezTo>
                  <a:lnTo>
                    <a:pt x="277323" y="274511"/>
                  </a:ln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grpSp>
      <p:sp>
        <p:nvSpPr>
          <p:cNvPr id="7" name="正方形/長方形 6">
            <a:extLst>
              <a:ext uri="{FF2B5EF4-FFF2-40B4-BE49-F238E27FC236}">
                <a16:creationId xmlns:a16="http://schemas.microsoft.com/office/drawing/2014/main" id="{3C07A4BC-82BB-53A6-CB72-D3750D3EA3FF}"/>
              </a:ext>
            </a:extLst>
          </p:cNvPr>
          <p:cNvSpPr/>
          <p:nvPr/>
        </p:nvSpPr>
        <p:spPr bwMode="gray">
          <a:xfrm>
            <a:off x="417017" y="1717682"/>
            <a:ext cx="4023247" cy="438596"/>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トラストフレームワーク策定プロセス・運用プロセス</a:t>
            </a:r>
          </a:p>
        </p:txBody>
      </p:sp>
      <p:sp>
        <p:nvSpPr>
          <p:cNvPr id="8" name="吹き出し: 四角形 7">
            <a:extLst>
              <a:ext uri="{FF2B5EF4-FFF2-40B4-BE49-F238E27FC236}">
                <a16:creationId xmlns:a16="http://schemas.microsoft.com/office/drawing/2014/main" id="{4A0BC73B-F2A4-EBCF-7947-518922E147AA}"/>
              </a:ext>
            </a:extLst>
          </p:cNvPr>
          <p:cNvSpPr/>
          <p:nvPr/>
        </p:nvSpPr>
        <p:spPr>
          <a:xfrm>
            <a:off x="2266513" y="2213192"/>
            <a:ext cx="7366437" cy="4074397"/>
          </a:xfrm>
          <a:prstGeom prst="wedgeRectCallout">
            <a:avLst>
              <a:gd name="adj1" fmla="val -56887"/>
              <a:gd name="adj2" fmla="val -19857"/>
            </a:avLst>
          </a:prstGeom>
          <a:solidFill>
            <a:schemeClr val="accent5">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a:spcBef>
                <a:spcPts val="600"/>
              </a:spcBef>
            </a:pPr>
            <a:r>
              <a:rPr lang="en-US" altLang="ja-JP" sz="1400" dirty="0"/>
              <a:t>【</a:t>
            </a:r>
            <a:r>
              <a:rPr lang="ja-JP" altLang="en-US" sz="1400" dirty="0"/>
              <a:t>策定・運用におけるステークホルダの巻き込み</a:t>
            </a:r>
            <a:r>
              <a:rPr lang="en-US" altLang="ja-JP" sz="1400" dirty="0"/>
              <a:t>】</a:t>
            </a:r>
          </a:p>
          <a:p>
            <a:pPr marL="285750" indent="-285750">
              <a:spcBef>
                <a:spcPts val="600"/>
              </a:spcBef>
              <a:buFont typeface="Arial" panose="020B0604020202020204" pitchFamily="34" charset="0"/>
              <a:buChar char="•"/>
            </a:pPr>
            <a:r>
              <a:rPr lang="ja-JP" altLang="en-US" sz="1400" dirty="0"/>
              <a:t>基本的に政府で策定・運用を行っている</a:t>
            </a:r>
            <a:endParaRPr lang="en-US" altLang="ja-JP" sz="1400" dirty="0"/>
          </a:p>
          <a:p>
            <a:pPr>
              <a:spcBef>
                <a:spcPts val="600"/>
              </a:spcBef>
            </a:pPr>
            <a:r>
              <a:rPr lang="en-US" altLang="ja-JP" sz="1400" dirty="0"/>
              <a:t>【</a:t>
            </a:r>
            <a:r>
              <a:rPr lang="ja-JP" altLang="en-US" sz="1400" dirty="0"/>
              <a:t>運用のインセンティブ設計</a:t>
            </a:r>
            <a:r>
              <a:rPr lang="en-US" altLang="ja-JP" sz="1400" dirty="0"/>
              <a:t>】</a:t>
            </a:r>
          </a:p>
          <a:p>
            <a:pPr marL="342900" indent="-342900">
              <a:spcBef>
                <a:spcPts val="600"/>
              </a:spcBef>
              <a:buFont typeface="Arial" panose="020B0604020202020204" pitchFamily="34" charset="0"/>
              <a:buChar char="•"/>
            </a:pPr>
            <a:r>
              <a:rPr lang="ja-JP" altLang="en-US" sz="1400" dirty="0"/>
              <a:t>政府のインセンティブ</a:t>
            </a:r>
            <a:br>
              <a:rPr lang="en-US" altLang="ja-JP" sz="1400" dirty="0"/>
            </a:br>
            <a:r>
              <a:rPr lang="ja-JP" altLang="en-US" sz="1400" dirty="0"/>
              <a:t>オーストラリア連邦政府内の機関が一貫性の高い</a:t>
            </a:r>
            <a:r>
              <a:rPr lang="en-US" altLang="ja-JP" sz="1400" dirty="0"/>
              <a:t>ID</a:t>
            </a:r>
            <a:r>
              <a:rPr lang="ja-JP" altLang="en-US" sz="1400" dirty="0"/>
              <a:t>情報・属性情報を共有することが目的、その目的を達成するために政府自身のサービスが認定取得を行っている。下記サービスに</a:t>
            </a:r>
            <a:r>
              <a:rPr lang="en-US" altLang="ja-JP" sz="1400" dirty="0"/>
              <a:t>ID</a:t>
            </a:r>
            <a:r>
              <a:rPr lang="ja-JP" altLang="en-US" sz="1400" dirty="0"/>
              <a:t>が必要なため、ユーザー</a:t>
            </a:r>
            <a:r>
              <a:rPr lang="en-US" altLang="ja-JP" sz="1400" dirty="0"/>
              <a:t>(</a:t>
            </a:r>
            <a:r>
              <a:rPr lang="ja-JP" altLang="en-US" sz="1400" dirty="0"/>
              <a:t>法人・国民</a:t>
            </a:r>
            <a:r>
              <a:rPr lang="en-US" altLang="ja-JP" sz="1400" dirty="0"/>
              <a:t>)</a:t>
            </a:r>
            <a:r>
              <a:rPr lang="ja-JP" altLang="en-US" sz="1400" dirty="0"/>
              <a:t>の利用率が増加</a:t>
            </a:r>
            <a:r>
              <a:rPr lang="en-US" altLang="ja-JP" sz="1400" dirty="0"/>
              <a:t>(</a:t>
            </a:r>
            <a:r>
              <a:rPr lang="ja-JP" altLang="en-US" sz="1400" dirty="0"/>
              <a:t>特に</a:t>
            </a:r>
            <a:r>
              <a:rPr lang="en-US" altLang="ja-JP" sz="1400" dirty="0"/>
              <a:t>Covid-19</a:t>
            </a:r>
            <a:r>
              <a:rPr lang="ja-JP" altLang="en-US" sz="1400" dirty="0"/>
              <a:t>の給付金受取で急激に増加</a:t>
            </a:r>
            <a:r>
              <a:rPr lang="en-US" altLang="ja-JP" sz="1400" dirty="0"/>
              <a:t>)</a:t>
            </a:r>
          </a:p>
          <a:p>
            <a:pPr marL="800100" lvl="1" indent="-342900">
              <a:spcBef>
                <a:spcPts val="600"/>
              </a:spcBef>
              <a:buFont typeface="Arial" panose="020B0604020202020204" pitchFamily="34" charset="0"/>
              <a:buChar char="•"/>
            </a:pPr>
            <a:r>
              <a:rPr lang="en-US" altLang="ja-JP" sz="1400" dirty="0" err="1"/>
              <a:t>myGovID</a:t>
            </a:r>
            <a:r>
              <a:rPr lang="ja-JP" altLang="en-US" sz="1400" dirty="0"/>
              <a:t>*</a:t>
            </a:r>
            <a:r>
              <a:rPr lang="en-US" altLang="ja-JP" sz="1400" baseline="30000" dirty="0"/>
              <a:t>1</a:t>
            </a:r>
            <a:r>
              <a:rPr lang="ja-JP" altLang="en-US" sz="1400" dirty="0"/>
              <a:t>：納税申告・税金支払い・</a:t>
            </a:r>
            <a:r>
              <a:rPr lang="en-US" altLang="ja-JP" sz="1400" dirty="0"/>
              <a:t> Covid-19</a:t>
            </a:r>
            <a:r>
              <a:rPr lang="ja-JP" altLang="en-US" sz="1400" dirty="0"/>
              <a:t>の給付金受取等</a:t>
            </a:r>
            <a:r>
              <a:rPr lang="en-US" altLang="ja-JP" sz="1400" dirty="0"/>
              <a:t>(</a:t>
            </a:r>
            <a:r>
              <a:rPr lang="ja-JP" altLang="en-US" sz="1400" dirty="0"/>
              <a:t>オーストラリア税務局</a:t>
            </a:r>
            <a:r>
              <a:rPr lang="en-US" altLang="ja-JP" sz="1400" dirty="0"/>
              <a:t>)</a:t>
            </a:r>
          </a:p>
          <a:p>
            <a:pPr marL="800100" lvl="1" indent="-342900">
              <a:spcBef>
                <a:spcPts val="600"/>
              </a:spcBef>
              <a:buFont typeface="Arial" panose="020B0604020202020204" pitchFamily="34" charset="0"/>
              <a:buChar char="•"/>
            </a:pPr>
            <a:r>
              <a:rPr lang="en-US" altLang="ja-JP" sz="1400" dirty="0"/>
              <a:t>Services Australia</a:t>
            </a:r>
            <a:r>
              <a:rPr lang="ja-JP" altLang="en-US" sz="1400" dirty="0"/>
              <a:t>*</a:t>
            </a:r>
            <a:r>
              <a:rPr lang="en-US" altLang="ja-JP" sz="1400" baseline="30000" dirty="0"/>
              <a:t>2</a:t>
            </a:r>
            <a:r>
              <a:rPr lang="ja-JP" altLang="en-US" sz="1400" dirty="0"/>
              <a:t>：子育て・健康・福祉・教育等の支援・支払い等</a:t>
            </a:r>
            <a:r>
              <a:rPr lang="en-US" altLang="ja-JP" sz="1400" dirty="0"/>
              <a:t>(</a:t>
            </a:r>
            <a:r>
              <a:rPr lang="ja-JP" altLang="en-US" sz="1400" dirty="0"/>
              <a:t>社会福祉省</a:t>
            </a:r>
            <a:r>
              <a:rPr lang="en-US" altLang="ja-JP" sz="1400" dirty="0"/>
              <a:t>)</a:t>
            </a:r>
          </a:p>
          <a:p>
            <a:pPr marL="342900" indent="-342900">
              <a:spcBef>
                <a:spcPts val="600"/>
              </a:spcBef>
              <a:buFont typeface="Arial" panose="020B0604020202020204" pitchFamily="34" charset="0"/>
              <a:buChar char="•"/>
            </a:pPr>
            <a:r>
              <a:rPr lang="ja-JP" altLang="en-US" sz="1400" dirty="0"/>
              <a:t>民間事業者のインセンティブ</a:t>
            </a:r>
            <a:br>
              <a:rPr lang="en-US" altLang="ja-JP" sz="1400" dirty="0"/>
            </a:br>
            <a:r>
              <a:rPr lang="ja-JP" altLang="en-US" sz="1400" dirty="0"/>
              <a:t>認定制度を用いているが、</a:t>
            </a:r>
            <a:r>
              <a:rPr lang="en-US" altLang="ja-JP" sz="1400" dirty="0"/>
              <a:t>TDIF</a:t>
            </a:r>
            <a:r>
              <a:rPr lang="ja-JP" altLang="en-US" sz="1400" dirty="0"/>
              <a:t>の要件を満たすためのインセンティブ設計は特段検討されていない（</a:t>
            </a:r>
            <a:r>
              <a:rPr lang="en-US" altLang="ja-JP" sz="1400" dirty="0"/>
              <a:t>TDIF</a:t>
            </a:r>
            <a:r>
              <a:rPr lang="ja-JP" altLang="en-US" sz="1400" dirty="0"/>
              <a:t>認定を受けている</a:t>
            </a:r>
            <a:r>
              <a:rPr lang="en-US" altLang="ja-JP" sz="1400" dirty="0" err="1"/>
              <a:t>ConnectID</a:t>
            </a:r>
            <a:r>
              <a:rPr lang="ja-JP" altLang="en-US" sz="1400" dirty="0"/>
              <a:t>*</a:t>
            </a:r>
            <a:r>
              <a:rPr lang="en-US" altLang="ja-JP" sz="1400" baseline="30000" dirty="0"/>
              <a:t>3</a:t>
            </a:r>
            <a:r>
              <a:rPr lang="ja-JP" altLang="en-US" sz="1400" dirty="0"/>
              <a:t>サービスでは、</a:t>
            </a:r>
            <a:r>
              <a:rPr lang="en-US" altLang="ja-JP" sz="1400" dirty="0"/>
              <a:t>Identity Provider</a:t>
            </a:r>
            <a:r>
              <a:rPr lang="ja-JP" altLang="en-US" sz="1400" dirty="0"/>
              <a:t>が</a:t>
            </a:r>
            <a:r>
              <a:rPr lang="en-US" altLang="ja-JP" sz="1400" dirty="0"/>
              <a:t>ID</a:t>
            </a:r>
            <a:r>
              <a:rPr lang="ja-JP" altLang="en-US" sz="1400" dirty="0"/>
              <a:t>発行の金銭的なインセンティブを獲得することができる）</a:t>
            </a:r>
            <a:endParaRPr lang="en-US" altLang="ja-JP" sz="1400" dirty="0"/>
          </a:p>
          <a:p>
            <a:pPr>
              <a:spcBef>
                <a:spcPts val="600"/>
              </a:spcBef>
            </a:pPr>
            <a:r>
              <a:rPr lang="en-US" altLang="ja-JP" sz="1400" dirty="0"/>
              <a:t>【</a:t>
            </a:r>
            <a:r>
              <a:rPr lang="ja-JP" altLang="en-US" sz="1400" dirty="0"/>
              <a:t>社会実装における課題</a:t>
            </a:r>
            <a:r>
              <a:rPr lang="en-US" altLang="ja-JP" sz="1400" dirty="0"/>
              <a:t>】</a:t>
            </a:r>
          </a:p>
          <a:p>
            <a:pPr marL="285750" indent="-285750">
              <a:spcBef>
                <a:spcPts val="600"/>
              </a:spcBef>
              <a:buFont typeface="Arial" panose="020B0604020202020204" pitchFamily="34" charset="0"/>
              <a:buChar char="•"/>
            </a:pPr>
            <a:r>
              <a:rPr lang="ja-JP" altLang="en-US" sz="1400" dirty="0"/>
              <a:t>国民</a:t>
            </a:r>
            <a:r>
              <a:rPr lang="en-US" altLang="ja-JP" sz="1400" dirty="0"/>
              <a:t>ID</a:t>
            </a:r>
            <a:r>
              <a:rPr lang="ja-JP" altLang="en-US" sz="1400" dirty="0"/>
              <a:t>の普及は給付金支払いユースケース等で一定成功をおさめたが州</a:t>
            </a:r>
            <a:r>
              <a:rPr lang="en-US" altLang="ja-JP" sz="1400" dirty="0"/>
              <a:t>/</a:t>
            </a:r>
            <a:r>
              <a:rPr lang="ja-JP" altLang="en-US" sz="1400" dirty="0"/>
              <a:t>準州や民間セクターのインクルージョンとそれに向けたビジョンと資金計画が不明確であり課題となっている</a:t>
            </a:r>
          </a:p>
        </p:txBody>
      </p:sp>
      <p:sp>
        <p:nvSpPr>
          <p:cNvPr id="9" name="コンテンツ プレースホルダー 2">
            <a:extLst>
              <a:ext uri="{FF2B5EF4-FFF2-40B4-BE49-F238E27FC236}">
                <a16:creationId xmlns:a16="http://schemas.microsoft.com/office/drawing/2014/main" id="{78BBC145-E4D4-C406-19BC-F5B92ECE8EBA}"/>
              </a:ext>
            </a:extLst>
          </p:cNvPr>
          <p:cNvSpPr txBox="1">
            <a:spLocks/>
          </p:cNvSpPr>
          <p:nvPr/>
        </p:nvSpPr>
        <p:spPr>
          <a:xfrm>
            <a:off x="273050" y="913526"/>
            <a:ext cx="9359900"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r>
              <a:rPr lang="ja-JP" altLang="en-US" sz="1400" dirty="0"/>
              <a:t>国主導でトラストフレームワークの策定・運用を実施、行政サービスから認定を進めることで利用者</a:t>
            </a:r>
            <a:r>
              <a:rPr lang="en-US" altLang="ja-JP" sz="1400" dirty="0"/>
              <a:t>(</a:t>
            </a:r>
            <a:r>
              <a:rPr lang="ja-JP" altLang="en-US" sz="1400" dirty="0"/>
              <a:t>個人・法人</a:t>
            </a:r>
            <a:r>
              <a:rPr lang="en-US" altLang="ja-JP" sz="1400" dirty="0"/>
              <a:t>)</a:t>
            </a:r>
            <a:r>
              <a:rPr lang="ja-JP" altLang="en-US" sz="1400" dirty="0"/>
              <a:t>の利用が促進されている</a:t>
            </a:r>
            <a:endParaRPr lang="en-US" altLang="ja-JP" sz="1400" dirty="0"/>
          </a:p>
          <a:p>
            <a:pPr marL="268288" indent="-268288"/>
            <a:r>
              <a:rPr lang="ja-JP" altLang="en-US" sz="1400" dirty="0"/>
              <a:t>今後の課題として州政府や民間セクターのサービス普及を図ることが課題となっている</a:t>
            </a:r>
            <a:endParaRPr lang="en-US" altLang="ja-JP" dirty="0"/>
          </a:p>
        </p:txBody>
      </p:sp>
      <p:sp>
        <p:nvSpPr>
          <p:cNvPr id="10" name="テキスト ボックス 9">
            <a:extLst>
              <a:ext uri="{FF2B5EF4-FFF2-40B4-BE49-F238E27FC236}">
                <a16:creationId xmlns:a16="http://schemas.microsoft.com/office/drawing/2014/main" id="{31A453C5-906B-8543-437D-6F0CDDF40521}"/>
              </a:ext>
            </a:extLst>
          </p:cNvPr>
          <p:cNvSpPr txBox="1"/>
          <p:nvPr/>
        </p:nvSpPr>
        <p:spPr>
          <a:xfrm>
            <a:off x="555544" y="6217105"/>
            <a:ext cx="9069123" cy="415498"/>
          </a:xfrm>
          <a:prstGeom prst="rect">
            <a:avLst/>
          </a:prstGeom>
          <a:noFill/>
        </p:spPr>
        <p:txBody>
          <a:bodyPr wrap="square" lIns="0" tIns="0" rIns="0" bIns="0" rtlCol="0">
            <a:spAutoFit/>
          </a:bodyPr>
          <a:lstStyle/>
          <a:p>
            <a:pPr defTabSz="355600"/>
            <a:r>
              <a:rPr kumimoji="1" lang="en-US" altLang="ja-JP" sz="900" dirty="0">
                <a:latin typeface="+mn-ea"/>
                <a:ea typeface="+mn-ea"/>
                <a:hlinkClick r:id="rId2"/>
              </a:rPr>
              <a:t>https://www.mygovid.gov.au/</a:t>
            </a:r>
            <a:endParaRPr kumimoji="1" lang="en-US" altLang="ja-JP" sz="900" dirty="0">
              <a:latin typeface="+mn-ea"/>
              <a:ea typeface="+mn-ea"/>
            </a:endParaRPr>
          </a:p>
          <a:p>
            <a:pPr defTabSz="355600"/>
            <a:r>
              <a:rPr kumimoji="1" lang="en-US" altLang="ja-JP" sz="900" dirty="0">
                <a:latin typeface="+mn-ea"/>
                <a:ea typeface="+mn-ea"/>
                <a:hlinkClick r:id="rId3"/>
              </a:rPr>
              <a:t>https://my.gov.au/</a:t>
            </a:r>
            <a:endParaRPr kumimoji="1" lang="en-US" altLang="ja-JP" sz="900" dirty="0">
              <a:latin typeface="+mn-ea"/>
              <a:ea typeface="+mn-ea"/>
            </a:endParaRPr>
          </a:p>
          <a:p>
            <a:pPr defTabSz="355600"/>
            <a:r>
              <a:rPr kumimoji="1" lang="en-US" altLang="ja-JP" sz="900" dirty="0">
                <a:latin typeface="+mn-ea"/>
                <a:ea typeface="+mn-ea"/>
                <a:hlinkClick r:id="rId4"/>
              </a:rPr>
              <a:t>https://connectid.com.au/</a:t>
            </a:r>
            <a:endParaRPr kumimoji="1" lang="en-US" altLang="ja-JP" sz="900" dirty="0">
              <a:latin typeface="+mn-ea"/>
              <a:ea typeface="+mn-ea"/>
            </a:endParaRPr>
          </a:p>
        </p:txBody>
      </p:sp>
      <p:sp>
        <p:nvSpPr>
          <p:cNvPr id="12" name="テキスト ボックス 11">
            <a:extLst>
              <a:ext uri="{FF2B5EF4-FFF2-40B4-BE49-F238E27FC236}">
                <a16:creationId xmlns:a16="http://schemas.microsoft.com/office/drawing/2014/main" id="{CCE3CC47-6566-5105-B66B-D280BF411CD0}"/>
              </a:ext>
            </a:extLst>
          </p:cNvPr>
          <p:cNvSpPr txBox="1"/>
          <p:nvPr/>
        </p:nvSpPr>
        <p:spPr>
          <a:xfrm>
            <a:off x="162568" y="6188356"/>
            <a:ext cx="445037" cy="507831"/>
          </a:xfrm>
          <a:prstGeom prst="rect">
            <a:avLst/>
          </a:prstGeom>
          <a:noFill/>
        </p:spPr>
        <p:txBody>
          <a:bodyPr wrap="square">
            <a:spAutoFit/>
          </a:bodyPr>
          <a:lstStyle/>
          <a:p>
            <a:pPr algn="r"/>
            <a:r>
              <a:rPr lang="ja-JP" altLang="en-US" sz="900" dirty="0">
                <a:latin typeface="+mn-ea"/>
                <a:ea typeface="+mn-ea"/>
              </a:rPr>
              <a:t>*</a:t>
            </a:r>
            <a:r>
              <a:rPr lang="en-US" altLang="ja-JP" sz="900" dirty="0">
                <a:latin typeface="+mn-ea"/>
                <a:ea typeface="+mn-ea"/>
              </a:rPr>
              <a:t>1</a:t>
            </a:r>
          </a:p>
          <a:p>
            <a:pPr algn="r"/>
            <a:r>
              <a:rPr lang="ja-JP" altLang="en-US" sz="900" dirty="0">
                <a:latin typeface="+mn-ea"/>
                <a:ea typeface="+mn-ea"/>
              </a:rPr>
              <a:t>*</a:t>
            </a:r>
            <a:r>
              <a:rPr lang="en-US" altLang="ja-JP" sz="900" dirty="0">
                <a:latin typeface="+mn-ea"/>
                <a:ea typeface="+mn-ea"/>
              </a:rPr>
              <a:t>2</a:t>
            </a:r>
          </a:p>
          <a:p>
            <a:pPr algn="r"/>
            <a:r>
              <a:rPr lang="ja-JP" altLang="en-US" sz="900" dirty="0">
                <a:latin typeface="+mn-ea"/>
                <a:ea typeface="+mn-ea"/>
              </a:rPr>
              <a:t>*</a:t>
            </a:r>
            <a:r>
              <a:rPr lang="en-US" altLang="ja-JP" sz="900" dirty="0">
                <a:latin typeface="+mn-ea"/>
                <a:ea typeface="+mn-ea"/>
              </a:rPr>
              <a:t>3</a:t>
            </a:r>
          </a:p>
        </p:txBody>
      </p:sp>
    </p:spTree>
    <p:extLst>
      <p:ext uri="{BB962C8B-B14F-4D97-AF65-F5344CB8AC3E}">
        <p14:creationId xmlns:p14="http://schemas.microsoft.com/office/powerpoint/2010/main" val="3855907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E98A1C-ADC5-843E-1510-638B6CF3FBB7}"/>
              </a:ext>
            </a:extLst>
          </p:cNvPr>
          <p:cNvSpPr>
            <a:spLocks noGrp="1"/>
          </p:cNvSpPr>
          <p:nvPr>
            <p:ph type="title"/>
          </p:nvPr>
        </p:nvSpPr>
        <p:spPr>
          <a:xfrm>
            <a:off x="273050" y="384919"/>
            <a:ext cx="7848302" cy="307777"/>
          </a:xfrm>
        </p:spPr>
        <p:txBody>
          <a:bodyPr/>
          <a:lstStyle/>
          <a:p>
            <a:r>
              <a:rPr kumimoji="1" lang="en-US" altLang="ja-JP" dirty="0"/>
              <a:t>3.5. </a:t>
            </a:r>
            <a:r>
              <a:rPr kumimoji="1" lang="ja-JP" altLang="en-US" dirty="0"/>
              <a:t>カナダ：</a:t>
            </a:r>
            <a:r>
              <a:rPr kumimoji="1" lang="en-US" altLang="ja-JP" dirty="0"/>
              <a:t>PCTF – 3.5.1. </a:t>
            </a:r>
            <a:r>
              <a:rPr kumimoji="1" lang="ja-JP" altLang="en-US" dirty="0"/>
              <a:t>ガバナンス構造</a:t>
            </a:r>
          </a:p>
        </p:txBody>
      </p:sp>
      <p:sp>
        <p:nvSpPr>
          <p:cNvPr id="3" name="テキスト プレースホルダー 2">
            <a:extLst>
              <a:ext uri="{FF2B5EF4-FFF2-40B4-BE49-F238E27FC236}">
                <a16:creationId xmlns:a16="http://schemas.microsoft.com/office/drawing/2014/main" id="{3017E99C-2EC4-F77A-399E-6A85E9832E9C}"/>
              </a:ext>
            </a:extLst>
          </p:cNvPr>
          <p:cNvSpPr>
            <a:spLocks noGrp="1"/>
          </p:cNvSpPr>
          <p:nvPr>
            <p:ph type="body" sz="quarter" idx="10"/>
          </p:nvPr>
        </p:nvSpPr>
        <p:spPr>
          <a:xfrm>
            <a:off x="273050" y="188913"/>
            <a:ext cx="7848600" cy="161583"/>
          </a:xfrm>
        </p:spPr>
        <p:txBody>
          <a:bodyPr/>
          <a:lstStyle/>
          <a:p>
            <a:r>
              <a:rPr kumimoji="1" lang="en-US" altLang="ja-JP" dirty="0"/>
              <a:t>3. </a:t>
            </a:r>
            <a:r>
              <a:rPr kumimoji="1" lang="ja-JP" altLang="en-US" dirty="0"/>
              <a:t>調査結果</a:t>
            </a:r>
          </a:p>
        </p:txBody>
      </p:sp>
      <p:sp>
        <p:nvSpPr>
          <p:cNvPr id="9" name="正方形/長方形 8">
            <a:extLst>
              <a:ext uri="{FF2B5EF4-FFF2-40B4-BE49-F238E27FC236}">
                <a16:creationId xmlns:a16="http://schemas.microsoft.com/office/drawing/2014/main" id="{A68D0734-10DD-4B0E-EAA9-910405447D2D}"/>
              </a:ext>
            </a:extLst>
          </p:cNvPr>
          <p:cNvSpPr/>
          <p:nvPr/>
        </p:nvSpPr>
        <p:spPr>
          <a:xfrm>
            <a:off x="4975725" y="1876572"/>
            <a:ext cx="1291964" cy="3431454"/>
          </a:xfrm>
          <a:prstGeom prst="rect">
            <a:avLst/>
          </a:prstGeom>
          <a:solidFill>
            <a:schemeClr val="accent3">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0" name="正方形/長方形 9">
            <a:extLst>
              <a:ext uri="{FF2B5EF4-FFF2-40B4-BE49-F238E27FC236}">
                <a16:creationId xmlns:a16="http://schemas.microsoft.com/office/drawing/2014/main" id="{1AA27F42-7052-C4EE-62DA-211DC70D1166}"/>
              </a:ext>
            </a:extLst>
          </p:cNvPr>
          <p:cNvSpPr/>
          <p:nvPr/>
        </p:nvSpPr>
        <p:spPr>
          <a:xfrm>
            <a:off x="6308803" y="1876572"/>
            <a:ext cx="1291964" cy="3431454"/>
          </a:xfrm>
          <a:prstGeom prst="rect">
            <a:avLst/>
          </a:prstGeom>
          <a:solidFill>
            <a:srgbClr val="FF0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11" name="正方形/長方形 10">
            <a:extLst>
              <a:ext uri="{FF2B5EF4-FFF2-40B4-BE49-F238E27FC236}">
                <a16:creationId xmlns:a16="http://schemas.microsoft.com/office/drawing/2014/main" id="{76CDF05C-1ED3-C781-81D4-3FF48629E274}"/>
              </a:ext>
            </a:extLst>
          </p:cNvPr>
          <p:cNvSpPr/>
          <p:nvPr/>
        </p:nvSpPr>
        <p:spPr>
          <a:xfrm>
            <a:off x="3613484" y="1876572"/>
            <a:ext cx="1310185" cy="3431454"/>
          </a:xfrm>
          <a:prstGeom prst="rect">
            <a:avLst/>
          </a:prstGeom>
          <a:solidFill>
            <a:srgbClr val="FFC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latin typeface="+mn-ea"/>
            </a:endParaRPr>
          </a:p>
        </p:txBody>
      </p:sp>
      <p:sp>
        <p:nvSpPr>
          <p:cNvPr id="27" name="正方形/長方形 26">
            <a:extLst>
              <a:ext uri="{FF2B5EF4-FFF2-40B4-BE49-F238E27FC236}">
                <a16:creationId xmlns:a16="http://schemas.microsoft.com/office/drawing/2014/main" id="{C26269D4-BD2B-94B1-E8C5-8D283F29F5A1}"/>
              </a:ext>
            </a:extLst>
          </p:cNvPr>
          <p:cNvSpPr/>
          <p:nvPr/>
        </p:nvSpPr>
        <p:spPr>
          <a:xfrm>
            <a:off x="3929596" y="6155415"/>
            <a:ext cx="3515682" cy="225248"/>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エンドユーザ</a:t>
            </a:r>
          </a:p>
        </p:txBody>
      </p:sp>
      <p:sp>
        <p:nvSpPr>
          <p:cNvPr id="43" name="四角形: 角を丸くする 42">
            <a:extLst>
              <a:ext uri="{FF2B5EF4-FFF2-40B4-BE49-F238E27FC236}">
                <a16:creationId xmlns:a16="http://schemas.microsoft.com/office/drawing/2014/main" id="{E54634C5-0295-339D-1E2D-81FC0665FCDE}"/>
              </a:ext>
            </a:extLst>
          </p:cNvPr>
          <p:cNvSpPr/>
          <p:nvPr/>
        </p:nvSpPr>
        <p:spPr>
          <a:xfrm>
            <a:off x="3688431" y="4043970"/>
            <a:ext cx="2454878" cy="408001"/>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a:latin typeface="+mn-ea"/>
              </a:rPr>
              <a:t>PCTF</a:t>
            </a:r>
          </a:p>
          <a:p>
            <a:pPr algn="ctr"/>
            <a:endParaRPr lang="en-US" altLang="ja-JP" sz="1200" dirty="0">
              <a:latin typeface="+mn-ea"/>
            </a:endParaRPr>
          </a:p>
        </p:txBody>
      </p:sp>
      <p:cxnSp>
        <p:nvCxnSpPr>
          <p:cNvPr id="47" name="直線矢印コネクタ 46">
            <a:extLst>
              <a:ext uri="{FF2B5EF4-FFF2-40B4-BE49-F238E27FC236}">
                <a16:creationId xmlns:a16="http://schemas.microsoft.com/office/drawing/2014/main" id="{E4F12499-C5F7-EDBE-D3DC-E5CE3B86023A}"/>
              </a:ext>
            </a:extLst>
          </p:cNvPr>
          <p:cNvCxnSpPr>
            <a:cxnSpLocks/>
            <a:stCxn id="107" idx="2"/>
            <a:endCxn id="27" idx="0"/>
          </p:cNvCxnSpPr>
          <p:nvPr/>
        </p:nvCxnSpPr>
        <p:spPr>
          <a:xfrm>
            <a:off x="5687437" y="5804172"/>
            <a:ext cx="0" cy="35124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7" name="正方形/長方形 106">
            <a:extLst>
              <a:ext uri="{FF2B5EF4-FFF2-40B4-BE49-F238E27FC236}">
                <a16:creationId xmlns:a16="http://schemas.microsoft.com/office/drawing/2014/main" id="{54096026-E81F-1610-37A1-84DC652DECB3}"/>
              </a:ext>
            </a:extLst>
          </p:cNvPr>
          <p:cNvSpPr/>
          <p:nvPr/>
        </p:nvSpPr>
        <p:spPr>
          <a:xfrm>
            <a:off x="3929596" y="5535844"/>
            <a:ext cx="3515682" cy="268328"/>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latin typeface="+mn-ea"/>
              </a:rPr>
              <a:t>サービスプロバイダ</a:t>
            </a:r>
            <a:endParaRPr lang="en-US" altLang="ja-JP" sz="1200" dirty="0">
              <a:solidFill>
                <a:schemeClr val="bg1"/>
              </a:solidFill>
              <a:latin typeface="+mn-ea"/>
            </a:endParaRPr>
          </a:p>
        </p:txBody>
      </p:sp>
      <p:cxnSp>
        <p:nvCxnSpPr>
          <p:cNvPr id="108" name="直線矢印コネクタ 107">
            <a:extLst>
              <a:ext uri="{FF2B5EF4-FFF2-40B4-BE49-F238E27FC236}">
                <a16:creationId xmlns:a16="http://schemas.microsoft.com/office/drawing/2014/main" id="{3A2C64B3-E063-0CDB-C820-1E5362F22D53}"/>
              </a:ext>
            </a:extLst>
          </p:cNvPr>
          <p:cNvCxnSpPr>
            <a:cxnSpLocks/>
          </p:cNvCxnSpPr>
          <p:nvPr/>
        </p:nvCxnSpPr>
        <p:spPr>
          <a:xfrm>
            <a:off x="4288961" y="4451971"/>
            <a:ext cx="0" cy="1067803"/>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2" name="正方形/長方形 111">
            <a:extLst>
              <a:ext uri="{FF2B5EF4-FFF2-40B4-BE49-F238E27FC236}">
                <a16:creationId xmlns:a16="http://schemas.microsoft.com/office/drawing/2014/main" id="{35F7230A-B9EE-2C3B-66C1-A7D4067600DC}"/>
              </a:ext>
            </a:extLst>
          </p:cNvPr>
          <p:cNvSpPr/>
          <p:nvPr/>
        </p:nvSpPr>
        <p:spPr>
          <a:xfrm>
            <a:off x="8080069" y="3388948"/>
            <a:ext cx="1585650" cy="36680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DIACC</a:t>
            </a:r>
            <a:endParaRPr lang="ja-JP" altLang="en-US" sz="1200" dirty="0">
              <a:solidFill>
                <a:schemeClr val="bg1"/>
              </a:solidFill>
              <a:latin typeface="+mn-ea"/>
            </a:endParaRPr>
          </a:p>
        </p:txBody>
      </p:sp>
      <p:cxnSp>
        <p:nvCxnSpPr>
          <p:cNvPr id="114" name="コネクタ: カギ線 113">
            <a:extLst>
              <a:ext uri="{FF2B5EF4-FFF2-40B4-BE49-F238E27FC236}">
                <a16:creationId xmlns:a16="http://schemas.microsoft.com/office/drawing/2014/main" id="{EA38F0DB-C3A7-0AD8-569E-D28A64A3D402}"/>
              </a:ext>
            </a:extLst>
          </p:cNvPr>
          <p:cNvCxnSpPr>
            <a:cxnSpLocks/>
          </p:cNvCxnSpPr>
          <p:nvPr/>
        </p:nvCxnSpPr>
        <p:spPr>
          <a:xfrm rot="10800000" flipV="1">
            <a:off x="6143308" y="3526835"/>
            <a:ext cx="1936768" cy="627154"/>
          </a:xfrm>
          <a:prstGeom prst="bentConnector3">
            <a:avLst>
              <a:gd name="adj1" fmla="val 54496"/>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30" name="正方形/長方形 129">
            <a:extLst>
              <a:ext uri="{FF2B5EF4-FFF2-40B4-BE49-F238E27FC236}">
                <a16:creationId xmlns:a16="http://schemas.microsoft.com/office/drawing/2014/main" id="{E2BC15AA-A8B5-32F2-BEBF-BCE1491A067D}"/>
              </a:ext>
            </a:extLst>
          </p:cNvPr>
          <p:cNvSpPr/>
          <p:nvPr/>
        </p:nvSpPr>
        <p:spPr>
          <a:xfrm>
            <a:off x="8080069" y="4619615"/>
            <a:ext cx="1585650" cy="36680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DIACC Auditors</a:t>
            </a:r>
            <a:endParaRPr lang="ja-JP" altLang="en-US" sz="1200" dirty="0">
              <a:solidFill>
                <a:schemeClr val="bg1"/>
              </a:solidFill>
              <a:latin typeface="+mn-ea"/>
            </a:endParaRPr>
          </a:p>
        </p:txBody>
      </p:sp>
      <p:cxnSp>
        <p:nvCxnSpPr>
          <p:cNvPr id="165" name="コネクタ: カギ線 164">
            <a:extLst>
              <a:ext uri="{FF2B5EF4-FFF2-40B4-BE49-F238E27FC236}">
                <a16:creationId xmlns:a16="http://schemas.microsoft.com/office/drawing/2014/main" id="{944E324A-60AD-0504-B8ED-64CCB33DFA42}"/>
              </a:ext>
            </a:extLst>
          </p:cNvPr>
          <p:cNvCxnSpPr>
            <a:cxnSpLocks/>
            <a:stCxn id="112" idx="1"/>
          </p:cNvCxnSpPr>
          <p:nvPr/>
        </p:nvCxnSpPr>
        <p:spPr>
          <a:xfrm rot="10800000" flipV="1">
            <a:off x="6143309" y="3572348"/>
            <a:ext cx="1936760" cy="751675"/>
          </a:xfrm>
          <a:prstGeom prst="bentConnector3">
            <a:avLst>
              <a:gd name="adj1" fmla="val 5000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75" name="コネクタ: カギ線 174">
            <a:extLst>
              <a:ext uri="{FF2B5EF4-FFF2-40B4-BE49-F238E27FC236}">
                <a16:creationId xmlns:a16="http://schemas.microsoft.com/office/drawing/2014/main" id="{C3941E00-6F7B-B63A-BF4D-D69849B42079}"/>
              </a:ext>
            </a:extLst>
          </p:cNvPr>
          <p:cNvCxnSpPr>
            <a:cxnSpLocks/>
            <a:stCxn id="130" idx="1"/>
            <a:endCxn id="107" idx="3"/>
          </p:cNvCxnSpPr>
          <p:nvPr/>
        </p:nvCxnSpPr>
        <p:spPr>
          <a:xfrm rot="10800000" flipV="1">
            <a:off x="7445279" y="4803016"/>
            <a:ext cx="634791" cy="866992"/>
          </a:xfrm>
          <a:prstGeom prst="bentConnector3">
            <a:avLst>
              <a:gd name="adj1" fmla="val 5000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84" name="正方形/長方形 183">
            <a:extLst>
              <a:ext uri="{FF2B5EF4-FFF2-40B4-BE49-F238E27FC236}">
                <a16:creationId xmlns:a16="http://schemas.microsoft.com/office/drawing/2014/main" id="{746705E2-98FA-5381-D426-10C9D655DEF9}"/>
              </a:ext>
            </a:extLst>
          </p:cNvPr>
          <p:cNvSpPr/>
          <p:nvPr/>
        </p:nvSpPr>
        <p:spPr>
          <a:xfrm>
            <a:off x="8080069" y="5989152"/>
            <a:ext cx="1585650" cy="457953"/>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latin typeface="+mn-ea"/>
              </a:rPr>
              <a:t>Recognized Readiness </a:t>
            </a:r>
          </a:p>
          <a:p>
            <a:pPr algn="ctr"/>
            <a:r>
              <a:rPr lang="en-US" altLang="ja-JP" sz="1200" dirty="0">
                <a:solidFill>
                  <a:schemeClr val="bg1"/>
                </a:solidFill>
                <a:latin typeface="+mn-ea"/>
              </a:rPr>
              <a:t>Advisors</a:t>
            </a:r>
            <a:endParaRPr lang="ja-JP" altLang="en-US" sz="1200" dirty="0">
              <a:solidFill>
                <a:schemeClr val="bg1"/>
              </a:solidFill>
              <a:latin typeface="+mn-ea"/>
            </a:endParaRPr>
          </a:p>
        </p:txBody>
      </p:sp>
      <p:sp>
        <p:nvSpPr>
          <p:cNvPr id="205" name="テキスト ボックス 204">
            <a:extLst>
              <a:ext uri="{FF2B5EF4-FFF2-40B4-BE49-F238E27FC236}">
                <a16:creationId xmlns:a16="http://schemas.microsoft.com/office/drawing/2014/main" id="{75C2AB2F-3039-5EFB-5CA0-27B46BD5CF1C}"/>
              </a:ext>
            </a:extLst>
          </p:cNvPr>
          <p:cNvSpPr txBox="1"/>
          <p:nvPr/>
        </p:nvSpPr>
        <p:spPr>
          <a:xfrm>
            <a:off x="6736241" y="4784214"/>
            <a:ext cx="710382" cy="184666"/>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監査</a:t>
            </a:r>
          </a:p>
        </p:txBody>
      </p:sp>
      <p:sp>
        <p:nvSpPr>
          <p:cNvPr id="206" name="テキスト ボックス 205">
            <a:extLst>
              <a:ext uri="{FF2B5EF4-FFF2-40B4-BE49-F238E27FC236}">
                <a16:creationId xmlns:a16="http://schemas.microsoft.com/office/drawing/2014/main" id="{1422B8B8-81F8-D0B0-E5F7-D07C4D680776}"/>
              </a:ext>
            </a:extLst>
          </p:cNvPr>
          <p:cNvSpPr txBox="1"/>
          <p:nvPr/>
        </p:nvSpPr>
        <p:spPr>
          <a:xfrm>
            <a:off x="7219451" y="5097648"/>
            <a:ext cx="710382" cy="184666"/>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認定</a:t>
            </a:r>
          </a:p>
        </p:txBody>
      </p:sp>
      <p:sp>
        <p:nvSpPr>
          <p:cNvPr id="212" name="テキスト ボックス 211">
            <a:extLst>
              <a:ext uri="{FF2B5EF4-FFF2-40B4-BE49-F238E27FC236}">
                <a16:creationId xmlns:a16="http://schemas.microsoft.com/office/drawing/2014/main" id="{4EE88520-F857-45A5-2266-FA23E4576DBF}"/>
              </a:ext>
            </a:extLst>
          </p:cNvPr>
          <p:cNvSpPr txBox="1"/>
          <p:nvPr/>
        </p:nvSpPr>
        <p:spPr>
          <a:xfrm>
            <a:off x="3921379" y="4808900"/>
            <a:ext cx="710382" cy="184666"/>
          </a:xfrm>
          <a:prstGeom prst="rect">
            <a:avLst/>
          </a:prstGeom>
          <a:solidFill>
            <a:srgbClr val="FFF6D9"/>
          </a:solidFill>
        </p:spPr>
        <p:txBody>
          <a:bodyPr wrap="square" lIns="0" tIns="0" rIns="0" bIns="0">
            <a:spAutoFit/>
          </a:bodyPr>
          <a:lstStyle/>
          <a:p>
            <a:pPr algn="ctr"/>
            <a:r>
              <a:rPr lang="ja-JP" altLang="en-US" sz="1200" dirty="0">
                <a:latin typeface="+mn-ea"/>
                <a:ea typeface="+mn-ea"/>
              </a:rPr>
              <a:t>準拠</a:t>
            </a:r>
          </a:p>
        </p:txBody>
      </p:sp>
      <p:grpSp>
        <p:nvGrpSpPr>
          <p:cNvPr id="20" name="グループ化 19">
            <a:extLst>
              <a:ext uri="{FF2B5EF4-FFF2-40B4-BE49-F238E27FC236}">
                <a16:creationId xmlns:a16="http://schemas.microsoft.com/office/drawing/2014/main" id="{165D9FCF-9F7B-4DCF-D023-0783E55B3B3A}"/>
              </a:ext>
            </a:extLst>
          </p:cNvPr>
          <p:cNvGrpSpPr/>
          <p:nvPr/>
        </p:nvGrpSpPr>
        <p:grpSpPr>
          <a:xfrm>
            <a:off x="3631706" y="1671465"/>
            <a:ext cx="3950840" cy="184666"/>
            <a:chOff x="2955712" y="818485"/>
            <a:chExt cx="4387516" cy="184666"/>
          </a:xfrm>
        </p:grpSpPr>
        <p:cxnSp>
          <p:nvCxnSpPr>
            <p:cNvPr id="21" name="直線コネクタ 20">
              <a:extLst>
                <a:ext uri="{FF2B5EF4-FFF2-40B4-BE49-F238E27FC236}">
                  <a16:creationId xmlns:a16="http://schemas.microsoft.com/office/drawing/2014/main" id="{441D4B16-818A-BD17-54AD-759DE74A4080}"/>
                </a:ext>
              </a:extLst>
            </p:cNvPr>
            <p:cNvCxnSpPr/>
            <p:nvPr/>
          </p:nvCxnSpPr>
          <p:spPr>
            <a:xfrm>
              <a:off x="2955712" y="908050"/>
              <a:ext cx="438751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C7ABD04C-91B8-3C0C-1AD1-D6BE4B89FF4A}"/>
                </a:ext>
              </a:extLst>
            </p:cNvPr>
            <p:cNvSpPr txBox="1"/>
            <p:nvPr/>
          </p:nvSpPr>
          <p:spPr>
            <a:xfrm>
              <a:off x="4647955" y="818485"/>
              <a:ext cx="1003029" cy="184666"/>
            </a:xfrm>
            <a:prstGeom prst="rect">
              <a:avLst/>
            </a:prstGeom>
            <a:solidFill>
              <a:schemeClr val="bg1"/>
            </a:solidFill>
          </p:spPr>
          <p:txBody>
            <a:bodyPr wrap="square" lIns="0" tIns="0" rIns="0" bIns="0" rtlCol="0">
              <a:spAutoFit/>
            </a:bodyPr>
            <a:lstStyle/>
            <a:p>
              <a:pPr algn="ctr"/>
              <a:r>
                <a:rPr lang="ja-JP" altLang="en-US" sz="1200" dirty="0">
                  <a:latin typeface="+mn-ea"/>
                  <a:ea typeface="+mn-ea"/>
                </a:rPr>
                <a:t>領域</a:t>
              </a:r>
              <a:endParaRPr kumimoji="1" lang="ja-JP" altLang="en-US" sz="1200" dirty="0">
                <a:latin typeface="+mn-ea"/>
                <a:ea typeface="+mn-ea"/>
              </a:endParaRPr>
            </a:p>
          </p:txBody>
        </p:sp>
      </p:grpSp>
      <p:sp>
        <p:nvSpPr>
          <p:cNvPr id="15" name="テキスト ボックス 14">
            <a:extLst>
              <a:ext uri="{FF2B5EF4-FFF2-40B4-BE49-F238E27FC236}">
                <a16:creationId xmlns:a16="http://schemas.microsoft.com/office/drawing/2014/main" id="{D9200D43-E66F-0683-B9FC-2DB5285D8E6A}"/>
              </a:ext>
            </a:extLst>
          </p:cNvPr>
          <p:cNvSpPr txBox="1"/>
          <p:nvPr/>
        </p:nvSpPr>
        <p:spPr>
          <a:xfrm>
            <a:off x="7331812" y="3345466"/>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sp>
        <p:nvSpPr>
          <p:cNvPr id="24" name="四角形: 角を丸くする 23">
            <a:extLst>
              <a:ext uri="{FF2B5EF4-FFF2-40B4-BE49-F238E27FC236}">
                <a16:creationId xmlns:a16="http://schemas.microsoft.com/office/drawing/2014/main" id="{ADD4D678-7C0E-5C58-EE4A-F73314363AF3}"/>
              </a:ext>
            </a:extLst>
          </p:cNvPr>
          <p:cNvSpPr/>
          <p:nvPr/>
        </p:nvSpPr>
        <p:spPr>
          <a:xfrm>
            <a:off x="4962777" y="4235772"/>
            <a:ext cx="1180532" cy="184845"/>
          </a:xfrm>
          <a:prstGeom prst="roundRect">
            <a:avLst/>
          </a:prstGeom>
          <a:solidFill>
            <a:schemeClr val="bg1">
              <a:lumMod val="7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latin typeface="+mn-ea"/>
              </a:rPr>
              <a:t>Trusted List</a:t>
            </a:r>
            <a:endParaRPr lang="ja-JP" altLang="en-US" sz="1200" dirty="0">
              <a:latin typeface="+mn-ea"/>
            </a:endParaRPr>
          </a:p>
        </p:txBody>
      </p:sp>
      <p:cxnSp>
        <p:nvCxnSpPr>
          <p:cNvPr id="25" name="直線矢印コネクタ 24">
            <a:extLst>
              <a:ext uri="{FF2B5EF4-FFF2-40B4-BE49-F238E27FC236}">
                <a16:creationId xmlns:a16="http://schemas.microsoft.com/office/drawing/2014/main" id="{5E1201B4-B3BB-E6F4-370E-2BA8F24EBED3}"/>
              </a:ext>
            </a:extLst>
          </p:cNvPr>
          <p:cNvCxnSpPr>
            <a:cxnSpLocks/>
          </p:cNvCxnSpPr>
          <p:nvPr/>
        </p:nvCxnSpPr>
        <p:spPr>
          <a:xfrm flipV="1">
            <a:off x="5560351" y="4406442"/>
            <a:ext cx="0" cy="112940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コネクタ: カギ線 32">
            <a:extLst>
              <a:ext uri="{FF2B5EF4-FFF2-40B4-BE49-F238E27FC236}">
                <a16:creationId xmlns:a16="http://schemas.microsoft.com/office/drawing/2014/main" id="{7606B01D-3910-AE85-BA7F-7C488BA2534D}"/>
              </a:ext>
            </a:extLst>
          </p:cNvPr>
          <p:cNvCxnSpPr>
            <a:cxnSpLocks/>
            <a:stCxn id="112" idx="1"/>
          </p:cNvCxnSpPr>
          <p:nvPr/>
        </p:nvCxnSpPr>
        <p:spPr>
          <a:xfrm rot="10800000" flipV="1">
            <a:off x="7331813" y="3572348"/>
            <a:ext cx="748257" cy="2003897"/>
          </a:xfrm>
          <a:prstGeom prst="bentConnector2">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1A066700-E1DD-15D9-35B2-A63A132FEC97}"/>
              </a:ext>
            </a:extLst>
          </p:cNvPr>
          <p:cNvSpPr txBox="1"/>
          <p:nvPr/>
        </p:nvSpPr>
        <p:spPr>
          <a:xfrm>
            <a:off x="6326318" y="4431369"/>
            <a:ext cx="710382" cy="184666"/>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監査</a:t>
            </a:r>
          </a:p>
        </p:txBody>
      </p:sp>
      <p:sp>
        <p:nvSpPr>
          <p:cNvPr id="38" name="正方形/長方形 37">
            <a:extLst>
              <a:ext uri="{FF2B5EF4-FFF2-40B4-BE49-F238E27FC236}">
                <a16:creationId xmlns:a16="http://schemas.microsoft.com/office/drawing/2014/main" id="{F1C8656A-8A20-DEEF-E606-DD3DB9BAF98B}"/>
              </a:ext>
            </a:extLst>
          </p:cNvPr>
          <p:cNvSpPr/>
          <p:nvPr/>
        </p:nvSpPr>
        <p:spPr>
          <a:xfrm>
            <a:off x="3899590" y="2326720"/>
            <a:ext cx="3368843" cy="728580"/>
          </a:xfrm>
          <a:prstGeom prst="rect">
            <a:avLst/>
          </a:prstGeom>
          <a:solidFill>
            <a:schemeClr val="bg1">
              <a:lumMod val="95000"/>
            </a:schemeClr>
          </a:solidFill>
          <a:ln w="12700">
            <a:solidFill>
              <a:schemeClr val="tx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dirty="0">
                <a:latin typeface="+mn-ea"/>
              </a:rPr>
              <a:t>ー</a:t>
            </a:r>
          </a:p>
        </p:txBody>
      </p:sp>
      <p:sp>
        <p:nvSpPr>
          <p:cNvPr id="7" name="テキスト ボックス 6">
            <a:extLst>
              <a:ext uri="{FF2B5EF4-FFF2-40B4-BE49-F238E27FC236}">
                <a16:creationId xmlns:a16="http://schemas.microsoft.com/office/drawing/2014/main" id="{5706D680-8E52-1903-3458-549598A410FE}"/>
              </a:ext>
            </a:extLst>
          </p:cNvPr>
          <p:cNvSpPr txBox="1"/>
          <p:nvPr/>
        </p:nvSpPr>
        <p:spPr>
          <a:xfrm>
            <a:off x="3964273" y="1973112"/>
            <a:ext cx="615553" cy="184666"/>
          </a:xfrm>
          <a:prstGeom prst="rect">
            <a:avLst/>
          </a:prstGeom>
          <a:noFill/>
        </p:spPr>
        <p:txBody>
          <a:bodyPr wrap="none" lIns="0" tIns="0" rIns="0" bIns="0" rtlCol="0">
            <a:spAutoFit/>
          </a:bodyPr>
          <a:lstStyle/>
          <a:p>
            <a:pPr algn="ctr"/>
            <a:r>
              <a:rPr kumimoji="1" lang="ja-JP" altLang="en-US" sz="1200" b="1" u="sng" dirty="0">
                <a:latin typeface="+mn-ea"/>
                <a:ea typeface="+mn-ea"/>
              </a:rPr>
              <a:t>一般要件</a:t>
            </a:r>
            <a:endParaRPr lang="en-US" altLang="ja-JP" sz="1200" b="1" u="sng" dirty="0">
              <a:latin typeface="+mn-ea"/>
              <a:ea typeface="+mn-ea"/>
            </a:endParaRPr>
          </a:p>
        </p:txBody>
      </p:sp>
      <p:sp>
        <p:nvSpPr>
          <p:cNvPr id="8" name="テキスト ボックス 7">
            <a:extLst>
              <a:ext uri="{FF2B5EF4-FFF2-40B4-BE49-F238E27FC236}">
                <a16:creationId xmlns:a16="http://schemas.microsoft.com/office/drawing/2014/main" id="{671CADBB-2F54-5DB1-1A0D-F26FF1F6CFAC}"/>
              </a:ext>
            </a:extLst>
          </p:cNvPr>
          <p:cNvSpPr txBox="1"/>
          <p:nvPr/>
        </p:nvSpPr>
        <p:spPr>
          <a:xfrm>
            <a:off x="5150999" y="1970604"/>
            <a:ext cx="993862" cy="184666"/>
          </a:xfrm>
          <a:prstGeom prst="rect">
            <a:avLst/>
          </a:prstGeom>
          <a:noFill/>
        </p:spPr>
        <p:txBody>
          <a:bodyPr wrap="none" lIns="0" tIns="0" rIns="0" bIns="0" rtlCol="0">
            <a:spAutoFit/>
          </a:bodyPr>
          <a:lstStyle/>
          <a:p>
            <a:pPr algn="ctr"/>
            <a:r>
              <a:rPr lang="ja-JP" altLang="en-US" sz="1200" b="1" u="sng" dirty="0">
                <a:latin typeface="+mn-ea"/>
                <a:ea typeface="+mn-ea"/>
              </a:rPr>
              <a:t>ガバナンス・認定</a:t>
            </a:r>
            <a:endParaRPr kumimoji="1" lang="en-US" altLang="ja-JP" sz="1200" b="1" u="sng" dirty="0">
              <a:latin typeface="+mn-ea"/>
              <a:ea typeface="+mn-ea"/>
            </a:endParaRPr>
          </a:p>
        </p:txBody>
      </p:sp>
      <p:sp>
        <p:nvSpPr>
          <p:cNvPr id="12" name="テキスト ボックス 11">
            <a:extLst>
              <a:ext uri="{FF2B5EF4-FFF2-40B4-BE49-F238E27FC236}">
                <a16:creationId xmlns:a16="http://schemas.microsoft.com/office/drawing/2014/main" id="{249BDC4E-BF89-6941-E91E-A7BE95B1DA01}"/>
              </a:ext>
            </a:extLst>
          </p:cNvPr>
          <p:cNvSpPr txBox="1"/>
          <p:nvPr/>
        </p:nvSpPr>
        <p:spPr>
          <a:xfrm>
            <a:off x="6484986" y="1888207"/>
            <a:ext cx="905510" cy="369332"/>
          </a:xfrm>
          <a:prstGeom prst="rect">
            <a:avLst/>
          </a:prstGeom>
          <a:noFill/>
        </p:spPr>
        <p:txBody>
          <a:bodyPr wrap="square" lIns="0" tIns="0" rIns="0" bIns="0" rtlCol="0">
            <a:spAutoFit/>
          </a:bodyPr>
          <a:lstStyle/>
          <a:p>
            <a:pPr algn="ctr"/>
            <a:r>
              <a:rPr kumimoji="1" lang="ja-JP" altLang="en-US" sz="1200" b="1" u="sng" dirty="0">
                <a:latin typeface="+mn-ea"/>
                <a:ea typeface="+mn-ea"/>
              </a:rPr>
              <a:t>技術規格・</a:t>
            </a:r>
            <a:endParaRPr kumimoji="1" lang="en-US" altLang="ja-JP" sz="1200" b="1" u="sng" dirty="0">
              <a:latin typeface="+mn-ea"/>
              <a:ea typeface="+mn-ea"/>
            </a:endParaRPr>
          </a:p>
          <a:p>
            <a:pPr algn="ctr"/>
            <a:r>
              <a:rPr kumimoji="1" lang="ja-JP" altLang="en-US" sz="1200" b="1" u="sng" dirty="0">
                <a:latin typeface="+mn-ea"/>
                <a:ea typeface="+mn-ea"/>
              </a:rPr>
              <a:t>アーキテクチャ</a:t>
            </a:r>
          </a:p>
        </p:txBody>
      </p:sp>
      <p:sp>
        <p:nvSpPr>
          <p:cNvPr id="13" name="正方形/長方形 12">
            <a:extLst>
              <a:ext uri="{FF2B5EF4-FFF2-40B4-BE49-F238E27FC236}">
                <a16:creationId xmlns:a16="http://schemas.microsoft.com/office/drawing/2014/main" id="{DA8FA652-D034-0F78-584D-06193601FC97}"/>
              </a:ext>
            </a:extLst>
          </p:cNvPr>
          <p:cNvSpPr/>
          <p:nvPr/>
        </p:nvSpPr>
        <p:spPr>
          <a:xfrm>
            <a:off x="273049" y="3437559"/>
            <a:ext cx="3131499" cy="1642917"/>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r>
              <a:rPr kumimoji="1" lang="ja-JP" altLang="en-US" sz="1200" dirty="0"/>
              <a:t>官民連合の</a:t>
            </a:r>
            <a:r>
              <a:rPr kumimoji="1" lang="en-US" altLang="ja-JP" sz="1200" dirty="0"/>
              <a:t>DIACC</a:t>
            </a:r>
            <a:r>
              <a:rPr lang="ja-JP" altLang="en-US" sz="1200" dirty="0"/>
              <a:t>がトラストフレームワークを策定</a:t>
            </a:r>
            <a:r>
              <a:rPr lang="en-US" altLang="ja-JP" sz="1200" dirty="0"/>
              <a:t>(OCTF)</a:t>
            </a:r>
            <a:r>
              <a:rPr lang="ja-JP" altLang="en-US" sz="1200" dirty="0"/>
              <a:t>して、認定プログラムを運営</a:t>
            </a:r>
            <a:endParaRPr lang="en-US" altLang="ja-JP" sz="1200" dirty="0"/>
          </a:p>
          <a:p>
            <a:pPr marL="171450" indent="-171450">
              <a:buFont typeface="Arial" panose="020B0604020202020204" pitchFamily="34" charset="0"/>
              <a:buChar char="•"/>
            </a:pPr>
            <a:r>
              <a:rPr lang="en-US" altLang="ja-JP" sz="1200" dirty="0"/>
              <a:t>DIACC</a:t>
            </a:r>
            <a:r>
              <a:rPr lang="ja-JP" altLang="en-US" sz="1200" dirty="0"/>
              <a:t>が監査人を認定し</a:t>
            </a:r>
            <a:r>
              <a:rPr lang="en-US" altLang="ja-JP" sz="1200" dirty="0"/>
              <a:t>(</a:t>
            </a:r>
            <a:r>
              <a:rPr lang="ja-JP" altLang="en-US" sz="1200" dirty="0"/>
              <a:t>現在</a:t>
            </a:r>
            <a:r>
              <a:rPr lang="en-US" altLang="ja-JP" sz="1200" dirty="0"/>
              <a:t>1</a:t>
            </a:r>
            <a:r>
              <a:rPr lang="ja-JP" altLang="en-US" sz="1200" dirty="0"/>
              <a:t>団体</a:t>
            </a:r>
            <a:r>
              <a:rPr lang="en-US" altLang="ja-JP" sz="1200" dirty="0"/>
              <a:t>)</a:t>
            </a:r>
            <a:r>
              <a:rPr lang="ja-JP" altLang="en-US" sz="1200" dirty="0"/>
              <a:t>、その団体が事業者がトラストフレームワークに準拠しているかの認定を行う</a:t>
            </a:r>
            <a:endParaRPr lang="en-US" altLang="ja-JP" sz="1200" dirty="0"/>
          </a:p>
          <a:p>
            <a:pPr marL="171450" indent="-171450">
              <a:buFont typeface="Arial" panose="020B0604020202020204" pitchFamily="34" charset="0"/>
              <a:buChar char="•"/>
            </a:pPr>
            <a:endParaRPr lang="en-US" altLang="ja-JP" sz="1200" dirty="0"/>
          </a:p>
        </p:txBody>
      </p:sp>
      <p:sp>
        <p:nvSpPr>
          <p:cNvPr id="14" name="正方形/長方形 13">
            <a:extLst>
              <a:ext uri="{FF2B5EF4-FFF2-40B4-BE49-F238E27FC236}">
                <a16:creationId xmlns:a16="http://schemas.microsoft.com/office/drawing/2014/main" id="{91799F41-411E-51AD-1005-C18ACAFB1D77}"/>
              </a:ext>
            </a:extLst>
          </p:cNvPr>
          <p:cNvSpPr/>
          <p:nvPr/>
        </p:nvSpPr>
        <p:spPr>
          <a:xfrm>
            <a:off x="273049" y="5426610"/>
            <a:ext cx="3131499" cy="954054"/>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r>
              <a:rPr lang="ja-JP" altLang="en-US" sz="1200" dirty="0"/>
              <a:t>現在</a:t>
            </a:r>
            <a:r>
              <a:rPr lang="en-US" altLang="ja-JP" sz="1200" dirty="0"/>
              <a:t>1</a:t>
            </a:r>
            <a:r>
              <a:rPr lang="ja-JP" altLang="en-US" sz="1200" dirty="0"/>
              <a:t>社が認定を受けている</a:t>
            </a:r>
            <a:endParaRPr lang="en-US" altLang="ja-JP" sz="1200" dirty="0"/>
          </a:p>
          <a:p>
            <a:pPr marL="171450" indent="-171450">
              <a:buFont typeface="Arial" panose="020B0604020202020204" pitchFamily="34" charset="0"/>
              <a:buChar char="•"/>
            </a:pPr>
            <a:r>
              <a:rPr lang="ja-JP" altLang="en-US" sz="1200" dirty="0"/>
              <a:t>事業者は</a:t>
            </a:r>
            <a:r>
              <a:rPr lang="en-US" altLang="ja-JP" sz="1200" dirty="0"/>
              <a:t>Recognized Readiness Advisors</a:t>
            </a:r>
            <a:r>
              <a:rPr lang="ja-JP" altLang="en-US" sz="1200" dirty="0"/>
              <a:t>から認定支援を受けることができる</a:t>
            </a:r>
            <a:endParaRPr lang="en-US" altLang="ja-JP" sz="1200" dirty="0"/>
          </a:p>
        </p:txBody>
      </p:sp>
      <p:sp>
        <p:nvSpPr>
          <p:cNvPr id="16" name="正方形/長方形 15">
            <a:extLst>
              <a:ext uri="{FF2B5EF4-FFF2-40B4-BE49-F238E27FC236}">
                <a16:creationId xmlns:a16="http://schemas.microsoft.com/office/drawing/2014/main" id="{039D8245-FC7F-4656-CD25-17DD294059E4}"/>
              </a:ext>
            </a:extLst>
          </p:cNvPr>
          <p:cNvSpPr/>
          <p:nvPr/>
        </p:nvSpPr>
        <p:spPr>
          <a:xfrm>
            <a:off x="273049" y="2098401"/>
            <a:ext cx="3131499" cy="1000178"/>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pPr marL="171450" indent="-171450">
              <a:buFont typeface="Arial" panose="020B0604020202020204" pitchFamily="34" charset="0"/>
              <a:buChar char="•"/>
            </a:pPr>
            <a:r>
              <a:rPr lang="ja-JP" altLang="en-US" sz="1200" dirty="0"/>
              <a:t>トラストフレームワーク運用にかかる法的拘束力を持った法規制は特にない</a:t>
            </a:r>
            <a:endParaRPr kumimoji="1" lang="en-US" altLang="ja-JP" sz="1200" dirty="0"/>
          </a:p>
        </p:txBody>
      </p:sp>
      <p:sp>
        <p:nvSpPr>
          <p:cNvPr id="23" name="四角形: 角を丸くする 22">
            <a:extLst>
              <a:ext uri="{FF2B5EF4-FFF2-40B4-BE49-F238E27FC236}">
                <a16:creationId xmlns:a16="http://schemas.microsoft.com/office/drawing/2014/main" id="{FD002383-F79C-DABA-D0DA-A943A52B776C}"/>
              </a:ext>
            </a:extLst>
          </p:cNvPr>
          <p:cNvSpPr/>
          <p:nvPr/>
        </p:nvSpPr>
        <p:spPr>
          <a:xfrm>
            <a:off x="251011" y="3328022"/>
            <a:ext cx="1991500" cy="219073"/>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b="1" dirty="0">
                <a:solidFill>
                  <a:schemeClr val="bg1"/>
                </a:solidFill>
                <a:latin typeface="+mn-ea"/>
              </a:rPr>
              <a:t>ガイドライン等</a:t>
            </a:r>
            <a:endParaRPr kumimoji="1" lang="ja-JP" altLang="en-US" sz="1200" b="1" dirty="0">
              <a:solidFill>
                <a:schemeClr val="bg1"/>
              </a:solidFill>
              <a:latin typeface="+mn-ea"/>
            </a:endParaRPr>
          </a:p>
        </p:txBody>
      </p:sp>
      <p:sp>
        <p:nvSpPr>
          <p:cNvPr id="26" name="四角形: 角を丸くする 25">
            <a:extLst>
              <a:ext uri="{FF2B5EF4-FFF2-40B4-BE49-F238E27FC236}">
                <a16:creationId xmlns:a16="http://schemas.microsoft.com/office/drawing/2014/main" id="{240C4C95-6958-6A1A-A8F3-EBCCDCC391AA}"/>
              </a:ext>
            </a:extLst>
          </p:cNvPr>
          <p:cNvSpPr/>
          <p:nvPr/>
        </p:nvSpPr>
        <p:spPr>
          <a:xfrm>
            <a:off x="251011" y="2017555"/>
            <a:ext cx="1991500" cy="23338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上位の法規制</a:t>
            </a:r>
          </a:p>
        </p:txBody>
      </p:sp>
      <p:sp>
        <p:nvSpPr>
          <p:cNvPr id="30" name="四角形: 角を丸くする 29">
            <a:extLst>
              <a:ext uri="{FF2B5EF4-FFF2-40B4-BE49-F238E27FC236}">
                <a16:creationId xmlns:a16="http://schemas.microsoft.com/office/drawing/2014/main" id="{44204A18-5BA1-2CA8-9CD1-67739B296664}"/>
              </a:ext>
            </a:extLst>
          </p:cNvPr>
          <p:cNvSpPr/>
          <p:nvPr/>
        </p:nvSpPr>
        <p:spPr>
          <a:xfrm>
            <a:off x="240028" y="5282314"/>
            <a:ext cx="1991500" cy="23007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サービス認定・ガバナンス</a:t>
            </a:r>
          </a:p>
        </p:txBody>
      </p:sp>
      <p:cxnSp>
        <p:nvCxnSpPr>
          <p:cNvPr id="40" name="コネクタ: カギ線 39">
            <a:extLst>
              <a:ext uri="{FF2B5EF4-FFF2-40B4-BE49-F238E27FC236}">
                <a16:creationId xmlns:a16="http://schemas.microsoft.com/office/drawing/2014/main" id="{9666A087-D1A0-F41C-C6D6-9BB71F68395B}"/>
              </a:ext>
            </a:extLst>
          </p:cNvPr>
          <p:cNvCxnSpPr>
            <a:cxnSpLocks/>
            <a:stCxn id="184" idx="1"/>
          </p:cNvCxnSpPr>
          <p:nvPr/>
        </p:nvCxnSpPr>
        <p:spPr>
          <a:xfrm rot="10800000">
            <a:off x="7445279" y="5804173"/>
            <a:ext cx="634791" cy="413957"/>
          </a:xfrm>
          <a:prstGeom prst="bentConnector3">
            <a:avLst>
              <a:gd name="adj1" fmla="val 50000"/>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42BFC2BB-2D05-3981-B9E7-7D2334D0FCDA}"/>
              </a:ext>
            </a:extLst>
          </p:cNvPr>
          <p:cNvSpPr txBox="1"/>
          <p:nvPr/>
        </p:nvSpPr>
        <p:spPr>
          <a:xfrm>
            <a:off x="7090087" y="5926441"/>
            <a:ext cx="710382" cy="184666"/>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認定支援</a:t>
            </a:r>
          </a:p>
        </p:txBody>
      </p:sp>
      <p:sp>
        <p:nvSpPr>
          <p:cNvPr id="54" name="テキスト ボックス 53">
            <a:extLst>
              <a:ext uri="{FF2B5EF4-FFF2-40B4-BE49-F238E27FC236}">
                <a16:creationId xmlns:a16="http://schemas.microsoft.com/office/drawing/2014/main" id="{168988D0-7923-E768-2FD7-0A0FF8AFF5E1}"/>
              </a:ext>
            </a:extLst>
          </p:cNvPr>
          <p:cNvSpPr txBox="1"/>
          <p:nvPr/>
        </p:nvSpPr>
        <p:spPr>
          <a:xfrm>
            <a:off x="5126046" y="4816595"/>
            <a:ext cx="963282" cy="169277"/>
          </a:xfrm>
          <a:prstGeom prst="rect">
            <a:avLst/>
          </a:prstGeom>
          <a:solidFill>
            <a:srgbClr val="DAE9E1"/>
          </a:solidFill>
          <a:ln>
            <a:noFill/>
          </a:ln>
        </p:spPr>
        <p:txBody>
          <a:bodyPr wrap="square" lIns="0" tIns="0" rIns="0" bIns="0">
            <a:spAutoFit/>
          </a:bodyPr>
          <a:lstStyle>
            <a:defPPr>
              <a:defRPr lang="ja-JP"/>
            </a:defPPr>
            <a:lvl1pPr algn="ctr">
              <a:defRPr sz="1000">
                <a:latin typeface="+mj-lt"/>
              </a:defRPr>
            </a:lvl1pPr>
          </a:lstStyle>
          <a:p>
            <a:r>
              <a:rPr lang="ja-JP" altLang="en-US" sz="1100" dirty="0">
                <a:latin typeface="+mn-ea"/>
                <a:ea typeface="+mn-ea"/>
              </a:rPr>
              <a:t>認定リスト掲載</a:t>
            </a:r>
          </a:p>
        </p:txBody>
      </p:sp>
      <p:cxnSp>
        <p:nvCxnSpPr>
          <p:cNvPr id="56" name="直線矢印コネクタ 55">
            <a:extLst>
              <a:ext uri="{FF2B5EF4-FFF2-40B4-BE49-F238E27FC236}">
                <a16:creationId xmlns:a16="http://schemas.microsoft.com/office/drawing/2014/main" id="{09D7DE96-3A98-1497-7E3C-1B45AC579E33}"/>
              </a:ext>
            </a:extLst>
          </p:cNvPr>
          <p:cNvCxnSpPr>
            <a:stCxn id="112" idx="2"/>
            <a:endCxn id="130" idx="0"/>
          </p:cNvCxnSpPr>
          <p:nvPr/>
        </p:nvCxnSpPr>
        <p:spPr>
          <a:xfrm>
            <a:off x="8872894" y="3755750"/>
            <a:ext cx="0" cy="863865"/>
          </a:xfrm>
          <a:prstGeom prst="straightConnector1">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02BC1149-29CC-422C-F1E4-60D72EE512D2}"/>
              </a:ext>
            </a:extLst>
          </p:cNvPr>
          <p:cNvSpPr txBox="1"/>
          <p:nvPr/>
        </p:nvSpPr>
        <p:spPr>
          <a:xfrm>
            <a:off x="8683445" y="4050890"/>
            <a:ext cx="710382" cy="184666"/>
          </a:xfrm>
          <a:prstGeom prst="rect">
            <a:avLst/>
          </a:prstGeom>
          <a:noFill/>
        </p:spPr>
        <p:txBody>
          <a:bodyPr wrap="square" lIns="0" tIns="0" rIns="0" bIns="0">
            <a:spAutoFit/>
          </a:bodyPr>
          <a:lstStyle/>
          <a:p>
            <a:pPr algn="ctr"/>
            <a:r>
              <a:rPr lang="ja-JP" altLang="en-US" sz="1200" b="1" dirty="0">
                <a:solidFill>
                  <a:schemeClr val="accent3"/>
                </a:solidFill>
                <a:latin typeface="+mn-ea"/>
                <a:ea typeface="+mn-ea"/>
              </a:rPr>
              <a:t>認定</a:t>
            </a:r>
          </a:p>
        </p:txBody>
      </p:sp>
      <p:sp>
        <p:nvSpPr>
          <p:cNvPr id="58" name="コンテンツ プレースホルダー 2">
            <a:extLst>
              <a:ext uri="{FF2B5EF4-FFF2-40B4-BE49-F238E27FC236}">
                <a16:creationId xmlns:a16="http://schemas.microsoft.com/office/drawing/2014/main" id="{EE1F99FE-F6D1-5EDB-2DB6-C5E96EE306F2}"/>
              </a:ext>
            </a:extLst>
          </p:cNvPr>
          <p:cNvSpPr txBox="1">
            <a:spLocks/>
          </p:cNvSpPr>
          <p:nvPr/>
        </p:nvSpPr>
        <p:spPr>
          <a:xfrm>
            <a:off x="273050" y="913526"/>
            <a:ext cx="9359900"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r>
              <a:rPr lang="ja-JP" altLang="en-US" dirty="0"/>
              <a:t>官民コンソーシアム</a:t>
            </a:r>
            <a:r>
              <a:rPr lang="en-US" altLang="ja-JP" dirty="0"/>
              <a:t>(DIACC)</a:t>
            </a:r>
            <a:r>
              <a:rPr lang="ja-JP" altLang="en-US" sz="1400" dirty="0"/>
              <a:t>でトラストフレームワークの策定・運用を実施している</a:t>
            </a:r>
            <a:endParaRPr lang="en-US" altLang="ja-JP" sz="1400" dirty="0"/>
          </a:p>
          <a:p>
            <a:pPr marL="268288" indent="-268288"/>
            <a:r>
              <a:rPr lang="ja-JP" altLang="en-US" sz="1400" dirty="0"/>
              <a:t>認定プログラムの運営・支援も民間団体で実施している</a:t>
            </a:r>
            <a:endParaRPr lang="en-US" altLang="ja-JP" sz="1400" dirty="0"/>
          </a:p>
        </p:txBody>
      </p:sp>
      <p:sp>
        <p:nvSpPr>
          <p:cNvPr id="59" name="正方形/長方形 58">
            <a:extLst>
              <a:ext uri="{FF2B5EF4-FFF2-40B4-BE49-F238E27FC236}">
                <a16:creationId xmlns:a16="http://schemas.microsoft.com/office/drawing/2014/main" id="{49733C60-7D66-A629-96EC-2DC8D9A98F25}"/>
              </a:ext>
            </a:extLst>
          </p:cNvPr>
          <p:cNvSpPr/>
          <p:nvPr/>
        </p:nvSpPr>
        <p:spPr>
          <a:xfrm>
            <a:off x="273050" y="6447295"/>
            <a:ext cx="9533671" cy="159122"/>
          </a:xfrm>
          <a:prstGeom prst="rect">
            <a:avLst/>
          </a:prstGeom>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ja-JP" altLang="en-US" sz="900" dirty="0"/>
              <a:t>*公開資料・有識者ヒアリングより</a:t>
            </a:r>
            <a:r>
              <a:rPr kumimoji="1" lang="en-US" altLang="ja-JP" sz="900" dirty="0"/>
              <a:t>TOPPAN</a:t>
            </a:r>
            <a:r>
              <a:rPr kumimoji="1" lang="ja-JP" altLang="en-US" sz="900" dirty="0"/>
              <a:t>作成</a:t>
            </a:r>
          </a:p>
        </p:txBody>
      </p:sp>
      <p:sp>
        <p:nvSpPr>
          <p:cNvPr id="60" name="テキスト ボックス 59">
            <a:extLst>
              <a:ext uri="{FF2B5EF4-FFF2-40B4-BE49-F238E27FC236}">
                <a16:creationId xmlns:a16="http://schemas.microsoft.com/office/drawing/2014/main" id="{44F6ADD7-BDDC-B75B-0C09-E32310048AD4}"/>
              </a:ext>
            </a:extLst>
          </p:cNvPr>
          <p:cNvSpPr txBox="1"/>
          <p:nvPr/>
        </p:nvSpPr>
        <p:spPr>
          <a:xfrm>
            <a:off x="5769880" y="5858815"/>
            <a:ext cx="1040606" cy="184666"/>
          </a:xfrm>
          <a:prstGeom prst="rect">
            <a:avLst/>
          </a:prstGeom>
          <a:solidFill>
            <a:schemeClr val="bg1"/>
          </a:solidFill>
        </p:spPr>
        <p:txBody>
          <a:bodyPr wrap="square" lIns="0" tIns="0" rIns="0" bIns="0">
            <a:spAutoFit/>
          </a:bodyPr>
          <a:lstStyle/>
          <a:p>
            <a:pPr algn="ctr"/>
            <a:r>
              <a:rPr lang="ja-JP" altLang="en-US" sz="1200" dirty="0">
                <a:latin typeface="+mn-ea"/>
                <a:ea typeface="+mn-ea"/>
              </a:rPr>
              <a:t>サービス提供</a:t>
            </a:r>
          </a:p>
        </p:txBody>
      </p:sp>
      <p:grpSp>
        <p:nvGrpSpPr>
          <p:cNvPr id="4" name="グループ化 3">
            <a:extLst>
              <a:ext uri="{FF2B5EF4-FFF2-40B4-BE49-F238E27FC236}">
                <a16:creationId xmlns:a16="http://schemas.microsoft.com/office/drawing/2014/main" id="{21A09C47-250A-1E59-FACE-2BEC24FDBA7D}"/>
              </a:ext>
            </a:extLst>
          </p:cNvPr>
          <p:cNvGrpSpPr/>
          <p:nvPr/>
        </p:nvGrpSpPr>
        <p:grpSpPr>
          <a:xfrm>
            <a:off x="7970555" y="774666"/>
            <a:ext cx="1818731" cy="869140"/>
            <a:chOff x="7970555" y="683876"/>
            <a:chExt cx="1818731" cy="869140"/>
          </a:xfrm>
        </p:grpSpPr>
        <p:sp>
          <p:nvSpPr>
            <p:cNvPr id="5" name="正方形/長方形 4">
              <a:extLst>
                <a:ext uri="{FF2B5EF4-FFF2-40B4-BE49-F238E27FC236}">
                  <a16:creationId xmlns:a16="http://schemas.microsoft.com/office/drawing/2014/main" id="{6553F5C6-217F-80B8-4386-BFD9EFF17FC7}"/>
                </a:ext>
              </a:extLst>
            </p:cNvPr>
            <p:cNvSpPr/>
            <p:nvPr/>
          </p:nvSpPr>
          <p:spPr>
            <a:xfrm>
              <a:off x="7970555" y="683876"/>
              <a:ext cx="1818731" cy="869140"/>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cxnSp>
          <p:nvCxnSpPr>
            <p:cNvPr id="6" name="直線矢印コネクタ 5">
              <a:extLst>
                <a:ext uri="{FF2B5EF4-FFF2-40B4-BE49-F238E27FC236}">
                  <a16:creationId xmlns:a16="http://schemas.microsoft.com/office/drawing/2014/main" id="{73594485-8691-FC50-6508-4A84D0D51DAC}"/>
                </a:ext>
              </a:extLst>
            </p:cNvPr>
            <p:cNvCxnSpPr/>
            <p:nvPr/>
          </p:nvCxnSpPr>
          <p:spPr>
            <a:xfrm>
              <a:off x="8072708" y="984069"/>
              <a:ext cx="258070" cy="0"/>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26F3085B-B88B-04D2-AD8C-7685E5753653}"/>
                </a:ext>
              </a:extLst>
            </p:cNvPr>
            <p:cNvCxnSpPr/>
            <p:nvPr/>
          </p:nvCxnSpPr>
          <p:spPr>
            <a:xfrm>
              <a:off x="8072708" y="1210492"/>
              <a:ext cx="258070" cy="0"/>
            </a:xfrm>
            <a:prstGeom prst="straightConnector1">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35FFF878-CFE3-175F-160C-1E2E99D4A5CA}"/>
                </a:ext>
              </a:extLst>
            </p:cNvPr>
            <p:cNvCxnSpPr/>
            <p:nvPr/>
          </p:nvCxnSpPr>
          <p:spPr>
            <a:xfrm>
              <a:off x="8072708" y="1436915"/>
              <a:ext cx="258070"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0B3CF162-F606-8A6A-C307-66D8ED5FDEA8}"/>
                </a:ext>
              </a:extLst>
            </p:cNvPr>
            <p:cNvSpPr txBox="1"/>
            <p:nvPr/>
          </p:nvSpPr>
          <p:spPr>
            <a:xfrm>
              <a:off x="8427608" y="886461"/>
              <a:ext cx="1310878" cy="184666"/>
            </a:xfrm>
            <a:prstGeom prst="rect">
              <a:avLst/>
            </a:prstGeom>
            <a:noFill/>
          </p:spPr>
          <p:txBody>
            <a:bodyPr wrap="square" lIns="0" tIns="0" rIns="0" bIns="0" rtlCol="0">
              <a:spAutoFit/>
            </a:bodyPr>
            <a:lstStyle/>
            <a:p>
              <a:r>
                <a:rPr kumimoji="1" lang="ja-JP" altLang="en-US" sz="1200" dirty="0">
                  <a:latin typeface="+mn-ea"/>
                  <a:ea typeface="+mn-ea"/>
                </a:rPr>
                <a:t>策定の流れ</a:t>
              </a:r>
            </a:p>
          </p:txBody>
        </p:sp>
        <p:sp>
          <p:nvSpPr>
            <p:cNvPr id="28" name="テキスト ボックス 27">
              <a:extLst>
                <a:ext uri="{FF2B5EF4-FFF2-40B4-BE49-F238E27FC236}">
                  <a16:creationId xmlns:a16="http://schemas.microsoft.com/office/drawing/2014/main" id="{615BBFD1-E2E4-7797-AFB2-DAC515C7D448}"/>
                </a:ext>
              </a:extLst>
            </p:cNvPr>
            <p:cNvSpPr txBox="1"/>
            <p:nvPr/>
          </p:nvSpPr>
          <p:spPr>
            <a:xfrm>
              <a:off x="8427608" y="1114200"/>
              <a:ext cx="1310878" cy="184666"/>
            </a:xfrm>
            <a:prstGeom prst="rect">
              <a:avLst/>
            </a:prstGeom>
            <a:noFill/>
          </p:spPr>
          <p:txBody>
            <a:bodyPr wrap="square" lIns="0" tIns="0" rIns="0" bIns="0" rtlCol="0">
              <a:spAutoFit/>
            </a:bodyPr>
            <a:lstStyle/>
            <a:p>
              <a:r>
                <a:rPr lang="ja-JP" altLang="en-US" sz="1200" dirty="0">
                  <a:latin typeface="+mn-ea"/>
                  <a:ea typeface="+mn-ea"/>
                </a:rPr>
                <a:t>監査・認定等</a:t>
              </a:r>
              <a:r>
                <a:rPr kumimoji="1" lang="ja-JP" altLang="en-US" sz="1200" dirty="0">
                  <a:latin typeface="+mn-ea"/>
                  <a:ea typeface="+mn-ea"/>
                </a:rPr>
                <a:t>の流れ</a:t>
              </a:r>
            </a:p>
          </p:txBody>
        </p:sp>
        <p:sp>
          <p:nvSpPr>
            <p:cNvPr id="29" name="テキスト ボックス 28">
              <a:extLst>
                <a:ext uri="{FF2B5EF4-FFF2-40B4-BE49-F238E27FC236}">
                  <a16:creationId xmlns:a16="http://schemas.microsoft.com/office/drawing/2014/main" id="{C53D5362-A7DF-D34C-E79F-B361808A51E8}"/>
                </a:ext>
              </a:extLst>
            </p:cNvPr>
            <p:cNvSpPr txBox="1"/>
            <p:nvPr/>
          </p:nvSpPr>
          <p:spPr>
            <a:xfrm>
              <a:off x="8427608" y="1348006"/>
              <a:ext cx="1310878" cy="184666"/>
            </a:xfrm>
            <a:prstGeom prst="rect">
              <a:avLst/>
            </a:prstGeom>
            <a:noFill/>
          </p:spPr>
          <p:txBody>
            <a:bodyPr wrap="square" lIns="0" tIns="0" rIns="0" bIns="0" rtlCol="0">
              <a:spAutoFit/>
            </a:bodyPr>
            <a:lstStyle/>
            <a:p>
              <a:r>
                <a:rPr lang="ja-JP" altLang="en-US" sz="1200" dirty="0">
                  <a:latin typeface="+mn-ea"/>
                  <a:ea typeface="+mn-ea"/>
                </a:rPr>
                <a:t>準拠等の関連性</a:t>
              </a:r>
              <a:endParaRPr kumimoji="1" lang="ja-JP" altLang="en-US" sz="1200" dirty="0">
                <a:latin typeface="+mn-ea"/>
                <a:ea typeface="+mn-ea"/>
              </a:endParaRPr>
            </a:p>
          </p:txBody>
        </p:sp>
        <p:sp>
          <p:nvSpPr>
            <p:cNvPr id="31" name="テキスト ボックス 30">
              <a:extLst>
                <a:ext uri="{FF2B5EF4-FFF2-40B4-BE49-F238E27FC236}">
                  <a16:creationId xmlns:a16="http://schemas.microsoft.com/office/drawing/2014/main" id="{E6565DA5-58A2-2895-C068-617AFC8DDA2B}"/>
                </a:ext>
              </a:extLst>
            </p:cNvPr>
            <p:cNvSpPr txBox="1"/>
            <p:nvPr/>
          </p:nvSpPr>
          <p:spPr>
            <a:xfrm>
              <a:off x="7970555" y="691264"/>
              <a:ext cx="1310878" cy="184666"/>
            </a:xfrm>
            <a:prstGeom prst="rect">
              <a:avLst/>
            </a:prstGeom>
            <a:noFill/>
          </p:spPr>
          <p:txBody>
            <a:bodyPr wrap="square" lIns="0" tIns="0" rIns="0" bIns="0" rtlCol="0">
              <a:spAutoFit/>
            </a:bodyPr>
            <a:lstStyle/>
            <a:p>
              <a:r>
                <a:rPr kumimoji="1" lang="en-US" altLang="ja-JP" sz="1200" dirty="0">
                  <a:latin typeface="+mn-ea"/>
                  <a:ea typeface="+mn-ea"/>
                </a:rPr>
                <a:t>【</a:t>
              </a:r>
              <a:r>
                <a:rPr kumimoji="1" lang="ja-JP" altLang="en-US" sz="1200" dirty="0">
                  <a:latin typeface="+mn-ea"/>
                  <a:ea typeface="+mn-ea"/>
                </a:rPr>
                <a:t>凡例</a:t>
              </a:r>
              <a:r>
                <a:rPr kumimoji="1" lang="en-US" altLang="ja-JP" sz="1200" dirty="0">
                  <a:latin typeface="+mn-ea"/>
                  <a:ea typeface="+mn-ea"/>
                </a:rPr>
                <a:t>】</a:t>
              </a:r>
              <a:endParaRPr kumimoji="1" lang="ja-JP" altLang="en-US" sz="1200" dirty="0">
                <a:latin typeface="+mn-ea"/>
                <a:ea typeface="+mn-ea"/>
              </a:endParaRPr>
            </a:p>
          </p:txBody>
        </p:sp>
      </p:grpSp>
    </p:spTree>
    <p:extLst>
      <p:ext uri="{BB962C8B-B14F-4D97-AF65-F5344CB8AC3E}">
        <p14:creationId xmlns:p14="http://schemas.microsoft.com/office/powerpoint/2010/main" val="1322993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E2E68918-EA81-799D-4F44-0FF19FF3C5D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4" imgH="623" progId="TCLayout.ActiveDocument.1">
                  <p:embed/>
                </p:oleObj>
              </mc:Choice>
              <mc:Fallback>
                <p:oleObj name="think-cell スライド" r:id="rId3" imgW="624" imgH="623" progId="TCLayout.ActiveDocument.1">
                  <p:embed/>
                  <p:pic>
                    <p:nvPicPr>
                      <p:cNvPr id="18" name="think-cell data - do not delete" hidden="1">
                        <a:extLst>
                          <a:ext uri="{FF2B5EF4-FFF2-40B4-BE49-F238E27FC236}">
                            <a16:creationId xmlns:a16="http://schemas.microsoft.com/office/drawing/2014/main" id="{E2E68918-EA81-799D-4F44-0FF19FF3C5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8F3261DC-94A6-789E-6EBD-3CDA0920AAEF}"/>
              </a:ext>
            </a:extLst>
          </p:cNvPr>
          <p:cNvSpPr>
            <a:spLocks noGrp="1"/>
          </p:cNvSpPr>
          <p:nvPr>
            <p:ph type="title"/>
          </p:nvPr>
        </p:nvSpPr>
        <p:spPr/>
        <p:txBody>
          <a:bodyPr vert="horz"/>
          <a:lstStyle/>
          <a:p>
            <a:r>
              <a:rPr kumimoji="1" lang="en-US" altLang="ja-JP" dirty="0"/>
              <a:t>3.5. </a:t>
            </a:r>
            <a:r>
              <a:rPr kumimoji="1" lang="ja-JP" altLang="en-US" dirty="0"/>
              <a:t>カナダ：</a:t>
            </a:r>
            <a:r>
              <a:rPr kumimoji="1" lang="en-US" altLang="ja-JP" dirty="0"/>
              <a:t>PCTF – 3.5.2. </a:t>
            </a:r>
            <a:r>
              <a:rPr kumimoji="1" lang="ja-JP" altLang="en-US" dirty="0"/>
              <a:t>取組の</a:t>
            </a:r>
            <a:r>
              <a:rPr kumimoji="1" lang="ja-JP" altLang="en-US" dirty="0">
                <a:latin typeface="+mn-ea"/>
                <a:ea typeface="+mn-ea"/>
              </a:rPr>
              <a:t>変遷</a:t>
            </a:r>
            <a:endParaRPr kumimoji="1" lang="ja-JP" altLang="en-US" dirty="0"/>
          </a:p>
        </p:txBody>
      </p:sp>
      <p:sp>
        <p:nvSpPr>
          <p:cNvPr id="3" name="テキスト プレースホルダー 2">
            <a:extLst>
              <a:ext uri="{FF2B5EF4-FFF2-40B4-BE49-F238E27FC236}">
                <a16:creationId xmlns:a16="http://schemas.microsoft.com/office/drawing/2014/main" id="{E84717BF-DFA7-3276-5DEF-C85E155FD88E}"/>
              </a:ext>
            </a:extLst>
          </p:cNvPr>
          <p:cNvSpPr>
            <a:spLocks noGrp="1"/>
          </p:cNvSpPr>
          <p:nvPr>
            <p:ph type="body" sz="quarter" idx="10"/>
          </p:nvPr>
        </p:nvSpPr>
        <p:spPr>
          <a:xfrm>
            <a:off x="273050" y="188913"/>
            <a:ext cx="7848600" cy="161583"/>
          </a:xfrm>
        </p:spPr>
        <p:txBody>
          <a:bodyPr/>
          <a:lstStyle/>
          <a:p>
            <a:r>
              <a:rPr lang="en-US" altLang="ja-JP" dirty="0">
                <a:latin typeface="+mn-ea"/>
                <a:ea typeface="+mn-ea"/>
              </a:rPr>
              <a:t>3</a:t>
            </a:r>
            <a:r>
              <a:rPr kumimoji="1" lang="en-US" altLang="ja-JP" dirty="0">
                <a:latin typeface="+mn-ea"/>
                <a:ea typeface="+mn-ea"/>
              </a:rPr>
              <a:t>.</a:t>
            </a:r>
            <a:r>
              <a:rPr kumimoji="1" lang="ja-JP" altLang="en-US" dirty="0">
                <a:latin typeface="+mn-ea"/>
                <a:ea typeface="+mn-ea"/>
              </a:rPr>
              <a:t> 調査結果</a:t>
            </a:r>
          </a:p>
        </p:txBody>
      </p:sp>
      <p:sp>
        <p:nvSpPr>
          <p:cNvPr id="4" name="矢印: 山形 3">
            <a:extLst>
              <a:ext uri="{FF2B5EF4-FFF2-40B4-BE49-F238E27FC236}">
                <a16:creationId xmlns:a16="http://schemas.microsoft.com/office/drawing/2014/main" id="{95E6F75F-78D0-F7D7-7526-4112A174BD84}"/>
              </a:ext>
            </a:extLst>
          </p:cNvPr>
          <p:cNvSpPr/>
          <p:nvPr/>
        </p:nvSpPr>
        <p:spPr>
          <a:xfrm>
            <a:off x="511629" y="3496830"/>
            <a:ext cx="8833984" cy="307777"/>
          </a:xfrm>
          <a:prstGeom prst="chevron">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5" name="楕円 4">
            <a:extLst>
              <a:ext uri="{FF2B5EF4-FFF2-40B4-BE49-F238E27FC236}">
                <a16:creationId xmlns:a16="http://schemas.microsoft.com/office/drawing/2014/main" id="{6D474989-42EE-C3D9-7F6D-41A5C3533119}"/>
              </a:ext>
            </a:extLst>
          </p:cNvPr>
          <p:cNvSpPr/>
          <p:nvPr/>
        </p:nvSpPr>
        <p:spPr>
          <a:xfrm>
            <a:off x="1132114" y="3323636"/>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2010</a:t>
            </a:r>
            <a:endParaRPr kumimoji="1" lang="ja-JP" altLang="en-US" sz="1600" dirty="0"/>
          </a:p>
        </p:txBody>
      </p:sp>
      <p:sp>
        <p:nvSpPr>
          <p:cNvPr id="6" name="楕円 5">
            <a:extLst>
              <a:ext uri="{FF2B5EF4-FFF2-40B4-BE49-F238E27FC236}">
                <a16:creationId xmlns:a16="http://schemas.microsoft.com/office/drawing/2014/main" id="{04E80298-E3A2-E1F4-4DEB-3DA0E1DC4E27}"/>
              </a:ext>
            </a:extLst>
          </p:cNvPr>
          <p:cNvSpPr/>
          <p:nvPr/>
        </p:nvSpPr>
        <p:spPr>
          <a:xfrm>
            <a:off x="3265409" y="3323636"/>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2012</a:t>
            </a:r>
            <a:endParaRPr kumimoji="1" lang="ja-JP" altLang="en-US" sz="1600" dirty="0"/>
          </a:p>
        </p:txBody>
      </p:sp>
      <p:sp>
        <p:nvSpPr>
          <p:cNvPr id="7" name="楕円 6">
            <a:extLst>
              <a:ext uri="{FF2B5EF4-FFF2-40B4-BE49-F238E27FC236}">
                <a16:creationId xmlns:a16="http://schemas.microsoft.com/office/drawing/2014/main" id="{0CF7517C-CDBE-60A1-527F-7F016334B962}"/>
              </a:ext>
            </a:extLst>
          </p:cNvPr>
          <p:cNvSpPr/>
          <p:nvPr/>
        </p:nvSpPr>
        <p:spPr>
          <a:xfrm>
            <a:off x="5398702" y="3323636"/>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2020</a:t>
            </a:r>
            <a:endParaRPr kumimoji="1" lang="ja-JP" altLang="en-US" sz="1600" dirty="0"/>
          </a:p>
        </p:txBody>
      </p:sp>
      <p:sp>
        <p:nvSpPr>
          <p:cNvPr id="8" name="正方形/長方形 7">
            <a:extLst>
              <a:ext uri="{FF2B5EF4-FFF2-40B4-BE49-F238E27FC236}">
                <a16:creationId xmlns:a16="http://schemas.microsoft.com/office/drawing/2014/main" id="{36411B0C-349F-12BA-3473-3FA9775F4602}"/>
              </a:ext>
            </a:extLst>
          </p:cNvPr>
          <p:cNvSpPr/>
          <p:nvPr/>
        </p:nvSpPr>
        <p:spPr>
          <a:xfrm>
            <a:off x="1366815" y="3857113"/>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9" name="正方形/長方形 8">
            <a:extLst>
              <a:ext uri="{FF2B5EF4-FFF2-40B4-BE49-F238E27FC236}">
                <a16:creationId xmlns:a16="http://schemas.microsoft.com/office/drawing/2014/main" id="{5283DE9F-E6A8-EBC8-9ED8-52F5977548DD}"/>
              </a:ext>
            </a:extLst>
          </p:cNvPr>
          <p:cNvSpPr/>
          <p:nvPr/>
        </p:nvSpPr>
        <p:spPr>
          <a:xfrm>
            <a:off x="571728" y="4393663"/>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the Task Force for the Payments </a:t>
            </a:r>
          </a:p>
          <a:p>
            <a:r>
              <a:rPr lang="en-US" altLang="ja-JP" sz="1200" b="1" u="sng" dirty="0"/>
              <a:t>System Review </a:t>
            </a:r>
            <a:endParaRPr lang="ja-JP" altLang="en-US" sz="1200" b="1" u="sng" dirty="0"/>
          </a:p>
          <a:p>
            <a:r>
              <a:rPr lang="ja-JP" altLang="en-US" sz="1200" dirty="0"/>
              <a:t>財務省がカナダ経済がデジタル決済システムに</a:t>
            </a:r>
          </a:p>
          <a:p>
            <a:r>
              <a:rPr lang="ja-JP" altLang="en-US" sz="1200" dirty="0"/>
              <a:t>移行するためのタスクフォースを立ち上げ、政府、企業、消費者団体、金融セクターなどからなるワーキンググループで議論し、提言を実施した</a:t>
            </a:r>
            <a:endParaRPr lang="en-US" altLang="ja-JP" sz="1200" dirty="0"/>
          </a:p>
        </p:txBody>
      </p:sp>
      <p:sp>
        <p:nvSpPr>
          <p:cNvPr id="10" name="正方形/長方形 9">
            <a:extLst>
              <a:ext uri="{FF2B5EF4-FFF2-40B4-BE49-F238E27FC236}">
                <a16:creationId xmlns:a16="http://schemas.microsoft.com/office/drawing/2014/main" id="{DF036113-9E02-32D9-8898-721A48C4C527}"/>
              </a:ext>
            </a:extLst>
          </p:cNvPr>
          <p:cNvSpPr/>
          <p:nvPr/>
        </p:nvSpPr>
        <p:spPr>
          <a:xfrm>
            <a:off x="1636441" y="1630031"/>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DIACC</a:t>
            </a:r>
          </a:p>
          <a:p>
            <a:r>
              <a:rPr lang="ja-JP" altLang="en-US" sz="1200" dirty="0"/>
              <a:t>先のタスクフォースの提言を受け、政府・民間企業から構成される非営利組織である </a:t>
            </a:r>
            <a:r>
              <a:rPr lang="en-US" altLang="ja-JP" sz="1200" dirty="0"/>
              <a:t>DIACC</a:t>
            </a:r>
            <a:r>
              <a:rPr lang="ja-JP" altLang="en-US" sz="1200" dirty="0"/>
              <a:t>がデジタル</a:t>
            </a:r>
            <a:r>
              <a:rPr lang="en-US" altLang="ja-JP" sz="1200" dirty="0"/>
              <a:t>ID</a:t>
            </a:r>
            <a:r>
              <a:rPr lang="ja-JP" altLang="en-US" sz="1200" dirty="0"/>
              <a:t>ソリューションとサービスを実現するための研究開発に取り組むこととなった</a:t>
            </a:r>
            <a:endParaRPr lang="en-US" altLang="ja-JP" sz="1600" dirty="0"/>
          </a:p>
        </p:txBody>
      </p:sp>
      <p:sp>
        <p:nvSpPr>
          <p:cNvPr id="11" name="正方形/長方形 10">
            <a:extLst>
              <a:ext uri="{FF2B5EF4-FFF2-40B4-BE49-F238E27FC236}">
                <a16:creationId xmlns:a16="http://schemas.microsoft.com/office/drawing/2014/main" id="{F26C96A8-D6F3-86B8-485E-619927507BA1}"/>
              </a:ext>
            </a:extLst>
          </p:cNvPr>
          <p:cNvSpPr/>
          <p:nvPr/>
        </p:nvSpPr>
        <p:spPr>
          <a:xfrm>
            <a:off x="3500110" y="2784465"/>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3" name="正方形/長方形 12">
            <a:extLst>
              <a:ext uri="{FF2B5EF4-FFF2-40B4-BE49-F238E27FC236}">
                <a16:creationId xmlns:a16="http://schemas.microsoft.com/office/drawing/2014/main" id="{BA831FCC-D622-9D0D-93BB-06DBC9DDB13F}"/>
              </a:ext>
            </a:extLst>
          </p:cNvPr>
          <p:cNvSpPr/>
          <p:nvPr/>
        </p:nvSpPr>
        <p:spPr>
          <a:xfrm>
            <a:off x="5633403" y="3857113"/>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4" name="正方形/長方形 13">
            <a:extLst>
              <a:ext uri="{FF2B5EF4-FFF2-40B4-BE49-F238E27FC236}">
                <a16:creationId xmlns:a16="http://schemas.microsoft.com/office/drawing/2014/main" id="{4B28D5FB-B715-D24F-E83A-3F54A55DF8B2}"/>
              </a:ext>
            </a:extLst>
          </p:cNvPr>
          <p:cNvSpPr/>
          <p:nvPr/>
        </p:nvSpPr>
        <p:spPr>
          <a:xfrm>
            <a:off x="3918667" y="4378165"/>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PCTF</a:t>
            </a:r>
            <a:endParaRPr lang="ja-JP" altLang="en-US" sz="1200" b="1" u="sng" dirty="0"/>
          </a:p>
          <a:p>
            <a:r>
              <a:rPr lang="ja-JP" altLang="en-US" sz="1200" dirty="0"/>
              <a:t>カナダの官民組織がデジタルアイデンティティを安全に活用するためのガバナンスモデルとして</a:t>
            </a:r>
            <a:r>
              <a:rPr lang="en-US" altLang="ja-JP" sz="1200" dirty="0"/>
              <a:t>DIACC</a:t>
            </a:r>
            <a:r>
              <a:rPr lang="ja-JP" altLang="en-US" sz="1200" dirty="0"/>
              <a:t>が</a:t>
            </a:r>
            <a:r>
              <a:rPr lang="en-US" altLang="ja-JP" sz="1200" dirty="0"/>
              <a:t>2020</a:t>
            </a:r>
            <a:r>
              <a:rPr lang="ja-JP" altLang="en-US" sz="1200" dirty="0"/>
              <a:t>年に</a:t>
            </a:r>
            <a:r>
              <a:rPr lang="en-US" altLang="ja-JP" sz="1200" dirty="0"/>
              <a:t>PCTF v1.0</a:t>
            </a:r>
            <a:r>
              <a:rPr lang="ja-JP" altLang="en-US" sz="1200" dirty="0"/>
              <a:t>を発表した</a:t>
            </a:r>
            <a:endParaRPr lang="en-US" altLang="ja-JP" sz="1200" dirty="0"/>
          </a:p>
        </p:txBody>
      </p:sp>
      <p:sp>
        <p:nvSpPr>
          <p:cNvPr id="15" name="正方形/長方形 14">
            <a:extLst>
              <a:ext uri="{FF2B5EF4-FFF2-40B4-BE49-F238E27FC236}">
                <a16:creationId xmlns:a16="http://schemas.microsoft.com/office/drawing/2014/main" id="{39468CD2-785F-96AC-A48A-0BEF8A676659}"/>
              </a:ext>
            </a:extLst>
          </p:cNvPr>
          <p:cNvSpPr/>
          <p:nvPr/>
        </p:nvSpPr>
        <p:spPr>
          <a:xfrm>
            <a:off x="6614429" y="1630031"/>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DIACC PCTF</a:t>
            </a:r>
            <a:r>
              <a:rPr lang="ja-JP" altLang="en-US" sz="1200" b="1" u="sng" dirty="0"/>
              <a:t>適合性認定プログラム*</a:t>
            </a:r>
            <a:endParaRPr lang="en-US" altLang="ja-JP" sz="1200" b="1" u="sng" dirty="0"/>
          </a:p>
          <a:p>
            <a:r>
              <a:rPr lang="en-US" altLang="ja-JP" sz="1200" dirty="0"/>
              <a:t>ISO/IEC 17065</a:t>
            </a:r>
            <a:r>
              <a:rPr lang="ja-JP" altLang="en-US" sz="1200" dirty="0"/>
              <a:t>を中心に設計された</a:t>
            </a:r>
            <a:r>
              <a:rPr lang="en-US" altLang="ja-JP" sz="1200" dirty="0"/>
              <a:t>DIACC</a:t>
            </a:r>
            <a:r>
              <a:rPr lang="ja-JP" altLang="en-US" sz="1200" dirty="0"/>
              <a:t>の</a:t>
            </a:r>
            <a:r>
              <a:rPr lang="en-US" altLang="ja-JP" sz="1200" dirty="0"/>
              <a:t>PCTF</a:t>
            </a:r>
            <a:r>
              <a:rPr lang="ja-JP" altLang="en-US" sz="1200" dirty="0"/>
              <a:t>適合性認定プログラムを運営、</a:t>
            </a:r>
            <a:r>
              <a:rPr lang="en-US" altLang="ja-JP" sz="1200" dirty="0"/>
              <a:t> ATB Ventures</a:t>
            </a:r>
            <a:r>
              <a:rPr lang="ja-JP" altLang="en-US" sz="1200" dirty="0"/>
              <a:t>の</a:t>
            </a:r>
            <a:r>
              <a:rPr lang="en-US" altLang="ja-JP" sz="1200" dirty="0" err="1"/>
              <a:t>Oliu</a:t>
            </a:r>
            <a:r>
              <a:rPr lang="ja-JP" altLang="en-US" sz="1200" dirty="0"/>
              <a:t>が最初の認定事業者となり、</a:t>
            </a:r>
            <a:r>
              <a:rPr lang="en-US" altLang="ja-JP" sz="1200" dirty="0"/>
              <a:t>Trusted List</a:t>
            </a:r>
            <a:r>
              <a:rPr lang="ja-JP" altLang="en-US" sz="1200" dirty="0"/>
              <a:t>に登録されることとなった</a:t>
            </a:r>
          </a:p>
        </p:txBody>
      </p:sp>
      <p:sp>
        <p:nvSpPr>
          <p:cNvPr id="12" name="楕円 11">
            <a:extLst>
              <a:ext uri="{FF2B5EF4-FFF2-40B4-BE49-F238E27FC236}">
                <a16:creationId xmlns:a16="http://schemas.microsoft.com/office/drawing/2014/main" id="{4AB416F4-F805-7F96-96A7-47AB45BE7317}"/>
              </a:ext>
            </a:extLst>
          </p:cNvPr>
          <p:cNvSpPr/>
          <p:nvPr/>
        </p:nvSpPr>
        <p:spPr>
          <a:xfrm>
            <a:off x="7224216" y="3323636"/>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2024</a:t>
            </a:r>
            <a:endParaRPr kumimoji="1" lang="ja-JP" altLang="en-US" sz="1600" dirty="0"/>
          </a:p>
        </p:txBody>
      </p:sp>
      <p:sp>
        <p:nvSpPr>
          <p:cNvPr id="16" name="正方形/長方形 15">
            <a:extLst>
              <a:ext uri="{FF2B5EF4-FFF2-40B4-BE49-F238E27FC236}">
                <a16:creationId xmlns:a16="http://schemas.microsoft.com/office/drawing/2014/main" id="{BF2C79AE-43C4-E89C-1F84-D9D46D404CF0}"/>
              </a:ext>
            </a:extLst>
          </p:cNvPr>
          <p:cNvSpPr/>
          <p:nvPr/>
        </p:nvSpPr>
        <p:spPr>
          <a:xfrm>
            <a:off x="7462200" y="2784465"/>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7" name="コンテンツ プレースホルダー 2">
            <a:extLst>
              <a:ext uri="{FF2B5EF4-FFF2-40B4-BE49-F238E27FC236}">
                <a16:creationId xmlns:a16="http://schemas.microsoft.com/office/drawing/2014/main" id="{AB9CFF42-0D51-B50E-674F-C16506DD4EB8}"/>
              </a:ext>
            </a:extLst>
          </p:cNvPr>
          <p:cNvSpPr txBox="1">
            <a:spLocks/>
          </p:cNvSpPr>
          <p:nvPr/>
        </p:nvSpPr>
        <p:spPr>
          <a:xfrm>
            <a:off x="273050" y="913526"/>
            <a:ext cx="9359900"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r>
              <a:rPr lang="ja-JP" altLang="en-US" sz="1400" dirty="0"/>
              <a:t>政府からの提言を受けて、デジタル</a:t>
            </a:r>
            <a:r>
              <a:rPr lang="en-US" altLang="ja-JP" sz="1400" dirty="0"/>
              <a:t>ID</a:t>
            </a:r>
            <a:r>
              <a:rPr lang="ja-JP" altLang="en-US" sz="1400" dirty="0"/>
              <a:t>ソリューション実現に向けた官民コンソーシアム</a:t>
            </a:r>
            <a:r>
              <a:rPr lang="en-US" altLang="ja-JP" sz="1400" dirty="0"/>
              <a:t>(DIACC)</a:t>
            </a:r>
            <a:r>
              <a:rPr lang="ja-JP" altLang="en-US" sz="1400" dirty="0"/>
              <a:t>が設立され、トラストフレームワークや認定プログラムの運営を進めてきている</a:t>
            </a:r>
            <a:endParaRPr lang="en-US" altLang="ja-JP" sz="1400" dirty="0"/>
          </a:p>
        </p:txBody>
      </p:sp>
      <p:sp>
        <p:nvSpPr>
          <p:cNvPr id="19" name="テキスト ボックス 18">
            <a:extLst>
              <a:ext uri="{FF2B5EF4-FFF2-40B4-BE49-F238E27FC236}">
                <a16:creationId xmlns:a16="http://schemas.microsoft.com/office/drawing/2014/main" id="{C4497F0F-F8C4-5C7E-87AD-47EAF28D53DA}"/>
              </a:ext>
            </a:extLst>
          </p:cNvPr>
          <p:cNvSpPr txBox="1"/>
          <p:nvPr/>
        </p:nvSpPr>
        <p:spPr>
          <a:xfrm>
            <a:off x="281334" y="5818493"/>
            <a:ext cx="9462098" cy="369332"/>
          </a:xfrm>
          <a:prstGeom prst="rect">
            <a:avLst/>
          </a:prstGeom>
          <a:noFill/>
        </p:spPr>
        <p:txBody>
          <a:bodyPr wrap="square">
            <a:spAutoFit/>
          </a:bodyPr>
          <a:lstStyle/>
          <a:p>
            <a:r>
              <a:rPr lang="ja-JP" altLang="en-US" sz="900" dirty="0">
                <a:latin typeface="+mn-ea"/>
                <a:ea typeface="+mn-ea"/>
              </a:rPr>
              <a:t>     令和４年度デジタル取引環境整備事業（「</a:t>
            </a:r>
            <a:r>
              <a:rPr lang="en-US" altLang="ja-JP" sz="900" dirty="0">
                <a:latin typeface="+mn-ea"/>
                <a:ea typeface="+mn-ea"/>
              </a:rPr>
              <a:t>Trusted Web</a:t>
            </a:r>
            <a:r>
              <a:rPr lang="ja-JP" altLang="en-US" sz="900" dirty="0">
                <a:latin typeface="+mn-ea"/>
                <a:ea typeface="+mn-ea"/>
              </a:rPr>
              <a:t>」の実現に向けた技術動向調査）海外動向調査をもとに、直近の動向をアップデートして</a:t>
            </a:r>
            <a:r>
              <a:rPr lang="en-US" altLang="ja-JP" sz="900" dirty="0">
                <a:latin typeface="+mn-ea"/>
                <a:ea typeface="+mn-ea"/>
              </a:rPr>
              <a:t>TOPPAN</a:t>
            </a:r>
            <a:r>
              <a:rPr lang="ja-JP" altLang="en-US" sz="900" dirty="0">
                <a:latin typeface="+mn-ea"/>
                <a:ea typeface="+mn-ea"/>
              </a:rPr>
              <a:t>作成</a:t>
            </a:r>
            <a:endParaRPr lang="en-US" altLang="ja-JP" sz="900" dirty="0">
              <a:latin typeface="+mn-ea"/>
              <a:ea typeface="+mn-ea"/>
            </a:endParaRPr>
          </a:p>
          <a:p>
            <a:pPr>
              <a:tabLst>
                <a:tab pos="177800" algn="l"/>
              </a:tabLst>
            </a:pPr>
            <a:r>
              <a:rPr lang="en-US" altLang="ja-JP" sz="900" dirty="0">
                <a:latin typeface="+mn-ea"/>
                <a:ea typeface="+mn-ea"/>
              </a:rPr>
              <a:t>	</a:t>
            </a:r>
            <a:r>
              <a:rPr lang="en-US" altLang="ja-JP" sz="900" dirty="0">
                <a:latin typeface="+mn-ea"/>
                <a:ea typeface="+mn-ea"/>
                <a:hlinkClick r:id="rId5"/>
              </a:rPr>
              <a:t>https://www.kantei.go.jp/jp/singi/digitalmarket/trusted_web/2022seika/files/001_report_international.pdf</a:t>
            </a:r>
            <a:endParaRPr lang="en-US" altLang="ja-JP" sz="900" dirty="0">
              <a:latin typeface="+mn-ea"/>
              <a:ea typeface="+mn-ea"/>
            </a:endParaRPr>
          </a:p>
        </p:txBody>
      </p:sp>
      <p:sp>
        <p:nvSpPr>
          <p:cNvPr id="21" name="テキスト ボックス 20">
            <a:extLst>
              <a:ext uri="{FF2B5EF4-FFF2-40B4-BE49-F238E27FC236}">
                <a16:creationId xmlns:a16="http://schemas.microsoft.com/office/drawing/2014/main" id="{9FE9BE7B-C703-036B-E565-81C93BE40E3F}"/>
              </a:ext>
            </a:extLst>
          </p:cNvPr>
          <p:cNvSpPr txBox="1"/>
          <p:nvPr/>
        </p:nvSpPr>
        <p:spPr>
          <a:xfrm>
            <a:off x="555544" y="6169742"/>
            <a:ext cx="9069123" cy="138499"/>
          </a:xfrm>
          <a:prstGeom prst="rect">
            <a:avLst/>
          </a:prstGeom>
          <a:noFill/>
        </p:spPr>
        <p:txBody>
          <a:bodyPr wrap="square" lIns="0" tIns="0" rIns="0" bIns="0" rtlCol="0">
            <a:spAutoFit/>
          </a:bodyPr>
          <a:lstStyle/>
          <a:p>
            <a:pPr defTabSz="355600"/>
            <a:r>
              <a:rPr kumimoji="1" lang="en-US" altLang="ja-JP" sz="900" dirty="0">
                <a:latin typeface="+mn-ea"/>
                <a:ea typeface="+mn-ea"/>
                <a:hlinkClick r:id="rId6"/>
              </a:rPr>
              <a:t>https://diacc.ca/2024/02/26/first-diacc-pctf-certified-service-provider-trustmark-granted/</a:t>
            </a:r>
            <a:endParaRPr kumimoji="1" lang="en-US" altLang="ja-JP" sz="900" dirty="0">
              <a:latin typeface="+mn-ea"/>
              <a:ea typeface="+mn-ea"/>
            </a:endParaRPr>
          </a:p>
        </p:txBody>
      </p:sp>
      <p:sp>
        <p:nvSpPr>
          <p:cNvPr id="22" name="テキスト ボックス 21">
            <a:extLst>
              <a:ext uri="{FF2B5EF4-FFF2-40B4-BE49-F238E27FC236}">
                <a16:creationId xmlns:a16="http://schemas.microsoft.com/office/drawing/2014/main" id="{7F4EC5ED-7069-C360-3DE9-4B8CF8D67965}"/>
              </a:ext>
            </a:extLst>
          </p:cNvPr>
          <p:cNvSpPr txBox="1"/>
          <p:nvPr/>
        </p:nvSpPr>
        <p:spPr>
          <a:xfrm>
            <a:off x="162568" y="6147969"/>
            <a:ext cx="445037" cy="230832"/>
          </a:xfrm>
          <a:prstGeom prst="rect">
            <a:avLst/>
          </a:prstGeom>
          <a:noFill/>
        </p:spPr>
        <p:txBody>
          <a:bodyPr wrap="square">
            <a:spAutoFit/>
          </a:bodyPr>
          <a:lstStyle/>
          <a:p>
            <a:pPr algn="r"/>
            <a:r>
              <a:rPr lang="ja-JP" altLang="en-US" sz="900" dirty="0">
                <a:latin typeface="+mn-ea"/>
                <a:ea typeface="+mn-ea"/>
              </a:rPr>
              <a:t>*</a:t>
            </a:r>
            <a:endParaRPr lang="en-US" altLang="ja-JP" sz="900" dirty="0">
              <a:latin typeface="+mn-ea"/>
              <a:ea typeface="+mn-ea"/>
            </a:endParaRPr>
          </a:p>
        </p:txBody>
      </p:sp>
    </p:spTree>
    <p:extLst>
      <p:ext uri="{BB962C8B-B14F-4D97-AF65-F5344CB8AC3E}">
        <p14:creationId xmlns:p14="http://schemas.microsoft.com/office/powerpoint/2010/main" val="3053487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A2B281-6F43-ABFA-12AF-78E14D222774}"/>
              </a:ext>
            </a:extLst>
          </p:cNvPr>
          <p:cNvSpPr>
            <a:spLocks noGrp="1"/>
          </p:cNvSpPr>
          <p:nvPr>
            <p:ph type="title"/>
          </p:nvPr>
        </p:nvSpPr>
        <p:spPr/>
        <p:txBody>
          <a:bodyPr/>
          <a:lstStyle/>
          <a:p>
            <a:r>
              <a:rPr kumimoji="1" lang="en-US" altLang="ja-JP" dirty="0"/>
              <a:t>3.5. </a:t>
            </a:r>
            <a:r>
              <a:rPr kumimoji="1" lang="ja-JP" altLang="en-US" dirty="0"/>
              <a:t>カナダ：</a:t>
            </a:r>
            <a:r>
              <a:rPr kumimoji="1" lang="en-US" altLang="ja-JP" dirty="0"/>
              <a:t>PCTF – 3.5.3. </a:t>
            </a:r>
            <a:r>
              <a:rPr kumimoji="1" lang="ja-JP" altLang="en-US" dirty="0"/>
              <a:t>ヒアリング結果</a:t>
            </a:r>
            <a:r>
              <a:rPr kumimoji="1" lang="en-US" altLang="ja-JP" dirty="0"/>
              <a:t>(1/2)</a:t>
            </a:r>
            <a:endParaRPr kumimoji="1" lang="ja-JP" altLang="en-US" dirty="0"/>
          </a:p>
        </p:txBody>
      </p:sp>
      <p:sp>
        <p:nvSpPr>
          <p:cNvPr id="3" name="テキスト プレースホルダー 2">
            <a:extLst>
              <a:ext uri="{FF2B5EF4-FFF2-40B4-BE49-F238E27FC236}">
                <a16:creationId xmlns:a16="http://schemas.microsoft.com/office/drawing/2014/main" id="{2C3EFFE8-429F-4A49-6973-14405F50F7FA}"/>
              </a:ext>
            </a:extLst>
          </p:cNvPr>
          <p:cNvSpPr>
            <a:spLocks noGrp="1"/>
          </p:cNvSpPr>
          <p:nvPr>
            <p:ph type="body" sz="quarter" idx="10"/>
          </p:nvPr>
        </p:nvSpPr>
        <p:spPr/>
        <p:txBody>
          <a:bodyPr/>
          <a:lstStyle/>
          <a:p>
            <a:r>
              <a:rPr kumimoji="1" lang="en-US" altLang="ja-JP" dirty="0"/>
              <a:t>3. </a:t>
            </a:r>
            <a:r>
              <a:rPr kumimoji="1" lang="ja-JP" altLang="en-US" dirty="0"/>
              <a:t>調査結果</a:t>
            </a:r>
          </a:p>
        </p:txBody>
      </p:sp>
      <p:grpSp>
        <p:nvGrpSpPr>
          <p:cNvPr id="4" name="Graphic 4">
            <a:extLst>
              <a:ext uri="{FF2B5EF4-FFF2-40B4-BE49-F238E27FC236}">
                <a16:creationId xmlns:a16="http://schemas.microsoft.com/office/drawing/2014/main" id="{7C2CB097-E2F8-B0A9-A83F-3905EE0A0D69}"/>
              </a:ext>
            </a:extLst>
          </p:cNvPr>
          <p:cNvGrpSpPr>
            <a:grpSpLocks noChangeAspect="1"/>
          </p:cNvGrpSpPr>
          <p:nvPr/>
        </p:nvGrpSpPr>
        <p:grpSpPr bwMode="gray">
          <a:xfrm>
            <a:off x="560388" y="2644555"/>
            <a:ext cx="1221430" cy="1221430"/>
            <a:chOff x="6146480" y="3339623"/>
            <a:chExt cx="362309" cy="361971"/>
          </a:xfrm>
          <a:solidFill>
            <a:schemeClr val="accent1"/>
          </a:solidFill>
        </p:grpSpPr>
        <p:sp>
          <p:nvSpPr>
            <p:cNvPr id="5" name="Graphic 4">
              <a:extLst>
                <a:ext uri="{FF2B5EF4-FFF2-40B4-BE49-F238E27FC236}">
                  <a16:creationId xmlns:a16="http://schemas.microsoft.com/office/drawing/2014/main" id="{52C24F17-0D7F-52DB-1248-DB93CB0EE1ED}"/>
                </a:ext>
              </a:extLst>
            </p:cNvPr>
            <p:cNvSpPr/>
            <p:nvPr/>
          </p:nvSpPr>
          <p:spPr bwMode="gray">
            <a:xfrm>
              <a:off x="6290254" y="3436660"/>
              <a:ext cx="75401" cy="27950"/>
            </a:xfrm>
            <a:custGeom>
              <a:avLst/>
              <a:gdLst>
                <a:gd name="connsiteX0" fmla="*/ 37700 w 75401"/>
                <a:gd name="connsiteY0" fmla="*/ 0 h 27950"/>
                <a:gd name="connsiteX1" fmla="*/ 639 w 75401"/>
                <a:gd name="connsiteY1" fmla="*/ 14045 h 27950"/>
                <a:gd name="connsiteX2" fmla="*/ 0 w 75401"/>
                <a:gd name="connsiteY2" fmla="*/ 15321 h 27950"/>
                <a:gd name="connsiteX3" fmla="*/ 42173 w 75401"/>
                <a:gd name="connsiteY3" fmla="*/ 25536 h 27950"/>
                <a:gd name="connsiteX4" fmla="*/ 48563 w 75401"/>
                <a:gd name="connsiteY4" fmla="*/ 19152 h 27950"/>
                <a:gd name="connsiteX5" fmla="*/ 57509 w 75401"/>
                <a:gd name="connsiteY5" fmla="*/ 19152 h 27950"/>
                <a:gd name="connsiteX6" fmla="*/ 57509 w 75401"/>
                <a:gd name="connsiteY6" fmla="*/ 19152 h 27950"/>
                <a:gd name="connsiteX7" fmla="*/ 62621 w 75401"/>
                <a:gd name="connsiteY7" fmla="*/ 24259 h 27950"/>
                <a:gd name="connsiteX8" fmla="*/ 75401 w 75401"/>
                <a:gd name="connsiteY8" fmla="*/ 15321 h 27950"/>
                <a:gd name="connsiteX9" fmla="*/ 74762 w 75401"/>
                <a:gd name="connsiteY9" fmla="*/ 14045 h 27950"/>
                <a:gd name="connsiteX10" fmla="*/ 37700 w 75401"/>
                <a:gd name="connsiteY10" fmla="*/ 0 h 2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401" h="27950">
                  <a:moveTo>
                    <a:pt x="37700" y="0"/>
                  </a:moveTo>
                  <a:cubicBezTo>
                    <a:pt x="19809" y="0"/>
                    <a:pt x="7668" y="5107"/>
                    <a:pt x="639" y="14045"/>
                  </a:cubicBezTo>
                  <a:lnTo>
                    <a:pt x="0" y="15321"/>
                  </a:lnTo>
                  <a:cubicBezTo>
                    <a:pt x="12780" y="33197"/>
                    <a:pt x="36422" y="27451"/>
                    <a:pt x="42173" y="25536"/>
                  </a:cubicBezTo>
                  <a:lnTo>
                    <a:pt x="48563" y="19152"/>
                  </a:lnTo>
                  <a:cubicBezTo>
                    <a:pt x="51119" y="16598"/>
                    <a:pt x="54953" y="16598"/>
                    <a:pt x="57509" y="19152"/>
                  </a:cubicBezTo>
                  <a:cubicBezTo>
                    <a:pt x="57509" y="19152"/>
                    <a:pt x="57509" y="19152"/>
                    <a:pt x="57509" y="19152"/>
                  </a:cubicBezTo>
                  <a:lnTo>
                    <a:pt x="62621" y="24259"/>
                  </a:lnTo>
                  <a:cubicBezTo>
                    <a:pt x="67733" y="22982"/>
                    <a:pt x="72206" y="19790"/>
                    <a:pt x="75401" y="15321"/>
                  </a:cubicBezTo>
                  <a:cubicBezTo>
                    <a:pt x="75401" y="14683"/>
                    <a:pt x="74762" y="14683"/>
                    <a:pt x="74762" y="14045"/>
                  </a:cubicBezTo>
                  <a:cubicBezTo>
                    <a:pt x="67733" y="5107"/>
                    <a:pt x="54953" y="0"/>
                    <a:pt x="37700" y="0"/>
                  </a:cubicBez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sp>
          <p:nvSpPr>
            <p:cNvPr id="6" name="Graphic 4">
              <a:extLst>
                <a:ext uri="{FF2B5EF4-FFF2-40B4-BE49-F238E27FC236}">
                  <a16:creationId xmlns:a16="http://schemas.microsoft.com/office/drawing/2014/main" id="{2EC074F3-117C-8C7B-94F3-7DE39BD9B436}"/>
                </a:ext>
              </a:extLst>
            </p:cNvPr>
            <p:cNvSpPr/>
            <p:nvPr/>
          </p:nvSpPr>
          <p:spPr bwMode="gray">
            <a:xfrm>
              <a:off x="6146480" y="33396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77323 w 362309"/>
                <a:gd name="connsiteY6" fmla="*/ 274511 h 361971"/>
                <a:gd name="connsiteX7" fmla="*/ 271572 w 362309"/>
                <a:gd name="connsiteY7" fmla="*/ 277703 h 361971"/>
                <a:gd name="connsiteX8" fmla="*/ 268377 w 362309"/>
                <a:gd name="connsiteY8" fmla="*/ 277065 h 361971"/>
                <a:gd name="connsiteX9" fmla="*/ 241540 w 362309"/>
                <a:gd name="connsiteY9" fmla="*/ 271319 h 361971"/>
                <a:gd name="connsiteX10" fmla="*/ 219175 w 362309"/>
                <a:gd name="connsiteY10" fmla="*/ 266850 h 361971"/>
                <a:gd name="connsiteX11" fmla="*/ 201922 w 362309"/>
                <a:gd name="connsiteY11" fmla="*/ 238122 h 361971"/>
                <a:gd name="connsiteX12" fmla="*/ 202561 w 362309"/>
                <a:gd name="connsiteY12" fmla="*/ 212587 h 361971"/>
                <a:gd name="connsiteX13" fmla="*/ 221092 w 362309"/>
                <a:gd name="connsiteY13" fmla="*/ 168537 h 361971"/>
                <a:gd name="connsiteX14" fmla="*/ 224287 w 362309"/>
                <a:gd name="connsiteY14" fmla="*/ 125765 h 361971"/>
                <a:gd name="connsiteX15" fmla="*/ 203200 w 362309"/>
                <a:gd name="connsiteY15" fmla="*/ 134702 h 361971"/>
                <a:gd name="connsiteX16" fmla="*/ 199366 w 362309"/>
                <a:gd name="connsiteY16" fmla="*/ 132787 h 361971"/>
                <a:gd name="connsiteX17" fmla="*/ 196171 w 362309"/>
                <a:gd name="connsiteY17" fmla="*/ 129595 h 361971"/>
                <a:gd name="connsiteX18" fmla="*/ 192976 w 362309"/>
                <a:gd name="connsiteY18" fmla="*/ 132787 h 361971"/>
                <a:gd name="connsiteX19" fmla="*/ 190420 w 362309"/>
                <a:gd name="connsiteY19" fmla="*/ 134064 h 361971"/>
                <a:gd name="connsiteX20" fmla="*/ 169972 w 362309"/>
                <a:gd name="connsiteY20" fmla="*/ 137256 h 361971"/>
                <a:gd name="connsiteX21" fmla="*/ 137384 w 362309"/>
                <a:gd name="connsiteY21" fmla="*/ 125126 h 361971"/>
                <a:gd name="connsiteX22" fmla="*/ 140579 w 362309"/>
                <a:gd name="connsiteY22" fmla="*/ 167899 h 361971"/>
                <a:gd name="connsiteX23" fmla="*/ 159109 w 362309"/>
                <a:gd name="connsiteY23" fmla="*/ 211948 h 361971"/>
                <a:gd name="connsiteX24" fmla="*/ 159748 w 362309"/>
                <a:gd name="connsiteY24" fmla="*/ 237484 h 361971"/>
                <a:gd name="connsiteX25" fmla="*/ 142496 w 362309"/>
                <a:gd name="connsiteY25" fmla="*/ 266212 h 361971"/>
                <a:gd name="connsiteX26" fmla="*/ 120131 w 362309"/>
                <a:gd name="connsiteY26" fmla="*/ 270681 h 361971"/>
                <a:gd name="connsiteX27" fmla="*/ 93293 w 362309"/>
                <a:gd name="connsiteY27" fmla="*/ 276426 h 361971"/>
                <a:gd name="connsiteX28" fmla="*/ 84347 w 362309"/>
                <a:gd name="connsiteY28" fmla="*/ 273873 h 361971"/>
                <a:gd name="connsiteX29" fmla="*/ 86903 w 362309"/>
                <a:gd name="connsiteY29" fmla="*/ 264935 h 361971"/>
                <a:gd name="connsiteX30" fmla="*/ 118853 w 362309"/>
                <a:gd name="connsiteY30" fmla="*/ 257274 h 361971"/>
                <a:gd name="connsiteX31" fmla="*/ 136106 w 362309"/>
                <a:gd name="connsiteY31" fmla="*/ 254082 h 361971"/>
                <a:gd name="connsiteX32" fmla="*/ 148246 w 362309"/>
                <a:gd name="connsiteY32" fmla="*/ 218332 h 361971"/>
                <a:gd name="connsiteX33" fmla="*/ 127799 w 362309"/>
                <a:gd name="connsiteY33" fmla="*/ 171091 h 361971"/>
                <a:gd name="connsiteX34" fmla="*/ 132911 w 362309"/>
                <a:gd name="connsiteY34" fmla="*/ 102782 h 361971"/>
                <a:gd name="connsiteX35" fmla="*/ 180196 w 362309"/>
                <a:gd name="connsiteY35" fmla="*/ 83630 h 361971"/>
                <a:gd name="connsiteX36" fmla="*/ 227482 w 362309"/>
                <a:gd name="connsiteY36" fmla="*/ 102782 h 361971"/>
                <a:gd name="connsiteX37" fmla="*/ 232593 w 362309"/>
                <a:gd name="connsiteY37" fmla="*/ 171091 h 361971"/>
                <a:gd name="connsiteX38" fmla="*/ 212146 w 362309"/>
                <a:gd name="connsiteY38" fmla="*/ 218332 h 361971"/>
                <a:gd name="connsiteX39" fmla="*/ 224287 w 362309"/>
                <a:gd name="connsiteY39" fmla="*/ 254082 h 361971"/>
                <a:gd name="connsiteX40" fmla="*/ 241540 w 362309"/>
                <a:gd name="connsiteY40" fmla="*/ 257274 h 361971"/>
                <a:gd name="connsiteX41" fmla="*/ 273489 w 362309"/>
                <a:gd name="connsiteY41" fmla="*/ 264935 h 361971"/>
                <a:gd name="connsiteX42" fmla="*/ 277323 w 362309"/>
                <a:gd name="connsiteY42" fmla="*/ 274511 h 361971"/>
                <a:gd name="connsiteX43" fmla="*/ 277323 w 362309"/>
                <a:gd name="connsiteY43" fmla="*/ 274511 h 361971"/>
                <a:gd name="connsiteX44" fmla="*/ 277323 w 362309"/>
                <a:gd name="connsiteY44" fmla="*/ 2745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1077"/>
                    <a:pt x="281157" y="0"/>
                    <a:pt x="181474" y="0"/>
                  </a:cubicBezTo>
                  <a:close/>
                  <a:moveTo>
                    <a:pt x="277323" y="274511"/>
                  </a:moveTo>
                  <a:cubicBezTo>
                    <a:pt x="276045" y="276426"/>
                    <a:pt x="274128" y="277703"/>
                    <a:pt x="271572" y="277703"/>
                  </a:cubicBezTo>
                  <a:cubicBezTo>
                    <a:pt x="270294" y="277703"/>
                    <a:pt x="269655" y="277703"/>
                    <a:pt x="268377" y="277065"/>
                  </a:cubicBezTo>
                  <a:cubicBezTo>
                    <a:pt x="260070" y="273234"/>
                    <a:pt x="250485" y="271319"/>
                    <a:pt x="241540" y="271319"/>
                  </a:cubicBezTo>
                  <a:cubicBezTo>
                    <a:pt x="233872" y="271319"/>
                    <a:pt x="226204" y="269404"/>
                    <a:pt x="219175" y="266850"/>
                  </a:cubicBezTo>
                  <a:cubicBezTo>
                    <a:pt x="208312" y="261105"/>
                    <a:pt x="203200" y="243868"/>
                    <a:pt x="201922" y="238122"/>
                  </a:cubicBezTo>
                  <a:cubicBezTo>
                    <a:pt x="200644" y="232377"/>
                    <a:pt x="198088" y="218971"/>
                    <a:pt x="202561" y="212587"/>
                  </a:cubicBezTo>
                  <a:cubicBezTo>
                    <a:pt x="210868" y="198542"/>
                    <a:pt x="216619" y="183859"/>
                    <a:pt x="221092" y="168537"/>
                  </a:cubicBezTo>
                  <a:cubicBezTo>
                    <a:pt x="225565" y="154492"/>
                    <a:pt x="226843" y="139809"/>
                    <a:pt x="224287" y="125765"/>
                  </a:cubicBezTo>
                  <a:cubicBezTo>
                    <a:pt x="218536" y="131510"/>
                    <a:pt x="210868" y="134702"/>
                    <a:pt x="203200" y="134702"/>
                  </a:cubicBezTo>
                  <a:cubicBezTo>
                    <a:pt x="201922" y="134702"/>
                    <a:pt x="200005" y="134064"/>
                    <a:pt x="199366" y="132787"/>
                  </a:cubicBezTo>
                  <a:lnTo>
                    <a:pt x="196171" y="129595"/>
                  </a:lnTo>
                  <a:lnTo>
                    <a:pt x="192976" y="132787"/>
                  </a:lnTo>
                  <a:cubicBezTo>
                    <a:pt x="192337" y="133425"/>
                    <a:pt x="191698" y="134064"/>
                    <a:pt x="190420" y="134064"/>
                  </a:cubicBezTo>
                  <a:cubicBezTo>
                    <a:pt x="184030" y="136617"/>
                    <a:pt x="177001" y="137894"/>
                    <a:pt x="169972" y="137256"/>
                  </a:cubicBezTo>
                  <a:cubicBezTo>
                    <a:pt x="157831" y="137894"/>
                    <a:pt x="146329" y="133425"/>
                    <a:pt x="137384" y="125126"/>
                  </a:cubicBezTo>
                  <a:cubicBezTo>
                    <a:pt x="134828" y="139171"/>
                    <a:pt x="136106" y="154492"/>
                    <a:pt x="140579" y="167899"/>
                  </a:cubicBezTo>
                  <a:cubicBezTo>
                    <a:pt x="145051" y="183220"/>
                    <a:pt x="151441" y="197903"/>
                    <a:pt x="159109" y="211948"/>
                  </a:cubicBezTo>
                  <a:cubicBezTo>
                    <a:pt x="163582" y="218971"/>
                    <a:pt x="161026" y="232377"/>
                    <a:pt x="159748" y="237484"/>
                  </a:cubicBezTo>
                  <a:cubicBezTo>
                    <a:pt x="158470" y="242591"/>
                    <a:pt x="153358" y="260466"/>
                    <a:pt x="142496" y="266212"/>
                  </a:cubicBezTo>
                  <a:cubicBezTo>
                    <a:pt x="135466" y="268766"/>
                    <a:pt x="127799" y="270681"/>
                    <a:pt x="120131" y="270681"/>
                  </a:cubicBezTo>
                  <a:cubicBezTo>
                    <a:pt x="110546" y="270681"/>
                    <a:pt x="101600" y="273234"/>
                    <a:pt x="93293" y="276426"/>
                  </a:cubicBezTo>
                  <a:cubicBezTo>
                    <a:pt x="90098" y="278341"/>
                    <a:pt x="86264" y="277065"/>
                    <a:pt x="84347" y="273873"/>
                  </a:cubicBezTo>
                  <a:cubicBezTo>
                    <a:pt x="82430" y="270681"/>
                    <a:pt x="83708" y="266850"/>
                    <a:pt x="86903" y="264935"/>
                  </a:cubicBezTo>
                  <a:cubicBezTo>
                    <a:pt x="97127" y="260466"/>
                    <a:pt x="107990" y="257913"/>
                    <a:pt x="118853" y="257274"/>
                  </a:cubicBezTo>
                  <a:cubicBezTo>
                    <a:pt x="124604" y="257274"/>
                    <a:pt x="130354" y="255998"/>
                    <a:pt x="136106" y="254082"/>
                  </a:cubicBezTo>
                  <a:cubicBezTo>
                    <a:pt x="145051" y="249614"/>
                    <a:pt x="150802" y="223439"/>
                    <a:pt x="148246" y="218332"/>
                  </a:cubicBezTo>
                  <a:cubicBezTo>
                    <a:pt x="139301" y="203649"/>
                    <a:pt x="132911" y="187689"/>
                    <a:pt x="127799" y="171091"/>
                  </a:cubicBezTo>
                  <a:cubicBezTo>
                    <a:pt x="122686" y="154492"/>
                    <a:pt x="116936" y="123211"/>
                    <a:pt x="132911" y="102782"/>
                  </a:cubicBezTo>
                  <a:cubicBezTo>
                    <a:pt x="142496" y="90014"/>
                    <a:pt x="158470" y="83630"/>
                    <a:pt x="180196" y="83630"/>
                  </a:cubicBezTo>
                  <a:cubicBezTo>
                    <a:pt x="201922" y="83630"/>
                    <a:pt x="217897" y="90014"/>
                    <a:pt x="227482" y="102782"/>
                  </a:cubicBezTo>
                  <a:cubicBezTo>
                    <a:pt x="243456" y="123849"/>
                    <a:pt x="237067" y="154492"/>
                    <a:pt x="232593" y="171091"/>
                  </a:cubicBezTo>
                  <a:cubicBezTo>
                    <a:pt x="228120" y="187689"/>
                    <a:pt x="221092" y="203649"/>
                    <a:pt x="212146" y="218332"/>
                  </a:cubicBezTo>
                  <a:cubicBezTo>
                    <a:pt x="209590" y="223439"/>
                    <a:pt x="215341" y="248975"/>
                    <a:pt x="224287" y="254082"/>
                  </a:cubicBezTo>
                  <a:cubicBezTo>
                    <a:pt x="230038" y="255998"/>
                    <a:pt x="235788" y="257274"/>
                    <a:pt x="241540" y="257274"/>
                  </a:cubicBezTo>
                  <a:cubicBezTo>
                    <a:pt x="252403" y="257913"/>
                    <a:pt x="263265" y="260466"/>
                    <a:pt x="273489" y="264935"/>
                  </a:cubicBezTo>
                  <a:cubicBezTo>
                    <a:pt x="277323" y="267489"/>
                    <a:pt x="278601" y="271319"/>
                    <a:pt x="277323" y="274511"/>
                  </a:cubicBezTo>
                  <a:cubicBezTo>
                    <a:pt x="277323" y="274511"/>
                    <a:pt x="277323" y="274511"/>
                    <a:pt x="277323" y="274511"/>
                  </a:cubicBezTo>
                  <a:lnTo>
                    <a:pt x="277323" y="274511"/>
                  </a:ln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grpSp>
      <p:sp>
        <p:nvSpPr>
          <p:cNvPr id="7" name="正方形/長方形 6">
            <a:extLst>
              <a:ext uri="{FF2B5EF4-FFF2-40B4-BE49-F238E27FC236}">
                <a16:creationId xmlns:a16="http://schemas.microsoft.com/office/drawing/2014/main" id="{3C07A4BC-82BB-53A6-CB72-D3750D3EA3FF}"/>
              </a:ext>
            </a:extLst>
          </p:cNvPr>
          <p:cNvSpPr/>
          <p:nvPr/>
        </p:nvSpPr>
        <p:spPr bwMode="gray">
          <a:xfrm>
            <a:off x="417017" y="1717682"/>
            <a:ext cx="4023247" cy="438596"/>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トラストフレームワーク策定プロセス・運用プロセス</a:t>
            </a:r>
          </a:p>
        </p:txBody>
      </p:sp>
      <p:sp>
        <p:nvSpPr>
          <p:cNvPr id="8" name="吹き出し: 四角形 7">
            <a:extLst>
              <a:ext uri="{FF2B5EF4-FFF2-40B4-BE49-F238E27FC236}">
                <a16:creationId xmlns:a16="http://schemas.microsoft.com/office/drawing/2014/main" id="{4A0BC73B-F2A4-EBCF-7947-518922E147AA}"/>
              </a:ext>
            </a:extLst>
          </p:cNvPr>
          <p:cNvSpPr/>
          <p:nvPr/>
        </p:nvSpPr>
        <p:spPr>
          <a:xfrm>
            <a:off x="2266513" y="2256737"/>
            <a:ext cx="7366437" cy="3534463"/>
          </a:xfrm>
          <a:prstGeom prst="wedgeRectCallout">
            <a:avLst>
              <a:gd name="adj1" fmla="val -56887"/>
              <a:gd name="adj2" fmla="val -19857"/>
            </a:avLst>
          </a:prstGeom>
          <a:solidFill>
            <a:schemeClr val="accent5">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a:spcBef>
                <a:spcPts val="600"/>
              </a:spcBef>
            </a:pPr>
            <a:r>
              <a:rPr lang="en-US" altLang="ja-JP" sz="1400" dirty="0"/>
              <a:t>【</a:t>
            </a:r>
            <a:r>
              <a:rPr lang="ja-JP" altLang="en-US" sz="1400" dirty="0"/>
              <a:t>策定におけるステークホルダの巻き込み</a:t>
            </a:r>
            <a:r>
              <a:rPr lang="en-US" altLang="ja-JP" sz="1400" dirty="0"/>
              <a:t>】</a:t>
            </a:r>
          </a:p>
          <a:p>
            <a:pPr marL="285750" indent="-285750">
              <a:spcBef>
                <a:spcPts val="600"/>
              </a:spcBef>
              <a:buFont typeface="Arial" panose="020B0604020202020204" pitchFamily="34" charset="0"/>
              <a:buChar char="•"/>
            </a:pPr>
            <a:r>
              <a:rPr lang="en-US" altLang="ja-JP" sz="1400" dirty="0"/>
              <a:t>DIACC(</a:t>
            </a:r>
            <a:r>
              <a:rPr lang="ja-JP" altLang="en-US" sz="1400" dirty="0"/>
              <a:t>官民コンソーシアム</a:t>
            </a:r>
            <a:r>
              <a:rPr lang="en-US" altLang="ja-JP" sz="1400" dirty="0"/>
              <a:t>)</a:t>
            </a:r>
            <a:r>
              <a:rPr lang="ja-JP" altLang="en-US" sz="1400" dirty="0"/>
              <a:t>に参加している有志によって策定を進めており、カナダの銀行、州政府、技術会社、通信会社、決済ネットワーク会社、コンサルタント会社からの代表が参画している</a:t>
            </a:r>
          </a:p>
          <a:p>
            <a:pPr marL="285750" indent="-285750">
              <a:spcBef>
                <a:spcPts val="600"/>
              </a:spcBef>
              <a:buFont typeface="Arial" panose="020B0604020202020204" pitchFamily="34" charset="0"/>
              <a:buChar char="•"/>
            </a:pPr>
            <a:r>
              <a:rPr lang="ja-JP" altLang="en-US" sz="1400" dirty="0"/>
              <a:t>作業委員会でドラフト→ドラフト承認→パブリックコメント公開を実施、作業委員会は有志メンバ及び</a:t>
            </a:r>
            <a:r>
              <a:rPr lang="en-US" altLang="ja-JP" sz="1400" dirty="0"/>
              <a:t>DIACC</a:t>
            </a:r>
            <a:r>
              <a:rPr lang="ja-JP" altLang="en-US" sz="1400" dirty="0"/>
              <a:t>職員で運営している</a:t>
            </a:r>
            <a:endParaRPr lang="en-US" altLang="ja-JP" sz="1400" dirty="0"/>
          </a:p>
          <a:p>
            <a:pPr marL="285750" indent="-285750">
              <a:spcBef>
                <a:spcPts val="600"/>
              </a:spcBef>
              <a:buFont typeface="Arial" panose="020B0604020202020204" pitchFamily="34" charset="0"/>
              <a:buChar char="•"/>
            </a:pPr>
            <a:r>
              <a:rPr lang="ja-JP" altLang="en-US" sz="1400" dirty="0"/>
              <a:t>取締役会で最終版が承認される。取締役会の構成員は民間</a:t>
            </a:r>
            <a:r>
              <a:rPr lang="en-US" altLang="ja-JP" sz="1400" dirty="0"/>
              <a:t>/</a:t>
            </a:r>
            <a:r>
              <a:rPr lang="ja-JP" altLang="en-US" sz="1400" dirty="0"/>
              <a:t>公共セクターからバランスよく選定されている</a:t>
            </a:r>
            <a:endParaRPr lang="en-US" altLang="ja-JP" sz="1400" dirty="0"/>
          </a:p>
          <a:p>
            <a:pPr>
              <a:spcBef>
                <a:spcPts val="600"/>
              </a:spcBef>
            </a:pPr>
            <a:r>
              <a:rPr lang="en-US" altLang="ja-JP" sz="1400" dirty="0"/>
              <a:t>【</a:t>
            </a:r>
            <a:r>
              <a:rPr lang="ja-JP" altLang="en-US" sz="1400" dirty="0"/>
              <a:t>運用のインセンティブ設計</a:t>
            </a:r>
            <a:r>
              <a:rPr lang="en-US" altLang="ja-JP" sz="1400" dirty="0"/>
              <a:t>】</a:t>
            </a:r>
          </a:p>
          <a:p>
            <a:pPr marL="285750" indent="-285750">
              <a:spcBef>
                <a:spcPts val="600"/>
              </a:spcBef>
              <a:buFont typeface="Arial" panose="020B0604020202020204" pitchFamily="34" charset="0"/>
              <a:buChar char="•"/>
            </a:pPr>
            <a:r>
              <a:rPr lang="ja-JP" altLang="en-US" sz="1400" dirty="0"/>
              <a:t>認定プログラムを用意しており、認定された事業者は、公共調達で優遇されるケースがある</a:t>
            </a:r>
            <a:endParaRPr lang="en-US" altLang="ja-JP" sz="1400" dirty="0"/>
          </a:p>
          <a:p>
            <a:pPr>
              <a:spcBef>
                <a:spcPts val="600"/>
              </a:spcBef>
            </a:pPr>
            <a:r>
              <a:rPr lang="en-US" altLang="ja-JP" sz="1400" dirty="0"/>
              <a:t>【</a:t>
            </a:r>
            <a:r>
              <a:rPr lang="ja-JP" altLang="en-US" sz="1400" dirty="0"/>
              <a:t>トラストフレームワーク策定・運用上の課題</a:t>
            </a:r>
            <a:r>
              <a:rPr lang="en-US" altLang="ja-JP" sz="1400" dirty="0"/>
              <a:t>】</a:t>
            </a:r>
          </a:p>
          <a:p>
            <a:pPr marL="285750" indent="-285750">
              <a:spcBef>
                <a:spcPts val="600"/>
              </a:spcBef>
              <a:buFont typeface="Arial" panose="020B0604020202020204" pitchFamily="34" charset="0"/>
              <a:buChar char="•"/>
            </a:pPr>
            <a:r>
              <a:rPr lang="ja-JP" altLang="en-US" sz="1400" dirty="0"/>
              <a:t>策定においては、同じ課題感を有している有志の集まりのため課題がないと感じている一方で、認定に強力なインセンティブがないことから認定プログラムが当初の想定よりも進んでおらず社会実装が課題となっている</a:t>
            </a:r>
          </a:p>
          <a:p>
            <a:pPr marL="285750" indent="-285750">
              <a:spcBef>
                <a:spcPts val="600"/>
              </a:spcBef>
              <a:buFont typeface="Arial" panose="020B0604020202020204" pitchFamily="34" charset="0"/>
              <a:buChar char="•"/>
            </a:pPr>
            <a:endParaRPr lang="en-US" altLang="ja-JP" sz="1400" dirty="0"/>
          </a:p>
        </p:txBody>
      </p:sp>
      <p:sp>
        <p:nvSpPr>
          <p:cNvPr id="9" name="コンテンツ プレースホルダー 2">
            <a:extLst>
              <a:ext uri="{FF2B5EF4-FFF2-40B4-BE49-F238E27FC236}">
                <a16:creationId xmlns:a16="http://schemas.microsoft.com/office/drawing/2014/main" id="{78BBC145-E4D4-C406-19BC-F5B92ECE8EBA}"/>
              </a:ext>
            </a:extLst>
          </p:cNvPr>
          <p:cNvSpPr txBox="1">
            <a:spLocks/>
          </p:cNvSpPr>
          <p:nvPr/>
        </p:nvSpPr>
        <p:spPr>
          <a:xfrm>
            <a:off x="273050" y="913526"/>
            <a:ext cx="9359900"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r>
              <a:rPr lang="ja-JP" altLang="en-US" dirty="0"/>
              <a:t>州政府と民間事業者の有志を中心に取り組んでいるため、トラストフレームワークの策定において調整が困難等の課題はないものの、認定プログラムの普及が課題となっている</a:t>
            </a:r>
            <a:endParaRPr lang="en-US" altLang="ja-JP" dirty="0"/>
          </a:p>
        </p:txBody>
      </p:sp>
    </p:spTree>
    <p:extLst>
      <p:ext uri="{BB962C8B-B14F-4D97-AF65-F5344CB8AC3E}">
        <p14:creationId xmlns:p14="http://schemas.microsoft.com/office/powerpoint/2010/main" val="3019006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28A29B-1947-94B4-43BA-EA87E8841902}"/>
              </a:ext>
            </a:extLst>
          </p:cNvPr>
          <p:cNvSpPr>
            <a:spLocks noGrp="1"/>
          </p:cNvSpPr>
          <p:nvPr>
            <p:ph type="title"/>
          </p:nvPr>
        </p:nvSpPr>
        <p:spPr/>
        <p:txBody>
          <a:bodyPr/>
          <a:lstStyle/>
          <a:p>
            <a:r>
              <a:rPr kumimoji="1" lang="en-US" altLang="ja-JP" dirty="0"/>
              <a:t>3.5. </a:t>
            </a:r>
            <a:r>
              <a:rPr kumimoji="1" lang="ja-JP" altLang="en-US" dirty="0"/>
              <a:t>カナダ：</a:t>
            </a:r>
            <a:r>
              <a:rPr kumimoji="1" lang="en-US" altLang="ja-JP" dirty="0"/>
              <a:t>PCTF – 3.5.3. </a:t>
            </a:r>
            <a:r>
              <a:rPr kumimoji="1" lang="ja-JP" altLang="en-US" dirty="0"/>
              <a:t>ヒアリング結果</a:t>
            </a:r>
            <a:r>
              <a:rPr kumimoji="1" lang="en-US" altLang="ja-JP" dirty="0"/>
              <a:t>(2/2)</a:t>
            </a:r>
            <a:endParaRPr kumimoji="1" lang="ja-JP" altLang="en-US" dirty="0"/>
          </a:p>
        </p:txBody>
      </p:sp>
      <p:sp>
        <p:nvSpPr>
          <p:cNvPr id="3" name="テキスト プレースホルダー 2">
            <a:extLst>
              <a:ext uri="{FF2B5EF4-FFF2-40B4-BE49-F238E27FC236}">
                <a16:creationId xmlns:a16="http://schemas.microsoft.com/office/drawing/2014/main" id="{F6EE2756-4285-4AC8-2AB6-1BD8BDE2E9FB}"/>
              </a:ext>
            </a:extLst>
          </p:cNvPr>
          <p:cNvSpPr>
            <a:spLocks noGrp="1"/>
          </p:cNvSpPr>
          <p:nvPr>
            <p:ph type="body" sz="quarter" idx="10"/>
          </p:nvPr>
        </p:nvSpPr>
        <p:spPr>
          <a:xfrm>
            <a:off x="273050" y="188913"/>
            <a:ext cx="7848600" cy="161583"/>
          </a:xfrm>
        </p:spPr>
        <p:txBody>
          <a:bodyPr/>
          <a:lstStyle/>
          <a:p>
            <a:r>
              <a:rPr kumimoji="1" lang="en-US" altLang="ja-JP" dirty="0"/>
              <a:t>3. </a:t>
            </a:r>
            <a:r>
              <a:rPr kumimoji="1" lang="ja-JP" altLang="en-US" dirty="0"/>
              <a:t>調査結果</a:t>
            </a:r>
          </a:p>
        </p:txBody>
      </p:sp>
      <p:grpSp>
        <p:nvGrpSpPr>
          <p:cNvPr id="4" name="Graphic 4">
            <a:extLst>
              <a:ext uri="{FF2B5EF4-FFF2-40B4-BE49-F238E27FC236}">
                <a16:creationId xmlns:a16="http://schemas.microsoft.com/office/drawing/2014/main" id="{8857DD71-9482-204D-B4E2-44046FA6CF40}"/>
              </a:ext>
            </a:extLst>
          </p:cNvPr>
          <p:cNvGrpSpPr>
            <a:grpSpLocks noChangeAspect="1"/>
          </p:cNvGrpSpPr>
          <p:nvPr/>
        </p:nvGrpSpPr>
        <p:grpSpPr bwMode="gray">
          <a:xfrm>
            <a:off x="560388" y="2437727"/>
            <a:ext cx="1221430" cy="1221430"/>
            <a:chOff x="6146480" y="3339623"/>
            <a:chExt cx="362309" cy="361971"/>
          </a:xfrm>
          <a:solidFill>
            <a:schemeClr val="accent1"/>
          </a:solidFill>
        </p:grpSpPr>
        <p:sp>
          <p:nvSpPr>
            <p:cNvPr id="5" name="Graphic 4">
              <a:extLst>
                <a:ext uri="{FF2B5EF4-FFF2-40B4-BE49-F238E27FC236}">
                  <a16:creationId xmlns:a16="http://schemas.microsoft.com/office/drawing/2014/main" id="{DF7F6776-F8E7-1B9E-947B-DE3B65C3737F}"/>
                </a:ext>
              </a:extLst>
            </p:cNvPr>
            <p:cNvSpPr/>
            <p:nvPr/>
          </p:nvSpPr>
          <p:spPr bwMode="gray">
            <a:xfrm>
              <a:off x="6290254" y="3436660"/>
              <a:ext cx="75401" cy="27950"/>
            </a:xfrm>
            <a:custGeom>
              <a:avLst/>
              <a:gdLst>
                <a:gd name="connsiteX0" fmla="*/ 37700 w 75401"/>
                <a:gd name="connsiteY0" fmla="*/ 0 h 27950"/>
                <a:gd name="connsiteX1" fmla="*/ 639 w 75401"/>
                <a:gd name="connsiteY1" fmla="*/ 14045 h 27950"/>
                <a:gd name="connsiteX2" fmla="*/ 0 w 75401"/>
                <a:gd name="connsiteY2" fmla="*/ 15321 h 27950"/>
                <a:gd name="connsiteX3" fmla="*/ 42173 w 75401"/>
                <a:gd name="connsiteY3" fmla="*/ 25536 h 27950"/>
                <a:gd name="connsiteX4" fmla="*/ 48563 w 75401"/>
                <a:gd name="connsiteY4" fmla="*/ 19152 h 27950"/>
                <a:gd name="connsiteX5" fmla="*/ 57509 w 75401"/>
                <a:gd name="connsiteY5" fmla="*/ 19152 h 27950"/>
                <a:gd name="connsiteX6" fmla="*/ 57509 w 75401"/>
                <a:gd name="connsiteY6" fmla="*/ 19152 h 27950"/>
                <a:gd name="connsiteX7" fmla="*/ 62621 w 75401"/>
                <a:gd name="connsiteY7" fmla="*/ 24259 h 27950"/>
                <a:gd name="connsiteX8" fmla="*/ 75401 w 75401"/>
                <a:gd name="connsiteY8" fmla="*/ 15321 h 27950"/>
                <a:gd name="connsiteX9" fmla="*/ 74762 w 75401"/>
                <a:gd name="connsiteY9" fmla="*/ 14045 h 27950"/>
                <a:gd name="connsiteX10" fmla="*/ 37700 w 75401"/>
                <a:gd name="connsiteY10" fmla="*/ 0 h 2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401" h="27950">
                  <a:moveTo>
                    <a:pt x="37700" y="0"/>
                  </a:moveTo>
                  <a:cubicBezTo>
                    <a:pt x="19809" y="0"/>
                    <a:pt x="7668" y="5107"/>
                    <a:pt x="639" y="14045"/>
                  </a:cubicBezTo>
                  <a:lnTo>
                    <a:pt x="0" y="15321"/>
                  </a:lnTo>
                  <a:cubicBezTo>
                    <a:pt x="12780" y="33197"/>
                    <a:pt x="36422" y="27451"/>
                    <a:pt x="42173" y="25536"/>
                  </a:cubicBezTo>
                  <a:lnTo>
                    <a:pt x="48563" y="19152"/>
                  </a:lnTo>
                  <a:cubicBezTo>
                    <a:pt x="51119" y="16598"/>
                    <a:pt x="54953" y="16598"/>
                    <a:pt x="57509" y="19152"/>
                  </a:cubicBezTo>
                  <a:cubicBezTo>
                    <a:pt x="57509" y="19152"/>
                    <a:pt x="57509" y="19152"/>
                    <a:pt x="57509" y="19152"/>
                  </a:cubicBezTo>
                  <a:lnTo>
                    <a:pt x="62621" y="24259"/>
                  </a:lnTo>
                  <a:cubicBezTo>
                    <a:pt x="67733" y="22982"/>
                    <a:pt x="72206" y="19790"/>
                    <a:pt x="75401" y="15321"/>
                  </a:cubicBezTo>
                  <a:cubicBezTo>
                    <a:pt x="75401" y="14683"/>
                    <a:pt x="74762" y="14683"/>
                    <a:pt x="74762" y="14045"/>
                  </a:cubicBezTo>
                  <a:cubicBezTo>
                    <a:pt x="67733" y="5107"/>
                    <a:pt x="54953" y="0"/>
                    <a:pt x="37700" y="0"/>
                  </a:cubicBez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sp>
          <p:nvSpPr>
            <p:cNvPr id="6" name="Graphic 4">
              <a:extLst>
                <a:ext uri="{FF2B5EF4-FFF2-40B4-BE49-F238E27FC236}">
                  <a16:creationId xmlns:a16="http://schemas.microsoft.com/office/drawing/2014/main" id="{5F98EB87-C117-4EB0-A5C0-5C80FE8FDA9B}"/>
                </a:ext>
              </a:extLst>
            </p:cNvPr>
            <p:cNvSpPr/>
            <p:nvPr/>
          </p:nvSpPr>
          <p:spPr bwMode="gray">
            <a:xfrm>
              <a:off x="6146480" y="33396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77323 w 362309"/>
                <a:gd name="connsiteY6" fmla="*/ 274511 h 361971"/>
                <a:gd name="connsiteX7" fmla="*/ 271572 w 362309"/>
                <a:gd name="connsiteY7" fmla="*/ 277703 h 361971"/>
                <a:gd name="connsiteX8" fmla="*/ 268377 w 362309"/>
                <a:gd name="connsiteY8" fmla="*/ 277065 h 361971"/>
                <a:gd name="connsiteX9" fmla="*/ 241540 w 362309"/>
                <a:gd name="connsiteY9" fmla="*/ 271319 h 361971"/>
                <a:gd name="connsiteX10" fmla="*/ 219175 w 362309"/>
                <a:gd name="connsiteY10" fmla="*/ 266850 h 361971"/>
                <a:gd name="connsiteX11" fmla="*/ 201922 w 362309"/>
                <a:gd name="connsiteY11" fmla="*/ 238122 h 361971"/>
                <a:gd name="connsiteX12" fmla="*/ 202561 w 362309"/>
                <a:gd name="connsiteY12" fmla="*/ 212587 h 361971"/>
                <a:gd name="connsiteX13" fmla="*/ 221092 w 362309"/>
                <a:gd name="connsiteY13" fmla="*/ 168537 h 361971"/>
                <a:gd name="connsiteX14" fmla="*/ 224287 w 362309"/>
                <a:gd name="connsiteY14" fmla="*/ 125765 h 361971"/>
                <a:gd name="connsiteX15" fmla="*/ 203200 w 362309"/>
                <a:gd name="connsiteY15" fmla="*/ 134702 h 361971"/>
                <a:gd name="connsiteX16" fmla="*/ 199366 w 362309"/>
                <a:gd name="connsiteY16" fmla="*/ 132787 h 361971"/>
                <a:gd name="connsiteX17" fmla="*/ 196171 w 362309"/>
                <a:gd name="connsiteY17" fmla="*/ 129595 h 361971"/>
                <a:gd name="connsiteX18" fmla="*/ 192976 w 362309"/>
                <a:gd name="connsiteY18" fmla="*/ 132787 h 361971"/>
                <a:gd name="connsiteX19" fmla="*/ 190420 w 362309"/>
                <a:gd name="connsiteY19" fmla="*/ 134064 h 361971"/>
                <a:gd name="connsiteX20" fmla="*/ 169972 w 362309"/>
                <a:gd name="connsiteY20" fmla="*/ 137256 h 361971"/>
                <a:gd name="connsiteX21" fmla="*/ 137384 w 362309"/>
                <a:gd name="connsiteY21" fmla="*/ 125126 h 361971"/>
                <a:gd name="connsiteX22" fmla="*/ 140579 w 362309"/>
                <a:gd name="connsiteY22" fmla="*/ 167899 h 361971"/>
                <a:gd name="connsiteX23" fmla="*/ 159109 w 362309"/>
                <a:gd name="connsiteY23" fmla="*/ 211948 h 361971"/>
                <a:gd name="connsiteX24" fmla="*/ 159748 w 362309"/>
                <a:gd name="connsiteY24" fmla="*/ 237484 h 361971"/>
                <a:gd name="connsiteX25" fmla="*/ 142496 w 362309"/>
                <a:gd name="connsiteY25" fmla="*/ 266212 h 361971"/>
                <a:gd name="connsiteX26" fmla="*/ 120131 w 362309"/>
                <a:gd name="connsiteY26" fmla="*/ 270681 h 361971"/>
                <a:gd name="connsiteX27" fmla="*/ 93293 w 362309"/>
                <a:gd name="connsiteY27" fmla="*/ 276426 h 361971"/>
                <a:gd name="connsiteX28" fmla="*/ 84347 w 362309"/>
                <a:gd name="connsiteY28" fmla="*/ 273873 h 361971"/>
                <a:gd name="connsiteX29" fmla="*/ 86903 w 362309"/>
                <a:gd name="connsiteY29" fmla="*/ 264935 h 361971"/>
                <a:gd name="connsiteX30" fmla="*/ 118853 w 362309"/>
                <a:gd name="connsiteY30" fmla="*/ 257274 h 361971"/>
                <a:gd name="connsiteX31" fmla="*/ 136106 w 362309"/>
                <a:gd name="connsiteY31" fmla="*/ 254082 h 361971"/>
                <a:gd name="connsiteX32" fmla="*/ 148246 w 362309"/>
                <a:gd name="connsiteY32" fmla="*/ 218332 h 361971"/>
                <a:gd name="connsiteX33" fmla="*/ 127799 w 362309"/>
                <a:gd name="connsiteY33" fmla="*/ 171091 h 361971"/>
                <a:gd name="connsiteX34" fmla="*/ 132911 w 362309"/>
                <a:gd name="connsiteY34" fmla="*/ 102782 h 361971"/>
                <a:gd name="connsiteX35" fmla="*/ 180196 w 362309"/>
                <a:gd name="connsiteY35" fmla="*/ 83630 h 361971"/>
                <a:gd name="connsiteX36" fmla="*/ 227482 w 362309"/>
                <a:gd name="connsiteY36" fmla="*/ 102782 h 361971"/>
                <a:gd name="connsiteX37" fmla="*/ 232593 w 362309"/>
                <a:gd name="connsiteY37" fmla="*/ 171091 h 361971"/>
                <a:gd name="connsiteX38" fmla="*/ 212146 w 362309"/>
                <a:gd name="connsiteY38" fmla="*/ 218332 h 361971"/>
                <a:gd name="connsiteX39" fmla="*/ 224287 w 362309"/>
                <a:gd name="connsiteY39" fmla="*/ 254082 h 361971"/>
                <a:gd name="connsiteX40" fmla="*/ 241540 w 362309"/>
                <a:gd name="connsiteY40" fmla="*/ 257274 h 361971"/>
                <a:gd name="connsiteX41" fmla="*/ 273489 w 362309"/>
                <a:gd name="connsiteY41" fmla="*/ 264935 h 361971"/>
                <a:gd name="connsiteX42" fmla="*/ 277323 w 362309"/>
                <a:gd name="connsiteY42" fmla="*/ 274511 h 361971"/>
                <a:gd name="connsiteX43" fmla="*/ 277323 w 362309"/>
                <a:gd name="connsiteY43" fmla="*/ 274511 h 361971"/>
                <a:gd name="connsiteX44" fmla="*/ 277323 w 362309"/>
                <a:gd name="connsiteY44" fmla="*/ 2745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1077"/>
                    <a:pt x="281157" y="0"/>
                    <a:pt x="181474" y="0"/>
                  </a:cubicBezTo>
                  <a:close/>
                  <a:moveTo>
                    <a:pt x="277323" y="274511"/>
                  </a:moveTo>
                  <a:cubicBezTo>
                    <a:pt x="276045" y="276426"/>
                    <a:pt x="274128" y="277703"/>
                    <a:pt x="271572" y="277703"/>
                  </a:cubicBezTo>
                  <a:cubicBezTo>
                    <a:pt x="270294" y="277703"/>
                    <a:pt x="269655" y="277703"/>
                    <a:pt x="268377" y="277065"/>
                  </a:cubicBezTo>
                  <a:cubicBezTo>
                    <a:pt x="260070" y="273234"/>
                    <a:pt x="250485" y="271319"/>
                    <a:pt x="241540" y="271319"/>
                  </a:cubicBezTo>
                  <a:cubicBezTo>
                    <a:pt x="233872" y="271319"/>
                    <a:pt x="226204" y="269404"/>
                    <a:pt x="219175" y="266850"/>
                  </a:cubicBezTo>
                  <a:cubicBezTo>
                    <a:pt x="208312" y="261105"/>
                    <a:pt x="203200" y="243868"/>
                    <a:pt x="201922" y="238122"/>
                  </a:cubicBezTo>
                  <a:cubicBezTo>
                    <a:pt x="200644" y="232377"/>
                    <a:pt x="198088" y="218971"/>
                    <a:pt x="202561" y="212587"/>
                  </a:cubicBezTo>
                  <a:cubicBezTo>
                    <a:pt x="210868" y="198542"/>
                    <a:pt x="216619" y="183859"/>
                    <a:pt x="221092" y="168537"/>
                  </a:cubicBezTo>
                  <a:cubicBezTo>
                    <a:pt x="225565" y="154492"/>
                    <a:pt x="226843" y="139809"/>
                    <a:pt x="224287" y="125765"/>
                  </a:cubicBezTo>
                  <a:cubicBezTo>
                    <a:pt x="218536" y="131510"/>
                    <a:pt x="210868" y="134702"/>
                    <a:pt x="203200" y="134702"/>
                  </a:cubicBezTo>
                  <a:cubicBezTo>
                    <a:pt x="201922" y="134702"/>
                    <a:pt x="200005" y="134064"/>
                    <a:pt x="199366" y="132787"/>
                  </a:cubicBezTo>
                  <a:lnTo>
                    <a:pt x="196171" y="129595"/>
                  </a:lnTo>
                  <a:lnTo>
                    <a:pt x="192976" y="132787"/>
                  </a:lnTo>
                  <a:cubicBezTo>
                    <a:pt x="192337" y="133425"/>
                    <a:pt x="191698" y="134064"/>
                    <a:pt x="190420" y="134064"/>
                  </a:cubicBezTo>
                  <a:cubicBezTo>
                    <a:pt x="184030" y="136617"/>
                    <a:pt x="177001" y="137894"/>
                    <a:pt x="169972" y="137256"/>
                  </a:cubicBezTo>
                  <a:cubicBezTo>
                    <a:pt x="157831" y="137894"/>
                    <a:pt x="146329" y="133425"/>
                    <a:pt x="137384" y="125126"/>
                  </a:cubicBezTo>
                  <a:cubicBezTo>
                    <a:pt x="134828" y="139171"/>
                    <a:pt x="136106" y="154492"/>
                    <a:pt x="140579" y="167899"/>
                  </a:cubicBezTo>
                  <a:cubicBezTo>
                    <a:pt x="145051" y="183220"/>
                    <a:pt x="151441" y="197903"/>
                    <a:pt x="159109" y="211948"/>
                  </a:cubicBezTo>
                  <a:cubicBezTo>
                    <a:pt x="163582" y="218971"/>
                    <a:pt x="161026" y="232377"/>
                    <a:pt x="159748" y="237484"/>
                  </a:cubicBezTo>
                  <a:cubicBezTo>
                    <a:pt x="158470" y="242591"/>
                    <a:pt x="153358" y="260466"/>
                    <a:pt x="142496" y="266212"/>
                  </a:cubicBezTo>
                  <a:cubicBezTo>
                    <a:pt x="135466" y="268766"/>
                    <a:pt x="127799" y="270681"/>
                    <a:pt x="120131" y="270681"/>
                  </a:cubicBezTo>
                  <a:cubicBezTo>
                    <a:pt x="110546" y="270681"/>
                    <a:pt x="101600" y="273234"/>
                    <a:pt x="93293" y="276426"/>
                  </a:cubicBezTo>
                  <a:cubicBezTo>
                    <a:pt x="90098" y="278341"/>
                    <a:pt x="86264" y="277065"/>
                    <a:pt x="84347" y="273873"/>
                  </a:cubicBezTo>
                  <a:cubicBezTo>
                    <a:pt x="82430" y="270681"/>
                    <a:pt x="83708" y="266850"/>
                    <a:pt x="86903" y="264935"/>
                  </a:cubicBezTo>
                  <a:cubicBezTo>
                    <a:pt x="97127" y="260466"/>
                    <a:pt x="107990" y="257913"/>
                    <a:pt x="118853" y="257274"/>
                  </a:cubicBezTo>
                  <a:cubicBezTo>
                    <a:pt x="124604" y="257274"/>
                    <a:pt x="130354" y="255998"/>
                    <a:pt x="136106" y="254082"/>
                  </a:cubicBezTo>
                  <a:cubicBezTo>
                    <a:pt x="145051" y="249614"/>
                    <a:pt x="150802" y="223439"/>
                    <a:pt x="148246" y="218332"/>
                  </a:cubicBezTo>
                  <a:cubicBezTo>
                    <a:pt x="139301" y="203649"/>
                    <a:pt x="132911" y="187689"/>
                    <a:pt x="127799" y="171091"/>
                  </a:cubicBezTo>
                  <a:cubicBezTo>
                    <a:pt x="122686" y="154492"/>
                    <a:pt x="116936" y="123211"/>
                    <a:pt x="132911" y="102782"/>
                  </a:cubicBezTo>
                  <a:cubicBezTo>
                    <a:pt x="142496" y="90014"/>
                    <a:pt x="158470" y="83630"/>
                    <a:pt x="180196" y="83630"/>
                  </a:cubicBezTo>
                  <a:cubicBezTo>
                    <a:pt x="201922" y="83630"/>
                    <a:pt x="217897" y="90014"/>
                    <a:pt x="227482" y="102782"/>
                  </a:cubicBezTo>
                  <a:cubicBezTo>
                    <a:pt x="243456" y="123849"/>
                    <a:pt x="237067" y="154492"/>
                    <a:pt x="232593" y="171091"/>
                  </a:cubicBezTo>
                  <a:cubicBezTo>
                    <a:pt x="228120" y="187689"/>
                    <a:pt x="221092" y="203649"/>
                    <a:pt x="212146" y="218332"/>
                  </a:cubicBezTo>
                  <a:cubicBezTo>
                    <a:pt x="209590" y="223439"/>
                    <a:pt x="215341" y="248975"/>
                    <a:pt x="224287" y="254082"/>
                  </a:cubicBezTo>
                  <a:cubicBezTo>
                    <a:pt x="230038" y="255998"/>
                    <a:pt x="235788" y="257274"/>
                    <a:pt x="241540" y="257274"/>
                  </a:cubicBezTo>
                  <a:cubicBezTo>
                    <a:pt x="252403" y="257913"/>
                    <a:pt x="263265" y="260466"/>
                    <a:pt x="273489" y="264935"/>
                  </a:cubicBezTo>
                  <a:cubicBezTo>
                    <a:pt x="277323" y="267489"/>
                    <a:pt x="278601" y="271319"/>
                    <a:pt x="277323" y="274511"/>
                  </a:cubicBezTo>
                  <a:cubicBezTo>
                    <a:pt x="277323" y="274511"/>
                    <a:pt x="277323" y="274511"/>
                    <a:pt x="277323" y="274511"/>
                  </a:cubicBezTo>
                  <a:lnTo>
                    <a:pt x="277323" y="274511"/>
                  </a:ln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grpSp>
      <p:sp>
        <p:nvSpPr>
          <p:cNvPr id="7" name="正方形/長方形 6">
            <a:extLst>
              <a:ext uri="{FF2B5EF4-FFF2-40B4-BE49-F238E27FC236}">
                <a16:creationId xmlns:a16="http://schemas.microsoft.com/office/drawing/2014/main" id="{1998C425-CDE6-8955-EE9C-4A2F50ACA483}"/>
              </a:ext>
            </a:extLst>
          </p:cNvPr>
          <p:cNvSpPr/>
          <p:nvPr/>
        </p:nvSpPr>
        <p:spPr bwMode="gray">
          <a:xfrm>
            <a:off x="417017" y="1510854"/>
            <a:ext cx="4023247" cy="438596"/>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官民コンソーシアム設立・運営</a:t>
            </a:r>
          </a:p>
        </p:txBody>
      </p:sp>
      <p:sp>
        <p:nvSpPr>
          <p:cNvPr id="8" name="吹き出し: 四角形 7">
            <a:extLst>
              <a:ext uri="{FF2B5EF4-FFF2-40B4-BE49-F238E27FC236}">
                <a16:creationId xmlns:a16="http://schemas.microsoft.com/office/drawing/2014/main" id="{16713330-54E3-3EC6-F4F5-6B58BCB74CA6}"/>
              </a:ext>
            </a:extLst>
          </p:cNvPr>
          <p:cNvSpPr/>
          <p:nvPr/>
        </p:nvSpPr>
        <p:spPr>
          <a:xfrm>
            <a:off x="2266513" y="2049909"/>
            <a:ext cx="7366437" cy="4474716"/>
          </a:xfrm>
          <a:prstGeom prst="wedgeRectCallout">
            <a:avLst>
              <a:gd name="adj1" fmla="val -56740"/>
              <a:gd name="adj2" fmla="val -22290"/>
            </a:avLst>
          </a:prstGeom>
          <a:solidFill>
            <a:schemeClr val="accent5">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a:spcBef>
                <a:spcPts val="600"/>
              </a:spcBef>
            </a:pPr>
            <a:r>
              <a:rPr lang="en-US" altLang="ja-JP" sz="1400" dirty="0"/>
              <a:t>【</a:t>
            </a:r>
            <a:r>
              <a:rPr lang="ja-JP" altLang="en-US" sz="1400" dirty="0"/>
              <a:t>コンソーシアムの目的</a:t>
            </a:r>
            <a:r>
              <a:rPr lang="en-US" altLang="ja-JP" sz="1400" dirty="0"/>
              <a:t>】</a:t>
            </a:r>
          </a:p>
          <a:p>
            <a:pPr marL="285750" indent="-285750">
              <a:spcBef>
                <a:spcPts val="600"/>
              </a:spcBef>
              <a:buFont typeface="Arial" panose="020B0604020202020204" pitchFamily="34" charset="0"/>
              <a:buChar char="•"/>
            </a:pPr>
            <a:r>
              <a:rPr lang="ja-JP" altLang="en-US" sz="1400" dirty="0"/>
              <a:t>カナダ人が世界のデジタル経済に完全かつ安全に参加できるようにすること、安全でスケーラブルで、包括的で、プライバシーを強化するデジタルエコシステムを確立すること、カナダ全体でデジタル</a:t>
            </a:r>
            <a:r>
              <a:rPr lang="en-US" altLang="ja-JP" sz="1400" dirty="0"/>
              <a:t>ID</a:t>
            </a:r>
            <a:r>
              <a:rPr lang="ja-JP" altLang="en-US" sz="1400" dirty="0"/>
              <a:t>ソリューションの導入を促進することである</a:t>
            </a:r>
            <a:r>
              <a:rPr lang="en-US" altLang="ja-JP" sz="1400" dirty="0"/>
              <a:t>(</a:t>
            </a:r>
            <a:r>
              <a:rPr lang="ja-JP" altLang="en-US" sz="1400" dirty="0"/>
              <a:t>技術仕様の選定は対象外となっている</a:t>
            </a:r>
            <a:r>
              <a:rPr lang="en-US" altLang="ja-JP" sz="1400" dirty="0"/>
              <a:t>)</a:t>
            </a:r>
          </a:p>
          <a:p>
            <a:pPr>
              <a:spcBef>
                <a:spcPts val="600"/>
              </a:spcBef>
            </a:pPr>
            <a:r>
              <a:rPr lang="en-US" altLang="ja-JP" sz="1400" dirty="0"/>
              <a:t>【</a:t>
            </a:r>
            <a:r>
              <a:rPr lang="ja-JP" altLang="en-US" sz="1400" dirty="0"/>
              <a:t>コンソーシアム運営実態</a:t>
            </a:r>
            <a:r>
              <a:rPr lang="en-US" altLang="ja-JP" sz="1400" dirty="0"/>
              <a:t>】</a:t>
            </a:r>
          </a:p>
          <a:p>
            <a:pPr marL="285750" indent="-285750">
              <a:spcBef>
                <a:spcPts val="600"/>
              </a:spcBef>
              <a:buFont typeface="Arial" panose="020B0604020202020204" pitchFamily="34" charset="0"/>
              <a:buChar char="•"/>
            </a:pPr>
            <a:r>
              <a:rPr lang="ja-JP" altLang="en-US" sz="1400" dirty="0"/>
              <a:t>コンソーシアム参加者から会費を徴収して運営しており、</a:t>
            </a:r>
            <a:r>
              <a:rPr lang="en-US" altLang="ja-JP" sz="1400" dirty="0"/>
              <a:t>2</a:t>
            </a:r>
            <a:r>
              <a:rPr lang="ja-JP" altLang="en-US" sz="1400" dirty="0"/>
              <a:t>名の正社員がいる</a:t>
            </a:r>
            <a:br>
              <a:rPr lang="en-US" altLang="ja-JP" sz="1400" dirty="0"/>
            </a:br>
            <a:r>
              <a:rPr lang="ja-JP" altLang="en-US" sz="1400" dirty="0"/>
              <a:t>（作業グループと委員会を管理）</a:t>
            </a:r>
          </a:p>
          <a:p>
            <a:pPr marL="285750" indent="-285750">
              <a:spcBef>
                <a:spcPts val="600"/>
              </a:spcBef>
              <a:buFont typeface="Arial" panose="020B0604020202020204" pitchFamily="34" charset="0"/>
              <a:buChar char="•"/>
            </a:pPr>
            <a:r>
              <a:rPr lang="ja-JP" altLang="en-US" sz="1400" dirty="0"/>
              <a:t>討議ではチャタム・ハウスルールを適用</a:t>
            </a:r>
            <a:r>
              <a:rPr lang="en-US" altLang="ja-JP" sz="1400" dirty="0"/>
              <a:t>(</a:t>
            </a:r>
            <a:r>
              <a:rPr lang="ja-JP" altLang="en-US" sz="1400" dirty="0"/>
              <a:t>参加者は受け取った情報を自由に使用できるが、参加者の身元や所属を明らかにすることは不可</a:t>
            </a:r>
            <a:r>
              <a:rPr lang="en-US" altLang="ja-JP" sz="1400" dirty="0"/>
              <a:t>)</a:t>
            </a:r>
            <a:r>
              <a:rPr lang="ja-JP" altLang="en-US" sz="1400" dirty="0"/>
              <a:t>、知的財産権は</a:t>
            </a:r>
            <a:r>
              <a:rPr lang="en-US" altLang="ja-JP" sz="1400" dirty="0"/>
              <a:t>DIACC</a:t>
            </a:r>
            <a:r>
              <a:rPr lang="ja-JP" altLang="en-US" sz="1400" dirty="0"/>
              <a:t>が保有する</a:t>
            </a:r>
            <a:endParaRPr lang="en-US" altLang="ja-JP" sz="1400" dirty="0"/>
          </a:p>
          <a:p>
            <a:pPr marL="742950" lvl="1" indent="-285750">
              <a:spcBef>
                <a:spcPts val="600"/>
              </a:spcBef>
              <a:buFont typeface="Wingdings" panose="05000000000000000000" pitchFamily="2" charset="2"/>
              <a:buChar char="Ø"/>
            </a:pPr>
            <a:r>
              <a:rPr lang="en-US" altLang="ja-JP" sz="1400" dirty="0"/>
              <a:t>PCTF</a:t>
            </a:r>
            <a:r>
              <a:rPr lang="ja-JP" altLang="en-US" sz="1400" dirty="0"/>
              <a:t>の策定：</a:t>
            </a:r>
            <a:r>
              <a:rPr lang="en-US" altLang="ja-JP" sz="1400" dirty="0"/>
              <a:t>DIACC</a:t>
            </a:r>
            <a:r>
              <a:rPr lang="ja-JP" altLang="en-US" sz="1400" dirty="0"/>
              <a:t>メンバー組織のボランティアが策定し、取締役会で承認される</a:t>
            </a:r>
          </a:p>
          <a:p>
            <a:pPr marL="742950" lvl="1" indent="-285750">
              <a:spcBef>
                <a:spcPts val="600"/>
              </a:spcBef>
              <a:buFont typeface="Wingdings" panose="05000000000000000000" pitchFamily="2" charset="2"/>
              <a:buChar char="Ø"/>
            </a:pPr>
            <a:r>
              <a:rPr lang="ja-JP" altLang="en-US" sz="1400" dirty="0"/>
              <a:t>認定プログラム：</a:t>
            </a:r>
            <a:r>
              <a:rPr lang="en-US" altLang="ja-JP" sz="1400" dirty="0"/>
              <a:t>DIACC</a:t>
            </a:r>
            <a:r>
              <a:rPr lang="ja-JP" altLang="en-US" sz="1400" dirty="0"/>
              <a:t>の従業員がプログラムを運営し、認定は</a:t>
            </a:r>
            <a:r>
              <a:rPr lang="en-US" altLang="ja-JP" sz="1400" dirty="0"/>
              <a:t>DIACC</a:t>
            </a:r>
            <a:r>
              <a:rPr lang="ja-JP" altLang="en-US" sz="1400" dirty="0"/>
              <a:t>認定監査人</a:t>
            </a:r>
            <a:br>
              <a:rPr lang="en-US" altLang="ja-JP" sz="1400" dirty="0"/>
            </a:br>
            <a:r>
              <a:rPr lang="ja-JP" altLang="en-US" sz="1400" dirty="0"/>
              <a:t>（</a:t>
            </a:r>
            <a:r>
              <a:rPr lang="en-US" altLang="ja-JP" sz="1400" dirty="0"/>
              <a:t>KUMA</a:t>
            </a:r>
            <a:r>
              <a:rPr lang="ja-JP" altLang="en-US" sz="1400" dirty="0"/>
              <a:t>）が実施</a:t>
            </a:r>
          </a:p>
          <a:p>
            <a:pPr marL="742950" lvl="1" indent="-285750">
              <a:spcBef>
                <a:spcPts val="600"/>
              </a:spcBef>
              <a:buFont typeface="Wingdings" panose="05000000000000000000" pitchFamily="2" charset="2"/>
              <a:buChar char="Ø"/>
            </a:pPr>
            <a:r>
              <a:rPr lang="ja-JP" altLang="en-US" sz="1400" dirty="0"/>
              <a:t>市場調査・ユースケース分析：</a:t>
            </a:r>
            <a:r>
              <a:rPr lang="en-US" altLang="ja-JP" sz="1400" dirty="0"/>
              <a:t>DIACC</a:t>
            </a:r>
            <a:r>
              <a:rPr lang="ja-JP" altLang="en-US" sz="1400" dirty="0"/>
              <a:t>メンバー組織のボランティア　</a:t>
            </a:r>
          </a:p>
          <a:p>
            <a:pPr marL="742950" lvl="1" indent="-285750">
              <a:spcBef>
                <a:spcPts val="600"/>
              </a:spcBef>
              <a:buFont typeface="Wingdings" panose="05000000000000000000" pitchFamily="2" charset="2"/>
              <a:buChar char="Ø"/>
            </a:pPr>
            <a:r>
              <a:rPr lang="ja-JP" altLang="en-US" sz="1400" dirty="0"/>
              <a:t>プロモーションイベント・海外調整・財務管理等；</a:t>
            </a:r>
            <a:r>
              <a:rPr lang="en-US" altLang="ja-JP" sz="1400" dirty="0"/>
              <a:t>DIACC</a:t>
            </a:r>
            <a:r>
              <a:rPr lang="ja-JP" altLang="en-US" sz="1400" dirty="0"/>
              <a:t>従業員</a:t>
            </a:r>
            <a:endParaRPr lang="en-US" altLang="ja-JP" sz="1400" dirty="0"/>
          </a:p>
          <a:p>
            <a:pPr>
              <a:spcBef>
                <a:spcPts val="600"/>
              </a:spcBef>
            </a:pPr>
            <a:r>
              <a:rPr lang="en-US" altLang="ja-JP" sz="1400" dirty="0"/>
              <a:t>【</a:t>
            </a:r>
            <a:r>
              <a:rPr lang="ja-JP" altLang="en-US" sz="1400" dirty="0"/>
              <a:t>コンソーシアム運営上の課題</a:t>
            </a:r>
            <a:r>
              <a:rPr lang="en-US" altLang="ja-JP" sz="1400" dirty="0"/>
              <a:t>】</a:t>
            </a:r>
          </a:p>
          <a:p>
            <a:pPr marL="285750" indent="-285750">
              <a:spcBef>
                <a:spcPts val="600"/>
              </a:spcBef>
              <a:buFont typeface="Arial" panose="020B0604020202020204" pitchFamily="34" charset="0"/>
              <a:buChar char="•"/>
            </a:pPr>
            <a:r>
              <a:rPr lang="ja-JP" altLang="en-US" sz="1400" dirty="0"/>
              <a:t>認定プログラムの促進と技術基準との向き合い方に課題がある</a:t>
            </a:r>
            <a:r>
              <a:rPr lang="en-US" altLang="ja-JP" sz="1400" dirty="0"/>
              <a:t>(DIACC</a:t>
            </a:r>
            <a:r>
              <a:rPr lang="ja-JP" altLang="en-US" sz="1400" dirty="0"/>
              <a:t>は技術標準を意図したものではないので、</a:t>
            </a:r>
            <a:r>
              <a:rPr lang="en-US" altLang="ja-JP" sz="1400" dirty="0"/>
              <a:t>PCTF</a:t>
            </a:r>
            <a:r>
              <a:rPr lang="ja-JP" altLang="en-US" sz="1400" dirty="0"/>
              <a:t>の適用範囲外であるがより強力な技術標準化団体があれば役立つ</a:t>
            </a:r>
            <a:r>
              <a:rPr lang="en-US" altLang="ja-JP" sz="1400" dirty="0"/>
              <a:t>)</a:t>
            </a:r>
          </a:p>
          <a:p>
            <a:pPr marL="285750" indent="-285750">
              <a:spcBef>
                <a:spcPts val="600"/>
              </a:spcBef>
              <a:buFont typeface="Arial" panose="020B0604020202020204" pitchFamily="34" charset="0"/>
              <a:buChar char="•"/>
            </a:pPr>
            <a:endParaRPr lang="en-US" altLang="ja-JP" sz="1400" dirty="0"/>
          </a:p>
        </p:txBody>
      </p:sp>
      <p:sp>
        <p:nvSpPr>
          <p:cNvPr id="11" name="コンテンツ プレースホルダー 2">
            <a:extLst>
              <a:ext uri="{FF2B5EF4-FFF2-40B4-BE49-F238E27FC236}">
                <a16:creationId xmlns:a16="http://schemas.microsoft.com/office/drawing/2014/main" id="{E325C098-18C6-F01E-90F3-AF383C4038A1}"/>
              </a:ext>
            </a:extLst>
          </p:cNvPr>
          <p:cNvSpPr txBox="1">
            <a:spLocks/>
          </p:cNvSpPr>
          <p:nvPr/>
        </p:nvSpPr>
        <p:spPr>
          <a:xfrm>
            <a:off x="273050" y="913526"/>
            <a:ext cx="9359900"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r>
              <a:rPr lang="ja-JP" altLang="en-US" dirty="0"/>
              <a:t>トラストフレームワークで具体的な技術仕様を要求していないことからトラストフレームワーク策定の調整は低かったものの、その分事業者側の実装の判断が難しく認定が促進されていないことが想定される</a:t>
            </a:r>
          </a:p>
        </p:txBody>
      </p:sp>
    </p:spTree>
    <p:extLst>
      <p:ext uri="{BB962C8B-B14F-4D97-AF65-F5344CB8AC3E}">
        <p14:creationId xmlns:p14="http://schemas.microsoft.com/office/powerpoint/2010/main" val="2863418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0BEA9D-09D5-8FF2-A8E4-681089A77ECF}"/>
              </a:ext>
            </a:extLst>
          </p:cNvPr>
          <p:cNvSpPr>
            <a:spLocks noGrp="1"/>
          </p:cNvSpPr>
          <p:nvPr>
            <p:ph type="title"/>
          </p:nvPr>
        </p:nvSpPr>
        <p:spPr>
          <a:xfrm>
            <a:off x="273050" y="384919"/>
            <a:ext cx="7848302" cy="307777"/>
          </a:xfrm>
        </p:spPr>
        <p:txBody>
          <a:bodyPr/>
          <a:lstStyle/>
          <a:p>
            <a:r>
              <a:rPr kumimoji="1" lang="en-US" altLang="ja-JP" dirty="0"/>
              <a:t>3.6. </a:t>
            </a:r>
            <a:r>
              <a:rPr kumimoji="1" lang="ja-JP" altLang="en-US" dirty="0"/>
              <a:t>アメリカ：</a:t>
            </a:r>
            <a:r>
              <a:rPr kumimoji="1" lang="en-US" altLang="ja-JP" dirty="0" err="1"/>
              <a:t>mDL</a:t>
            </a:r>
            <a:r>
              <a:rPr kumimoji="1" lang="en-US" altLang="ja-JP" dirty="0"/>
              <a:t> Implementation Guidelines – 3.6.1. </a:t>
            </a:r>
            <a:r>
              <a:rPr kumimoji="1" lang="ja-JP" altLang="en-US" dirty="0"/>
              <a:t>ガバナンス構造</a:t>
            </a:r>
          </a:p>
        </p:txBody>
      </p:sp>
      <p:sp>
        <p:nvSpPr>
          <p:cNvPr id="3" name="テキスト プレースホルダー 2">
            <a:extLst>
              <a:ext uri="{FF2B5EF4-FFF2-40B4-BE49-F238E27FC236}">
                <a16:creationId xmlns:a16="http://schemas.microsoft.com/office/drawing/2014/main" id="{97D47DD8-4DD5-EA50-1E92-E4F0319C6173}"/>
              </a:ext>
            </a:extLst>
          </p:cNvPr>
          <p:cNvSpPr>
            <a:spLocks noGrp="1"/>
          </p:cNvSpPr>
          <p:nvPr>
            <p:ph type="body" sz="quarter" idx="10"/>
          </p:nvPr>
        </p:nvSpPr>
        <p:spPr>
          <a:xfrm>
            <a:off x="273050" y="188913"/>
            <a:ext cx="7848600" cy="161583"/>
          </a:xfrm>
        </p:spPr>
        <p:txBody>
          <a:bodyPr/>
          <a:lstStyle/>
          <a:p>
            <a:r>
              <a:rPr kumimoji="1" lang="en-US" altLang="ja-JP" dirty="0"/>
              <a:t>3. </a:t>
            </a:r>
            <a:r>
              <a:rPr kumimoji="1" lang="ja-JP" altLang="en-US" dirty="0"/>
              <a:t>調査結果</a:t>
            </a:r>
          </a:p>
        </p:txBody>
      </p:sp>
      <p:sp>
        <p:nvSpPr>
          <p:cNvPr id="24" name="正方形/長方形 23">
            <a:extLst>
              <a:ext uri="{FF2B5EF4-FFF2-40B4-BE49-F238E27FC236}">
                <a16:creationId xmlns:a16="http://schemas.microsoft.com/office/drawing/2014/main" id="{F16FDC26-5E1B-203B-216B-C58848306433}"/>
              </a:ext>
            </a:extLst>
          </p:cNvPr>
          <p:cNvSpPr/>
          <p:nvPr/>
        </p:nvSpPr>
        <p:spPr>
          <a:xfrm>
            <a:off x="273050" y="3215116"/>
            <a:ext cx="2873656" cy="1427844"/>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252000" rtlCol="0" anchor="t" anchorCtr="0"/>
          <a:lstStyle/>
          <a:p>
            <a:pPr marL="171450" indent="-171450">
              <a:buFont typeface="Arial" panose="020B0604020202020204" pitchFamily="34" charset="0"/>
              <a:buChar char="•"/>
            </a:pPr>
            <a:r>
              <a:rPr lang="en-US" altLang="ja-JP" sz="1200" dirty="0" err="1"/>
              <a:t>mDL</a:t>
            </a:r>
            <a:r>
              <a:rPr lang="ja-JP" altLang="en-US" sz="1200" dirty="0"/>
              <a:t>の詳細は</a:t>
            </a:r>
            <a:r>
              <a:rPr lang="en-US" altLang="ja-JP" sz="1200" dirty="0"/>
              <a:t>ISO 18013-5</a:t>
            </a:r>
            <a:r>
              <a:rPr lang="ja-JP" altLang="en-US" sz="1200" dirty="0"/>
              <a:t>*</a:t>
            </a:r>
            <a:r>
              <a:rPr lang="en-US" altLang="ja-JP" sz="1200" baseline="30000" dirty="0"/>
              <a:t>1</a:t>
            </a:r>
            <a:r>
              <a:rPr lang="ja-JP" altLang="en-US" sz="1200" dirty="0"/>
              <a:t>で標準化がされている</a:t>
            </a:r>
            <a:endParaRPr lang="en-US" altLang="ja-JP" sz="1200" dirty="0"/>
          </a:p>
          <a:p>
            <a:pPr marL="171450" indent="-171450">
              <a:buFont typeface="Arial" panose="020B0604020202020204" pitchFamily="34" charset="0"/>
              <a:buChar char="•"/>
            </a:pPr>
            <a:r>
              <a:rPr lang="en-US" altLang="ja-JP" sz="1200" dirty="0"/>
              <a:t>AAMVA</a:t>
            </a:r>
            <a:r>
              <a:rPr lang="ja-JP" altLang="en-US" sz="1200" dirty="0"/>
              <a:t>は、</a:t>
            </a:r>
            <a:r>
              <a:rPr lang="en-US" altLang="ja-JP" sz="1200" dirty="0"/>
              <a:t>ISO</a:t>
            </a:r>
            <a:r>
              <a:rPr lang="ja-JP" altLang="en-US" sz="1200" dirty="0"/>
              <a:t>の策定討議参加とともに州外との相互運用性確保を目指してガイドラインとサービスインフラの確立を主導している</a:t>
            </a:r>
            <a:endParaRPr lang="en-US" altLang="ja-JP" sz="1200" dirty="0"/>
          </a:p>
        </p:txBody>
      </p:sp>
      <p:sp>
        <p:nvSpPr>
          <p:cNvPr id="25" name="正方形/長方形 24">
            <a:extLst>
              <a:ext uri="{FF2B5EF4-FFF2-40B4-BE49-F238E27FC236}">
                <a16:creationId xmlns:a16="http://schemas.microsoft.com/office/drawing/2014/main" id="{6ACAB748-1C2F-E727-3ACD-69C44C2CB474}"/>
              </a:ext>
            </a:extLst>
          </p:cNvPr>
          <p:cNvSpPr/>
          <p:nvPr/>
        </p:nvSpPr>
        <p:spPr>
          <a:xfrm>
            <a:off x="273050" y="5007718"/>
            <a:ext cx="2873656" cy="1241943"/>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252000" rtlCol="0" anchor="t" anchorCtr="0"/>
          <a:lstStyle/>
          <a:p>
            <a:pPr marL="171450" indent="-171450">
              <a:buFont typeface="Arial" panose="020B0604020202020204" pitchFamily="34" charset="0"/>
              <a:buChar char="•"/>
            </a:pPr>
            <a:r>
              <a:rPr lang="ja-JP" altLang="en-US" sz="1200" dirty="0"/>
              <a:t>相互運用性が確保されている</a:t>
            </a:r>
            <a:r>
              <a:rPr lang="en-US" altLang="ja-JP" sz="1200" dirty="0" err="1"/>
              <a:t>mDL</a:t>
            </a:r>
            <a:r>
              <a:rPr lang="ja-JP" altLang="en-US" sz="1200" dirty="0"/>
              <a:t>ベンダの認証は</a:t>
            </a:r>
            <a:r>
              <a:rPr lang="en-US" altLang="ja-JP" sz="1200" dirty="0"/>
              <a:t>UL Solutions</a:t>
            </a:r>
            <a:r>
              <a:rPr lang="ja-JP" altLang="en-US" sz="1200" dirty="0"/>
              <a:t>が実施している</a:t>
            </a:r>
            <a:endParaRPr lang="en-US" altLang="ja-JP" sz="1200" dirty="0"/>
          </a:p>
          <a:p>
            <a:pPr marL="171450" indent="-171450">
              <a:buFont typeface="Arial" panose="020B0604020202020204" pitchFamily="34" charset="0"/>
              <a:buChar char="•"/>
            </a:pPr>
            <a:r>
              <a:rPr lang="ja-JP" altLang="en-US" sz="1200" dirty="0"/>
              <a:t>州によっては</a:t>
            </a:r>
            <a:r>
              <a:rPr lang="en-US" altLang="ja-JP" sz="1200" dirty="0"/>
              <a:t>ISO 18013-5</a:t>
            </a:r>
            <a:r>
              <a:rPr lang="ja-JP" altLang="en-US" sz="1200" dirty="0"/>
              <a:t>*</a:t>
            </a:r>
            <a:r>
              <a:rPr lang="en-US" altLang="ja-JP" sz="1200" baseline="30000" dirty="0"/>
              <a:t>1</a:t>
            </a:r>
            <a:r>
              <a:rPr lang="ja-JP" altLang="en-US" sz="1200" dirty="0"/>
              <a:t>に準拠していない</a:t>
            </a:r>
            <a:r>
              <a:rPr lang="en-US" altLang="ja-JP" sz="1200" dirty="0"/>
              <a:t>(</a:t>
            </a:r>
            <a:r>
              <a:rPr lang="ja-JP" altLang="en-US" sz="1200" dirty="0"/>
              <a:t>相互運用性が確保されていない</a:t>
            </a:r>
            <a:r>
              <a:rPr lang="en-US" altLang="ja-JP" sz="1200" dirty="0"/>
              <a:t>)</a:t>
            </a:r>
            <a:r>
              <a:rPr lang="ja-JP" altLang="en-US" sz="1200" dirty="0"/>
              <a:t>モバイル運転免許証を提供している</a:t>
            </a:r>
          </a:p>
        </p:txBody>
      </p:sp>
      <p:sp>
        <p:nvSpPr>
          <p:cNvPr id="26" name="正方形/長方形 25">
            <a:extLst>
              <a:ext uri="{FF2B5EF4-FFF2-40B4-BE49-F238E27FC236}">
                <a16:creationId xmlns:a16="http://schemas.microsoft.com/office/drawing/2014/main" id="{1E894DE5-7A12-2A8B-BF11-F27457B14EF1}"/>
              </a:ext>
            </a:extLst>
          </p:cNvPr>
          <p:cNvSpPr/>
          <p:nvPr/>
        </p:nvSpPr>
        <p:spPr>
          <a:xfrm>
            <a:off x="273050" y="1900503"/>
            <a:ext cx="2873656" cy="1008006"/>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tIns="252000" rtlCol="0" anchor="t" anchorCtr="0"/>
          <a:lstStyle/>
          <a:p>
            <a:pPr marL="171450" indent="-171450">
              <a:buFont typeface="Arial" panose="020B0604020202020204" pitchFamily="34" charset="0"/>
              <a:buChar char="•"/>
            </a:pPr>
            <a:r>
              <a:rPr lang="ja-JP" altLang="en-US" sz="1200" dirty="0"/>
              <a:t>州で発行する</a:t>
            </a:r>
            <a:r>
              <a:rPr lang="en-US" altLang="ja-JP" sz="1200" dirty="0" err="1"/>
              <a:t>mDL</a:t>
            </a:r>
            <a:r>
              <a:rPr lang="ja-JP" altLang="en-US" sz="1200" dirty="0"/>
              <a:t>を、連邦機関によって公的な目的で受け入れられるための要件を定めている</a:t>
            </a:r>
            <a:r>
              <a:rPr lang="en-US" altLang="ja-JP" sz="1200" dirty="0"/>
              <a:t>(</a:t>
            </a:r>
            <a:r>
              <a:rPr lang="ja-JP" altLang="en-US" sz="1200" dirty="0"/>
              <a:t>現在審査中</a:t>
            </a:r>
            <a:r>
              <a:rPr lang="en-US" altLang="ja-JP" sz="1200" dirty="0"/>
              <a:t>)</a:t>
            </a:r>
          </a:p>
        </p:txBody>
      </p:sp>
      <p:sp>
        <p:nvSpPr>
          <p:cNvPr id="27" name="正方形/長方形 26">
            <a:extLst>
              <a:ext uri="{FF2B5EF4-FFF2-40B4-BE49-F238E27FC236}">
                <a16:creationId xmlns:a16="http://schemas.microsoft.com/office/drawing/2014/main" id="{9E5359CD-262D-F618-9D19-DB78444480A5}"/>
              </a:ext>
            </a:extLst>
          </p:cNvPr>
          <p:cNvSpPr/>
          <p:nvPr/>
        </p:nvSpPr>
        <p:spPr>
          <a:xfrm>
            <a:off x="4557271" y="1682846"/>
            <a:ext cx="1291964" cy="2936259"/>
          </a:xfrm>
          <a:prstGeom prst="rect">
            <a:avLst/>
          </a:prstGeom>
          <a:solidFill>
            <a:schemeClr val="accent3">
              <a:alpha val="15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8" name="正方形/長方形 27">
            <a:extLst>
              <a:ext uri="{FF2B5EF4-FFF2-40B4-BE49-F238E27FC236}">
                <a16:creationId xmlns:a16="http://schemas.microsoft.com/office/drawing/2014/main" id="{875B3A9A-2F11-D658-59AE-E9A9BD04C3AB}"/>
              </a:ext>
            </a:extLst>
          </p:cNvPr>
          <p:cNvSpPr/>
          <p:nvPr/>
        </p:nvSpPr>
        <p:spPr>
          <a:xfrm>
            <a:off x="5890349" y="1682846"/>
            <a:ext cx="1291964" cy="2936259"/>
          </a:xfrm>
          <a:prstGeom prst="rect">
            <a:avLst/>
          </a:prstGeom>
          <a:solidFill>
            <a:srgbClr val="FF0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9" name="正方形/長方形 28">
            <a:extLst>
              <a:ext uri="{FF2B5EF4-FFF2-40B4-BE49-F238E27FC236}">
                <a16:creationId xmlns:a16="http://schemas.microsoft.com/office/drawing/2014/main" id="{438AB730-86AD-3699-5382-5F5CF3283084}"/>
              </a:ext>
            </a:extLst>
          </p:cNvPr>
          <p:cNvSpPr/>
          <p:nvPr/>
        </p:nvSpPr>
        <p:spPr>
          <a:xfrm>
            <a:off x="3195030" y="1682846"/>
            <a:ext cx="1310185" cy="2936259"/>
          </a:xfrm>
          <a:prstGeom prst="rect">
            <a:avLst/>
          </a:prstGeom>
          <a:solidFill>
            <a:srgbClr val="FFC000">
              <a:alpha val="15000"/>
            </a:srgb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30" name="正方形/長方形 29">
            <a:extLst>
              <a:ext uri="{FF2B5EF4-FFF2-40B4-BE49-F238E27FC236}">
                <a16:creationId xmlns:a16="http://schemas.microsoft.com/office/drawing/2014/main" id="{4FE24D4B-6FCB-1158-3D16-F2472AD416DF}"/>
              </a:ext>
            </a:extLst>
          </p:cNvPr>
          <p:cNvSpPr/>
          <p:nvPr/>
        </p:nvSpPr>
        <p:spPr>
          <a:xfrm>
            <a:off x="3511142" y="6077276"/>
            <a:ext cx="3515682" cy="225248"/>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エンドユーザ</a:t>
            </a:r>
            <a:r>
              <a:rPr lang="en-US" altLang="ja-JP" sz="1200" dirty="0">
                <a:solidFill>
                  <a:schemeClr val="bg1"/>
                </a:solidFill>
              </a:rPr>
              <a:t> (</a:t>
            </a:r>
            <a:r>
              <a:rPr lang="en-US" altLang="ja-JP" sz="1200" dirty="0" err="1">
                <a:solidFill>
                  <a:schemeClr val="bg1"/>
                </a:solidFill>
              </a:rPr>
              <a:t>mDL</a:t>
            </a:r>
            <a:r>
              <a:rPr lang="en-US" altLang="ja-JP" sz="1200" dirty="0">
                <a:solidFill>
                  <a:schemeClr val="bg1"/>
                </a:solidFill>
              </a:rPr>
              <a:t> Holders)</a:t>
            </a:r>
          </a:p>
        </p:txBody>
      </p:sp>
      <p:sp>
        <p:nvSpPr>
          <p:cNvPr id="38" name="正方形/長方形 37">
            <a:extLst>
              <a:ext uri="{FF2B5EF4-FFF2-40B4-BE49-F238E27FC236}">
                <a16:creationId xmlns:a16="http://schemas.microsoft.com/office/drawing/2014/main" id="{46A8BEEA-B2ED-5B73-7130-5D1B10DFC5E4}"/>
              </a:ext>
            </a:extLst>
          </p:cNvPr>
          <p:cNvSpPr/>
          <p:nvPr/>
        </p:nvSpPr>
        <p:spPr>
          <a:xfrm>
            <a:off x="3823170" y="5750726"/>
            <a:ext cx="1022028" cy="225248"/>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 </a:t>
            </a:r>
            <a:r>
              <a:rPr lang="en-US" altLang="ja-JP" sz="1200" dirty="0">
                <a:solidFill>
                  <a:schemeClr val="bg1"/>
                </a:solidFill>
              </a:rPr>
              <a:t>Relying party</a:t>
            </a:r>
            <a:endParaRPr lang="ja-JP" altLang="en-US" sz="1200" dirty="0">
              <a:solidFill>
                <a:schemeClr val="bg1"/>
              </a:solidFill>
            </a:endParaRPr>
          </a:p>
        </p:txBody>
      </p:sp>
      <p:sp>
        <p:nvSpPr>
          <p:cNvPr id="39" name="四角形: 角を丸くする 38">
            <a:extLst>
              <a:ext uri="{FF2B5EF4-FFF2-40B4-BE49-F238E27FC236}">
                <a16:creationId xmlns:a16="http://schemas.microsoft.com/office/drawing/2014/main" id="{AA9A2AEA-A32D-C78A-13B9-052C23DEE5F4}"/>
              </a:ext>
            </a:extLst>
          </p:cNvPr>
          <p:cNvSpPr/>
          <p:nvPr/>
        </p:nvSpPr>
        <p:spPr>
          <a:xfrm>
            <a:off x="3269977" y="3975919"/>
            <a:ext cx="3827254" cy="276348"/>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err="1"/>
              <a:t>mDL</a:t>
            </a:r>
            <a:r>
              <a:rPr lang="en-US" altLang="ja-JP" sz="1200" dirty="0"/>
              <a:t> Implementation Guidelines</a:t>
            </a:r>
          </a:p>
        </p:txBody>
      </p:sp>
      <p:cxnSp>
        <p:nvCxnSpPr>
          <p:cNvPr id="44" name="直線矢印コネクタ 43">
            <a:extLst>
              <a:ext uri="{FF2B5EF4-FFF2-40B4-BE49-F238E27FC236}">
                <a16:creationId xmlns:a16="http://schemas.microsoft.com/office/drawing/2014/main" id="{6FD286DE-572D-AF33-B253-252090994D02}"/>
              </a:ext>
            </a:extLst>
          </p:cNvPr>
          <p:cNvCxnSpPr>
            <a:cxnSpLocks/>
            <a:stCxn id="75" idx="2"/>
            <a:endCxn id="38" idx="0"/>
          </p:cNvCxnSpPr>
          <p:nvPr/>
        </p:nvCxnSpPr>
        <p:spPr>
          <a:xfrm>
            <a:off x="4330849" y="5361024"/>
            <a:ext cx="3335" cy="38970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5E4FFA57-7B17-5EE2-1383-8A5B6115B30D}"/>
              </a:ext>
            </a:extLst>
          </p:cNvPr>
          <p:cNvSpPr/>
          <p:nvPr/>
        </p:nvSpPr>
        <p:spPr>
          <a:xfrm>
            <a:off x="4495782" y="4291119"/>
            <a:ext cx="1596189" cy="436327"/>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rPr>
              <a:t>Digital Trust Service</a:t>
            </a:r>
          </a:p>
          <a:p>
            <a:pPr algn="ctr"/>
            <a:endParaRPr lang="en-US" altLang="ja-JP" sz="1200" dirty="0">
              <a:solidFill>
                <a:schemeClr val="bg1"/>
              </a:solidFill>
            </a:endParaRPr>
          </a:p>
        </p:txBody>
      </p:sp>
      <p:cxnSp>
        <p:nvCxnSpPr>
          <p:cNvPr id="50" name="直線矢印コネクタ 49">
            <a:extLst>
              <a:ext uri="{FF2B5EF4-FFF2-40B4-BE49-F238E27FC236}">
                <a16:creationId xmlns:a16="http://schemas.microsoft.com/office/drawing/2014/main" id="{1A916AAB-B588-724C-D754-B01F58CCB712}"/>
              </a:ext>
            </a:extLst>
          </p:cNvPr>
          <p:cNvCxnSpPr>
            <a:cxnSpLocks/>
          </p:cNvCxnSpPr>
          <p:nvPr/>
        </p:nvCxnSpPr>
        <p:spPr>
          <a:xfrm>
            <a:off x="3710086" y="4252267"/>
            <a:ext cx="0" cy="787068"/>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C7438563-C4A6-D132-21FF-AC3BF31B1668}"/>
              </a:ext>
            </a:extLst>
          </p:cNvPr>
          <p:cNvSpPr/>
          <p:nvPr/>
        </p:nvSpPr>
        <p:spPr>
          <a:xfrm>
            <a:off x="7661615" y="2908509"/>
            <a:ext cx="1585650" cy="36680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zh-TW" altLang="en-US" sz="1200" dirty="0">
                <a:solidFill>
                  <a:schemeClr val="bg1"/>
                </a:solidFill>
              </a:rPr>
              <a:t>米国自動車管理者協会</a:t>
            </a:r>
            <a:endParaRPr lang="en-US" altLang="ja-JP" sz="1200" dirty="0">
              <a:solidFill>
                <a:schemeClr val="bg1"/>
              </a:solidFill>
            </a:endParaRPr>
          </a:p>
          <a:p>
            <a:pPr algn="ctr"/>
            <a:r>
              <a:rPr lang="en-US" altLang="ja-JP" sz="1200" dirty="0">
                <a:solidFill>
                  <a:schemeClr val="bg1"/>
                </a:solidFill>
              </a:rPr>
              <a:t>(AAMVA)</a:t>
            </a:r>
            <a:endParaRPr lang="ja-JP" altLang="en-US" sz="1200" dirty="0">
              <a:solidFill>
                <a:schemeClr val="bg1"/>
              </a:solidFill>
            </a:endParaRPr>
          </a:p>
        </p:txBody>
      </p:sp>
      <p:sp>
        <p:nvSpPr>
          <p:cNvPr id="60" name="正方形/長方形 59">
            <a:extLst>
              <a:ext uri="{FF2B5EF4-FFF2-40B4-BE49-F238E27FC236}">
                <a16:creationId xmlns:a16="http://schemas.microsoft.com/office/drawing/2014/main" id="{E5FEB60D-1020-0DE3-3A50-1A2AFE88E95B}"/>
              </a:ext>
            </a:extLst>
          </p:cNvPr>
          <p:cNvSpPr/>
          <p:nvPr/>
        </p:nvSpPr>
        <p:spPr>
          <a:xfrm>
            <a:off x="4213267" y="2883250"/>
            <a:ext cx="1882104" cy="244663"/>
          </a:xfrm>
          <a:prstGeom prst="rect">
            <a:avLst/>
          </a:prstGeom>
          <a:solidFill>
            <a:schemeClr val="bg1">
              <a:lumMod val="95000"/>
            </a:schemeClr>
          </a:solidFill>
          <a:ln w="12700">
            <a:solidFill>
              <a:schemeClr val="tx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400" dirty="0"/>
              <a:t>ISO / IEC 18013 series</a:t>
            </a:r>
            <a:r>
              <a:rPr lang="ja-JP" altLang="en-US" sz="1400" dirty="0"/>
              <a:t>*</a:t>
            </a:r>
            <a:r>
              <a:rPr lang="en-US" altLang="ja-JP" sz="1400" baseline="30000" dirty="0"/>
              <a:t>1</a:t>
            </a:r>
            <a:endParaRPr kumimoji="1" lang="ja-JP" altLang="en-US" sz="1400" baseline="30000" dirty="0"/>
          </a:p>
        </p:txBody>
      </p:sp>
      <p:cxnSp>
        <p:nvCxnSpPr>
          <p:cNvPr id="61" name="コネクタ: カギ線 60">
            <a:extLst>
              <a:ext uri="{FF2B5EF4-FFF2-40B4-BE49-F238E27FC236}">
                <a16:creationId xmlns:a16="http://schemas.microsoft.com/office/drawing/2014/main" id="{9C7654BB-5DC1-888D-875E-5CFC048C7712}"/>
              </a:ext>
            </a:extLst>
          </p:cNvPr>
          <p:cNvCxnSpPr>
            <a:cxnSpLocks/>
            <a:endCxn id="60" idx="3"/>
          </p:cNvCxnSpPr>
          <p:nvPr/>
        </p:nvCxnSpPr>
        <p:spPr>
          <a:xfrm rot="10800000">
            <a:off x="6095371" y="3005582"/>
            <a:ext cx="1552752" cy="61166"/>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87142402-25D3-EDC3-AABD-EC18B756B340}"/>
              </a:ext>
            </a:extLst>
          </p:cNvPr>
          <p:cNvCxnSpPr>
            <a:cxnSpLocks/>
            <a:stCxn id="52" idx="1"/>
            <a:endCxn id="39" idx="3"/>
          </p:cNvCxnSpPr>
          <p:nvPr/>
        </p:nvCxnSpPr>
        <p:spPr>
          <a:xfrm rot="10800000" flipV="1">
            <a:off x="7097231" y="3091909"/>
            <a:ext cx="564384" cy="1022183"/>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5" name="四角形: 角を丸くする 64">
            <a:extLst>
              <a:ext uri="{FF2B5EF4-FFF2-40B4-BE49-F238E27FC236}">
                <a16:creationId xmlns:a16="http://schemas.microsoft.com/office/drawing/2014/main" id="{B9608D09-2240-ECA7-70EA-CE06620DA023}"/>
              </a:ext>
            </a:extLst>
          </p:cNvPr>
          <p:cNvSpPr/>
          <p:nvPr/>
        </p:nvSpPr>
        <p:spPr>
          <a:xfrm>
            <a:off x="4635169" y="3404305"/>
            <a:ext cx="1136168" cy="408001"/>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err="1"/>
              <a:t>mDL</a:t>
            </a:r>
            <a:r>
              <a:rPr lang="en-US" altLang="ja-JP" sz="1200" dirty="0"/>
              <a:t> Model</a:t>
            </a:r>
          </a:p>
          <a:p>
            <a:pPr algn="ctr"/>
            <a:r>
              <a:rPr lang="en-US" altLang="ja-JP" sz="1200" dirty="0"/>
              <a:t>Legislation</a:t>
            </a:r>
          </a:p>
        </p:txBody>
      </p:sp>
      <p:cxnSp>
        <p:nvCxnSpPr>
          <p:cNvPr id="66" name="コネクタ: カギ線 65">
            <a:extLst>
              <a:ext uri="{FF2B5EF4-FFF2-40B4-BE49-F238E27FC236}">
                <a16:creationId xmlns:a16="http://schemas.microsoft.com/office/drawing/2014/main" id="{2DD92DD6-675F-9926-4ED3-891268795CE6}"/>
              </a:ext>
            </a:extLst>
          </p:cNvPr>
          <p:cNvCxnSpPr>
            <a:cxnSpLocks/>
            <a:stCxn id="52" idx="1"/>
            <a:endCxn id="65" idx="3"/>
          </p:cNvCxnSpPr>
          <p:nvPr/>
        </p:nvCxnSpPr>
        <p:spPr>
          <a:xfrm rot="10800000" flipV="1">
            <a:off x="5771337" y="3091910"/>
            <a:ext cx="1890278" cy="516396"/>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E9526940-6A66-1163-974B-A9B2A601DE28}"/>
              </a:ext>
            </a:extLst>
          </p:cNvPr>
          <p:cNvSpPr/>
          <p:nvPr/>
        </p:nvSpPr>
        <p:spPr>
          <a:xfrm>
            <a:off x="7661615" y="2231452"/>
            <a:ext cx="1585650" cy="36680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dirty="0">
                <a:solidFill>
                  <a:schemeClr val="bg1"/>
                </a:solidFill>
              </a:rPr>
              <a:t>国土安全保障省</a:t>
            </a:r>
            <a:r>
              <a:rPr lang="en-US" altLang="ja-JP" sz="1200" dirty="0">
                <a:solidFill>
                  <a:schemeClr val="bg1"/>
                </a:solidFill>
              </a:rPr>
              <a:t>(DHS)</a:t>
            </a:r>
          </a:p>
          <a:p>
            <a:pPr algn="ctr"/>
            <a:r>
              <a:rPr lang="ja-JP" altLang="en-US" sz="1200" dirty="0">
                <a:solidFill>
                  <a:schemeClr val="bg1"/>
                </a:solidFill>
              </a:rPr>
              <a:t>運輸保安局</a:t>
            </a:r>
            <a:r>
              <a:rPr lang="en-US" altLang="ja-JP" sz="1200" dirty="0">
                <a:solidFill>
                  <a:schemeClr val="bg1"/>
                </a:solidFill>
              </a:rPr>
              <a:t>(TSA)</a:t>
            </a:r>
            <a:endParaRPr lang="ja-JP" altLang="en-US" sz="1200" dirty="0">
              <a:solidFill>
                <a:schemeClr val="bg1"/>
              </a:solidFill>
            </a:endParaRPr>
          </a:p>
        </p:txBody>
      </p:sp>
      <p:sp>
        <p:nvSpPr>
          <p:cNvPr id="68" name="四角形: 角を丸くする 67">
            <a:extLst>
              <a:ext uri="{FF2B5EF4-FFF2-40B4-BE49-F238E27FC236}">
                <a16:creationId xmlns:a16="http://schemas.microsoft.com/office/drawing/2014/main" id="{AB74F647-339F-45E7-F8E2-27173984DB90}"/>
              </a:ext>
            </a:extLst>
          </p:cNvPr>
          <p:cNvSpPr/>
          <p:nvPr/>
        </p:nvSpPr>
        <p:spPr>
          <a:xfrm>
            <a:off x="3294040" y="2232609"/>
            <a:ext cx="2398281" cy="336420"/>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a:t>Real ID Act</a:t>
            </a:r>
          </a:p>
          <a:p>
            <a:pPr algn="ctr"/>
            <a:r>
              <a:rPr lang="en-US" altLang="ja-JP" sz="1200" dirty="0"/>
              <a:t>(6 CFR Part 37)</a:t>
            </a:r>
          </a:p>
        </p:txBody>
      </p:sp>
      <p:cxnSp>
        <p:nvCxnSpPr>
          <p:cNvPr id="73" name="コネクタ: カギ線 72">
            <a:extLst>
              <a:ext uri="{FF2B5EF4-FFF2-40B4-BE49-F238E27FC236}">
                <a16:creationId xmlns:a16="http://schemas.microsoft.com/office/drawing/2014/main" id="{455BDD15-CA0D-A05E-8A7D-68B6784C557F}"/>
              </a:ext>
            </a:extLst>
          </p:cNvPr>
          <p:cNvCxnSpPr>
            <a:cxnSpLocks/>
            <a:stCxn id="60" idx="1"/>
          </p:cNvCxnSpPr>
          <p:nvPr/>
        </p:nvCxnSpPr>
        <p:spPr>
          <a:xfrm rot="10800000" flipV="1">
            <a:off x="3555413" y="3005582"/>
            <a:ext cx="657855" cy="2044368"/>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四角形: 角を丸くする 73">
            <a:extLst>
              <a:ext uri="{FF2B5EF4-FFF2-40B4-BE49-F238E27FC236}">
                <a16:creationId xmlns:a16="http://schemas.microsoft.com/office/drawing/2014/main" id="{2E41EB4F-EF44-6373-CDA5-B85A650F5E6C}"/>
              </a:ext>
            </a:extLst>
          </p:cNvPr>
          <p:cNvSpPr/>
          <p:nvPr/>
        </p:nvSpPr>
        <p:spPr>
          <a:xfrm>
            <a:off x="4754181" y="4515450"/>
            <a:ext cx="1136168" cy="164292"/>
          </a:xfrm>
          <a:prstGeom prst="roundRect">
            <a:avLst/>
          </a:prstGeom>
          <a:solidFill>
            <a:srgbClr val="BCE0FF"/>
          </a:solidFill>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nchorCtr="0"/>
          <a:lstStyle/>
          <a:p>
            <a:pPr algn="ctr"/>
            <a:r>
              <a:rPr lang="en-US" altLang="ja-JP" sz="1200" dirty="0"/>
              <a:t>VICAL</a:t>
            </a:r>
            <a:r>
              <a:rPr lang="ja-JP" altLang="en-US" sz="1200" dirty="0"/>
              <a:t>*</a:t>
            </a:r>
            <a:r>
              <a:rPr lang="en-US" altLang="ja-JP" sz="1200" baseline="30000" dirty="0"/>
              <a:t>2</a:t>
            </a:r>
          </a:p>
        </p:txBody>
      </p:sp>
      <p:sp>
        <p:nvSpPr>
          <p:cNvPr id="75" name="正方形/長方形 74">
            <a:extLst>
              <a:ext uri="{FF2B5EF4-FFF2-40B4-BE49-F238E27FC236}">
                <a16:creationId xmlns:a16="http://schemas.microsoft.com/office/drawing/2014/main" id="{F0B7DA29-67F6-3CF0-4664-701C315F426D}"/>
              </a:ext>
            </a:extLst>
          </p:cNvPr>
          <p:cNvSpPr/>
          <p:nvPr/>
        </p:nvSpPr>
        <p:spPr>
          <a:xfrm>
            <a:off x="3532754" y="5033612"/>
            <a:ext cx="1596189" cy="32741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err="1">
                <a:solidFill>
                  <a:schemeClr val="bg1"/>
                </a:solidFill>
              </a:rPr>
              <a:t>mDL</a:t>
            </a:r>
            <a:r>
              <a:rPr lang="ja-JP" altLang="en-US" sz="1200" dirty="0">
                <a:solidFill>
                  <a:schemeClr val="bg1"/>
                </a:solidFill>
              </a:rPr>
              <a:t>ベンダ</a:t>
            </a:r>
            <a:endParaRPr lang="en-US" altLang="ja-JP" sz="1200" dirty="0">
              <a:solidFill>
                <a:schemeClr val="bg1"/>
              </a:solidFill>
            </a:endParaRPr>
          </a:p>
        </p:txBody>
      </p:sp>
      <p:sp>
        <p:nvSpPr>
          <p:cNvPr id="76" name="正方形/長方形 75">
            <a:extLst>
              <a:ext uri="{FF2B5EF4-FFF2-40B4-BE49-F238E27FC236}">
                <a16:creationId xmlns:a16="http://schemas.microsoft.com/office/drawing/2014/main" id="{FE611E33-E689-C958-AD01-2771458CB75B}"/>
              </a:ext>
            </a:extLst>
          </p:cNvPr>
          <p:cNvSpPr/>
          <p:nvPr/>
        </p:nvSpPr>
        <p:spPr>
          <a:xfrm>
            <a:off x="7648123" y="5018276"/>
            <a:ext cx="1596189" cy="358085"/>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err="1">
                <a:solidFill>
                  <a:schemeClr val="bg1"/>
                </a:solidFill>
              </a:rPr>
              <a:t>mDL</a:t>
            </a:r>
            <a:r>
              <a:rPr lang="en-US" altLang="ja-JP" sz="1200" dirty="0">
                <a:solidFill>
                  <a:schemeClr val="bg1"/>
                </a:solidFill>
              </a:rPr>
              <a:t> Issuing </a:t>
            </a:r>
          </a:p>
          <a:p>
            <a:pPr algn="ctr"/>
            <a:r>
              <a:rPr lang="en-US" altLang="ja-JP" sz="1200" dirty="0">
                <a:solidFill>
                  <a:schemeClr val="bg1"/>
                </a:solidFill>
              </a:rPr>
              <a:t>Authorities</a:t>
            </a:r>
          </a:p>
        </p:txBody>
      </p:sp>
      <p:cxnSp>
        <p:nvCxnSpPr>
          <p:cNvPr id="78" name="コネクタ: カギ線 77">
            <a:extLst>
              <a:ext uri="{FF2B5EF4-FFF2-40B4-BE49-F238E27FC236}">
                <a16:creationId xmlns:a16="http://schemas.microsoft.com/office/drawing/2014/main" id="{678B67C6-026A-54A9-21EC-C63D95105CCA}"/>
              </a:ext>
            </a:extLst>
          </p:cNvPr>
          <p:cNvCxnSpPr>
            <a:cxnSpLocks/>
            <a:stCxn id="74" idx="2"/>
            <a:endCxn id="38" idx="3"/>
          </p:cNvCxnSpPr>
          <p:nvPr/>
        </p:nvCxnSpPr>
        <p:spPr>
          <a:xfrm rot="5400000">
            <a:off x="4491928" y="5033013"/>
            <a:ext cx="1183608" cy="477067"/>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AB88EA89-37A2-E147-140A-C833E798F95D}"/>
              </a:ext>
            </a:extLst>
          </p:cNvPr>
          <p:cNvCxnSpPr>
            <a:cxnSpLocks/>
            <a:stCxn id="76" idx="1"/>
          </p:cNvCxnSpPr>
          <p:nvPr/>
        </p:nvCxnSpPr>
        <p:spPr>
          <a:xfrm rot="10800000">
            <a:off x="5692323" y="4721477"/>
            <a:ext cx="1955800" cy="475842"/>
          </a:xfrm>
          <a:prstGeom prst="bentConnector3">
            <a:avLst>
              <a:gd name="adj1" fmla="val 100034"/>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0" name="コネクタ: カギ線 79">
            <a:extLst>
              <a:ext uri="{FF2B5EF4-FFF2-40B4-BE49-F238E27FC236}">
                <a16:creationId xmlns:a16="http://schemas.microsoft.com/office/drawing/2014/main" id="{E7195015-8115-29A2-FA5F-0356A5EAD4AD}"/>
              </a:ext>
            </a:extLst>
          </p:cNvPr>
          <p:cNvCxnSpPr>
            <a:cxnSpLocks/>
            <a:stCxn id="76" idx="2"/>
            <a:endCxn id="30" idx="3"/>
          </p:cNvCxnSpPr>
          <p:nvPr/>
        </p:nvCxnSpPr>
        <p:spPr>
          <a:xfrm rot="5400000">
            <a:off x="7329752" y="5073433"/>
            <a:ext cx="813539" cy="1419394"/>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テキスト ボックス 81">
            <a:extLst>
              <a:ext uri="{FF2B5EF4-FFF2-40B4-BE49-F238E27FC236}">
                <a16:creationId xmlns:a16="http://schemas.microsoft.com/office/drawing/2014/main" id="{6E2150C7-172C-2979-B111-7F5EE6B270A7}"/>
              </a:ext>
            </a:extLst>
          </p:cNvPr>
          <p:cNvSpPr txBox="1"/>
          <p:nvPr/>
        </p:nvSpPr>
        <p:spPr>
          <a:xfrm>
            <a:off x="4901616" y="5647723"/>
            <a:ext cx="871608" cy="184666"/>
          </a:xfrm>
          <a:prstGeom prst="rect">
            <a:avLst/>
          </a:prstGeom>
          <a:solidFill>
            <a:schemeClr val="bg1"/>
          </a:solidFill>
          <a:ln>
            <a:noFill/>
          </a:ln>
        </p:spPr>
        <p:txBody>
          <a:bodyPr wrap="square" lIns="0" tIns="0" rIns="0" bIns="0">
            <a:spAutoFit/>
          </a:bodyPr>
          <a:lstStyle/>
          <a:p>
            <a:pPr algn="ctr"/>
            <a:r>
              <a:rPr lang="ja-JP" altLang="en-US" sz="1200" dirty="0">
                <a:latin typeface="+mn-ea"/>
                <a:ea typeface="+mn-ea"/>
              </a:rPr>
              <a:t>リスト提供</a:t>
            </a:r>
          </a:p>
        </p:txBody>
      </p:sp>
      <p:sp>
        <p:nvSpPr>
          <p:cNvPr id="85" name="テキスト ボックス 84">
            <a:extLst>
              <a:ext uri="{FF2B5EF4-FFF2-40B4-BE49-F238E27FC236}">
                <a16:creationId xmlns:a16="http://schemas.microsoft.com/office/drawing/2014/main" id="{A30820FF-D7CB-970D-866B-F2E4E228C331}"/>
              </a:ext>
            </a:extLst>
          </p:cNvPr>
          <p:cNvSpPr txBox="1"/>
          <p:nvPr/>
        </p:nvSpPr>
        <p:spPr>
          <a:xfrm>
            <a:off x="5986787" y="3349301"/>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sp>
        <p:nvSpPr>
          <p:cNvPr id="86" name="テキスト ボックス 85">
            <a:extLst>
              <a:ext uri="{FF2B5EF4-FFF2-40B4-BE49-F238E27FC236}">
                <a16:creationId xmlns:a16="http://schemas.microsoft.com/office/drawing/2014/main" id="{A9B65006-8871-691A-4310-5A8D74DA59D5}"/>
              </a:ext>
            </a:extLst>
          </p:cNvPr>
          <p:cNvSpPr txBox="1"/>
          <p:nvPr/>
        </p:nvSpPr>
        <p:spPr>
          <a:xfrm>
            <a:off x="6430237" y="2746788"/>
            <a:ext cx="710382" cy="184666"/>
          </a:xfrm>
          <a:prstGeom prst="rect">
            <a:avLst/>
          </a:prstGeom>
          <a:noFill/>
        </p:spPr>
        <p:txBody>
          <a:bodyPr wrap="square" lIns="0" tIns="0" rIns="0" bIns="0">
            <a:spAutoFit/>
          </a:bodyPr>
          <a:lstStyle>
            <a:defPPr>
              <a:defRPr lang="ja-JP"/>
            </a:defPPr>
            <a:lvl1pPr algn="ctr">
              <a:defRPr sz="1200" b="1">
                <a:solidFill>
                  <a:schemeClr val="accent1"/>
                </a:solidFill>
                <a:latin typeface="+mn-ea"/>
                <a:ea typeface="+mn-ea"/>
              </a:defRPr>
            </a:lvl1pPr>
          </a:lstStyle>
          <a:p>
            <a:r>
              <a:rPr lang="ja-JP" altLang="en-US"/>
              <a:t>策定支援</a:t>
            </a:r>
            <a:endParaRPr lang="en-US" altLang="ja-JP" dirty="0"/>
          </a:p>
        </p:txBody>
      </p:sp>
      <p:sp>
        <p:nvSpPr>
          <p:cNvPr id="88" name="テキスト ボックス 87">
            <a:extLst>
              <a:ext uri="{FF2B5EF4-FFF2-40B4-BE49-F238E27FC236}">
                <a16:creationId xmlns:a16="http://schemas.microsoft.com/office/drawing/2014/main" id="{53372CC8-86BA-D137-233E-88B2342E26AE}"/>
              </a:ext>
            </a:extLst>
          </p:cNvPr>
          <p:cNvSpPr txBox="1"/>
          <p:nvPr/>
        </p:nvSpPr>
        <p:spPr>
          <a:xfrm>
            <a:off x="7175500" y="4223175"/>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sp>
        <p:nvSpPr>
          <p:cNvPr id="95" name="テキスト ボックス 94">
            <a:extLst>
              <a:ext uri="{FF2B5EF4-FFF2-40B4-BE49-F238E27FC236}">
                <a16:creationId xmlns:a16="http://schemas.microsoft.com/office/drawing/2014/main" id="{55B6AE03-D367-E4EC-C22D-A260942C2C0E}"/>
              </a:ext>
            </a:extLst>
          </p:cNvPr>
          <p:cNvSpPr txBox="1"/>
          <p:nvPr/>
        </p:nvSpPr>
        <p:spPr>
          <a:xfrm>
            <a:off x="3266303" y="4385466"/>
            <a:ext cx="710382" cy="184666"/>
          </a:xfrm>
          <a:prstGeom prst="rect">
            <a:avLst/>
          </a:prstGeom>
          <a:solidFill>
            <a:srgbClr val="FFF6D9"/>
          </a:solidFill>
        </p:spPr>
        <p:txBody>
          <a:bodyPr wrap="square" lIns="0" tIns="0" rIns="0" bIns="0">
            <a:spAutoFit/>
          </a:bodyPr>
          <a:lstStyle/>
          <a:p>
            <a:pPr algn="ctr"/>
            <a:r>
              <a:rPr lang="ja-JP" altLang="en-US" sz="1200" dirty="0">
                <a:latin typeface="+mn-ea"/>
                <a:ea typeface="+mn-ea"/>
              </a:rPr>
              <a:t>準拠</a:t>
            </a:r>
          </a:p>
        </p:txBody>
      </p:sp>
      <p:cxnSp>
        <p:nvCxnSpPr>
          <p:cNvPr id="96" name="コネクタ: カギ線 95">
            <a:extLst>
              <a:ext uri="{FF2B5EF4-FFF2-40B4-BE49-F238E27FC236}">
                <a16:creationId xmlns:a16="http://schemas.microsoft.com/office/drawing/2014/main" id="{888D5230-B2A6-FF4C-9AC4-400F0051D224}"/>
              </a:ext>
            </a:extLst>
          </p:cNvPr>
          <p:cNvCxnSpPr>
            <a:cxnSpLocks/>
            <a:stCxn id="47" idx="1"/>
            <a:endCxn id="75" idx="0"/>
          </p:cNvCxnSpPr>
          <p:nvPr/>
        </p:nvCxnSpPr>
        <p:spPr>
          <a:xfrm rot="10800000" flipV="1">
            <a:off x="4330850" y="4509282"/>
            <a:ext cx="164933" cy="524329"/>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7" name="テキスト ボックス 96">
            <a:extLst>
              <a:ext uri="{FF2B5EF4-FFF2-40B4-BE49-F238E27FC236}">
                <a16:creationId xmlns:a16="http://schemas.microsoft.com/office/drawing/2014/main" id="{CAE10C93-CD3F-87F9-547F-2FA7B8ABBA47}"/>
              </a:ext>
            </a:extLst>
          </p:cNvPr>
          <p:cNvSpPr txBox="1"/>
          <p:nvPr/>
        </p:nvSpPr>
        <p:spPr>
          <a:xfrm>
            <a:off x="3880453" y="4729674"/>
            <a:ext cx="1353634" cy="153888"/>
          </a:xfrm>
          <a:prstGeom prst="rect">
            <a:avLst/>
          </a:prstGeom>
          <a:solidFill>
            <a:schemeClr val="bg1"/>
          </a:solidFill>
          <a:ln>
            <a:noFill/>
          </a:ln>
        </p:spPr>
        <p:txBody>
          <a:bodyPr wrap="square" lIns="0" tIns="0" rIns="0" bIns="0">
            <a:spAutoFit/>
          </a:bodyPr>
          <a:lstStyle/>
          <a:p>
            <a:pPr algn="ctr"/>
            <a:r>
              <a:rPr lang="en-US" altLang="ja-JP" sz="1000" dirty="0">
                <a:latin typeface="+mj-lt"/>
              </a:rPr>
              <a:t>Providing infrastructure</a:t>
            </a:r>
            <a:endParaRPr lang="ja-JP" altLang="en-US" sz="1000" dirty="0">
              <a:latin typeface="+mj-lt"/>
            </a:endParaRPr>
          </a:p>
        </p:txBody>
      </p:sp>
      <p:sp>
        <p:nvSpPr>
          <p:cNvPr id="99" name="正方形/長方形 98">
            <a:extLst>
              <a:ext uri="{FF2B5EF4-FFF2-40B4-BE49-F238E27FC236}">
                <a16:creationId xmlns:a16="http://schemas.microsoft.com/office/drawing/2014/main" id="{660A8FC8-334A-C2CD-974D-A3B19B5CCAE8}"/>
              </a:ext>
            </a:extLst>
          </p:cNvPr>
          <p:cNvSpPr/>
          <p:nvPr/>
        </p:nvSpPr>
        <p:spPr>
          <a:xfrm>
            <a:off x="7645693" y="3486846"/>
            <a:ext cx="1585650" cy="366802"/>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rPr>
              <a:t>Secure Technology </a:t>
            </a:r>
          </a:p>
          <a:p>
            <a:pPr algn="ctr"/>
            <a:r>
              <a:rPr lang="en-US" altLang="ja-JP" sz="1200" dirty="0">
                <a:solidFill>
                  <a:schemeClr val="bg1"/>
                </a:solidFill>
              </a:rPr>
              <a:t>Alliance (STA)</a:t>
            </a:r>
            <a:endParaRPr lang="ja-JP" altLang="en-US" sz="1200" dirty="0">
              <a:solidFill>
                <a:schemeClr val="bg1"/>
              </a:solidFill>
            </a:endParaRPr>
          </a:p>
        </p:txBody>
      </p:sp>
      <p:cxnSp>
        <p:nvCxnSpPr>
          <p:cNvPr id="100" name="コネクタ: カギ線 99">
            <a:extLst>
              <a:ext uri="{FF2B5EF4-FFF2-40B4-BE49-F238E27FC236}">
                <a16:creationId xmlns:a16="http://schemas.microsoft.com/office/drawing/2014/main" id="{D04FC6DB-24CA-E5A5-51B1-AF35DD205904}"/>
              </a:ext>
            </a:extLst>
          </p:cNvPr>
          <p:cNvCxnSpPr>
            <a:cxnSpLocks/>
            <a:stCxn id="99" idx="1"/>
          </p:cNvCxnSpPr>
          <p:nvPr/>
        </p:nvCxnSpPr>
        <p:spPr>
          <a:xfrm rot="10800000" flipV="1">
            <a:off x="6848467" y="3670247"/>
            <a:ext cx="797226" cy="357108"/>
          </a:xfrm>
          <a:prstGeom prst="bentConnector3">
            <a:avLst>
              <a:gd name="adj1" fmla="val 50000"/>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04CDF173-51F1-0836-D046-7DBA82CAB6E8}"/>
              </a:ext>
            </a:extLst>
          </p:cNvPr>
          <p:cNvSpPr txBox="1"/>
          <p:nvPr/>
        </p:nvSpPr>
        <p:spPr>
          <a:xfrm>
            <a:off x="6416341" y="3783179"/>
            <a:ext cx="710382" cy="184666"/>
          </a:xfrm>
          <a:prstGeom prst="rect">
            <a:avLst/>
          </a:prstGeom>
          <a:noFill/>
          <a:ln>
            <a:noFill/>
          </a:ln>
        </p:spPr>
        <p:txBody>
          <a:bodyPr wrap="square" lIns="0" tIns="0" rIns="0" bIns="0">
            <a:spAutoFit/>
          </a:bodyPr>
          <a:lstStyle/>
          <a:p>
            <a:pPr algn="ctr"/>
            <a:r>
              <a:rPr lang="ja-JP" altLang="en-US" sz="1200" b="1" dirty="0">
                <a:solidFill>
                  <a:schemeClr val="accent1"/>
                </a:solidFill>
                <a:latin typeface="+mn-ea"/>
                <a:ea typeface="+mn-ea"/>
              </a:rPr>
              <a:t>策定支援</a:t>
            </a:r>
            <a:endParaRPr lang="en-US" altLang="ja-JP" sz="1200" b="1" dirty="0">
              <a:solidFill>
                <a:schemeClr val="accent1"/>
              </a:solidFill>
              <a:latin typeface="+mn-ea"/>
              <a:ea typeface="+mn-ea"/>
            </a:endParaRPr>
          </a:p>
        </p:txBody>
      </p:sp>
      <p:sp>
        <p:nvSpPr>
          <p:cNvPr id="103" name="コンテンツ プレースホルダー 2">
            <a:extLst>
              <a:ext uri="{FF2B5EF4-FFF2-40B4-BE49-F238E27FC236}">
                <a16:creationId xmlns:a16="http://schemas.microsoft.com/office/drawing/2014/main" id="{65014744-AD61-3FE4-1FDC-0C5197D2FE3E}"/>
              </a:ext>
            </a:extLst>
          </p:cNvPr>
          <p:cNvSpPr txBox="1">
            <a:spLocks/>
          </p:cNvSpPr>
          <p:nvPr/>
        </p:nvSpPr>
        <p:spPr>
          <a:xfrm>
            <a:off x="273050" y="913526"/>
            <a:ext cx="9359900"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endParaRPr lang="ja-JP" altLang="en-US" dirty="0"/>
          </a:p>
        </p:txBody>
      </p:sp>
      <p:sp>
        <p:nvSpPr>
          <p:cNvPr id="106" name="テキスト ボックス 105">
            <a:extLst>
              <a:ext uri="{FF2B5EF4-FFF2-40B4-BE49-F238E27FC236}">
                <a16:creationId xmlns:a16="http://schemas.microsoft.com/office/drawing/2014/main" id="{F44D11DE-CD1F-07C1-59B3-B88D0BA9CD6A}"/>
              </a:ext>
            </a:extLst>
          </p:cNvPr>
          <p:cNvSpPr txBox="1"/>
          <p:nvPr/>
        </p:nvSpPr>
        <p:spPr>
          <a:xfrm>
            <a:off x="6836297" y="2212979"/>
            <a:ext cx="710382" cy="184666"/>
          </a:xfrm>
          <a:prstGeom prst="rect">
            <a:avLst/>
          </a:prstGeom>
          <a:noFill/>
        </p:spPr>
        <p:txBody>
          <a:bodyPr wrap="square" lIns="0" tIns="0" rIns="0" bIns="0">
            <a:spAutoFit/>
          </a:bodyPr>
          <a:lstStyle/>
          <a:p>
            <a:pPr algn="ctr"/>
            <a:r>
              <a:rPr lang="ja-JP" altLang="en-US" sz="1200" b="1" dirty="0">
                <a:solidFill>
                  <a:schemeClr val="accent1"/>
                </a:solidFill>
                <a:latin typeface="+mn-ea"/>
                <a:ea typeface="+mn-ea"/>
              </a:rPr>
              <a:t>策定</a:t>
            </a:r>
          </a:p>
        </p:txBody>
      </p:sp>
      <p:grpSp>
        <p:nvGrpSpPr>
          <p:cNvPr id="108" name="グループ化 107">
            <a:extLst>
              <a:ext uri="{FF2B5EF4-FFF2-40B4-BE49-F238E27FC236}">
                <a16:creationId xmlns:a16="http://schemas.microsoft.com/office/drawing/2014/main" id="{C9FBC9E7-1178-DB7D-FA9C-E492D195DD82}"/>
              </a:ext>
            </a:extLst>
          </p:cNvPr>
          <p:cNvGrpSpPr/>
          <p:nvPr/>
        </p:nvGrpSpPr>
        <p:grpSpPr>
          <a:xfrm>
            <a:off x="3213255" y="1469985"/>
            <a:ext cx="3950840" cy="184666"/>
            <a:chOff x="2955712" y="818485"/>
            <a:chExt cx="4387516" cy="184666"/>
          </a:xfrm>
        </p:grpSpPr>
        <p:cxnSp>
          <p:nvCxnSpPr>
            <p:cNvPr id="109" name="直線コネクタ 108">
              <a:extLst>
                <a:ext uri="{FF2B5EF4-FFF2-40B4-BE49-F238E27FC236}">
                  <a16:creationId xmlns:a16="http://schemas.microsoft.com/office/drawing/2014/main" id="{C61D5306-972F-4E43-8D64-A5946A80A89B}"/>
                </a:ext>
              </a:extLst>
            </p:cNvPr>
            <p:cNvCxnSpPr/>
            <p:nvPr/>
          </p:nvCxnSpPr>
          <p:spPr>
            <a:xfrm>
              <a:off x="2955712" y="908050"/>
              <a:ext cx="4387516" cy="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27EB91DB-1EEE-C1AA-39DE-B14508FD6FD2}"/>
                </a:ext>
              </a:extLst>
            </p:cNvPr>
            <p:cNvSpPr txBox="1"/>
            <p:nvPr/>
          </p:nvSpPr>
          <p:spPr>
            <a:xfrm>
              <a:off x="4647955" y="818485"/>
              <a:ext cx="1003029" cy="184666"/>
            </a:xfrm>
            <a:prstGeom prst="rect">
              <a:avLst/>
            </a:prstGeom>
            <a:solidFill>
              <a:schemeClr val="bg1"/>
            </a:solidFill>
          </p:spPr>
          <p:txBody>
            <a:bodyPr wrap="square" lIns="0" tIns="0" rIns="0" bIns="0" rtlCol="0">
              <a:spAutoFit/>
            </a:bodyPr>
            <a:lstStyle/>
            <a:p>
              <a:pPr algn="ctr"/>
              <a:r>
                <a:rPr lang="ja-JP" altLang="en-US" sz="1200" dirty="0">
                  <a:latin typeface="+mn-ea"/>
                  <a:ea typeface="+mn-ea"/>
                </a:rPr>
                <a:t>領域</a:t>
              </a:r>
              <a:endParaRPr kumimoji="1" lang="ja-JP" altLang="en-US" sz="1200" dirty="0">
                <a:latin typeface="+mn-ea"/>
                <a:ea typeface="+mn-ea"/>
              </a:endParaRPr>
            </a:p>
          </p:txBody>
        </p:sp>
      </p:grpSp>
      <p:sp>
        <p:nvSpPr>
          <p:cNvPr id="111" name="テキスト ボックス 110">
            <a:extLst>
              <a:ext uri="{FF2B5EF4-FFF2-40B4-BE49-F238E27FC236}">
                <a16:creationId xmlns:a16="http://schemas.microsoft.com/office/drawing/2014/main" id="{7AAA2C8A-A4E5-BDB8-82AC-663A4DA7A5E0}"/>
              </a:ext>
            </a:extLst>
          </p:cNvPr>
          <p:cNvSpPr txBox="1"/>
          <p:nvPr/>
        </p:nvSpPr>
        <p:spPr>
          <a:xfrm>
            <a:off x="3545822" y="1771632"/>
            <a:ext cx="615553" cy="184666"/>
          </a:xfrm>
          <a:prstGeom prst="rect">
            <a:avLst/>
          </a:prstGeom>
          <a:noFill/>
        </p:spPr>
        <p:txBody>
          <a:bodyPr wrap="none" lIns="0" tIns="0" rIns="0" bIns="0" rtlCol="0">
            <a:spAutoFit/>
          </a:bodyPr>
          <a:lstStyle/>
          <a:p>
            <a:pPr algn="ctr"/>
            <a:r>
              <a:rPr kumimoji="1" lang="ja-JP" altLang="en-US" sz="1200" b="1" u="sng" dirty="0">
                <a:latin typeface="+mn-ea"/>
                <a:ea typeface="+mn-ea"/>
              </a:rPr>
              <a:t>一般要件</a:t>
            </a:r>
            <a:endParaRPr lang="en-US" altLang="ja-JP" sz="1200" b="1" u="sng" dirty="0">
              <a:latin typeface="+mn-ea"/>
              <a:ea typeface="+mn-ea"/>
            </a:endParaRPr>
          </a:p>
        </p:txBody>
      </p:sp>
      <p:sp>
        <p:nvSpPr>
          <p:cNvPr id="112" name="テキスト ボックス 111">
            <a:extLst>
              <a:ext uri="{FF2B5EF4-FFF2-40B4-BE49-F238E27FC236}">
                <a16:creationId xmlns:a16="http://schemas.microsoft.com/office/drawing/2014/main" id="{842B8F25-5680-F654-6D47-4430E2121035}"/>
              </a:ext>
            </a:extLst>
          </p:cNvPr>
          <p:cNvSpPr txBox="1"/>
          <p:nvPr/>
        </p:nvSpPr>
        <p:spPr>
          <a:xfrm>
            <a:off x="4732548" y="1769124"/>
            <a:ext cx="993862" cy="184666"/>
          </a:xfrm>
          <a:prstGeom prst="rect">
            <a:avLst/>
          </a:prstGeom>
          <a:noFill/>
        </p:spPr>
        <p:txBody>
          <a:bodyPr wrap="none" lIns="0" tIns="0" rIns="0" bIns="0" rtlCol="0">
            <a:spAutoFit/>
          </a:bodyPr>
          <a:lstStyle/>
          <a:p>
            <a:pPr algn="ctr"/>
            <a:r>
              <a:rPr lang="ja-JP" altLang="en-US" sz="1200" b="1" u="sng" dirty="0">
                <a:latin typeface="+mn-ea"/>
                <a:ea typeface="+mn-ea"/>
              </a:rPr>
              <a:t>ガバナンス・認定</a:t>
            </a:r>
            <a:endParaRPr kumimoji="1" lang="en-US" altLang="ja-JP" sz="1200" b="1" u="sng" dirty="0">
              <a:latin typeface="+mn-ea"/>
              <a:ea typeface="+mn-ea"/>
            </a:endParaRPr>
          </a:p>
        </p:txBody>
      </p:sp>
      <p:sp>
        <p:nvSpPr>
          <p:cNvPr id="113" name="テキスト ボックス 112">
            <a:extLst>
              <a:ext uri="{FF2B5EF4-FFF2-40B4-BE49-F238E27FC236}">
                <a16:creationId xmlns:a16="http://schemas.microsoft.com/office/drawing/2014/main" id="{C591E382-E480-AEC3-49FB-BCDD741A5734}"/>
              </a:ext>
            </a:extLst>
          </p:cNvPr>
          <p:cNvSpPr txBox="1"/>
          <p:nvPr/>
        </p:nvSpPr>
        <p:spPr>
          <a:xfrm>
            <a:off x="6066535" y="1686727"/>
            <a:ext cx="905510" cy="369332"/>
          </a:xfrm>
          <a:prstGeom prst="rect">
            <a:avLst/>
          </a:prstGeom>
          <a:noFill/>
        </p:spPr>
        <p:txBody>
          <a:bodyPr wrap="square" lIns="0" tIns="0" rIns="0" bIns="0" rtlCol="0">
            <a:spAutoFit/>
          </a:bodyPr>
          <a:lstStyle/>
          <a:p>
            <a:pPr algn="ctr"/>
            <a:r>
              <a:rPr kumimoji="1" lang="ja-JP" altLang="en-US" sz="1200" b="1" u="sng" dirty="0">
                <a:latin typeface="+mn-ea"/>
                <a:ea typeface="+mn-ea"/>
              </a:rPr>
              <a:t>技術規格・</a:t>
            </a:r>
            <a:endParaRPr kumimoji="1" lang="en-US" altLang="ja-JP" sz="1200" b="1" u="sng" dirty="0">
              <a:latin typeface="+mn-ea"/>
              <a:ea typeface="+mn-ea"/>
            </a:endParaRPr>
          </a:p>
          <a:p>
            <a:pPr algn="ctr"/>
            <a:r>
              <a:rPr kumimoji="1" lang="ja-JP" altLang="en-US" sz="1200" b="1" u="sng" dirty="0">
                <a:latin typeface="+mn-ea"/>
                <a:ea typeface="+mn-ea"/>
              </a:rPr>
              <a:t>アーキテクチャ</a:t>
            </a:r>
          </a:p>
        </p:txBody>
      </p:sp>
      <p:cxnSp>
        <p:nvCxnSpPr>
          <p:cNvPr id="115" name="直線矢印コネクタ 114">
            <a:extLst>
              <a:ext uri="{FF2B5EF4-FFF2-40B4-BE49-F238E27FC236}">
                <a16:creationId xmlns:a16="http://schemas.microsoft.com/office/drawing/2014/main" id="{E5AAD31F-A0E9-0504-79F3-B8139D758D7C}"/>
              </a:ext>
            </a:extLst>
          </p:cNvPr>
          <p:cNvCxnSpPr>
            <a:cxnSpLocks/>
            <a:stCxn id="67" idx="1"/>
            <a:endCxn id="68" idx="3"/>
          </p:cNvCxnSpPr>
          <p:nvPr/>
        </p:nvCxnSpPr>
        <p:spPr>
          <a:xfrm flipH="1" flipV="1">
            <a:off x="5692321" y="2400819"/>
            <a:ext cx="1969294" cy="14034"/>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16" name="四角形: 角を丸くする 115">
            <a:extLst>
              <a:ext uri="{FF2B5EF4-FFF2-40B4-BE49-F238E27FC236}">
                <a16:creationId xmlns:a16="http://schemas.microsoft.com/office/drawing/2014/main" id="{5401E194-688E-3DFE-DD61-059BF747AE9B}"/>
              </a:ext>
            </a:extLst>
          </p:cNvPr>
          <p:cNvSpPr/>
          <p:nvPr/>
        </p:nvSpPr>
        <p:spPr>
          <a:xfrm>
            <a:off x="251011" y="3106388"/>
            <a:ext cx="1991500" cy="219073"/>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200" b="1" dirty="0">
                <a:solidFill>
                  <a:schemeClr val="bg1"/>
                </a:solidFill>
                <a:latin typeface="+mn-ea"/>
              </a:rPr>
              <a:t>ガイドライン等</a:t>
            </a:r>
            <a:endParaRPr kumimoji="1" lang="ja-JP" altLang="en-US" sz="1200" b="1" dirty="0">
              <a:solidFill>
                <a:schemeClr val="bg1"/>
              </a:solidFill>
              <a:latin typeface="+mn-ea"/>
            </a:endParaRPr>
          </a:p>
        </p:txBody>
      </p:sp>
      <p:sp>
        <p:nvSpPr>
          <p:cNvPr id="117" name="四角形: 角を丸くする 116">
            <a:extLst>
              <a:ext uri="{FF2B5EF4-FFF2-40B4-BE49-F238E27FC236}">
                <a16:creationId xmlns:a16="http://schemas.microsoft.com/office/drawing/2014/main" id="{22DF2C48-5025-7EC8-982D-F5EF6E39FCA3}"/>
              </a:ext>
            </a:extLst>
          </p:cNvPr>
          <p:cNvSpPr/>
          <p:nvPr/>
        </p:nvSpPr>
        <p:spPr>
          <a:xfrm>
            <a:off x="251011" y="1788632"/>
            <a:ext cx="1991500" cy="23338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上位の法規制</a:t>
            </a:r>
          </a:p>
        </p:txBody>
      </p:sp>
      <p:sp>
        <p:nvSpPr>
          <p:cNvPr id="118" name="四角形: 角を丸くする 117">
            <a:extLst>
              <a:ext uri="{FF2B5EF4-FFF2-40B4-BE49-F238E27FC236}">
                <a16:creationId xmlns:a16="http://schemas.microsoft.com/office/drawing/2014/main" id="{B6738FFE-B522-22FD-47C7-1382178FDB26}"/>
              </a:ext>
            </a:extLst>
          </p:cNvPr>
          <p:cNvSpPr/>
          <p:nvPr/>
        </p:nvSpPr>
        <p:spPr>
          <a:xfrm>
            <a:off x="240028" y="4896062"/>
            <a:ext cx="1991500" cy="230077"/>
          </a:xfrm>
          <a:prstGeom prst="roundRect">
            <a:avLst>
              <a:gd name="adj" fmla="val 47060"/>
            </a:avLst>
          </a:prstGeom>
          <a:solidFill>
            <a:schemeClr val="accent6"/>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b="1" dirty="0">
                <a:solidFill>
                  <a:schemeClr val="bg1"/>
                </a:solidFill>
                <a:latin typeface="+mn-ea"/>
              </a:rPr>
              <a:t>サービス認定・ガバナンス</a:t>
            </a:r>
          </a:p>
        </p:txBody>
      </p:sp>
      <p:sp>
        <p:nvSpPr>
          <p:cNvPr id="119" name="正方形/長方形 118">
            <a:extLst>
              <a:ext uri="{FF2B5EF4-FFF2-40B4-BE49-F238E27FC236}">
                <a16:creationId xmlns:a16="http://schemas.microsoft.com/office/drawing/2014/main" id="{2F1F2E5D-A4F8-2F30-8A1D-280ED0938621}"/>
              </a:ext>
            </a:extLst>
          </p:cNvPr>
          <p:cNvSpPr/>
          <p:nvPr/>
        </p:nvSpPr>
        <p:spPr>
          <a:xfrm>
            <a:off x="5961063" y="5415979"/>
            <a:ext cx="1596189" cy="358085"/>
          </a:xfrm>
          <a:prstGeom prst="rect">
            <a:avLst/>
          </a:prstGeom>
          <a:solidFill>
            <a:schemeClr val="bg1">
              <a:lumMod val="5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en-US" altLang="ja-JP" sz="1200" dirty="0">
                <a:solidFill>
                  <a:schemeClr val="bg1"/>
                </a:solidFill>
              </a:rPr>
              <a:t>UL Solutions</a:t>
            </a:r>
          </a:p>
        </p:txBody>
      </p:sp>
      <p:cxnSp>
        <p:nvCxnSpPr>
          <p:cNvPr id="122" name="コネクタ: カギ線 121">
            <a:extLst>
              <a:ext uri="{FF2B5EF4-FFF2-40B4-BE49-F238E27FC236}">
                <a16:creationId xmlns:a16="http://schemas.microsoft.com/office/drawing/2014/main" id="{08AAB12B-C4DB-E58B-FFDA-99A1D3F983BE}"/>
              </a:ext>
            </a:extLst>
          </p:cNvPr>
          <p:cNvCxnSpPr>
            <a:stCxn id="119" idx="1"/>
            <a:endCxn id="75" idx="3"/>
          </p:cNvCxnSpPr>
          <p:nvPr/>
        </p:nvCxnSpPr>
        <p:spPr>
          <a:xfrm rot="10800000">
            <a:off x="5128943" y="5197318"/>
            <a:ext cx="832120" cy="397704"/>
          </a:xfrm>
          <a:prstGeom prst="bentConnector3">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23" name="テキスト ボックス 122">
            <a:extLst>
              <a:ext uri="{FF2B5EF4-FFF2-40B4-BE49-F238E27FC236}">
                <a16:creationId xmlns:a16="http://schemas.microsoft.com/office/drawing/2014/main" id="{4C0EDDC7-ADD4-852B-9182-7083CF7F8C47}"/>
              </a:ext>
            </a:extLst>
          </p:cNvPr>
          <p:cNvSpPr txBox="1"/>
          <p:nvPr/>
        </p:nvSpPr>
        <p:spPr>
          <a:xfrm>
            <a:off x="5582572" y="5321992"/>
            <a:ext cx="307777" cy="184666"/>
          </a:xfrm>
          <a:prstGeom prst="rect">
            <a:avLst/>
          </a:prstGeom>
          <a:noFill/>
        </p:spPr>
        <p:txBody>
          <a:bodyPr wrap="none" lIns="0" tIns="0" rIns="0" bIns="0" rtlCol="0">
            <a:spAutoFit/>
          </a:bodyPr>
          <a:lstStyle/>
          <a:p>
            <a:r>
              <a:rPr kumimoji="1" lang="ja-JP" altLang="en-US" sz="1200" b="1" dirty="0">
                <a:solidFill>
                  <a:schemeClr val="accent3"/>
                </a:solidFill>
                <a:latin typeface="+mn-ea"/>
                <a:ea typeface="+mn-ea"/>
              </a:rPr>
              <a:t>認定</a:t>
            </a:r>
          </a:p>
        </p:txBody>
      </p:sp>
      <p:sp>
        <p:nvSpPr>
          <p:cNvPr id="124" name="テキスト ボックス 123">
            <a:extLst>
              <a:ext uri="{FF2B5EF4-FFF2-40B4-BE49-F238E27FC236}">
                <a16:creationId xmlns:a16="http://schemas.microsoft.com/office/drawing/2014/main" id="{DEAEB865-EC9E-6B52-3A1E-7EF95E0D45CB}"/>
              </a:ext>
            </a:extLst>
          </p:cNvPr>
          <p:cNvSpPr txBox="1"/>
          <p:nvPr/>
        </p:nvSpPr>
        <p:spPr>
          <a:xfrm>
            <a:off x="5999294" y="4924441"/>
            <a:ext cx="1085450" cy="184666"/>
          </a:xfrm>
          <a:prstGeom prst="rect">
            <a:avLst/>
          </a:prstGeom>
          <a:noFill/>
          <a:ln>
            <a:noFill/>
          </a:ln>
        </p:spPr>
        <p:txBody>
          <a:bodyPr wrap="square" lIns="0" tIns="0" rIns="0" bIns="0">
            <a:spAutoFit/>
          </a:bodyPr>
          <a:lstStyle>
            <a:defPPr>
              <a:defRPr lang="ja-JP"/>
            </a:defPPr>
            <a:lvl1pPr algn="ctr">
              <a:defRPr sz="1000">
                <a:latin typeface="+mj-lt"/>
              </a:defRPr>
            </a:lvl1pPr>
          </a:lstStyle>
          <a:p>
            <a:r>
              <a:rPr lang="ja-JP" altLang="en-US" sz="1200" dirty="0">
                <a:latin typeface="+mn-ea"/>
                <a:ea typeface="+mn-ea"/>
              </a:rPr>
              <a:t>リスト登録</a:t>
            </a:r>
          </a:p>
        </p:txBody>
      </p:sp>
      <p:sp>
        <p:nvSpPr>
          <p:cNvPr id="125" name="テキスト ボックス 124">
            <a:extLst>
              <a:ext uri="{FF2B5EF4-FFF2-40B4-BE49-F238E27FC236}">
                <a16:creationId xmlns:a16="http://schemas.microsoft.com/office/drawing/2014/main" id="{DE2043B5-1A3F-4F56-1A7B-BC1AFB6658BE}"/>
              </a:ext>
            </a:extLst>
          </p:cNvPr>
          <p:cNvSpPr txBox="1"/>
          <p:nvPr/>
        </p:nvSpPr>
        <p:spPr>
          <a:xfrm>
            <a:off x="7343157" y="5965156"/>
            <a:ext cx="1085450" cy="184666"/>
          </a:xfrm>
          <a:prstGeom prst="rect">
            <a:avLst/>
          </a:prstGeom>
          <a:noFill/>
          <a:ln>
            <a:noFill/>
          </a:ln>
        </p:spPr>
        <p:txBody>
          <a:bodyPr wrap="square" lIns="0" tIns="0" rIns="0" bIns="0">
            <a:spAutoFit/>
          </a:bodyPr>
          <a:lstStyle>
            <a:defPPr>
              <a:defRPr lang="ja-JP"/>
            </a:defPPr>
            <a:lvl1pPr algn="ctr">
              <a:defRPr sz="1000">
                <a:latin typeface="+mj-lt"/>
              </a:defRPr>
            </a:lvl1pPr>
          </a:lstStyle>
          <a:p>
            <a:r>
              <a:rPr lang="en-US" altLang="ja-JP" sz="1200" dirty="0" err="1">
                <a:latin typeface="+mn-ea"/>
                <a:ea typeface="+mn-ea"/>
              </a:rPr>
              <a:t>mDL</a:t>
            </a:r>
            <a:r>
              <a:rPr lang="ja-JP" altLang="en-US" sz="1200" dirty="0">
                <a:latin typeface="+mn-ea"/>
                <a:ea typeface="+mn-ea"/>
              </a:rPr>
              <a:t>発行</a:t>
            </a:r>
          </a:p>
        </p:txBody>
      </p:sp>
      <p:cxnSp>
        <p:nvCxnSpPr>
          <p:cNvPr id="132" name="直線矢印コネクタ 131">
            <a:extLst>
              <a:ext uri="{FF2B5EF4-FFF2-40B4-BE49-F238E27FC236}">
                <a16:creationId xmlns:a16="http://schemas.microsoft.com/office/drawing/2014/main" id="{61BDC646-53FD-82AD-2E80-96BFAA0A7321}"/>
              </a:ext>
            </a:extLst>
          </p:cNvPr>
          <p:cNvCxnSpPr>
            <a:cxnSpLocks/>
          </p:cNvCxnSpPr>
          <p:nvPr/>
        </p:nvCxnSpPr>
        <p:spPr>
          <a:xfrm>
            <a:off x="3613727" y="5376360"/>
            <a:ext cx="0" cy="75317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D0AF20A1-C0D4-47BC-14A3-A0C25873E520}"/>
              </a:ext>
            </a:extLst>
          </p:cNvPr>
          <p:cNvSpPr txBox="1"/>
          <p:nvPr/>
        </p:nvSpPr>
        <p:spPr>
          <a:xfrm>
            <a:off x="3561544" y="5463057"/>
            <a:ext cx="765850" cy="184666"/>
          </a:xfrm>
          <a:prstGeom prst="rect">
            <a:avLst/>
          </a:prstGeom>
          <a:solidFill>
            <a:schemeClr val="bg1"/>
          </a:solidFill>
          <a:ln>
            <a:noFill/>
          </a:ln>
        </p:spPr>
        <p:txBody>
          <a:bodyPr wrap="square" lIns="0" tIns="0" rIns="0" bIns="0">
            <a:spAutoFit/>
          </a:bodyPr>
          <a:lstStyle/>
          <a:p>
            <a:pPr algn="ctr"/>
            <a:r>
              <a:rPr lang="ja-JP" altLang="en-US" sz="1200" dirty="0">
                <a:latin typeface="+mn-ea"/>
                <a:ea typeface="+mn-ea"/>
              </a:rPr>
              <a:t>サービス提供</a:t>
            </a:r>
          </a:p>
        </p:txBody>
      </p:sp>
      <p:sp>
        <p:nvSpPr>
          <p:cNvPr id="136" name="コンテンツ プレースホルダー 2">
            <a:extLst>
              <a:ext uri="{FF2B5EF4-FFF2-40B4-BE49-F238E27FC236}">
                <a16:creationId xmlns:a16="http://schemas.microsoft.com/office/drawing/2014/main" id="{1EBDB4E2-4C42-0673-4D39-9EA2A19858BB}"/>
              </a:ext>
            </a:extLst>
          </p:cNvPr>
          <p:cNvSpPr txBox="1">
            <a:spLocks/>
          </p:cNvSpPr>
          <p:nvPr/>
        </p:nvSpPr>
        <p:spPr>
          <a:xfrm>
            <a:off x="273050" y="902687"/>
            <a:ext cx="7612832"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r>
              <a:rPr lang="en-US" altLang="ja-JP" dirty="0" err="1"/>
              <a:t>mDL</a:t>
            </a:r>
            <a:r>
              <a:rPr lang="ja-JP" altLang="en-US" dirty="0"/>
              <a:t>は</a:t>
            </a:r>
            <a:r>
              <a:rPr lang="en-US" altLang="ja-JP" dirty="0"/>
              <a:t>ISO</a:t>
            </a:r>
            <a:r>
              <a:rPr lang="ja-JP" altLang="en-US" dirty="0"/>
              <a:t>中心に検討が進んでおり、アメリカでは</a:t>
            </a:r>
            <a:r>
              <a:rPr lang="en-US" altLang="ja-JP" dirty="0"/>
              <a:t>AAMVA</a:t>
            </a:r>
            <a:r>
              <a:rPr lang="ja-JP" altLang="en-US" dirty="0"/>
              <a:t>は州外との相互運用性確保に向けて取り組みを進めている</a:t>
            </a:r>
          </a:p>
        </p:txBody>
      </p:sp>
      <p:sp>
        <p:nvSpPr>
          <p:cNvPr id="137" name="正方形/長方形 136">
            <a:extLst>
              <a:ext uri="{FF2B5EF4-FFF2-40B4-BE49-F238E27FC236}">
                <a16:creationId xmlns:a16="http://schemas.microsoft.com/office/drawing/2014/main" id="{F8C207E3-FE4C-648C-5D7A-3584D830F12C}"/>
              </a:ext>
            </a:extLst>
          </p:cNvPr>
          <p:cNvSpPr/>
          <p:nvPr/>
        </p:nvSpPr>
        <p:spPr>
          <a:xfrm>
            <a:off x="412389" y="6269467"/>
            <a:ext cx="9533671" cy="402098"/>
          </a:xfrm>
          <a:prstGeom prst="rect">
            <a:avLst/>
          </a:prstGeom>
          <a:no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r>
              <a:rPr kumimoji="1" lang="ja-JP" altLang="en-US" sz="900" dirty="0"/>
              <a:t>公開資料・有識者ヒアリングより</a:t>
            </a:r>
            <a:r>
              <a:rPr kumimoji="1" lang="en-US" altLang="ja-JP" sz="900" dirty="0"/>
              <a:t>TOPPAN</a:t>
            </a:r>
            <a:r>
              <a:rPr kumimoji="1" lang="ja-JP" altLang="en-US" sz="900" dirty="0"/>
              <a:t>作成</a:t>
            </a:r>
            <a:endParaRPr kumimoji="1" lang="en-US" altLang="ja-JP" sz="900" dirty="0"/>
          </a:p>
          <a:p>
            <a:r>
              <a:rPr kumimoji="1" lang="en-US" altLang="ja-JP" sz="900" dirty="0"/>
              <a:t>ISO ISO/IEC18013 </a:t>
            </a:r>
            <a:r>
              <a:rPr kumimoji="1" lang="ja-JP" altLang="en-US" sz="900" dirty="0"/>
              <a:t>では、運転免許証にかかる標準化の検討がされており、そのうち、</a:t>
            </a:r>
            <a:r>
              <a:rPr kumimoji="1" lang="en-US" altLang="ja-JP" sz="900" dirty="0"/>
              <a:t>ISO18013-5</a:t>
            </a:r>
            <a:r>
              <a:rPr kumimoji="1" lang="ja-JP" altLang="en-US" sz="900" dirty="0"/>
              <a:t>では、</a:t>
            </a:r>
            <a:r>
              <a:rPr kumimoji="1" lang="en-US" altLang="ja-JP" sz="900" dirty="0"/>
              <a:t>mobile Driver’s License (</a:t>
            </a:r>
            <a:r>
              <a:rPr kumimoji="1" lang="en-US" altLang="ja-JP" sz="900" dirty="0" err="1"/>
              <a:t>mDL</a:t>
            </a:r>
            <a:r>
              <a:rPr kumimoji="1" lang="en-US" altLang="ja-JP" sz="900" dirty="0"/>
              <a:t>)</a:t>
            </a:r>
            <a:r>
              <a:rPr kumimoji="1" lang="ja-JP" altLang="en-US" sz="900" dirty="0"/>
              <a:t>実装のためのインターフェイス仕様</a:t>
            </a:r>
            <a:r>
              <a:rPr lang="ja-JP" altLang="en-US" sz="900" dirty="0"/>
              <a:t>が</a:t>
            </a:r>
            <a:r>
              <a:rPr kumimoji="1" lang="ja-JP" altLang="en-US" sz="900" dirty="0"/>
              <a:t>定義されている</a:t>
            </a:r>
            <a:endParaRPr kumimoji="1" lang="en-US" altLang="ja-JP" sz="900" dirty="0"/>
          </a:p>
          <a:p>
            <a:r>
              <a:rPr kumimoji="1" lang="en-US" altLang="ja-JP" sz="900" dirty="0"/>
              <a:t>VICAL</a:t>
            </a:r>
            <a:r>
              <a:rPr kumimoji="1" lang="ja-JP" altLang="en-US" sz="900" dirty="0"/>
              <a:t>：</a:t>
            </a:r>
            <a:r>
              <a:rPr kumimoji="1" lang="en-US" altLang="ja-JP" sz="900" dirty="0"/>
              <a:t>verified issuer certificate authority list</a:t>
            </a:r>
            <a:r>
              <a:rPr kumimoji="1" lang="ja-JP" altLang="en-US" sz="900" dirty="0"/>
              <a:t>の略称で、発行機関の公開鍵証明書のリストであり、</a:t>
            </a:r>
            <a:r>
              <a:rPr kumimoji="1" lang="en-US" altLang="ja-JP" sz="900" dirty="0"/>
              <a:t>Relying Party</a:t>
            </a:r>
            <a:r>
              <a:rPr kumimoji="1" lang="ja-JP" altLang="en-US" sz="900" dirty="0"/>
              <a:t>がｍ</a:t>
            </a:r>
            <a:r>
              <a:rPr kumimoji="1" lang="en-US" altLang="ja-JP" sz="900" dirty="0"/>
              <a:t>DL</a:t>
            </a:r>
            <a:r>
              <a:rPr kumimoji="1" lang="ja-JP" altLang="en-US" sz="900" dirty="0"/>
              <a:t>発行機関の真正性を検証することが可能となっている</a:t>
            </a:r>
            <a:endParaRPr kumimoji="1" lang="en-US" altLang="ja-JP" sz="900" dirty="0"/>
          </a:p>
        </p:txBody>
      </p:sp>
      <p:grpSp>
        <p:nvGrpSpPr>
          <p:cNvPr id="4" name="グループ化 3">
            <a:extLst>
              <a:ext uri="{FF2B5EF4-FFF2-40B4-BE49-F238E27FC236}">
                <a16:creationId xmlns:a16="http://schemas.microsoft.com/office/drawing/2014/main" id="{4BE82D38-23FA-5749-50DE-E2853C62898D}"/>
              </a:ext>
            </a:extLst>
          </p:cNvPr>
          <p:cNvGrpSpPr/>
          <p:nvPr/>
        </p:nvGrpSpPr>
        <p:grpSpPr>
          <a:xfrm>
            <a:off x="7970555" y="774666"/>
            <a:ext cx="1818731" cy="869140"/>
            <a:chOff x="7970555" y="683876"/>
            <a:chExt cx="1818731" cy="869140"/>
          </a:xfrm>
        </p:grpSpPr>
        <p:sp>
          <p:nvSpPr>
            <p:cNvPr id="5" name="正方形/長方形 4">
              <a:extLst>
                <a:ext uri="{FF2B5EF4-FFF2-40B4-BE49-F238E27FC236}">
                  <a16:creationId xmlns:a16="http://schemas.microsoft.com/office/drawing/2014/main" id="{AF16098C-4220-6DB9-AB0D-7DE89AB0979E}"/>
                </a:ext>
              </a:extLst>
            </p:cNvPr>
            <p:cNvSpPr/>
            <p:nvPr/>
          </p:nvSpPr>
          <p:spPr>
            <a:xfrm>
              <a:off x="7970555" y="683876"/>
              <a:ext cx="1818731" cy="869140"/>
            </a:xfrm>
            <a:prstGeom prst="rect">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cxnSp>
          <p:nvCxnSpPr>
            <p:cNvPr id="6" name="直線矢印コネクタ 5">
              <a:extLst>
                <a:ext uri="{FF2B5EF4-FFF2-40B4-BE49-F238E27FC236}">
                  <a16:creationId xmlns:a16="http://schemas.microsoft.com/office/drawing/2014/main" id="{8856BE58-AB25-E8F2-61E2-97A688D30C5A}"/>
                </a:ext>
              </a:extLst>
            </p:cNvPr>
            <p:cNvCxnSpPr/>
            <p:nvPr/>
          </p:nvCxnSpPr>
          <p:spPr>
            <a:xfrm>
              <a:off x="8072708" y="984069"/>
              <a:ext cx="258070" cy="0"/>
            </a:xfrm>
            <a:prstGeom prst="straightConnector1">
              <a:avLst/>
            </a:prstGeom>
            <a:ln w="19050">
              <a:solidFill>
                <a:schemeClr val="accent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1079E6BE-9865-B206-B5B4-C80E2FE45329}"/>
                </a:ext>
              </a:extLst>
            </p:cNvPr>
            <p:cNvCxnSpPr/>
            <p:nvPr/>
          </p:nvCxnSpPr>
          <p:spPr>
            <a:xfrm>
              <a:off x="8072708" y="1210492"/>
              <a:ext cx="258070" cy="0"/>
            </a:xfrm>
            <a:prstGeom prst="straightConnector1">
              <a:avLst/>
            </a:prstGeom>
            <a:ln w="19050">
              <a:solidFill>
                <a:schemeClr val="accent3"/>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5129D247-C8DB-3E15-A13C-2BF5343B98E0}"/>
                </a:ext>
              </a:extLst>
            </p:cNvPr>
            <p:cNvCxnSpPr/>
            <p:nvPr/>
          </p:nvCxnSpPr>
          <p:spPr>
            <a:xfrm>
              <a:off x="8072708" y="1436915"/>
              <a:ext cx="258070"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4481B963-EEF3-EBC2-2E4E-942756ED2C52}"/>
                </a:ext>
              </a:extLst>
            </p:cNvPr>
            <p:cNvSpPr txBox="1"/>
            <p:nvPr/>
          </p:nvSpPr>
          <p:spPr>
            <a:xfrm>
              <a:off x="8427608" y="886461"/>
              <a:ext cx="1310878" cy="184666"/>
            </a:xfrm>
            <a:prstGeom prst="rect">
              <a:avLst/>
            </a:prstGeom>
            <a:noFill/>
          </p:spPr>
          <p:txBody>
            <a:bodyPr wrap="square" lIns="0" tIns="0" rIns="0" bIns="0" rtlCol="0">
              <a:spAutoFit/>
            </a:bodyPr>
            <a:lstStyle/>
            <a:p>
              <a:r>
                <a:rPr kumimoji="1" lang="ja-JP" altLang="en-US" sz="1200" dirty="0">
                  <a:latin typeface="+mn-ea"/>
                  <a:ea typeface="+mn-ea"/>
                </a:rPr>
                <a:t>策定の流れ</a:t>
              </a:r>
            </a:p>
          </p:txBody>
        </p:sp>
        <p:sp>
          <p:nvSpPr>
            <p:cNvPr id="10" name="テキスト ボックス 9">
              <a:extLst>
                <a:ext uri="{FF2B5EF4-FFF2-40B4-BE49-F238E27FC236}">
                  <a16:creationId xmlns:a16="http://schemas.microsoft.com/office/drawing/2014/main" id="{899A7196-2F6F-97A3-8A48-EF6B9BF9B556}"/>
                </a:ext>
              </a:extLst>
            </p:cNvPr>
            <p:cNvSpPr txBox="1"/>
            <p:nvPr/>
          </p:nvSpPr>
          <p:spPr>
            <a:xfrm>
              <a:off x="8427608" y="1114200"/>
              <a:ext cx="1310878" cy="184666"/>
            </a:xfrm>
            <a:prstGeom prst="rect">
              <a:avLst/>
            </a:prstGeom>
            <a:noFill/>
          </p:spPr>
          <p:txBody>
            <a:bodyPr wrap="square" lIns="0" tIns="0" rIns="0" bIns="0" rtlCol="0">
              <a:spAutoFit/>
            </a:bodyPr>
            <a:lstStyle/>
            <a:p>
              <a:r>
                <a:rPr lang="ja-JP" altLang="en-US" sz="1200" dirty="0">
                  <a:latin typeface="+mn-ea"/>
                  <a:ea typeface="+mn-ea"/>
                </a:rPr>
                <a:t>監査・認定等</a:t>
              </a:r>
              <a:r>
                <a:rPr kumimoji="1" lang="ja-JP" altLang="en-US" sz="1200" dirty="0">
                  <a:latin typeface="+mn-ea"/>
                  <a:ea typeface="+mn-ea"/>
                </a:rPr>
                <a:t>の流れ</a:t>
              </a:r>
            </a:p>
          </p:txBody>
        </p:sp>
        <p:sp>
          <p:nvSpPr>
            <p:cNvPr id="11" name="テキスト ボックス 10">
              <a:extLst>
                <a:ext uri="{FF2B5EF4-FFF2-40B4-BE49-F238E27FC236}">
                  <a16:creationId xmlns:a16="http://schemas.microsoft.com/office/drawing/2014/main" id="{1E08C0BD-A835-BD02-22C8-3E37A88C069A}"/>
                </a:ext>
              </a:extLst>
            </p:cNvPr>
            <p:cNvSpPr txBox="1"/>
            <p:nvPr/>
          </p:nvSpPr>
          <p:spPr>
            <a:xfrm>
              <a:off x="8427608" y="1348006"/>
              <a:ext cx="1310878" cy="184666"/>
            </a:xfrm>
            <a:prstGeom prst="rect">
              <a:avLst/>
            </a:prstGeom>
            <a:noFill/>
          </p:spPr>
          <p:txBody>
            <a:bodyPr wrap="square" lIns="0" tIns="0" rIns="0" bIns="0" rtlCol="0">
              <a:spAutoFit/>
            </a:bodyPr>
            <a:lstStyle/>
            <a:p>
              <a:r>
                <a:rPr lang="ja-JP" altLang="en-US" sz="1200" dirty="0">
                  <a:latin typeface="+mn-ea"/>
                  <a:ea typeface="+mn-ea"/>
                </a:rPr>
                <a:t>準拠等の関連性</a:t>
              </a:r>
              <a:endParaRPr kumimoji="1" lang="ja-JP" altLang="en-US" sz="1200" dirty="0">
                <a:latin typeface="+mn-ea"/>
                <a:ea typeface="+mn-ea"/>
              </a:endParaRPr>
            </a:p>
          </p:txBody>
        </p:sp>
        <p:sp>
          <p:nvSpPr>
            <p:cNvPr id="12" name="テキスト ボックス 11">
              <a:extLst>
                <a:ext uri="{FF2B5EF4-FFF2-40B4-BE49-F238E27FC236}">
                  <a16:creationId xmlns:a16="http://schemas.microsoft.com/office/drawing/2014/main" id="{9CB79244-89A1-15EC-CB2E-5CD08D6C866B}"/>
                </a:ext>
              </a:extLst>
            </p:cNvPr>
            <p:cNvSpPr txBox="1"/>
            <p:nvPr/>
          </p:nvSpPr>
          <p:spPr>
            <a:xfrm>
              <a:off x="7970555" y="691264"/>
              <a:ext cx="1310878" cy="184666"/>
            </a:xfrm>
            <a:prstGeom prst="rect">
              <a:avLst/>
            </a:prstGeom>
            <a:noFill/>
          </p:spPr>
          <p:txBody>
            <a:bodyPr wrap="square" lIns="0" tIns="0" rIns="0" bIns="0" rtlCol="0">
              <a:spAutoFit/>
            </a:bodyPr>
            <a:lstStyle/>
            <a:p>
              <a:r>
                <a:rPr kumimoji="1" lang="en-US" altLang="ja-JP" sz="1200" dirty="0">
                  <a:latin typeface="+mn-ea"/>
                  <a:ea typeface="+mn-ea"/>
                </a:rPr>
                <a:t>【</a:t>
              </a:r>
              <a:r>
                <a:rPr kumimoji="1" lang="ja-JP" altLang="en-US" sz="1200" dirty="0">
                  <a:latin typeface="+mn-ea"/>
                  <a:ea typeface="+mn-ea"/>
                </a:rPr>
                <a:t>凡例</a:t>
              </a:r>
              <a:r>
                <a:rPr kumimoji="1" lang="en-US" altLang="ja-JP" sz="1200" dirty="0">
                  <a:latin typeface="+mn-ea"/>
                  <a:ea typeface="+mn-ea"/>
                </a:rPr>
                <a:t>】</a:t>
              </a:r>
              <a:endParaRPr kumimoji="1" lang="ja-JP" altLang="en-US" sz="1200" dirty="0">
                <a:latin typeface="+mn-ea"/>
                <a:ea typeface="+mn-ea"/>
              </a:endParaRPr>
            </a:p>
          </p:txBody>
        </p:sp>
      </p:grpSp>
      <p:cxnSp>
        <p:nvCxnSpPr>
          <p:cNvPr id="16" name="コネクタ: カギ線 15">
            <a:extLst>
              <a:ext uri="{FF2B5EF4-FFF2-40B4-BE49-F238E27FC236}">
                <a16:creationId xmlns:a16="http://schemas.microsoft.com/office/drawing/2014/main" id="{2B355E54-58D9-D126-D8D3-1F7850B0D845}"/>
              </a:ext>
            </a:extLst>
          </p:cNvPr>
          <p:cNvCxnSpPr>
            <a:cxnSpLocks/>
          </p:cNvCxnSpPr>
          <p:nvPr/>
        </p:nvCxnSpPr>
        <p:spPr>
          <a:xfrm rot="16200000" flipH="1">
            <a:off x="3499576" y="3114792"/>
            <a:ext cx="1384629" cy="351552"/>
          </a:xfrm>
          <a:prstGeom prst="bentConnector3">
            <a:avLst>
              <a:gd name="adj1" fmla="val 50000"/>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5F1CC3B7-C502-020E-AC84-1DCD787CCFCC}"/>
              </a:ext>
            </a:extLst>
          </p:cNvPr>
          <p:cNvSpPr txBox="1"/>
          <p:nvPr/>
        </p:nvSpPr>
        <p:spPr>
          <a:xfrm>
            <a:off x="3783036" y="3377166"/>
            <a:ext cx="731057" cy="184666"/>
          </a:xfrm>
          <a:prstGeom prst="rect">
            <a:avLst/>
          </a:prstGeom>
          <a:solidFill>
            <a:srgbClr val="FFF6D9"/>
          </a:solidFill>
        </p:spPr>
        <p:txBody>
          <a:bodyPr wrap="square" lIns="0" tIns="0" rIns="0" bIns="0">
            <a:spAutoFit/>
          </a:bodyPr>
          <a:lstStyle/>
          <a:p>
            <a:pPr algn="ctr"/>
            <a:r>
              <a:rPr lang="ja-JP" altLang="en-US" sz="1200" dirty="0">
                <a:latin typeface="+mn-ea"/>
                <a:ea typeface="+mn-ea"/>
              </a:rPr>
              <a:t>相互に影響</a:t>
            </a:r>
          </a:p>
        </p:txBody>
      </p:sp>
      <p:sp>
        <p:nvSpPr>
          <p:cNvPr id="13" name="テキスト ボックス 12">
            <a:extLst>
              <a:ext uri="{FF2B5EF4-FFF2-40B4-BE49-F238E27FC236}">
                <a16:creationId xmlns:a16="http://schemas.microsoft.com/office/drawing/2014/main" id="{4D41DD00-8CF9-57F6-2D20-72E34EF83E16}"/>
              </a:ext>
            </a:extLst>
          </p:cNvPr>
          <p:cNvSpPr txBox="1"/>
          <p:nvPr/>
        </p:nvSpPr>
        <p:spPr>
          <a:xfrm>
            <a:off x="119023" y="6223192"/>
            <a:ext cx="445037" cy="507831"/>
          </a:xfrm>
          <a:prstGeom prst="rect">
            <a:avLst/>
          </a:prstGeom>
          <a:noFill/>
        </p:spPr>
        <p:txBody>
          <a:bodyPr wrap="square">
            <a:spAutoFit/>
          </a:bodyPr>
          <a:lstStyle/>
          <a:p>
            <a:pPr algn="r"/>
            <a:r>
              <a:rPr lang="ja-JP" altLang="en-US" sz="900" dirty="0">
                <a:latin typeface="+mn-ea"/>
                <a:ea typeface="+mn-ea"/>
              </a:rPr>
              <a:t>*</a:t>
            </a:r>
            <a:endParaRPr lang="en-US" altLang="ja-JP" sz="900" dirty="0">
              <a:latin typeface="+mn-ea"/>
              <a:ea typeface="+mn-ea"/>
            </a:endParaRPr>
          </a:p>
          <a:p>
            <a:pPr algn="r"/>
            <a:r>
              <a:rPr lang="ja-JP" altLang="en-US" sz="900" dirty="0">
                <a:latin typeface="+mn-ea"/>
                <a:ea typeface="+mn-ea"/>
              </a:rPr>
              <a:t>*</a:t>
            </a:r>
            <a:r>
              <a:rPr lang="en-US" altLang="ja-JP" sz="900" dirty="0">
                <a:latin typeface="+mn-ea"/>
                <a:ea typeface="+mn-ea"/>
              </a:rPr>
              <a:t>1</a:t>
            </a:r>
          </a:p>
          <a:p>
            <a:pPr algn="r"/>
            <a:r>
              <a:rPr lang="ja-JP" altLang="en-US" sz="900" dirty="0">
                <a:latin typeface="+mn-ea"/>
                <a:ea typeface="+mn-ea"/>
              </a:rPr>
              <a:t>*</a:t>
            </a:r>
            <a:r>
              <a:rPr lang="en-US" altLang="ja-JP" sz="900" dirty="0">
                <a:latin typeface="+mn-ea"/>
                <a:ea typeface="+mn-ea"/>
              </a:rPr>
              <a:t>2</a:t>
            </a:r>
          </a:p>
        </p:txBody>
      </p:sp>
    </p:spTree>
    <p:extLst>
      <p:ext uri="{BB962C8B-B14F-4D97-AF65-F5344CB8AC3E}">
        <p14:creationId xmlns:p14="http://schemas.microsoft.com/office/powerpoint/2010/main" val="2003510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09D3994-39DB-C517-58CE-CC7753B23489}"/>
              </a:ext>
            </a:extLst>
          </p:cNvPr>
          <p:cNvGraphicFramePr>
            <a:graphicFrameLocks noChangeAspect="1"/>
          </p:cNvGraphicFramePr>
          <p:nvPr>
            <p:custDataLst>
              <p:tags r:id="rId1"/>
            </p:custDataLst>
            <p:extLst>
              <p:ext uri="{D42A27DB-BD31-4B8C-83A1-F6EECF244321}">
                <p14:modId xmlns:p14="http://schemas.microsoft.com/office/powerpoint/2010/main" val="2396652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4" imgH="623" progId="TCLayout.ActiveDocument.1">
                  <p:embed/>
                </p:oleObj>
              </mc:Choice>
              <mc:Fallback>
                <p:oleObj name="think-cell スライド" r:id="rId3" imgW="624" imgH="623" progId="TCLayout.ActiveDocument.1">
                  <p:embed/>
                  <p:pic>
                    <p:nvPicPr>
                      <p:cNvPr id="5" name="think-cell data - do not delete" hidden="1">
                        <a:extLst>
                          <a:ext uri="{FF2B5EF4-FFF2-40B4-BE49-F238E27FC236}">
                            <a16:creationId xmlns:a16="http://schemas.microsoft.com/office/drawing/2014/main" id="{809D3994-39DB-C517-58CE-CC7753B234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矢印: 山形 25">
            <a:extLst>
              <a:ext uri="{FF2B5EF4-FFF2-40B4-BE49-F238E27FC236}">
                <a16:creationId xmlns:a16="http://schemas.microsoft.com/office/drawing/2014/main" id="{85F33E72-A113-5188-014D-7377FAA72EA0}"/>
              </a:ext>
            </a:extLst>
          </p:cNvPr>
          <p:cNvSpPr/>
          <p:nvPr/>
        </p:nvSpPr>
        <p:spPr>
          <a:xfrm>
            <a:off x="8001000" y="3551259"/>
            <a:ext cx="1715010" cy="307777"/>
          </a:xfrm>
          <a:prstGeom prst="chevron">
            <a:avLst/>
          </a:prstGeom>
          <a:solidFill>
            <a:schemeClr val="accent1">
              <a:lumMod val="60000"/>
              <a:lumOff val="40000"/>
            </a:schemeClr>
          </a:solidFill>
          <a:ln w="12700">
            <a:solidFill>
              <a:schemeClr val="accent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2" name="タイトル 1">
            <a:extLst>
              <a:ext uri="{FF2B5EF4-FFF2-40B4-BE49-F238E27FC236}">
                <a16:creationId xmlns:a16="http://schemas.microsoft.com/office/drawing/2014/main" id="{9D335B2A-28E1-39E9-BA56-683811C30098}"/>
              </a:ext>
            </a:extLst>
          </p:cNvPr>
          <p:cNvSpPr>
            <a:spLocks noGrp="1"/>
          </p:cNvSpPr>
          <p:nvPr>
            <p:ph type="title"/>
          </p:nvPr>
        </p:nvSpPr>
        <p:spPr/>
        <p:txBody>
          <a:bodyPr vert="horz"/>
          <a:lstStyle/>
          <a:p>
            <a:r>
              <a:rPr kumimoji="1" lang="en-US" altLang="ja-JP" dirty="0"/>
              <a:t>3.6. </a:t>
            </a:r>
            <a:r>
              <a:rPr kumimoji="1" lang="ja-JP" altLang="en-US" dirty="0"/>
              <a:t>アメリカ：</a:t>
            </a:r>
            <a:r>
              <a:rPr kumimoji="1" lang="en-US" altLang="ja-JP" dirty="0" err="1"/>
              <a:t>mDL</a:t>
            </a:r>
            <a:r>
              <a:rPr kumimoji="1" lang="en-US" altLang="ja-JP" dirty="0"/>
              <a:t> Implementation Guidelines – 3.6.2. </a:t>
            </a:r>
            <a:r>
              <a:rPr kumimoji="1" lang="ja-JP" altLang="en-US" dirty="0"/>
              <a:t>取組の変遷</a:t>
            </a:r>
          </a:p>
        </p:txBody>
      </p:sp>
      <p:sp>
        <p:nvSpPr>
          <p:cNvPr id="3" name="テキスト プレースホルダー 2">
            <a:extLst>
              <a:ext uri="{FF2B5EF4-FFF2-40B4-BE49-F238E27FC236}">
                <a16:creationId xmlns:a16="http://schemas.microsoft.com/office/drawing/2014/main" id="{E670C066-E315-E64B-6962-797BE4DEB62B}"/>
              </a:ext>
            </a:extLst>
          </p:cNvPr>
          <p:cNvSpPr>
            <a:spLocks noGrp="1"/>
          </p:cNvSpPr>
          <p:nvPr>
            <p:ph type="body" sz="quarter" idx="10"/>
          </p:nvPr>
        </p:nvSpPr>
        <p:spPr>
          <a:xfrm>
            <a:off x="273050" y="188913"/>
            <a:ext cx="7848600" cy="161583"/>
          </a:xfrm>
        </p:spPr>
        <p:txBody>
          <a:bodyPr/>
          <a:lstStyle/>
          <a:p>
            <a:r>
              <a:rPr kumimoji="1" lang="en-US" altLang="ja-JP" dirty="0"/>
              <a:t>3. </a:t>
            </a:r>
            <a:r>
              <a:rPr kumimoji="1" lang="ja-JP" altLang="en-US" dirty="0"/>
              <a:t>調査結果</a:t>
            </a:r>
          </a:p>
        </p:txBody>
      </p:sp>
      <p:sp>
        <p:nvSpPr>
          <p:cNvPr id="8" name="矢印: 山形 7">
            <a:extLst>
              <a:ext uri="{FF2B5EF4-FFF2-40B4-BE49-F238E27FC236}">
                <a16:creationId xmlns:a16="http://schemas.microsoft.com/office/drawing/2014/main" id="{6904FB7A-6922-5F3D-E1E1-E760E1830FFD}"/>
              </a:ext>
            </a:extLst>
          </p:cNvPr>
          <p:cNvSpPr/>
          <p:nvPr/>
        </p:nvSpPr>
        <p:spPr>
          <a:xfrm>
            <a:off x="511629" y="3551260"/>
            <a:ext cx="7609723" cy="307777"/>
          </a:xfrm>
          <a:prstGeom prst="chevron">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kumimoji="1" lang="ja-JP" altLang="en-US" dirty="0"/>
          </a:p>
        </p:txBody>
      </p:sp>
      <p:sp>
        <p:nvSpPr>
          <p:cNvPr id="9" name="楕円 8">
            <a:extLst>
              <a:ext uri="{FF2B5EF4-FFF2-40B4-BE49-F238E27FC236}">
                <a16:creationId xmlns:a16="http://schemas.microsoft.com/office/drawing/2014/main" id="{10B2D392-2379-FEC5-E462-24FBA11A2490}"/>
              </a:ext>
            </a:extLst>
          </p:cNvPr>
          <p:cNvSpPr/>
          <p:nvPr/>
        </p:nvSpPr>
        <p:spPr>
          <a:xfrm>
            <a:off x="1132114" y="3378066"/>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2005</a:t>
            </a:r>
            <a:endParaRPr kumimoji="1" lang="ja-JP" altLang="en-US" sz="1600" dirty="0"/>
          </a:p>
        </p:txBody>
      </p:sp>
      <p:sp>
        <p:nvSpPr>
          <p:cNvPr id="10" name="楕円 9">
            <a:extLst>
              <a:ext uri="{FF2B5EF4-FFF2-40B4-BE49-F238E27FC236}">
                <a16:creationId xmlns:a16="http://schemas.microsoft.com/office/drawing/2014/main" id="{DA0E5813-5E65-5BA2-EF13-E3A9DF8C5D20}"/>
              </a:ext>
            </a:extLst>
          </p:cNvPr>
          <p:cNvSpPr/>
          <p:nvPr/>
        </p:nvSpPr>
        <p:spPr>
          <a:xfrm>
            <a:off x="4321325" y="3378066"/>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2021</a:t>
            </a:r>
            <a:endParaRPr kumimoji="1" lang="ja-JP" altLang="en-US" sz="1600" dirty="0"/>
          </a:p>
        </p:txBody>
      </p:sp>
      <p:sp>
        <p:nvSpPr>
          <p:cNvPr id="12" name="正方形/長方形 11">
            <a:extLst>
              <a:ext uri="{FF2B5EF4-FFF2-40B4-BE49-F238E27FC236}">
                <a16:creationId xmlns:a16="http://schemas.microsoft.com/office/drawing/2014/main" id="{105364E5-E948-78D4-0DBD-5A0B56949CE3}"/>
              </a:ext>
            </a:extLst>
          </p:cNvPr>
          <p:cNvSpPr/>
          <p:nvPr/>
        </p:nvSpPr>
        <p:spPr>
          <a:xfrm>
            <a:off x="1366815" y="3911543"/>
            <a:ext cx="146149" cy="760651"/>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3" name="正方形/長方形 12">
            <a:extLst>
              <a:ext uri="{FF2B5EF4-FFF2-40B4-BE49-F238E27FC236}">
                <a16:creationId xmlns:a16="http://schemas.microsoft.com/office/drawing/2014/main" id="{FEAB541E-D21A-5F90-8408-A33DC090BC26}"/>
              </a:ext>
            </a:extLst>
          </p:cNvPr>
          <p:cNvSpPr/>
          <p:nvPr/>
        </p:nvSpPr>
        <p:spPr>
          <a:xfrm>
            <a:off x="571728" y="4448093"/>
            <a:ext cx="3026422"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dirty="0"/>
              <a:t>Real ID Act</a:t>
            </a:r>
            <a:r>
              <a:rPr lang="ja-JP" altLang="en-US" sz="1200" b="1" dirty="0"/>
              <a:t>検討（</a:t>
            </a:r>
            <a:r>
              <a:rPr lang="en-US" altLang="ja-JP" sz="1200" b="1" dirty="0"/>
              <a:t>2005</a:t>
            </a:r>
            <a:r>
              <a:rPr lang="ja-JP" altLang="en-US" sz="1200" b="1" dirty="0"/>
              <a:t>～）</a:t>
            </a:r>
          </a:p>
          <a:p>
            <a:r>
              <a:rPr lang="en-US" altLang="ja-JP" sz="1200" dirty="0"/>
              <a:t>911</a:t>
            </a:r>
            <a:r>
              <a:rPr lang="ja-JP" altLang="en-US" sz="1200" dirty="0"/>
              <a:t>テロ以降、セキュリティ強化を目指し検討されている国民</a:t>
            </a:r>
            <a:r>
              <a:rPr lang="en-US" altLang="ja-JP" sz="1200" dirty="0"/>
              <a:t>ID</a:t>
            </a:r>
            <a:r>
              <a:rPr lang="ja-JP" altLang="en-US" sz="1200" dirty="0"/>
              <a:t>カードの連邦統一基準</a:t>
            </a:r>
          </a:p>
          <a:p>
            <a:r>
              <a:rPr lang="ja-JP" altLang="en-US" sz="1200" dirty="0"/>
              <a:t>施行は延期されている状態</a:t>
            </a:r>
            <a:endParaRPr lang="en-US" altLang="ja-JP" sz="1200" dirty="0"/>
          </a:p>
        </p:txBody>
      </p:sp>
      <p:sp>
        <p:nvSpPr>
          <p:cNvPr id="14" name="正方形/長方形 13">
            <a:extLst>
              <a:ext uri="{FF2B5EF4-FFF2-40B4-BE49-F238E27FC236}">
                <a16:creationId xmlns:a16="http://schemas.microsoft.com/office/drawing/2014/main" id="{EEDDD25A-8CCE-3C13-90A4-3405B0A81349}"/>
              </a:ext>
            </a:extLst>
          </p:cNvPr>
          <p:cNvSpPr/>
          <p:nvPr/>
        </p:nvSpPr>
        <p:spPr>
          <a:xfrm>
            <a:off x="2000250" y="1684461"/>
            <a:ext cx="3148693"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err="1"/>
              <a:t>mDL</a:t>
            </a:r>
            <a:r>
              <a:rPr lang="en-US" altLang="ja-JP" sz="1200" b="1" u="sng" dirty="0"/>
              <a:t> Implementation Guidelines</a:t>
            </a:r>
            <a:br>
              <a:rPr lang="en-US" altLang="ja-JP" sz="1200" b="1" u="sng" dirty="0"/>
            </a:br>
            <a:r>
              <a:rPr lang="en-US" altLang="ja-JP" sz="1200" b="1" u="sng" dirty="0"/>
              <a:t>(2021</a:t>
            </a:r>
            <a:r>
              <a:rPr lang="ja-JP" altLang="en-US" sz="1200" b="1" u="sng" dirty="0"/>
              <a:t>年に</a:t>
            </a:r>
            <a:r>
              <a:rPr lang="en-US" altLang="ja-JP" sz="1200" b="1" u="sng" dirty="0"/>
              <a:t>Ver.1.0</a:t>
            </a:r>
            <a:r>
              <a:rPr lang="ja-JP" altLang="en-US" sz="1200" b="1" u="sng" dirty="0"/>
              <a:t>策定</a:t>
            </a:r>
            <a:r>
              <a:rPr lang="en-US" altLang="ja-JP" sz="1200" b="1" u="sng" dirty="0"/>
              <a:t>)</a:t>
            </a:r>
            <a:endParaRPr lang="en-US" altLang="ja-JP" sz="1200" b="1" u="sng" baseline="30000" dirty="0"/>
          </a:p>
          <a:p>
            <a:r>
              <a:rPr lang="ja-JP" altLang="en-US" sz="1200" dirty="0"/>
              <a:t>州が発行するモバイル運転免許証の州間の相互運用性の確保・プライバシー保護強化を目的として、ガイドラインを策定</a:t>
            </a:r>
            <a:r>
              <a:rPr lang="en-US" altLang="ja-JP" sz="1200" dirty="0"/>
              <a:t>(ISO18013</a:t>
            </a:r>
            <a:r>
              <a:rPr lang="ja-JP" altLang="en-US" sz="1200" dirty="0"/>
              <a:t>シリーズに準拠</a:t>
            </a:r>
            <a:r>
              <a:rPr lang="en-US" altLang="ja-JP" sz="1200" dirty="0"/>
              <a:t>)</a:t>
            </a:r>
          </a:p>
          <a:p>
            <a:r>
              <a:rPr lang="ja-JP" altLang="en-US" sz="1200" dirty="0"/>
              <a:t>現在</a:t>
            </a:r>
            <a:r>
              <a:rPr lang="en-US" altLang="ja-JP" sz="1200" dirty="0"/>
              <a:t>Ver.1.2</a:t>
            </a:r>
            <a:r>
              <a:rPr lang="ja-JP" altLang="en-US" sz="1200" dirty="0"/>
              <a:t>*</a:t>
            </a:r>
            <a:r>
              <a:rPr lang="en-US" altLang="ja-JP" sz="1200" baseline="30000" dirty="0"/>
              <a:t>1</a:t>
            </a:r>
            <a:r>
              <a:rPr lang="ja-JP" altLang="en-US" sz="1200" dirty="0"/>
              <a:t>まで改定が進んでいる</a:t>
            </a:r>
            <a:endParaRPr lang="en-US" altLang="ja-JP" sz="1200" dirty="0"/>
          </a:p>
        </p:txBody>
      </p:sp>
      <p:sp>
        <p:nvSpPr>
          <p:cNvPr id="15" name="正方形/長方形 14">
            <a:extLst>
              <a:ext uri="{FF2B5EF4-FFF2-40B4-BE49-F238E27FC236}">
                <a16:creationId xmlns:a16="http://schemas.microsoft.com/office/drawing/2014/main" id="{2C791DB8-BDAD-143F-D98C-4155BC3D8335}"/>
              </a:ext>
            </a:extLst>
          </p:cNvPr>
          <p:cNvSpPr/>
          <p:nvPr/>
        </p:nvSpPr>
        <p:spPr>
          <a:xfrm>
            <a:off x="4556026" y="2838895"/>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19" name="楕円 18">
            <a:extLst>
              <a:ext uri="{FF2B5EF4-FFF2-40B4-BE49-F238E27FC236}">
                <a16:creationId xmlns:a16="http://schemas.microsoft.com/office/drawing/2014/main" id="{50E48ECD-64A3-06CD-5184-EAABEF6F89AF}"/>
              </a:ext>
            </a:extLst>
          </p:cNvPr>
          <p:cNvSpPr/>
          <p:nvPr/>
        </p:nvSpPr>
        <p:spPr>
          <a:xfrm>
            <a:off x="6592842" y="3378066"/>
            <a:ext cx="615553" cy="615553"/>
          </a:xfrm>
          <a:prstGeom prst="ellipse">
            <a:avLst/>
          </a:prstGeom>
          <a:solidFill>
            <a:schemeClr val="accent1">
              <a:lumMod val="20000"/>
              <a:lumOff val="8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2023</a:t>
            </a:r>
            <a:endParaRPr kumimoji="1" lang="ja-JP" altLang="en-US" sz="1600" dirty="0"/>
          </a:p>
        </p:txBody>
      </p:sp>
      <p:sp>
        <p:nvSpPr>
          <p:cNvPr id="20" name="正方形/長方形 19">
            <a:extLst>
              <a:ext uri="{FF2B5EF4-FFF2-40B4-BE49-F238E27FC236}">
                <a16:creationId xmlns:a16="http://schemas.microsoft.com/office/drawing/2014/main" id="{12C4B3F5-9EF1-69CF-4651-1CD3E37615CB}"/>
              </a:ext>
            </a:extLst>
          </p:cNvPr>
          <p:cNvSpPr/>
          <p:nvPr/>
        </p:nvSpPr>
        <p:spPr>
          <a:xfrm>
            <a:off x="6830826" y="3911543"/>
            <a:ext cx="146149" cy="615554"/>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ja-JP" altLang="en-US" dirty="0"/>
          </a:p>
        </p:txBody>
      </p:sp>
      <p:sp>
        <p:nvSpPr>
          <p:cNvPr id="25" name="楕円 24">
            <a:extLst>
              <a:ext uri="{FF2B5EF4-FFF2-40B4-BE49-F238E27FC236}">
                <a16:creationId xmlns:a16="http://schemas.microsoft.com/office/drawing/2014/main" id="{9E498B7F-B6AE-47C2-B355-8B5DF0C3B069}"/>
              </a:ext>
            </a:extLst>
          </p:cNvPr>
          <p:cNvSpPr/>
          <p:nvPr/>
        </p:nvSpPr>
        <p:spPr>
          <a:xfrm>
            <a:off x="8548243" y="3378066"/>
            <a:ext cx="615553" cy="615553"/>
          </a:xfrm>
          <a:prstGeom prst="ellipse">
            <a:avLst/>
          </a:prstGeom>
          <a:solidFill>
            <a:schemeClr val="accent1">
              <a:lumMod val="60000"/>
              <a:lumOff val="40000"/>
            </a:schemeClr>
          </a:solidFill>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en-US" altLang="ja-JP" sz="1600" dirty="0"/>
              <a:t>2025</a:t>
            </a:r>
            <a:endParaRPr kumimoji="1" lang="ja-JP" altLang="en-US" sz="1600" dirty="0"/>
          </a:p>
        </p:txBody>
      </p:sp>
      <p:sp>
        <p:nvSpPr>
          <p:cNvPr id="27" name="正方形/長方形 26">
            <a:extLst>
              <a:ext uri="{FF2B5EF4-FFF2-40B4-BE49-F238E27FC236}">
                <a16:creationId xmlns:a16="http://schemas.microsoft.com/office/drawing/2014/main" id="{ABAE6506-CBE7-214E-0235-4A143426A102}"/>
              </a:ext>
            </a:extLst>
          </p:cNvPr>
          <p:cNvSpPr/>
          <p:nvPr/>
        </p:nvSpPr>
        <p:spPr>
          <a:xfrm>
            <a:off x="8795658" y="2748406"/>
            <a:ext cx="146149" cy="760651"/>
          </a:xfrm>
          <a:prstGeom prst="rect">
            <a:avLst/>
          </a:prstGeom>
          <a:solidFill>
            <a:schemeClr val="accent1">
              <a:lumMod val="60000"/>
              <a:lumOff val="40000"/>
            </a:schemeClr>
          </a:solidFill>
          <a:ln w="12700">
            <a:solidFill>
              <a:schemeClr val="accent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endParaRPr lang="ja-JP" altLang="en-US" sz="1200" dirty="0"/>
          </a:p>
        </p:txBody>
      </p:sp>
      <p:sp>
        <p:nvSpPr>
          <p:cNvPr id="28" name="正方形/長方形 27">
            <a:extLst>
              <a:ext uri="{FF2B5EF4-FFF2-40B4-BE49-F238E27FC236}">
                <a16:creationId xmlns:a16="http://schemas.microsoft.com/office/drawing/2014/main" id="{5BCBAF5A-DF86-C57A-C2BC-89FE74A94BB8}"/>
              </a:ext>
            </a:extLst>
          </p:cNvPr>
          <p:cNvSpPr/>
          <p:nvPr/>
        </p:nvSpPr>
        <p:spPr>
          <a:xfrm>
            <a:off x="8041378" y="2346650"/>
            <a:ext cx="1657793" cy="615553"/>
          </a:xfrm>
          <a:prstGeom prst="rect">
            <a:avLst/>
          </a:prstGeom>
          <a:solidFill>
            <a:schemeClr val="accent1">
              <a:lumMod val="60000"/>
              <a:lumOff val="40000"/>
            </a:schemeClr>
          </a:solidFill>
          <a:ln w="12700">
            <a:solidFill>
              <a:schemeClr val="accent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dirty="0"/>
              <a:t>Real ID Act</a:t>
            </a:r>
            <a:r>
              <a:rPr lang="ja-JP" altLang="en-US" sz="1200" dirty="0"/>
              <a:t>施行</a:t>
            </a:r>
            <a:r>
              <a:rPr lang="en-US" altLang="ja-JP" sz="1200" dirty="0"/>
              <a:t>(</a:t>
            </a:r>
            <a:r>
              <a:rPr lang="ja-JP" altLang="en-US" sz="1200" dirty="0"/>
              <a:t>予定</a:t>
            </a:r>
            <a:r>
              <a:rPr lang="en-US" altLang="ja-JP" sz="1200" dirty="0"/>
              <a:t>)</a:t>
            </a:r>
            <a:endParaRPr lang="ja-JP" altLang="en-US" sz="1200" dirty="0"/>
          </a:p>
        </p:txBody>
      </p:sp>
      <p:sp>
        <p:nvSpPr>
          <p:cNvPr id="29" name="コンテンツ プレースホルダー 2">
            <a:extLst>
              <a:ext uri="{FF2B5EF4-FFF2-40B4-BE49-F238E27FC236}">
                <a16:creationId xmlns:a16="http://schemas.microsoft.com/office/drawing/2014/main" id="{232030E0-5834-EB16-CCE0-336D5A460704}"/>
              </a:ext>
            </a:extLst>
          </p:cNvPr>
          <p:cNvSpPr txBox="1">
            <a:spLocks/>
          </p:cNvSpPr>
          <p:nvPr/>
        </p:nvSpPr>
        <p:spPr>
          <a:xfrm>
            <a:off x="273050" y="902687"/>
            <a:ext cx="9359900"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r>
              <a:rPr lang="ja-JP" altLang="en-US" dirty="0"/>
              <a:t>モバイル運転免許証の州外連携の要件は</a:t>
            </a:r>
            <a:r>
              <a:rPr lang="en-US" altLang="ja-JP" sz="1400" dirty="0" err="1"/>
              <a:t>mDL</a:t>
            </a:r>
            <a:r>
              <a:rPr lang="en-US" altLang="ja-JP" sz="1400" dirty="0"/>
              <a:t> Implementation Guidelines </a:t>
            </a:r>
            <a:r>
              <a:rPr lang="ja-JP" altLang="en-US" sz="1400" dirty="0"/>
              <a:t>で規定を進めている</a:t>
            </a:r>
            <a:endParaRPr lang="en-US" altLang="ja-JP" dirty="0"/>
          </a:p>
          <a:p>
            <a:pPr marL="268288" indent="-268288"/>
            <a:r>
              <a:rPr lang="ja-JP" altLang="en-US" dirty="0"/>
              <a:t>運転免許証</a:t>
            </a:r>
            <a:r>
              <a:rPr lang="en-US" altLang="ja-JP" dirty="0"/>
              <a:t>(</a:t>
            </a:r>
            <a:r>
              <a:rPr lang="ja-JP" altLang="en-US" dirty="0"/>
              <a:t>物理・デジタル</a:t>
            </a:r>
            <a:r>
              <a:rPr lang="en-US" altLang="ja-JP" dirty="0"/>
              <a:t>)</a:t>
            </a:r>
            <a:r>
              <a:rPr lang="ja-JP" altLang="en-US" dirty="0"/>
              <a:t>の連邦政府受入の公的要件の制度化・施行が進められており、</a:t>
            </a:r>
            <a:r>
              <a:rPr lang="en-US" altLang="ja-JP" dirty="0" err="1"/>
              <a:t>mDL</a:t>
            </a:r>
            <a:r>
              <a:rPr lang="ja-JP" altLang="en-US" dirty="0"/>
              <a:t>の要件水準確認には、</a:t>
            </a:r>
            <a:r>
              <a:rPr lang="en-US" altLang="ja-JP" sz="1400" dirty="0"/>
              <a:t> </a:t>
            </a:r>
            <a:r>
              <a:rPr lang="en-US" altLang="ja-JP" sz="1400" dirty="0" err="1"/>
              <a:t>mDL</a:t>
            </a:r>
            <a:r>
              <a:rPr lang="en-US" altLang="ja-JP" sz="1400" dirty="0"/>
              <a:t> Implementation Guidelines</a:t>
            </a:r>
            <a:r>
              <a:rPr lang="ja-JP" altLang="en-US" sz="1400" dirty="0"/>
              <a:t>の活用</a:t>
            </a:r>
            <a:r>
              <a:rPr lang="ja-JP" altLang="en-US" dirty="0"/>
              <a:t>が検討されている</a:t>
            </a:r>
            <a:endParaRPr lang="en-US" altLang="ja-JP" dirty="0"/>
          </a:p>
        </p:txBody>
      </p:sp>
      <p:sp>
        <p:nvSpPr>
          <p:cNvPr id="18" name="正方形/長方形 17">
            <a:extLst>
              <a:ext uri="{FF2B5EF4-FFF2-40B4-BE49-F238E27FC236}">
                <a16:creationId xmlns:a16="http://schemas.microsoft.com/office/drawing/2014/main" id="{E19207B3-2762-0E60-3B57-C899419536BF}"/>
              </a:ext>
            </a:extLst>
          </p:cNvPr>
          <p:cNvSpPr/>
          <p:nvPr/>
        </p:nvSpPr>
        <p:spPr>
          <a:xfrm>
            <a:off x="4959796" y="4447293"/>
            <a:ext cx="3835861" cy="1278542"/>
          </a:xfrm>
          <a:prstGeom prst="rect">
            <a:avLst/>
          </a:prstGeom>
          <a:solidFill>
            <a:schemeClr val="accent1">
              <a:lumMod val="20000"/>
              <a:lumOff val="80000"/>
            </a:schemeClr>
          </a:solidFill>
          <a:ln w="12700">
            <a:solidFill>
              <a:schemeClr val="accent1">
                <a:lumMod val="20000"/>
                <a:lumOff val="8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ctr"/>
          <a:lstStyle/>
          <a:p>
            <a:r>
              <a:rPr lang="en-US" altLang="ja-JP" sz="1200" b="1" u="sng" dirty="0"/>
              <a:t>Real ID</a:t>
            </a:r>
            <a:r>
              <a:rPr lang="ja-JP" altLang="en-US" sz="1200" b="1" u="sng" dirty="0"/>
              <a:t> </a:t>
            </a:r>
            <a:r>
              <a:rPr lang="en-US" altLang="ja-JP" sz="1200" b="1" u="sng" dirty="0"/>
              <a:t>Act</a:t>
            </a:r>
            <a:r>
              <a:rPr lang="ja-JP" altLang="en-US" sz="1200" b="1" u="sng" dirty="0"/>
              <a:t>改正*</a:t>
            </a:r>
            <a:r>
              <a:rPr lang="en-US" altLang="ja-JP" sz="1200" b="1" u="sng" baseline="30000" dirty="0"/>
              <a:t>2</a:t>
            </a:r>
            <a:r>
              <a:rPr lang="en-US" altLang="ja-JP" sz="1200" b="1" u="sng" dirty="0"/>
              <a:t>※</a:t>
            </a:r>
            <a:r>
              <a:rPr lang="ja-JP" altLang="en-US" sz="1200" b="1" u="sng" dirty="0"/>
              <a:t>現在審査中</a:t>
            </a:r>
            <a:endParaRPr lang="en-US" altLang="ja-JP" sz="1200" b="1" u="sng" dirty="0"/>
          </a:p>
          <a:p>
            <a:r>
              <a:rPr lang="ja-JP" altLang="en-US" sz="1200" dirty="0"/>
              <a:t>連邦政府が関わる公的機関での運転免許証の受入要件を定めている</a:t>
            </a:r>
            <a:r>
              <a:rPr lang="en-US" altLang="ja-JP" sz="1200" dirty="0"/>
              <a:t>(2025</a:t>
            </a:r>
            <a:r>
              <a:rPr lang="ja-JP" altLang="en-US" sz="1200" dirty="0"/>
              <a:t>年以降上記要件を満たさない運転免許証は公的機関で受け入れられない</a:t>
            </a:r>
            <a:r>
              <a:rPr lang="en-US" altLang="ja-JP" sz="1200" dirty="0"/>
              <a:t>)</a:t>
            </a:r>
          </a:p>
          <a:p>
            <a:r>
              <a:rPr lang="ja-JP" altLang="en-US" sz="1200" dirty="0"/>
              <a:t>モバイル運転免許証については、</a:t>
            </a:r>
            <a:r>
              <a:rPr lang="en-US" altLang="ja-JP" sz="1200" dirty="0" err="1"/>
              <a:t>mDL</a:t>
            </a:r>
            <a:r>
              <a:rPr lang="en-US" altLang="ja-JP" sz="1200" dirty="0"/>
              <a:t> Implementation Guidelines</a:t>
            </a:r>
            <a:r>
              <a:rPr lang="ja-JP" altLang="en-US" sz="1200" dirty="0"/>
              <a:t>を満たしていれば、利用可能という要件緩和が検討されている*</a:t>
            </a:r>
            <a:r>
              <a:rPr lang="en-US" altLang="ja-JP" sz="1200" baseline="30000" dirty="0"/>
              <a:t>3</a:t>
            </a:r>
            <a:endParaRPr lang="ja-JP" altLang="en-US" sz="1200" baseline="30000" dirty="0"/>
          </a:p>
        </p:txBody>
      </p:sp>
      <p:sp>
        <p:nvSpPr>
          <p:cNvPr id="30" name="テキスト ボックス 29">
            <a:extLst>
              <a:ext uri="{FF2B5EF4-FFF2-40B4-BE49-F238E27FC236}">
                <a16:creationId xmlns:a16="http://schemas.microsoft.com/office/drawing/2014/main" id="{AEB72BE9-E542-C215-6DA3-38C99BA3084D}"/>
              </a:ext>
            </a:extLst>
          </p:cNvPr>
          <p:cNvSpPr txBox="1"/>
          <p:nvPr/>
        </p:nvSpPr>
        <p:spPr>
          <a:xfrm>
            <a:off x="555544" y="6115312"/>
            <a:ext cx="9069123" cy="415498"/>
          </a:xfrm>
          <a:prstGeom prst="rect">
            <a:avLst/>
          </a:prstGeom>
          <a:noFill/>
        </p:spPr>
        <p:txBody>
          <a:bodyPr wrap="square" lIns="0" tIns="0" rIns="0" bIns="0" rtlCol="0">
            <a:spAutoFit/>
          </a:bodyPr>
          <a:lstStyle/>
          <a:p>
            <a:pPr defTabSz="355600"/>
            <a:r>
              <a:rPr kumimoji="1" lang="en-US" altLang="ja-JP" sz="900" dirty="0">
                <a:latin typeface="+mn-ea"/>
                <a:ea typeface="+mn-ea"/>
                <a:hlinkClick r:id="rId5"/>
              </a:rPr>
              <a:t>https://www.aamva.org/assets/best-practices,-guides,-standards,-manuals,-whitepapers/mobile-driver-s-license-implementation-guidelines-1-2</a:t>
            </a:r>
            <a:endParaRPr kumimoji="1" lang="en-US" altLang="ja-JP" sz="900" dirty="0">
              <a:latin typeface="+mn-ea"/>
              <a:ea typeface="+mn-ea"/>
            </a:endParaRPr>
          </a:p>
          <a:p>
            <a:pPr defTabSz="355600"/>
            <a:r>
              <a:rPr lang="en-US" altLang="ja-JP" sz="900" dirty="0">
                <a:latin typeface="+mn-ea"/>
                <a:ea typeface="+mn-ea"/>
                <a:hlinkClick r:id="rId6"/>
              </a:rPr>
              <a:t>https://www.govinfo.gov/content/pkg/FR-2023-08-30/pdf/2023-18582.pdf</a:t>
            </a:r>
            <a:endParaRPr lang="en-US" altLang="ja-JP" sz="900" dirty="0">
              <a:latin typeface="+mn-ea"/>
              <a:ea typeface="+mn-ea"/>
            </a:endParaRPr>
          </a:p>
          <a:p>
            <a:pPr defTabSz="355600"/>
            <a:r>
              <a:rPr kumimoji="1" lang="en-US" altLang="ja-JP" sz="900" dirty="0">
                <a:latin typeface="+mn-ea"/>
                <a:ea typeface="+mn-ea"/>
                <a:hlinkClick r:id="rId7"/>
              </a:rPr>
              <a:t>https://www.tsa.gov/news/press/releases/2023/08/30/transportation-security-administration-seeks-comments-proposed-0</a:t>
            </a:r>
            <a:endParaRPr kumimoji="1" lang="en-US" altLang="ja-JP" sz="900" dirty="0">
              <a:latin typeface="+mn-ea"/>
              <a:ea typeface="+mn-ea"/>
            </a:endParaRPr>
          </a:p>
        </p:txBody>
      </p:sp>
      <p:sp>
        <p:nvSpPr>
          <p:cNvPr id="31" name="テキスト ボックス 30">
            <a:extLst>
              <a:ext uri="{FF2B5EF4-FFF2-40B4-BE49-F238E27FC236}">
                <a16:creationId xmlns:a16="http://schemas.microsoft.com/office/drawing/2014/main" id="{D4DAAFBA-564E-E171-DC26-8AE78B539B8C}"/>
              </a:ext>
            </a:extLst>
          </p:cNvPr>
          <p:cNvSpPr txBox="1"/>
          <p:nvPr/>
        </p:nvSpPr>
        <p:spPr>
          <a:xfrm>
            <a:off x="281334" y="5753178"/>
            <a:ext cx="9462098" cy="369332"/>
          </a:xfrm>
          <a:prstGeom prst="rect">
            <a:avLst/>
          </a:prstGeom>
          <a:noFill/>
        </p:spPr>
        <p:txBody>
          <a:bodyPr wrap="square">
            <a:spAutoFit/>
          </a:bodyPr>
          <a:lstStyle/>
          <a:p>
            <a:r>
              <a:rPr lang="ja-JP" altLang="en-US" sz="900" dirty="0">
                <a:latin typeface="+mn-ea"/>
                <a:ea typeface="+mn-ea"/>
              </a:rPr>
              <a:t>　  令和４年度デジタル取引環境整備事業（「</a:t>
            </a:r>
            <a:r>
              <a:rPr lang="en-US" altLang="ja-JP" sz="900" dirty="0">
                <a:latin typeface="+mn-ea"/>
                <a:ea typeface="+mn-ea"/>
              </a:rPr>
              <a:t>Trusted Web</a:t>
            </a:r>
            <a:r>
              <a:rPr lang="ja-JP" altLang="en-US" sz="900" dirty="0">
                <a:latin typeface="+mn-ea"/>
                <a:ea typeface="+mn-ea"/>
              </a:rPr>
              <a:t>」の実現に向けた技術動向調査）海外動向調査をもとに、直近の動向をアップデートして</a:t>
            </a:r>
            <a:r>
              <a:rPr lang="en-US" altLang="ja-JP" sz="900" dirty="0">
                <a:latin typeface="+mn-ea"/>
                <a:ea typeface="+mn-ea"/>
              </a:rPr>
              <a:t>TOPPAN</a:t>
            </a:r>
            <a:r>
              <a:rPr lang="ja-JP" altLang="en-US" sz="900" dirty="0">
                <a:latin typeface="+mn-ea"/>
                <a:ea typeface="+mn-ea"/>
              </a:rPr>
              <a:t>作成</a:t>
            </a:r>
            <a:endParaRPr lang="en-US" altLang="ja-JP" sz="900" dirty="0">
              <a:latin typeface="+mn-ea"/>
              <a:ea typeface="+mn-ea"/>
            </a:endParaRPr>
          </a:p>
          <a:p>
            <a:pPr>
              <a:tabLst>
                <a:tab pos="177800" algn="l"/>
              </a:tabLst>
            </a:pPr>
            <a:r>
              <a:rPr lang="en-US" altLang="ja-JP" sz="900" dirty="0">
                <a:latin typeface="+mn-ea"/>
                <a:ea typeface="+mn-ea"/>
              </a:rPr>
              <a:t>	</a:t>
            </a:r>
            <a:r>
              <a:rPr lang="en-US" altLang="ja-JP" sz="900" dirty="0">
                <a:latin typeface="+mn-ea"/>
                <a:ea typeface="+mn-ea"/>
                <a:hlinkClick r:id="rId8"/>
              </a:rPr>
              <a:t>https://www.kantei.go.jp/jp/singi/digitalmarket/trusted_web/2022seika/files/001_report_international.pdf</a:t>
            </a:r>
            <a:endParaRPr lang="en-US" altLang="ja-JP" sz="900" dirty="0">
              <a:latin typeface="+mn-ea"/>
              <a:ea typeface="+mn-ea"/>
            </a:endParaRPr>
          </a:p>
        </p:txBody>
      </p:sp>
      <p:sp>
        <p:nvSpPr>
          <p:cNvPr id="32" name="テキスト ボックス 31">
            <a:extLst>
              <a:ext uri="{FF2B5EF4-FFF2-40B4-BE49-F238E27FC236}">
                <a16:creationId xmlns:a16="http://schemas.microsoft.com/office/drawing/2014/main" id="{5D1A33D3-BC80-E065-C70B-3B9FA346EAA0}"/>
              </a:ext>
            </a:extLst>
          </p:cNvPr>
          <p:cNvSpPr txBox="1"/>
          <p:nvPr/>
        </p:nvSpPr>
        <p:spPr>
          <a:xfrm>
            <a:off x="162568" y="6082654"/>
            <a:ext cx="445037" cy="507831"/>
          </a:xfrm>
          <a:prstGeom prst="rect">
            <a:avLst/>
          </a:prstGeom>
          <a:noFill/>
        </p:spPr>
        <p:txBody>
          <a:bodyPr wrap="square">
            <a:spAutoFit/>
          </a:bodyPr>
          <a:lstStyle/>
          <a:p>
            <a:pPr algn="r"/>
            <a:r>
              <a:rPr lang="ja-JP" altLang="en-US" sz="900" dirty="0">
                <a:latin typeface="+mn-ea"/>
                <a:ea typeface="+mn-ea"/>
              </a:rPr>
              <a:t>*</a:t>
            </a:r>
            <a:r>
              <a:rPr lang="en-US" altLang="ja-JP" sz="900" dirty="0">
                <a:latin typeface="+mn-ea"/>
                <a:ea typeface="+mn-ea"/>
              </a:rPr>
              <a:t>1</a:t>
            </a:r>
          </a:p>
          <a:p>
            <a:pPr algn="r"/>
            <a:r>
              <a:rPr lang="ja-JP" altLang="en-US" sz="900" dirty="0">
                <a:latin typeface="+mn-ea"/>
                <a:ea typeface="+mn-ea"/>
              </a:rPr>
              <a:t>*</a:t>
            </a:r>
            <a:r>
              <a:rPr lang="en-US" altLang="ja-JP" sz="900" dirty="0">
                <a:latin typeface="+mn-ea"/>
                <a:ea typeface="+mn-ea"/>
              </a:rPr>
              <a:t>2</a:t>
            </a:r>
          </a:p>
          <a:p>
            <a:pPr algn="r"/>
            <a:r>
              <a:rPr lang="ja-JP" altLang="en-US" sz="900" dirty="0">
                <a:latin typeface="+mn-ea"/>
                <a:ea typeface="+mn-ea"/>
              </a:rPr>
              <a:t>*</a:t>
            </a:r>
            <a:r>
              <a:rPr lang="en-US" altLang="ja-JP" sz="900" dirty="0">
                <a:latin typeface="+mn-ea"/>
                <a:ea typeface="+mn-ea"/>
              </a:rPr>
              <a:t>3</a:t>
            </a:r>
          </a:p>
        </p:txBody>
      </p:sp>
    </p:spTree>
    <p:extLst>
      <p:ext uri="{BB962C8B-B14F-4D97-AF65-F5344CB8AC3E}">
        <p14:creationId xmlns:p14="http://schemas.microsoft.com/office/powerpoint/2010/main" val="10045841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D601B15-02F0-FD10-68A0-9327D4545E37}"/>
              </a:ext>
            </a:extLst>
          </p:cNvPr>
          <p:cNvGraphicFramePr>
            <a:graphicFrameLocks noChangeAspect="1"/>
          </p:cNvGraphicFramePr>
          <p:nvPr>
            <p:custDataLst>
              <p:tags r:id="rId1"/>
            </p:custDataLst>
            <p:extLst>
              <p:ext uri="{D42A27DB-BD31-4B8C-83A1-F6EECF244321}">
                <p14:modId xmlns:p14="http://schemas.microsoft.com/office/powerpoint/2010/main" val="14989959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4" imgH="623" progId="TCLayout.ActiveDocument.1">
                  <p:embed/>
                </p:oleObj>
              </mc:Choice>
              <mc:Fallback>
                <p:oleObj name="think-cell スライド" r:id="rId3" imgW="624" imgH="623" progId="TCLayout.ActiveDocument.1">
                  <p:embed/>
                  <p:pic>
                    <p:nvPicPr>
                      <p:cNvPr id="11" name="think-cell data - do not delete" hidden="1">
                        <a:extLst>
                          <a:ext uri="{FF2B5EF4-FFF2-40B4-BE49-F238E27FC236}">
                            <a16:creationId xmlns:a16="http://schemas.microsoft.com/office/drawing/2014/main" id="{CD601B15-02F0-FD10-68A0-9327D4545E3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0C13F738-77A4-6E21-F695-6DADCE9F81F8}"/>
              </a:ext>
            </a:extLst>
          </p:cNvPr>
          <p:cNvSpPr>
            <a:spLocks noGrp="1"/>
          </p:cNvSpPr>
          <p:nvPr>
            <p:ph type="title"/>
          </p:nvPr>
        </p:nvSpPr>
        <p:spPr>
          <a:xfrm>
            <a:off x="273050" y="384919"/>
            <a:ext cx="7848302" cy="307777"/>
          </a:xfrm>
        </p:spPr>
        <p:txBody>
          <a:bodyPr vert="horz"/>
          <a:lstStyle/>
          <a:p>
            <a:r>
              <a:rPr kumimoji="1" lang="en-US" altLang="ja-JP" dirty="0"/>
              <a:t>3.6. </a:t>
            </a:r>
            <a:r>
              <a:rPr kumimoji="1" lang="ja-JP" altLang="en-US" dirty="0"/>
              <a:t>アメリカ：</a:t>
            </a:r>
            <a:r>
              <a:rPr kumimoji="1" lang="en-US" altLang="ja-JP" dirty="0" err="1"/>
              <a:t>mDL</a:t>
            </a:r>
            <a:r>
              <a:rPr kumimoji="1" lang="en-US" altLang="ja-JP" dirty="0"/>
              <a:t> Implementation Guidelines – 3.6.3. </a:t>
            </a:r>
            <a:r>
              <a:rPr kumimoji="1" lang="ja-JP" altLang="en-US" dirty="0"/>
              <a:t>ヒアリング結果</a:t>
            </a:r>
          </a:p>
        </p:txBody>
      </p:sp>
      <p:sp>
        <p:nvSpPr>
          <p:cNvPr id="3" name="テキスト プレースホルダー 2">
            <a:extLst>
              <a:ext uri="{FF2B5EF4-FFF2-40B4-BE49-F238E27FC236}">
                <a16:creationId xmlns:a16="http://schemas.microsoft.com/office/drawing/2014/main" id="{C52B40F3-BC13-EAB5-3C6C-EDE1C391E817}"/>
              </a:ext>
            </a:extLst>
          </p:cNvPr>
          <p:cNvSpPr>
            <a:spLocks noGrp="1"/>
          </p:cNvSpPr>
          <p:nvPr>
            <p:ph type="body" sz="quarter" idx="10"/>
          </p:nvPr>
        </p:nvSpPr>
        <p:spPr>
          <a:xfrm>
            <a:off x="273050" y="188913"/>
            <a:ext cx="7848600" cy="161583"/>
          </a:xfrm>
        </p:spPr>
        <p:txBody>
          <a:bodyPr/>
          <a:lstStyle/>
          <a:p>
            <a:r>
              <a:rPr kumimoji="1" lang="en-US" altLang="ja-JP" dirty="0"/>
              <a:t>3. </a:t>
            </a:r>
            <a:r>
              <a:rPr kumimoji="1" lang="ja-JP" altLang="en-US" dirty="0"/>
              <a:t>調査結果</a:t>
            </a:r>
          </a:p>
        </p:txBody>
      </p:sp>
      <p:grpSp>
        <p:nvGrpSpPr>
          <p:cNvPr id="4" name="Graphic 4">
            <a:extLst>
              <a:ext uri="{FF2B5EF4-FFF2-40B4-BE49-F238E27FC236}">
                <a16:creationId xmlns:a16="http://schemas.microsoft.com/office/drawing/2014/main" id="{B2F08BE2-5AF9-613C-4422-BD0356972D7C}"/>
              </a:ext>
            </a:extLst>
          </p:cNvPr>
          <p:cNvGrpSpPr>
            <a:grpSpLocks noChangeAspect="1"/>
          </p:cNvGrpSpPr>
          <p:nvPr/>
        </p:nvGrpSpPr>
        <p:grpSpPr bwMode="gray">
          <a:xfrm>
            <a:off x="560388" y="2644555"/>
            <a:ext cx="1221430" cy="1221430"/>
            <a:chOff x="6146480" y="3339623"/>
            <a:chExt cx="362309" cy="361971"/>
          </a:xfrm>
          <a:solidFill>
            <a:schemeClr val="accent1"/>
          </a:solidFill>
        </p:grpSpPr>
        <p:sp>
          <p:nvSpPr>
            <p:cNvPr id="5" name="Graphic 4">
              <a:extLst>
                <a:ext uri="{FF2B5EF4-FFF2-40B4-BE49-F238E27FC236}">
                  <a16:creationId xmlns:a16="http://schemas.microsoft.com/office/drawing/2014/main" id="{6D9A5A2F-CD26-3D9D-2CAB-66B19708B85A}"/>
                </a:ext>
              </a:extLst>
            </p:cNvPr>
            <p:cNvSpPr/>
            <p:nvPr/>
          </p:nvSpPr>
          <p:spPr bwMode="gray">
            <a:xfrm>
              <a:off x="6290254" y="3436660"/>
              <a:ext cx="75401" cy="27950"/>
            </a:xfrm>
            <a:custGeom>
              <a:avLst/>
              <a:gdLst>
                <a:gd name="connsiteX0" fmla="*/ 37700 w 75401"/>
                <a:gd name="connsiteY0" fmla="*/ 0 h 27950"/>
                <a:gd name="connsiteX1" fmla="*/ 639 w 75401"/>
                <a:gd name="connsiteY1" fmla="*/ 14045 h 27950"/>
                <a:gd name="connsiteX2" fmla="*/ 0 w 75401"/>
                <a:gd name="connsiteY2" fmla="*/ 15321 h 27950"/>
                <a:gd name="connsiteX3" fmla="*/ 42173 w 75401"/>
                <a:gd name="connsiteY3" fmla="*/ 25536 h 27950"/>
                <a:gd name="connsiteX4" fmla="*/ 48563 w 75401"/>
                <a:gd name="connsiteY4" fmla="*/ 19152 h 27950"/>
                <a:gd name="connsiteX5" fmla="*/ 57509 w 75401"/>
                <a:gd name="connsiteY5" fmla="*/ 19152 h 27950"/>
                <a:gd name="connsiteX6" fmla="*/ 57509 w 75401"/>
                <a:gd name="connsiteY6" fmla="*/ 19152 h 27950"/>
                <a:gd name="connsiteX7" fmla="*/ 62621 w 75401"/>
                <a:gd name="connsiteY7" fmla="*/ 24259 h 27950"/>
                <a:gd name="connsiteX8" fmla="*/ 75401 w 75401"/>
                <a:gd name="connsiteY8" fmla="*/ 15321 h 27950"/>
                <a:gd name="connsiteX9" fmla="*/ 74762 w 75401"/>
                <a:gd name="connsiteY9" fmla="*/ 14045 h 27950"/>
                <a:gd name="connsiteX10" fmla="*/ 37700 w 75401"/>
                <a:gd name="connsiteY10" fmla="*/ 0 h 2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5401" h="27950">
                  <a:moveTo>
                    <a:pt x="37700" y="0"/>
                  </a:moveTo>
                  <a:cubicBezTo>
                    <a:pt x="19809" y="0"/>
                    <a:pt x="7668" y="5107"/>
                    <a:pt x="639" y="14045"/>
                  </a:cubicBezTo>
                  <a:lnTo>
                    <a:pt x="0" y="15321"/>
                  </a:lnTo>
                  <a:cubicBezTo>
                    <a:pt x="12780" y="33197"/>
                    <a:pt x="36422" y="27451"/>
                    <a:pt x="42173" y="25536"/>
                  </a:cubicBezTo>
                  <a:lnTo>
                    <a:pt x="48563" y="19152"/>
                  </a:lnTo>
                  <a:cubicBezTo>
                    <a:pt x="51119" y="16598"/>
                    <a:pt x="54953" y="16598"/>
                    <a:pt x="57509" y="19152"/>
                  </a:cubicBezTo>
                  <a:cubicBezTo>
                    <a:pt x="57509" y="19152"/>
                    <a:pt x="57509" y="19152"/>
                    <a:pt x="57509" y="19152"/>
                  </a:cubicBezTo>
                  <a:lnTo>
                    <a:pt x="62621" y="24259"/>
                  </a:lnTo>
                  <a:cubicBezTo>
                    <a:pt x="67733" y="22982"/>
                    <a:pt x="72206" y="19790"/>
                    <a:pt x="75401" y="15321"/>
                  </a:cubicBezTo>
                  <a:cubicBezTo>
                    <a:pt x="75401" y="14683"/>
                    <a:pt x="74762" y="14683"/>
                    <a:pt x="74762" y="14045"/>
                  </a:cubicBezTo>
                  <a:cubicBezTo>
                    <a:pt x="67733" y="5107"/>
                    <a:pt x="54953" y="0"/>
                    <a:pt x="37700" y="0"/>
                  </a:cubicBez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sp>
          <p:nvSpPr>
            <p:cNvPr id="6" name="Graphic 4">
              <a:extLst>
                <a:ext uri="{FF2B5EF4-FFF2-40B4-BE49-F238E27FC236}">
                  <a16:creationId xmlns:a16="http://schemas.microsoft.com/office/drawing/2014/main" id="{603008D4-DDCE-D4D0-D305-840535629B52}"/>
                </a:ext>
              </a:extLst>
            </p:cNvPr>
            <p:cNvSpPr/>
            <p:nvPr/>
          </p:nvSpPr>
          <p:spPr bwMode="gray">
            <a:xfrm>
              <a:off x="6146480" y="3339623"/>
              <a:ext cx="362309" cy="361971"/>
            </a:xfrm>
            <a:custGeom>
              <a:avLst/>
              <a:gdLst>
                <a:gd name="connsiteX0" fmla="*/ 181474 w 362309"/>
                <a:gd name="connsiteY0" fmla="*/ 0 h 361971"/>
                <a:gd name="connsiteX1" fmla="*/ 0 w 362309"/>
                <a:gd name="connsiteY1" fmla="*/ 180667 h 361971"/>
                <a:gd name="connsiteX2" fmla="*/ 180835 w 362309"/>
                <a:gd name="connsiteY2" fmla="*/ 361972 h 361971"/>
                <a:gd name="connsiteX3" fmla="*/ 362309 w 362309"/>
                <a:gd name="connsiteY3" fmla="*/ 181305 h 361971"/>
                <a:gd name="connsiteX4" fmla="*/ 362309 w 362309"/>
                <a:gd name="connsiteY4" fmla="*/ 181305 h 361971"/>
                <a:gd name="connsiteX5" fmla="*/ 181474 w 362309"/>
                <a:gd name="connsiteY5" fmla="*/ 0 h 361971"/>
                <a:gd name="connsiteX6" fmla="*/ 277323 w 362309"/>
                <a:gd name="connsiteY6" fmla="*/ 274511 h 361971"/>
                <a:gd name="connsiteX7" fmla="*/ 271572 w 362309"/>
                <a:gd name="connsiteY7" fmla="*/ 277703 h 361971"/>
                <a:gd name="connsiteX8" fmla="*/ 268377 w 362309"/>
                <a:gd name="connsiteY8" fmla="*/ 277065 h 361971"/>
                <a:gd name="connsiteX9" fmla="*/ 241540 w 362309"/>
                <a:gd name="connsiteY9" fmla="*/ 271319 h 361971"/>
                <a:gd name="connsiteX10" fmla="*/ 219175 w 362309"/>
                <a:gd name="connsiteY10" fmla="*/ 266850 h 361971"/>
                <a:gd name="connsiteX11" fmla="*/ 201922 w 362309"/>
                <a:gd name="connsiteY11" fmla="*/ 238122 h 361971"/>
                <a:gd name="connsiteX12" fmla="*/ 202561 w 362309"/>
                <a:gd name="connsiteY12" fmla="*/ 212587 h 361971"/>
                <a:gd name="connsiteX13" fmla="*/ 221092 w 362309"/>
                <a:gd name="connsiteY13" fmla="*/ 168537 h 361971"/>
                <a:gd name="connsiteX14" fmla="*/ 224287 w 362309"/>
                <a:gd name="connsiteY14" fmla="*/ 125765 h 361971"/>
                <a:gd name="connsiteX15" fmla="*/ 203200 w 362309"/>
                <a:gd name="connsiteY15" fmla="*/ 134702 h 361971"/>
                <a:gd name="connsiteX16" fmla="*/ 199366 w 362309"/>
                <a:gd name="connsiteY16" fmla="*/ 132787 h 361971"/>
                <a:gd name="connsiteX17" fmla="*/ 196171 w 362309"/>
                <a:gd name="connsiteY17" fmla="*/ 129595 h 361971"/>
                <a:gd name="connsiteX18" fmla="*/ 192976 w 362309"/>
                <a:gd name="connsiteY18" fmla="*/ 132787 h 361971"/>
                <a:gd name="connsiteX19" fmla="*/ 190420 w 362309"/>
                <a:gd name="connsiteY19" fmla="*/ 134064 h 361971"/>
                <a:gd name="connsiteX20" fmla="*/ 169972 w 362309"/>
                <a:gd name="connsiteY20" fmla="*/ 137256 h 361971"/>
                <a:gd name="connsiteX21" fmla="*/ 137384 w 362309"/>
                <a:gd name="connsiteY21" fmla="*/ 125126 h 361971"/>
                <a:gd name="connsiteX22" fmla="*/ 140579 w 362309"/>
                <a:gd name="connsiteY22" fmla="*/ 167899 h 361971"/>
                <a:gd name="connsiteX23" fmla="*/ 159109 w 362309"/>
                <a:gd name="connsiteY23" fmla="*/ 211948 h 361971"/>
                <a:gd name="connsiteX24" fmla="*/ 159748 w 362309"/>
                <a:gd name="connsiteY24" fmla="*/ 237484 h 361971"/>
                <a:gd name="connsiteX25" fmla="*/ 142496 w 362309"/>
                <a:gd name="connsiteY25" fmla="*/ 266212 h 361971"/>
                <a:gd name="connsiteX26" fmla="*/ 120131 w 362309"/>
                <a:gd name="connsiteY26" fmla="*/ 270681 h 361971"/>
                <a:gd name="connsiteX27" fmla="*/ 93293 w 362309"/>
                <a:gd name="connsiteY27" fmla="*/ 276426 h 361971"/>
                <a:gd name="connsiteX28" fmla="*/ 84347 w 362309"/>
                <a:gd name="connsiteY28" fmla="*/ 273873 h 361971"/>
                <a:gd name="connsiteX29" fmla="*/ 86903 w 362309"/>
                <a:gd name="connsiteY29" fmla="*/ 264935 h 361971"/>
                <a:gd name="connsiteX30" fmla="*/ 118853 w 362309"/>
                <a:gd name="connsiteY30" fmla="*/ 257274 h 361971"/>
                <a:gd name="connsiteX31" fmla="*/ 136106 w 362309"/>
                <a:gd name="connsiteY31" fmla="*/ 254082 h 361971"/>
                <a:gd name="connsiteX32" fmla="*/ 148246 w 362309"/>
                <a:gd name="connsiteY32" fmla="*/ 218332 h 361971"/>
                <a:gd name="connsiteX33" fmla="*/ 127799 w 362309"/>
                <a:gd name="connsiteY33" fmla="*/ 171091 h 361971"/>
                <a:gd name="connsiteX34" fmla="*/ 132911 w 362309"/>
                <a:gd name="connsiteY34" fmla="*/ 102782 h 361971"/>
                <a:gd name="connsiteX35" fmla="*/ 180196 w 362309"/>
                <a:gd name="connsiteY35" fmla="*/ 83630 h 361971"/>
                <a:gd name="connsiteX36" fmla="*/ 227482 w 362309"/>
                <a:gd name="connsiteY36" fmla="*/ 102782 h 361971"/>
                <a:gd name="connsiteX37" fmla="*/ 232593 w 362309"/>
                <a:gd name="connsiteY37" fmla="*/ 171091 h 361971"/>
                <a:gd name="connsiteX38" fmla="*/ 212146 w 362309"/>
                <a:gd name="connsiteY38" fmla="*/ 218332 h 361971"/>
                <a:gd name="connsiteX39" fmla="*/ 224287 w 362309"/>
                <a:gd name="connsiteY39" fmla="*/ 254082 h 361971"/>
                <a:gd name="connsiteX40" fmla="*/ 241540 w 362309"/>
                <a:gd name="connsiteY40" fmla="*/ 257274 h 361971"/>
                <a:gd name="connsiteX41" fmla="*/ 273489 w 362309"/>
                <a:gd name="connsiteY41" fmla="*/ 264935 h 361971"/>
                <a:gd name="connsiteX42" fmla="*/ 277323 w 362309"/>
                <a:gd name="connsiteY42" fmla="*/ 274511 h 361971"/>
                <a:gd name="connsiteX43" fmla="*/ 277323 w 362309"/>
                <a:gd name="connsiteY43" fmla="*/ 274511 h 361971"/>
                <a:gd name="connsiteX44" fmla="*/ 277323 w 362309"/>
                <a:gd name="connsiteY44" fmla="*/ 27451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2309" h="361971">
                  <a:moveTo>
                    <a:pt x="181474" y="0"/>
                  </a:moveTo>
                  <a:cubicBezTo>
                    <a:pt x="81152" y="0"/>
                    <a:pt x="0" y="81077"/>
                    <a:pt x="0" y="180667"/>
                  </a:cubicBezTo>
                  <a:cubicBezTo>
                    <a:pt x="0" y="280257"/>
                    <a:pt x="81152" y="361972"/>
                    <a:pt x="180835" y="361972"/>
                  </a:cubicBezTo>
                  <a:cubicBezTo>
                    <a:pt x="280518" y="361972"/>
                    <a:pt x="362309" y="280895"/>
                    <a:pt x="362309" y="181305"/>
                  </a:cubicBezTo>
                  <a:cubicBezTo>
                    <a:pt x="362309" y="181305"/>
                    <a:pt x="362309" y="181305"/>
                    <a:pt x="362309" y="181305"/>
                  </a:cubicBezTo>
                  <a:cubicBezTo>
                    <a:pt x="362309" y="81077"/>
                    <a:pt x="281157" y="0"/>
                    <a:pt x="181474" y="0"/>
                  </a:cubicBezTo>
                  <a:close/>
                  <a:moveTo>
                    <a:pt x="277323" y="274511"/>
                  </a:moveTo>
                  <a:cubicBezTo>
                    <a:pt x="276045" y="276426"/>
                    <a:pt x="274128" y="277703"/>
                    <a:pt x="271572" y="277703"/>
                  </a:cubicBezTo>
                  <a:cubicBezTo>
                    <a:pt x="270294" y="277703"/>
                    <a:pt x="269655" y="277703"/>
                    <a:pt x="268377" y="277065"/>
                  </a:cubicBezTo>
                  <a:cubicBezTo>
                    <a:pt x="260070" y="273234"/>
                    <a:pt x="250485" y="271319"/>
                    <a:pt x="241540" y="271319"/>
                  </a:cubicBezTo>
                  <a:cubicBezTo>
                    <a:pt x="233872" y="271319"/>
                    <a:pt x="226204" y="269404"/>
                    <a:pt x="219175" y="266850"/>
                  </a:cubicBezTo>
                  <a:cubicBezTo>
                    <a:pt x="208312" y="261105"/>
                    <a:pt x="203200" y="243868"/>
                    <a:pt x="201922" y="238122"/>
                  </a:cubicBezTo>
                  <a:cubicBezTo>
                    <a:pt x="200644" y="232377"/>
                    <a:pt x="198088" y="218971"/>
                    <a:pt x="202561" y="212587"/>
                  </a:cubicBezTo>
                  <a:cubicBezTo>
                    <a:pt x="210868" y="198542"/>
                    <a:pt x="216619" y="183859"/>
                    <a:pt x="221092" y="168537"/>
                  </a:cubicBezTo>
                  <a:cubicBezTo>
                    <a:pt x="225565" y="154492"/>
                    <a:pt x="226843" y="139809"/>
                    <a:pt x="224287" y="125765"/>
                  </a:cubicBezTo>
                  <a:cubicBezTo>
                    <a:pt x="218536" y="131510"/>
                    <a:pt x="210868" y="134702"/>
                    <a:pt x="203200" y="134702"/>
                  </a:cubicBezTo>
                  <a:cubicBezTo>
                    <a:pt x="201922" y="134702"/>
                    <a:pt x="200005" y="134064"/>
                    <a:pt x="199366" y="132787"/>
                  </a:cubicBezTo>
                  <a:lnTo>
                    <a:pt x="196171" y="129595"/>
                  </a:lnTo>
                  <a:lnTo>
                    <a:pt x="192976" y="132787"/>
                  </a:lnTo>
                  <a:cubicBezTo>
                    <a:pt x="192337" y="133425"/>
                    <a:pt x="191698" y="134064"/>
                    <a:pt x="190420" y="134064"/>
                  </a:cubicBezTo>
                  <a:cubicBezTo>
                    <a:pt x="184030" y="136617"/>
                    <a:pt x="177001" y="137894"/>
                    <a:pt x="169972" y="137256"/>
                  </a:cubicBezTo>
                  <a:cubicBezTo>
                    <a:pt x="157831" y="137894"/>
                    <a:pt x="146329" y="133425"/>
                    <a:pt x="137384" y="125126"/>
                  </a:cubicBezTo>
                  <a:cubicBezTo>
                    <a:pt x="134828" y="139171"/>
                    <a:pt x="136106" y="154492"/>
                    <a:pt x="140579" y="167899"/>
                  </a:cubicBezTo>
                  <a:cubicBezTo>
                    <a:pt x="145051" y="183220"/>
                    <a:pt x="151441" y="197903"/>
                    <a:pt x="159109" y="211948"/>
                  </a:cubicBezTo>
                  <a:cubicBezTo>
                    <a:pt x="163582" y="218971"/>
                    <a:pt x="161026" y="232377"/>
                    <a:pt x="159748" y="237484"/>
                  </a:cubicBezTo>
                  <a:cubicBezTo>
                    <a:pt x="158470" y="242591"/>
                    <a:pt x="153358" y="260466"/>
                    <a:pt x="142496" y="266212"/>
                  </a:cubicBezTo>
                  <a:cubicBezTo>
                    <a:pt x="135466" y="268766"/>
                    <a:pt x="127799" y="270681"/>
                    <a:pt x="120131" y="270681"/>
                  </a:cubicBezTo>
                  <a:cubicBezTo>
                    <a:pt x="110546" y="270681"/>
                    <a:pt x="101600" y="273234"/>
                    <a:pt x="93293" y="276426"/>
                  </a:cubicBezTo>
                  <a:cubicBezTo>
                    <a:pt x="90098" y="278341"/>
                    <a:pt x="86264" y="277065"/>
                    <a:pt x="84347" y="273873"/>
                  </a:cubicBezTo>
                  <a:cubicBezTo>
                    <a:pt x="82430" y="270681"/>
                    <a:pt x="83708" y="266850"/>
                    <a:pt x="86903" y="264935"/>
                  </a:cubicBezTo>
                  <a:cubicBezTo>
                    <a:pt x="97127" y="260466"/>
                    <a:pt x="107990" y="257913"/>
                    <a:pt x="118853" y="257274"/>
                  </a:cubicBezTo>
                  <a:cubicBezTo>
                    <a:pt x="124604" y="257274"/>
                    <a:pt x="130354" y="255998"/>
                    <a:pt x="136106" y="254082"/>
                  </a:cubicBezTo>
                  <a:cubicBezTo>
                    <a:pt x="145051" y="249614"/>
                    <a:pt x="150802" y="223439"/>
                    <a:pt x="148246" y="218332"/>
                  </a:cubicBezTo>
                  <a:cubicBezTo>
                    <a:pt x="139301" y="203649"/>
                    <a:pt x="132911" y="187689"/>
                    <a:pt x="127799" y="171091"/>
                  </a:cubicBezTo>
                  <a:cubicBezTo>
                    <a:pt x="122686" y="154492"/>
                    <a:pt x="116936" y="123211"/>
                    <a:pt x="132911" y="102782"/>
                  </a:cubicBezTo>
                  <a:cubicBezTo>
                    <a:pt x="142496" y="90014"/>
                    <a:pt x="158470" y="83630"/>
                    <a:pt x="180196" y="83630"/>
                  </a:cubicBezTo>
                  <a:cubicBezTo>
                    <a:pt x="201922" y="83630"/>
                    <a:pt x="217897" y="90014"/>
                    <a:pt x="227482" y="102782"/>
                  </a:cubicBezTo>
                  <a:cubicBezTo>
                    <a:pt x="243456" y="123849"/>
                    <a:pt x="237067" y="154492"/>
                    <a:pt x="232593" y="171091"/>
                  </a:cubicBezTo>
                  <a:cubicBezTo>
                    <a:pt x="228120" y="187689"/>
                    <a:pt x="221092" y="203649"/>
                    <a:pt x="212146" y="218332"/>
                  </a:cubicBezTo>
                  <a:cubicBezTo>
                    <a:pt x="209590" y="223439"/>
                    <a:pt x="215341" y="248975"/>
                    <a:pt x="224287" y="254082"/>
                  </a:cubicBezTo>
                  <a:cubicBezTo>
                    <a:pt x="230038" y="255998"/>
                    <a:pt x="235788" y="257274"/>
                    <a:pt x="241540" y="257274"/>
                  </a:cubicBezTo>
                  <a:cubicBezTo>
                    <a:pt x="252403" y="257913"/>
                    <a:pt x="263265" y="260466"/>
                    <a:pt x="273489" y="264935"/>
                  </a:cubicBezTo>
                  <a:cubicBezTo>
                    <a:pt x="277323" y="267489"/>
                    <a:pt x="278601" y="271319"/>
                    <a:pt x="277323" y="274511"/>
                  </a:cubicBezTo>
                  <a:cubicBezTo>
                    <a:pt x="277323" y="274511"/>
                    <a:pt x="277323" y="274511"/>
                    <a:pt x="277323" y="274511"/>
                  </a:cubicBezTo>
                  <a:lnTo>
                    <a:pt x="277323" y="274511"/>
                  </a:lnTo>
                  <a:close/>
                </a:path>
              </a:pathLst>
            </a:custGeom>
            <a:grpFill/>
            <a:ln w="6390" cap="flat">
              <a:noFill/>
              <a:prstDash val="solid"/>
              <a:miter/>
            </a:ln>
          </p:spPr>
          <p:txBody>
            <a:bodyPr wrap="none" lIns="0" tIns="0" rIns="0" bIns="0" rtlCol="0" anchor="ctr"/>
            <a:lstStyle/>
            <a:p>
              <a:pPr algn="ctr"/>
              <a:endParaRPr lang="en-US" sz="1200">
                <a:latin typeface="+mn-lt"/>
                <a:cs typeface="+mn-cs"/>
                <a:sym typeface="+mn-lt"/>
              </a:endParaRPr>
            </a:p>
          </p:txBody>
        </p:sp>
      </p:grpSp>
      <p:sp>
        <p:nvSpPr>
          <p:cNvPr id="7" name="正方形/長方形 6">
            <a:extLst>
              <a:ext uri="{FF2B5EF4-FFF2-40B4-BE49-F238E27FC236}">
                <a16:creationId xmlns:a16="http://schemas.microsoft.com/office/drawing/2014/main" id="{C348C5FE-7204-A133-E64C-B8E1E72CA007}"/>
              </a:ext>
            </a:extLst>
          </p:cNvPr>
          <p:cNvSpPr/>
          <p:nvPr/>
        </p:nvSpPr>
        <p:spPr bwMode="gray">
          <a:xfrm>
            <a:off x="417017" y="1616945"/>
            <a:ext cx="4023247" cy="438596"/>
          </a:xfrm>
          <a:prstGeom prst="rect">
            <a:avLst/>
          </a:prstGeom>
          <a:solidFill>
            <a:schemeClr val="accent1">
              <a:lumMod val="40000"/>
              <a:lumOff val="6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lang="ja-JP" altLang="en-US" sz="1400" dirty="0">
                <a:latin typeface="+mn-lt"/>
                <a:ea typeface="+mn-ea"/>
              </a:rPr>
              <a:t>トラストフレームワーク策定プロセス・運用プロセス</a:t>
            </a:r>
          </a:p>
        </p:txBody>
      </p:sp>
      <p:sp>
        <p:nvSpPr>
          <p:cNvPr id="9" name="コンテンツ プレースホルダー 2">
            <a:extLst>
              <a:ext uri="{FF2B5EF4-FFF2-40B4-BE49-F238E27FC236}">
                <a16:creationId xmlns:a16="http://schemas.microsoft.com/office/drawing/2014/main" id="{331D6409-A3A8-5261-F021-89ECC16E0754}"/>
              </a:ext>
            </a:extLst>
          </p:cNvPr>
          <p:cNvSpPr txBox="1">
            <a:spLocks/>
          </p:cNvSpPr>
          <p:nvPr/>
        </p:nvSpPr>
        <p:spPr>
          <a:xfrm>
            <a:off x="273050" y="902687"/>
            <a:ext cx="9359900" cy="520067"/>
          </a:xfrm>
          <a:prstGeom prst="rect">
            <a:avLst/>
          </a:prstGeom>
        </p:spPr>
        <p:txBody>
          <a:bodyPr/>
          <a:lstStyle>
            <a:lvl1pPr marL="269875" indent="-269875" algn="l" rtl="0" eaLnBrk="0" fontAlgn="base" hangingPunct="0">
              <a:spcBef>
                <a:spcPct val="20000"/>
              </a:spcBef>
              <a:spcAft>
                <a:spcPct val="0"/>
              </a:spcAft>
              <a:buClr>
                <a:srgbClr val="005EAD"/>
              </a:buClr>
              <a:buFont typeface="Wingdings" panose="05000000000000000000" pitchFamily="2" charset="2"/>
              <a:buChar char="n"/>
              <a:defRPr kumimoji="1" sz="1400" b="1" kern="1200">
                <a:solidFill>
                  <a:schemeClr val="tx1"/>
                </a:solidFill>
                <a:latin typeface="+mj-ea"/>
                <a:ea typeface="+mj-ea"/>
                <a:cs typeface="+mn-cs"/>
              </a:defRPr>
            </a:lvl1pPr>
            <a:lvl2pPr marL="450850" indent="-180975" algn="l" rtl="0" eaLnBrk="0" fontAlgn="base" hangingPunct="0">
              <a:spcBef>
                <a:spcPct val="20000"/>
              </a:spcBef>
              <a:spcAft>
                <a:spcPct val="0"/>
              </a:spcAft>
              <a:buClr>
                <a:srgbClr val="005EAD"/>
              </a:buClr>
              <a:buFont typeface="Arial" panose="020B0604020202020204" pitchFamily="34" charset="0"/>
              <a:buChar char="•"/>
              <a:defRPr kumimoji="1" sz="1400" b="1"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005EAD"/>
              </a:buClr>
              <a:defRPr kumimoji="1" sz="14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5EAD"/>
              </a:buClr>
              <a:defRPr kumimoji="1" sz="12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005EAD"/>
              </a:buClr>
              <a:defRPr kumimoji="1"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68288" indent="-268288"/>
            <a:r>
              <a:rPr lang="en-US" altLang="ja-JP" dirty="0" err="1"/>
              <a:t>mDL</a:t>
            </a:r>
            <a:r>
              <a:rPr lang="ja-JP" altLang="en-US" dirty="0"/>
              <a:t>の州外連携に向けた検討が進められている</a:t>
            </a:r>
            <a:endParaRPr lang="en-US" altLang="ja-JP" dirty="0"/>
          </a:p>
          <a:p>
            <a:pPr marL="268288" indent="-268288"/>
            <a:r>
              <a:rPr lang="ja-JP" altLang="en-US" dirty="0"/>
              <a:t>認定プログラムの導入や政府との連携等については現時点では未定である</a:t>
            </a:r>
          </a:p>
        </p:txBody>
      </p:sp>
      <p:sp>
        <p:nvSpPr>
          <p:cNvPr id="10" name="吹き出し: 四角形 9">
            <a:extLst>
              <a:ext uri="{FF2B5EF4-FFF2-40B4-BE49-F238E27FC236}">
                <a16:creationId xmlns:a16="http://schemas.microsoft.com/office/drawing/2014/main" id="{148A67AE-82A3-756E-7A92-4A79EB7A151D}"/>
              </a:ext>
            </a:extLst>
          </p:cNvPr>
          <p:cNvSpPr/>
          <p:nvPr/>
        </p:nvSpPr>
        <p:spPr>
          <a:xfrm>
            <a:off x="2266513" y="2117255"/>
            <a:ext cx="7366437" cy="4483842"/>
          </a:xfrm>
          <a:prstGeom prst="wedgeRectCallout">
            <a:avLst>
              <a:gd name="adj1" fmla="val -56887"/>
              <a:gd name="adj2" fmla="val -19857"/>
            </a:avLst>
          </a:prstGeom>
          <a:solidFill>
            <a:schemeClr val="accent5">
              <a:lumMod val="20000"/>
              <a:lumOff val="80000"/>
            </a:schemeClr>
          </a:solidFill>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rtlCol="0" anchor="t" anchorCtr="0"/>
          <a:lstStyle/>
          <a:p>
            <a:pPr>
              <a:spcBef>
                <a:spcPts val="600"/>
              </a:spcBef>
            </a:pPr>
            <a:r>
              <a:rPr lang="en-US" altLang="ja-JP" sz="1400" dirty="0"/>
              <a:t>【</a:t>
            </a:r>
            <a:r>
              <a:rPr lang="ja-JP" altLang="en-US" sz="1400" dirty="0"/>
              <a:t>策定におけるステークホルダの巻き込み</a:t>
            </a:r>
            <a:r>
              <a:rPr lang="en-US" altLang="ja-JP" sz="1400" dirty="0"/>
              <a:t>】</a:t>
            </a:r>
          </a:p>
          <a:p>
            <a:pPr marL="285750" indent="-285750">
              <a:spcBef>
                <a:spcPts val="600"/>
              </a:spcBef>
              <a:buFont typeface="Arial" panose="020B0604020202020204" pitchFamily="34" charset="0"/>
              <a:buChar char="•"/>
            </a:pPr>
            <a:r>
              <a:rPr lang="en-US" altLang="ja-JP" sz="1400" dirty="0"/>
              <a:t>AAMVA (American Association of Motor Vehicle Administrators) </a:t>
            </a:r>
            <a:r>
              <a:rPr lang="ja-JP" altLang="en-US" sz="1400" dirty="0"/>
              <a:t>は、米国の</a:t>
            </a:r>
            <a:r>
              <a:rPr lang="en-US" altLang="ja-JP" sz="1400" dirty="0"/>
              <a:t>56</a:t>
            </a:r>
            <a:r>
              <a:rPr lang="ja-JP" altLang="en-US" sz="1400" dirty="0"/>
              <a:t>の免許管轄区域</a:t>
            </a:r>
            <a:r>
              <a:rPr lang="en-US" altLang="ja-JP" sz="1400" dirty="0"/>
              <a:t>(</a:t>
            </a:r>
            <a:r>
              <a:rPr lang="ja-JP" altLang="en-US" sz="1400" dirty="0"/>
              <a:t>米国、ワシントン</a:t>
            </a:r>
            <a:r>
              <a:rPr lang="en-US" altLang="ja-JP" sz="1400" dirty="0"/>
              <a:t>D.C.</a:t>
            </a:r>
            <a:r>
              <a:rPr lang="ja-JP" altLang="en-US" sz="1400" dirty="0"/>
              <a:t>、米国外領土</a:t>
            </a:r>
            <a:r>
              <a:rPr lang="en-US" altLang="ja-JP" sz="1400" dirty="0"/>
              <a:t>)</a:t>
            </a:r>
            <a:r>
              <a:rPr lang="ja-JP" altLang="en-US" sz="1400" dirty="0"/>
              <a:t>とカナダの</a:t>
            </a:r>
            <a:r>
              <a:rPr lang="en-US" altLang="ja-JP" sz="1400" dirty="0"/>
              <a:t>10</a:t>
            </a:r>
            <a:r>
              <a:rPr lang="ja-JP" altLang="en-US" sz="1400" dirty="0"/>
              <a:t>州に所属する米国およびカナダの自動車管理者のコンソーシアムが中心に策定している</a:t>
            </a:r>
          </a:p>
          <a:p>
            <a:pPr marL="285750" indent="-285750">
              <a:spcBef>
                <a:spcPts val="600"/>
              </a:spcBef>
              <a:buFont typeface="Arial" panose="020B0604020202020204" pitchFamily="34" charset="0"/>
              <a:buChar char="•"/>
            </a:pPr>
            <a:r>
              <a:rPr lang="en-US" altLang="ja-JP" sz="1400" dirty="0"/>
              <a:t>AAMVA</a:t>
            </a:r>
            <a:r>
              <a:rPr lang="ja-JP" altLang="en-US" sz="1400" dirty="0"/>
              <a:t>は、作業部会とその行政機関を通じて、管轄区域のメンバーのためのガイダンス、ホワイトペーパー、立法テンプレートを提供</a:t>
            </a:r>
            <a:r>
              <a:rPr lang="en-US" altLang="ja-JP" sz="1400" dirty="0"/>
              <a:t>AAMVA</a:t>
            </a:r>
            <a:r>
              <a:rPr lang="ja-JP" altLang="en-US" sz="1400" dirty="0"/>
              <a:t>は、準会員として民間企業・国際的なメンバーからも構成されており、会議に出席し、</a:t>
            </a:r>
            <a:r>
              <a:rPr lang="en-US" altLang="ja-JP" sz="1400" dirty="0"/>
              <a:t>AAMVA</a:t>
            </a:r>
            <a:r>
              <a:rPr lang="ja-JP" altLang="en-US" sz="1400" dirty="0"/>
              <a:t>の一部の出版物にアクセスすることができるが、作業部会への参加・組織の投票メンバーとしての活動は不可</a:t>
            </a:r>
            <a:endParaRPr lang="en-US" altLang="ja-JP" sz="1400" dirty="0"/>
          </a:p>
          <a:p>
            <a:pPr>
              <a:spcBef>
                <a:spcPts val="600"/>
              </a:spcBef>
            </a:pPr>
            <a:r>
              <a:rPr lang="en-US" altLang="ja-JP" sz="1400" dirty="0"/>
              <a:t>【</a:t>
            </a:r>
            <a:r>
              <a:rPr lang="ja-JP" altLang="en-US" sz="1400" dirty="0"/>
              <a:t>社会実装・インセンティブ設計</a:t>
            </a:r>
            <a:r>
              <a:rPr lang="en-US" altLang="ja-JP" sz="1400" dirty="0"/>
              <a:t>】</a:t>
            </a:r>
          </a:p>
          <a:p>
            <a:pPr marL="285750" indent="-285750">
              <a:spcBef>
                <a:spcPts val="600"/>
              </a:spcBef>
              <a:buFont typeface="Arial" panose="020B0604020202020204" pitchFamily="34" charset="0"/>
              <a:buChar char="•"/>
            </a:pPr>
            <a:r>
              <a:rPr lang="en-US" altLang="ja-JP" sz="1400" dirty="0"/>
              <a:t>ISO 18013-5</a:t>
            </a:r>
            <a:r>
              <a:rPr lang="ja-JP" altLang="en-US" sz="1400" dirty="0"/>
              <a:t>標準に準拠し、各州のパブリックルート証明書を共有する中央配布ポイントを持つことを検討している。</a:t>
            </a:r>
            <a:r>
              <a:rPr lang="en-US" altLang="ja-JP" sz="1400" dirty="0"/>
              <a:t>AAMVA</a:t>
            </a:r>
            <a:r>
              <a:rPr lang="ja-JP" altLang="en-US" sz="1400" dirty="0"/>
              <a:t>は、</a:t>
            </a:r>
            <a:r>
              <a:rPr lang="en-US" altLang="ja-JP" sz="1400" dirty="0"/>
              <a:t>Digital Trust Service (DTS) </a:t>
            </a:r>
            <a:r>
              <a:rPr lang="ja-JP" altLang="en-US" sz="1400" dirty="0"/>
              <a:t>と呼ばれるシステムを通じて、この公開鍵配布サービスを提供する計画している</a:t>
            </a:r>
            <a:endParaRPr lang="en-US" altLang="ja-JP" sz="1400" dirty="0"/>
          </a:p>
          <a:p>
            <a:pPr marL="285750" indent="-285750">
              <a:spcBef>
                <a:spcPts val="600"/>
              </a:spcBef>
              <a:buFont typeface="Arial" panose="020B0604020202020204" pitchFamily="34" charset="0"/>
              <a:buChar char="•"/>
            </a:pPr>
            <a:r>
              <a:rPr lang="ja-JP" altLang="en-US" sz="1400" dirty="0"/>
              <a:t>州外での相互運用性の確保がインセンティブとなっている。</a:t>
            </a:r>
            <a:r>
              <a:rPr lang="en-US" altLang="ja-JP" sz="1400" dirty="0"/>
              <a:t>ISO18013-5</a:t>
            </a:r>
            <a:r>
              <a:rPr lang="ja-JP" altLang="en-US" sz="1400" dirty="0"/>
              <a:t>に準拠しているかどうかの認証を</a:t>
            </a:r>
            <a:r>
              <a:rPr lang="en-US" altLang="ja-JP" sz="1400" dirty="0"/>
              <a:t>UL Solutions</a:t>
            </a:r>
            <a:r>
              <a:rPr lang="ja-JP" altLang="en-US" sz="1400" dirty="0"/>
              <a:t>が行っている。認定プログラムは</a:t>
            </a:r>
            <a:r>
              <a:rPr lang="en-US" altLang="ja-JP" sz="1400" dirty="0"/>
              <a:t>AAMVA</a:t>
            </a:r>
            <a:r>
              <a:rPr lang="ja-JP" altLang="en-US" sz="1400" dirty="0"/>
              <a:t>内で検討しているが現時点では未定となっている。また、</a:t>
            </a:r>
            <a:r>
              <a:rPr lang="en-US" altLang="ja-JP" sz="1400" dirty="0" err="1"/>
              <a:t>mDL</a:t>
            </a:r>
            <a:r>
              <a:rPr lang="ja-JP" altLang="en-US" sz="1400" dirty="0"/>
              <a:t>を連邦政府で制度化する可能性も出てきている</a:t>
            </a:r>
            <a:endParaRPr lang="en-US" altLang="ja-JP" sz="1400" dirty="0"/>
          </a:p>
          <a:p>
            <a:pPr>
              <a:spcBef>
                <a:spcPts val="600"/>
              </a:spcBef>
            </a:pPr>
            <a:r>
              <a:rPr lang="en-US" altLang="ja-JP" sz="1400" dirty="0"/>
              <a:t>【</a:t>
            </a:r>
            <a:r>
              <a:rPr lang="ja-JP" altLang="en-US" sz="1400" dirty="0"/>
              <a:t>トラストフレームワーク策定・運用上の課題</a:t>
            </a:r>
            <a:r>
              <a:rPr lang="en-US" altLang="ja-JP" sz="1400" dirty="0"/>
              <a:t>】</a:t>
            </a:r>
          </a:p>
          <a:p>
            <a:pPr marL="285750" indent="-285750">
              <a:spcBef>
                <a:spcPts val="600"/>
              </a:spcBef>
              <a:buFont typeface="Arial" panose="020B0604020202020204" pitchFamily="34" charset="0"/>
              <a:buChar char="•"/>
            </a:pPr>
            <a:r>
              <a:rPr lang="ja-JP" altLang="en-US" sz="1400" dirty="0"/>
              <a:t>発行インフラストラクチャのセキュリティ、</a:t>
            </a:r>
            <a:r>
              <a:rPr lang="en-US" altLang="ja-JP" sz="1400" dirty="0"/>
              <a:t>ID</a:t>
            </a:r>
            <a:r>
              <a:rPr lang="ja-JP" altLang="en-US" sz="1400" dirty="0"/>
              <a:t>証明、</a:t>
            </a:r>
            <a:r>
              <a:rPr lang="en-US" altLang="ja-JP" sz="1400" dirty="0" err="1"/>
              <a:t>mDL</a:t>
            </a:r>
            <a:r>
              <a:rPr lang="ja-JP" altLang="en-US" sz="1400" dirty="0"/>
              <a:t>プロビジョニング、および</a:t>
            </a:r>
            <a:r>
              <a:rPr lang="en-US" altLang="ja-JP" sz="1400" dirty="0" err="1"/>
              <a:t>mDL</a:t>
            </a:r>
            <a:r>
              <a:rPr lang="ja-JP" altLang="en-US" sz="1400" dirty="0"/>
              <a:t>の相互運用性について、誰もが従うべき標準のリストを確立することが課題</a:t>
            </a:r>
          </a:p>
        </p:txBody>
      </p:sp>
    </p:spTree>
    <p:extLst>
      <p:ext uri="{BB962C8B-B14F-4D97-AF65-F5344CB8AC3E}">
        <p14:creationId xmlns:p14="http://schemas.microsoft.com/office/powerpoint/2010/main" val="3343070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3A1D1FE-BC04-E092-5E95-92AAC15B804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39" imgH="639" progId="TCLayout.ActiveDocument.1">
                  <p:embed/>
                </p:oleObj>
              </mc:Choice>
              <mc:Fallback>
                <p:oleObj name="think-cell スライド" r:id="rId3" imgW="639" imgH="639" progId="TCLayout.ActiveDocument.1">
                  <p:embed/>
                  <p:pic>
                    <p:nvPicPr>
                      <p:cNvPr id="3" name="think-cell data - do not delete" hidden="1">
                        <a:extLst>
                          <a:ext uri="{FF2B5EF4-FFF2-40B4-BE49-F238E27FC236}">
                            <a16:creationId xmlns:a16="http://schemas.microsoft.com/office/drawing/2014/main" id="{33A1D1FE-BC04-E092-5E95-92AAC15B8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p:cNvSpPr>
            <a:spLocks noGrp="1"/>
          </p:cNvSpPr>
          <p:nvPr>
            <p:ph type="title"/>
          </p:nvPr>
        </p:nvSpPr>
        <p:spPr>
          <a:xfrm>
            <a:off x="273049" y="3121223"/>
            <a:ext cx="9072563" cy="307777"/>
          </a:xfrm>
        </p:spPr>
        <p:txBody>
          <a:bodyPr vert="horz"/>
          <a:lstStyle/>
          <a:p>
            <a:r>
              <a:rPr kumimoji="1" lang="en-US" altLang="ja-JP" dirty="0"/>
              <a:t>4</a:t>
            </a:r>
            <a:r>
              <a:rPr kumimoji="1" lang="en-US" altLang="zh-TW" dirty="0"/>
              <a:t>. </a:t>
            </a:r>
            <a:r>
              <a:rPr kumimoji="1" lang="ja-JP" altLang="en-US" dirty="0"/>
              <a:t>調査結果取りまとめ</a:t>
            </a:r>
          </a:p>
        </p:txBody>
      </p:sp>
    </p:spTree>
    <p:extLst>
      <p:ext uri="{BB962C8B-B14F-4D97-AF65-F5344CB8AC3E}">
        <p14:creationId xmlns:p14="http://schemas.microsoft.com/office/powerpoint/2010/main" val="299692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0635EDD3-FDFA-9147-CE4C-F66E75B0F324}"/>
              </a:ext>
            </a:extLst>
          </p:cNvPr>
          <p:cNvGraphicFramePr>
            <a:graphicFrameLocks noChangeAspect="1"/>
          </p:cNvGraphicFramePr>
          <p:nvPr>
            <p:custDataLst>
              <p:tags r:id="rId1"/>
            </p:custDataLst>
            <p:extLst>
              <p:ext uri="{D42A27DB-BD31-4B8C-83A1-F6EECF244321}">
                <p14:modId xmlns:p14="http://schemas.microsoft.com/office/powerpoint/2010/main" val="45555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4" imgH="623" progId="TCLayout.ActiveDocument.1">
                  <p:embed/>
                </p:oleObj>
              </mc:Choice>
              <mc:Fallback>
                <p:oleObj name="think-cell スライド" r:id="rId3" imgW="624" imgH="623" progId="TCLayout.ActiveDocument.1">
                  <p:embed/>
                  <p:pic>
                    <p:nvPicPr>
                      <p:cNvPr id="24" name="think-cell data - do not delete" hidden="1">
                        <a:extLst>
                          <a:ext uri="{FF2B5EF4-FFF2-40B4-BE49-F238E27FC236}">
                            <a16:creationId xmlns:a16="http://schemas.microsoft.com/office/drawing/2014/main" id="{0635EDD3-FDFA-9147-CE4C-F66E75B0F3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5" name="正方形/長方形 24">
            <a:extLst>
              <a:ext uri="{FF2B5EF4-FFF2-40B4-BE49-F238E27FC236}">
                <a16:creationId xmlns:a16="http://schemas.microsoft.com/office/drawing/2014/main" id="{5D3F2224-88DE-7C60-8B6A-BA933D39AE10}"/>
              </a:ext>
            </a:extLst>
          </p:cNvPr>
          <p:cNvSpPr/>
          <p:nvPr/>
        </p:nvSpPr>
        <p:spPr>
          <a:xfrm>
            <a:off x="4968937" y="4566029"/>
            <a:ext cx="2442058" cy="779281"/>
          </a:xfrm>
          <a:prstGeom prst="rect">
            <a:avLst/>
          </a:prstGeom>
          <a:solidFill>
            <a:schemeClr val="accent5">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t" anchorCtr="0"/>
          <a:lstStyle/>
          <a:p>
            <a:pPr algn="ctr"/>
            <a:r>
              <a:rPr kumimoji="1" lang="ja-JP" altLang="en-US" sz="1600" dirty="0"/>
              <a:t>カテゴリ①</a:t>
            </a:r>
          </a:p>
        </p:txBody>
      </p:sp>
      <p:sp>
        <p:nvSpPr>
          <p:cNvPr id="26" name="正方形/長方形 25">
            <a:extLst>
              <a:ext uri="{FF2B5EF4-FFF2-40B4-BE49-F238E27FC236}">
                <a16:creationId xmlns:a16="http://schemas.microsoft.com/office/drawing/2014/main" id="{D193B7E1-396C-BE80-A8EA-D87201071480}"/>
              </a:ext>
            </a:extLst>
          </p:cNvPr>
          <p:cNvSpPr/>
          <p:nvPr/>
        </p:nvSpPr>
        <p:spPr>
          <a:xfrm>
            <a:off x="4968937" y="5374954"/>
            <a:ext cx="2442058" cy="779282"/>
          </a:xfrm>
          <a:prstGeom prst="rect">
            <a:avLst/>
          </a:prstGeom>
          <a:solidFill>
            <a:schemeClr val="accent4">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b" anchorCtr="0"/>
          <a:lstStyle/>
          <a:p>
            <a:pPr algn="ctr"/>
            <a:r>
              <a:rPr kumimoji="1" lang="ja-JP" altLang="en-US" sz="1600" dirty="0"/>
              <a:t>カテゴリ②</a:t>
            </a:r>
          </a:p>
        </p:txBody>
      </p:sp>
      <p:sp>
        <p:nvSpPr>
          <p:cNvPr id="27" name="正方形/長方形 26">
            <a:extLst>
              <a:ext uri="{FF2B5EF4-FFF2-40B4-BE49-F238E27FC236}">
                <a16:creationId xmlns:a16="http://schemas.microsoft.com/office/drawing/2014/main" id="{DBF58DE3-D50D-FFBB-7C6F-72054CE7C5B1}"/>
              </a:ext>
            </a:extLst>
          </p:cNvPr>
          <p:cNvSpPr/>
          <p:nvPr/>
        </p:nvSpPr>
        <p:spPr>
          <a:xfrm>
            <a:off x="2497713" y="5374954"/>
            <a:ext cx="2440800" cy="779282"/>
          </a:xfrm>
          <a:prstGeom prst="rect">
            <a:avLst/>
          </a:prstGeom>
          <a:solidFill>
            <a:schemeClr val="accent3">
              <a:lumMod val="20000"/>
              <a:lumOff val="80000"/>
            </a:schemeClr>
          </a:solidFill>
          <a:ln w="1270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b" anchorCtr="0"/>
          <a:lstStyle/>
          <a:p>
            <a:pPr algn="ctr"/>
            <a:r>
              <a:rPr kumimoji="1" lang="ja-JP" altLang="en-US" sz="1600" dirty="0"/>
              <a:t>カテゴリ③</a:t>
            </a:r>
          </a:p>
        </p:txBody>
      </p:sp>
      <p:sp>
        <p:nvSpPr>
          <p:cNvPr id="2" name="タイトル 1">
            <a:extLst>
              <a:ext uri="{FF2B5EF4-FFF2-40B4-BE49-F238E27FC236}">
                <a16:creationId xmlns:a16="http://schemas.microsoft.com/office/drawing/2014/main" id="{1C4E5BF5-A026-862D-E9FE-5151BC12B1D7}"/>
              </a:ext>
            </a:extLst>
          </p:cNvPr>
          <p:cNvSpPr>
            <a:spLocks noGrp="1"/>
          </p:cNvSpPr>
          <p:nvPr>
            <p:ph type="title"/>
          </p:nvPr>
        </p:nvSpPr>
        <p:spPr/>
        <p:txBody>
          <a:bodyPr vert="horz"/>
          <a:lstStyle/>
          <a:p>
            <a:r>
              <a:rPr kumimoji="1" lang="en-US" altLang="ja-JP" dirty="0"/>
              <a:t>4. </a:t>
            </a:r>
            <a:r>
              <a:rPr kumimoji="1" lang="ja-JP" altLang="en-US" dirty="0"/>
              <a:t>調査結果取りまとめ</a:t>
            </a:r>
            <a:r>
              <a:rPr kumimoji="1" lang="en-US" altLang="ja-JP" dirty="0"/>
              <a:t>(1/3)</a:t>
            </a:r>
            <a:endParaRPr kumimoji="1" lang="ja-JP" altLang="en-US" dirty="0"/>
          </a:p>
        </p:txBody>
      </p:sp>
      <p:sp>
        <p:nvSpPr>
          <p:cNvPr id="3" name="テキスト プレースホルダー 2">
            <a:extLst>
              <a:ext uri="{FF2B5EF4-FFF2-40B4-BE49-F238E27FC236}">
                <a16:creationId xmlns:a16="http://schemas.microsoft.com/office/drawing/2014/main" id="{82024DC9-7754-BE1A-F107-EFA03BE05635}"/>
              </a:ext>
            </a:extLst>
          </p:cNvPr>
          <p:cNvSpPr>
            <a:spLocks noGrp="1"/>
          </p:cNvSpPr>
          <p:nvPr>
            <p:ph type="body" sz="quarter" idx="10"/>
          </p:nvPr>
        </p:nvSpPr>
        <p:spPr>
          <a:xfrm>
            <a:off x="273050" y="188913"/>
            <a:ext cx="7848600" cy="161583"/>
          </a:xfrm>
        </p:spPr>
        <p:txBody>
          <a:bodyPr/>
          <a:lstStyle/>
          <a:p>
            <a:r>
              <a:rPr kumimoji="1" lang="en-US" altLang="ja-JP" dirty="0"/>
              <a:t>4. </a:t>
            </a:r>
            <a:r>
              <a:rPr lang="ja-JP" altLang="en-US" dirty="0"/>
              <a:t>調査結果取りまとめ</a:t>
            </a:r>
            <a:endParaRPr kumimoji="1" lang="ja-JP" altLang="en-US" dirty="0"/>
          </a:p>
        </p:txBody>
      </p:sp>
      <p:cxnSp>
        <p:nvCxnSpPr>
          <p:cNvPr id="6" name="直線矢印コネクタ 5">
            <a:extLst>
              <a:ext uri="{FF2B5EF4-FFF2-40B4-BE49-F238E27FC236}">
                <a16:creationId xmlns:a16="http://schemas.microsoft.com/office/drawing/2014/main" id="{3A32F92C-0F80-B98A-2797-12946E2EE9B6}"/>
              </a:ext>
            </a:extLst>
          </p:cNvPr>
          <p:cNvCxnSpPr/>
          <p:nvPr/>
        </p:nvCxnSpPr>
        <p:spPr>
          <a:xfrm>
            <a:off x="2346175" y="5353601"/>
            <a:ext cx="5203660" cy="0"/>
          </a:xfrm>
          <a:prstGeom prst="straightConnector1">
            <a:avLst/>
          </a:prstGeom>
          <a:ln w="28575">
            <a:solidFill>
              <a:schemeClr val="accent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CAEBECDF-4830-3A89-9715-BCE3F79AA0DD}"/>
              </a:ext>
            </a:extLst>
          </p:cNvPr>
          <p:cNvCxnSpPr>
            <a:cxnSpLocks/>
          </p:cNvCxnSpPr>
          <p:nvPr/>
        </p:nvCxnSpPr>
        <p:spPr>
          <a:xfrm flipV="1">
            <a:off x="4953000" y="4401201"/>
            <a:ext cx="0" cy="1926572"/>
          </a:xfrm>
          <a:prstGeom prst="straightConnector1">
            <a:avLst/>
          </a:prstGeom>
          <a:ln w="28575">
            <a:solidFill>
              <a:schemeClr val="accent2"/>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3C6A1091-FD02-DF4C-3C1E-79B229BCECDF}"/>
              </a:ext>
            </a:extLst>
          </p:cNvPr>
          <p:cNvSpPr txBox="1"/>
          <p:nvPr/>
        </p:nvSpPr>
        <p:spPr>
          <a:xfrm>
            <a:off x="3881044" y="4086899"/>
            <a:ext cx="2016578" cy="338554"/>
          </a:xfrm>
          <a:prstGeom prst="rect">
            <a:avLst/>
          </a:prstGeom>
          <a:noFill/>
        </p:spPr>
        <p:txBody>
          <a:bodyPr wrap="none" lIns="0" tIns="0" rIns="0" bIns="0" rtlCol="0">
            <a:spAutoFit/>
          </a:bodyPr>
          <a:lstStyle/>
          <a:p>
            <a:pPr algn="ctr"/>
            <a:r>
              <a:rPr lang="ja-JP" altLang="en-US" sz="1200" b="1" dirty="0">
                <a:solidFill>
                  <a:schemeClr val="accent2"/>
                </a:solidFill>
                <a:latin typeface="+mn-ea"/>
                <a:ea typeface="+mn-ea"/>
              </a:rPr>
              <a:t>トップダウンアプローチ</a:t>
            </a:r>
            <a:endParaRPr lang="en-US" altLang="ja-JP" sz="1200" b="1" dirty="0">
              <a:solidFill>
                <a:schemeClr val="accent2"/>
              </a:solidFill>
              <a:latin typeface="+mn-ea"/>
              <a:ea typeface="+mn-ea"/>
            </a:endParaRPr>
          </a:p>
          <a:p>
            <a:pPr algn="ctr"/>
            <a:r>
              <a:rPr lang="en-US" altLang="ja-JP" sz="1000" b="1" dirty="0">
                <a:solidFill>
                  <a:schemeClr val="accent2"/>
                </a:solidFill>
                <a:latin typeface="+mn-ea"/>
                <a:ea typeface="+mn-ea"/>
              </a:rPr>
              <a:t>(</a:t>
            </a:r>
            <a:r>
              <a:rPr lang="ja-JP" altLang="en-US" sz="1000" b="1" dirty="0">
                <a:solidFill>
                  <a:schemeClr val="accent2"/>
                </a:solidFill>
                <a:latin typeface="+mn-ea"/>
                <a:ea typeface="+mn-ea"/>
              </a:rPr>
              <a:t>上位規制から策定し運用詳細を規定</a:t>
            </a:r>
            <a:r>
              <a:rPr lang="en-US" altLang="ja-JP" sz="1000" b="1" dirty="0">
                <a:solidFill>
                  <a:schemeClr val="accent2"/>
                </a:solidFill>
                <a:latin typeface="+mn-ea"/>
                <a:ea typeface="+mn-ea"/>
              </a:rPr>
              <a:t>)</a:t>
            </a:r>
            <a:endParaRPr kumimoji="1" lang="ja-JP" altLang="en-US" sz="1000" b="1" dirty="0">
              <a:solidFill>
                <a:schemeClr val="accent2"/>
              </a:solidFill>
              <a:latin typeface="+mn-ea"/>
              <a:ea typeface="+mn-ea"/>
            </a:endParaRPr>
          </a:p>
        </p:txBody>
      </p:sp>
      <p:sp>
        <p:nvSpPr>
          <p:cNvPr id="13" name="テキスト ボックス 12">
            <a:extLst>
              <a:ext uri="{FF2B5EF4-FFF2-40B4-BE49-F238E27FC236}">
                <a16:creationId xmlns:a16="http://schemas.microsoft.com/office/drawing/2014/main" id="{93C192FA-A149-7346-E5D4-93FDB5AAB692}"/>
              </a:ext>
            </a:extLst>
          </p:cNvPr>
          <p:cNvSpPr txBox="1"/>
          <p:nvPr/>
        </p:nvSpPr>
        <p:spPr>
          <a:xfrm>
            <a:off x="4197201" y="6327773"/>
            <a:ext cx="1489189" cy="338554"/>
          </a:xfrm>
          <a:prstGeom prst="rect">
            <a:avLst/>
          </a:prstGeom>
          <a:noFill/>
        </p:spPr>
        <p:txBody>
          <a:bodyPr wrap="none" lIns="0" tIns="0" rIns="0" bIns="0" rtlCol="0">
            <a:spAutoFit/>
          </a:bodyPr>
          <a:lstStyle/>
          <a:p>
            <a:pPr algn="ctr"/>
            <a:r>
              <a:rPr lang="ja-JP" altLang="en-US" sz="1200" b="1" dirty="0">
                <a:solidFill>
                  <a:schemeClr val="accent2"/>
                </a:solidFill>
                <a:latin typeface="+mn-ea"/>
                <a:ea typeface="+mn-ea"/>
              </a:rPr>
              <a:t>ボトムアップアプローチ</a:t>
            </a:r>
            <a:endParaRPr lang="en-US" altLang="ja-JP" sz="1200" b="1" dirty="0">
              <a:solidFill>
                <a:schemeClr val="accent2"/>
              </a:solidFill>
              <a:latin typeface="+mn-ea"/>
              <a:ea typeface="+mn-ea"/>
            </a:endParaRPr>
          </a:p>
          <a:p>
            <a:pPr algn="ctr"/>
            <a:r>
              <a:rPr lang="en-US" altLang="ja-JP" sz="1000" b="1" dirty="0">
                <a:solidFill>
                  <a:schemeClr val="accent2"/>
                </a:solidFill>
                <a:latin typeface="+mn-ea"/>
                <a:ea typeface="+mn-ea"/>
              </a:rPr>
              <a:t>(</a:t>
            </a:r>
            <a:r>
              <a:rPr lang="ja-JP" altLang="en-US" sz="1000" b="1" dirty="0">
                <a:solidFill>
                  <a:schemeClr val="accent2"/>
                </a:solidFill>
                <a:latin typeface="+mn-ea"/>
                <a:ea typeface="+mn-ea"/>
              </a:rPr>
              <a:t>運用を進めてから規制強化</a:t>
            </a:r>
            <a:r>
              <a:rPr lang="en-US" altLang="ja-JP" sz="1000" b="1" dirty="0">
                <a:solidFill>
                  <a:schemeClr val="accent2"/>
                </a:solidFill>
                <a:latin typeface="+mn-ea"/>
                <a:ea typeface="+mn-ea"/>
              </a:rPr>
              <a:t>)</a:t>
            </a:r>
            <a:endParaRPr kumimoji="1" lang="ja-JP" altLang="en-US" sz="1000" b="1" dirty="0">
              <a:solidFill>
                <a:schemeClr val="accent2"/>
              </a:solidFill>
              <a:latin typeface="+mn-ea"/>
              <a:ea typeface="+mn-ea"/>
            </a:endParaRPr>
          </a:p>
        </p:txBody>
      </p:sp>
      <p:sp>
        <p:nvSpPr>
          <p:cNvPr id="14" name="テキスト ボックス 13">
            <a:extLst>
              <a:ext uri="{FF2B5EF4-FFF2-40B4-BE49-F238E27FC236}">
                <a16:creationId xmlns:a16="http://schemas.microsoft.com/office/drawing/2014/main" id="{97F74AF0-6B7B-A976-1241-AF13B1BA241E}"/>
              </a:ext>
            </a:extLst>
          </p:cNvPr>
          <p:cNvSpPr txBox="1"/>
          <p:nvPr/>
        </p:nvSpPr>
        <p:spPr>
          <a:xfrm>
            <a:off x="7504052" y="5235141"/>
            <a:ext cx="2271455" cy="338554"/>
          </a:xfrm>
          <a:prstGeom prst="rect">
            <a:avLst/>
          </a:prstGeom>
          <a:noFill/>
          <a:ln>
            <a:noFill/>
          </a:ln>
        </p:spPr>
        <p:txBody>
          <a:bodyPr wrap="none" lIns="0" tIns="0" rIns="0" bIns="0" rtlCol="0">
            <a:spAutoFit/>
          </a:bodyPr>
          <a:lstStyle/>
          <a:p>
            <a:pPr algn="ctr"/>
            <a:r>
              <a:rPr lang="ja-JP" altLang="en-US" sz="1200" b="1" dirty="0">
                <a:solidFill>
                  <a:schemeClr val="accent1"/>
                </a:solidFill>
                <a:latin typeface="+mn-ea"/>
                <a:ea typeface="+mn-ea"/>
              </a:rPr>
              <a:t>小</a:t>
            </a:r>
            <a:endParaRPr kumimoji="1" lang="en-US" altLang="ja-JP" sz="1200" b="1" dirty="0">
              <a:solidFill>
                <a:schemeClr val="accent1"/>
              </a:solidFill>
              <a:latin typeface="+mn-ea"/>
              <a:ea typeface="+mn-ea"/>
            </a:endParaRPr>
          </a:p>
          <a:p>
            <a:pPr algn="ctr"/>
            <a:r>
              <a:rPr lang="en-US" altLang="ja-JP" sz="1000" b="1" dirty="0">
                <a:solidFill>
                  <a:schemeClr val="accent1"/>
                </a:solidFill>
                <a:latin typeface="+mn-ea"/>
                <a:ea typeface="+mn-ea"/>
              </a:rPr>
              <a:t>(</a:t>
            </a:r>
            <a:r>
              <a:rPr lang="ja-JP" altLang="en-US" sz="1000" b="1" dirty="0">
                <a:solidFill>
                  <a:schemeClr val="accent1"/>
                </a:solidFill>
                <a:latin typeface="+mn-ea"/>
                <a:ea typeface="+mn-ea"/>
              </a:rPr>
              <a:t>国主体で策定、民間はアドバイス等で関与</a:t>
            </a:r>
            <a:r>
              <a:rPr lang="en-US" altLang="ja-JP" sz="1000" b="1" dirty="0">
                <a:solidFill>
                  <a:schemeClr val="accent1"/>
                </a:solidFill>
                <a:latin typeface="+mn-ea"/>
                <a:ea typeface="+mn-ea"/>
              </a:rPr>
              <a:t>)</a:t>
            </a:r>
            <a:endParaRPr kumimoji="1" lang="ja-JP" altLang="en-US" sz="1000" b="1" dirty="0">
              <a:solidFill>
                <a:schemeClr val="accent1"/>
              </a:solidFill>
              <a:latin typeface="+mn-ea"/>
              <a:ea typeface="+mn-ea"/>
            </a:endParaRPr>
          </a:p>
        </p:txBody>
      </p:sp>
      <p:sp>
        <p:nvSpPr>
          <p:cNvPr id="15" name="テキスト ボックス 14">
            <a:extLst>
              <a:ext uri="{FF2B5EF4-FFF2-40B4-BE49-F238E27FC236}">
                <a16:creationId xmlns:a16="http://schemas.microsoft.com/office/drawing/2014/main" id="{FBDBB582-534A-21FE-E45A-B334B2543D92}"/>
              </a:ext>
            </a:extLst>
          </p:cNvPr>
          <p:cNvSpPr txBox="1"/>
          <p:nvPr/>
        </p:nvSpPr>
        <p:spPr>
          <a:xfrm>
            <a:off x="670656" y="5179821"/>
            <a:ext cx="1343316" cy="338554"/>
          </a:xfrm>
          <a:prstGeom prst="rect">
            <a:avLst/>
          </a:prstGeom>
          <a:noFill/>
          <a:ln>
            <a:noFill/>
          </a:ln>
        </p:spPr>
        <p:txBody>
          <a:bodyPr wrap="none" lIns="0" tIns="0" rIns="0" bIns="0" rtlCol="0">
            <a:spAutoFit/>
          </a:bodyPr>
          <a:lstStyle/>
          <a:p>
            <a:pPr algn="ctr"/>
            <a:r>
              <a:rPr lang="ja-JP" altLang="en-US" sz="1200" b="1" dirty="0">
                <a:solidFill>
                  <a:schemeClr val="accent1"/>
                </a:solidFill>
                <a:latin typeface="+mn-ea"/>
                <a:ea typeface="+mn-ea"/>
              </a:rPr>
              <a:t>大</a:t>
            </a:r>
            <a:endParaRPr kumimoji="1" lang="en-US" altLang="ja-JP" sz="1200" b="1" dirty="0">
              <a:solidFill>
                <a:schemeClr val="accent1"/>
              </a:solidFill>
              <a:latin typeface="+mn-ea"/>
              <a:ea typeface="+mn-ea"/>
            </a:endParaRPr>
          </a:p>
          <a:p>
            <a:pPr algn="ctr"/>
            <a:r>
              <a:rPr lang="en-US" altLang="ja-JP" sz="1000" b="1" dirty="0">
                <a:solidFill>
                  <a:schemeClr val="accent1"/>
                </a:solidFill>
                <a:latin typeface="+mn-ea"/>
                <a:ea typeface="+mn-ea"/>
              </a:rPr>
              <a:t>(</a:t>
            </a:r>
            <a:r>
              <a:rPr lang="ja-JP" altLang="en-US" sz="1000" b="1" dirty="0">
                <a:solidFill>
                  <a:schemeClr val="accent1"/>
                </a:solidFill>
                <a:latin typeface="+mn-ea"/>
                <a:ea typeface="+mn-ea"/>
              </a:rPr>
              <a:t>民間が策定に直接関与</a:t>
            </a:r>
            <a:r>
              <a:rPr lang="en-US" altLang="ja-JP" sz="1000" b="1" dirty="0">
                <a:solidFill>
                  <a:schemeClr val="accent1"/>
                </a:solidFill>
                <a:latin typeface="+mn-ea"/>
                <a:ea typeface="+mn-ea"/>
              </a:rPr>
              <a:t>)</a:t>
            </a:r>
            <a:endParaRPr kumimoji="1" lang="en-US" altLang="ja-JP" sz="1000" b="1" dirty="0">
              <a:solidFill>
                <a:schemeClr val="accent1"/>
              </a:solidFill>
              <a:latin typeface="+mn-ea"/>
              <a:ea typeface="+mn-ea"/>
            </a:endParaRPr>
          </a:p>
        </p:txBody>
      </p:sp>
      <p:pic>
        <p:nvPicPr>
          <p:cNvPr id="16" name="Picture 2">
            <a:extLst>
              <a:ext uri="{FF2B5EF4-FFF2-40B4-BE49-F238E27FC236}">
                <a16:creationId xmlns:a16="http://schemas.microsoft.com/office/drawing/2014/main" id="{18DB61F7-A331-F371-C0F4-11A9ABC26DA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5" r="555"/>
          <a:stretch/>
        </p:blipFill>
        <p:spPr bwMode="gray">
          <a:xfrm>
            <a:off x="5425238" y="5423317"/>
            <a:ext cx="607950" cy="408004"/>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3">
            <a:extLst>
              <a:ext uri="{FF2B5EF4-FFF2-40B4-BE49-F238E27FC236}">
                <a16:creationId xmlns:a16="http://schemas.microsoft.com/office/drawing/2014/main" id="{6D336E96-48C5-2526-BDF9-BAF8AAD76C0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86" r="786"/>
          <a:stretch/>
        </p:blipFill>
        <p:spPr bwMode="gray">
          <a:xfrm>
            <a:off x="5425238" y="4896400"/>
            <a:ext cx="607950" cy="408003"/>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a:extLst>
              <a:ext uri="{FF2B5EF4-FFF2-40B4-BE49-F238E27FC236}">
                <a16:creationId xmlns:a16="http://schemas.microsoft.com/office/drawing/2014/main" id="{7E2427C7-1E20-6A11-F1F2-95BB5AE8D89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30" r="330"/>
          <a:stretch/>
        </p:blipFill>
        <p:spPr bwMode="gray">
          <a:xfrm>
            <a:off x="2952006" y="5412499"/>
            <a:ext cx="607950" cy="407328"/>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6">
            <a:extLst>
              <a:ext uri="{FF2B5EF4-FFF2-40B4-BE49-F238E27FC236}">
                <a16:creationId xmlns:a16="http://schemas.microsoft.com/office/drawing/2014/main" id="{D9DDF7CB-280E-B3F6-3B77-09B5D85EE23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786" r="786"/>
          <a:stretch/>
        </p:blipFill>
        <p:spPr bwMode="gray">
          <a:xfrm>
            <a:off x="3874788" y="5412499"/>
            <a:ext cx="607950" cy="407328"/>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9">
            <a:extLst>
              <a:ext uri="{FF2B5EF4-FFF2-40B4-BE49-F238E27FC236}">
                <a16:creationId xmlns:a16="http://schemas.microsoft.com/office/drawing/2014/main" id="{8794B800-A7C0-EEB8-CA32-474A5BA2402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 r="206"/>
          <a:stretch/>
        </p:blipFill>
        <p:spPr bwMode="gray">
          <a:xfrm>
            <a:off x="6358200" y="5423255"/>
            <a:ext cx="607950" cy="407328"/>
          </a:xfrm>
          <a:prstGeom prst="rect">
            <a:avLst/>
          </a:prstGeom>
          <a:noFill/>
          <a:ln w="63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 descr="Flag Of Eu PNG, SVG Clip art for Web - Download Clip Art, PNG Icon Arts">
            <a:extLst>
              <a:ext uri="{FF2B5EF4-FFF2-40B4-BE49-F238E27FC236}">
                <a16:creationId xmlns:a16="http://schemas.microsoft.com/office/drawing/2014/main" id="{1F7552DB-3994-3677-D1EB-AD454F771B8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358200" y="4788182"/>
            <a:ext cx="607950" cy="607950"/>
          </a:xfrm>
          <a:prstGeom prst="rect">
            <a:avLst/>
          </a:prstGeom>
          <a:noFill/>
          <a:extLst>
            <a:ext uri="{909E8E84-426E-40DD-AFC4-6F175D3DCCD1}">
              <a14:hiddenFill xmlns:a14="http://schemas.microsoft.com/office/drawing/2010/main">
                <a:solidFill>
                  <a:srgbClr val="FFFFFF"/>
                </a:solidFill>
              </a14:hiddenFill>
            </a:ext>
          </a:extLst>
        </p:spPr>
      </p:pic>
      <p:sp>
        <p:nvSpPr>
          <p:cNvPr id="28" name="正方形/長方形 27">
            <a:extLst>
              <a:ext uri="{FF2B5EF4-FFF2-40B4-BE49-F238E27FC236}">
                <a16:creationId xmlns:a16="http://schemas.microsoft.com/office/drawing/2014/main" id="{FC4114AF-3903-ED5A-255B-76482B69B39C}"/>
              </a:ext>
            </a:extLst>
          </p:cNvPr>
          <p:cNvSpPr/>
          <p:nvPr/>
        </p:nvSpPr>
        <p:spPr>
          <a:xfrm>
            <a:off x="278417" y="4729207"/>
            <a:ext cx="3443901" cy="283588"/>
          </a:xfrm>
          <a:prstGeom prst="rect">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t>トラストフレームワーク策定主体</a:t>
            </a:r>
            <a:r>
              <a:rPr kumimoji="1" lang="en-US" altLang="ja-JP" sz="1200" dirty="0"/>
              <a:t>(</a:t>
            </a:r>
            <a:r>
              <a:rPr kumimoji="1" lang="ja-JP" altLang="en-US" sz="1200" dirty="0"/>
              <a:t>民間組織の関与度</a:t>
            </a:r>
            <a:r>
              <a:rPr kumimoji="1" lang="en-US" altLang="ja-JP" sz="1200" dirty="0"/>
              <a:t>)</a:t>
            </a:r>
            <a:endParaRPr kumimoji="1" lang="ja-JP" altLang="en-US" sz="1200" dirty="0"/>
          </a:p>
        </p:txBody>
      </p:sp>
      <p:sp>
        <p:nvSpPr>
          <p:cNvPr id="29" name="正方形/長方形 28">
            <a:extLst>
              <a:ext uri="{FF2B5EF4-FFF2-40B4-BE49-F238E27FC236}">
                <a16:creationId xmlns:a16="http://schemas.microsoft.com/office/drawing/2014/main" id="{33E95885-F254-31A2-B893-9837D38FE66E}"/>
              </a:ext>
            </a:extLst>
          </p:cNvPr>
          <p:cNvSpPr/>
          <p:nvPr/>
        </p:nvSpPr>
        <p:spPr>
          <a:xfrm>
            <a:off x="3249301" y="3750739"/>
            <a:ext cx="3443901" cy="284896"/>
          </a:xfrm>
          <a:prstGeom prst="rect">
            <a:avLst/>
          </a:prstGeom>
          <a:ln w="1905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rtlCol="0" anchor="ctr"/>
          <a:lstStyle/>
          <a:p>
            <a:pPr algn="ctr"/>
            <a:r>
              <a:rPr kumimoji="1" lang="ja-JP" altLang="en-US" sz="1200" dirty="0"/>
              <a:t>トラストフレームワーク策定・運用アプローチ</a:t>
            </a:r>
          </a:p>
        </p:txBody>
      </p:sp>
      <p:sp>
        <p:nvSpPr>
          <p:cNvPr id="31" name="テキスト ボックス 30">
            <a:extLst>
              <a:ext uri="{FF2B5EF4-FFF2-40B4-BE49-F238E27FC236}">
                <a16:creationId xmlns:a16="http://schemas.microsoft.com/office/drawing/2014/main" id="{E3652984-CCBB-B93F-9E46-BEA4E71BD8A1}"/>
              </a:ext>
            </a:extLst>
          </p:cNvPr>
          <p:cNvSpPr txBox="1"/>
          <p:nvPr/>
        </p:nvSpPr>
        <p:spPr>
          <a:xfrm>
            <a:off x="238209" y="908050"/>
            <a:ext cx="9480555" cy="2823850"/>
          </a:xfrm>
          <a:prstGeom prst="rect">
            <a:avLst/>
          </a:prstGeom>
          <a:noFill/>
        </p:spPr>
        <p:txBody>
          <a:bodyPr wrap="square">
            <a:spAutoFit/>
          </a:bodyPr>
          <a:lstStyle/>
          <a:p>
            <a:pPr>
              <a:spcBef>
                <a:spcPts val="300"/>
              </a:spcBef>
            </a:pPr>
            <a:r>
              <a:rPr lang="en-US" altLang="ja-JP" sz="1400" dirty="0">
                <a:latin typeface="+mn-ea"/>
                <a:ea typeface="+mn-ea"/>
              </a:rPr>
              <a:t>【</a:t>
            </a:r>
            <a:r>
              <a:rPr lang="ja-JP" altLang="en-US" sz="1400" dirty="0">
                <a:latin typeface="+mn-ea"/>
                <a:ea typeface="+mn-ea"/>
              </a:rPr>
              <a:t>各国フレームワークの位置にかかる整理・考察</a:t>
            </a:r>
            <a:r>
              <a:rPr lang="en-US" altLang="ja-JP" sz="1400" dirty="0">
                <a:latin typeface="+mn-ea"/>
                <a:ea typeface="+mn-ea"/>
              </a:rPr>
              <a:t>】</a:t>
            </a:r>
          </a:p>
          <a:p>
            <a:pPr marL="285750" indent="-285750">
              <a:spcBef>
                <a:spcPts val="300"/>
              </a:spcBef>
              <a:buFont typeface="Wingdings" panose="05000000000000000000" pitchFamily="2" charset="2"/>
              <a:buChar char="n"/>
            </a:pPr>
            <a:r>
              <a:rPr lang="en-US" altLang="ja-JP" sz="1400" dirty="0">
                <a:latin typeface="+mn-ea"/>
                <a:ea typeface="+mn-ea"/>
              </a:rPr>
              <a:t>6</a:t>
            </a:r>
            <a:r>
              <a:rPr lang="ja-JP" altLang="en-US" sz="1400" dirty="0">
                <a:latin typeface="+mn-ea"/>
                <a:ea typeface="+mn-ea"/>
              </a:rPr>
              <a:t>か国の調査を通じて、大きく</a:t>
            </a:r>
            <a:r>
              <a:rPr lang="en-US" altLang="ja-JP" sz="1400" dirty="0">
                <a:latin typeface="+mn-ea"/>
                <a:ea typeface="+mn-ea"/>
              </a:rPr>
              <a:t>3</a:t>
            </a:r>
            <a:r>
              <a:rPr lang="ja-JP" altLang="en-US" sz="1400" dirty="0">
                <a:latin typeface="+mn-ea"/>
                <a:ea typeface="+mn-ea"/>
              </a:rPr>
              <a:t>つのトラストフレームワーク等の作成・社会実装アプローチに類型化できることを確認した</a:t>
            </a:r>
            <a:endParaRPr lang="en-US" altLang="ja-JP" sz="1400" dirty="0">
              <a:latin typeface="+mn-ea"/>
              <a:ea typeface="+mn-ea"/>
            </a:endParaRPr>
          </a:p>
          <a:p>
            <a:pPr marL="714375" lvl="1" indent="-257175">
              <a:spcBef>
                <a:spcPts val="300"/>
              </a:spcBef>
              <a:buFont typeface="+mj-ea"/>
              <a:buAutoNum type="circleNumDbPlain"/>
            </a:pPr>
            <a:r>
              <a:rPr lang="ja-JP" altLang="en-US" sz="1200" dirty="0">
                <a:latin typeface="+mn-ea"/>
                <a:ea typeface="+mn-ea"/>
              </a:rPr>
              <a:t>中央政府が主体で、中央政府が管轄する法規制の中においてトラストフレームワーク等を作成するアプローチ</a:t>
            </a:r>
            <a:r>
              <a:rPr lang="en-US" altLang="ja-JP" sz="1200" dirty="0">
                <a:latin typeface="+mn-ea"/>
                <a:ea typeface="+mn-ea"/>
              </a:rPr>
              <a:t>(EU</a:t>
            </a:r>
            <a:r>
              <a:rPr lang="ja-JP" altLang="en-US" sz="1200" dirty="0">
                <a:latin typeface="+mn-ea"/>
                <a:ea typeface="+mn-ea"/>
              </a:rPr>
              <a:t>・ドイツ</a:t>
            </a:r>
            <a:r>
              <a:rPr lang="en-US" altLang="ja-JP" sz="1200" dirty="0">
                <a:latin typeface="+mn-ea"/>
                <a:ea typeface="+mn-ea"/>
              </a:rPr>
              <a:t>)</a:t>
            </a:r>
          </a:p>
          <a:p>
            <a:pPr marL="1171575" lvl="2" indent="-257175">
              <a:spcBef>
                <a:spcPts val="300"/>
              </a:spcBef>
              <a:buFont typeface="Yu Gothic UI" panose="020B0500000000000000" pitchFamily="50" charset="-128"/>
              <a:buChar char="➡"/>
            </a:pPr>
            <a:r>
              <a:rPr lang="en-US" altLang="ja-JP" sz="1200" dirty="0">
                <a:latin typeface="+mn-ea"/>
                <a:ea typeface="+mn-ea"/>
              </a:rPr>
              <a:t>EU/EU</a:t>
            </a:r>
            <a:r>
              <a:rPr lang="ja-JP" altLang="en-US" sz="1200" dirty="0">
                <a:latin typeface="+mn-ea"/>
                <a:ea typeface="+mn-ea"/>
              </a:rPr>
              <a:t>加盟国においては他加盟国との相互運用性確保が重要視されていることから政府中心に制度を定めて、そのもとに詳細運用を策定していくプロセスが採用されていると想定される</a:t>
            </a:r>
            <a:endParaRPr lang="en-US" altLang="ja-JP" sz="1200" dirty="0">
              <a:latin typeface="+mn-ea"/>
              <a:ea typeface="+mn-ea"/>
            </a:endParaRPr>
          </a:p>
          <a:p>
            <a:pPr marL="714375" lvl="1" indent="-257175">
              <a:spcBef>
                <a:spcPts val="300"/>
              </a:spcBef>
              <a:buFont typeface="+mj-ea"/>
              <a:buAutoNum type="circleNumDbPlain"/>
            </a:pPr>
            <a:r>
              <a:rPr lang="ja-JP" altLang="en-US" sz="1200" dirty="0">
                <a:latin typeface="+mn-ea"/>
                <a:ea typeface="+mn-ea"/>
              </a:rPr>
              <a:t>中央政府が主体で新たな枠組みの中でトラストフレームワーク等を作成し、成熟したのちに執行能力を強化するアプローチ</a:t>
            </a:r>
            <a:r>
              <a:rPr lang="en-US" altLang="ja-JP" sz="1200" dirty="0">
                <a:latin typeface="+mn-ea"/>
                <a:ea typeface="+mn-ea"/>
              </a:rPr>
              <a:t>(</a:t>
            </a:r>
            <a:r>
              <a:rPr lang="ja-JP" altLang="en-US" sz="1200" dirty="0">
                <a:latin typeface="+mn-ea"/>
                <a:ea typeface="+mn-ea"/>
              </a:rPr>
              <a:t>イギリス・オーストラリア</a:t>
            </a:r>
            <a:r>
              <a:rPr lang="en-US" altLang="ja-JP" sz="1200" dirty="0">
                <a:latin typeface="+mn-ea"/>
                <a:ea typeface="+mn-ea"/>
              </a:rPr>
              <a:t>)</a:t>
            </a:r>
          </a:p>
          <a:p>
            <a:pPr marL="1171575" lvl="2" indent="-257175">
              <a:spcBef>
                <a:spcPts val="300"/>
              </a:spcBef>
              <a:buFont typeface="Yu Gothic UI" panose="020B0500000000000000" pitchFamily="50" charset="-128"/>
              <a:buChar char="➡"/>
            </a:pPr>
            <a:r>
              <a:rPr lang="ja-JP" altLang="en-US" sz="1200" dirty="0">
                <a:latin typeface="+mn-ea"/>
                <a:ea typeface="+mn-ea"/>
              </a:rPr>
              <a:t>利用するエンドユーザへの受け入れられることを重要視されていることから、まずは実証的にサービス提供やフレームワーク策定を進め、</a:t>
            </a:r>
            <a:br>
              <a:rPr lang="en-US" altLang="ja-JP" sz="1200" dirty="0">
                <a:latin typeface="+mn-ea"/>
                <a:ea typeface="+mn-ea"/>
              </a:rPr>
            </a:br>
            <a:r>
              <a:rPr lang="ja-JP" altLang="en-US" sz="1200" dirty="0">
                <a:latin typeface="+mn-ea"/>
                <a:ea typeface="+mn-ea"/>
              </a:rPr>
              <a:t>受け入れられたタイミングでトラストフレームワークの運用を制度化するプロセスが採用されていることが想定される</a:t>
            </a:r>
            <a:endParaRPr lang="en-US" altLang="ja-JP" sz="1200" dirty="0">
              <a:latin typeface="+mn-ea"/>
              <a:ea typeface="+mn-ea"/>
            </a:endParaRPr>
          </a:p>
          <a:p>
            <a:pPr marL="714375" lvl="1" indent="-257175">
              <a:spcBef>
                <a:spcPts val="300"/>
              </a:spcBef>
              <a:buFont typeface="+mj-ea"/>
              <a:buAutoNum type="circleNumDbPlain"/>
            </a:pPr>
            <a:r>
              <a:rPr lang="ja-JP" altLang="en-US" sz="1200" dirty="0">
                <a:latin typeface="+mn-ea"/>
                <a:ea typeface="+mn-ea"/>
              </a:rPr>
              <a:t>民間組織や州政府組織</a:t>
            </a:r>
            <a:r>
              <a:rPr lang="en-US" altLang="ja-JP" sz="1200" dirty="0">
                <a:latin typeface="+mn-ea"/>
                <a:ea typeface="+mn-ea"/>
              </a:rPr>
              <a:t>(</a:t>
            </a:r>
            <a:r>
              <a:rPr lang="ja-JP" altLang="en-US" sz="1200" dirty="0">
                <a:latin typeface="+mn-ea"/>
                <a:ea typeface="+mn-ea"/>
              </a:rPr>
              <a:t>官民連合含む</a:t>
            </a:r>
            <a:r>
              <a:rPr lang="en-US" altLang="ja-JP" sz="1200" dirty="0">
                <a:latin typeface="+mn-ea"/>
                <a:ea typeface="+mn-ea"/>
              </a:rPr>
              <a:t>)</a:t>
            </a:r>
            <a:r>
              <a:rPr lang="ja-JP" altLang="en-US" sz="1200" dirty="0">
                <a:latin typeface="+mn-ea"/>
                <a:ea typeface="+mn-ea"/>
              </a:rPr>
              <a:t>が主体で、連邦政府等の法規制の枠組みとは別でトラストフレームワークを作成し、社会実装を目指すアプローチ</a:t>
            </a:r>
            <a:r>
              <a:rPr lang="en-US" altLang="ja-JP" sz="1200" dirty="0">
                <a:latin typeface="+mn-ea"/>
                <a:ea typeface="+mn-ea"/>
              </a:rPr>
              <a:t>(</a:t>
            </a:r>
            <a:r>
              <a:rPr lang="ja-JP" altLang="en-US" sz="1200" dirty="0">
                <a:latin typeface="+mn-ea"/>
                <a:ea typeface="+mn-ea"/>
              </a:rPr>
              <a:t>アメリカ・カナダ</a:t>
            </a:r>
            <a:r>
              <a:rPr lang="en-US" altLang="ja-JP" sz="1200" dirty="0">
                <a:latin typeface="+mn-ea"/>
                <a:ea typeface="+mn-ea"/>
              </a:rPr>
              <a:t>)</a:t>
            </a:r>
          </a:p>
          <a:p>
            <a:pPr marL="1171575" lvl="2" indent="-257175">
              <a:spcBef>
                <a:spcPts val="300"/>
              </a:spcBef>
              <a:buFont typeface="Yu Gothic UI" panose="020B0500000000000000" pitchFamily="50" charset="-128"/>
              <a:buChar char="➡"/>
            </a:pPr>
            <a:r>
              <a:rPr lang="ja-JP" altLang="en-US" sz="1200" dirty="0">
                <a:latin typeface="+mn-ea"/>
                <a:ea typeface="+mn-ea"/>
              </a:rPr>
              <a:t>アメリカ・カナダにおいては州の権限が強く、連邦政府で共通的に受け入れられる</a:t>
            </a:r>
            <a:r>
              <a:rPr lang="en-US" altLang="ja-JP" sz="1200" dirty="0">
                <a:latin typeface="+mn-ea"/>
                <a:ea typeface="+mn-ea"/>
              </a:rPr>
              <a:t>ID</a:t>
            </a:r>
            <a:r>
              <a:rPr lang="ja-JP" altLang="en-US" sz="1200" dirty="0">
                <a:latin typeface="+mn-ea"/>
                <a:ea typeface="+mn-ea"/>
              </a:rPr>
              <a:t>の整備について発展途上的な側面があり、</a:t>
            </a:r>
            <a:br>
              <a:rPr lang="en-US" altLang="ja-JP" sz="1200" dirty="0">
                <a:latin typeface="+mn-ea"/>
                <a:ea typeface="+mn-ea"/>
              </a:rPr>
            </a:br>
            <a:r>
              <a:rPr lang="ja-JP" altLang="en-US" sz="1200" dirty="0">
                <a:latin typeface="+mn-ea"/>
                <a:ea typeface="+mn-ea"/>
              </a:rPr>
              <a:t>実施主体が課題を有する事業者になったのではないかと推測される</a:t>
            </a:r>
            <a:br>
              <a:rPr lang="en-US" altLang="ja-JP" sz="1200" dirty="0">
                <a:latin typeface="+mn-ea"/>
                <a:ea typeface="+mn-ea"/>
              </a:rPr>
            </a:br>
            <a:r>
              <a:rPr lang="en-US" altLang="ja-JP" sz="1200" dirty="0">
                <a:latin typeface="+mn-ea"/>
                <a:ea typeface="+mn-ea"/>
              </a:rPr>
              <a:t>(</a:t>
            </a:r>
            <a:r>
              <a:rPr lang="ja-JP" altLang="en-US" sz="1200" dirty="0">
                <a:latin typeface="+mn-ea"/>
                <a:ea typeface="+mn-ea"/>
              </a:rPr>
              <a:t>米国の場合は、運転免許証の州外連携、カナダの場合は金融機関・通信事業者における身元確認や州政府での行政手続き等</a:t>
            </a:r>
            <a:r>
              <a:rPr lang="en-US" altLang="ja-JP" sz="1200" dirty="0">
                <a:latin typeface="+mn-ea"/>
                <a:ea typeface="+mn-ea"/>
              </a:rPr>
              <a:t>)</a:t>
            </a:r>
            <a:endParaRPr lang="en-US" altLang="ja-JP" sz="1400" dirty="0">
              <a:latin typeface="+mn-ea"/>
              <a:ea typeface="+mn-ea"/>
            </a:endParaRPr>
          </a:p>
        </p:txBody>
      </p:sp>
    </p:spTree>
    <p:extLst>
      <p:ext uri="{BB962C8B-B14F-4D97-AF65-F5344CB8AC3E}">
        <p14:creationId xmlns:p14="http://schemas.microsoft.com/office/powerpoint/2010/main" val="2972518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E8EACAF-5546-683C-53E0-A3DB34C69345}"/>
              </a:ext>
            </a:extLst>
          </p:cNvPr>
          <p:cNvGraphicFramePr>
            <a:graphicFrameLocks noChangeAspect="1"/>
          </p:cNvGraphicFramePr>
          <p:nvPr>
            <p:custDataLst>
              <p:tags r:id="rId1"/>
            </p:custDataLst>
            <p:extLst>
              <p:ext uri="{D42A27DB-BD31-4B8C-83A1-F6EECF244321}">
                <p14:modId xmlns:p14="http://schemas.microsoft.com/office/powerpoint/2010/main" val="18208595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4" imgH="623" progId="TCLayout.ActiveDocument.1">
                  <p:embed/>
                </p:oleObj>
              </mc:Choice>
              <mc:Fallback>
                <p:oleObj name="think-cell スライド" r:id="rId3" imgW="624" imgH="623" progId="TCLayout.ActiveDocument.1">
                  <p:embed/>
                  <p:pic>
                    <p:nvPicPr>
                      <p:cNvPr id="7" name="think-cell data - do not delete" hidden="1">
                        <a:extLst>
                          <a:ext uri="{FF2B5EF4-FFF2-40B4-BE49-F238E27FC236}">
                            <a16:creationId xmlns:a16="http://schemas.microsoft.com/office/drawing/2014/main" id="{CE8EACAF-5546-683C-53E0-A3DB34C69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C37B767C-A011-93BF-F93E-DFB749FA440F}"/>
              </a:ext>
            </a:extLst>
          </p:cNvPr>
          <p:cNvSpPr>
            <a:spLocks noGrp="1"/>
          </p:cNvSpPr>
          <p:nvPr>
            <p:ph type="title"/>
          </p:nvPr>
        </p:nvSpPr>
        <p:spPr/>
        <p:txBody>
          <a:bodyPr vert="horz"/>
          <a:lstStyle/>
          <a:p>
            <a:r>
              <a:rPr kumimoji="1" lang="en-US" altLang="ja-JP" dirty="0"/>
              <a:t>4. </a:t>
            </a:r>
            <a:r>
              <a:rPr kumimoji="1" lang="ja-JP" altLang="en-US" dirty="0"/>
              <a:t>調査結果取りまとめ</a:t>
            </a:r>
            <a:r>
              <a:rPr kumimoji="1" lang="en-US" altLang="ja-JP" dirty="0"/>
              <a:t>(2/3)</a:t>
            </a:r>
            <a:endParaRPr kumimoji="1" lang="ja-JP" altLang="en-US" dirty="0"/>
          </a:p>
        </p:txBody>
      </p:sp>
      <p:sp>
        <p:nvSpPr>
          <p:cNvPr id="3" name="テキスト プレースホルダー 2">
            <a:extLst>
              <a:ext uri="{FF2B5EF4-FFF2-40B4-BE49-F238E27FC236}">
                <a16:creationId xmlns:a16="http://schemas.microsoft.com/office/drawing/2014/main" id="{04A81CF4-8382-4DB7-0FE3-0A34EF42887D}"/>
              </a:ext>
            </a:extLst>
          </p:cNvPr>
          <p:cNvSpPr>
            <a:spLocks noGrp="1"/>
          </p:cNvSpPr>
          <p:nvPr>
            <p:ph type="body" sz="quarter" idx="10"/>
          </p:nvPr>
        </p:nvSpPr>
        <p:spPr>
          <a:xfrm>
            <a:off x="273050" y="188913"/>
            <a:ext cx="7848600" cy="161583"/>
          </a:xfrm>
        </p:spPr>
        <p:txBody>
          <a:bodyPr/>
          <a:lstStyle/>
          <a:p>
            <a:r>
              <a:rPr kumimoji="1" lang="en-US" altLang="ja-JP" dirty="0"/>
              <a:t>4. </a:t>
            </a:r>
            <a:r>
              <a:rPr lang="ja-JP" altLang="en-US" dirty="0"/>
              <a:t>調査結果取りまとめ</a:t>
            </a:r>
            <a:endParaRPr kumimoji="1" lang="ja-JP" altLang="en-US" dirty="0"/>
          </a:p>
        </p:txBody>
      </p:sp>
      <p:sp>
        <p:nvSpPr>
          <p:cNvPr id="5" name="テキスト ボックス 4">
            <a:extLst>
              <a:ext uri="{FF2B5EF4-FFF2-40B4-BE49-F238E27FC236}">
                <a16:creationId xmlns:a16="http://schemas.microsoft.com/office/drawing/2014/main" id="{31589FD6-F595-EFC8-0809-1338D895F3F2}"/>
              </a:ext>
            </a:extLst>
          </p:cNvPr>
          <p:cNvSpPr txBox="1"/>
          <p:nvPr/>
        </p:nvSpPr>
        <p:spPr>
          <a:xfrm>
            <a:off x="273050" y="908050"/>
            <a:ext cx="9359900" cy="4962897"/>
          </a:xfrm>
          <a:prstGeom prst="rect">
            <a:avLst/>
          </a:prstGeom>
          <a:noFill/>
        </p:spPr>
        <p:txBody>
          <a:bodyPr wrap="square">
            <a:spAutoFit/>
          </a:bodyPr>
          <a:lstStyle/>
          <a:p>
            <a:pPr>
              <a:spcBef>
                <a:spcPts val="300"/>
              </a:spcBef>
            </a:pPr>
            <a:r>
              <a:rPr lang="en-US" altLang="ja-JP" sz="1400" dirty="0">
                <a:latin typeface="+mn-ea"/>
                <a:ea typeface="+mn-ea"/>
              </a:rPr>
              <a:t>【</a:t>
            </a:r>
            <a:r>
              <a:rPr lang="ja-JP" altLang="en-US" sz="1400" dirty="0">
                <a:latin typeface="+mn-ea"/>
                <a:ea typeface="+mn-ea"/>
              </a:rPr>
              <a:t>日本における取組方針</a:t>
            </a:r>
            <a:r>
              <a:rPr lang="en-US" altLang="ja-JP" sz="1400" dirty="0">
                <a:latin typeface="+mn-ea"/>
                <a:ea typeface="+mn-ea"/>
              </a:rPr>
              <a:t>】</a:t>
            </a:r>
          </a:p>
          <a:p>
            <a:pPr marL="285750" indent="-285750">
              <a:spcBef>
                <a:spcPts val="300"/>
              </a:spcBef>
              <a:buFont typeface="Wingdings" panose="05000000000000000000" pitchFamily="2" charset="2"/>
              <a:buChar char="n"/>
            </a:pPr>
            <a:r>
              <a:rPr lang="ja-JP" altLang="en-US" sz="1400" dirty="0">
                <a:latin typeface="+mn-ea"/>
                <a:ea typeface="+mn-ea"/>
              </a:rPr>
              <a:t>日本においては基本</a:t>
            </a:r>
            <a:r>
              <a:rPr lang="en-US" altLang="ja-JP" sz="1400" dirty="0">
                <a:latin typeface="+mn-ea"/>
                <a:ea typeface="+mn-ea"/>
              </a:rPr>
              <a:t>4</a:t>
            </a:r>
            <a:r>
              <a:rPr lang="ja-JP" altLang="en-US" sz="1400" dirty="0">
                <a:latin typeface="+mn-ea"/>
                <a:ea typeface="+mn-ea"/>
              </a:rPr>
              <a:t>情報の取扱いやマイナンバーカード等を活用した行政手続き等についてガバナンスが担保されている形で普及されており、行政</a:t>
            </a:r>
            <a:r>
              <a:rPr lang="en-US" altLang="ja-JP" sz="1400" dirty="0">
                <a:latin typeface="+mn-ea"/>
                <a:ea typeface="+mn-ea"/>
              </a:rPr>
              <a:t>ID</a:t>
            </a:r>
            <a:r>
              <a:rPr lang="ja-JP" altLang="en-US" sz="1400" dirty="0">
                <a:latin typeface="+mn-ea"/>
                <a:ea typeface="+mn-ea"/>
              </a:rPr>
              <a:t>の普及という観点では調査した国と比較しても先行している</a:t>
            </a:r>
            <a:endParaRPr lang="en-US" altLang="ja-JP" sz="1400" dirty="0">
              <a:latin typeface="+mn-ea"/>
              <a:ea typeface="+mn-ea"/>
            </a:endParaRPr>
          </a:p>
          <a:p>
            <a:pPr marL="285750" indent="-285750">
              <a:spcBef>
                <a:spcPts val="300"/>
              </a:spcBef>
              <a:buFont typeface="Wingdings" panose="05000000000000000000" pitchFamily="2" charset="2"/>
              <a:buChar char="n"/>
            </a:pPr>
            <a:r>
              <a:rPr lang="ja-JP" altLang="en-US" sz="1400" dirty="0">
                <a:latin typeface="+mn-ea"/>
                <a:ea typeface="+mn-ea"/>
              </a:rPr>
              <a:t>ただし、他国と相互運用性・プライバシー連携、多様なユースケースを包含した</a:t>
            </a:r>
            <a:r>
              <a:rPr lang="en-US" altLang="ja-JP" sz="1400" dirty="0">
                <a:latin typeface="+mn-ea"/>
                <a:ea typeface="+mn-ea"/>
              </a:rPr>
              <a:t>(</a:t>
            </a:r>
            <a:r>
              <a:rPr lang="ja-JP" altLang="en-US" sz="1400" dirty="0">
                <a:latin typeface="+mn-ea"/>
                <a:ea typeface="+mn-ea"/>
              </a:rPr>
              <a:t>行政手続きや、特定事業者による身元確認サービス等に限らない</a:t>
            </a:r>
            <a:r>
              <a:rPr lang="en-US" altLang="ja-JP" sz="1400" dirty="0">
                <a:latin typeface="+mn-ea"/>
                <a:ea typeface="+mn-ea"/>
              </a:rPr>
              <a:t>)</a:t>
            </a:r>
            <a:r>
              <a:rPr lang="ja-JP" altLang="en-US" sz="1400" dirty="0">
                <a:latin typeface="+mn-ea"/>
                <a:ea typeface="+mn-ea"/>
              </a:rPr>
              <a:t>包括的なデジタルアイデンティティサービスの在り方・制度整備は、今後検討が必要があり、その際に他国のトラストフレームワークの整備が参考になると考えられる</a:t>
            </a:r>
            <a:endParaRPr lang="en-US" altLang="ja-JP" sz="1400" dirty="0">
              <a:latin typeface="+mn-ea"/>
              <a:ea typeface="+mn-ea"/>
            </a:endParaRPr>
          </a:p>
          <a:p>
            <a:pPr marL="539750" lvl="1" indent="-285750">
              <a:spcBef>
                <a:spcPts val="300"/>
              </a:spcBef>
              <a:buFont typeface="Wingdings" panose="05000000000000000000" pitchFamily="2" charset="2"/>
              <a:buChar char="Ø"/>
            </a:pPr>
            <a:r>
              <a:rPr lang="ja-JP" altLang="en-US" sz="1400" dirty="0">
                <a:latin typeface="+mn-ea"/>
                <a:ea typeface="+mn-ea"/>
              </a:rPr>
              <a:t>国主体で進めるべき領域</a:t>
            </a:r>
            <a:endParaRPr lang="en-US" altLang="ja-JP" sz="1400" dirty="0">
              <a:latin typeface="+mn-ea"/>
              <a:ea typeface="+mn-ea"/>
            </a:endParaRPr>
          </a:p>
          <a:p>
            <a:pPr marL="742950" lvl="1" indent="-285750">
              <a:spcBef>
                <a:spcPts val="300"/>
              </a:spcBef>
              <a:buFont typeface="Yu Gothic UI" panose="020B0500000000000000" pitchFamily="50" charset="-128"/>
              <a:buChar char="➡"/>
            </a:pPr>
            <a:r>
              <a:rPr lang="ja-JP" altLang="en-US" sz="1400" dirty="0">
                <a:latin typeface="+mn-ea"/>
                <a:ea typeface="+mn-ea"/>
              </a:rPr>
              <a:t>各国のプライバシー規制・トラストフレームワークとの相互運用性確保は政府がリードして行っていく必要がある。そのためにはまず、各国との相互運用性を比較できるトラストフレームワークを策定したうえで、そのフレームワークの相互互換性・プライバシー十分性を検討する必要がある。</a:t>
            </a:r>
            <a:endParaRPr lang="en-US" altLang="ja-JP" sz="1400" dirty="0">
              <a:latin typeface="+mn-ea"/>
              <a:ea typeface="+mn-ea"/>
            </a:endParaRPr>
          </a:p>
          <a:p>
            <a:pPr marL="742950" lvl="1" indent="-285750">
              <a:spcBef>
                <a:spcPts val="300"/>
              </a:spcBef>
              <a:buFont typeface="Yu Gothic UI" panose="020B0500000000000000" pitchFamily="50" charset="-128"/>
              <a:buChar char="➡"/>
            </a:pPr>
            <a:r>
              <a:rPr lang="ja-JP" altLang="en-US" sz="1400" dirty="0">
                <a:latin typeface="+mn-ea"/>
                <a:ea typeface="+mn-ea"/>
              </a:rPr>
              <a:t>先行している取り組み事例として、</a:t>
            </a:r>
            <a:r>
              <a:rPr lang="en-US" altLang="ja-JP" sz="1400" dirty="0">
                <a:latin typeface="+mn-ea"/>
                <a:ea typeface="+mn-ea"/>
              </a:rPr>
              <a:t>EU-</a:t>
            </a:r>
            <a:r>
              <a:rPr lang="ja-JP" altLang="en-US" sz="1400" dirty="0">
                <a:latin typeface="+mn-ea"/>
                <a:ea typeface="+mn-ea"/>
              </a:rPr>
              <a:t>米国間では、データプライバシーフレームワーク</a:t>
            </a:r>
            <a:r>
              <a:rPr lang="en-US" altLang="ja-JP" sz="1400" dirty="0">
                <a:latin typeface="+mn-ea"/>
                <a:ea typeface="+mn-ea"/>
              </a:rPr>
              <a:t>(DPF)</a:t>
            </a:r>
            <a:r>
              <a:rPr lang="ja-JP" altLang="en-US" sz="1400" dirty="0">
                <a:latin typeface="+mn-ea"/>
                <a:ea typeface="+mn-ea"/>
              </a:rPr>
              <a:t>の十分性認定*</a:t>
            </a:r>
            <a:r>
              <a:rPr lang="en-US" altLang="ja-JP" sz="1400" baseline="30000" dirty="0">
                <a:latin typeface="+mn-ea"/>
                <a:ea typeface="+mn-ea"/>
              </a:rPr>
              <a:t>1</a:t>
            </a:r>
            <a:r>
              <a:rPr lang="ja-JP" altLang="en-US" sz="1400" dirty="0">
                <a:latin typeface="+mn-ea"/>
                <a:ea typeface="+mn-ea"/>
              </a:rPr>
              <a:t>や、デジタルアイデンティティの保証レベルのマッピング*</a:t>
            </a:r>
            <a:r>
              <a:rPr lang="en-US" altLang="ja-JP" sz="1400" baseline="30000" dirty="0">
                <a:latin typeface="+mn-ea"/>
                <a:ea typeface="+mn-ea"/>
              </a:rPr>
              <a:t>2</a:t>
            </a:r>
            <a:r>
              <a:rPr lang="ja-JP" altLang="en-US" sz="1400" dirty="0">
                <a:latin typeface="+mn-ea"/>
                <a:ea typeface="+mn-ea"/>
              </a:rPr>
              <a:t>等が進められている</a:t>
            </a:r>
            <a:endParaRPr lang="en-US" altLang="ja-JP" sz="1400" dirty="0">
              <a:latin typeface="+mn-ea"/>
              <a:ea typeface="+mn-ea"/>
            </a:endParaRPr>
          </a:p>
          <a:p>
            <a:pPr marL="742950" lvl="1" indent="-285750">
              <a:spcBef>
                <a:spcPts val="300"/>
              </a:spcBef>
              <a:buFont typeface="Yu Gothic UI" panose="020B0500000000000000" pitchFamily="50" charset="-128"/>
              <a:buChar char="➡"/>
            </a:pPr>
            <a:r>
              <a:rPr lang="ja-JP" altLang="en-US" sz="1400" dirty="0">
                <a:latin typeface="+mn-ea"/>
                <a:ea typeface="+mn-ea"/>
              </a:rPr>
              <a:t>取組のアプローチとして、カテゴリ①のように法整備を行ったうえで、社会実装を行っていくか、カテゴリ②のように社会実装やトラストフレームワークのブラッシュアップを行いつつ成熟したのちに法整備を進める方法等が考えられる</a:t>
            </a:r>
            <a:endParaRPr lang="en-US" altLang="ja-JP" sz="1400" dirty="0">
              <a:latin typeface="+mn-ea"/>
              <a:ea typeface="+mn-ea"/>
            </a:endParaRPr>
          </a:p>
          <a:p>
            <a:pPr marL="539750" lvl="1" indent="-285750">
              <a:spcBef>
                <a:spcPts val="300"/>
              </a:spcBef>
              <a:buFont typeface="Wingdings" panose="05000000000000000000" pitchFamily="2" charset="2"/>
              <a:buChar char="Ø"/>
            </a:pPr>
            <a:r>
              <a:rPr lang="ja-JP" altLang="en-US" sz="1400" dirty="0">
                <a:latin typeface="+mn-ea"/>
                <a:ea typeface="+mn-ea"/>
              </a:rPr>
              <a:t>民間等の関与が必要な領域</a:t>
            </a:r>
            <a:endParaRPr lang="en-US" altLang="ja-JP" sz="1400" dirty="0">
              <a:latin typeface="+mn-ea"/>
              <a:ea typeface="+mn-ea"/>
            </a:endParaRPr>
          </a:p>
          <a:p>
            <a:pPr marL="742950" lvl="1" indent="-285750">
              <a:spcBef>
                <a:spcPts val="300"/>
              </a:spcBef>
              <a:buFont typeface="Yu Gothic UI" panose="020B0500000000000000" pitchFamily="50" charset="-128"/>
              <a:buChar char="➡"/>
            </a:pPr>
            <a:r>
              <a:rPr lang="ja-JP" altLang="en-US" sz="1400" dirty="0">
                <a:latin typeface="+mn-ea"/>
                <a:ea typeface="+mn-ea"/>
              </a:rPr>
              <a:t>多様なユースケースに対応したトラストフレームワークを策定する上では、民間事業者・業界団体等多くのステークホルダを何らかの形で巻き込んだ上で、検討をする必要があると考えられる</a:t>
            </a:r>
            <a:r>
              <a:rPr lang="en-US" altLang="ja-JP" sz="1400" dirty="0">
                <a:latin typeface="+mn-ea"/>
                <a:ea typeface="+mn-ea"/>
              </a:rPr>
              <a:t>(Trusted Web</a:t>
            </a:r>
            <a:r>
              <a:rPr lang="ja-JP" altLang="en-US" sz="1400" dirty="0">
                <a:latin typeface="+mn-ea"/>
                <a:ea typeface="+mn-ea"/>
              </a:rPr>
              <a:t>実証では、多くのステークホルダを巻き込んで検討する必要があるユースケースとして、人材領域・ヘルスケア領域・法人にかかるアイデンティティ領域等が提起された</a:t>
            </a:r>
            <a:r>
              <a:rPr lang="en-US" altLang="ja-JP" sz="1400" dirty="0">
                <a:latin typeface="+mn-ea"/>
                <a:ea typeface="+mn-ea"/>
              </a:rPr>
              <a:t>)</a:t>
            </a:r>
          </a:p>
          <a:p>
            <a:pPr marL="742950" lvl="1" indent="-285750">
              <a:spcBef>
                <a:spcPts val="300"/>
              </a:spcBef>
              <a:buFont typeface="Yu Gothic UI" panose="020B0500000000000000" pitchFamily="50" charset="-128"/>
              <a:buChar char="➡"/>
            </a:pPr>
            <a:r>
              <a:rPr lang="ja-JP" altLang="en-US" sz="1400" dirty="0">
                <a:latin typeface="+mn-ea"/>
                <a:ea typeface="+mn-ea"/>
              </a:rPr>
              <a:t>取組のアプローチとして、カテゴリ③</a:t>
            </a:r>
            <a:r>
              <a:rPr lang="en-US" altLang="ja-JP" sz="1400" dirty="0">
                <a:latin typeface="+mn-ea"/>
                <a:ea typeface="+mn-ea"/>
              </a:rPr>
              <a:t>(</a:t>
            </a:r>
            <a:r>
              <a:rPr lang="ja-JP" altLang="en-US" sz="1400" dirty="0">
                <a:latin typeface="+mn-ea"/>
                <a:ea typeface="+mn-ea"/>
              </a:rPr>
              <a:t>カナダ</a:t>
            </a:r>
            <a:r>
              <a:rPr lang="en-US" altLang="ja-JP" sz="1400" dirty="0">
                <a:latin typeface="+mn-ea"/>
                <a:ea typeface="+mn-ea"/>
              </a:rPr>
              <a:t>)</a:t>
            </a:r>
            <a:r>
              <a:rPr lang="ja-JP" altLang="en-US" sz="1400" dirty="0">
                <a:latin typeface="+mn-ea"/>
                <a:ea typeface="+mn-ea"/>
              </a:rPr>
              <a:t>のように官民連合コンソーシアムを立ち上げて、各種トラストフレームワークを策定する手法や、カテゴリ②</a:t>
            </a:r>
            <a:r>
              <a:rPr lang="en-US" altLang="ja-JP" sz="1400" dirty="0">
                <a:latin typeface="+mn-ea"/>
                <a:ea typeface="+mn-ea"/>
              </a:rPr>
              <a:t>(</a:t>
            </a:r>
            <a:r>
              <a:rPr lang="ja-JP" altLang="en-US" sz="1400" dirty="0">
                <a:latin typeface="+mn-ea"/>
                <a:ea typeface="+mn-ea"/>
              </a:rPr>
              <a:t>イギリス</a:t>
            </a:r>
            <a:r>
              <a:rPr lang="en-US" altLang="ja-JP" sz="1400" dirty="0">
                <a:latin typeface="+mn-ea"/>
                <a:ea typeface="+mn-ea"/>
              </a:rPr>
              <a:t>)</a:t>
            </a:r>
            <a:r>
              <a:rPr lang="ja-JP" altLang="en-US" sz="1400" dirty="0">
                <a:latin typeface="+mn-ea"/>
                <a:ea typeface="+mn-ea"/>
              </a:rPr>
              <a:t>のようにベースとなるトラストフレームワークの下に、各種業界団体が業界特有のスキーム*</a:t>
            </a:r>
            <a:r>
              <a:rPr lang="en-US" altLang="ja-JP" sz="1400" baseline="30000" dirty="0">
                <a:latin typeface="+mn-ea"/>
                <a:ea typeface="+mn-ea"/>
              </a:rPr>
              <a:t>3</a:t>
            </a:r>
            <a:r>
              <a:rPr lang="ja-JP" altLang="en-US" sz="1400" dirty="0">
                <a:latin typeface="+mn-ea"/>
                <a:ea typeface="+mn-ea"/>
              </a:rPr>
              <a:t>を構築・申請・認定ができる体制を整備すること等が考えられる</a:t>
            </a:r>
            <a:r>
              <a:rPr lang="en-US" altLang="ja-JP" sz="1400" dirty="0">
                <a:latin typeface="+mn-ea"/>
                <a:ea typeface="+mn-ea"/>
              </a:rPr>
              <a:t>)</a:t>
            </a:r>
          </a:p>
        </p:txBody>
      </p:sp>
      <p:sp>
        <p:nvSpPr>
          <p:cNvPr id="6" name="テキスト ボックス 5">
            <a:extLst>
              <a:ext uri="{FF2B5EF4-FFF2-40B4-BE49-F238E27FC236}">
                <a16:creationId xmlns:a16="http://schemas.microsoft.com/office/drawing/2014/main" id="{8C05A2C6-8B12-50C0-F7B9-9B1B22D28985}"/>
              </a:ext>
            </a:extLst>
          </p:cNvPr>
          <p:cNvSpPr txBox="1"/>
          <p:nvPr/>
        </p:nvSpPr>
        <p:spPr>
          <a:xfrm>
            <a:off x="470264" y="5977924"/>
            <a:ext cx="6217920" cy="507831"/>
          </a:xfrm>
          <a:prstGeom prst="rect">
            <a:avLst/>
          </a:prstGeom>
          <a:noFill/>
        </p:spPr>
        <p:txBody>
          <a:bodyPr wrap="square">
            <a:spAutoFit/>
          </a:bodyPr>
          <a:lstStyle/>
          <a:p>
            <a:r>
              <a:rPr lang="en-US" altLang="ja-JP" sz="900" dirty="0">
                <a:latin typeface="+mn-ea"/>
                <a:ea typeface="+mn-ea"/>
                <a:hlinkClick r:id="rId5"/>
              </a:rPr>
              <a:t>https://commission.europa.eu/document/fa09cbad-dd7d-4684-ae60-be03fcb0fddf_en</a:t>
            </a:r>
            <a:endParaRPr lang="en-US" altLang="ja-JP" sz="900" dirty="0">
              <a:latin typeface="+mn-ea"/>
              <a:ea typeface="+mn-ea"/>
            </a:endParaRPr>
          </a:p>
          <a:p>
            <a:r>
              <a:rPr lang="en-US" altLang="ja-JP" sz="900" dirty="0">
                <a:latin typeface="+mn-ea"/>
                <a:ea typeface="+mn-ea"/>
                <a:hlinkClick r:id="rId6"/>
              </a:rPr>
              <a:t>https://www.nist.gov/identity-access-management/eu-us-ttc-wg-1-digital-identity-mapping-exercise-report</a:t>
            </a:r>
            <a:endParaRPr lang="en-US" altLang="ja-JP" sz="900" dirty="0">
              <a:latin typeface="+mn-ea"/>
              <a:ea typeface="+mn-ea"/>
            </a:endParaRPr>
          </a:p>
          <a:p>
            <a:r>
              <a:rPr lang="en-US" altLang="ja-JP" sz="900" dirty="0">
                <a:latin typeface="+mn-ea"/>
                <a:ea typeface="+mn-ea"/>
              </a:rPr>
              <a:t>The UK digital identity and attributes trust framework</a:t>
            </a:r>
            <a:r>
              <a:rPr lang="ja-JP" altLang="en-US" sz="900" dirty="0">
                <a:latin typeface="+mn-ea"/>
                <a:ea typeface="+mn-ea"/>
              </a:rPr>
              <a:t>　</a:t>
            </a:r>
            <a:r>
              <a:rPr lang="en-US" altLang="ja-JP" sz="900" dirty="0">
                <a:latin typeface="+mn-ea"/>
                <a:ea typeface="+mn-ea"/>
              </a:rPr>
              <a:t>βVer. 0.3 (DIATF) 10</a:t>
            </a:r>
            <a:r>
              <a:rPr lang="ja-JP" altLang="en-US" sz="900" dirty="0">
                <a:latin typeface="+mn-ea"/>
                <a:ea typeface="+mn-ea"/>
              </a:rPr>
              <a:t>章参照</a:t>
            </a:r>
            <a:endParaRPr lang="en-US" altLang="ja-JP" sz="900" dirty="0">
              <a:latin typeface="+mn-ea"/>
              <a:ea typeface="+mn-ea"/>
            </a:endParaRPr>
          </a:p>
        </p:txBody>
      </p:sp>
      <p:sp>
        <p:nvSpPr>
          <p:cNvPr id="8" name="テキスト ボックス 7">
            <a:extLst>
              <a:ext uri="{FF2B5EF4-FFF2-40B4-BE49-F238E27FC236}">
                <a16:creationId xmlns:a16="http://schemas.microsoft.com/office/drawing/2014/main" id="{8261BB5B-334F-1551-CBC9-C5406B28A960}"/>
              </a:ext>
            </a:extLst>
          </p:cNvPr>
          <p:cNvSpPr txBox="1"/>
          <p:nvPr/>
        </p:nvSpPr>
        <p:spPr>
          <a:xfrm>
            <a:off x="403200" y="6024090"/>
            <a:ext cx="110608" cy="415498"/>
          </a:xfrm>
          <a:prstGeom prst="rect">
            <a:avLst/>
          </a:prstGeom>
          <a:noFill/>
        </p:spPr>
        <p:txBody>
          <a:bodyPr wrap="none" lIns="0" tIns="0" rIns="0" bIns="0" rtlCol="0">
            <a:spAutoFit/>
          </a:bodyPr>
          <a:lstStyle/>
          <a:p>
            <a:r>
              <a:rPr kumimoji="1" lang="ja-JP" altLang="en-US" sz="900" dirty="0">
                <a:latin typeface="+mn-ea"/>
                <a:ea typeface="+mn-ea"/>
              </a:rPr>
              <a:t>*</a:t>
            </a:r>
            <a:r>
              <a:rPr kumimoji="1" lang="en-US" altLang="ja-JP" sz="900" dirty="0">
                <a:latin typeface="+mn-ea"/>
                <a:ea typeface="+mn-ea"/>
              </a:rPr>
              <a:t>1</a:t>
            </a:r>
          </a:p>
          <a:p>
            <a:r>
              <a:rPr lang="ja-JP" altLang="en-US" sz="900" dirty="0">
                <a:latin typeface="+mn-ea"/>
                <a:ea typeface="+mn-ea"/>
              </a:rPr>
              <a:t>*</a:t>
            </a:r>
            <a:r>
              <a:rPr lang="en-US" altLang="ja-JP" sz="900" dirty="0">
                <a:latin typeface="+mn-ea"/>
                <a:ea typeface="+mn-ea"/>
              </a:rPr>
              <a:t>2</a:t>
            </a:r>
          </a:p>
          <a:p>
            <a:r>
              <a:rPr kumimoji="1" lang="ja-JP" altLang="en-US" sz="900" dirty="0">
                <a:latin typeface="+mn-ea"/>
                <a:ea typeface="+mn-ea"/>
              </a:rPr>
              <a:t>*</a:t>
            </a:r>
            <a:r>
              <a:rPr kumimoji="1" lang="en-US" altLang="ja-JP" sz="900" dirty="0">
                <a:latin typeface="+mn-ea"/>
                <a:ea typeface="+mn-ea"/>
              </a:rPr>
              <a:t>3</a:t>
            </a:r>
            <a:endParaRPr kumimoji="1" lang="ja-JP" altLang="en-US" sz="900" dirty="0">
              <a:latin typeface="+mn-ea"/>
              <a:ea typeface="+mn-ea"/>
            </a:endParaRPr>
          </a:p>
        </p:txBody>
      </p:sp>
    </p:spTree>
    <p:extLst>
      <p:ext uri="{BB962C8B-B14F-4D97-AF65-F5344CB8AC3E}">
        <p14:creationId xmlns:p14="http://schemas.microsoft.com/office/powerpoint/2010/main" val="3970114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71FC099-FF01-703F-3267-0978006C2A11}"/>
              </a:ext>
            </a:extLst>
          </p:cNvPr>
          <p:cNvGraphicFramePr>
            <a:graphicFrameLocks noChangeAspect="1"/>
          </p:cNvGraphicFramePr>
          <p:nvPr>
            <p:custDataLst>
              <p:tags r:id="rId1"/>
            </p:custDataLst>
            <p:extLst>
              <p:ext uri="{D42A27DB-BD31-4B8C-83A1-F6EECF244321}">
                <p14:modId xmlns:p14="http://schemas.microsoft.com/office/powerpoint/2010/main" val="2875363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624" imgH="623" progId="TCLayout.ActiveDocument.1">
                  <p:embed/>
                </p:oleObj>
              </mc:Choice>
              <mc:Fallback>
                <p:oleObj name="think-cell スライド" r:id="rId3" imgW="624" imgH="623" progId="TCLayout.ActiveDocument.1">
                  <p:embed/>
                  <p:pic>
                    <p:nvPicPr>
                      <p:cNvPr id="5" name="think-cell data - do not delete" hidden="1">
                        <a:extLst>
                          <a:ext uri="{FF2B5EF4-FFF2-40B4-BE49-F238E27FC236}">
                            <a16:creationId xmlns:a16="http://schemas.microsoft.com/office/drawing/2014/main" id="{171FC099-FF01-703F-3267-0978006C2A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18E7DAB2-4618-1C03-3E55-79D70AA9828D}"/>
              </a:ext>
            </a:extLst>
          </p:cNvPr>
          <p:cNvSpPr>
            <a:spLocks noGrp="1"/>
          </p:cNvSpPr>
          <p:nvPr>
            <p:ph type="title"/>
          </p:nvPr>
        </p:nvSpPr>
        <p:spPr/>
        <p:txBody>
          <a:bodyPr vert="horz"/>
          <a:lstStyle/>
          <a:p>
            <a:r>
              <a:rPr kumimoji="1" lang="en-US" altLang="ja-JP" dirty="0"/>
              <a:t>4. </a:t>
            </a:r>
            <a:r>
              <a:rPr kumimoji="1" lang="ja-JP" altLang="en-US" dirty="0"/>
              <a:t>調査結果取りまとめ</a:t>
            </a:r>
            <a:r>
              <a:rPr kumimoji="1" lang="en-US" altLang="ja-JP" dirty="0"/>
              <a:t>(3/3)</a:t>
            </a:r>
            <a:endParaRPr kumimoji="1" lang="ja-JP" altLang="en-US" dirty="0"/>
          </a:p>
        </p:txBody>
      </p:sp>
      <p:sp>
        <p:nvSpPr>
          <p:cNvPr id="3" name="テキスト プレースホルダー 2">
            <a:extLst>
              <a:ext uri="{FF2B5EF4-FFF2-40B4-BE49-F238E27FC236}">
                <a16:creationId xmlns:a16="http://schemas.microsoft.com/office/drawing/2014/main" id="{3E3AE598-AA6C-7BD9-689E-DF7AB2E761E1}"/>
              </a:ext>
            </a:extLst>
          </p:cNvPr>
          <p:cNvSpPr>
            <a:spLocks noGrp="1"/>
          </p:cNvSpPr>
          <p:nvPr>
            <p:ph type="body" sz="quarter" idx="10"/>
          </p:nvPr>
        </p:nvSpPr>
        <p:spPr>
          <a:xfrm>
            <a:off x="273050" y="188913"/>
            <a:ext cx="7848600" cy="161583"/>
          </a:xfrm>
        </p:spPr>
        <p:txBody>
          <a:bodyPr/>
          <a:lstStyle/>
          <a:p>
            <a:r>
              <a:rPr kumimoji="1" lang="en-US" altLang="ja-JP" dirty="0"/>
              <a:t>4. </a:t>
            </a:r>
            <a:r>
              <a:rPr lang="ja-JP" altLang="en-US" dirty="0"/>
              <a:t>調査結果取りまとめ</a:t>
            </a:r>
            <a:endParaRPr kumimoji="1" lang="ja-JP" altLang="en-US" dirty="0"/>
          </a:p>
        </p:txBody>
      </p:sp>
      <p:sp>
        <p:nvSpPr>
          <p:cNvPr id="4" name="テキスト ボックス 3">
            <a:extLst>
              <a:ext uri="{FF2B5EF4-FFF2-40B4-BE49-F238E27FC236}">
                <a16:creationId xmlns:a16="http://schemas.microsoft.com/office/drawing/2014/main" id="{10EFA60F-3686-05E5-79C0-BCBF3B7680E8}"/>
              </a:ext>
            </a:extLst>
          </p:cNvPr>
          <p:cNvSpPr txBox="1"/>
          <p:nvPr/>
        </p:nvSpPr>
        <p:spPr>
          <a:xfrm>
            <a:off x="273050" y="908050"/>
            <a:ext cx="9359900" cy="4493538"/>
          </a:xfrm>
          <a:prstGeom prst="rect">
            <a:avLst/>
          </a:prstGeom>
          <a:noFill/>
        </p:spPr>
        <p:txBody>
          <a:bodyPr wrap="square">
            <a:spAutoFit/>
          </a:bodyPr>
          <a:lstStyle/>
          <a:p>
            <a:pPr>
              <a:spcBef>
                <a:spcPts val="300"/>
              </a:spcBef>
            </a:pPr>
            <a:r>
              <a:rPr lang="en-US" altLang="ja-JP" sz="1400" dirty="0">
                <a:latin typeface="+mn-ea"/>
                <a:ea typeface="+mn-ea"/>
              </a:rPr>
              <a:t>【</a:t>
            </a:r>
            <a:r>
              <a:rPr lang="ja-JP" altLang="en-US" sz="1400" dirty="0">
                <a:latin typeface="+mn-ea"/>
                <a:ea typeface="+mn-ea"/>
              </a:rPr>
              <a:t>トラストフレームワーク策定・運用における継続課題</a:t>
            </a:r>
            <a:r>
              <a:rPr lang="en-US" altLang="ja-JP" sz="1400" dirty="0">
                <a:latin typeface="+mn-ea"/>
                <a:ea typeface="+mn-ea"/>
              </a:rPr>
              <a:t>】</a:t>
            </a:r>
          </a:p>
          <a:p>
            <a:pPr marL="285750" indent="-285750">
              <a:spcBef>
                <a:spcPts val="300"/>
              </a:spcBef>
              <a:buFont typeface="Wingdings" panose="05000000000000000000" pitchFamily="2" charset="2"/>
              <a:buChar char="n"/>
            </a:pPr>
            <a:r>
              <a:rPr lang="ja-JP" altLang="en-US" sz="1400" dirty="0">
                <a:latin typeface="+mn-ea"/>
                <a:ea typeface="+mn-ea"/>
              </a:rPr>
              <a:t>各国調査の結果トラストフレームワークの策定・運用においては継続的な課題もあり、下記観点については引き続き注視していく必要がある。これらの解決に向けては各国の政府機関だけでなく、技術標準化団体や民間事業者等とも連携を行いながら取組を進めていく必要がある。例えば、</a:t>
            </a:r>
            <a:r>
              <a:rPr lang="en-US" altLang="ja-JP" sz="1400" dirty="0">
                <a:latin typeface="+mn-ea"/>
                <a:ea typeface="+mn-ea"/>
              </a:rPr>
              <a:t>SIDI hub</a:t>
            </a:r>
            <a:r>
              <a:rPr lang="ja-JP" altLang="en-US" sz="1400" dirty="0">
                <a:latin typeface="+mn-ea"/>
                <a:ea typeface="+mn-ea"/>
              </a:rPr>
              <a:t>等の政府組織・アイデンティティにかかる技術標準化団体等が集まるイベント等で討議を進め解決策を探していくことが求められる</a:t>
            </a:r>
            <a:endParaRPr lang="en-US" altLang="ja-JP" sz="1400" dirty="0">
              <a:latin typeface="+mn-ea"/>
              <a:ea typeface="+mn-ea"/>
            </a:endParaRPr>
          </a:p>
          <a:p>
            <a:pPr marL="539750" lvl="1" indent="-285750">
              <a:spcBef>
                <a:spcPts val="300"/>
              </a:spcBef>
              <a:buFont typeface="Wingdings" panose="05000000000000000000" pitchFamily="2" charset="2"/>
              <a:buChar char="Ø"/>
            </a:pPr>
            <a:r>
              <a:rPr lang="ja-JP" altLang="en-US" sz="1400" dirty="0">
                <a:latin typeface="+mn-ea"/>
                <a:ea typeface="+mn-ea"/>
              </a:rPr>
              <a:t>トラストフレームワークをシステムとして実装する際の課題</a:t>
            </a:r>
            <a:endParaRPr lang="en-US" altLang="ja-JP" sz="1400" dirty="0">
              <a:latin typeface="+mn-ea"/>
              <a:ea typeface="+mn-ea"/>
            </a:endParaRPr>
          </a:p>
          <a:p>
            <a:pPr marL="714375" lvl="1" indent="-285750">
              <a:spcBef>
                <a:spcPts val="300"/>
              </a:spcBef>
              <a:buFont typeface="Yu Gothic UI" panose="020B0500000000000000" pitchFamily="50" charset="-128"/>
              <a:buChar char="➡"/>
            </a:pPr>
            <a:r>
              <a:rPr lang="ja-JP" altLang="en-US" sz="1400" dirty="0">
                <a:latin typeface="+mn-ea"/>
                <a:ea typeface="+mn-ea"/>
              </a:rPr>
              <a:t>トラストフレームワークを策定・海外と相互運用性の確保を進めたとしても、トラストフレームワークを実装したシステムが相互運用性を確保できるかは別の問題である。また、多くのステークホルダがシステムに参加する際にはスケーラビリティやセキュリティ等非機能要件の課題もあり、これらについては引き続き検討する必要がある</a:t>
            </a:r>
            <a:endParaRPr lang="en-US" altLang="ja-JP" sz="1400" dirty="0">
              <a:latin typeface="+mn-ea"/>
              <a:ea typeface="+mn-ea"/>
            </a:endParaRPr>
          </a:p>
          <a:p>
            <a:pPr marL="714375" lvl="1" indent="-285750">
              <a:spcBef>
                <a:spcPts val="300"/>
              </a:spcBef>
              <a:buFont typeface="Yu Gothic UI" panose="020B0500000000000000" pitchFamily="50" charset="-128"/>
              <a:buChar char="➡"/>
            </a:pPr>
            <a:r>
              <a:rPr lang="ja-JP" altLang="en-US" sz="1400" dirty="0">
                <a:latin typeface="+mn-ea"/>
                <a:ea typeface="+mn-ea"/>
              </a:rPr>
              <a:t>現在</a:t>
            </a:r>
            <a:r>
              <a:rPr lang="en-US" altLang="ja-JP" sz="1400" dirty="0">
                <a:latin typeface="+mn-ea"/>
                <a:ea typeface="+mn-ea"/>
              </a:rPr>
              <a:t>EU</a:t>
            </a:r>
            <a:r>
              <a:rPr lang="ja-JP" altLang="en-US" sz="1400" dirty="0">
                <a:latin typeface="+mn-ea"/>
                <a:ea typeface="+mn-ea"/>
              </a:rPr>
              <a:t>で</a:t>
            </a:r>
            <a:r>
              <a:rPr lang="en-US" altLang="ja-JP" sz="1400" dirty="0">
                <a:latin typeface="+mn-ea"/>
                <a:ea typeface="+mn-ea"/>
              </a:rPr>
              <a:t>EUDIW</a:t>
            </a:r>
            <a:r>
              <a:rPr lang="ja-JP" altLang="en-US" sz="1400" dirty="0">
                <a:latin typeface="+mn-ea"/>
                <a:ea typeface="+mn-ea"/>
              </a:rPr>
              <a:t>の構築を進めているが、実際にスケジュール通りに運用開始できるかは不明確の状態である・ウォレットの仕様策定・開発・テスト等の構築プロセスは今後参考となりうる</a:t>
            </a:r>
          </a:p>
          <a:p>
            <a:pPr marL="539750" lvl="1" indent="-285750">
              <a:spcBef>
                <a:spcPts val="300"/>
              </a:spcBef>
              <a:buFont typeface="Wingdings" panose="05000000000000000000" pitchFamily="2" charset="2"/>
              <a:buChar char="Ø"/>
            </a:pPr>
            <a:r>
              <a:rPr lang="ja-JP" altLang="en-US" sz="1400" dirty="0">
                <a:latin typeface="+mn-ea"/>
                <a:ea typeface="+mn-ea"/>
              </a:rPr>
              <a:t>トラストフレームワークを運用する際に民間ユースケースの普及に向けたインセンティブ確保</a:t>
            </a:r>
            <a:endParaRPr lang="en-US" altLang="ja-JP" sz="1400" dirty="0">
              <a:latin typeface="+mn-ea"/>
              <a:ea typeface="+mn-ea"/>
            </a:endParaRPr>
          </a:p>
          <a:p>
            <a:pPr marL="714375" lvl="1" indent="-285750">
              <a:spcBef>
                <a:spcPts val="300"/>
              </a:spcBef>
              <a:buFont typeface="Yu Gothic UI" panose="020B0500000000000000" pitchFamily="50" charset="-128"/>
              <a:buChar char="➡"/>
            </a:pPr>
            <a:r>
              <a:rPr lang="ja-JP" altLang="en-US" sz="1400" dirty="0">
                <a:latin typeface="+mn-ea"/>
                <a:ea typeface="+mn-ea"/>
              </a:rPr>
              <a:t>トラストフレームワークが策定できたとしても、民間事業者</a:t>
            </a:r>
            <a:r>
              <a:rPr lang="en-US" altLang="ja-JP" sz="1400" dirty="0">
                <a:latin typeface="+mn-ea"/>
                <a:ea typeface="+mn-ea"/>
              </a:rPr>
              <a:t>(</a:t>
            </a:r>
            <a:r>
              <a:rPr lang="ja-JP" altLang="en-US" sz="1400" dirty="0">
                <a:latin typeface="+mn-ea"/>
                <a:ea typeface="+mn-ea"/>
              </a:rPr>
              <a:t>業界団体が関与する</a:t>
            </a:r>
            <a:r>
              <a:rPr lang="en-US" altLang="ja-JP" sz="1400" dirty="0">
                <a:latin typeface="+mn-ea"/>
                <a:ea typeface="+mn-ea"/>
              </a:rPr>
              <a:t>)</a:t>
            </a:r>
            <a:r>
              <a:rPr lang="ja-JP" altLang="en-US" sz="1400" dirty="0">
                <a:latin typeface="+mn-ea"/>
                <a:ea typeface="+mn-ea"/>
              </a:rPr>
              <a:t>ユースケースにおいて、民間事業者がそのトラストフレームワークに則ってサービスを提供するとは限らない</a:t>
            </a:r>
            <a:endParaRPr lang="en-US" altLang="ja-JP" sz="1400" dirty="0">
              <a:latin typeface="+mn-ea"/>
              <a:ea typeface="+mn-ea"/>
            </a:endParaRPr>
          </a:p>
          <a:p>
            <a:pPr marL="714375" lvl="1" indent="-285750">
              <a:spcBef>
                <a:spcPts val="300"/>
              </a:spcBef>
              <a:buFont typeface="Yu Gothic UI" panose="020B0500000000000000" pitchFamily="50" charset="-128"/>
              <a:buChar char="➡"/>
            </a:pPr>
            <a:r>
              <a:rPr lang="ja-JP" altLang="en-US" sz="1400" dirty="0">
                <a:latin typeface="+mn-ea"/>
                <a:ea typeface="+mn-ea"/>
              </a:rPr>
              <a:t>カナダでは、認定プログラムを開始しているが認定を受けるインセンティブが現状少ないため、認定を受けている事業者</a:t>
            </a:r>
            <a:r>
              <a:rPr lang="en-US" altLang="ja-JP" sz="1400" dirty="0">
                <a:latin typeface="+mn-ea"/>
                <a:ea typeface="+mn-ea"/>
              </a:rPr>
              <a:t>1</a:t>
            </a:r>
            <a:r>
              <a:rPr lang="ja-JP" altLang="en-US" sz="1400" dirty="0">
                <a:latin typeface="+mn-ea"/>
                <a:ea typeface="+mn-ea"/>
              </a:rPr>
              <a:t>事業者のみである。オーストラリア・イギリスはトラストフレームワークの認定制度の法整備を進めているが、現状民間事業者の巻き込みは課題となっている</a:t>
            </a:r>
            <a:endParaRPr lang="en-US" altLang="ja-JP" sz="1400" dirty="0">
              <a:latin typeface="+mn-ea"/>
              <a:ea typeface="+mn-ea"/>
            </a:endParaRPr>
          </a:p>
          <a:p>
            <a:pPr marL="714375" lvl="1" indent="-285750">
              <a:spcBef>
                <a:spcPts val="300"/>
              </a:spcBef>
              <a:buFont typeface="Yu Gothic UI" panose="020B0500000000000000" pitchFamily="50" charset="-128"/>
              <a:buChar char="➡"/>
            </a:pPr>
            <a:r>
              <a:rPr lang="ja-JP" altLang="en-US" sz="1400" dirty="0">
                <a:latin typeface="+mn-ea"/>
                <a:ea typeface="+mn-ea"/>
              </a:rPr>
              <a:t>民間ユースユースケースにおけるデジタルアイデンティティの普及については日本においても課題となっているため、各国と連携して取組を進めていくことが考えられる</a:t>
            </a:r>
            <a:endParaRPr lang="en-US" altLang="ja-JP" sz="1400" dirty="0">
              <a:latin typeface="+mn-ea"/>
              <a:ea typeface="+mn-ea"/>
            </a:endParaRPr>
          </a:p>
        </p:txBody>
      </p:sp>
    </p:spTree>
    <p:extLst>
      <p:ext uri="{BB962C8B-B14F-4D97-AF65-F5344CB8AC3E}">
        <p14:creationId xmlns:p14="http://schemas.microsoft.com/office/powerpoint/2010/main" val="620742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74317" y="2428144"/>
            <a:ext cx="3938953" cy="1734725"/>
          </a:xfrm>
          <a:prstGeom prst="rect">
            <a:avLst/>
          </a:prstGeom>
        </p:spPr>
      </p:pic>
    </p:spTree>
    <p:extLst>
      <p:ext uri="{BB962C8B-B14F-4D97-AF65-F5344CB8AC3E}">
        <p14:creationId xmlns:p14="http://schemas.microsoft.com/office/powerpoint/2010/main" val="25682217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パワーポイントプリント用Corp01">
  <a:themeElements>
    <a:clrScheme name="ユーザー定義 1">
      <a:dk1>
        <a:sysClr val="windowText" lastClr="000000"/>
      </a:dk1>
      <a:lt1>
        <a:sysClr val="window" lastClr="FFFFFF"/>
      </a:lt1>
      <a:dk2>
        <a:srgbClr val="53565A"/>
      </a:dk2>
      <a:lt2>
        <a:srgbClr val="D0D0CE"/>
      </a:lt2>
      <a:accent1>
        <a:srgbClr val="005EAD"/>
      </a:accent1>
      <a:accent2>
        <a:srgbClr val="86BC25"/>
      </a:accent2>
      <a:accent3>
        <a:srgbClr val="046A38"/>
      </a:accent3>
      <a:accent4>
        <a:srgbClr val="0097A9"/>
      </a:accent4>
      <a:accent5>
        <a:srgbClr val="62B5E5"/>
      </a:accent5>
      <a:accent6>
        <a:srgbClr val="012169"/>
      </a:accent6>
      <a:hlink>
        <a:srgbClr val="62B5E5"/>
      </a:hlink>
      <a:folHlink>
        <a:srgbClr val="75787B"/>
      </a:folHlink>
    </a:clrScheme>
    <a:fontScheme name="ユーザー定義 1">
      <a:majorFont>
        <a:latin typeface="Yu Gothic UI"/>
        <a:ea typeface="Yu Gothic UI"/>
        <a:cs typeface=""/>
      </a:majorFont>
      <a:minorFont>
        <a:latin typeface="Yu Gothic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a:solidFill>
            <a:schemeClr val="tx1"/>
          </a:solidFill>
          <a:headEnd type="none" w="med" len="med"/>
          <a:tailEnd type="none" w="med" len="med"/>
        </a:ln>
      </a:spPr>
      <a:bodyPr wrap="none" rtlCol="0" anchor="ctr"/>
      <a:lstStyle>
        <a:defPPr algn="ctr">
          <a:defRPr kumimoji="1" dirty="0" smtClean="0"/>
        </a:defPPr>
      </a:lstStyle>
      <a:style>
        <a:lnRef idx="1">
          <a:schemeClr val="accent1"/>
        </a:lnRef>
        <a:fillRef idx="0">
          <a:schemeClr val="accent1"/>
        </a:fillRef>
        <a:effectRef idx="0">
          <a:schemeClr val="accent1"/>
        </a:effectRef>
        <a:fontRef idx="minor">
          <a:schemeClr val="tx1"/>
        </a:fontRef>
      </a:style>
    </a:spDef>
    <a:lnDef>
      <a:spPr>
        <a:ln w="127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90488" indent="-90488">
          <a:buFont typeface="Arial" panose="020B0604020202020204" pitchFamily="34" charset="0"/>
          <a:buChar char="•"/>
          <a:defRPr sz="1200" dirty="0">
            <a:latin typeface="+mn-ea"/>
            <a:ea typeface="+mn-ea"/>
          </a:defRPr>
        </a:defPPr>
      </a:lstStyle>
    </a:txDef>
  </a:objectDefaults>
  <a:extraClrSchemeLst>
    <a:extraClrScheme>
      <a:clrScheme name="パワーポイントプリント用Corp01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パワーポイントプリント用Corp0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パワーポイントプリント用Corp01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パワーポイントプリント用Corp01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パワーポイントプリント用Corp0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パワーポイントプリント用Corp0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パワーポイントプリント用Corp0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パワーポイントプリント用Corp01">
  <a:themeElements>
    <a:clrScheme name="toppan_ppt">
      <a:dk1>
        <a:sysClr val="windowText" lastClr="000000"/>
      </a:dk1>
      <a:lt1>
        <a:sysClr val="window" lastClr="FFFFFF"/>
      </a:lt1>
      <a:dk2>
        <a:srgbClr val="53565A"/>
      </a:dk2>
      <a:lt2>
        <a:srgbClr val="D0D0CE"/>
      </a:lt2>
      <a:accent1>
        <a:srgbClr val="005EAD"/>
      </a:accent1>
      <a:accent2>
        <a:srgbClr val="86BC25"/>
      </a:accent2>
      <a:accent3>
        <a:srgbClr val="046A38"/>
      </a:accent3>
      <a:accent4>
        <a:srgbClr val="0097A9"/>
      </a:accent4>
      <a:accent5>
        <a:srgbClr val="62B5E5"/>
      </a:accent5>
      <a:accent6>
        <a:srgbClr val="012169"/>
      </a:accent6>
      <a:hlink>
        <a:srgbClr val="FF0000"/>
      </a:hlink>
      <a:folHlink>
        <a:srgbClr val="75787B"/>
      </a:folHlink>
    </a:clrScheme>
    <a:fontScheme name="ユーザー定義 1">
      <a:majorFont>
        <a:latin typeface="Yu Gothic UI"/>
        <a:ea typeface="Yu Gothic UI"/>
        <a:cs typeface=""/>
      </a:majorFont>
      <a:minorFont>
        <a:latin typeface="Yu Gothic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a:solidFill>
            <a:schemeClr val="tx1"/>
          </a:solidFill>
          <a:headEnd type="none" w="med" len="med"/>
          <a:tailEnd type="none" w="med" len="med"/>
        </a:ln>
      </a:spPr>
      <a:bodyPr wrap="none" rtlCol="0" anchor="ctr"/>
      <a:lstStyle>
        <a:defPPr algn="ctr">
          <a:defRPr kumimoji="1" dirty="0" smtClean="0"/>
        </a:defPPr>
      </a:lstStyle>
      <a:style>
        <a:lnRef idx="1">
          <a:schemeClr val="accent1"/>
        </a:lnRef>
        <a:fillRef idx="0">
          <a:schemeClr val="accent1"/>
        </a:fillRef>
        <a:effectRef idx="0">
          <a:schemeClr val="accent1"/>
        </a:effectRef>
        <a:fontRef idx="minor">
          <a:schemeClr val="tx1"/>
        </a:fontRef>
      </a:style>
    </a:spDef>
    <a:lnDef>
      <a:spPr>
        <a:ln w="127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90488" indent="-90488">
          <a:buFont typeface="Arial" panose="020B0604020202020204" pitchFamily="34" charset="0"/>
          <a:buChar char="•"/>
          <a:defRPr sz="1200" dirty="0">
            <a:latin typeface="+mn-ea"/>
            <a:ea typeface="+mn-ea"/>
          </a:defRPr>
        </a:defPPr>
      </a:lstStyle>
    </a:txDef>
  </a:objectDefaults>
  <a:extraClrSchemeLst>
    <a:extraClrScheme>
      <a:clrScheme name="パワーポイントプリント用Corp01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パワーポイントプリント用Corp0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パワーポイントプリント用Corp01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パワーポイントプリント用Corp01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パワーポイントプリント用Corp0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パワーポイントプリント用Corp0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パワーポイントプリント用Corp0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A9B6F9B428D7634495880DE4F0D8D879" ma:contentTypeVersion="12" ma:contentTypeDescription="新しいドキュメントを作成します。" ma:contentTypeScope="" ma:versionID="fc08b5dad98e6f6d8f5f2a35db9e8729">
  <xsd:schema xmlns:xsd="http://www.w3.org/2001/XMLSchema" xmlns:xs="http://www.w3.org/2001/XMLSchema" xmlns:p="http://schemas.microsoft.com/office/2006/metadata/properties" xmlns:ns2="b8d61b6e-2b10-43a3-a2ce-3f7d4d0c929e" xmlns:ns3="ff5bdd6e-cdf8-469d-93d0-f7a8c007309d" targetNamespace="http://schemas.microsoft.com/office/2006/metadata/properties" ma:root="true" ma:fieldsID="373401851f10c928940e7bdebc0e62c4" ns2:_="" ns3:_="">
    <xsd:import namespace="b8d61b6e-2b10-43a3-a2ce-3f7d4d0c929e"/>
    <xsd:import namespace="ff5bdd6e-cdf8-469d-93d0-f7a8c00730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LengthInSecond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d61b6e-2b10-43a3-a2ce-3f7d4d0c92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description=""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1e1c6816-2a4f-4461-93c7-8dd281d6228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5bdd6e-cdf8-469d-93d0-f7a8c00730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4cf278e-2034-4d2d-8b8d-d0c50db40621}" ma:internalName="TaxCatchAll" ma:showField="CatchAllData" ma:web="ff5bdd6e-cdf8-469d-93d0-f7a8c00730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f5bdd6e-cdf8-469d-93d0-f7a8c007309d" xsi:nil="true"/>
    <lcf76f155ced4ddcb4097134ff3c332f xmlns="b8d61b6e-2b10-43a3-a2ce-3f7d4d0c929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1D5B716-8D26-42BF-A3B9-AD7978F29403}">
  <ds:schemaRefs>
    <ds:schemaRef ds:uri="http://schemas.microsoft.com/sharepoint/v3/contenttype/forms"/>
  </ds:schemaRefs>
</ds:datastoreItem>
</file>

<file path=customXml/itemProps2.xml><?xml version="1.0" encoding="utf-8"?>
<ds:datastoreItem xmlns:ds="http://schemas.openxmlformats.org/officeDocument/2006/customXml" ds:itemID="{A16CE3F0-0639-49B8-BB61-0B4A593E0FDF}"/>
</file>

<file path=customXml/itemProps3.xml><?xml version="1.0" encoding="utf-8"?>
<ds:datastoreItem xmlns:ds="http://schemas.openxmlformats.org/officeDocument/2006/customXml" ds:itemID="{7ED8A28F-48B4-499D-9D0E-DD1F8FE26292}">
  <ds:schemaRefs>
    <ds:schemaRef ds:uri="http://schemas.microsoft.com/office/2006/metadata/properties"/>
    <ds:schemaRef ds:uri="http://purl.org/dc/terms/"/>
    <ds:schemaRef ds:uri="80bbe118-c2f1-471f-9be9-b0f7447cf65e"/>
    <ds:schemaRef ds:uri="http://schemas.microsoft.com/office/2006/documentManagement/types"/>
    <ds:schemaRef ds:uri="http://schemas.openxmlformats.org/package/2006/metadata/core-properties"/>
    <ds:schemaRef ds:uri="http://purl.org/dc/elements/1.1/"/>
    <ds:schemaRef ds:uri="http://purl.org/dc/dcmitype/"/>
    <ds:schemaRef ds:uri="http://www.w3.org/XML/1998/namespace"/>
    <ds:schemaRef ds:uri="http://schemas.microsoft.com/office/infopath/2007/PartnerControls"/>
    <ds:schemaRef ds:uri="a0a9c787-db28-489b-b6e5-9fce90a89bb0"/>
  </ds:schemaRefs>
</ds:datastoreItem>
</file>

<file path=docProps/app.xml><?xml version="1.0" encoding="utf-8"?>
<Properties xmlns="http://schemas.openxmlformats.org/officeDocument/2006/extended-properties" xmlns:vt="http://schemas.openxmlformats.org/officeDocument/2006/docPropsVTypes">
  <Template/>
  <TotalTime>0</TotalTime>
  <Words>9298</Words>
  <Application>Microsoft Office PowerPoint</Application>
  <PresentationFormat>A4 210 x 297 mm</PresentationFormat>
  <Paragraphs>799</Paragraphs>
  <Slides>35</Slides>
  <Notes>2</Notes>
  <HiddenSlides>0</HiddenSlides>
  <MMClips>0</MMClips>
  <ScaleCrop>false</ScaleCrop>
  <HeadingPairs>
    <vt:vector size="8" baseType="variant">
      <vt:variant>
        <vt:lpstr>使用されているフォント</vt:lpstr>
      </vt:variant>
      <vt:variant>
        <vt:i4>8</vt:i4>
      </vt:variant>
      <vt:variant>
        <vt:lpstr>テーマ</vt:lpstr>
      </vt:variant>
      <vt:variant>
        <vt:i4>2</vt:i4>
      </vt:variant>
      <vt:variant>
        <vt:lpstr>埋め込まれた OLE サーバー</vt:lpstr>
      </vt:variant>
      <vt:variant>
        <vt:i4>1</vt:i4>
      </vt:variant>
      <vt:variant>
        <vt:lpstr>スライド タイトル</vt:lpstr>
      </vt:variant>
      <vt:variant>
        <vt:i4>35</vt:i4>
      </vt:variant>
    </vt:vector>
  </HeadingPairs>
  <TitlesOfParts>
    <vt:vector size="46" baseType="lpstr">
      <vt:lpstr>GDS Transport</vt:lpstr>
      <vt:lpstr>ＭＳ Ｐゴシック</vt:lpstr>
      <vt:lpstr>Yu Gothic UI</vt:lpstr>
      <vt:lpstr>游ゴシック</vt:lpstr>
      <vt:lpstr>游ゴシック Medium</vt:lpstr>
      <vt:lpstr>Arial</vt:lpstr>
      <vt:lpstr>Calibri</vt:lpstr>
      <vt:lpstr>Wingdings</vt:lpstr>
      <vt:lpstr>パワーポイントプリント用Corp01</vt:lpstr>
      <vt:lpstr>1_パワーポイントプリント用Corp01</vt:lpstr>
      <vt:lpstr>think-cell スライド</vt:lpstr>
      <vt:lpstr>令和4年度補正 Trusted Web 開発等推進事業に係る調査研究 (官民コンソーシアム検討・組成：トラストフレームワーク・コンソーシアム事例調査)</vt:lpstr>
      <vt:lpstr>本書の位置づけ</vt:lpstr>
      <vt:lpstr>1. 背景・目的</vt:lpstr>
      <vt:lpstr>1. 背景・目的</vt:lpstr>
      <vt:lpstr>2. 調査アプローチ</vt:lpstr>
      <vt:lpstr>2.1. 調査・分析ステップ</vt:lpstr>
      <vt:lpstr>2.2. 調査対象</vt:lpstr>
      <vt:lpstr>2.3. デスクトップ調査観点</vt:lpstr>
      <vt:lpstr>2.4. ヒアリング調査観点</vt:lpstr>
      <vt:lpstr>3. 調査結果</vt:lpstr>
      <vt:lpstr>3.1. EU：eIDAS2.0/ARF – 3.1.1. ガバナンス構造　</vt:lpstr>
      <vt:lpstr>3.1. EU：eIDAS2.0/ARF – 3.1.2. 取組の変遷</vt:lpstr>
      <vt:lpstr>3.1. EU：eIDAS2.0、ARF等 – 3.1.3. ヒアリング結果(1/3)　</vt:lpstr>
      <vt:lpstr>3.1. EU：eIDAS2.0、ARF等 – 3.1.3. ヒアリング結果(2/3)　　</vt:lpstr>
      <vt:lpstr>3.1. EU：eIDAS2.0、ARF等 – 3.1.3. ヒアリング結果(3/3)</vt:lpstr>
      <vt:lpstr>3.2. ドイツ：IDunion Network – 3.2.1. ガバナンス構造</vt:lpstr>
      <vt:lpstr>3.2. ドイツ：IDunion Network – 3.2.2. 取組の変遷</vt:lpstr>
      <vt:lpstr>3.3. イギリス：DIATF – 3.3.1. ガバナンス構造</vt:lpstr>
      <vt:lpstr>3.3. イギリス：DIATF – 3.3.2. 取組の変遷</vt:lpstr>
      <vt:lpstr>3.3. イギリス：DIATF – 3.3.3. ヒアリング結果</vt:lpstr>
      <vt:lpstr>3.4. オーストラリア：TDIF – 3.4.1. ガバナンス構造　</vt:lpstr>
      <vt:lpstr>3.4. オーストラリア：TDIF – 3.4.2. 取組の変遷</vt:lpstr>
      <vt:lpstr>3.4. オーストラリア：TDIF – 3.4.3. ヒアリング結果</vt:lpstr>
      <vt:lpstr>3.5. カナダ：PCTF – 3.5.1. ガバナンス構造</vt:lpstr>
      <vt:lpstr>3.5. カナダ：PCTF – 3.5.2. 取組の変遷</vt:lpstr>
      <vt:lpstr>3.5. カナダ：PCTF – 3.5.3. ヒアリング結果(1/2)</vt:lpstr>
      <vt:lpstr>3.5. カナダ：PCTF – 3.5.3. ヒアリング結果(2/2)</vt:lpstr>
      <vt:lpstr>3.6. アメリカ：mDL Implementation Guidelines – 3.6.1. ガバナンス構造</vt:lpstr>
      <vt:lpstr>3.6. アメリカ：mDL Implementation Guidelines – 3.6.2. 取組の変遷</vt:lpstr>
      <vt:lpstr>3.6. アメリカ：mDL Implementation Guidelines – 3.6.3. ヒアリング結果</vt:lpstr>
      <vt:lpstr>4. 調査結果取りまとめ</vt:lpstr>
      <vt:lpstr>4. 調査結果取りまとめ(1/3)</vt:lpstr>
      <vt:lpstr>4. 調査結果取りまとめ(2/3)</vt:lpstr>
      <vt:lpstr>4. 調査結果取りまとめ(3/3)</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lastPrinted>1601-01-01T00:00:00Z</cp:lastPrinted>
  <dcterms:created xsi:type="dcterms:W3CDTF">2023-12-06T23:57:36Z</dcterms:created>
  <dcterms:modified xsi:type="dcterms:W3CDTF">2024-05-24T05:03:01Z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SiteId">
    <vt:lpwstr>36da45f1-dd2c-4d1f-af13-5abe46b99921</vt:lpwstr>
  </property>
  <property fmtid="{D5CDD505-2E9C-101B-9397-08002B2CF9AE}" pid="3" name="MSIP_Label_ea60d57e-af5b-4752-ac57-3e4f28ca11dc_Method">
    <vt:lpwstr>Standard</vt:lpwstr>
  </property>
  <property fmtid="{D5CDD505-2E9C-101B-9397-08002B2CF9AE}" pid="4" name="MSIP_Label_ea60d57e-af5b-4752-ac57-3e4f28ca11dc_Enabled">
    <vt:lpwstr>true</vt:lpwstr>
  </property>
  <property fmtid="{D5CDD505-2E9C-101B-9397-08002B2CF9AE}" pid="5" name="MediaServiceImageTags">
    <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etDate">
    <vt:lpwstr>2022-12-21T01:36:08Z</vt:lpwstr>
  </property>
  <property fmtid="{D5CDD505-2E9C-101B-9397-08002B2CF9AE}" pid="8" name="MSIP_Label_ea60d57e-af5b-4752-ac57-3e4f28ca11dc_ContentBits">
    <vt:lpwstr>0</vt:lpwstr>
  </property>
  <property fmtid="{D5CDD505-2E9C-101B-9397-08002B2CF9AE}" pid="9" name="ContentTypeId">
    <vt:lpwstr>0x01010081AC0B10426E124C8F2B46906D9A42C9</vt:lpwstr>
  </property>
  <property fmtid="{D5CDD505-2E9C-101B-9397-08002B2CF9AE}" pid="10" name="MSIP_Label_ea60d57e-af5b-4752-ac57-3e4f28ca11dc_ActionId">
    <vt:lpwstr>7cea680a-40a3-4a38-8235-5f6a9eb4147f</vt:lpwstr>
  </property>
</Properties>
</file>